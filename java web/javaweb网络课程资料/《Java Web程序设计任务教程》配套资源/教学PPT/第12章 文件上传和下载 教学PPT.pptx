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xlsx" ContentType="application/vnd.openxmlformats-officedocument.spreadsheetml.sheet"/>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theme/theme2.xml" ContentType="application/vnd.openxmlformats-officedocument.theme+xml"/>
  <Override PartName="/ppt/tags/tag2.xml" ContentType="application/vnd.openxmlformats-officedocument.presentationml.tags+xml"/>
  <Override PartName="/ppt/notesSlides/notesSlide1.xml" ContentType="application/vnd.openxmlformats-officedocument.presentationml.notesSlide+xml"/>
  <Override PartName="/ppt/tags/tag3.xml" ContentType="application/vnd.openxmlformats-officedocument.presentationml.tags+xml"/>
  <Override PartName="/ppt/notesSlides/notesSlide2.xml" ContentType="application/vnd.openxmlformats-officedocument.presentationml.notesSlide+xml"/>
  <Override PartName="/ppt/tags/tag4.xml" ContentType="application/vnd.openxmlformats-officedocument.presentationml.tags+xml"/>
  <Override PartName="/ppt/notesSlides/notesSlide3.xml" ContentType="application/vnd.openxmlformats-officedocument.presentationml.notesSlide+xml"/>
  <Override PartName="/ppt/tags/tag5.xml" ContentType="application/vnd.openxmlformats-officedocument.presentationml.tags+xml"/>
  <Override PartName="/ppt/notesSlides/notesSlide4.xml" ContentType="application/vnd.openxmlformats-officedocument.presentationml.notesSlide+xml"/>
  <Override PartName="/ppt/charts/chart1.xml" ContentType="application/vnd.openxmlformats-officedocument.drawingml.chart+xml"/>
  <Override PartName="/ppt/tags/tag6.xml" ContentType="application/vnd.openxmlformats-officedocument.presentationml.tags+xml"/>
  <Override PartName="/ppt/notesSlides/notesSlide5.xml" ContentType="application/vnd.openxmlformats-officedocument.presentationml.notesSlide+xml"/>
  <Override PartName="/ppt/tags/tag7.xml" ContentType="application/vnd.openxmlformats-officedocument.presentationml.tags+xml"/>
  <Override PartName="/ppt/notesSlides/notesSlide6.xml" ContentType="application/vnd.openxmlformats-officedocument.presentationml.notesSlide+xml"/>
  <Override PartName="/ppt/tags/tag8.xml" ContentType="application/vnd.openxmlformats-officedocument.presentationml.tags+xml"/>
  <Override PartName="/ppt/notesSlides/notesSlide7.xml" ContentType="application/vnd.openxmlformats-officedocument.presentationml.notesSlide+xml"/>
  <Override PartName="/ppt/tags/tag9.xml" ContentType="application/vnd.openxmlformats-officedocument.presentationml.tags+xml"/>
  <Override PartName="/ppt/notesSlides/notesSlide8.xml" ContentType="application/vnd.openxmlformats-officedocument.presentationml.notesSlide+xml"/>
  <Override PartName="/ppt/tags/tag10.xml" ContentType="application/vnd.openxmlformats-officedocument.presentationml.tags+xml"/>
  <Override PartName="/ppt/notesSlides/notesSlide9.xml" ContentType="application/vnd.openxmlformats-officedocument.presentationml.notesSlide+xml"/>
  <Override PartName="/ppt/tags/tag11.xml" ContentType="application/vnd.openxmlformats-officedocument.presentationml.tags+xml"/>
  <Override PartName="/ppt/notesSlides/notesSlide10.xml" ContentType="application/vnd.openxmlformats-officedocument.presentationml.notesSlide+xml"/>
  <Override PartName="/ppt/tags/tag12.xml" ContentType="application/vnd.openxmlformats-officedocument.presentationml.tags+xml"/>
  <Override PartName="/ppt/notesSlides/notesSlide11.xml" ContentType="application/vnd.openxmlformats-officedocument.presentationml.notesSlide+xml"/>
  <Override PartName="/ppt/tags/tag13.xml" ContentType="application/vnd.openxmlformats-officedocument.presentationml.tags+xml"/>
  <Override PartName="/ppt/notesSlides/notesSlide12.xml" ContentType="application/vnd.openxmlformats-officedocument.presentationml.notesSlide+xml"/>
  <Override PartName="/ppt/tags/tag14.xml" ContentType="application/vnd.openxmlformats-officedocument.presentationml.tags+xml"/>
  <Override PartName="/ppt/notesSlides/notesSlide13.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tags/tag15.xml" ContentType="application/vnd.openxmlformats-officedocument.presentationml.tags+xml"/>
  <Override PartName="/ppt/notesSlides/notesSlide14.xml" ContentType="application/vnd.openxmlformats-officedocument.presentationml.notesSlide+xml"/>
  <Override PartName="/ppt/tags/tag16.xml" ContentType="application/vnd.openxmlformats-officedocument.presentationml.tags+xml"/>
  <Override PartName="/ppt/notesSlides/notesSlide15.xml" ContentType="application/vnd.openxmlformats-officedocument.presentationml.notesSlide+xml"/>
  <Override PartName="/ppt/tags/tag17.xml" ContentType="application/vnd.openxmlformats-officedocument.presentationml.tags+xml"/>
  <Override PartName="/ppt/notesSlides/notesSlide16.xml" ContentType="application/vnd.openxmlformats-officedocument.presentationml.notesSlide+xml"/>
  <Override PartName="/ppt/tags/tag18.xml" ContentType="application/vnd.openxmlformats-officedocument.presentationml.tags+xml"/>
  <Override PartName="/ppt/notesSlides/notesSlide17.xml" ContentType="application/vnd.openxmlformats-officedocument.presentationml.notesSlide+xml"/>
  <Override PartName="/ppt/tags/tag19.xml" ContentType="application/vnd.openxmlformats-officedocument.presentationml.tags+xml"/>
  <Override PartName="/ppt/notesSlides/notesSlide18.xml" ContentType="application/vnd.openxmlformats-officedocument.presentationml.notesSlide+xml"/>
  <Override PartName="/ppt/tags/tag20.xml" ContentType="application/vnd.openxmlformats-officedocument.presentationml.tags+xml"/>
  <Override PartName="/ppt/notesSlides/notesSlide19.xml" ContentType="application/vnd.openxmlformats-officedocument.presentationml.notesSlide+xml"/>
  <Override PartName="/ppt/tags/tag21.xml" ContentType="application/vnd.openxmlformats-officedocument.presentationml.tags+xml"/>
  <Override PartName="/ppt/notesSlides/notesSlide20.xml" ContentType="application/vnd.openxmlformats-officedocument.presentationml.notesSlide+xml"/>
  <Override PartName="/ppt/tags/tag22.xml" ContentType="application/vnd.openxmlformats-officedocument.presentationml.tags+xml"/>
  <Override PartName="/ppt/notesSlides/notesSlide21.xml" ContentType="application/vnd.openxmlformats-officedocument.presentationml.notesSlide+xml"/>
  <Override PartName="/ppt/tags/tag23.xml" ContentType="application/vnd.openxmlformats-officedocument.presentationml.tags+xml"/>
  <Override PartName="/ppt/notesSlides/notesSlide22.xml" ContentType="application/vnd.openxmlformats-officedocument.presentationml.notesSlide+xml"/>
  <Override PartName="/ppt/tags/tag24.xml" ContentType="application/vnd.openxmlformats-officedocument.presentationml.tags+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8" r:id="rId1"/>
  </p:sldMasterIdLst>
  <p:notesMasterIdLst>
    <p:notesMasterId r:id="rId25"/>
  </p:notesMasterIdLst>
  <p:sldIdLst>
    <p:sldId id="412" r:id="rId2"/>
    <p:sldId id="407" r:id="rId3"/>
    <p:sldId id="408" r:id="rId4"/>
    <p:sldId id="327" r:id="rId5"/>
    <p:sldId id="384" r:id="rId6"/>
    <p:sldId id="393" r:id="rId7"/>
    <p:sldId id="394" r:id="rId8"/>
    <p:sldId id="395" r:id="rId9"/>
    <p:sldId id="396" r:id="rId10"/>
    <p:sldId id="410" r:id="rId11"/>
    <p:sldId id="397" r:id="rId12"/>
    <p:sldId id="398" r:id="rId13"/>
    <p:sldId id="399" r:id="rId14"/>
    <p:sldId id="400" r:id="rId15"/>
    <p:sldId id="401" r:id="rId16"/>
    <p:sldId id="403" r:id="rId17"/>
    <p:sldId id="411" r:id="rId18"/>
    <p:sldId id="404" r:id="rId19"/>
    <p:sldId id="405" r:id="rId20"/>
    <p:sldId id="406" r:id="rId21"/>
    <p:sldId id="332" r:id="rId22"/>
    <p:sldId id="409" r:id="rId23"/>
    <p:sldId id="413" r:id="rId24"/>
  </p:sldIdLst>
  <p:sldSz cx="9144000" cy="6858000" type="screen4x3"/>
  <p:notesSz cx="6858000" cy="9144000"/>
  <p:custDataLst>
    <p:tags r:id="rId26"/>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4F81BD"/>
    <a:srgbClr val="E7F4FF"/>
    <a:srgbClr val="E9EDF4"/>
    <a:srgbClr val="0066A1"/>
    <a:srgbClr val="009ED6"/>
    <a:srgbClr val="01598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0257" autoAdjust="0"/>
    <p:restoredTop sz="98129" autoAdjust="0"/>
  </p:normalViewPr>
  <p:slideViewPr>
    <p:cSldViewPr>
      <p:cViewPr>
        <p:scale>
          <a:sx n="100" d="100"/>
          <a:sy n="100" d="100"/>
        </p:scale>
        <p:origin x="-1944" y="-354"/>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gs" Target="tags/tag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___1.xlsx"/></Relationships>
</file>

<file path=ppt/charts/chart1.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19"/>
    </mc:Choice>
    <mc:Fallback>
      <c:style val="19"/>
    </mc:Fallback>
  </mc:AlternateContent>
  <c:chart>
    <c:autoTitleDeleted val="1"/>
    <c:plotArea>
      <c:layout>
        <c:manualLayout>
          <c:layoutTarget val="inner"/>
          <c:xMode val="edge"/>
          <c:yMode val="edge"/>
          <c:x val="0.21259762883621849"/>
          <c:y val="6.8138576695007141E-2"/>
          <c:w val="0.61861102362204723"/>
          <c:h val="0.76592641554868568"/>
        </c:manualLayout>
      </c:layout>
      <c:doughnutChart>
        <c:varyColors val="1"/>
        <c:ser>
          <c:idx val="0"/>
          <c:order val="0"/>
          <c:tx>
            <c:strRef>
              <c:f>Sheet1!$B$1</c:f>
              <c:strCache>
                <c:ptCount val="1"/>
                <c:pt idx="0">
                  <c:v>销售额</c:v>
                </c:pt>
              </c:strCache>
            </c:strRef>
          </c:tx>
          <c:dPt>
            <c:idx val="0"/>
            <c:bubble3D val="0"/>
          </c:dPt>
          <c:dPt>
            <c:idx val="1"/>
            <c:bubble3D val="0"/>
          </c:dPt>
          <c:dPt>
            <c:idx val="2"/>
            <c:bubble3D val="0"/>
          </c:dPt>
          <c:cat>
            <c:strRef>
              <c:f>Sheet1!$A$2:$A$4</c:f>
              <c:strCache>
                <c:ptCount val="3"/>
                <c:pt idx="0">
                  <c:v>掌握知识</c:v>
                </c:pt>
                <c:pt idx="1">
                  <c:v>理解知识</c:v>
                </c:pt>
                <c:pt idx="2">
                  <c:v>了解知识</c:v>
                </c:pt>
              </c:strCache>
            </c:strRef>
          </c:cat>
          <c:val>
            <c:numRef>
              <c:f>Sheet1!$B$2:$B$4</c:f>
              <c:numCache>
                <c:formatCode>General</c:formatCode>
                <c:ptCount val="3"/>
                <c:pt idx="0">
                  <c:v>3.3333333330000001</c:v>
                </c:pt>
                <c:pt idx="1">
                  <c:v>3.3333333330000001</c:v>
                </c:pt>
                <c:pt idx="2">
                  <c:v>3.3333333330000001</c:v>
                </c:pt>
              </c:numCache>
            </c:numRef>
          </c:val>
        </c:ser>
        <c:dLbls>
          <c:showLegendKey val="0"/>
          <c:showVal val="0"/>
          <c:showCatName val="0"/>
          <c:showSerName val="0"/>
          <c:showPercent val="0"/>
          <c:showBubbleSize val="0"/>
          <c:showLeaderLines val="1"/>
        </c:dLbls>
        <c:firstSliceAng val="0"/>
        <c:holeSize val="50"/>
      </c:doughnutChart>
    </c:plotArea>
    <c:plotVisOnly val="1"/>
    <c:dispBlanksAs val="gap"/>
    <c:showDLblsOverMax val="0"/>
  </c:chart>
  <c:txPr>
    <a:bodyPr/>
    <a:lstStyle/>
    <a:p>
      <a:pPr>
        <a:defRPr sz="1800"/>
      </a:pPr>
      <a:endParaRPr lang="zh-CN"/>
    </a:p>
  </c:txPr>
  <c:externalData r:id="rId1">
    <c:autoUpdate val="0"/>
  </c:externalData>
</c:chartSpace>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1F04FCA0-CC44-43F6-AB4E-13DB85235403}" type="doc">
      <dgm:prSet loTypeId="urn:microsoft.com/office/officeart/2005/8/layout/vProcess5" loCatId="process" qsTypeId="urn:microsoft.com/office/officeart/2005/8/quickstyle/simple1" qsCatId="simple" csTypeId="urn:microsoft.com/office/officeart/2005/8/colors/accent1_2" csCatId="accent1" phldr="1"/>
      <dgm:spPr/>
      <dgm:t>
        <a:bodyPr/>
        <a:lstStyle/>
        <a:p>
          <a:endParaRPr lang="zh-CN" altLang="en-US"/>
        </a:p>
      </dgm:t>
    </dgm:pt>
    <dgm:pt modelId="{0B3133E0-CD81-42E3-A10D-757006DA4D76}">
      <dgm:prSet phldrT="[文本]" custT="1"/>
      <dgm:spPr>
        <a:solidFill>
          <a:srgbClr val="7030A0">
            <a:alpha val="73000"/>
          </a:srgbClr>
        </a:solidFill>
      </dgm:spPr>
      <dgm:t>
        <a:bodyPr/>
        <a:lstStyle/>
        <a:p>
          <a:r>
            <a:rPr lang="en-US" altLang="en-US" sz="1800" b="0" dirty="0" smtClean="0">
              <a:solidFill>
                <a:srgbClr val="00B0F0"/>
              </a:solidFill>
              <a:latin typeface="Times New Roman" panose="02020603050405020304" pitchFamily="18" charset="0"/>
              <a:ea typeface="+mn-ea"/>
              <a:cs typeface="Times New Roman" panose="02020603050405020304" pitchFamily="18" charset="0"/>
            </a:rPr>
            <a:t>setRepository(File repository)</a:t>
          </a:r>
          <a:r>
            <a:rPr lang="zh-CN" altLang="en-US" sz="1800" b="0" dirty="0" smtClean="0">
              <a:solidFill>
                <a:srgbClr val="00B0F0"/>
              </a:solidFill>
              <a:latin typeface="Times New Roman" panose="02020603050405020304" pitchFamily="18" charset="0"/>
              <a:ea typeface="+mn-ea"/>
              <a:cs typeface="Times New Roman" panose="02020603050405020304" pitchFamily="18" charset="0"/>
            </a:rPr>
            <a:t>和</a:t>
          </a:r>
          <a:r>
            <a:rPr lang="en-US" altLang="en-US" sz="1800" b="0" dirty="0" smtClean="0">
              <a:solidFill>
                <a:srgbClr val="00B0F0"/>
              </a:solidFill>
              <a:latin typeface="Times New Roman" panose="02020603050405020304" pitchFamily="18" charset="0"/>
              <a:ea typeface="+mn-ea"/>
              <a:cs typeface="Times New Roman" panose="02020603050405020304" pitchFamily="18" charset="0"/>
            </a:rPr>
            <a:t>getRespository()</a:t>
          </a:r>
          <a:r>
            <a:rPr lang="zh-CN" altLang="en-US" sz="1800" b="0" dirty="0" smtClean="0">
              <a:solidFill>
                <a:srgbClr val="00B0F0"/>
              </a:solidFill>
              <a:latin typeface="Times New Roman" panose="02020603050405020304" pitchFamily="18" charset="0"/>
              <a:ea typeface="+mn-ea"/>
              <a:cs typeface="Times New Roman" panose="02020603050405020304" pitchFamily="18" charset="0"/>
            </a:rPr>
            <a:t>方法</a:t>
          </a:r>
          <a:endParaRPr lang="zh-CN" altLang="en-US" sz="1800" b="0" dirty="0">
            <a:solidFill>
              <a:srgbClr val="00B0F0"/>
            </a:solidFill>
            <a:latin typeface="Times New Roman" panose="02020603050405020304" pitchFamily="18" charset="0"/>
            <a:ea typeface="+mn-ea"/>
            <a:cs typeface="Times New Roman" panose="02020603050405020304" pitchFamily="18" charset="0"/>
          </a:endParaRPr>
        </a:p>
      </dgm:t>
    </dgm:pt>
    <dgm:pt modelId="{195A5D6E-AB97-4033-9289-A1AB704750DA}" type="sibTrans" cxnId="{7CA8A03C-681E-4362-AAC3-D7A4C6BF1FD5}">
      <dgm:prSet/>
      <dgm:spPr/>
      <dgm:t>
        <a:bodyPr/>
        <a:lstStyle/>
        <a:p>
          <a:endParaRPr lang="zh-CN" altLang="en-US"/>
        </a:p>
      </dgm:t>
    </dgm:pt>
    <dgm:pt modelId="{EF11CE15-36BD-4EA1-96EA-7D142A81353C}" type="parTrans" cxnId="{7CA8A03C-681E-4362-AAC3-D7A4C6BF1FD5}">
      <dgm:prSet/>
      <dgm:spPr/>
      <dgm:t>
        <a:bodyPr/>
        <a:lstStyle/>
        <a:p>
          <a:endParaRPr lang="zh-CN" altLang="en-US"/>
        </a:p>
      </dgm:t>
    </dgm:pt>
    <dgm:pt modelId="{A6A76F8F-067B-4CA6-B7A1-A55C0D923919}">
      <dgm:prSet phldrT="[文本]" custT="1"/>
      <dgm:spPr>
        <a:solidFill>
          <a:srgbClr val="87CB3D">
            <a:alpha val="54000"/>
          </a:srgbClr>
        </a:solidFill>
      </dgm:spPr>
      <dgm:t>
        <a:bodyPr/>
        <a:lstStyle/>
        <a:p>
          <a:r>
            <a:rPr lang="en-US" altLang="en-US" sz="1800" b="0" dirty="0" smtClean="0">
              <a:solidFill>
                <a:srgbClr val="00B0F0"/>
              </a:solidFill>
              <a:latin typeface="Times New Roman" panose="02020603050405020304" pitchFamily="18" charset="0"/>
              <a:ea typeface="+mn-ea"/>
              <a:cs typeface="Times New Roman" panose="02020603050405020304" pitchFamily="18" charset="0"/>
            </a:rPr>
            <a:t>setSizeThreshold(int sizeThreshold)</a:t>
          </a:r>
          <a:r>
            <a:rPr lang="zh-CN" altLang="en-US" sz="1800" b="0" dirty="0" smtClean="0">
              <a:solidFill>
                <a:srgbClr val="00B0F0"/>
              </a:solidFill>
              <a:latin typeface="Times New Roman" panose="02020603050405020304" pitchFamily="18" charset="0"/>
              <a:ea typeface="+mn-ea"/>
              <a:cs typeface="Times New Roman" panose="02020603050405020304" pitchFamily="18" charset="0"/>
            </a:rPr>
            <a:t>和</a:t>
          </a:r>
          <a:r>
            <a:rPr lang="en-US" altLang="en-US" sz="1800" b="0" dirty="0" smtClean="0">
              <a:solidFill>
                <a:srgbClr val="00B0F0"/>
              </a:solidFill>
              <a:latin typeface="Times New Roman" panose="02020603050405020304" pitchFamily="18" charset="0"/>
              <a:ea typeface="+mn-ea"/>
              <a:cs typeface="Times New Roman" panose="02020603050405020304" pitchFamily="18" charset="0"/>
            </a:rPr>
            <a:t>getSizeThreshold()</a:t>
          </a:r>
          <a:r>
            <a:rPr lang="zh-CN" altLang="en-US" sz="1800" b="0" dirty="0" smtClean="0">
              <a:solidFill>
                <a:srgbClr val="00B0F0"/>
              </a:solidFill>
              <a:latin typeface="Times New Roman" panose="02020603050405020304" pitchFamily="18" charset="0"/>
              <a:ea typeface="+mn-ea"/>
              <a:cs typeface="Times New Roman" panose="02020603050405020304" pitchFamily="18" charset="0"/>
            </a:rPr>
            <a:t>方法</a:t>
          </a:r>
          <a:endParaRPr lang="zh-CN" altLang="en-US" sz="1800" b="0" dirty="0">
            <a:solidFill>
              <a:srgbClr val="00B0F0"/>
            </a:solidFill>
            <a:latin typeface="Times New Roman" panose="02020603050405020304" pitchFamily="18" charset="0"/>
            <a:ea typeface="+mn-ea"/>
            <a:cs typeface="Times New Roman" panose="02020603050405020304" pitchFamily="18" charset="0"/>
          </a:endParaRPr>
        </a:p>
      </dgm:t>
    </dgm:pt>
    <dgm:pt modelId="{D7EAE80A-7E79-4904-81E9-EE9F1DFD0CBB}" type="sibTrans" cxnId="{93AFFDF8-5AEE-4242-93AB-80E7DB993A56}">
      <dgm:prSet/>
      <dgm:spPr/>
      <dgm:t>
        <a:bodyPr/>
        <a:lstStyle/>
        <a:p>
          <a:endParaRPr lang="zh-CN" altLang="en-US"/>
        </a:p>
      </dgm:t>
    </dgm:pt>
    <dgm:pt modelId="{D9A82A55-DF5D-465F-849B-E2940DCA421B}" type="parTrans" cxnId="{93AFFDF8-5AEE-4242-93AB-80E7DB993A56}">
      <dgm:prSet/>
      <dgm:spPr/>
      <dgm:t>
        <a:bodyPr/>
        <a:lstStyle/>
        <a:p>
          <a:endParaRPr lang="zh-CN" altLang="en-US"/>
        </a:p>
      </dgm:t>
    </dgm:pt>
    <dgm:pt modelId="{28DEFF34-1BC8-4E53-95B0-FB29CBED3A48}">
      <dgm:prSet phldrT="[文本]" custT="1"/>
      <dgm:spPr>
        <a:solidFill>
          <a:srgbClr val="C0DCE2"/>
        </a:solidFill>
      </dgm:spPr>
      <dgm:t>
        <a:bodyPr/>
        <a:lstStyle/>
        <a:p>
          <a:r>
            <a:rPr lang="en-US" altLang="en-US" sz="1800" b="0" smtClean="0">
              <a:solidFill>
                <a:srgbClr val="00B0F0"/>
              </a:solidFill>
              <a:latin typeface="Times New Roman" panose="02020603050405020304" pitchFamily="18" charset="0"/>
              <a:ea typeface="+mn-ea"/>
              <a:cs typeface="Times New Roman" panose="02020603050405020304" pitchFamily="18" charset="0"/>
            </a:rPr>
            <a:t>FileItem createItem(String fieldName,String contentType, boolean isFormField, String fileName) </a:t>
          </a:r>
          <a:r>
            <a:rPr lang="zh-CN" altLang="en-US" sz="1800" b="0" dirty="0" smtClean="0">
              <a:solidFill>
                <a:srgbClr val="00B0F0"/>
              </a:solidFill>
              <a:latin typeface="Times New Roman" panose="02020603050405020304" pitchFamily="18" charset="0"/>
              <a:ea typeface="+mn-ea"/>
              <a:cs typeface="Times New Roman" panose="02020603050405020304" pitchFamily="18" charset="0"/>
            </a:rPr>
            <a:t>方法</a:t>
          </a:r>
          <a:endParaRPr lang="zh-CN" altLang="en-US" sz="1800" b="0" dirty="0">
            <a:solidFill>
              <a:srgbClr val="00B0F0"/>
            </a:solidFill>
            <a:latin typeface="Times New Roman" panose="02020603050405020304" pitchFamily="18" charset="0"/>
            <a:ea typeface="+mn-ea"/>
            <a:cs typeface="Times New Roman" panose="02020603050405020304" pitchFamily="18" charset="0"/>
          </a:endParaRPr>
        </a:p>
      </dgm:t>
    </dgm:pt>
    <dgm:pt modelId="{87F597E6-306E-4E92-BA97-7A32F5C46FE0}" type="sibTrans" cxnId="{C86899DA-9A3A-4BF4-BC6D-75691BFEEC60}">
      <dgm:prSet/>
      <dgm:spPr/>
      <dgm:t>
        <a:bodyPr/>
        <a:lstStyle/>
        <a:p>
          <a:endParaRPr lang="zh-CN" altLang="en-US"/>
        </a:p>
      </dgm:t>
    </dgm:pt>
    <dgm:pt modelId="{9E73F741-457D-4246-BF32-1F4EA66EAC4B}" type="parTrans" cxnId="{C86899DA-9A3A-4BF4-BC6D-75691BFEEC60}">
      <dgm:prSet/>
      <dgm:spPr/>
      <dgm:t>
        <a:bodyPr/>
        <a:lstStyle/>
        <a:p>
          <a:endParaRPr lang="zh-CN" altLang="en-US"/>
        </a:p>
      </dgm:t>
    </dgm:pt>
    <dgm:pt modelId="{725FF81D-83F6-4EAC-8FDE-F92C5C9AAAE2}" type="pres">
      <dgm:prSet presAssocID="{1F04FCA0-CC44-43F6-AB4E-13DB85235403}" presName="outerComposite" presStyleCnt="0">
        <dgm:presLayoutVars>
          <dgm:chMax val="5"/>
          <dgm:dir/>
          <dgm:resizeHandles val="exact"/>
        </dgm:presLayoutVars>
      </dgm:prSet>
      <dgm:spPr/>
      <dgm:t>
        <a:bodyPr/>
        <a:lstStyle/>
        <a:p>
          <a:endParaRPr lang="zh-CN" altLang="en-US"/>
        </a:p>
      </dgm:t>
    </dgm:pt>
    <dgm:pt modelId="{26B1A110-A6ED-4106-93BD-332742C6FD43}" type="pres">
      <dgm:prSet presAssocID="{1F04FCA0-CC44-43F6-AB4E-13DB85235403}" presName="dummyMaxCanvas" presStyleCnt="0">
        <dgm:presLayoutVars/>
      </dgm:prSet>
      <dgm:spPr/>
    </dgm:pt>
    <dgm:pt modelId="{3E31D71A-7BC3-47D8-8072-AFBAE1FCFBE6}" type="pres">
      <dgm:prSet presAssocID="{1F04FCA0-CC44-43F6-AB4E-13DB85235403}" presName="ThreeNodes_1" presStyleLbl="node1" presStyleIdx="0" presStyleCnt="3" custScaleX="104009">
        <dgm:presLayoutVars>
          <dgm:bulletEnabled val="1"/>
        </dgm:presLayoutVars>
      </dgm:prSet>
      <dgm:spPr/>
      <dgm:t>
        <a:bodyPr/>
        <a:lstStyle/>
        <a:p>
          <a:endParaRPr lang="zh-CN" altLang="en-US"/>
        </a:p>
      </dgm:t>
    </dgm:pt>
    <dgm:pt modelId="{3BFDDBF4-C523-46B3-B6FF-5F760425BC78}" type="pres">
      <dgm:prSet presAssocID="{1F04FCA0-CC44-43F6-AB4E-13DB85235403}" presName="ThreeNodes_2" presStyleLbl="node1" presStyleIdx="1" presStyleCnt="3" custScaleX="105399">
        <dgm:presLayoutVars>
          <dgm:bulletEnabled val="1"/>
        </dgm:presLayoutVars>
      </dgm:prSet>
      <dgm:spPr/>
      <dgm:t>
        <a:bodyPr/>
        <a:lstStyle/>
        <a:p>
          <a:endParaRPr lang="zh-CN" altLang="en-US"/>
        </a:p>
      </dgm:t>
    </dgm:pt>
    <dgm:pt modelId="{22E07CCD-9992-42AE-9B17-0634704EAC03}" type="pres">
      <dgm:prSet presAssocID="{1F04FCA0-CC44-43F6-AB4E-13DB85235403}" presName="ThreeNodes_3" presStyleLbl="node1" presStyleIdx="2" presStyleCnt="3">
        <dgm:presLayoutVars>
          <dgm:bulletEnabled val="1"/>
        </dgm:presLayoutVars>
      </dgm:prSet>
      <dgm:spPr/>
      <dgm:t>
        <a:bodyPr/>
        <a:lstStyle/>
        <a:p>
          <a:endParaRPr lang="zh-CN" altLang="en-US"/>
        </a:p>
      </dgm:t>
    </dgm:pt>
    <dgm:pt modelId="{6CCDA68C-3BB6-4D1C-884A-D4F20BF1A782}" type="pres">
      <dgm:prSet presAssocID="{1F04FCA0-CC44-43F6-AB4E-13DB85235403}" presName="ThreeConn_1-2" presStyleLbl="fgAccFollowNode1" presStyleIdx="0" presStyleCnt="2" custLinFactNeighborX="-27644" custLinFactNeighborY="-6010">
        <dgm:presLayoutVars>
          <dgm:bulletEnabled val="1"/>
        </dgm:presLayoutVars>
      </dgm:prSet>
      <dgm:spPr/>
      <dgm:t>
        <a:bodyPr/>
        <a:lstStyle/>
        <a:p>
          <a:endParaRPr lang="zh-CN" altLang="en-US"/>
        </a:p>
      </dgm:t>
    </dgm:pt>
    <dgm:pt modelId="{8F13BB41-FA34-4026-B209-5E131A47E60B}" type="pres">
      <dgm:prSet presAssocID="{1F04FCA0-CC44-43F6-AB4E-13DB85235403}" presName="ThreeConn_2-3" presStyleLbl="fgAccFollowNode1" presStyleIdx="1" presStyleCnt="2">
        <dgm:presLayoutVars>
          <dgm:bulletEnabled val="1"/>
        </dgm:presLayoutVars>
      </dgm:prSet>
      <dgm:spPr/>
      <dgm:t>
        <a:bodyPr/>
        <a:lstStyle/>
        <a:p>
          <a:endParaRPr lang="zh-CN" altLang="en-US"/>
        </a:p>
      </dgm:t>
    </dgm:pt>
    <dgm:pt modelId="{016476A1-5699-42B9-ABD8-CE7CD019841C}" type="pres">
      <dgm:prSet presAssocID="{1F04FCA0-CC44-43F6-AB4E-13DB85235403}" presName="ThreeNodes_1_text" presStyleLbl="node1" presStyleIdx="2" presStyleCnt="3">
        <dgm:presLayoutVars>
          <dgm:bulletEnabled val="1"/>
        </dgm:presLayoutVars>
      </dgm:prSet>
      <dgm:spPr/>
      <dgm:t>
        <a:bodyPr/>
        <a:lstStyle/>
        <a:p>
          <a:endParaRPr lang="zh-CN" altLang="en-US"/>
        </a:p>
      </dgm:t>
    </dgm:pt>
    <dgm:pt modelId="{71098C00-F748-4E7E-A2FA-2796E5FE4D3F}" type="pres">
      <dgm:prSet presAssocID="{1F04FCA0-CC44-43F6-AB4E-13DB85235403}" presName="ThreeNodes_2_text" presStyleLbl="node1" presStyleIdx="2" presStyleCnt="3">
        <dgm:presLayoutVars>
          <dgm:bulletEnabled val="1"/>
        </dgm:presLayoutVars>
      </dgm:prSet>
      <dgm:spPr/>
      <dgm:t>
        <a:bodyPr/>
        <a:lstStyle/>
        <a:p>
          <a:endParaRPr lang="zh-CN" altLang="en-US"/>
        </a:p>
      </dgm:t>
    </dgm:pt>
    <dgm:pt modelId="{EA2FF2AB-3BA8-4C91-86F8-BDF154A35B58}" type="pres">
      <dgm:prSet presAssocID="{1F04FCA0-CC44-43F6-AB4E-13DB85235403}" presName="ThreeNodes_3_text" presStyleLbl="node1" presStyleIdx="2" presStyleCnt="3">
        <dgm:presLayoutVars>
          <dgm:bulletEnabled val="1"/>
        </dgm:presLayoutVars>
      </dgm:prSet>
      <dgm:spPr/>
      <dgm:t>
        <a:bodyPr/>
        <a:lstStyle/>
        <a:p>
          <a:endParaRPr lang="zh-CN" altLang="en-US"/>
        </a:p>
      </dgm:t>
    </dgm:pt>
  </dgm:ptLst>
  <dgm:cxnLst>
    <dgm:cxn modelId="{471EFE3A-D99D-4EA7-8AB0-7819F9A8CA52}" type="presOf" srcId="{A6A76F8F-067B-4CA6-B7A1-A55C0D923919}" destId="{3BFDDBF4-C523-46B3-B6FF-5F760425BC78}" srcOrd="0" destOrd="0" presId="urn:microsoft.com/office/officeart/2005/8/layout/vProcess5"/>
    <dgm:cxn modelId="{C9677189-DB11-45E3-B68A-882FE833D097}" type="presOf" srcId="{0B3133E0-CD81-42E3-A10D-757006DA4D76}" destId="{22E07CCD-9992-42AE-9B17-0634704EAC03}" srcOrd="0" destOrd="0" presId="urn:microsoft.com/office/officeart/2005/8/layout/vProcess5"/>
    <dgm:cxn modelId="{51745260-BA3E-439B-9B70-A065798503D7}" type="presOf" srcId="{1F04FCA0-CC44-43F6-AB4E-13DB85235403}" destId="{725FF81D-83F6-4EAC-8FDE-F92C5C9AAAE2}" srcOrd="0" destOrd="0" presId="urn:microsoft.com/office/officeart/2005/8/layout/vProcess5"/>
    <dgm:cxn modelId="{2C42AD6C-6337-4750-804D-2FE60D793BA9}" type="presOf" srcId="{28DEFF34-1BC8-4E53-95B0-FB29CBED3A48}" destId="{3E31D71A-7BC3-47D8-8072-AFBAE1FCFBE6}" srcOrd="0" destOrd="0" presId="urn:microsoft.com/office/officeart/2005/8/layout/vProcess5"/>
    <dgm:cxn modelId="{C86899DA-9A3A-4BF4-BC6D-75691BFEEC60}" srcId="{1F04FCA0-CC44-43F6-AB4E-13DB85235403}" destId="{28DEFF34-1BC8-4E53-95B0-FB29CBED3A48}" srcOrd="0" destOrd="0" parTransId="{9E73F741-457D-4246-BF32-1F4EA66EAC4B}" sibTransId="{87F597E6-306E-4E92-BA97-7A32F5C46FE0}"/>
    <dgm:cxn modelId="{3F09EF97-E679-44E1-8CB6-18F4B1C17AB9}" type="presOf" srcId="{28DEFF34-1BC8-4E53-95B0-FB29CBED3A48}" destId="{016476A1-5699-42B9-ABD8-CE7CD019841C}" srcOrd="1" destOrd="0" presId="urn:microsoft.com/office/officeart/2005/8/layout/vProcess5"/>
    <dgm:cxn modelId="{7CA8A03C-681E-4362-AAC3-D7A4C6BF1FD5}" srcId="{1F04FCA0-CC44-43F6-AB4E-13DB85235403}" destId="{0B3133E0-CD81-42E3-A10D-757006DA4D76}" srcOrd="2" destOrd="0" parTransId="{EF11CE15-36BD-4EA1-96EA-7D142A81353C}" sibTransId="{195A5D6E-AB97-4033-9289-A1AB704750DA}"/>
    <dgm:cxn modelId="{421AFC66-4418-4635-8B20-5AF811950E84}" type="presOf" srcId="{D7EAE80A-7E79-4904-81E9-EE9F1DFD0CBB}" destId="{8F13BB41-FA34-4026-B209-5E131A47E60B}" srcOrd="0" destOrd="0" presId="urn:microsoft.com/office/officeart/2005/8/layout/vProcess5"/>
    <dgm:cxn modelId="{66F81E85-F4F3-4DB6-AF53-1CF3C0F3D3C4}" type="presOf" srcId="{87F597E6-306E-4E92-BA97-7A32F5C46FE0}" destId="{6CCDA68C-3BB6-4D1C-884A-D4F20BF1A782}" srcOrd="0" destOrd="0" presId="urn:microsoft.com/office/officeart/2005/8/layout/vProcess5"/>
    <dgm:cxn modelId="{F1B04599-50E2-4100-BB5C-60F25AB52D2F}" type="presOf" srcId="{A6A76F8F-067B-4CA6-B7A1-A55C0D923919}" destId="{71098C00-F748-4E7E-A2FA-2796E5FE4D3F}" srcOrd="1" destOrd="0" presId="urn:microsoft.com/office/officeart/2005/8/layout/vProcess5"/>
    <dgm:cxn modelId="{AE675195-9238-475C-ADB5-B349DD850DA7}" type="presOf" srcId="{0B3133E0-CD81-42E3-A10D-757006DA4D76}" destId="{EA2FF2AB-3BA8-4C91-86F8-BDF154A35B58}" srcOrd="1" destOrd="0" presId="urn:microsoft.com/office/officeart/2005/8/layout/vProcess5"/>
    <dgm:cxn modelId="{93AFFDF8-5AEE-4242-93AB-80E7DB993A56}" srcId="{1F04FCA0-CC44-43F6-AB4E-13DB85235403}" destId="{A6A76F8F-067B-4CA6-B7A1-A55C0D923919}" srcOrd="1" destOrd="0" parTransId="{D9A82A55-DF5D-465F-849B-E2940DCA421B}" sibTransId="{D7EAE80A-7E79-4904-81E9-EE9F1DFD0CBB}"/>
    <dgm:cxn modelId="{C9549F6E-0D3F-444C-B401-BCEC22458CEE}" type="presParOf" srcId="{725FF81D-83F6-4EAC-8FDE-F92C5C9AAAE2}" destId="{26B1A110-A6ED-4106-93BD-332742C6FD43}" srcOrd="0" destOrd="0" presId="urn:microsoft.com/office/officeart/2005/8/layout/vProcess5"/>
    <dgm:cxn modelId="{A049DE8F-0BAF-48D9-9D0F-31664CBFB36A}" type="presParOf" srcId="{725FF81D-83F6-4EAC-8FDE-F92C5C9AAAE2}" destId="{3E31D71A-7BC3-47D8-8072-AFBAE1FCFBE6}" srcOrd="1" destOrd="0" presId="urn:microsoft.com/office/officeart/2005/8/layout/vProcess5"/>
    <dgm:cxn modelId="{BB9BBEB8-7CD3-4F83-B4F9-3E30FBE54D1D}" type="presParOf" srcId="{725FF81D-83F6-4EAC-8FDE-F92C5C9AAAE2}" destId="{3BFDDBF4-C523-46B3-B6FF-5F760425BC78}" srcOrd="2" destOrd="0" presId="urn:microsoft.com/office/officeart/2005/8/layout/vProcess5"/>
    <dgm:cxn modelId="{CB1BE84D-33EB-4C64-930E-80277E556167}" type="presParOf" srcId="{725FF81D-83F6-4EAC-8FDE-F92C5C9AAAE2}" destId="{22E07CCD-9992-42AE-9B17-0634704EAC03}" srcOrd="3" destOrd="0" presId="urn:microsoft.com/office/officeart/2005/8/layout/vProcess5"/>
    <dgm:cxn modelId="{C31EF53B-6AB7-4D5A-A804-4362C42E0D90}" type="presParOf" srcId="{725FF81D-83F6-4EAC-8FDE-F92C5C9AAAE2}" destId="{6CCDA68C-3BB6-4D1C-884A-D4F20BF1A782}" srcOrd="4" destOrd="0" presId="urn:microsoft.com/office/officeart/2005/8/layout/vProcess5"/>
    <dgm:cxn modelId="{99B700B0-13CC-4E8A-B0C5-48DC313CDF78}" type="presParOf" srcId="{725FF81D-83F6-4EAC-8FDE-F92C5C9AAAE2}" destId="{8F13BB41-FA34-4026-B209-5E131A47E60B}" srcOrd="5" destOrd="0" presId="urn:microsoft.com/office/officeart/2005/8/layout/vProcess5"/>
    <dgm:cxn modelId="{19291720-6062-4A3F-94E9-54A377752B6D}" type="presParOf" srcId="{725FF81D-83F6-4EAC-8FDE-F92C5C9AAAE2}" destId="{016476A1-5699-42B9-ABD8-CE7CD019841C}" srcOrd="6" destOrd="0" presId="urn:microsoft.com/office/officeart/2005/8/layout/vProcess5"/>
    <dgm:cxn modelId="{0766E293-7CC3-42D8-9D7D-BC7A60E56853}" type="presParOf" srcId="{725FF81D-83F6-4EAC-8FDE-F92C5C9AAAE2}" destId="{71098C00-F748-4E7E-A2FA-2796E5FE4D3F}" srcOrd="7" destOrd="0" presId="urn:microsoft.com/office/officeart/2005/8/layout/vProcess5"/>
    <dgm:cxn modelId="{90C178D8-2C4F-45A4-B501-4DF77802E21F}" type="presParOf" srcId="{725FF81D-83F6-4EAC-8FDE-F92C5C9AAAE2}" destId="{EA2FF2AB-3BA8-4C91-86F8-BDF154A35B58}" srcOrd="8" destOrd="0" presId="urn:microsoft.com/office/officeart/2005/8/layout/vProcess5"/>
  </dgm:cxnLst>
  <dgm:bg/>
  <dgm:whole/>
  <dgm:extLst>
    <a:ext uri="http://schemas.microsoft.com/office/drawing/2008/diagram">
      <dsp:dataModelExt xmlns:dsp="http://schemas.microsoft.com/office/drawing/2008/diagram" relId="rId8" minVer="http://schemas.openxmlformats.org/drawingml/2006/diagram"/>
    </a:ext>
    <a:ext uri="{C62137D5-CB1D-491B-B009-E17868A290BF}">
      <dgm14:recolorImg xmlns:dgm14="http://schemas.microsoft.com/office/drawing/2010/diagram" val="1"/>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E31D71A-7BC3-47D8-8072-AFBAE1FCFBE6}">
      <dsp:nvSpPr>
        <dsp:cNvPr id="0" name=""/>
        <dsp:cNvSpPr/>
      </dsp:nvSpPr>
      <dsp:spPr>
        <a:xfrm>
          <a:off x="-64590" y="0"/>
          <a:ext cx="6702956" cy="905827"/>
        </a:xfrm>
        <a:prstGeom prst="roundRect">
          <a:avLst>
            <a:gd name="adj" fmla="val 10000"/>
          </a:avLst>
        </a:prstGeom>
        <a:solidFill>
          <a:srgbClr val="C0DCE2"/>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lvl="0" algn="l" defTabSz="800100">
            <a:lnSpc>
              <a:spcPct val="90000"/>
            </a:lnSpc>
            <a:spcBef>
              <a:spcPct val="0"/>
            </a:spcBef>
            <a:spcAft>
              <a:spcPct val="35000"/>
            </a:spcAft>
          </a:pPr>
          <a:r>
            <a:rPr lang="en-US" altLang="en-US" sz="1800" b="0" kern="1200" smtClean="0">
              <a:solidFill>
                <a:srgbClr val="00B0F0"/>
              </a:solidFill>
              <a:latin typeface="Times New Roman" panose="02020603050405020304" pitchFamily="18" charset="0"/>
              <a:ea typeface="+mn-ea"/>
              <a:cs typeface="Times New Roman" panose="02020603050405020304" pitchFamily="18" charset="0"/>
            </a:rPr>
            <a:t>FileItem createItem(String fieldName,String contentType, boolean isFormField, String fileName) </a:t>
          </a:r>
          <a:r>
            <a:rPr lang="zh-CN" altLang="en-US" sz="1800" b="0" kern="1200" dirty="0" smtClean="0">
              <a:solidFill>
                <a:srgbClr val="00B0F0"/>
              </a:solidFill>
              <a:latin typeface="Times New Roman" panose="02020603050405020304" pitchFamily="18" charset="0"/>
              <a:ea typeface="+mn-ea"/>
              <a:cs typeface="Times New Roman" panose="02020603050405020304" pitchFamily="18" charset="0"/>
            </a:rPr>
            <a:t>方法</a:t>
          </a:r>
          <a:endParaRPr lang="zh-CN" altLang="en-US" sz="1800" b="0" kern="1200" dirty="0">
            <a:solidFill>
              <a:srgbClr val="00B0F0"/>
            </a:solidFill>
            <a:latin typeface="Times New Roman" panose="02020603050405020304" pitchFamily="18" charset="0"/>
            <a:ea typeface="+mn-ea"/>
            <a:cs typeface="Times New Roman" panose="02020603050405020304" pitchFamily="18" charset="0"/>
          </a:endParaRPr>
        </a:p>
      </dsp:txBody>
      <dsp:txXfrm>
        <a:off x="-38059" y="26531"/>
        <a:ext cx="5688438" cy="852765"/>
      </dsp:txXfrm>
    </dsp:sp>
    <dsp:sp modelId="{3BFDDBF4-C523-46B3-B6FF-5F760425BC78}">
      <dsp:nvSpPr>
        <dsp:cNvPr id="0" name=""/>
        <dsp:cNvSpPr/>
      </dsp:nvSpPr>
      <dsp:spPr>
        <a:xfrm>
          <a:off x="459259" y="1056798"/>
          <a:ext cx="6792536" cy="905827"/>
        </a:xfrm>
        <a:prstGeom prst="roundRect">
          <a:avLst>
            <a:gd name="adj" fmla="val 10000"/>
          </a:avLst>
        </a:prstGeom>
        <a:solidFill>
          <a:srgbClr val="87CB3D">
            <a:alpha val="54000"/>
          </a:srgb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lvl="0" algn="l" defTabSz="800100">
            <a:lnSpc>
              <a:spcPct val="90000"/>
            </a:lnSpc>
            <a:spcBef>
              <a:spcPct val="0"/>
            </a:spcBef>
            <a:spcAft>
              <a:spcPct val="35000"/>
            </a:spcAft>
          </a:pPr>
          <a:r>
            <a:rPr lang="en-US" altLang="en-US" sz="1800" b="0" kern="1200" dirty="0" smtClean="0">
              <a:solidFill>
                <a:srgbClr val="00B0F0"/>
              </a:solidFill>
              <a:latin typeface="Times New Roman" panose="02020603050405020304" pitchFamily="18" charset="0"/>
              <a:ea typeface="+mn-ea"/>
              <a:cs typeface="Times New Roman" panose="02020603050405020304" pitchFamily="18" charset="0"/>
            </a:rPr>
            <a:t>setSizeThreshold(int sizeThreshold)</a:t>
          </a:r>
          <a:r>
            <a:rPr lang="zh-CN" altLang="en-US" sz="1800" b="0" kern="1200" dirty="0" smtClean="0">
              <a:solidFill>
                <a:srgbClr val="00B0F0"/>
              </a:solidFill>
              <a:latin typeface="Times New Roman" panose="02020603050405020304" pitchFamily="18" charset="0"/>
              <a:ea typeface="+mn-ea"/>
              <a:cs typeface="Times New Roman" panose="02020603050405020304" pitchFamily="18" charset="0"/>
            </a:rPr>
            <a:t>和</a:t>
          </a:r>
          <a:r>
            <a:rPr lang="en-US" altLang="en-US" sz="1800" b="0" kern="1200" dirty="0" smtClean="0">
              <a:solidFill>
                <a:srgbClr val="00B0F0"/>
              </a:solidFill>
              <a:latin typeface="Times New Roman" panose="02020603050405020304" pitchFamily="18" charset="0"/>
              <a:ea typeface="+mn-ea"/>
              <a:cs typeface="Times New Roman" panose="02020603050405020304" pitchFamily="18" charset="0"/>
            </a:rPr>
            <a:t>getSizeThreshold()</a:t>
          </a:r>
          <a:r>
            <a:rPr lang="zh-CN" altLang="en-US" sz="1800" b="0" kern="1200" dirty="0" smtClean="0">
              <a:solidFill>
                <a:srgbClr val="00B0F0"/>
              </a:solidFill>
              <a:latin typeface="Times New Roman" panose="02020603050405020304" pitchFamily="18" charset="0"/>
              <a:ea typeface="+mn-ea"/>
              <a:cs typeface="Times New Roman" panose="02020603050405020304" pitchFamily="18" charset="0"/>
            </a:rPr>
            <a:t>方法</a:t>
          </a:r>
          <a:endParaRPr lang="zh-CN" altLang="en-US" sz="1800" b="0" kern="1200" dirty="0">
            <a:solidFill>
              <a:srgbClr val="00B0F0"/>
            </a:solidFill>
            <a:latin typeface="Times New Roman" panose="02020603050405020304" pitchFamily="18" charset="0"/>
            <a:ea typeface="+mn-ea"/>
            <a:cs typeface="Times New Roman" panose="02020603050405020304" pitchFamily="18" charset="0"/>
          </a:endParaRPr>
        </a:p>
      </dsp:txBody>
      <dsp:txXfrm>
        <a:off x="485790" y="1083329"/>
        <a:ext cx="5519556" cy="852765"/>
      </dsp:txXfrm>
    </dsp:sp>
    <dsp:sp modelId="{22E07CCD-9992-42AE-9B17-0634704EAC03}">
      <dsp:nvSpPr>
        <dsp:cNvPr id="0" name=""/>
        <dsp:cNvSpPr/>
      </dsp:nvSpPr>
      <dsp:spPr>
        <a:xfrm>
          <a:off x="1201872" y="2113597"/>
          <a:ext cx="6444592" cy="905827"/>
        </a:xfrm>
        <a:prstGeom prst="roundRect">
          <a:avLst>
            <a:gd name="adj" fmla="val 10000"/>
          </a:avLst>
        </a:prstGeom>
        <a:solidFill>
          <a:srgbClr val="7030A0">
            <a:alpha val="73000"/>
          </a:srgb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lvl="0" algn="l" defTabSz="800100">
            <a:lnSpc>
              <a:spcPct val="90000"/>
            </a:lnSpc>
            <a:spcBef>
              <a:spcPct val="0"/>
            </a:spcBef>
            <a:spcAft>
              <a:spcPct val="35000"/>
            </a:spcAft>
          </a:pPr>
          <a:r>
            <a:rPr lang="en-US" altLang="en-US" sz="1800" b="0" kern="1200" dirty="0" smtClean="0">
              <a:solidFill>
                <a:srgbClr val="00B0F0"/>
              </a:solidFill>
              <a:latin typeface="Times New Roman" panose="02020603050405020304" pitchFamily="18" charset="0"/>
              <a:ea typeface="+mn-ea"/>
              <a:cs typeface="Times New Roman" panose="02020603050405020304" pitchFamily="18" charset="0"/>
            </a:rPr>
            <a:t>setRepository(File repository)</a:t>
          </a:r>
          <a:r>
            <a:rPr lang="zh-CN" altLang="en-US" sz="1800" b="0" kern="1200" dirty="0" smtClean="0">
              <a:solidFill>
                <a:srgbClr val="00B0F0"/>
              </a:solidFill>
              <a:latin typeface="Times New Roman" panose="02020603050405020304" pitchFamily="18" charset="0"/>
              <a:ea typeface="+mn-ea"/>
              <a:cs typeface="Times New Roman" panose="02020603050405020304" pitchFamily="18" charset="0"/>
            </a:rPr>
            <a:t>和</a:t>
          </a:r>
          <a:r>
            <a:rPr lang="en-US" altLang="en-US" sz="1800" b="0" kern="1200" dirty="0" smtClean="0">
              <a:solidFill>
                <a:srgbClr val="00B0F0"/>
              </a:solidFill>
              <a:latin typeface="Times New Roman" panose="02020603050405020304" pitchFamily="18" charset="0"/>
              <a:ea typeface="+mn-ea"/>
              <a:cs typeface="Times New Roman" panose="02020603050405020304" pitchFamily="18" charset="0"/>
            </a:rPr>
            <a:t>getRespository()</a:t>
          </a:r>
          <a:r>
            <a:rPr lang="zh-CN" altLang="en-US" sz="1800" b="0" kern="1200" dirty="0" smtClean="0">
              <a:solidFill>
                <a:srgbClr val="00B0F0"/>
              </a:solidFill>
              <a:latin typeface="Times New Roman" panose="02020603050405020304" pitchFamily="18" charset="0"/>
              <a:ea typeface="+mn-ea"/>
              <a:cs typeface="Times New Roman" panose="02020603050405020304" pitchFamily="18" charset="0"/>
            </a:rPr>
            <a:t>方法</a:t>
          </a:r>
          <a:endParaRPr lang="zh-CN" altLang="en-US" sz="1800" b="0" kern="1200" dirty="0">
            <a:solidFill>
              <a:srgbClr val="00B0F0"/>
            </a:solidFill>
            <a:latin typeface="Times New Roman" panose="02020603050405020304" pitchFamily="18" charset="0"/>
            <a:ea typeface="+mn-ea"/>
            <a:cs typeface="Times New Roman" panose="02020603050405020304" pitchFamily="18" charset="0"/>
          </a:endParaRPr>
        </a:p>
      </dsp:txBody>
      <dsp:txXfrm>
        <a:off x="1228403" y="2140128"/>
        <a:ext cx="5234102" cy="852765"/>
      </dsp:txXfrm>
    </dsp:sp>
    <dsp:sp modelId="{6CCDA68C-3BB6-4D1C-884A-D4F20BF1A782}">
      <dsp:nvSpPr>
        <dsp:cNvPr id="0" name=""/>
        <dsp:cNvSpPr/>
      </dsp:nvSpPr>
      <dsp:spPr>
        <a:xfrm>
          <a:off x="5757631" y="651533"/>
          <a:ext cx="588787" cy="588787"/>
        </a:xfrm>
        <a:prstGeom prst="downArrow">
          <a:avLst>
            <a:gd name="adj1" fmla="val 55000"/>
            <a:gd name="adj2" fmla="val 45000"/>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3020" tIns="33020" rIns="33020" bIns="33020" numCol="1" spcCol="1270" anchor="ctr" anchorCtr="0">
          <a:noAutofit/>
        </a:bodyPr>
        <a:lstStyle/>
        <a:p>
          <a:pPr lvl="0" algn="ctr" defTabSz="1155700">
            <a:lnSpc>
              <a:spcPct val="90000"/>
            </a:lnSpc>
            <a:spcBef>
              <a:spcPct val="0"/>
            </a:spcBef>
            <a:spcAft>
              <a:spcPct val="35000"/>
            </a:spcAft>
          </a:pPr>
          <a:endParaRPr lang="zh-CN" altLang="en-US" sz="2600" kern="1200"/>
        </a:p>
      </dsp:txBody>
      <dsp:txXfrm>
        <a:off x="5890108" y="651533"/>
        <a:ext cx="323833" cy="443062"/>
      </dsp:txXfrm>
    </dsp:sp>
    <dsp:sp modelId="{8F13BB41-FA34-4026-B209-5E131A47E60B}">
      <dsp:nvSpPr>
        <dsp:cNvPr id="0" name=""/>
        <dsp:cNvSpPr/>
      </dsp:nvSpPr>
      <dsp:spPr>
        <a:xfrm>
          <a:off x="6489036" y="1737679"/>
          <a:ext cx="588787" cy="588787"/>
        </a:xfrm>
        <a:prstGeom prst="downArrow">
          <a:avLst>
            <a:gd name="adj1" fmla="val 55000"/>
            <a:gd name="adj2" fmla="val 45000"/>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3020" tIns="33020" rIns="33020" bIns="33020" numCol="1" spcCol="1270" anchor="ctr" anchorCtr="0">
          <a:noAutofit/>
        </a:bodyPr>
        <a:lstStyle/>
        <a:p>
          <a:pPr lvl="0" algn="ctr" defTabSz="1155700">
            <a:lnSpc>
              <a:spcPct val="90000"/>
            </a:lnSpc>
            <a:spcBef>
              <a:spcPct val="0"/>
            </a:spcBef>
            <a:spcAft>
              <a:spcPct val="35000"/>
            </a:spcAft>
          </a:pPr>
          <a:endParaRPr lang="zh-CN" altLang="en-US" sz="2600" kern="1200"/>
        </a:p>
      </dsp:txBody>
      <dsp:txXfrm>
        <a:off x="6621513" y="1737679"/>
        <a:ext cx="323833" cy="443062"/>
      </dsp:txXfrm>
    </dsp:sp>
  </dsp:spTree>
</dsp:drawing>
</file>

<file path=ppt/diagrams/layout1.xml><?xml version="1.0" encoding="utf-8"?>
<dgm:layoutDef xmlns:dgm="http://schemas.openxmlformats.org/drawingml/2006/diagram" xmlns:a="http://schemas.openxmlformats.org/drawingml/2006/main" uniqueId="urn:microsoft.com/office/officeart/2005/8/layout/vProcess5">
  <dgm:title val=""/>
  <dgm:desc val=""/>
  <dgm:catLst>
    <dgm:cat type="process" pri="14000"/>
  </dgm:catLst>
  <dgm:sampData>
    <dgm:dataModel>
      <dgm:ptLst>
        <dgm:pt modelId="0" type="doc"/>
        <dgm:pt modelId="1">
          <dgm:prSet phldr="1"/>
        </dgm:pt>
        <dgm:pt modelId="2">
          <dgm:prSet phldr="1"/>
        </dgm:pt>
        <dgm:pt modelId="3">
          <dgm:prSet phldr="1"/>
        </dgm:pt>
      </dgm:ptLst>
      <dgm:cxnLst>
        <dgm:cxn modelId="5" srcId="0" destId="1" srcOrd="0" destOrd="0"/>
        <dgm:cxn modelId="6" srcId="0" destId="2" srcOrd="1" destOrd="0"/>
        <dgm:cxn modelId="7" srcId="0" destId="3" srcOrd="2"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6" srcId="0" destId="1" srcOrd="0" destOrd="0"/>
        <dgm:cxn modelId="7" srcId="0" destId="2" srcOrd="1" destOrd="0"/>
        <dgm:cxn modelId="8" srcId="0" destId="3" srcOrd="2" destOrd="0"/>
        <dgm:cxn modelId="9" srcId="0" destId="4" srcOrd="3" destOrd="0"/>
      </dgm:cxnLst>
      <dgm:bg/>
      <dgm:whole/>
    </dgm:dataModel>
  </dgm:clrData>
  <dgm:layoutNode name="outerComposite">
    <dgm:varLst>
      <dgm:chMax val="5"/>
      <dgm:dir/>
      <dgm:resizeHandles val="exact"/>
    </dgm:varLst>
    <dgm:alg type="composite"/>
    <dgm:shape xmlns:r="http://schemas.openxmlformats.org/officeDocument/2006/relationships" r:blip="">
      <dgm:adjLst/>
    </dgm:shape>
    <dgm:presOf/>
    <dgm:choose name="Name0">
      <dgm:if name="Name1" func="var" arg="dir" op="equ" val="norm">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l" for="ch" forName="TwoNodes_1"/>
          <dgm:constr type="w" for="ch" forName="TwoNodes_2" refType="w" fact="0.85"/>
          <dgm:constr type="h" for="ch" forName="TwoNodes_2" refType="h" fact="0.45"/>
          <dgm:constr type="b" for="ch" forName="TwoNodes_2" refType="h"/>
          <dgm:constr type="r" for="ch" forName="TwoNodes_2" refType="w"/>
          <dgm:constr type="w" for="ch" forName="TwoConn_1-2" refType="h" refFor="ch" refForName="TwoNodes_1" fact="0.65"/>
          <dgm:constr type="h" for="ch" forName="TwoConn_1-2" refType="h" refFor="ch" refForName="TwoNodes_1" fact="0.65"/>
          <dgm:constr type="ctrY" for="ch" forName="TwoConn_1-2" refType="h" fact="0.5"/>
          <dgm:constr type="r" for="ch" forName="TwoConn_1-2" refType="r" refFor="ch" refForName="TwoNodes_1"/>
          <dgm:constr type="r" for="ch" forName="TwoNodes_1_text" refType="l" refFor="ch" refForName="TwoConn_1-2"/>
          <dgm:constr type="rOff" for="ch" forName="TwoNodes_1_text" refType="w" refFor="ch" refForName="TwoConn_1-2" fact="-0.5"/>
          <dgm:constr type="t" for="ch" forName="TwoNodes_1_text" refType="t" refFor="ch" refForName="TwoNodes_1"/>
          <dgm:constr type="b" for="ch" forName="TwoNodes_1_text" refType="b" refFor="ch" refForName="TwoNodes_1"/>
          <dgm:constr type="l" for="ch" forName="TwoNodes_1_text" refType="l" refFor="ch" refForName="TwoNodes_1"/>
          <dgm:constr type="r" for="ch" forName="TwoNodes_2_text" refType="l" refFor="ch" refForName="TwoConn_1-2"/>
          <dgm:constr type="t" for="ch" forName="TwoNodes_2_text" refType="t" refFor="ch" refForName="TwoNodes_2"/>
          <dgm:constr type="b" for="ch" forName="TwoNodes_2_text" refType="b" refFor="ch" refForName="TwoNodes_2"/>
          <dgm:constr type="l" for="ch" forName="TwoNodes_2_text" refType="l" refFor="ch" refForName="TwoNodes_2"/>
          <dgm:constr type="w" for="ch" forName="ThreeNodes_1" refType="w" fact="0.85"/>
          <dgm:constr type="h" for="ch" forName="ThreeNodes_1" refType="h" fact="0.3"/>
          <dgm:constr type="t" for="ch" forName="ThreeNodes_1"/>
          <dgm:constr type="l" for="ch" forName="ThreeNodes_1"/>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r" for="ch" forName="ThreeNodes_3" refType="w"/>
          <dgm:constr type="w" for="ch" forName="ThreeConn_1-2" refType="h" refFor="ch" refForName="ThreeNodes_1" fact="0.65"/>
          <dgm:constr type="h" for="ch" forName="ThreeConn_1-2" refType="h" refFor="ch" refForName="ThreeNodes_1" fact="0.65"/>
          <dgm:constr type="ctrY" for="ch" forName="ThreeConn_1-2" refType="h" fact="0.325"/>
          <dgm:constr type="r" for="ch" forName="ThreeConn_1-2" refType="r"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r" for="ch" forName="ThreeConn_2-3" refType="r" refFor="ch" refForName="ThreeNodes_2"/>
          <dgm:constr type="r" for="ch" forName="ThreeNodes_1_text" refType="l" refFor="ch" refForName="ThreeConn_1-2"/>
          <dgm:constr type="rOff" for="ch" forName="ThreeNodes_1_text" refType="w" refFor="ch" refForName="ThreeConn_1-2" fact="-0.57"/>
          <dgm:constr type="t" for="ch" forName="ThreeNodes_1_text" refType="t" refFor="ch" refForName="ThreeNodes_1"/>
          <dgm:constr type="b" for="ch" forName="ThreeNodes_1_text" refType="b" refFor="ch" refForName="ThreeNodes_1"/>
          <dgm:constr type="l" for="ch" forName="ThreeNodes_1_text" refType="l" refFor="ch" refForName="ThreeNodes_1"/>
          <dgm:constr type="r" for="ch" forName="ThreeNodes_2_text" refType="l" refFor="ch" refForName="ThreeConn_1-2"/>
          <dgm:constr type="t" for="ch" forName="ThreeNodes_2_text" refType="t" refFor="ch" refForName="ThreeNodes_2"/>
          <dgm:constr type="b" for="ch" forName="ThreeNodes_2_text" refType="b" refFor="ch" refForName="ThreeNodes_2"/>
          <dgm:constr type="l" for="ch" forName="ThreeNodes_2_text" refType="l" refFor="ch" refForName="ThreeNodes_2"/>
          <dgm:constr type="r" for="ch" forName="ThreeNodes_3_text" refType="l" refFor="ch" refForName="ThreeConn_2-3"/>
          <dgm:constr type="t" for="ch" forName="ThreeNodes_3_text" refType="t" refFor="ch" refForName="ThreeNodes_3"/>
          <dgm:constr type="b" for="ch" forName="ThreeNodes_3_text" refType="b" refFor="ch" refForName="ThreeNodes_3"/>
          <dgm:constr type="l" for="ch" forName="ThreeNodes_3_text" refType="l" refFor="ch" refForName="ThreeNodes_3"/>
          <dgm:constr type="w" for="ch" forName="FourNodes_1" refType="w" fact="0.8"/>
          <dgm:constr type="h" for="ch" forName="FourNodes_1" refType="h" fact="0.22"/>
          <dgm:constr type="t" for="ch" forName="FourNodes_1"/>
          <dgm:constr type="l" for="ch" forName="FourNodes_1"/>
          <dgm:constr type="w" for="ch" forName="FourNodes_2" refType="w" fact="0.8"/>
          <dgm:constr type="h" for="ch" forName="FourNodes_2" refType="h" fact="0.22"/>
          <dgm:constr type="ctrY" for="ch" forName="FourNodes_2" refType="h" fact="0.37"/>
          <dgm:constr type="ctrX" for="ch" forName="FourNodes_2" refType="w" fact="0.467"/>
          <dgm:constr type="w" for="ch" forName="FourNodes_3" refType="w" fact="0.8"/>
          <dgm:constr type="h" for="ch" forName="FourNodes_3" refType="h" fact="0.22"/>
          <dgm:constr type="ctrY" for="ch" forName="FourNodes_3" refType="h" fact="0.63"/>
          <dgm:constr type="ctrX" for="ch" forName="FourNodes_3" refType="w" fact="0.533"/>
          <dgm:constr type="w" for="ch" forName="FourNodes_4" refType="w" fact="0.8"/>
          <dgm:constr type="h" for="ch" forName="FourNodes_4" refType="h" fact="0.22"/>
          <dgm:constr type="b" for="ch" forName="FourNodes_4" refType="h"/>
          <dgm:constr type="r" for="ch" forName="FourNodes_4" refType="w"/>
          <dgm:constr type="w" for="ch" forName="FourConn_1-2" refType="h" refFor="ch" refForName="FourNodes_1" fact="0.65"/>
          <dgm:constr type="h" for="ch" forName="FourConn_1-2" refType="h" refFor="ch" refForName="FourNodes_1" fact="0.65"/>
          <dgm:constr type="ctrY" for="ch" forName="FourConn_1-2" refType="h" fact="0.24"/>
          <dgm:constr type="r" for="ch" forName="FourConn_1-2" refType="r"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r" for="ch" forName="FourConn_2-3" refType="r"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r" for="ch" forName="FourConn_3-4" refType="r" refFor="ch" refForName="FourNodes_3"/>
          <dgm:constr type="r" for="ch" forName="FourNodes_1_text" refType="l" refFor="ch" refForName="FourConn_1-2"/>
          <dgm:constr type="rOff" for="ch" forName="FourNodes_1_text" refType="w" refFor="ch" refForName="FourConn_1-2" fact="-0.7"/>
          <dgm:constr type="t" for="ch" forName="FourNodes_1_text" refType="t" refFor="ch" refForName="FourNodes_1"/>
          <dgm:constr type="b" for="ch" forName="FourNodes_1_text" refType="b" refFor="ch" refForName="FourNodes_1"/>
          <dgm:constr type="l" for="ch" forName="FourNodes_1_text" refType="l" refFor="ch" refForName="FourNodes_1"/>
          <dgm:constr type="r" for="ch" forName="FourNodes_2_text" refType="l" refFor="ch" refForName="FourConn_1-2"/>
          <dgm:constr type="t" for="ch" forName="FourNodes_2_text" refType="t" refFor="ch" refForName="FourNodes_2"/>
          <dgm:constr type="b" for="ch" forName="FourNodes_2_text" refType="b" refFor="ch" refForName="FourNodes_2"/>
          <dgm:constr type="l" for="ch" forName="FourNodes_2_text" refType="l" refFor="ch" refForName="FourNodes_2"/>
          <dgm:constr type="r" for="ch" forName="FourNodes_3_text" refType="l" refFor="ch" refForName="FourConn_2-3"/>
          <dgm:constr type="t" for="ch" forName="FourNodes_3_text" refType="t" refFor="ch" refForName="FourNodes_3"/>
          <dgm:constr type="b" for="ch" forName="FourNodes_3_text" refType="b" refFor="ch" refForName="FourNodes_3"/>
          <dgm:constr type="l" for="ch" forName="FourNodes_3_text" refType="l" refFor="ch" refForName="FourNodes_3"/>
          <dgm:constr type="r" for="ch" forName="FourNodes_4_text" refType="l" refFor="ch" refForName="FourConn_3-4"/>
          <dgm:constr type="t" for="ch" forName="FourNodes_4_text" refType="t" refFor="ch" refForName="FourNodes_4"/>
          <dgm:constr type="b" for="ch" forName="FourNodes_4_text" refType="b" refFor="ch" refForName="FourNodes_4"/>
          <dgm:constr type="l" for="ch" forName="FourNodes_4_text" refType="l" refFor="ch" refForName="FourNodes_4"/>
          <dgm:constr type="w" for="ch" forName="FiveNodes_1" refType="w" fact="0.77"/>
          <dgm:constr type="h" for="ch" forName="FiveNodes_1" refType="h" fact="0.18"/>
          <dgm:constr type="t" for="ch" forName="FiveNodes_1"/>
          <dgm:constr type="l" for="ch" forName="FiveNodes_1"/>
          <dgm:constr type="w" for="ch" forName="FiveNodes_2" refType="w" fact="0.77"/>
          <dgm:constr type="h" for="ch" forName="FiveNodes_2" refType="h" fact="0.18"/>
          <dgm:constr type="ctrY" for="ch" forName="FiveNodes_2" refType="h" fact="0.295"/>
          <dgm:constr type="ctrX" for="ch" forName="FiveNodes_2" refType="w" fact="0.442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5575"/>
          <dgm:constr type="w" for="ch" forName="FiveNodes_5" refType="w" fact="0.77"/>
          <dgm:constr type="h" for="ch" forName="FiveNodes_5" refType="h" fact="0.18"/>
          <dgm:constr type="b" for="ch" forName="FiveNodes_5" refType="h"/>
          <dgm:constr type="r" for="ch" forName="FiveNodes_5" refType="w"/>
          <dgm:constr type="w" for="ch" forName="FiveConn_1-2" refType="h" refFor="ch" refForName="FiveNodes_1" fact="0.65"/>
          <dgm:constr type="h" for="ch" forName="FiveConn_1-2" refType="h" refFor="ch" refForName="FiveNodes_1" fact="0.65"/>
          <dgm:constr type="ctrY" for="ch" forName="FiveConn_1-2" refType="h" fact="0.19"/>
          <dgm:constr type="r" for="ch" forName="FiveConn_1-2" refType="r"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r" for="ch" forName="FiveConn_2-3" refType="r"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r" for="ch" forName="FiveConn_3-4" refType="r"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r" for="ch" forName="FiveConn_4-5" refType="r" refFor="ch" refForName="FiveNodes_4"/>
          <dgm:constr type="r" for="ch" forName="FiveNodes_1_text" refType="l" refFor="ch" refForName="FiveConn_1-2"/>
          <dgm:constr type="rOff" for="ch" forName="FiveNodes_1_text" refType="w" refFor="ch" refForName="FiveConn_1-2" fact="-0.75"/>
          <dgm:constr type="t" for="ch" forName="FiveNodes_1_text" refType="t" refFor="ch" refForName="FiveNodes_1"/>
          <dgm:constr type="b" for="ch" forName="FiveNodes_1_text" refType="b" refFor="ch" refForName="FiveNodes_1"/>
          <dgm:constr type="l" for="ch" forName="FiveNodes_1_text" refType="l" refFor="ch" refForName="FiveNodes_1"/>
          <dgm:constr type="r" for="ch" forName="FiveNodes_2_text" refType="l" refFor="ch" refForName="FiveConn_1-2"/>
          <dgm:constr type="t" for="ch" forName="FiveNodes_2_text" refType="t" refFor="ch" refForName="FiveNodes_2"/>
          <dgm:constr type="b" for="ch" forName="FiveNodes_2_text" refType="b" refFor="ch" refForName="FiveNodes_2"/>
          <dgm:constr type="l" for="ch" forName="FiveNodes_2_text" refType="l" refFor="ch" refForName="FiveNodes_2"/>
          <dgm:constr type="r" for="ch" forName="FiveNodes_3_text" refType="l" refFor="ch" refForName="FiveConn_2-3"/>
          <dgm:constr type="t" for="ch" forName="FiveNodes_3_text" refType="t" refFor="ch" refForName="FiveNodes_3"/>
          <dgm:constr type="b" for="ch" forName="FiveNodes_3_text" refType="b" refFor="ch" refForName="FiveNodes_3"/>
          <dgm:constr type="l" for="ch" forName="FiveNodes_3_text" refType="l" refFor="ch" refForName="FiveNodes_3"/>
          <dgm:constr type="r" for="ch" forName="FiveNodes_4_text" refType="l" refFor="ch" refForName="FiveConn_3-4"/>
          <dgm:constr type="t" for="ch" forName="FiveNodes_4_text" refType="t" refFor="ch" refForName="FiveNodes_4"/>
          <dgm:constr type="b" for="ch" forName="FiveNodes_4_text" refType="b" refFor="ch" refForName="FiveNodes_4"/>
          <dgm:constr type="l" for="ch" forName="FiveNodes_4_text" refType="l" refFor="ch" refForName="FiveNodes_4"/>
          <dgm:constr type="r" for="ch" forName="FiveNodes_5_text" refType="l" refFor="ch" refForName="FiveConn_4-5"/>
          <dgm:constr type="t" for="ch" forName="FiveNodes_5_text" refType="t" refFor="ch" refForName="FiveNodes_5"/>
          <dgm:constr type="b" for="ch" forName="FiveNodes_5_text" refType="b" refFor="ch" refForName="FiveNodes_5"/>
          <dgm:constr type="l" for="ch" forName="FiveNodes_5_text" refType="l" refFor="ch" refForName="FiveNodes_5"/>
        </dgm:constrLst>
      </dgm:if>
      <dgm:else name="Name2">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r" for="ch" forName="TwoNodes_1" refType="w"/>
          <dgm:constr type="w" for="ch" forName="TwoNodes_2" refType="w" fact="0.85"/>
          <dgm:constr type="h" for="ch" forName="TwoNodes_2" refType="h" fact="0.45"/>
          <dgm:constr type="b" for="ch" forName="TwoNodes_2" refType="h"/>
          <dgm:constr type="l" for="ch" forName="TwoNodes_2"/>
          <dgm:constr type="w" for="ch" forName="TwoConn_1-2" refType="h" refFor="ch" refForName="TwoNodes_1" fact="0.65"/>
          <dgm:constr type="h" for="ch" forName="TwoConn_1-2" refType="h" refFor="ch" refForName="TwoNodes_1" fact="0.65"/>
          <dgm:constr type="ctrY" for="ch" forName="TwoConn_1-2" refType="h" fact="0.5"/>
          <dgm:constr type="l" for="ch" forName="TwoConn_1-2" refType="l" refFor="ch" refForName="TwoNodes_1"/>
          <dgm:constr type="l" for="ch" forName="TwoNodes_1_text" refType="r" refFor="ch" refForName="TwoConn_1-2"/>
          <dgm:constr type="lOff" for="ch" forName="TwoNodes_1_text" refType="w" refFor="ch" refForName="TwoConn_1-2" fact="0.5"/>
          <dgm:constr type="t" for="ch" forName="TwoNodes_1_text" refType="t" refFor="ch" refForName="TwoNodes_1"/>
          <dgm:constr type="b" for="ch" forName="TwoNodes_1_text" refType="b" refFor="ch" refForName="TwoNodes_1"/>
          <dgm:constr type="r" for="ch" forName="TwoNodes_1_text" refType="r" refFor="ch" refForName="TwoNodes_1"/>
          <dgm:constr type="l" for="ch" forName="TwoNodes_2_text" refType="r" refFor="ch" refForName="TwoConn_1-2"/>
          <dgm:constr type="t" for="ch" forName="TwoNodes_2_text" refType="t" refFor="ch" refForName="TwoNodes_2"/>
          <dgm:constr type="b" for="ch" forName="TwoNodes_2_text" refType="b" refFor="ch" refForName="TwoNodes_2"/>
          <dgm:constr type="r" for="ch" forName="TwoNodes_2_text" refType="r" refFor="ch" refForName="TwoNodes_2"/>
          <dgm:constr type="w" for="ch" forName="ThreeNodes_1" refType="w" fact="0.85"/>
          <dgm:constr type="h" for="ch" forName="ThreeNodes_1" refType="h" fact="0.3"/>
          <dgm:constr type="t" for="ch" forName="ThreeNodes_1"/>
          <dgm:constr type="r" for="ch" forName="ThreeNodes_1" refType="w"/>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l" for="ch" forName="ThreeNodes_3"/>
          <dgm:constr type="w" for="ch" forName="ThreeConn_1-2" refType="h" refFor="ch" refForName="ThreeNodes_1" fact="0.65"/>
          <dgm:constr type="h" for="ch" forName="ThreeConn_1-2" refType="h" refFor="ch" refForName="ThreeNodes_1" fact="0.65"/>
          <dgm:constr type="ctrY" for="ch" forName="ThreeConn_1-2" refType="h" fact="0.325"/>
          <dgm:constr type="l" for="ch" forName="ThreeConn_1-2" refType="l"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l" for="ch" forName="ThreeConn_2-3" refType="l" refFor="ch" refForName="ThreeNodes_2"/>
          <dgm:constr type="l" for="ch" forName="ThreeNodes_1_text" refType="r" refFor="ch" refForName="ThreeConn_1-2"/>
          <dgm:constr type="lOff" for="ch" forName="ThreeNodes_1_text" refType="w" refFor="ch" refForName="ThreeConn_1-2" fact="0.55"/>
          <dgm:constr type="t" for="ch" forName="ThreeNodes_1_text" refType="t" refFor="ch" refForName="ThreeNodes_1"/>
          <dgm:constr type="b" for="ch" forName="ThreeNodes_1_text" refType="b" refFor="ch" refForName="ThreeNodes_1"/>
          <dgm:constr type="r" for="ch" forName="ThreeNodes_1_text" refType="r" refFor="ch" refForName="ThreeNodes_1"/>
          <dgm:constr type="l" for="ch" forName="ThreeNodes_2_text" refType="r" refFor="ch" refForName="ThreeConn_1-2"/>
          <dgm:constr type="t" for="ch" forName="ThreeNodes_2_text" refType="t" refFor="ch" refForName="ThreeNodes_2"/>
          <dgm:constr type="b" for="ch" forName="ThreeNodes_2_text" refType="b" refFor="ch" refForName="ThreeNodes_2"/>
          <dgm:constr type="r" for="ch" forName="ThreeNodes_2_text" refType="r" refFor="ch" refForName="ThreeNodes_2"/>
          <dgm:constr type="l" for="ch" forName="ThreeNodes_3_text" refType="r" refFor="ch" refForName="ThreeConn_2-3"/>
          <dgm:constr type="t" for="ch" forName="ThreeNodes_3_text" refType="t" refFor="ch" refForName="ThreeNodes_3"/>
          <dgm:constr type="b" for="ch" forName="ThreeNodes_3_text" refType="b" refFor="ch" refForName="ThreeNodes_3"/>
          <dgm:constr type="r" for="ch" forName="ThreeNodes_3_text" refType="r" refFor="ch" refForName="ThreeNodes_3"/>
          <dgm:constr type="w" for="ch" forName="FourNodes_1" refType="w" fact="0.8"/>
          <dgm:constr type="h" for="ch" forName="FourNodes_1" refType="h" fact="0.22"/>
          <dgm:constr type="t" for="ch" forName="FourNodes_1"/>
          <dgm:constr type="r" for="ch" forName="FourNodes_1" refType="w"/>
          <dgm:constr type="w" for="ch" forName="FourNodes_2" refType="w" fact="0.8"/>
          <dgm:constr type="h" for="ch" forName="FourNodes_2" refType="h" fact="0.22"/>
          <dgm:constr type="ctrY" for="ch" forName="FourNodes_2" refType="h" fact="0.37"/>
          <dgm:constr type="ctrX" for="ch" forName="FourNodes_2" refType="w" fact="0.533"/>
          <dgm:constr type="w" for="ch" forName="FourNodes_3" refType="w" fact="0.8"/>
          <dgm:constr type="h" for="ch" forName="FourNodes_3" refType="h" fact="0.22"/>
          <dgm:constr type="ctrY" for="ch" forName="FourNodes_3" refType="h" fact="0.63"/>
          <dgm:constr type="ctrX" for="ch" forName="FourNodes_3" refType="w" fact="0.467"/>
          <dgm:constr type="w" for="ch" forName="FourNodes_4" refType="w" fact="0.8"/>
          <dgm:constr type="h" for="ch" forName="FourNodes_4" refType="h" fact="0.22"/>
          <dgm:constr type="b" for="ch" forName="FourNodes_4" refType="h"/>
          <dgm:constr type="l" for="ch" forName="FourNodes_4"/>
          <dgm:constr type="w" for="ch" forName="FourConn_1-2" refType="h" refFor="ch" refForName="FourNodes_1" fact="0.65"/>
          <dgm:constr type="h" for="ch" forName="FourConn_1-2" refType="h" refFor="ch" refForName="FourNodes_1" fact="0.65"/>
          <dgm:constr type="ctrY" for="ch" forName="FourConn_1-2" refType="h" fact="0.24"/>
          <dgm:constr type="l" for="ch" forName="FourConn_1-2" refType="l"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l" for="ch" forName="FourConn_2-3" refType="l"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l" for="ch" forName="FourConn_3-4" refType="l" refFor="ch" refForName="FourNodes_3"/>
          <dgm:constr type="l" for="ch" forName="FourNodes_1_text" refType="r" refFor="ch" refForName="FourConn_1-2"/>
          <dgm:constr type="lOff" for="ch" forName="FourNodes_1_text" refType="w" refFor="ch" refForName="FourConn_1-2" fact="0.69"/>
          <dgm:constr type="t" for="ch" forName="FourNodes_1_text" refType="t" refFor="ch" refForName="FourNodes_1"/>
          <dgm:constr type="b" for="ch" forName="FourNodes_1_text" refType="b" refFor="ch" refForName="FourNodes_1"/>
          <dgm:constr type="r" for="ch" forName="FourNodes_1_text" refType="r" refFor="ch" refForName="FourNodes_1"/>
          <dgm:constr type="l" for="ch" forName="FourNodes_2_text" refType="r" refFor="ch" refForName="FourConn_1-2"/>
          <dgm:constr type="t" for="ch" forName="FourNodes_2_text" refType="t" refFor="ch" refForName="FourNodes_2"/>
          <dgm:constr type="b" for="ch" forName="FourNodes_2_text" refType="b" refFor="ch" refForName="FourNodes_2"/>
          <dgm:constr type="r" for="ch" forName="FourNodes_2_text" refType="r" refFor="ch" refForName="FourNodes_2"/>
          <dgm:constr type="l" for="ch" forName="FourNodes_3_text" refType="r" refFor="ch" refForName="FourConn_2-3"/>
          <dgm:constr type="t" for="ch" forName="FourNodes_3_text" refType="t" refFor="ch" refForName="FourNodes_3"/>
          <dgm:constr type="b" for="ch" forName="FourNodes_3_text" refType="b" refFor="ch" refForName="FourNodes_3"/>
          <dgm:constr type="r" for="ch" forName="FourNodes_3_text" refType="r" refFor="ch" refForName="FourNodes_3"/>
          <dgm:constr type="l" for="ch" forName="FourNodes_4_text" refType="r" refFor="ch" refForName="FourConn_3-4"/>
          <dgm:constr type="t" for="ch" forName="FourNodes_4_text" refType="t" refFor="ch" refForName="FourNodes_4"/>
          <dgm:constr type="b" for="ch" forName="FourNodes_4_text" refType="b" refFor="ch" refForName="FourNodes_4"/>
          <dgm:constr type="r" for="ch" forName="FourNodes_4_text" refType="r" refFor="ch" refForName="FourNodes_4"/>
          <dgm:constr type="w" for="ch" forName="FiveNodes_1" refType="w" fact="0.77"/>
          <dgm:constr type="h" for="ch" forName="FiveNodes_1" refType="h" fact="0.18"/>
          <dgm:constr type="t" for="ch" forName="FiveNodes_1"/>
          <dgm:constr type="r" for="ch" forName="FiveNodes_1" refType="w"/>
          <dgm:constr type="w" for="ch" forName="FiveNodes_2" refType="w" fact="0.77"/>
          <dgm:constr type="h" for="ch" forName="FiveNodes_2" refType="h" fact="0.18"/>
          <dgm:constr type="ctrY" for="ch" forName="FiveNodes_2" refType="h" fact="0.295"/>
          <dgm:constr type="ctrX" for="ch" forName="FiveNodes_2" refType="w" fact="0.557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4425"/>
          <dgm:constr type="w" for="ch" forName="FiveNodes_5" refType="w" fact="0.77"/>
          <dgm:constr type="h" for="ch" forName="FiveNodes_5" refType="h" fact="0.18"/>
          <dgm:constr type="b" for="ch" forName="FiveNodes_5" refType="h"/>
          <dgm:constr type="l" for="ch" forName="FiveNodes_5"/>
          <dgm:constr type="w" for="ch" forName="FiveConn_1-2" refType="h" refFor="ch" refForName="FiveNodes_1" fact="0.65"/>
          <dgm:constr type="h" for="ch" forName="FiveConn_1-2" refType="h" refFor="ch" refForName="FiveNodes_1" fact="0.65"/>
          <dgm:constr type="ctrY" for="ch" forName="FiveConn_1-2" refType="h" fact="0.19"/>
          <dgm:constr type="l" for="ch" forName="FiveConn_1-2" refType="l"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l" for="ch" forName="FiveConn_2-3" refType="l"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l" for="ch" forName="FiveConn_3-4" refType="l"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l" for="ch" forName="FiveConn_4-5" refType="l" refFor="ch" refForName="FiveNodes_4"/>
          <dgm:constr type="l" for="ch" forName="FiveNodes_1_text" refType="r" refFor="ch" refForName="FiveConn_1-2"/>
          <dgm:constr type="lOff" for="ch" forName="FiveNodes_1_text" refType="w" refFor="ch" refForName="FiveConn_1-2" fact="0.73"/>
          <dgm:constr type="t" for="ch" forName="FiveNodes_1_text" refType="t" refFor="ch" refForName="FiveNodes_1"/>
          <dgm:constr type="b" for="ch" forName="FiveNodes_1_text" refType="b" refFor="ch" refForName="FiveNodes_1"/>
          <dgm:constr type="r" for="ch" forName="FiveNodes_1_text" refType="r" refFor="ch" refForName="FiveNodes_1"/>
          <dgm:constr type="l" for="ch" forName="FiveNodes_2_text" refType="r" refFor="ch" refForName="FiveConn_1-2"/>
          <dgm:constr type="t" for="ch" forName="FiveNodes_2_text" refType="t" refFor="ch" refForName="FiveNodes_2"/>
          <dgm:constr type="b" for="ch" forName="FiveNodes_2_text" refType="b" refFor="ch" refForName="FiveNodes_2"/>
          <dgm:constr type="r" for="ch" forName="FiveNodes_2_text" refType="r" refFor="ch" refForName="FiveNodes_2"/>
          <dgm:constr type="l" for="ch" forName="FiveNodes_3_text" refType="r" refFor="ch" refForName="FiveConn_2-3"/>
          <dgm:constr type="t" for="ch" forName="FiveNodes_3_text" refType="t" refFor="ch" refForName="FiveNodes_3"/>
          <dgm:constr type="b" for="ch" forName="FiveNodes_3_text" refType="b" refFor="ch" refForName="FiveNodes_3"/>
          <dgm:constr type="r" for="ch" forName="FiveNodes_3_text" refType="r" refFor="ch" refForName="FiveNodes_3"/>
          <dgm:constr type="l" for="ch" forName="FiveNodes_4_text" refType="r" refFor="ch" refForName="FiveConn_3-4"/>
          <dgm:constr type="t" for="ch" forName="FiveNodes_4_text" refType="t" refFor="ch" refForName="FiveNodes_4"/>
          <dgm:constr type="b" for="ch" forName="FiveNodes_4_text" refType="b" refFor="ch" refForName="FiveNodes_4"/>
          <dgm:constr type="r" for="ch" forName="FiveNodes_4_text" refType="r" refFor="ch" refForName="FiveNodes_4"/>
          <dgm:constr type="l" for="ch" forName="FiveNodes_5_text" refType="r" refFor="ch" refForName="FiveConn_4-5"/>
          <dgm:constr type="t" for="ch" forName="FiveNodes_5_text" refType="t" refFor="ch" refForName="FiveNodes_5"/>
          <dgm:constr type="b" for="ch" forName="FiveNodes_5_text" refType="b" refFor="ch" refForName="FiveNodes_5"/>
          <dgm:constr type="r" for="ch" forName="FiveNodes_5_text" refType="r" refFor="ch" refForName="FiveNodes_5"/>
        </dgm:constrLst>
      </dgm:else>
    </dgm:choose>
    <dgm:ruleLst/>
    <dgm:layoutNode name="dummyMaxCanvas">
      <dgm:varLst/>
      <dgm:alg type="sp"/>
      <dgm:shape xmlns:r="http://schemas.openxmlformats.org/officeDocument/2006/relationships" r:blip="">
        <dgm:adjLst/>
      </dgm:shape>
      <dgm:presOf/>
      <dgm:constrLst/>
      <dgm:ruleLst/>
    </dgm:layoutNode>
    <dgm:choose name="Name3">
      <dgm:if name="Name4" axis="ch" ptType="node" func="cnt" op="equ" val="1">
        <dgm:layoutNode name="OneNode_1">
          <dgm:varLst>
            <dgm:bulletEnabled val="1"/>
          </dgm:varLst>
          <dgm:alg type="tx"/>
          <dgm:shape xmlns:r="http://schemas.openxmlformats.org/officeDocument/2006/relationships" type="roundRect" r:blip="">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
        <dgm:choose name="Name6">
          <dgm:if name="Name7" axis="ch" ptType="node" func="cnt" op="equ" val="2">
            <dgm:layoutNode name="Two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wo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wo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wo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wo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
            <dgm:choose name="Name9">
              <dgm:if name="Name10" axis="ch" ptType="node" func="cnt" op="equ" val="3">
                <dgm:layoutNode name="Thre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hre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hre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Thre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1">
                <dgm:choose name="Name12">
                  <dgm:if name="Name13" axis="ch" ptType="node" func="cnt" op="equ" val="4">
                    <dgm:layoutNode name="Four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our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our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our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our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4">
                    <dgm:choose name="Name15">
                      <dgm:if name="Name16" axis="ch" ptType="node" func="cnt" op="gte" val="5">
                        <dgm:layoutNode name="Fiv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iv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iv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ive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iveNodes_5">
                          <dgm:varLst>
                            <dgm:bulletEnabled val="1"/>
                          </dgm:varLst>
                          <dgm:alg type="sp"/>
                          <dgm:shape xmlns:r="http://schemas.openxmlformats.org/officeDocument/2006/relationships" type="roundRect" r:blip="">
                            <dgm:adjLst>
                              <dgm:adj idx="1" val="0.1"/>
                            </dgm:adjLst>
                          </dgm:shape>
                          <dgm:presOf axis="ch desOrSelf" ptType="node node" st="5 1" cnt="1 0"/>
                          <dgm:constrLst/>
                          <dgm:ruleLst/>
                        </dgm:layoutNode>
                        <dgm:layoutNode name="Fiv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4-5" styleLbl="fgAccFollowNode1">
                          <dgm:varLst>
                            <dgm:bulletEnabled val="1"/>
                          </dgm:varLst>
                          <dgm:alg type="tx"/>
                          <dgm:shape xmlns:r="http://schemas.openxmlformats.org/officeDocument/2006/relationships" type="downArrow" r:blip="">
                            <dgm:adjLst>
                              <dgm:adj idx="1" val="0.55"/>
                              <dgm:adj idx="2" val="0.45"/>
                            </dgm:adjLst>
                          </dgm:shape>
                          <dgm:presOf axis="ch" ptType="sibTrans" st="4"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5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5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7"/>
                    </dgm:choose>
                  </dgm:else>
                </dgm:choose>
              </dgm:else>
            </dgm:choose>
          </dgm:else>
        </dgm:choose>
      </dgm:else>
    </dgm:choos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FC84677A-5D19-42EF-B415-B82262D84D65}" type="datetimeFigureOut">
              <a:rPr lang="zh-CN" altLang="en-US" smtClean="0"/>
              <a:t>2018/1/9</a:t>
            </a:fld>
            <a:endParaRPr lang="zh-CN" altLang="en-US"/>
          </a:p>
        </p:txBody>
      </p:sp>
      <p:sp>
        <p:nvSpPr>
          <p:cNvPr id="4" name="幻灯片图像占位符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009A0808-98F2-4352-824A-B59ACF239D4A}" type="slidenum">
              <a:rPr lang="zh-CN" altLang="en-US" smtClean="0"/>
              <a:t>‹#›</a:t>
            </a:fld>
            <a:endParaRPr lang="zh-CN" altLang="en-US"/>
          </a:p>
        </p:txBody>
      </p:sp>
    </p:spTree>
    <p:extLst>
      <p:ext uri="{BB962C8B-B14F-4D97-AF65-F5344CB8AC3E}">
        <p14:creationId xmlns:p14="http://schemas.microsoft.com/office/powerpoint/2010/main" val="376371508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009A0808-98F2-4352-824A-B59ACF239D4A}" type="slidenum">
              <a:rPr lang="zh-CN" altLang="en-US" smtClean="0"/>
              <a:t>1</a:t>
            </a:fld>
            <a:endParaRPr lang="zh-CN" altLang="en-US"/>
          </a:p>
        </p:txBody>
      </p:sp>
    </p:spTree>
    <p:extLst>
      <p:ext uri="{BB962C8B-B14F-4D97-AF65-F5344CB8AC3E}">
        <p14:creationId xmlns:p14="http://schemas.microsoft.com/office/powerpoint/2010/main" val="374644491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009A0808-98F2-4352-824A-B59ACF239D4A}" type="slidenum">
              <a:rPr lang="zh-CN" altLang="en-US" smtClean="0"/>
              <a:t>2</a:t>
            </a:fld>
            <a:endParaRPr lang="zh-CN" altLang="en-US"/>
          </a:p>
        </p:txBody>
      </p:sp>
    </p:spTree>
    <p:extLst>
      <p:ext uri="{BB962C8B-B14F-4D97-AF65-F5344CB8AC3E}">
        <p14:creationId xmlns:p14="http://schemas.microsoft.com/office/powerpoint/2010/main" val="82372264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009A0808-98F2-4352-824A-B59ACF239D4A}" type="slidenum">
              <a:rPr lang="zh-CN" altLang="en-US" smtClean="0"/>
              <a:t>3</a:t>
            </a:fld>
            <a:endParaRPr lang="zh-CN" altLang="en-US"/>
          </a:p>
        </p:txBody>
      </p:sp>
    </p:spTree>
    <p:extLst>
      <p:ext uri="{BB962C8B-B14F-4D97-AF65-F5344CB8AC3E}">
        <p14:creationId xmlns:p14="http://schemas.microsoft.com/office/powerpoint/2010/main" val="221892539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009A0808-98F2-4352-824A-B59ACF239D4A}" type="slidenum">
              <a:rPr lang="zh-CN" altLang="en-US" smtClean="0"/>
              <a:t>4</a:t>
            </a:fld>
            <a:endParaRPr lang="zh-CN" altLang="en-US"/>
          </a:p>
        </p:txBody>
      </p:sp>
    </p:spTree>
    <p:extLst>
      <p:ext uri="{BB962C8B-B14F-4D97-AF65-F5344CB8AC3E}">
        <p14:creationId xmlns:p14="http://schemas.microsoft.com/office/powerpoint/2010/main" val="116468038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009A0808-98F2-4352-824A-B59ACF239D4A}" type="slidenum">
              <a:rPr lang="zh-CN" altLang="en-US" smtClean="0"/>
              <a:t>5</a:t>
            </a:fld>
            <a:endParaRPr lang="zh-CN" altLang="en-US"/>
          </a:p>
        </p:txBody>
      </p:sp>
    </p:spTree>
    <p:extLst>
      <p:ext uri="{BB962C8B-B14F-4D97-AF65-F5344CB8AC3E}">
        <p14:creationId xmlns:p14="http://schemas.microsoft.com/office/powerpoint/2010/main" val="73149092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009A0808-98F2-4352-824A-B59ACF239D4A}" type="slidenum">
              <a:rPr lang="zh-CN" altLang="en-US" smtClean="0"/>
              <a:t>6</a:t>
            </a:fld>
            <a:endParaRPr lang="zh-CN" altLang="en-US"/>
          </a:p>
        </p:txBody>
      </p:sp>
    </p:spTree>
    <p:extLst>
      <p:ext uri="{BB962C8B-B14F-4D97-AF65-F5344CB8AC3E}">
        <p14:creationId xmlns:p14="http://schemas.microsoft.com/office/powerpoint/2010/main" val="249571702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009A0808-98F2-4352-824A-B59ACF239D4A}" type="slidenum">
              <a:rPr lang="zh-CN" altLang="en-US" smtClean="0"/>
              <a:t>7</a:t>
            </a:fld>
            <a:endParaRPr lang="zh-CN" altLang="en-US"/>
          </a:p>
        </p:txBody>
      </p:sp>
    </p:spTree>
    <p:extLst>
      <p:ext uri="{BB962C8B-B14F-4D97-AF65-F5344CB8AC3E}">
        <p14:creationId xmlns:p14="http://schemas.microsoft.com/office/powerpoint/2010/main" val="52737847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009A0808-98F2-4352-824A-B59ACF239D4A}" type="slidenum">
              <a:rPr lang="zh-CN" altLang="en-US" smtClean="0"/>
              <a:t>8</a:t>
            </a:fld>
            <a:endParaRPr lang="zh-CN" altLang="en-US"/>
          </a:p>
        </p:txBody>
      </p:sp>
    </p:spTree>
    <p:extLst>
      <p:ext uri="{BB962C8B-B14F-4D97-AF65-F5344CB8AC3E}">
        <p14:creationId xmlns:p14="http://schemas.microsoft.com/office/powerpoint/2010/main" val="424542486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009A0808-98F2-4352-824A-B59ACF239D4A}" type="slidenum">
              <a:rPr lang="zh-CN" altLang="en-US" smtClean="0"/>
              <a:t>9</a:t>
            </a:fld>
            <a:endParaRPr lang="zh-CN" altLang="en-US"/>
          </a:p>
        </p:txBody>
      </p:sp>
    </p:spTree>
    <p:extLst>
      <p:ext uri="{BB962C8B-B14F-4D97-AF65-F5344CB8AC3E}">
        <p14:creationId xmlns:p14="http://schemas.microsoft.com/office/powerpoint/2010/main" val="195730932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009A0808-98F2-4352-824A-B59ACF239D4A}" type="slidenum">
              <a:rPr lang="zh-CN" altLang="en-US" smtClean="0"/>
              <a:t>10</a:t>
            </a:fld>
            <a:endParaRPr lang="zh-CN" altLang="en-US"/>
          </a:p>
        </p:txBody>
      </p:sp>
    </p:spTree>
    <p:extLst>
      <p:ext uri="{BB962C8B-B14F-4D97-AF65-F5344CB8AC3E}">
        <p14:creationId xmlns:p14="http://schemas.microsoft.com/office/powerpoint/2010/main" val="377051983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009A0808-98F2-4352-824A-B59ACF239D4A}" type="slidenum">
              <a:rPr lang="zh-CN" altLang="en-US" smtClean="0"/>
              <a:t>11</a:t>
            </a:fld>
            <a:endParaRPr lang="zh-CN" altLang="en-US"/>
          </a:p>
        </p:txBody>
      </p:sp>
    </p:spTree>
    <p:extLst>
      <p:ext uri="{BB962C8B-B14F-4D97-AF65-F5344CB8AC3E}">
        <p14:creationId xmlns:p14="http://schemas.microsoft.com/office/powerpoint/2010/main" val="113050443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009A0808-98F2-4352-824A-B59ACF239D4A}" type="slidenum">
              <a:rPr lang="zh-CN" altLang="en-US" smtClean="0"/>
              <a:t>12</a:t>
            </a:fld>
            <a:endParaRPr lang="zh-CN" altLang="en-US"/>
          </a:p>
        </p:txBody>
      </p:sp>
    </p:spTree>
    <p:extLst>
      <p:ext uri="{BB962C8B-B14F-4D97-AF65-F5344CB8AC3E}">
        <p14:creationId xmlns:p14="http://schemas.microsoft.com/office/powerpoint/2010/main" val="244498879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009A0808-98F2-4352-824A-B59ACF239D4A}" type="slidenum">
              <a:rPr lang="zh-CN" altLang="en-US" smtClean="0"/>
              <a:t>13</a:t>
            </a:fld>
            <a:endParaRPr lang="zh-CN" altLang="en-US"/>
          </a:p>
        </p:txBody>
      </p:sp>
    </p:spTree>
    <p:extLst>
      <p:ext uri="{BB962C8B-B14F-4D97-AF65-F5344CB8AC3E}">
        <p14:creationId xmlns:p14="http://schemas.microsoft.com/office/powerpoint/2010/main" val="34217069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009A0808-98F2-4352-824A-B59ACF239D4A}" type="slidenum">
              <a:rPr lang="zh-CN" altLang="en-US" smtClean="0"/>
              <a:t>14</a:t>
            </a:fld>
            <a:endParaRPr lang="zh-CN" altLang="en-US"/>
          </a:p>
        </p:txBody>
      </p:sp>
    </p:spTree>
    <p:extLst>
      <p:ext uri="{BB962C8B-B14F-4D97-AF65-F5344CB8AC3E}">
        <p14:creationId xmlns:p14="http://schemas.microsoft.com/office/powerpoint/2010/main" val="51541406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009A0808-98F2-4352-824A-B59ACF239D4A}" type="slidenum">
              <a:rPr lang="zh-CN" altLang="en-US" smtClean="0"/>
              <a:t>15</a:t>
            </a:fld>
            <a:endParaRPr lang="zh-CN" altLang="en-US"/>
          </a:p>
        </p:txBody>
      </p:sp>
    </p:spTree>
    <p:extLst>
      <p:ext uri="{BB962C8B-B14F-4D97-AF65-F5344CB8AC3E}">
        <p14:creationId xmlns:p14="http://schemas.microsoft.com/office/powerpoint/2010/main" val="342325004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009A0808-98F2-4352-824A-B59ACF239D4A}" type="slidenum">
              <a:rPr lang="zh-CN" altLang="en-US" smtClean="0"/>
              <a:t>16</a:t>
            </a:fld>
            <a:endParaRPr lang="zh-CN" altLang="en-US"/>
          </a:p>
        </p:txBody>
      </p:sp>
    </p:spTree>
    <p:extLst>
      <p:ext uri="{BB962C8B-B14F-4D97-AF65-F5344CB8AC3E}">
        <p14:creationId xmlns:p14="http://schemas.microsoft.com/office/powerpoint/2010/main" val="172990867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009A0808-98F2-4352-824A-B59ACF239D4A}" type="slidenum">
              <a:rPr lang="zh-CN" altLang="en-US" smtClean="0"/>
              <a:t>17</a:t>
            </a:fld>
            <a:endParaRPr lang="zh-CN" altLang="en-US"/>
          </a:p>
        </p:txBody>
      </p:sp>
    </p:spTree>
    <p:extLst>
      <p:ext uri="{BB962C8B-B14F-4D97-AF65-F5344CB8AC3E}">
        <p14:creationId xmlns:p14="http://schemas.microsoft.com/office/powerpoint/2010/main" val="270399176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009A0808-98F2-4352-824A-B59ACF239D4A}" type="slidenum">
              <a:rPr lang="zh-CN" altLang="en-US" smtClean="0"/>
              <a:t>18</a:t>
            </a:fld>
            <a:endParaRPr lang="zh-CN" altLang="en-US"/>
          </a:p>
        </p:txBody>
      </p:sp>
    </p:spTree>
    <p:extLst>
      <p:ext uri="{BB962C8B-B14F-4D97-AF65-F5344CB8AC3E}">
        <p14:creationId xmlns:p14="http://schemas.microsoft.com/office/powerpoint/2010/main" val="367664403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009A0808-98F2-4352-824A-B59ACF239D4A}" type="slidenum">
              <a:rPr lang="zh-CN" altLang="en-US" smtClean="0"/>
              <a:t>19</a:t>
            </a:fld>
            <a:endParaRPr lang="zh-CN" altLang="en-US"/>
          </a:p>
        </p:txBody>
      </p:sp>
    </p:spTree>
    <p:extLst>
      <p:ext uri="{BB962C8B-B14F-4D97-AF65-F5344CB8AC3E}">
        <p14:creationId xmlns:p14="http://schemas.microsoft.com/office/powerpoint/2010/main" val="227222227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009A0808-98F2-4352-824A-B59ACF239D4A}" type="slidenum">
              <a:rPr lang="zh-CN" altLang="en-US" smtClean="0"/>
              <a:t>20</a:t>
            </a:fld>
            <a:endParaRPr lang="zh-CN" altLang="en-US"/>
          </a:p>
        </p:txBody>
      </p:sp>
    </p:spTree>
    <p:extLst>
      <p:ext uri="{BB962C8B-B14F-4D97-AF65-F5344CB8AC3E}">
        <p14:creationId xmlns:p14="http://schemas.microsoft.com/office/powerpoint/2010/main" val="408920644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009A0808-98F2-4352-824A-B59ACF239D4A}" type="slidenum">
              <a:rPr lang="zh-CN" altLang="en-US" smtClean="0"/>
              <a:t>21</a:t>
            </a:fld>
            <a:endParaRPr lang="zh-CN" altLang="en-US"/>
          </a:p>
        </p:txBody>
      </p:sp>
    </p:spTree>
    <p:extLst>
      <p:ext uri="{BB962C8B-B14F-4D97-AF65-F5344CB8AC3E}">
        <p14:creationId xmlns:p14="http://schemas.microsoft.com/office/powerpoint/2010/main" val="379548396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009A0808-98F2-4352-824A-B59ACF239D4A}" type="slidenum">
              <a:rPr lang="zh-CN" altLang="en-US" smtClean="0"/>
              <a:t>22</a:t>
            </a:fld>
            <a:endParaRPr lang="zh-CN" altLang="en-US"/>
          </a:p>
        </p:txBody>
      </p:sp>
    </p:spTree>
    <p:extLst>
      <p:ext uri="{BB962C8B-B14F-4D97-AF65-F5344CB8AC3E}">
        <p14:creationId xmlns:p14="http://schemas.microsoft.com/office/powerpoint/2010/main" val="166915179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幻灯片图像占位符 1"/>
          <p:cNvSpPr>
            <a:spLocks noGrp="1" noRot="1" noChangeAspect="1" noTextEdit="1"/>
          </p:cNvSpPr>
          <p:nvPr>
            <p:ph type="sldImg"/>
          </p:nvPr>
        </p:nvSpPr>
        <p:spPr/>
      </p:sp>
      <p:sp>
        <p:nvSpPr>
          <p:cNvPr id="7171" name="备注占位符 2"/>
          <p:cNvSpPr>
            <a:spLocks noGrp="1"/>
          </p:cNvSpPr>
          <p:nvPr>
            <p:ph type="body" idx="1"/>
          </p:nvPr>
        </p:nvSpPr>
        <p:spPr>
          <a:noFill/>
        </p:spPr>
        <p:txBody>
          <a:bodyPr/>
          <a:lstStyle/>
          <a:p>
            <a:endParaRPr lang="zh-CN" altLang="en-US" smtClean="0"/>
          </a:p>
        </p:txBody>
      </p:sp>
      <p:sp>
        <p:nvSpPr>
          <p:cNvPr id="7172" name="灯片编号占位符 3"/>
          <p:cNvSpPr>
            <a:spLocks noGrp="1"/>
          </p:cNvSpPr>
          <p:nvPr>
            <p:ph type="sldNum" sz="quarter" idx="5"/>
          </p:nvPr>
        </p:nvSpPr>
        <p:spPr>
          <a:noFill/>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buFontTx/>
              <a:buNone/>
            </a:pPr>
            <a:fld id="{A3DF5170-8A0D-43AE-A108-EB1D46CE06DD}" type="slidenum">
              <a:rPr lang="zh-CN" altLang="en-US"/>
              <a:pPr eaLnBrk="1" hangingPunct="1">
                <a:buFontTx/>
                <a:buNone/>
              </a:pPr>
              <a:t>23</a:t>
            </a:fld>
            <a:endParaRPr lang="en-US" altLang="zh-CN"/>
          </a:p>
        </p:txBody>
      </p:sp>
    </p:spTree>
    <p:extLst>
      <p:ext uri="{BB962C8B-B14F-4D97-AF65-F5344CB8AC3E}">
        <p14:creationId xmlns:p14="http://schemas.microsoft.com/office/powerpoint/2010/main" val="2121676308"/>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pic>
        <p:nvPicPr>
          <p:cNvPr id="7" name="图片 6"/>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220" y="-1"/>
            <a:ext cx="9140780" cy="6858001"/>
          </a:xfrm>
          <a:prstGeom prst="rect">
            <a:avLst/>
          </a:prstGeom>
        </p:spPr>
      </p:pic>
      <p:sp>
        <p:nvSpPr>
          <p:cNvPr id="2" name="Title 1"/>
          <p:cNvSpPr>
            <a:spLocks noGrp="1"/>
          </p:cNvSpPr>
          <p:nvPr>
            <p:ph type="ctrTitle"/>
          </p:nvPr>
        </p:nvSpPr>
        <p:spPr>
          <a:xfrm>
            <a:off x="685800" y="1352281"/>
            <a:ext cx="7772400" cy="2157681"/>
          </a:xfrm>
        </p:spPr>
        <p:txBody>
          <a:bodyPr anchor="b">
            <a:normAutofit/>
          </a:bodyPr>
          <a:lstStyle>
            <a:lvl1pPr algn="ctr">
              <a:defRPr sz="4800">
                <a:solidFill>
                  <a:schemeClr val="bg1"/>
                </a:solidFill>
                <a:latin typeface="微软雅黑" panose="020B0503020204020204" pitchFamily="34" charset="-122"/>
                <a:ea typeface="微软雅黑" panose="020B0503020204020204" pitchFamily="34" charset="-122"/>
              </a:defRPr>
            </a:lvl1pPr>
          </a:lstStyle>
          <a:p>
            <a:r>
              <a:rPr lang="zh-CN" altLang="en-US" dirty="0" smtClean="0"/>
              <a:t>单击此处编辑母版标题样式</a:t>
            </a:r>
            <a:endParaRPr lang="en-US" dirty="0"/>
          </a:p>
        </p:txBody>
      </p:sp>
      <p:sp>
        <p:nvSpPr>
          <p:cNvPr id="3" name="Subtitle 2"/>
          <p:cNvSpPr>
            <a:spLocks noGrp="1"/>
          </p:cNvSpPr>
          <p:nvPr>
            <p:ph type="subTitle" idx="1"/>
          </p:nvPr>
        </p:nvSpPr>
        <p:spPr>
          <a:xfrm>
            <a:off x="1143000" y="3602038"/>
            <a:ext cx="6858000" cy="1655762"/>
          </a:xfrm>
        </p:spPr>
        <p:txBody>
          <a:bodyPr>
            <a:normAutofit/>
          </a:bodyPr>
          <a:lstStyle>
            <a:lvl1pPr marL="0" indent="0" algn="ctr">
              <a:buNone/>
              <a:defRPr sz="2800">
                <a:solidFill>
                  <a:schemeClr val="bg1"/>
                </a:solidFill>
                <a:latin typeface="微软雅黑" panose="020B0503020204020204" pitchFamily="34" charset="-122"/>
                <a:ea typeface="微软雅黑" panose="020B0503020204020204" pitchFamily="34" charset="-122"/>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smtClean="0"/>
              <a:t>单击以编辑母版副标题样式</a:t>
            </a:r>
            <a:endParaRPr lang="en-US" dirty="0"/>
          </a:p>
        </p:txBody>
      </p:sp>
      <p:sp>
        <p:nvSpPr>
          <p:cNvPr id="4" name="Date Placeholder 3"/>
          <p:cNvSpPr>
            <a:spLocks noGrp="1"/>
          </p:cNvSpPr>
          <p:nvPr>
            <p:ph type="dt" sz="half" idx="10"/>
          </p:nvPr>
        </p:nvSpPr>
        <p:spPr/>
        <p:txBody>
          <a:bodyPr/>
          <a:lstStyle/>
          <a:p>
            <a:fld id="{8AA88397-7984-4816-A3BC-987D45041CB5}" type="datetimeFigureOut">
              <a:rPr lang="zh-CN" altLang="en-US" smtClean="0"/>
              <a:t>2018/1/9</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B564C423-1280-4737-888E-126E3DA98E05}" type="slidenum">
              <a:rPr lang="zh-CN" altLang="en-US" smtClean="0"/>
              <a:t>‹#›</a:t>
            </a:fld>
            <a:endParaRPr lang="zh-CN" altLang="en-US"/>
          </a:p>
        </p:txBody>
      </p:sp>
    </p:spTree>
    <p:extLst>
      <p:ext uri="{BB962C8B-B14F-4D97-AF65-F5344CB8AC3E}">
        <p14:creationId xmlns:p14="http://schemas.microsoft.com/office/powerpoint/2010/main" val="265465561"/>
      </p:ext>
    </p:extLst>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4" name="Date Placeholder 3"/>
          <p:cNvSpPr>
            <a:spLocks noGrp="1"/>
          </p:cNvSpPr>
          <p:nvPr>
            <p:ph type="dt" sz="half" idx="10"/>
          </p:nvPr>
        </p:nvSpPr>
        <p:spPr/>
        <p:txBody>
          <a:bodyPr/>
          <a:lstStyle/>
          <a:p>
            <a:fld id="{8AA88397-7984-4816-A3BC-987D45041CB5}" type="datetimeFigureOut">
              <a:rPr lang="zh-CN" altLang="en-US" smtClean="0"/>
              <a:t>2018/1/9</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B564C423-1280-4737-888E-126E3DA98E05}" type="slidenum">
              <a:rPr lang="zh-CN" altLang="en-US" smtClean="0"/>
              <a:t>‹#›</a:t>
            </a:fld>
            <a:endParaRPr lang="zh-CN" altLang="en-US"/>
          </a:p>
        </p:txBody>
      </p:sp>
      <p:sp>
        <p:nvSpPr>
          <p:cNvPr id="7" name="Title 1"/>
          <p:cNvSpPr>
            <a:spLocks noGrp="1"/>
          </p:cNvSpPr>
          <p:nvPr>
            <p:ph type="title"/>
          </p:nvPr>
        </p:nvSpPr>
        <p:spPr>
          <a:xfrm>
            <a:off x="1657350" y="154546"/>
            <a:ext cx="4716082" cy="776289"/>
          </a:xfrm>
        </p:spPr>
        <p:txBody>
          <a:bodyPr>
            <a:normAutofit/>
          </a:bodyPr>
          <a:lstStyle>
            <a:lvl1pPr>
              <a:defRPr sz="2800">
                <a:latin typeface="微软雅黑" panose="020B0503020204020204" pitchFamily="34" charset="-122"/>
                <a:ea typeface="微软雅黑" panose="020B0503020204020204" pitchFamily="34" charset="-122"/>
              </a:defRPr>
            </a:lvl1pPr>
          </a:lstStyle>
          <a:p>
            <a:r>
              <a:rPr lang="zh-CN" altLang="en-US" smtClean="0"/>
              <a:t>单击此处编辑母版标题样式</a:t>
            </a:r>
            <a:endParaRPr lang="en-US" dirty="0"/>
          </a:p>
        </p:txBody>
      </p:sp>
      <p:sp>
        <p:nvSpPr>
          <p:cNvPr id="8" name="矩形 1"/>
          <p:cNvSpPr>
            <a:spLocks noChangeArrowheads="1"/>
          </p:cNvSpPr>
          <p:nvPr userDrawn="1"/>
        </p:nvSpPr>
        <p:spPr bwMode="auto">
          <a:xfrm>
            <a:off x="691076" y="221355"/>
            <a:ext cx="785813"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3600" b="1" dirty="0">
                <a:solidFill>
                  <a:schemeClr val="bg1"/>
                </a:solidFill>
                <a:latin typeface="微软雅黑" panose="020B0503020204020204" pitchFamily="34" charset="-122"/>
                <a:ea typeface="微软雅黑" panose="020B0503020204020204" pitchFamily="34" charset="-122"/>
                <a:sym typeface="宋体" panose="02010600030101010101" pitchFamily="2" charset="-122"/>
              </a:rPr>
              <a:t>✎ </a:t>
            </a:r>
            <a:endParaRPr lang="zh-CN" altLang="en-US" sz="3600" dirty="0"/>
          </a:p>
        </p:txBody>
      </p:sp>
    </p:spTree>
    <p:extLst>
      <p:ext uri="{BB962C8B-B14F-4D97-AF65-F5344CB8AC3E}">
        <p14:creationId xmlns:p14="http://schemas.microsoft.com/office/powerpoint/2010/main" val="794845434"/>
      </p:ext>
    </p:extLst>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两栏内容">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628650" y="1825625"/>
            <a:ext cx="3886200" cy="4351338"/>
          </a:xfrm>
        </p:spPr>
        <p:txBody>
          <a:body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5" name="Date Placeholder 4"/>
          <p:cNvSpPr>
            <a:spLocks noGrp="1"/>
          </p:cNvSpPr>
          <p:nvPr>
            <p:ph type="dt" sz="half" idx="10"/>
          </p:nvPr>
        </p:nvSpPr>
        <p:spPr/>
        <p:txBody>
          <a:bodyPr/>
          <a:lstStyle/>
          <a:p>
            <a:fld id="{8AA88397-7984-4816-A3BC-987D45041CB5}" type="datetimeFigureOut">
              <a:rPr lang="zh-CN" altLang="en-US" smtClean="0"/>
              <a:t>2018/1/9</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B564C423-1280-4737-888E-126E3DA98E05}" type="slidenum">
              <a:rPr lang="zh-CN" altLang="en-US" smtClean="0"/>
              <a:t>‹#›</a:t>
            </a:fld>
            <a:endParaRPr lang="zh-CN" altLang="en-US"/>
          </a:p>
        </p:txBody>
      </p:sp>
      <p:sp>
        <p:nvSpPr>
          <p:cNvPr id="8" name="Title 1"/>
          <p:cNvSpPr>
            <a:spLocks noGrp="1"/>
          </p:cNvSpPr>
          <p:nvPr>
            <p:ph type="title"/>
          </p:nvPr>
        </p:nvSpPr>
        <p:spPr>
          <a:xfrm>
            <a:off x="1657350" y="154546"/>
            <a:ext cx="4716082" cy="776289"/>
          </a:xfrm>
        </p:spPr>
        <p:txBody>
          <a:bodyPr>
            <a:normAutofit/>
          </a:bodyPr>
          <a:lstStyle>
            <a:lvl1pPr>
              <a:defRPr sz="2800">
                <a:latin typeface="微软雅黑" panose="020B0503020204020204" pitchFamily="34" charset="-122"/>
                <a:ea typeface="微软雅黑" panose="020B0503020204020204" pitchFamily="34" charset="-122"/>
              </a:defRPr>
            </a:lvl1pPr>
          </a:lstStyle>
          <a:p>
            <a:r>
              <a:rPr lang="zh-CN" altLang="en-US" smtClean="0"/>
              <a:t>单击此处编辑母版标题样式</a:t>
            </a:r>
            <a:endParaRPr lang="en-US" dirty="0"/>
          </a:p>
        </p:txBody>
      </p:sp>
      <p:sp>
        <p:nvSpPr>
          <p:cNvPr id="9" name="矩形 1"/>
          <p:cNvSpPr>
            <a:spLocks noChangeArrowheads="1"/>
          </p:cNvSpPr>
          <p:nvPr userDrawn="1"/>
        </p:nvSpPr>
        <p:spPr bwMode="auto">
          <a:xfrm>
            <a:off x="691076" y="221355"/>
            <a:ext cx="785813"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3600" b="1" dirty="0">
                <a:solidFill>
                  <a:schemeClr val="bg1"/>
                </a:solidFill>
                <a:latin typeface="微软雅黑" panose="020B0503020204020204" pitchFamily="34" charset="-122"/>
                <a:ea typeface="微软雅黑" panose="020B0503020204020204" pitchFamily="34" charset="-122"/>
                <a:sym typeface="宋体" panose="02010600030101010101" pitchFamily="2" charset="-122"/>
              </a:rPr>
              <a:t>✎ </a:t>
            </a:r>
            <a:endParaRPr lang="zh-CN" altLang="en-US" sz="3600" dirty="0"/>
          </a:p>
        </p:txBody>
      </p:sp>
    </p:spTree>
    <p:extLst>
      <p:ext uri="{BB962C8B-B14F-4D97-AF65-F5344CB8AC3E}">
        <p14:creationId xmlns:p14="http://schemas.microsoft.com/office/powerpoint/2010/main" val="3647714629"/>
      </p:ext>
    </p:extLst>
  </p:cSld>
  <p:clrMapOvr>
    <a:masterClrMapping/>
  </p:clrMapOvr>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比较">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编辑母版文本样式</a:t>
            </a:r>
          </a:p>
        </p:txBody>
      </p:sp>
      <p:sp>
        <p:nvSpPr>
          <p:cNvPr id="4" name="Content Placeholder 3"/>
          <p:cNvSpPr>
            <a:spLocks noGrp="1"/>
          </p:cNvSpPr>
          <p:nvPr>
            <p:ph sz="half" idx="2"/>
          </p:nvPr>
        </p:nvSpPr>
        <p:spPr>
          <a:xfrm>
            <a:off x="629842" y="2505075"/>
            <a:ext cx="3868340" cy="3684588"/>
          </a:xfrm>
        </p:spPr>
        <p:txBody>
          <a:body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编辑母版文本样式</a:t>
            </a:r>
          </a:p>
        </p:txBody>
      </p:sp>
      <p:sp>
        <p:nvSpPr>
          <p:cNvPr id="6" name="Content Placeholder 5"/>
          <p:cNvSpPr>
            <a:spLocks noGrp="1"/>
          </p:cNvSpPr>
          <p:nvPr>
            <p:ph sz="quarter" idx="4"/>
          </p:nvPr>
        </p:nvSpPr>
        <p:spPr>
          <a:xfrm>
            <a:off x="4629150" y="2505075"/>
            <a:ext cx="3887391" cy="3684588"/>
          </a:xfrm>
        </p:spPr>
        <p:txBody>
          <a:body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7" name="Date Placeholder 6"/>
          <p:cNvSpPr>
            <a:spLocks noGrp="1"/>
          </p:cNvSpPr>
          <p:nvPr>
            <p:ph type="dt" sz="half" idx="10"/>
          </p:nvPr>
        </p:nvSpPr>
        <p:spPr/>
        <p:txBody>
          <a:bodyPr/>
          <a:lstStyle/>
          <a:p>
            <a:fld id="{8AA88397-7984-4816-A3BC-987D45041CB5}" type="datetimeFigureOut">
              <a:rPr lang="zh-CN" altLang="en-US" smtClean="0"/>
              <a:t>2018/1/9</a:t>
            </a:fld>
            <a:endParaRPr lang="zh-CN" altLang="en-US"/>
          </a:p>
        </p:txBody>
      </p:sp>
      <p:sp>
        <p:nvSpPr>
          <p:cNvPr id="8" name="Footer Placeholder 7"/>
          <p:cNvSpPr>
            <a:spLocks noGrp="1"/>
          </p:cNvSpPr>
          <p:nvPr>
            <p:ph type="ftr" sz="quarter" idx="11"/>
          </p:nvPr>
        </p:nvSpPr>
        <p:spPr/>
        <p:txBody>
          <a:bodyPr/>
          <a:lstStyle/>
          <a:p>
            <a:endParaRPr lang="zh-CN" altLang="en-US"/>
          </a:p>
        </p:txBody>
      </p:sp>
      <p:sp>
        <p:nvSpPr>
          <p:cNvPr id="9" name="Slide Number Placeholder 8"/>
          <p:cNvSpPr>
            <a:spLocks noGrp="1"/>
          </p:cNvSpPr>
          <p:nvPr>
            <p:ph type="sldNum" sz="quarter" idx="12"/>
          </p:nvPr>
        </p:nvSpPr>
        <p:spPr/>
        <p:txBody>
          <a:bodyPr/>
          <a:lstStyle/>
          <a:p>
            <a:fld id="{B564C423-1280-4737-888E-126E3DA98E05}" type="slidenum">
              <a:rPr lang="zh-CN" altLang="en-US" smtClean="0"/>
              <a:t>‹#›</a:t>
            </a:fld>
            <a:endParaRPr lang="zh-CN" altLang="en-US"/>
          </a:p>
        </p:txBody>
      </p:sp>
      <p:sp>
        <p:nvSpPr>
          <p:cNvPr id="10" name="Title 1"/>
          <p:cNvSpPr>
            <a:spLocks noGrp="1"/>
          </p:cNvSpPr>
          <p:nvPr>
            <p:ph type="title"/>
          </p:nvPr>
        </p:nvSpPr>
        <p:spPr>
          <a:xfrm>
            <a:off x="1657350" y="154546"/>
            <a:ext cx="4716082" cy="776289"/>
          </a:xfrm>
        </p:spPr>
        <p:txBody>
          <a:bodyPr>
            <a:normAutofit/>
          </a:bodyPr>
          <a:lstStyle>
            <a:lvl1pPr>
              <a:defRPr sz="2800">
                <a:latin typeface="微软雅黑" panose="020B0503020204020204" pitchFamily="34" charset="-122"/>
                <a:ea typeface="微软雅黑" panose="020B0503020204020204" pitchFamily="34" charset="-122"/>
              </a:defRPr>
            </a:lvl1pPr>
          </a:lstStyle>
          <a:p>
            <a:r>
              <a:rPr lang="zh-CN" altLang="en-US" smtClean="0"/>
              <a:t>单击此处编辑母版标题样式</a:t>
            </a:r>
            <a:endParaRPr lang="en-US" dirty="0"/>
          </a:p>
        </p:txBody>
      </p:sp>
      <p:sp>
        <p:nvSpPr>
          <p:cNvPr id="11" name="矩形 1"/>
          <p:cNvSpPr>
            <a:spLocks noChangeArrowheads="1"/>
          </p:cNvSpPr>
          <p:nvPr userDrawn="1"/>
        </p:nvSpPr>
        <p:spPr bwMode="auto">
          <a:xfrm>
            <a:off x="691076" y="221355"/>
            <a:ext cx="785813"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3600" b="1" dirty="0">
                <a:solidFill>
                  <a:schemeClr val="bg1"/>
                </a:solidFill>
                <a:latin typeface="微软雅黑" panose="020B0503020204020204" pitchFamily="34" charset="-122"/>
                <a:ea typeface="微软雅黑" panose="020B0503020204020204" pitchFamily="34" charset="-122"/>
                <a:sym typeface="宋体" panose="02010600030101010101" pitchFamily="2" charset="-122"/>
              </a:rPr>
              <a:t>✎ </a:t>
            </a:r>
            <a:endParaRPr lang="zh-CN" altLang="en-US" sz="3600" dirty="0"/>
          </a:p>
        </p:txBody>
      </p:sp>
    </p:spTree>
    <p:extLst>
      <p:ext uri="{BB962C8B-B14F-4D97-AF65-F5344CB8AC3E}">
        <p14:creationId xmlns:p14="http://schemas.microsoft.com/office/powerpoint/2010/main" val="1211636548"/>
      </p:ext>
    </p:extLst>
  </p:cSld>
  <p:clrMapOvr>
    <a:masterClrMapping/>
  </p:clrMapOvr>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a:xfrm>
            <a:off x="1657350" y="154546"/>
            <a:ext cx="4716082" cy="776289"/>
          </a:xfrm>
        </p:spPr>
        <p:txBody>
          <a:bodyPr>
            <a:normAutofit/>
          </a:bodyPr>
          <a:lstStyle>
            <a:lvl1pPr>
              <a:defRPr sz="2800">
                <a:latin typeface="微软雅黑" panose="020B0503020204020204" pitchFamily="34" charset="-122"/>
                <a:ea typeface="微软雅黑" panose="020B0503020204020204" pitchFamily="34" charset="-122"/>
              </a:defRPr>
            </a:lvl1pPr>
          </a:lstStyle>
          <a:p>
            <a:r>
              <a:rPr lang="zh-CN" altLang="en-US" smtClean="0"/>
              <a:t>单击此处编辑母版标题样式</a:t>
            </a:r>
            <a:endParaRPr lang="en-US" dirty="0"/>
          </a:p>
        </p:txBody>
      </p:sp>
      <p:sp>
        <p:nvSpPr>
          <p:cNvPr id="3" name="Date Placeholder 2"/>
          <p:cNvSpPr>
            <a:spLocks noGrp="1"/>
          </p:cNvSpPr>
          <p:nvPr>
            <p:ph type="dt" sz="half" idx="10"/>
          </p:nvPr>
        </p:nvSpPr>
        <p:spPr/>
        <p:txBody>
          <a:bodyPr/>
          <a:lstStyle/>
          <a:p>
            <a:fld id="{8AA88397-7984-4816-A3BC-987D45041CB5}" type="datetimeFigureOut">
              <a:rPr lang="zh-CN" altLang="en-US" smtClean="0"/>
              <a:t>2018/1/9</a:t>
            </a:fld>
            <a:endParaRPr lang="zh-CN" altLang="en-US"/>
          </a:p>
        </p:txBody>
      </p:sp>
      <p:sp>
        <p:nvSpPr>
          <p:cNvPr id="4" name="Footer Placeholder 3"/>
          <p:cNvSpPr>
            <a:spLocks noGrp="1"/>
          </p:cNvSpPr>
          <p:nvPr>
            <p:ph type="ftr" sz="quarter" idx="11"/>
          </p:nvPr>
        </p:nvSpPr>
        <p:spPr/>
        <p:txBody>
          <a:bodyPr/>
          <a:lstStyle/>
          <a:p>
            <a:endParaRPr lang="zh-CN" altLang="en-US"/>
          </a:p>
        </p:txBody>
      </p:sp>
      <p:sp>
        <p:nvSpPr>
          <p:cNvPr id="5" name="Slide Number Placeholder 4"/>
          <p:cNvSpPr>
            <a:spLocks noGrp="1"/>
          </p:cNvSpPr>
          <p:nvPr>
            <p:ph type="sldNum" sz="quarter" idx="12"/>
          </p:nvPr>
        </p:nvSpPr>
        <p:spPr/>
        <p:txBody>
          <a:bodyPr/>
          <a:lstStyle/>
          <a:p>
            <a:fld id="{B564C423-1280-4737-888E-126E3DA98E05}" type="slidenum">
              <a:rPr lang="zh-CN" altLang="en-US" smtClean="0"/>
              <a:t>‹#›</a:t>
            </a:fld>
            <a:endParaRPr lang="zh-CN" altLang="en-US"/>
          </a:p>
        </p:txBody>
      </p:sp>
      <p:sp>
        <p:nvSpPr>
          <p:cNvPr id="6" name="矩形 1"/>
          <p:cNvSpPr>
            <a:spLocks noChangeArrowheads="1"/>
          </p:cNvSpPr>
          <p:nvPr userDrawn="1"/>
        </p:nvSpPr>
        <p:spPr bwMode="auto">
          <a:xfrm>
            <a:off x="691076" y="221355"/>
            <a:ext cx="785813"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3600" b="1" dirty="0">
                <a:solidFill>
                  <a:schemeClr val="bg1"/>
                </a:solidFill>
                <a:latin typeface="微软雅黑" panose="020B0503020204020204" pitchFamily="34" charset="-122"/>
                <a:ea typeface="微软雅黑" panose="020B0503020204020204" pitchFamily="34" charset="-122"/>
                <a:sym typeface="宋体" panose="02010600030101010101" pitchFamily="2" charset="-122"/>
              </a:rPr>
              <a:t>✎ </a:t>
            </a:r>
            <a:endParaRPr lang="zh-CN" altLang="en-US" sz="3600" dirty="0"/>
          </a:p>
        </p:txBody>
      </p:sp>
    </p:spTree>
    <p:extLst>
      <p:ext uri="{BB962C8B-B14F-4D97-AF65-F5344CB8AC3E}">
        <p14:creationId xmlns:p14="http://schemas.microsoft.com/office/powerpoint/2010/main" val="1029936741"/>
      </p:ext>
    </p:extLst>
  </p:cSld>
  <p:clrMapOvr>
    <a:masterClrMapping/>
  </p:clrMapOvr>
  <p:timing>
    <p:tnLst>
      <p:par>
        <p:cT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标题和竖排文字">
    <p:spTree>
      <p:nvGrpSpPr>
        <p:cNvPr id="1" name=""/>
        <p:cNvGrpSpPr/>
        <p:nvPr/>
      </p:nvGrpSpPr>
      <p:grpSpPr>
        <a:xfrm>
          <a:off x="0" y="0"/>
          <a:ext cx="0" cy="0"/>
          <a:chOff x="0" y="0"/>
          <a:chExt cx="0" cy="0"/>
        </a:xfrm>
      </p:grpSpPr>
      <p:sp>
        <p:nvSpPr>
          <p:cNvPr id="3" name="Vertical Text Placeholder 2"/>
          <p:cNvSpPr>
            <a:spLocks noGrp="1"/>
          </p:cNvSpPr>
          <p:nvPr>
            <p:ph type="body" orient="vert" idx="1"/>
          </p:nvPr>
        </p:nvSpPr>
        <p:spPr/>
        <p:txBody>
          <a:bodyPr vert="eaVert"/>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4" name="Date Placeholder 3"/>
          <p:cNvSpPr>
            <a:spLocks noGrp="1"/>
          </p:cNvSpPr>
          <p:nvPr>
            <p:ph type="dt" sz="half" idx="10"/>
          </p:nvPr>
        </p:nvSpPr>
        <p:spPr/>
        <p:txBody>
          <a:bodyPr/>
          <a:lstStyle/>
          <a:p>
            <a:fld id="{8AA88397-7984-4816-A3BC-987D45041CB5}" type="datetimeFigureOut">
              <a:rPr lang="zh-CN" altLang="en-US" smtClean="0"/>
              <a:t>2018/1/9</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B564C423-1280-4737-888E-126E3DA98E05}" type="slidenum">
              <a:rPr lang="zh-CN" altLang="en-US" smtClean="0"/>
              <a:t>‹#›</a:t>
            </a:fld>
            <a:endParaRPr lang="zh-CN" altLang="en-US"/>
          </a:p>
        </p:txBody>
      </p:sp>
      <p:sp>
        <p:nvSpPr>
          <p:cNvPr id="7" name="Title 1"/>
          <p:cNvSpPr>
            <a:spLocks noGrp="1"/>
          </p:cNvSpPr>
          <p:nvPr>
            <p:ph type="title"/>
          </p:nvPr>
        </p:nvSpPr>
        <p:spPr>
          <a:xfrm>
            <a:off x="1657350" y="154546"/>
            <a:ext cx="4716082" cy="776289"/>
          </a:xfrm>
        </p:spPr>
        <p:txBody>
          <a:bodyPr>
            <a:normAutofit/>
          </a:bodyPr>
          <a:lstStyle>
            <a:lvl1pPr>
              <a:defRPr sz="2800">
                <a:latin typeface="微软雅黑" panose="020B0503020204020204" pitchFamily="34" charset="-122"/>
                <a:ea typeface="微软雅黑" panose="020B0503020204020204" pitchFamily="34" charset="-122"/>
              </a:defRPr>
            </a:lvl1pPr>
          </a:lstStyle>
          <a:p>
            <a:r>
              <a:rPr lang="zh-CN" altLang="en-US" smtClean="0"/>
              <a:t>单击此处编辑母版标题样式</a:t>
            </a:r>
            <a:endParaRPr lang="en-US" dirty="0"/>
          </a:p>
        </p:txBody>
      </p:sp>
      <p:sp>
        <p:nvSpPr>
          <p:cNvPr id="8" name="矩形 1"/>
          <p:cNvSpPr>
            <a:spLocks noChangeArrowheads="1"/>
          </p:cNvSpPr>
          <p:nvPr userDrawn="1"/>
        </p:nvSpPr>
        <p:spPr bwMode="auto">
          <a:xfrm>
            <a:off x="691076" y="221355"/>
            <a:ext cx="785813"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3600" b="1" dirty="0">
                <a:solidFill>
                  <a:schemeClr val="bg1"/>
                </a:solidFill>
                <a:latin typeface="微软雅黑" panose="020B0503020204020204" pitchFamily="34" charset="-122"/>
                <a:ea typeface="微软雅黑" panose="020B0503020204020204" pitchFamily="34" charset="-122"/>
                <a:sym typeface="宋体" panose="02010600030101010101" pitchFamily="2" charset="-122"/>
              </a:rPr>
              <a:t>✎ </a:t>
            </a:r>
            <a:endParaRPr lang="zh-CN" altLang="en-US" sz="3600" dirty="0"/>
          </a:p>
        </p:txBody>
      </p:sp>
    </p:spTree>
    <p:extLst>
      <p:ext uri="{BB962C8B-B14F-4D97-AF65-F5344CB8AC3E}">
        <p14:creationId xmlns:p14="http://schemas.microsoft.com/office/powerpoint/2010/main" val="2776814500"/>
      </p:ext>
    </p:extLst>
  </p:cSld>
  <p:clrMapOvr>
    <a:masterClrMapping/>
  </p:clrMapOvr>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3_标题幻灯片">
    <p:spTree>
      <p:nvGrpSpPr>
        <p:cNvPr id="1" name=""/>
        <p:cNvGrpSpPr/>
        <p:nvPr/>
      </p:nvGrpSpPr>
      <p:grpSpPr>
        <a:xfrm>
          <a:off x="0" y="0"/>
          <a:ext cx="0" cy="0"/>
          <a:chOff x="0" y="0"/>
          <a:chExt cx="0" cy="0"/>
        </a:xfrm>
      </p:grpSpPr>
      <p:pic>
        <p:nvPicPr>
          <p:cNvPr id="2" name="图片 1"/>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2352" y="0"/>
            <a:ext cx="9146352" cy="6858000"/>
          </a:xfrm>
          <a:prstGeom prst="rect">
            <a:avLst/>
          </a:prstGeom>
        </p:spPr>
      </p:pic>
    </p:spTree>
    <p:extLst>
      <p:ext uri="{BB962C8B-B14F-4D97-AF65-F5344CB8AC3E}">
        <p14:creationId xmlns:p14="http://schemas.microsoft.com/office/powerpoint/2010/main" val="1549692646"/>
      </p:ext>
    </p:extLst>
  </p:cSld>
  <p:clrMapOvr>
    <a:masterClrMapping/>
  </p:clrMapOvr>
  <p:timing>
    <p:tnLst>
      <p:par>
        <p:cTn id="1" dur="indefinite" restart="never" nodeType="tmRoot"/>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userDrawn="1">
  <p:cSld name="1_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userDrawn="1">
  <p:cSld name="1_标题和内容">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2_标题幻灯片">
    <p:spTree>
      <p:nvGrpSpPr>
        <p:cNvPr id="1" name=""/>
        <p:cNvGrpSpPr/>
        <p:nvPr/>
      </p:nvGrpSpPr>
      <p:grpSpPr>
        <a:xfrm>
          <a:off x="0" y="0"/>
          <a:ext cx="0" cy="0"/>
          <a:chOff x="0" y="0"/>
          <a:chExt cx="0" cy="0"/>
        </a:xfrm>
      </p:grpSpPr>
    </p:spTree>
    <p:extLst>
      <p:ext uri="{BB962C8B-B14F-4D97-AF65-F5344CB8AC3E}">
        <p14:creationId xmlns:p14="http://schemas.microsoft.com/office/powerpoint/2010/main" val="424901030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3_标题和内容">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34776880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4_标题和内容">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88412500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5_标题和内容">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88412500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6_标题和内容">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88412500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7_标题和内容">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88412500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8_标题和内容">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88412500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9_标题和内容">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88412500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10_标题和内容">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88412500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11_标题和内容">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884125000"/>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12_标题和内容">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884125000"/>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userDrawn="1">
  <p:cSld name="13_标题和内容">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884125000"/>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userDrawn="1">
  <p:cSld name="14_标题和内容">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884125000"/>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userDrawn="1">
  <p:cSld name="15_标题和内容">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884125000"/>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4_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881009399"/>
      </p:ext>
    </p:extLst>
  </p:cSld>
  <p:clrMapOvr>
    <a:masterClrMapping/>
  </p:clrMapOvr>
  <p:timing>
    <p:tnLst>
      <p:par>
        <p:cTn id="1" dur="indefinite" restart="never" nodeType="tmRoot"/>
      </p:par>
    </p:tnLst>
  </p:timing>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5_标题幻灯片">
    <p:spTree>
      <p:nvGrpSpPr>
        <p:cNvPr id="1" name=""/>
        <p:cNvGrpSpPr/>
        <p:nvPr/>
      </p:nvGrpSpPr>
      <p:grpSpPr>
        <a:xfrm>
          <a:off x="0" y="0"/>
          <a:ext cx="0" cy="0"/>
          <a:chOff x="0" y="0"/>
          <a:chExt cx="0" cy="0"/>
        </a:xfrm>
      </p:grpSpPr>
    </p:spTree>
    <p:extLst>
      <p:ext uri="{BB962C8B-B14F-4D97-AF65-F5344CB8AC3E}">
        <p14:creationId xmlns:p14="http://schemas.microsoft.com/office/powerpoint/2010/main" val="3357001965"/>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16_标题和内容">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061648652"/>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userDrawn="1">
  <p:cSld name="17_标题和内容">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071627306"/>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userDrawn="1">
  <p:cSld name="18_标题和内容">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071627306"/>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userDrawn="1">
  <p:cSld name="19_标题和内容">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071627306"/>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6_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611726818"/>
      </p:ext>
    </p:extLst>
  </p:cSld>
  <p:clrMapOvr>
    <a:masterClrMapping/>
  </p:clrMapOvr>
  <p:timing>
    <p:tnLst>
      <p:par>
        <p:cTn id="1" dur="indefinite" restart="never" nodeType="tmRoot"/>
      </p:par>
    </p:tnLst>
  </p:timing>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7_标题幻灯片">
    <p:spTree>
      <p:nvGrpSpPr>
        <p:cNvPr id="1" name=""/>
        <p:cNvGrpSpPr/>
        <p:nvPr/>
      </p:nvGrpSpPr>
      <p:grpSpPr>
        <a:xfrm>
          <a:off x="0" y="0"/>
          <a:ext cx="0" cy="0"/>
          <a:chOff x="0" y="0"/>
          <a:chExt cx="0" cy="0"/>
        </a:xfrm>
      </p:grpSpPr>
    </p:spTree>
    <p:extLst>
      <p:ext uri="{BB962C8B-B14F-4D97-AF65-F5344CB8AC3E}">
        <p14:creationId xmlns:p14="http://schemas.microsoft.com/office/powerpoint/2010/main" val="540794111"/>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20_标题和内容">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641805960"/>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userDrawn="1">
  <p:cSld name="21_标题和内容">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17842771"/>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userDrawn="1">
  <p:cSld name="22_标题和内容">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17842771"/>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userDrawn="1">
  <p:cSld name="23_标题和内容">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17842771"/>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userDrawn="1">
  <p:cSld name="24_标题和内容">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17842771"/>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8_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865938104"/>
      </p:ext>
    </p:extLst>
  </p:cSld>
  <p:clrMapOvr>
    <a:masterClrMapping/>
  </p:clrMapOvr>
  <p:timing>
    <p:tnLst>
      <p:par>
        <p:cTn id="1" dur="indefinite" restart="never" nodeType="tmRoot"/>
      </p:par>
    </p:tnLst>
  </p:timing>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9_标题幻灯片">
    <p:spTree>
      <p:nvGrpSpPr>
        <p:cNvPr id="1" name=""/>
        <p:cNvGrpSpPr/>
        <p:nvPr/>
      </p:nvGrpSpPr>
      <p:grpSpPr>
        <a:xfrm>
          <a:off x="0" y="0"/>
          <a:ext cx="0" cy="0"/>
          <a:chOff x="0" y="0"/>
          <a:chExt cx="0" cy="0"/>
        </a:xfrm>
      </p:grpSpPr>
    </p:spTree>
    <p:extLst>
      <p:ext uri="{BB962C8B-B14F-4D97-AF65-F5344CB8AC3E}">
        <p14:creationId xmlns:p14="http://schemas.microsoft.com/office/powerpoint/2010/main" val="2990937741"/>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25_标题和内容">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90317079"/>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41" Type="http://schemas.openxmlformats.org/officeDocument/2006/relationships/image" Target="../media/image1.jp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theme" Target="../theme/theme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8" Type="http://schemas.openxmlformats.org/officeDocument/2006/relationships/slideLayout" Target="../slideLayouts/slideLayout8.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7" name="图片 6"/>
          <p:cNvPicPr>
            <a:picLocks noChangeAspect="1"/>
          </p:cNvPicPr>
          <p:nvPr userDrawn="1"/>
        </p:nvPicPr>
        <p:blipFill>
          <a:blip r:embed="rId41">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zh-CN" altLang="en-US" smtClean="0"/>
              <a:t>单击此处编辑母版标题样式</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AA88397-7984-4816-A3BC-987D45041CB5}" type="datetimeFigureOut">
              <a:rPr lang="zh-CN" altLang="en-US" smtClean="0"/>
              <a:t>2018/1/9</a:t>
            </a:fld>
            <a:endParaRPr lang="zh-CN" altLang="en-US"/>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564C423-1280-4737-888E-126E3DA98E05}" type="slidenum">
              <a:rPr lang="zh-CN" altLang="en-US" smtClean="0"/>
              <a:t>‹#›</a:t>
            </a:fld>
            <a:endParaRPr lang="zh-CN" altLang="en-US"/>
          </a:p>
        </p:txBody>
      </p:sp>
      <p:sp>
        <p:nvSpPr>
          <p:cNvPr id="8" name="矩形 1"/>
          <p:cNvSpPr>
            <a:spLocks noChangeArrowheads="1"/>
          </p:cNvSpPr>
          <p:nvPr userDrawn="1"/>
        </p:nvSpPr>
        <p:spPr bwMode="auto">
          <a:xfrm>
            <a:off x="691076" y="221355"/>
            <a:ext cx="785813"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3600" b="1" dirty="0">
                <a:solidFill>
                  <a:schemeClr val="bg1"/>
                </a:solidFill>
                <a:latin typeface="微软雅黑" panose="020B0503020204020204" pitchFamily="34" charset="-122"/>
                <a:ea typeface="微软雅黑" panose="020B0503020204020204" pitchFamily="34" charset="-122"/>
                <a:sym typeface="宋体" panose="02010600030101010101" pitchFamily="2" charset="-122"/>
              </a:rPr>
              <a:t>✎ </a:t>
            </a:r>
            <a:endParaRPr lang="zh-CN" altLang="en-US" sz="3600" dirty="0"/>
          </a:p>
        </p:txBody>
      </p:sp>
    </p:spTree>
    <p:extLst>
      <p:ext uri="{BB962C8B-B14F-4D97-AF65-F5344CB8AC3E}">
        <p14:creationId xmlns:p14="http://schemas.microsoft.com/office/powerpoint/2010/main" val="1835173928"/>
      </p:ext>
    </p:extLst>
  </p:cSld>
  <p:clrMap bg1="lt1" tx1="dk1" bg2="lt2" tx2="dk2" accent1="accent1" accent2="accent2" accent3="accent3" accent4="accent4" accent5="accent5" accent6="accent6" hlink="hlink" folHlink="folHlink"/>
  <p:sldLayoutIdLst>
    <p:sldLayoutId id="2147483669" r:id="rId1"/>
    <p:sldLayoutId id="2147483670" r:id="rId2"/>
    <p:sldLayoutId id="2147483671" r:id="rId3"/>
    <p:sldLayoutId id="2147483672" r:id="rId4"/>
    <p:sldLayoutId id="2147483673" r:id="rId5"/>
    <p:sldLayoutId id="2147483674" r:id="rId6"/>
    <p:sldLayoutId id="2147483675" r:id="rId7"/>
    <p:sldLayoutId id="2147483676" r:id="rId8"/>
    <p:sldLayoutId id="2147483677" r:id="rId9"/>
    <p:sldLayoutId id="2147483652" r:id="rId10"/>
    <p:sldLayoutId id="2147483651" r:id="rId11"/>
    <p:sldLayoutId id="2147483679" r:id="rId12"/>
    <p:sldLayoutId id="2147483680" r:id="rId13"/>
    <p:sldLayoutId id="2147483681" r:id="rId14"/>
    <p:sldLayoutId id="2147483682" r:id="rId15"/>
    <p:sldLayoutId id="2147483683" r:id="rId16"/>
    <p:sldLayoutId id="2147483684" r:id="rId17"/>
    <p:sldLayoutId id="2147483685" r:id="rId18"/>
    <p:sldLayoutId id="2147483686" r:id="rId19"/>
    <p:sldLayoutId id="2147483687" r:id="rId20"/>
    <p:sldLayoutId id="2147483688" r:id="rId21"/>
    <p:sldLayoutId id="2147483689" r:id="rId22"/>
    <p:sldLayoutId id="2147483690" r:id="rId23"/>
    <p:sldLayoutId id="2147483659" r:id="rId24"/>
    <p:sldLayoutId id="2147483660" r:id="rId25"/>
    <p:sldLayoutId id="2147483662" r:id="rId26"/>
    <p:sldLayoutId id="2147483691" r:id="rId27"/>
    <p:sldLayoutId id="2147483692" r:id="rId28"/>
    <p:sldLayoutId id="2147483693" r:id="rId29"/>
    <p:sldLayoutId id="2147483664" r:id="rId30"/>
    <p:sldLayoutId id="2147483665" r:id="rId31"/>
    <p:sldLayoutId id="2147483667" r:id="rId32"/>
    <p:sldLayoutId id="2147483694" r:id="rId33"/>
    <p:sldLayoutId id="2147483695" r:id="rId34"/>
    <p:sldLayoutId id="2147483696" r:id="rId35"/>
    <p:sldLayoutId id="2147483697" r:id="rId36"/>
    <p:sldLayoutId id="2147483654" r:id="rId37"/>
    <p:sldLayoutId id="2147483655" r:id="rId38"/>
    <p:sldLayoutId id="2147483657" r:id="rId39"/>
  </p:sldLayoutIdLst>
  <p:timing>
    <p:tnLst>
      <p:par>
        <p:cTn id="1" dur="indefinite" restart="never" nodeType="tmRoot"/>
      </p:par>
    </p:tnLst>
  </p:timing>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tags" Target="../tags/tag2.xml"/><Relationship Id="rId4" Type="http://schemas.openxmlformats.org/officeDocument/2006/relationships/image" Target="../media/image5.png"/></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27.xml"/><Relationship Id="rId1" Type="http://schemas.openxmlformats.org/officeDocument/2006/relationships/tags" Target="../tags/tag3.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28.xml"/><Relationship Id="rId1" Type="http://schemas.openxmlformats.org/officeDocument/2006/relationships/tags" Target="../tags/tag4.xml"/></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8.xml"/><Relationship Id="rId1" Type="http://schemas.openxmlformats.org/officeDocument/2006/relationships/tags" Target="../tags/tag5.xml"/><Relationship Id="rId4" Type="http://schemas.openxmlformats.org/officeDocument/2006/relationships/chart" Target="../charts/chart1.xml"/></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12.xml"/><Relationship Id="rId1" Type="http://schemas.openxmlformats.org/officeDocument/2006/relationships/tags" Target="../tags/tag6.xml"/></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13.xml"/><Relationship Id="rId1" Type="http://schemas.openxmlformats.org/officeDocument/2006/relationships/tags" Target="../tags/tag7.xml"/><Relationship Id="rId5" Type="http://schemas.openxmlformats.org/officeDocument/2006/relationships/image" Target="../media/image7.png"/><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14.xml"/><Relationship Id="rId1" Type="http://schemas.openxmlformats.org/officeDocument/2006/relationships/tags" Target="../tags/tag8.xml"/></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15.xml"/><Relationship Id="rId1" Type="http://schemas.openxmlformats.org/officeDocument/2006/relationships/tags" Target="../tags/tag9.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16.xml"/><Relationship Id="rId1" Type="http://schemas.openxmlformats.org/officeDocument/2006/relationships/tags" Target="../tags/tag10.xml"/><Relationship Id="rId5" Type="http://schemas.openxmlformats.org/officeDocument/2006/relationships/image" Target="../media/image12.png"/><Relationship Id="rId4" Type="http://schemas.openxmlformats.org/officeDocument/2006/relationships/image" Target="../media/image11.png"/></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17.xml"/><Relationship Id="rId1" Type="http://schemas.openxmlformats.org/officeDocument/2006/relationships/tags" Target="../tags/tag11.xml"/></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18.xml"/><Relationship Id="rId1" Type="http://schemas.openxmlformats.org/officeDocument/2006/relationships/tags" Target="../tags/tag12.xml"/></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19.xml"/><Relationship Id="rId1" Type="http://schemas.openxmlformats.org/officeDocument/2006/relationships/tags" Target="../tags/tag13.xml"/></Relationships>
</file>

<file path=ppt/slides/_rels/slide13.xml.rels><?xml version="1.0" encoding="UTF-8" standalone="yes"?>
<Relationships xmlns="http://schemas.openxmlformats.org/package/2006/relationships"><Relationship Id="rId8" Type="http://schemas.microsoft.com/office/2007/relationships/diagramDrawing" Target="../diagrams/drawing1.xml"/><Relationship Id="rId3" Type="http://schemas.openxmlformats.org/officeDocument/2006/relationships/notesSlide" Target="../notesSlides/notesSlide13.xml"/><Relationship Id="rId7" Type="http://schemas.openxmlformats.org/officeDocument/2006/relationships/diagramColors" Target="../diagrams/colors1.xml"/><Relationship Id="rId2" Type="http://schemas.openxmlformats.org/officeDocument/2006/relationships/slideLayout" Target="../slideLayouts/slideLayout20.xml"/><Relationship Id="rId1" Type="http://schemas.openxmlformats.org/officeDocument/2006/relationships/tags" Target="../tags/tag14.xml"/><Relationship Id="rId6" Type="http://schemas.openxmlformats.org/officeDocument/2006/relationships/diagramQuickStyle" Target="../diagrams/quickStyle1.xml"/><Relationship Id="rId5" Type="http://schemas.openxmlformats.org/officeDocument/2006/relationships/diagramLayout" Target="../diagrams/layout1.xml"/><Relationship Id="rId4" Type="http://schemas.openxmlformats.org/officeDocument/2006/relationships/diagramData" Target="../diagrams/data1.xml"/></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21.xml"/><Relationship Id="rId1" Type="http://schemas.openxmlformats.org/officeDocument/2006/relationships/tags" Target="../tags/tag15.xml"/></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22.xml"/><Relationship Id="rId1" Type="http://schemas.openxmlformats.org/officeDocument/2006/relationships/tags" Target="../tags/tag16.xml"/></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33.xml"/><Relationship Id="rId1" Type="http://schemas.openxmlformats.org/officeDocument/2006/relationships/tags" Target="../tags/tag17.xml"/></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34.xml"/><Relationship Id="rId1" Type="http://schemas.openxmlformats.org/officeDocument/2006/relationships/tags" Target="../tags/tag18.xml"/></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23.xml"/><Relationship Id="rId1" Type="http://schemas.openxmlformats.org/officeDocument/2006/relationships/tags" Target="../tags/tag19.xml"/><Relationship Id="rId4" Type="http://schemas.openxmlformats.org/officeDocument/2006/relationships/image" Target="../media/image13.png"/></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35.xml"/><Relationship Id="rId1" Type="http://schemas.openxmlformats.org/officeDocument/2006/relationships/tags" Target="../tags/tag20.xml"/></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20.xml"/><Relationship Id="rId2" Type="http://schemas.openxmlformats.org/officeDocument/2006/relationships/slideLayout" Target="../slideLayouts/slideLayout36.xml"/><Relationship Id="rId1" Type="http://schemas.openxmlformats.org/officeDocument/2006/relationships/tags" Target="../tags/tag21.xml"/></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21.xml"/><Relationship Id="rId2" Type="http://schemas.openxmlformats.org/officeDocument/2006/relationships/slideLayout" Target="../slideLayouts/slideLayout9.xml"/><Relationship Id="rId1" Type="http://schemas.openxmlformats.org/officeDocument/2006/relationships/tags" Target="../tags/tag22.xml"/><Relationship Id="rId4" Type="http://schemas.openxmlformats.org/officeDocument/2006/relationships/image" Target="../media/image10.png"/></Relationships>
</file>

<file path=ppt/slides/_rels/slide22.xml.rels><?xml version="1.0" encoding="UTF-8" standalone="yes"?>
<Relationships xmlns="http://schemas.openxmlformats.org/package/2006/relationships"><Relationship Id="rId3" Type="http://schemas.openxmlformats.org/officeDocument/2006/relationships/notesSlide" Target="../notesSlides/notesSlide22.xml"/><Relationship Id="rId2" Type="http://schemas.openxmlformats.org/officeDocument/2006/relationships/slideLayout" Target="../slideLayouts/slideLayout29.xml"/><Relationship Id="rId1" Type="http://schemas.openxmlformats.org/officeDocument/2006/relationships/tags" Target="../tags/tag23.xml"/></Relationships>
</file>

<file path=ppt/slides/_rels/slide23.xml.rels><?xml version="1.0" encoding="UTF-8" standalone="yes"?>
<Relationships xmlns="http://schemas.openxmlformats.org/package/2006/relationships"><Relationship Id="rId3" Type="http://schemas.openxmlformats.org/officeDocument/2006/relationships/notesSlide" Target="../notesSlides/notesSlide23.xml"/><Relationship Id="rId2" Type="http://schemas.openxmlformats.org/officeDocument/2006/relationships/slideLayout" Target="../slideLayouts/slideLayout7.xml"/><Relationship Id="rId1" Type="http://schemas.openxmlformats.org/officeDocument/2006/relationships/tags" Target="../tags/tag2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a:xfrm>
            <a:off x="539552" y="1352281"/>
            <a:ext cx="8136904" cy="2157681"/>
          </a:xfrm>
        </p:spPr>
        <p:txBody>
          <a:bodyPr/>
          <a:lstStyle/>
          <a:p>
            <a:r>
              <a:rPr lang="en-US" altLang="zh-CN" b="1" dirty="0" smtClean="0"/>
              <a:t>Java Web</a:t>
            </a:r>
            <a:r>
              <a:rPr lang="zh-CN" altLang="en-US" b="1" dirty="0" smtClean="0"/>
              <a:t>程序设计任务教程</a:t>
            </a:r>
            <a:endParaRPr lang="zh-CN" altLang="en-US" b="1" dirty="0"/>
          </a:p>
        </p:txBody>
      </p:sp>
      <p:sp>
        <p:nvSpPr>
          <p:cNvPr id="3" name="副标题 2"/>
          <p:cNvSpPr>
            <a:spLocks noGrp="1"/>
          </p:cNvSpPr>
          <p:nvPr>
            <p:ph type="subTitle" idx="1"/>
          </p:nvPr>
        </p:nvSpPr>
        <p:spPr>
          <a:xfrm>
            <a:off x="1143000" y="3861470"/>
            <a:ext cx="6858000" cy="1655762"/>
          </a:xfrm>
        </p:spPr>
        <p:txBody>
          <a:bodyPr>
            <a:normAutofit/>
          </a:bodyPr>
          <a:lstStyle/>
          <a:p>
            <a:r>
              <a:rPr lang="zh-CN" altLang="en-US" sz="3200" b="1" dirty="0" smtClean="0"/>
              <a:t>第</a:t>
            </a:r>
            <a:r>
              <a:rPr lang="en-US" altLang="zh-CN" sz="3200" b="1" dirty="0" smtClean="0"/>
              <a:t>12</a:t>
            </a:r>
            <a:r>
              <a:rPr lang="zh-CN" altLang="en-US" sz="3200" b="1" dirty="0" smtClean="0"/>
              <a:t>章 文件上传和下载</a:t>
            </a:r>
            <a:endParaRPr lang="zh-CN" altLang="en-US" sz="3200" b="1" dirty="0"/>
          </a:p>
        </p:txBody>
      </p:sp>
      <p:sp>
        <p:nvSpPr>
          <p:cNvPr id="4" name="TextBox 13"/>
          <p:cNvSpPr>
            <a:spLocks noChangeArrowheads="1"/>
          </p:cNvSpPr>
          <p:nvPr/>
        </p:nvSpPr>
        <p:spPr bwMode="auto">
          <a:xfrm>
            <a:off x="5430838" y="5517232"/>
            <a:ext cx="3461642" cy="87440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a:spAutoFit/>
          </a:bodyPr>
          <a:lstStyle/>
          <a:p>
            <a:pPr>
              <a:lnSpc>
                <a:spcPct val="150000"/>
              </a:lnSpc>
              <a:defRPr/>
            </a:pPr>
            <a:r>
              <a:rPr lang="en-US" altLang="zh-CN" b="1" dirty="0">
                <a:solidFill>
                  <a:schemeClr val="accent1">
                    <a:lumMod val="75000"/>
                  </a:schemeClr>
                </a:solidFill>
                <a:latin typeface="微软雅黑" pitchFamily="34" charset="-122"/>
                <a:ea typeface="微软雅黑" pitchFamily="34" charset="-122"/>
                <a:sym typeface="微软雅黑" pitchFamily="34" charset="-122"/>
              </a:rPr>
              <a:t>·</a:t>
            </a:r>
            <a:r>
              <a:rPr lang="en-US" altLang="zh-CN" dirty="0">
                <a:solidFill>
                  <a:schemeClr val="accent1">
                    <a:lumMod val="75000"/>
                  </a:schemeClr>
                </a:solidFill>
                <a:latin typeface="微软雅黑" pitchFamily="34" charset="-122"/>
                <a:ea typeface="微软雅黑" pitchFamily="34" charset="-122"/>
                <a:sym typeface="微软雅黑" pitchFamily="34" charset="-122"/>
              </a:rPr>
              <a:t> </a:t>
            </a:r>
            <a:r>
              <a:rPr lang="zh-CN" altLang="en-US" dirty="0" smtClean="0">
                <a:solidFill>
                  <a:schemeClr val="accent1">
                    <a:lumMod val="75000"/>
                  </a:schemeClr>
                </a:solidFill>
                <a:latin typeface="微软雅黑" pitchFamily="34" charset="-122"/>
                <a:ea typeface="微软雅黑" pitchFamily="34" charset="-122"/>
                <a:sym typeface="微软雅黑" pitchFamily="34" charset="-122"/>
              </a:rPr>
              <a:t>文件下载的原理</a:t>
            </a:r>
            <a:endParaRPr lang="en-US" altLang="zh-CN" dirty="0" smtClean="0">
              <a:solidFill>
                <a:schemeClr val="accent1">
                  <a:lumMod val="75000"/>
                </a:schemeClr>
              </a:solidFill>
              <a:latin typeface="微软雅黑" pitchFamily="34" charset="-122"/>
              <a:ea typeface="微软雅黑" pitchFamily="34" charset="-122"/>
              <a:sym typeface="微软雅黑" pitchFamily="34" charset="-122"/>
            </a:endParaRPr>
          </a:p>
          <a:p>
            <a:pPr>
              <a:lnSpc>
                <a:spcPct val="150000"/>
              </a:lnSpc>
              <a:defRPr/>
            </a:pPr>
            <a:r>
              <a:rPr lang="en-US" altLang="zh-CN" b="1" dirty="0" smtClean="0">
                <a:solidFill>
                  <a:schemeClr val="accent1">
                    <a:lumMod val="75000"/>
                  </a:schemeClr>
                </a:solidFill>
                <a:latin typeface="微软雅黑" pitchFamily="34" charset="-122"/>
                <a:ea typeface="微软雅黑" pitchFamily="34" charset="-122"/>
                <a:sym typeface="微软雅黑" pitchFamily="34" charset="-122"/>
              </a:rPr>
              <a:t>·</a:t>
            </a:r>
            <a:r>
              <a:rPr lang="en-US" altLang="zh-CN" dirty="0" smtClean="0">
                <a:solidFill>
                  <a:schemeClr val="accent1">
                    <a:lumMod val="75000"/>
                  </a:schemeClr>
                </a:solidFill>
                <a:latin typeface="微软雅黑" pitchFamily="34" charset="-122"/>
                <a:ea typeface="微软雅黑" pitchFamily="34" charset="-122"/>
                <a:sym typeface="微软雅黑" pitchFamily="34" charset="-122"/>
              </a:rPr>
              <a:t> </a:t>
            </a:r>
            <a:r>
              <a:rPr lang="zh-CN" altLang="en-US" dirty="0" smtClean="0">
                <a:solidFill>
                  <a:schemeClr val="accent1">
                    <a:lumMod val="75000"/>
                  </a:schemeClr>
                </a:solidFill>
                <a:latin typeface="微软雅黑" pitchFamily="34" charset="-122"/>
                <a:ea typeface="微软雅黑" pitchFamily="34" charset="-122"/>
                <a:sym typeface="微软雅黑" pitchFamily="34" charset="-122"/>
              </a:rPr>
              <a:t>下载中文文件乱码问题的处理</a:t>
            </a:r>
            <a:endParaRPr lang="en-US" altLang="zh-CN" dirty="0" smtClean="0">
              <a:solidFill>
                <a:schemeClr val="accent1">
                  <a:lumMod val="75000"/>
                </a:schemeClr>
              </a:solidFill>
              <a:latin typeface="微软雅黑" pitchFamily="34" charset="-122"/>
              <a:ea typeface="微软雅黑" pitchFamily="34" charset="-122"/>
              <a:sym typeface="微软雅黑" pitchFamily="34" charset="-122"/>
            </a:endParaRPr>
          </a:p>
        </p:txBody>
      </p:sp>
      <p:sp>
        <p:nvSpPr>
          <p:cNvPr id="5" name="矩形 4"/>
          <p:cNvSpPr/>
          <p:nvPr/>
        </p:nvSpPr>
        <p:spPr>
          <a:xfrm>
            <a:off x="2752725" y="5538788"/>
            <a:ext cx="4572000" cy="923925"/>
          </a:xfrm>
          <a:prstGeom prst="rect">
            <a:avLst/>
          </a:prstGeom>
        </p:spPr>
        <p:txBody>
          <a:bodyPr>
            <a:spAutoFit/>
          </a:bodyPr>
          <a:lstStyle/>
          <a:p>
            <a:pPr>
              <a:lnSpc>
                <a:spcPct val="150000"/>
              </a:lnSpc>
              <a:buFont typeface="Arial" pitchFamily="34" charset="0"/>
              <a:buNone/>
              <a:defRPr/>
            </a:pPr>
            <a:r>
              <a:rPr lang="en-US" altLang="zh-CN" b="1" dirty="0">
                <a:solidFill>
                  <a:schemeClr val="accent1">
                    <a:lumMod val="75000"/>
                  </a:schemeClr>
                </a:solidFill>
                <a:latin typeface="微软雅黑" pitchFamily="34" charset="-122"/>
                <a:ea typeface="微软雅黑" pitchFamily="34" charset="-122"/>
                <a:sym typeface="微软雅黑" pitchFamily="34" charset="-122"/>
              </a:rPr>
              <a:t>· </a:t>
            </a:r>
            <a:r>
              <a:rPr lang="zh-CN" altLang="en-US" dirty="0" smtClean="0">
                <a:solidFill>
                  <a:schemeClr val="accent1">
                    <a:lumMod val="75000"/>
                  </a:schemeClr>
                </a:solidFill>
                <a:latin typeface="微软雅黑" pitchFamily="34" charset="-122"/>
                <a:ea typeface="微软雅黑" pitchFamily="34" charset="-122"/>
                <a:sym typeface="微软雅黑" pitchFamily="34" charset="-122"/>
              </a:rPr>
              <a:t>文件上传原理及相关</a:t>
            </a:r>
            <a:r>
              <a:rPr lang="en-US" altLang="zh-CN" dirty="0" smtClean="0">
                <a:solidFill>
                  <a:schemeClr val="accent1">
                    <a:lumMod val="75000"/>
                  </a:schemeClr>
                </a:solidFill>
                <a:latin typeface="微软雅黑" pitchFamily="34" charset="-122"/>
                <a:ea typeface="微软雅黑" pitchFamily="34" charset="-122"/>
                <a:sym typeface="微软雅黑" pitchFamily="34" charset="-122"/>
              </a:rPr>
              <a:t>API</a:t>
            </a:r>
            <a:endParaRPr lang="zh-CN" altLang="en-US" dirty="0">
              <a:solidFill>
                <a:schemeClr val="accent1">
                  <a:lumMod val="75000"/>
                </a:schemeClr>
              </a:solidFill>
              <a:latin typeface="微软雅黑" pitchFamily="34" charset="-122"/>
              <a:ea typeface="微软雅黑" pitchFamily="34" charset="-122"/>
              <a:sym typeface="微软雅黑" pitchFamily="34" charset="-122"/>
            </a:endParaRPr>
          </a:p>
          <a:p>
            <a:pPr>
              <a:lnSpc>
                <a:spcPct val="150000"/>
              </a:lnSpc>
              <a:buFont typeface="Arial" pitchFamily="34" charset="0"/>
              <a:buNone/>
              <a:defRPr/>
            </a:pPr>
            <a:r>
              <a:rPr lang="en-US" altLang="zh-CN" b="1" dirty="0">
                <a:solidFill>
                  <a:schemeClr val="accent1">
                    <a:lumMod val="75000"/>
                  </a:schemeClr>
                </a:solidFill>
                <a:latin typeface="微软雅黑" pitchFamily="34" charset="-122"/>
                <a:ea typeface="微软雅黑" pitchFamily="34" charset="-122"/>
                <a:sym typeface="微软雅黑" pitchFamily="34" charset="-122"/>
              </a:rPr>
              <a:t>·</a:t>
            </a:r>
            <a:r>
              <a:rPr lang="en-US" altLang="zh-CN" dirty="0">
                <a:solidFill>
                  <a:schemeClr val="accent1">
                    <a:lumMod val="75000"/>
                  </a:schemeClr>
                </a:solidFill>
                <a:latin typeface="微软雅黑" pitchFamily="34" charset="-122"/>
                <a:ea typeface="微软雅黑" pitchFamily="34" charset="-122"/>
                <a:sym typeface="微软雅黑" pitchFamily="34" charset="-122"/>
              </a:rPr>
              <a:t> </a:t>
            </a:r>
            <a:r>
              <a:rPr lang="zh-CN" altLang="en-US" dirty="0" smtClean="0">
                <a:solidFill>
                  <a:schemeClr val="accent1">
                    <a:lumMod val="75000"/>
                  </a:schemeClr>
                </a:solidFill>
                <a:latin typeface="微软雅黑" pitchFamily="34" charset="-122"/>
                <a:ea typeface="微软雅黑" pitchFamily="34" charset="-122"/>
                <a:sym typeface="微软雅黑" pitchFamily="34" charset="-122"/>
              </a:rPr>
              <a:t>实现文件上传</a:t>
            </a:r>
            <a:endParaRPr lang="zh-CN" altLang="en-US" dirty="0">
              <a:solidFill>
                <a:schemeClr val="accent1">
                  <a:lumMod val="75000"/>
                </a:schemeClr>
              </a:solidFill>
              <a:latin typeface="微软雅黑" pitchFamily="34" charset="-122"/>
              <a:ea typeface="微软雅黑" pitchFamily="34" charset="-122"/>
              <a:sym typeface="微软雅黑" pitchFamily="34" charset="-122"/>
            </a:endParaRPr>
          </a:p>
        </p:txBody>
      </p:sp>
      <p:pic>
        <p:nvPicPr>
          <p:cNvPr id="1026"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403648" y="5301208"/>
            <a:ext cx="947906" cy="11995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ustDataLst>
      <p:tags r:id="rId1"/>
    </p:custDataLst>
    <p:extLst>
      <p:ext uri="{BB962C8B-B14F-4D97-AF65-F5344CB8AC3E}">
        <p14:creationId xmlns:p14="http://schemas.microsoft.com/office/powerpoint/2010/main" val="1077776325"/>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left)">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1"/>
          <p:cNvSpPr>
            <a:spLocks noChangeArrowheads="1"/>
          </p:cNvSpPr>
          <p:nvPr/>
        </p:nvSpPr>
        <p:spPr bwMode="auto">
          <a:xfrm>
            <a:off x="827584" y="1052736"/>
            <a:ext cx="5148263" cy="7651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pPr marL="571500" indent="-571500">
              <a:buFont typeface="Wingdings" pitchFamily="2" charset="2"/>
              <a:buNone/>
            </a:pPr>
            <a:endParaRPr lang="zh-CN" altLang="en-US" sz="2400" b="1" dirty="0">
              <a:solidFill>
                <a:srgbClr val="006BA9"/>
              </a:solidFill>
              <a:latin typeface="微软雅黑" pitchFamily="34" charset="-122"/>
              <a:ea typeface="微软雅黑" pitchFamily="34" charset="-122"/>
              <a:sym typeface="宋体" charset="-122"/>
            </a:endParaRPr>
          </a:p>
        </p:txBody>
      </p:sp>
      <p:sp>
        <p:nvSpPr>
          <p:cNvPr id="5" name="内容占位符 2"/>
          <p:cNvSpPr txBox="1">
            <a:spLocks/>
          </p:cNvSpPr>
          <p:nvPr/>
        </p:nvSpPr>
        <p:spPr bwMode="auto">
          <a:xfrm>
            <a:off x="481013" y="2024807"/>
            <a:ext cx="7975600" cy="2700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lvl="1">
              <a:lnSpc>
                <a:spcPct val="150000"/>
              </a:lnSpc>
              <a:spcBef>
                <a:spcPct val="20000"/>
              </a:spcBef>
              <a:buFontTx/>
              <a:buChar char="–"/>
            </a:pPr>
            <a:r>
              <a:rPr lang="zh-CN" altLang="en-US" sz="2400">
                <a:solidFill>
                  <a:prstClr val="black"/>
                </a:solidFill>
              </a:rPr>
              <a:t>简述什么是</a:t>
            </a:r>
            <a:r>
              <a:rPr lang="en-US" altLang="zh-CN" sz="2400">
                <a:solidFill>
                  <a:prstClr val="black"/>
                </a:solidFill>
              </a:rPr>
              <a:t>MVC</a:t>
            </a:r>
            <a:r>
              <a:rPr lang="zh-CN" altLang="en-US" sz="2400">
                <a:solidFill>
                  <a:prstClr val="black"/>
                </a:solidFill>
              </a:rPr>
              <a:t>设计模式</a:t>
            </a:r>
            <a:r>
              <a:rPr lang="zh-CN" altLang="en-US" sz="2400" smtClean="0">
                <a:solidFill>
                  <a:prstClr val="black"/>
                </a:solidFill>
              </a:rPr>
              <a:t>。</a:t>
            </a:r>
            <a:endParaRPr lang="en-US" altLang="zh-CN" sz="2400" smtClean="0">
              <a:solidFill>
                <a:prstClr val="black"/>
              </a:solidFill>
            </a:endParaRPr>
          </a:p>
          <a:p>
            <a:pPr lvl="1">
              <a:lnSpc>
                <a:spcPct val="150000"/>
              </a:lnSpc>
              <a:spcBef>
                <a:spcPct val="20000"/>
              </a:spcBef>
              <a:buFontTx/>
              <a:buChar char="–"/>
            </a:pPr>
            <a:r>
              <a:rPr lang="zh-CN" altLang="en-US" sz="2400">
                <a:solidFill>
                  <a:prstClr val="black"/>
                </a:solidFill>
              </a:rPr>
              <a:t>简述</a:t>
            </a:r>
            <a:r>
              <a:rPr lang="en-US" altLang="zh-CN" sz="2400">
                <a:solidFill>
                  <a:prstClr val="black"/>
                </a:solidFill>
              </a:rPr>
              <a:t>MVC</a:t>
            </a:r>
            <a:r>
              <a:rPr lang="zh-CN" altLang="en-US" sz="2400">
                <a:solidFill>
                  <a:prstClr val="black"/>
                </a:solidFill>
              </a:rPr>
              <a:t>设计模式中模型</a:t>
            </a:r>
            <a:r>
              <a:rPr lang="en-US" altLang="zh-CN" sz="2400">
                <a:solidFill>
                  <a:prstClr val="black"/>
                </a:solidFill>
              </a:rPr>
              <a:t>(Model)</a:t>
            </a:r>
            <a:r>
              <a:rPr lang="zh-CN" altLang="en-US" sz="2400">
                <a:solidFill>
                  <a:prstClr val="black"/>
                </a:solidFill>
              </a:rPr>
              <a:t>模块的作用</a:t>
            </a:r>
            <a:r>
              <a:rPr lang="zh-CN" altLang="en-US" sz="2400" smtClean="0">
                <a:solidFill>
                  <a:prstClr val="black"/>
                </a:solidFill>
              </a:rPr>
              <a:t>。</a:t>
            </a:r>
            <a:endParaRPr lang="en-US" altLang="zh-CN" sz="2400">
              <a:solidFill>
                <a:prstClr val="black"/>
              </a:solidFill>
            </a:endParaRPr>
          </a:p>
        </p:txBody>
      </p:sp>
      <p:sp>
        <p:nvSpPr>
          <p:cNvPr id="4" name="标题 1"/>
          <p:cNvSpPr>
            <a:spLocks noChangeArrowheads="1"/>
          </p:cNvSpPr>
          <p:nvPr/>
        </p:nvSpPr>
        <p:spPr bwMode="auto">
          <a:xfrm>
            <a:off x="1643733" y="389681"/>
            <a:ext cx="4944491" cy="56162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pPr marL="571500" indent="-571500">
              <a:buFont typeface="Wingdings" pitchFamily="2" charset="2"/>
              <a:buNone/>
            </a:pPr>
            <a:r>
              <a:rPr lang="zh-CN" altLang="en-US" sz="3200" b="1" smtClean="0">
                <a:solidFill>
                  <a:srgbClr val="006BA9"/>
                </a:solidFill>
                <a:latin typeface="微软雅黑" pitchFamily="34" charset="-122"/>
                <a:ea typeface="微软雅黑" pitchFamily="34" charset="-122"/>
                <a:sym typeface="宋体" charset="-122"/>
              </a:rPr>
              <a:t>作业</a:t>
            </a:r>
            <a:r>
              <a:rPr lang="zh-CN" altLang="en-US" sz="3200" b="1" dirty="0">
                <a:solidFill>
                  <a:srgbClr val="006BA9"/>
                </a:solidFill>
                <a:latin typeface="微软雅黑" pitchFamily="34" charset="-122"/>
                <a:ea typeface="微软雅黑" pitchFamily="34" charset="-122"/>
                <a:sym typeface="宋体" charset="-122"/>
              </a:rPr>
              <a:t>点评</a:t>
            </a:r>
          </a:p>
        </p:txBody>
      </p:sp>
    </p:spTree>
    <p:custDataLst>
      <p:tags r:id="rId1"/>
    </p:custDataLst>
    <p:extLst>
      <p:ext uri="{BB962C8B-B14F-4D97-AF65-F5344CB8AC3E}">
        <p14:creationId xmlns:p14="http://schemas.microsoft.com/office/powerpoint/2010/main" val="2502903557"/>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ChangeArrowheads="1"/>
          </p:cNvSpPr>
          <p:nvPr/>
        </p:nvSpPr>
        <p:spPr bwMode="auto">
          <a:xfrm>
            <a:off x="827584" y="1052736"/>
            <a:ext cx="5148263" cy="7651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pPr marL="571500" indent="-571500">
              <a:buFont typeface="Wingdings" pitchFamily="2" charset="2"/>
              <a:buNone/>
            </a:pPr>
            <a:endParaRPr lang="zh-CN" altLang="en-US" sz="2400" b="1" dirty="0">
              <a:solidFill>
                <a:srgbClr val="006BA9"/>
              </a:solidFill>
              <a:latin typeface="微软雅黑" pitchFamily="34" charset="-122"/>
              <a:ea typeface="微软雅黑" pitchFamily="34" charset="-122"/>
              <a:sym typeface="宋体" charset="-122"/>
            </a:endParaRPr>
          </a:p>
        </p:txBody>
      </p:sp>
      <p:sp>
        <p:nvSpPr>
          <p:cNvPr id="3" name="内容占位符 2"/>
          <p:cNvSpPr txBox="1">
            <a:spLocks/>
          </p:cNvSpPr>
          <p:nvPr/>
        </p:nvSpPr>
        <p:spPr bwMode="auto">
          <a:xfrm>
            <a:off x="481013" y="2024807"/>
            <a:ext cx="7975600" cy="2700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lvl="1">
              <a:lnSpc>
                <a:spcPct val="150000"/>
              </a:lnSpc>
              <a:spcBef>
                <a:spcPct val="20000"/>
              </a:spcBef>
              <a:buFontTx/>
              <a:buChar char="–"/>
            </a:pPr>
            <a:r>
              <a:rPr lang="zh-CN" altLang="en-US" sz="2400">
                <a:solidFill>
                  <a:prstClr val="black"/>
                </a:solidFill>
              </a:rPr>
              <a:t>要实现文件上传，通常需要完成哪两项操作？ </a:t>
            </a:r>
            <a:endParaRPr lang="en-US" altLang="zh-CN" sz="2400" smtClean="0">
              <a:solidFill>
                <a:prstClr val="black"/>
              </a:solidFill>
            </a:endParaRPr>
          </a:p>
          <a:p>
            <a:pPr lvl="1">
              <a:lnSpc>
                <a:spcPct val="150000"/>
              </a:lnSpc>
              <a:spcBef>
                <a:spcPct val="20000"/>
              </a:spcBef>
              <a:buFontTx/>
              <a:buChar char="–"/>
            </a:pPr>
            <a:r>
              <a:rPr lang="zh-CN" altLang="en-US" sz="2400">
                <a:solidFill>
                  <a:prstClr val="black"/>
                </a:solidFill>
              </a:rPr>
              <a:t>文件下载的原理。</a:t>
            </a:r>
            <a:endParaRPr lang="en-US" altLang="zh-CN" sz="2400" dirty="0">
              <a:solidFill>
                <a:prstClr val="black"/>
              </a:solidFill>
            </a:endParaRPr>
          </a:p>
        </p:txBody>
      </p:sp>
      <p:sp>
        <p:nvSpPr>
          <p:cNvPr id="4" name="标题 1"/>
          <p:cNvSpPr>
            <a:spLocks noChangeArrowheads="1"/>
          </p:cNvSpPr>
          <p:nvPr/>
        </p:nvSpPr>
        <p:spPr bwMode="auto">
          <a:xfrm>
            <a:off x="1643733" y="389681"/>
            <a:ext cx="4944491" cy="56162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pPr marL="571500" indent="-571500">
              <a:buFont typeface="Wingdings" pitchFamily="2" charset="2"/>
              <a:buNone/>
            </a:pPr>
            <a:r>
              <a:rPr lang="zh-CN" altLang="en-US" sz="3200" b="1" smtClean="0">
                <a:solidFill>
                  <a:srgbClr val="006BA9"/>
                </a:solidFill>
                <a:latin typeface="微软雅黑" pitchFamily="34" charset="-122"/>
                <a:ea typeface="微软雅黑" pitchFamily="34" charset="-122"/>
                <a:sym typeface="宋体" charset="-122"/>
              </a:rPr>
              <a:t>预习</a:t>
            </a:r>
            <a:r>
              <a:rPr lang="zh-CN" altLang="en-US" sz="3200" b="1" dirty="0">
                <a:solidFill>
                  <a:srgbClr val="006BA9"/>
                </a:solidFill>
                <a:latin typeface="微软雅黑" pitchFamily="34" charset="-122"/>
                <a:ea typeface="微软雅黑" pitchFamily="34" charset="-122"/>
                <a:sym typeface="宋体" charset="-122"/>
              </a:rPr>
              <a:t>检查</a:t>
            </a:r>
          </a:p>
        </p:txBody>
      </p:sp>
    </p:spTree>
    <p:custDataLst>
      <p:tags r:id="rId1"/>
    </p:custDataLst>
    <p:extLst>
      <p:ext uri="{BB962C8B-B14F-4D97-AF65-F5344CB8AC3E}">
        <p14:creationId xmlns:p14="http://schemas.microsoft.com/office/powerpoint/2010/main" val="2469617181"/>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a:grpSpLocks/>
          </p:cNvGrpSpPr>
          <p:nvPr/>
        </p:nvGrpSpPr>
        <p:grpSpPr bwMode="auto">
          <a:xfrm flipH="1" flipV="1">
            <a:off x="323528" y="1916832"/>
            <a:ext cx="2593593" cy="1477328"/>
            <a:chOff x="5464557" y="4162545"/>
            <a:chExt cx="3207456" cy="1567005"/>
          </a:xfrm>
        </p:grpSpPr>
        <p:grpSp>
          <p:nvGrpSpPr>
            <p:cNvPr id="3" name="组合 38"/>
            <p:cNvGrpSpPr>
              <a:grpSpLocks/>
            </p:cNvGrpSpPr>
            <p:nvPr/>
          </p:nvGrpSpPr>
          <p:grpSpPr bwMode="auto">
            <a:xfrm rot="10800000">
              <a:off x="5687902" y="4225925"/>
              <a:ext cx="2669052" cy="686411"/>
              <a:chOff x="934464" y="2318309"/>
              <a:chExt cx="2669329" cy="686148"/>
            </a:xfrm>
          </p:grpSpPr>
          <p:cxnSp>
            <p:nvCxnSpPr>
              <p:cNvPr id="8" name="直接连接符 39"/>
              <p:cNvCxnSpPr>
                <a:cxnSpLocks noChangeShapeType="1"/>
              </p:cNvCxnSpPr>
              <p:nvPr/>
            </p:nvCxnSpPr>
            <p:spPr bwMode="auto">
              <a:xfrm rot="10800000" flipH="1" flipV="1">
                <a:off x="934464" y="2318309"/>
                <a:ext cx="298001" cy="686148"/>
              </a:xfrm>
              <a:prstGeom prst="line">
                <a:avLst/>
              </a:prstGeom>
              <a:noFill/>
              <a:ln w="28575" algn="ctr">
                <a:solidFill>
                  <a:srgbClr val="006BA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9" name="直接连接符 40"/>
              <p:cNvCxnSpPr>
                <a:cxnSpLocks noChangeShapeType="1"/>
              </p:cNvCxnSpPr>
              <p:nvPr/>
            </p:nvCxnSpPr>
            <p:spPr bwMode="auto">
              <a:xfrm rot="10800000" flipH="1" flipV="1">
                <a:off x="1222939" y="3004457"/>
                <a:ext cx="2380854" cy="0"/>
              </a:xfrm>
              <a:prstGeom prst="line">
                <a:avLst/>
              </a:prstGeom>
              <a:noFill/>
              <a:ln w="28575" algn="ctr">
                <a:solidFill>
                  <a:srgbClr val="006BA9"/>
                </a:solidFill>
                <a:round/>
                <a:headEn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grpSp>
          <p:nvGrpSpPr>
            <p:cNvPr id="4" name="组合 41"/>
            <p:cNvGrpSpPr>
              <a:grpSpLocks/>
            </p:cNvGrpSpPr>
            <p:nvPr/>
          </p:nvGrpSpPr>
          <p:grpSpPr bwMode="auto">
            <a:xfrm flipH="1">
              <a:off x="8082606" y="4880949"/>
              <a:ext cx="589407" cy="553991"/>
              <a:chOff x="1256847" y="3607535"/>
              <a:chExt cx="591076" cy="553298"/>
            </a:xfrm>
          </p:grpSpPr>
          <p:sp>
            <p:nvSpPr>
              <p:cNvPr id="6" name="椭圆 5"/>
              <p:cNvSpPr/>
              <p:nvPr/>
            </p:nvSpPr>
            <p:spPr bwMode="auto">
              <a:xfrm>
                <a:off x="1256847" y="3647898"/>
                <a:ext cx="591076" cy="474256"/>
              </a:xfrm>
              <a:prstGeom prst="ellipse">
                <a:avLst/>
              </a:prstGeom>
              <a:solidFill>
                <a:srgbClr val="006BA9"/>
              </a:solidFill>
              <a:ln w="28575" cap="flat" cmpd="sng" algn="ctr">
                <a:solidFill>
                  <a:srgbClr val="006BA9"/>
                </a:solidFill>
                <a:prstDash val="solid"/>
                <a:round/>
                <a:headEnd type="none" w="med" len="med"/>
                <a:tailEnd type="none" w="med" len="med"/>
              </a:ln>
              <a:effectLst>
                <a:outerShdw blurRad="25400" dist="12700" dir="2700000" algn="tl" rotWithShape="0">
                  <a:prstClr val="black">
                    <a:alpha val="40000"/>
                  </a:prstClr>
                </a:outerShdw>
              </a:effectLst>
              <a:extLst/>
            </p:spPr>
            <p:txBody>
              <a:bodyPr/>
              <a:lstStyle/>
              <a:p>
                <a:pPr eaLnBrk="1" hangingPunct="1">
                  <a:buFont typeface="Arial" pitchFamily="34" charset="0"/>
                  <a:buNone/>
                  <a:defRPr/>
                </a:pPr>
                <a:endParaRPr lang="zh-CN" altLang="en-US">
                  <a:ea typeface="宋体" pitchFamily="2" charset="-122"/>
                </a:endParaRPr>
              </a:p>
            </p:txBody>
          </p:sp>
          <p:sp>
            <p:nvSpPr>
              <p:cNvPr id="7" name="TextBox 6"/>
              <p:cNvSpPr txBox="1"/>
              <p:nvPr/>
            </p:nvSpPr>
            <p:spPr>
              <a:xfrm rot="10800000">
                <a:off x="1327723" y="3607535"/>
                <a:ext cx="334694" cy="553298"/>
              </a:xfrm>
              <a:prstGeom prst="rect">
                <a:avLst/>
              </a:prstGeom>
              <a:noFill/>
              <a:effectLst>
                <a:outerShdw blurRad="12700" dist="12700" dir="2700000" algn="tl" rotWithShape="0">
                  <a:prstClr val="black">
                    <a:alpha val="40000"/>
                  </a:prstClr>
                </a:outerShdw>
              </a:effectLst>
            </p:spPr>
            <p:txBody>
              <a:bodyPr>
                <a:spAutoFit/>
              </a:bodyPr>
              <a:lstStyle/>
              <a:p>
                <a:pPr>
                  <a:defRPr/>
                </a:pPr>
                <a:r>
                  <a:rPr lang="en-US" altLang="zh-CN" sz="2800" b="1" dirty="0" smtClean="0">
                    <a:solidFill>
                      <a:schemeClr val="bg1"/>
                    </a:solidFill>
                    <a:latin typeface="Times New Roman" panose="02020603050405020304" pitchFamily="18" charset="0"/>
                    <a:cs typeface="Times New Roman" panose="02020603050405020304" pitchFamily="18" charset="0"/>
                  </a:rPr>
                  <a:t>3</a:t>
                </a:r>
                <a:endParaRPr lang="zh-CN" altLang="en-US" sz="2800" b="1" dirty="0">
                  <a:solidFill>
                    <a:schemeClr val="bg1"/>
                  </a:solidFill>
                  <a:latin typeface="Times New Roman" panose="02020603050405020304" pitchFamily="18" charset="0"/>
                  <a:cs typeface="Times New Roman" panose="02020603050405020304" pitchFamily="18" charset="0"/>
                </a:endParaRPr>
              </a:p>
            </p:txBody>
          </p:sp>
        </p:grpSp>
        <p:sp>
          <p:nvSpPr>
            <p:cNvPr id="5" name="矩形 51"/>
            <p:cNvSpPr>
              <a:spLocks noChangeArrowheads="1"/>
            </p:cNvSpPr>
            <p:nvPr/>
          </p:nvSpPr>
          <p:spPr bwMode="auto">
            <a:xfrm rot="10800000">
              <a:off x="5464557" y="4162545"/>
              <a:ext cx="2762197" cy="15670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pPr marL="457200" indent="-457200">
                <a:lnSpc>
                  <a:spcPts val="3600"/>
                </a:lnSpc>
              </a:pPr>
              <a:r>
                <a:rPr lang="zh-CN" altLang="en-US" b="1" smtClean="0">
                  <a:solidFill>
                    <a:srgbClr val="006BA9"/>
                  </a:solidFill>
                  <a:latin typeface="微软雅黑" panose="020B0503020204020204" pitchFamily="34" charset="-122"/>
                  <a:ea typeface="微软雅黑" panose="020B0503020204020204" pitchFamily="34" charset="-122"/>
                </a:rPr>
                <a:t>如何实现文件上传</a:t>
              </a:r>
              <a:endParaRPr lang="en-US" altLang="zh-CN" b="1" smtClean="0">
                <a:solidFill>
                  <a:srgbClr val="006BA9"/>
                </a:solidFill>
                <a:latin typeface="微软雅黑" panose="020B0503020204020204" pitchFamily="34" charset="-122"/>
                <a:ea typeface="微软雅黑" panose="020B0503020204020204" pitchFamily="34" charset="-122"/>
              </a:endParaRPr>
            </a:p>
            <a:p>
              <a:pPr marL="457200" indent="-457200">
                <a:lnSpc>
                  <a:spcPts val="3600"/>
                </a:lnSpc>
              </a:pPr>
              <a:r>
                <a:rPr lang="zh-CN" altLang="en-US" b="1" smtClean="0">
                  <a:solidFill>
                    <a:srgbClr val="006BA9"/>
                  </a:solidFill>
                  <a:latin typeface="微软雅黑" panose="020B0503020204020204" pitchFamily="34" charset="-122"/>
                  <a:ea typeface="微软雅黑" panose="020B0503020204020204" pitchFamily="34" charset="-122"/>
                </a:rPr>
                <a:t>文件上传的相关</a:t>
              </a:r>
              <a:r>
                <a:rPr lang="en-US" altLang="zh-CN" b="1" smtClean="0">
                  <a:solidFill>
                    <a:srgbClr val="006BA9"/>
                  </a:solidFill>
                  <a:latin typeface="微软雅黑" panose="020B0503020204020204" pitchFamily="34" charset="-122"/>
                  <a:ea typeface="微软雅黑" panose="020B0503020204020204" pitchFamily="34" charset="-122"/>
                </a:rPr>
                <a:t>API</a:t>
              </a:r>
            </a:p>
            <a:p>
              <a:pPr marL="457200" indent="-457200">
                <a:lnSpc>
                  <a:spcPts val="3600"/>
                </a:lnSpc>
              </a:pPr>
              <a:r>
                <a:rPr lang="zh-CN" altLang="en-US" b="1" smtClean="0">
                  <a:solidFill>
                    <a:srgbClr val="006BA9"/>
                  </a:solidFill>
                  <a:latin typeface="微软雅黑" panose="020B0503020204020204" pitchFamily="34" charset="-122"/>
                  <a:ea typeface="微软雅黑" panose="020B0503020204020204" pitchFamily="34" charset="-122"/>
                </a:rPr>
                <a:t>文件下载的原理</a:t>
              </a:r>
              <a:endParaRPr lang="en-US" altLang="zh-CN" b="1">
                <a:solidFill>
                  <a:srgbClr val="006BA9"/>
                </a:solidFill>
                <a:latin typeface="微软雅黑" panose="020B0503020204020204" pitchFamily="34" charset="-122"/>
                <a:ea typeface="微软雅黑" panose="020B0503020204020204" pitchFamily="34" charset="-122"/>
              </a:endParaRPr>
            </a:p>
          </p:txBody>
        </p:sp>
      </p:grpSp>
      <p:grpSp>
        <p:nvGrpSpPr>
          <p:cNvPr id="10" name="组合 9"/>
          <p:cNvGrpSpPr>
            <a:grpSpLocks/>
          </p:cNvGrpSpPr>
          <p:nvPr/>
        </p:nvGrpSpPr>
        <p:grpSpPr bwMode="auto">
          <a:xfrm>
            <a:off x="1570070" y="1316729"/>
            <a:ext cx="5245036" cy="4035361"/>
            <a:chOff x="1398367" y="1722062"/>
            <a:chExt cx="5245036" cy="4035172"/>
          </a:xfrm>
        </p:grpSpPr>
        <p:graphicFrame>
          <p:nvGraphicFramePr>
            <p:cNvPr id="11" name="图表 2"/>
            <p:cNvGraphicFramePr>
              <a:graphicFrameLocks/>
            </p:cNvGraphicFramePr>
            <p:nvPr>
              <p:extLst>
                <p:ext uri="{D42A27DB-BD31-4B8C-83A1-F6EECF244321}">
                  <p14:modId xmlns:p14="http://schemas.microsoft.com/office/powerpoint/2010/main" val="4192531024"/>
                </p:ext>
              </p:extLst>
            </p:nvPr>
          </p:nvGraphicFramePr>
          <p:xfrm>
            <a:off x="1398367" y="1722062"/>
            <a:ext cx="5245036" cy="4035172"/>
          </p:xfrm>
          <a:graphic>
            <a:graphicData uri="http://schemas.openxmlformats.org/drawingml/2006/chart">
              <c:chart xmlns:c="http://schemas.openxmlformats.org/drawingml/2006/chart" xmlns:r="http://schemas.openxmlformats.org/officeDocument/2006/relationships" r:id="rId4"/>
            </a:graphicData>
          </a:graphic>
        </p:graphicFrame>
        <p:sp>
          <p:nvSpPr>
            <p:cNvPr id="12" name="TextBox 11"/>
            <p:cNvSpPr txBox="1"/>
            <p:nvPr/>
          </p:nvSpPr>
          <p:spPr bwMode="auto">
            <a:xfrm rot="2719682">
              <a:off x="4600346" y="2872905"/>
              <a:ext cx="1042938" cy="369888"/>
            </a:xfrm>
            <a:prstGeom prst="rect">
              <a:avLst/>
            </a:prstGeom>
            <a:noFill/>
          </p:spPr>
          <p:txBody>
            <a:bodyPr>
              <a:spAutoFit/>
            </a:bodyPr>
            <a:lstStyle/>
            <a:p>
              <a:pPr>
                <a:defRPr/>
              </a:pPr>
              <a:r>
                <a:rPr lang="zh-CN" altLang="en-US" spc="300">
                  <a:latin typeface="微软雅黑" panose="020B0503020204020204" pitchFamily="34" charset="-122"/>
                  <a:ea typeface="微软雅黑" panose="020B0503020204020204" pitchFamily="34" charset="-122"/>
                </a:rPr>
                <a:t>掌握</a:t>
              </a:r>
            </a:p>
          </p:txBody>
        </p:sp>
        <p:sp>
          <p:nvSpPr>
            <p:cNvPr id="13" name="TextBox 12"/>
            <p:cNvSpPr txBox="1"/>
            <p:nvPr/>
          </p:nvSpPr>
          <p:spPr bwMode="auto">
            <a:xfrm rot="6997465" flipV="1">
              <a:off x="2748528" y="2675271"/>
              <a:ext cx="1041351" cy="369887"/>
            </a:xfrm>
            <a:prstGeom prst="rect">
              <a:avLst/>
            </a:prstGeom>
            <a:noFill/>
          </p:spPr>
          <p:txBody>
            <a:bodyPr>
              <a:spAutoFit/>
            </a:bodyPr>
            <a:lstStyle/>
            <a:p>
              <a:pPr>
                <a:defRPr/>
              </a:pPr>
              <a:r>
                <a:rPr lang="zh-CN" altLang="en-US" spc="300">
                  <a:latin typeface="微软雅黑" panose="020B0503020204020204" pitchFamily="34" charset="-122"/>
                  <a:ea typeface="微软雅黑" panose="020B0503020204020204" pitchFamily="34" charset="-122"/>
                </a:rPr>
                <a:t>了解</a:t>
              </a:r>
            </a:p>
          </p:txBody>
        </p:sp>
        <p:sp>
          <p:nvSpPr>
            <p:cNvPr id="14" name="TextBox 13"/>
            <p:cNvSpPr txBox="1"/>
            <p:nvPr/>
          </p:nvSpPr>
          <p:spPr bwMode="auto">
            <a:xfrm rot="10800000" flipH="1" flipV="1">
              <a:off x="3819272" y="4427003"/>
              <a:ext cx="1041400" cy="368283"/>
            </a:xfrm>
            <a:prstGeom prst="rect">
              <a:avLst/>
            </a:prstGeom>
            <a:noFill/>
          </p:spPr>
          <p:txBody>
            <a:bodyPr>
              <a:spAutoFit/>
            </a:bodyPr>
            <a:lstStyle/>
            <a:p>
              <a:pPr>
                <a:defRPr/>
              </a:pPr>
              <a:r>
                <a:rPr lang="zh-CN" altLang="en-US" spc="300">
                  <a:latin typeface="微软雅黑" panose="020B0503020204020204" pitchFamily="34" charset="-122"/>
                  <a:ea typeface="微软雅黑" panose="020B0503020204020204" pitchFamily="34" charset="-122"/>
                </a:rPr>
                <a:t>熟悉</a:t>
              </a:r>
            </a:p>
          </p:txBody>
        </p:sp>
      </p:grpSp>
      <p:grpSp>
        <p:nvGrpSpPr>
          <p:cNvPr id="15" name="组合 2"/>
          <p:cNvGrpSpPr>
            <a:grpSpLocks/>
          </p:cNvGrpSpPr>
          <p:nvPr/>
        </p:nvGrpSpPr>
        <p:grpSpPr bwMode="auto">
          <a:xfrm>
            <a:off x="3692525" y="2547010"/>
            <a:ext cx="1203325" cy="1201737"/>
            <a:chOff x="3692088" y="2878838"/>
            <a:chExt cx="1203191" cy="1201737"/>
          </a:xfrm>
        </p:grpSpPr>
        <p:sp>
          <p:nvSpPr>
            <p:cNvPr id="16" name="弧形 15"/>
            <p:cNvSpPr/>
            <p:nvPr/>
          </p:nvSpPr>
          <p:spPr bwMode="auto">
            <a:xfrm rot="5400000">
              <a:off x="3692815" y="2878111"/>
              <a:ext cx="1201737" cy="1203191"/>
            </a:xfrm>
            <a:prstGeom prst="arc">
              <a:avLst>
                <a:gd name="adj1" fmla="val 5382197"/>
                <a:gd name="adj2" fmla="val 0"/>
              </a:avLst>
            </a:prstGeom>
            <a:noFill/>
            <a:ln w="57150" cap="flat" cmpd="sng" algn="ctr">
              <a:solidFill>
                <a:srgbClr val="D5F4FF"/>
              </a:solidFill>
              <a:prstDash val="solid"/>
              <a:round/>
              <a:headEnd type="oval" w="sm" len="sm"/>
              <a:tailEnd type="oval"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buFont typeface="Arial" pitchFamily="34" charset="0"/>
                <a:buNone/>
                <a:defRPr/>
              </a:pPr>
              <a:endParaRPr lang="zh-CN" altLang="en-US">
                <a:ea typeface="宋体" pitchFamily="2" charset="-122"/>
              </a:endParaRPr>
            </a:p>
          </p:txBody>
        </p:sp>
        <p:sp>
          <p:nvSpPr>
            <p:cNvPr id="17" name="弧形 16"/>
            <p:cNvSpPr/>
            <p:nvPr/>
          </p:nvSpPr>
          <p:spPr bwMode="auto">
            <a:xfrm>
              <a:off x="3795265" y="2996313"/>
              <a:ext cx="990490" cy="992187"/>
            </a:xfrm>
            <a:prstGeom prst="arc">
              <a:avLst>
                <a:gd name="adj1" fmla="val 10763236"/>
                <a:gd name="adj2" fmla="val 0"/>
              </a:avLst>
            </a:prstGeom>
            <a:noFill/>
            <a:ln w="57150" cap="flat" cmpd="sng" algn="ctr">
              <a:solidFill>
                <a:srgbClr val="D5F4FF"/>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buFont typeface="Arial" pitchFamily="34" charset="0"/>
                <a:buNone/>
                <a:defRPr/>
              </a:pPr>
              <a:endParaRPr lang="zh-CN" altLang="en-US">
                <a:ea typeface="宋体" pitchFamily="2" charset="-122"/>
              </a:endParaRPr>
            </a:p>
          </p:txBody>
        </p:sp>
        <p:sp>
          <p:nvSpPr>
            <p:cNvPr id="18" name="弧形 17"/>
            <p:cNvSpPr/>
            <p:nvPr/>
          </p:nvSpPr>
          <p:spPr bwMode="auto">
            <a:xfrm rot="16200000">
              <a:off x="3891251" y="3136849"/>
              <a:ext cx="822325" cy="753978"/>
            </a:xfrm>
            <a:prstGeom prst="arc">
              <a:avLst>
                <a:gd name="adj1" fmla="val 16251812"/>
                <a:gd name="adj2" fmla="val 0"/>
              </a:avLst>
            </a:prstGeom>
            <a:noFill/>
            <a:ln w="57150" cap="flat" cmpd="sng" algn="ctr">
              <a:solidFill>
                <a:srgbClr val="D5F4FF"/>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buFont typeface="Arial" pitchFamily="34" charset="0"/>
                <a:buNone/>
                <a:defRPr/>
              </a:pPr>
              <a:endParaRPr lang="zh-CN" altLang="en-US">
                <a:ea typeface="宋体" pitchFamily="2" charset="-122"/>
              </a:endParaRPr>
            </a:p>
          </p:txBody>
        </p:sp>
      </p:grpSp>
      <p:grpSp>
        <p:nvGrpSpPr>
          <p:cNvPr id="19" name="组合 18"/>
          <p:cNvGrpSpPr>
            <a:grpSpLocks/>
          </p:cNvGrpSpPr>
          <p:nvPr/>
        </p:nvGrpSpPr>
        <p:grpSpPr bwMode="auto">
          <a:xfrm>
            <a:off x="4604979" y="4706683"/>
            <a:ext cx="4014573" cy="1082411"/>
            <a:chOff x="4241882" y="5106732"/>
            <a:chExt cx="2034492" cy="1075695"/>
          </a:xfrm>
        </p:grpSpPr>
        <p:grpSp>
          <p:nvGrpSpPr>
            <p:cNvPr id="20" name="组合 38"/>
            <p:cNvGrpSpPr>
              <a:grpSpLocks/>
            </p:cNvGrpSpPr>
            <p:nvPr/>
          </p:nvGrpSpPr>
          <p:grpSpPr bwMode="auto">
            <a:xfrm rot="5400000" flipV="1">
              <a:off x="4703914" y="4644700"/>
              <a:ext cx="1075695" cy="1999759"/>
              <a:chOff x="6453791" y="4116789"/>
              <a:chExt cx="1526764" cy="915993"/>
            </a:xfrm>
          </p:grpSpPr>
          <p:grpSp>
            <p:nvGrpSpPr>
              <p:cNvPr id="22" name="组合 38"/>
              <p:cNvGrpSpPr>
                <a:grpSpLocks/>
              </p:cNvGrpSpPr>
              <p:nvPr/>
            </p:nvGrpSpPr>
            <p:grpSpPr bwMode="auto">
              <a:xfrm rot="10800000">
                <a:off x="6453791" y="4116789"/>
                <a:ext cx="1212473" cy="810510"/>
                <a:chOff x="1625229" y="2303341"/>
                <a:chExt cx="1212595" cy="810196"/>
              </a:xfrm>
            </p:grpSpPr>
            <p:cxnSp>
              <p:nvCxnSpPr>
                <p:cNvPr id="26" name="直接连接符 39"/>
                <p:cNvCxnSpPr>
                  <a:cxnSpLocks noChangeShapeType="1"/>
                </p:cNvCxnSpPr>
                <p:nvPr/>
              </p:nvCxnSpPr>
              <p:spPr bwMode="auto">
                <a:xfrm rot="16200000" flipH="1" flipV="1">
                  <a:off x="1232572" y="2695997"/>
                  <a:ext cx="785314" cy="1"/>
                </a:xfrm>
                <a:prstGeom prst="line">
                  <a:avLst/>
                </a:prstGeom>
                <a:noFill/>
                <a:ln w="28575" algn="ctr">
                  <a:solidFill>
                    <a:srgbClr val="01598B"/>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7" name="直接连接符 40"/>
                <p:cNvCxnSpPr>
                  <a:cxnSpLocks noChangeShapeType="1"/>
                </p:cNvCxnSpPr>
                <p:nvPr/>
              </p:nvCxnSpPr>
              <p:spPr bwMode="auto">
                <a:xfrm rot="16200000" flipH="1">
                  <a:off x="2219087" y="2494799"/>
                  <a:ext cx="24880" cy="1212595"/>
                </a:xfrm>
                <a:prstGeom prst="line">
                  <a:avLst/>
                </a:prstGeom>
                <a:noFill/>
                <a:ln w="28575" algn="ctr">
                  <a:solidFill>
                    <a:srgbClr val="01598B"/>
                  </a:solidFill>
                  <a:round/>
                  <a:headEn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grpSp>
            <p:nvGrpSpPr>
              <p:cNvPr id="23" name="组合 41"/>
              <p:cNvGrpSpPr>
                <a:grpSpLocks/>
              </p:cNvGrpSpPr>
              <p:nvPr/>
            </p:nvGrpSpPr>
            <p:grpSpPr bwMode="auto">
              <a:xfrm flipH="1">
                <a:off x="7292384" y="4920843"/>
                <a:ext cx="688171" cy="111939"/>
                <a:chOff x="1950262" y="3647353"/>
                <a:chExt cx="690120" cy="111798"/>
              </a:xfrm>
            </p:grpSpPr>
            <p:sp>
              <p:nvSpPr>
                <p:cNvPr id="24" name="椭圆 23"/>
                <p:cNvSpPr/>
                <p:nvPr/>
              </p:nvSpPr>
              <p:spPr bwMode="auto">
                <a:xfrm rot="5400000">
                  <a:off x="2204742" y="3392873"/>
                  <a:ext cx="111798" cy="620757"/>
                </a:xfrm>
                <a:prstGeom prst="ellipse">
                  <a:avLst/>
                </a:prstGeom>
                <a:solidFill>
                  <a:srgbClr val="006BA9"/>
                </a:solidFill>
                <a:ln w="28575" cap="flat" cmpd="sng" algn="ctr">
                  <a:solidFill>
                    <a:srgbClr val="006BA9"/>
                  </a:solidFill>
                  <a:prstDash val="solid"/>
                  <a:round/>
                  <a:headEnd type="none" w="med" len="med"/>
                  <a:tailEnd type="none" w="med" len="med"/>
                </a:ln>
                <a:effectLst>
                  <a:outerShdw blurRad="25400" dist="12700" dir="2700000" algn="tl" rotWithShape="0">
                    <a:prstClr val="black">
                      <a:alpha val="40000"/>
                    </a:prstClr>
                  </a:outerShdw>
                </a:effectLst>
                <a:extLst/>
              </p:spPr>
              <p:txBody>
                <a:bodyPr/>
                <a:lstStyle/>
                <a:p>
                  <a:pPr eaLnBrk="1" hangingPunct="1">
                    <a:buFont typeface="Arial" pitchFamily="34" charset="0"/>
                    <a:buNone/>
                    <a:defRPr/>
                  </a:pPr>
                  <a:endParaRPr lang="zh-CN" altLang="en-US">
                    <a:ea typeface="宋体" pitchFamily="2" charset="-122"/>
                  </a:endParaRPr>
                </a:p>
              </p:txBody>
            </p:sp>
            <p:sp>
              <p:nvSpPr>
                <p:cNvPr id="25" name="TextBox 24"/>
                <p:cNvSpPr txBox="1"/>
                <p:nvPr/>
              </p:nvSpPr>
              <p:spPr>
                <a:xfrm rot="5400000">
                  <a:off x="2258997" y="3373460"/>
                  <a:ext cx="93355" cy="669415"/>
                </a:xfrm>
                <a:prstGeom prst="rect">
                  <a:avLst/>
                </a:prstGeom>
                <a:noFill/>
                <a:effectLst>
                  <a:outerShdw blurRad="12700" dist="12700" dir="2700000" algn="tl" rotWithShape="0">
                    <a:prstClr val="black">
                      <a:alpha val="40000"/>
                    </a:prstClr>
                  </a:outerShdw>
                </a:effectLst>
              </p:spPr>
              <p:txBody>
                <a:bodyPr wrap="square">
                  <a:spAutoFit/>
                </a:bodyPr>
                <a:lstStyle/>
                <a:p>
                  <a:pPr>
                    <a:defRPr/>
                  </a:pPr>
                  <a:r>
                    <a:rPr lang="en-US" altLang="zh-CN" sz="2800" b="1">
                      <a:solidFill>
                        <a:schemeClr val="bg1"/>
                      </a:solidFill>
                      <a:latin typeface="Times New Roman" panose="02020603050405020304" pitchFamily="18" charset="0"/>
                      <a:cs typeface="Times New Roman" panose="02020603050405020304" pitchFamily="18" charset="0"/>
                    </a:rPr>
                    <a:t>2</a:t>
                  </a:r>
                  <a:endParaRPr lang="zh-CN" altLang="en-US" sz="2800" b="1">
                    <a:solidFill>
                      <a:schemeClr val="bg1"/>
                    </a:solidFill>
                    <a:latin typeface="Times New Roman" panose="02020603050405020304" pitchFamily="18" charset="0"/>
                    <a:cs typeface="Times New Roman" panose="02020603050405020304" pitchFamily="18" charset="0"/>
                  </a:endParaRPr>
                </a:p>
              </p:txBody>
            </p:sp>
          </p:grpSp>
        </p:grpSp>
        <p:sp>
          <p:nvSpPr>
            <p:cNvPr id="21" name="矩形 4"/>
            <p:cNvSpPr>
              <a:spLocks noChangeArrowheads="1"/>
            </p:cNvSpPr>
            <p:nvPr/>
          </p:nvSpPr>
          <p:spPr bwMode="auto">
            <a:xfrm>
              <a:off x="4296212" y="5361691"/>
              <a:ext cx="1980162" cy="5505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p>
              <a:pPr marL="457200" indent="-457200">
                <a:lnSpc>
                  <a:spcPts val="3600"/>
                </a:lnSpc>
              </a:pPr>
              <a:r>
                <a:rPr lang="zh-CN" altLang="en-US" b="1" smtClean="0">
                  <a:solidFill>
                    <a:srgbClr val="006BA9"/>
                  </a:solidFill>
                  <a:ea typeface="微软雅黑" pitchFamily="34" charset="-122"/>
                  <a:sym typeface="宋体" charset="-122"/>
                </a:rPr>
                <a:t>文件下载的原理</a:t>
              </a:r>
              <a:endParaRPr lang="en-US" altLang="zh-CN" b="1" dirty="0">
                <a:solidFill>
                  <a:srgbClr val="006BA9"/>
                </a:solidFill>
                <a:ea typeface="微软雅黑" pitchFamily="34" charset="-122"/>
                <a:sym typeface="宋体" charset="-122"/>
              </a:endParaRPr>
            </a:p>
          </p:txBody>
        </p:sp>
      </p:grpSp>
      <p:grpSp>
        <p:nvGrpSpPr>
          <p:cNvPr id="28" name="组合 6"/>
          <p:cNvGrpSpPr>
            <a:grpSpLocks/>
          </p:cNvGrpSpPr>
          <p:nvPr/>
        </p:nvGrpSpPr>
        <p:grpSpPr bwMode="auto">
          <a:xfrm>
            <a:off x="5436096" y="1340769"/>
            <a:ext cx="4055204" cy="1368152"/>
            <a:chOff x="5581412" y="1365317"/>
            <a:chExt cx="4058859" cy="1368195"/>
          </a:xfrm>
        </p:grpSpPr>
        <p:sp>
          <p:nvSpPr>
            <p:cNvPr id="29" name="矩形 5"/>
            <p:cNvSpPr>
              <a:spLocks noChangeArrowheads="1"/>
            </p:cNvSpPr>
            <p:nvPr/>
          </p:nvSpPr>
          <p:spPr bwMode="auto">
            <a:xfrm flipH="1">
              <a:off x="5581412" y="1365317"/>
              <a:ext cx="4058859" cy="10156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p>
              <a:pPr marL="457200" indent="-457200">
                <a:lnSpc>
                  <a:spcPts val="3600"/>
                </a:lnSpc>
              </a:pPr>
              <a:r>
                <a:rPr lang="en-US" altLang="zh-CN" b="1" smtClean="0">
                  <a:solidFill>
                    <a:srgbClr val="01598B"/>
                  </a:solidFill>
                  <a:latin typeface="微软雅黑" pitchFamily="34" charset="-122"/>
                  <a:ea typeface="微软雅黑" pitchFamily="34" charset="-122"/>
                </a:rPr>
                <a:t>Commons-FileUpload</a:t>
              </a:r>
              <a:r>
                <a:rPr lang="zh-CN" altLang="en-US" b="1" smtClean="0">
                  <a:solidFill>
                    <a:srgbClr val="01598B"/>
                  </a:solidFill>
                  <a:latin typeface="微软雅黑" pitchFamily="34" charset="-122"/>
                  <a:ea typeface="微软雅黑" pitchFamily="34" charset="-122"/>
                </a:rPr>
                <a:t>组件的使用</a:t>
              </a:r>
              <a:endParaRPr lang="en-US" altLang="zh-CN" b="1" smtClean="0">
                <a:solidFill>
                  <a:srgbClr val="01598B"/>
                </a:solidFill>
                <a:latin typeface="微软雅黑" pitchFamily="34" charset="-122"/>
                <a:ea typeface="微软雅黑" pitchFamily="34" charset="-122"/>
              </a:endParaRPr>
            </a:p>
            <a:p>
              <a:pPr marL="457200" indent="-457200">
                <a:lnSpc>
                  <a:spcPts val="3600"/>
                </a:lnSpc>
              </a:pPr>
              <a:r>
                <a:rPr lang="zh-CN" altLang="en-US" b="1" smtClean="0">
                  <a:solidFill>
                    <a:srgbClr val="01598B"/>
                  </a:solidFill>
                  <a:latin typeface="微软雅黑" pitchFamily="34" charset="-122"/>
                  <a:ea typeface="微软雅黑" pitchFamily="34" charset="-122"/>
                </a:rPr>
                <a:t>文件下载的实现</a:t>
              </a:r>
              <a:endParaRPr lang="en-US" altLang="zh-CN" b="1" smtClean="0">
                <a:solidFill>
                  <a:srgbClr val="01598B"/>
                </a:solidFill>
                <a:latin typeface="微软雅黑" pitchFamily="34" charset="-122"/>
                <a:ea typeface="微软雅黑" pitchFamily="34" charset="-122"/>
              </a:endParaRPr>
            </a:p>
          </p:txBody>
        </p:sp>
        <p:grpSp>
          <p:nvGrpSpPr>
            <p:cNvPr id="30" name="组合 16"/>
            <p:cNvGrpSpPr>
              <a:grpSpLocks/>
            </p:cNvGrpSpPr>
            <p:nvPr/>
          </p:nvGrpSpPr>
          <p:grpSpPr bwMode="auto">
            <a:xfrm flipH="1">
              <a:off x="5947990" y="2286831"/>
              <a:ext cx="3039273" cy="446681"/>
              <a:chOff x="980659" y="2862509"/>
              <a:chExt cx="3177995" cy="446892"/>
            </a:xfrm>
          </p:grpSpPr>
          <p:cxnSp>
            <p:nvCxnSpPr>
              <p:cNvPr id="34" name="直接连接符 7"/>
              <p:cNvCxnSpPr>
                <a:cxnSpLocks noChangeShapeType="1"/>
              </p:cNvCxnSpPr>
              <p:nvPr/>
            </p:nvCxnSpPr>
            <p:spPr bwMode="auto">
              <a:xfrm>
                <a:off x="980659" y="2862509"/>
                <a:ext cx="255076" cy="446892"/>
              </a:xfrm>
              <a:prstGeom prst="line">
                <a:avLst/>
              </a:prstGeom>
              <a:noFill/>
              <a:ln w="28575" algn="ctr">
                <a:solidFill>
                  <a:srgbClr val="006BA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5" name="直接连接符 10"/>
              <p:cNvCxnSpPr>
                <a:cxnSpLocks noChangeShapeType="1"/>
              </p:cNvCxnSpPr>
              <p:nvPr/>
            </p:nvCxnSpPr>
            <p:spPr bwMode="auto">
              <a:xfrm>
                <a:off x="1235735" y="3294594"/>
                <a:ext cx="2922919" cy="14807"/>
              </a:xfrm>
              <a:prstGeom prst="line">
                <a:avLst/>
              </a:prstGeom>
              <a:noFill/>
              <a:ln w="28575" algn="ctr">
                <a:solidFill>
                  <a:srgbClr val="006BA9"/>
                </a:solidFill>
                <a:round/>
                <a:headEn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grpSp>
          <p:nvGrpSpPr>
            <p:cNvPr id="31" name="组合 15"/>
            <p:cNvGrpSpPr>
              <a:grpSpLocks/>
            </p:cNvGrpSpPr>
            <p:nvPr/>
          </p:nvGrpSpPr>
          <p:grpSpPr bwMode="auto">
            <a:xfrm flipH="1">
              <a:off x="8767739" y="1827378"/>
              <a:ext cx="489391" cy="520715"/>
              <a:chOff x="1383068" y="4069721"/>
              <a:chExt cx="511727" cy="520961"/>
            </a:xfrm>
          </p:grpSpPr>
          <p:sp>
            <p:nvSpPr>
              <p:cNvPr id="32" name="椭圆 31"/>
              <p:cNvSpPr/>
              <p:nvPr/>
            </p:nvSpPr>
            <p:spPr bwMode="auto">
              <a:xfrm>
                <a:off x="1383068" y="4085604"/>
                <a:ext cx="511727" cy="473312"/>
              </a:xfrm>
              <a:prstGeom prst="ellipse">
                <a:avLst/>
              </a:prstGeom>
              <a:solidFill>
                <a:srgbClr val="006BA9"/>
              </a:solidFill>
              <a:ln w="28575" cap="flat" cmpd="sng" algn="ctr">
                <a:solidFill>
                  <a:srgbClr val="006BA9"/>
                </a:solidFill>
                <a:prstDash val="solid"/>
                <a:round/>
                <a:headEnd type="none" w="med" len="med"/>
                <a:tailEnd type="none" w="med" len="med"/>
              </a:ln>
              <a:effectLst>
                <a:outerShdw blurRad="25400" dist="12700" dir="2700000" algn="tl" rotWithShape="0">
                  <a:prstClr val="black">
                    <a:alpha val="40000"/>
                  </a:prstClr>
                </a:outerShdw>
              </a:effectLst>
              <a:extLst/>
            </p:spPr>
            <p:txBody>
              <a:bodyPr/>
              <a:lstStyle/>
              <a:p>
                <a:pPr eaLnBrk="1" hangingPunct="1">
                  <a:buFont typeface="Arial" pitchFamily="34" charset="0"/>
                  <a:buNone/>
                  <a:defRPr/>
                </a:pPr>
                <a:endParaRPr lang="zh-CN" altLang="en-US">
                  <a:ea typeface="宋体" pitchFamily="2" charset="-122"/>
                </a:endParaRPr>
              </a:p>
            </p:txBody>
          </p:sp>
          <p:sp>
            <p:nvSpPr>
              <p:cNvPr id="33" name="TextBox 32"/>
              <p:cNvSpPr txBox="1"/>
              <p:nvPr/>
            </p:nvSpPr>
            <p:spPr>
              <a:xfrm>
                <a:off x="1491055" y="4069721"/>
                <a:ext cx="335613" cy="520961"/>
              </a:xfrm>
              <a:prstGeom prst="rect">
                <a:avLst/>
              </a:prstGeom>
              <a:noFill/>
              <a:effectLst>
                <a:outerShdw blurRad="12700" dist="12700" dir="2700000" algn="tl" rotWithShape="0">
                  <a:prstClr val="black">
                    <a:alpha val="40000"/>
                  </a:prstClr>
                </a:outerShdw>
              </a:effectLst>
            </p:spPr>
            <p:txBody>
              <a:bodyPr>
                <a:spAutoFit/>
              </a:bodyPr>
              <a:lstStyle/>
              <a:p>
                <a:pPr>
                  <a:defRPr/>
                </a:pPr>
                <a:r>
                  <a:rPr lang="en-US" altLang="zh-CN" sz="2800" b="1" dirty="0" smtClean="0">
                    <a:solidFill>
                      <a:schemeClr val="bg1"/>
                    </a:solidFill>
                    <a:latin typeface="Times New Roman" panose="02020603050405020304" pitchFamily="18" charset="0"/>
                    <a:cs typeface="Times New Roman" panose="02020603050405020304" pitchFamily="18" charset="0"/>
                  </a:rPr>
                  <a:t>1</a:t>
                </a:r>
                <a:endParaRPr lang="zh-CN" altLang="en-US" sz="2800" b="1" dirty="0">
                  <a:solidFill>
                    <a:schemeClr val="bg1"/>
                  </a:solidFill>
                  <a:latin typeface="Times New Roman" panose="02020603050405020304" pitchFamily="18" charset="0"/>
                  <a:cs typeface="Times New Roman" panose="02020603050405020304" pitchFamily="18" charset="0"/>
                </a:endParaRPr>
              </a:p>
            </p:txBody>
          </p:sp>
        </p:grpSp>
      </p:grpSp>
      <p:sp>
        <p:nvSpPr>
          <p:cNvPr id="36" name="标题 1"/>
          <p:cNvSpPr>
            <a:spLocks noChangeArrowheads="1"/>
          </p:cNvSpPr>
          <p:nvPr/>
        </p:nvSpPr>
        <p:spPr bwMode="auto">
          <a:xfrm>
            <a:off x="1643733" y="389681"/>
            <a:ext cx="4944491" cy="56162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pPr marL="571500" indent="-571500"/>
            <a:r>
              <a:rPr lang="zh-CN" altLang="en-US" sz="3200" b="1" dirty="0" smtClean="0">
                <a:solidFill>
                  <a:srgbClr val="006BA9"/>
                </a:solidFill>
                <a:latin typeface="微软雅黑" pitchFamily="34" charset="-122"/>
                <a:ea typeface="微软雅黑" pitchFamily="34" charset="-122"/>
                <a:sym typeface="宋体" charset="-122"/>
              </a:rPr>
              <a:t>学习目标</a:t>
            </a:r>
            <a:endParaRPr lang="zh-CN" altLang="en-US" sz="3200" b="1" dirty="0">
              <a:solidFill>
                <a:srgbClr val="006BA9"/>
              </a:solidFill>
              <a:latin typeface="微软雅黑" pitchFamily="34" charset="-122"/>
              <a:ea typeface="微软雅黑" pitchFamily="34" charset="-122"/>
              <a:sym typeface="宋体" charset="-122"/>
            </a:endParaRPr>
          </a:p>
        </p:txBody>
      </p:sp>
    </p:spTree>
    <p:custDataLst>
      <p:tags r:id="rId1"/>
    </p:custDataLst>
    <p:extLst>
      <p:ext uri="{BB962C8B-B14F-4D97-AF65-F5344CB8AC3E}">
        <p14:creationId xmlns:p14="http://schemas.microsoft.com/office/powerpoint/2010/main" val="505850779"/>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1" presetClass="entr" presetSubtype="1" fill="hold"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wheel(1)">
                                      <p:cBhvr>
                                        <p:cTn id="7" dur="750"/>
                                        <p:tgtEl>
                                          <p:spTgt spid="10"/>
                                        </p:tgtEl>
                                      </p:cBhvr>
                                    </p:animEffect>
                                  </p:childTnLst>
                                </p:cTn>
                              </p:par>
                            </p:childTnLst>
                          </p:cTn>
                        </p:par>
                        <p:par>
                          <p:cTn id="8" fill="hold">
                            <p:stCondLst>
                              <p:cond delay="750"/>
                            </p:stCondLst>
                            <p:childTnLst>
                              <p:par>
                                <p:cTn id="9" presetID="22" presetClass="entr" presetSubtype="4" fill="hold" nodeType="afterEffect">
                                  <p:stCondLst>
                                    <p:cond delay="0"/>
                                  </p:stCondLst>
                                  <p:childTnLst>
                                    <p:set>
                                      <p:cBhvr>
                                        <p:cTn id="10" dur="1" fill="hold">
                                          <p:stCondLst>
                                            <p:cond delay="0"/>
                                          </p:stCondLst>
                                        </p:cTn>
                                        <p:tgtEl>
                                          <p:spTgt spid="28"/>
                                        </p:tgtEl>
                                        <p:attrNameLst>
                                          <p:attrName>style.visibility</p:attrName>
                                        </p:attrNameLst>
                                      </p:cBhvr>
                                      <p:to>
                                        <p:strVal val="visible"/>
                                      </p:to>
                                    </p:set>
                                    <p:animEffect transition="in" filter="wipe(down)">
                                      <p:cBhvr>
                                        <p:cTn id="11" dur="500"/>
                                        <p:tgtEl>
                                          <p:spTgt spid="28"/>
                                        </p:tgtEl>
                                      </p:cBhvr>
                                    </p:animEffect>
                                  </p:childTnLst>
                                </p:cTn>
                              </p:par>
                            </p:childTnLst>
                          </p:cTn>
                        </p:par>
                        <p:par>
                          <p:cTn id="12" fill="hold">
                            <p:stCondLst>
                              <p:cond delay="1250"/>
                            </p:stCondLst>
                            <p:childTnLst>
                              <p:par>
                                <p:cTn id="13" presetID="22" presetClass="entr" presetSubtype="1" fill="hold" nodeType="afterEffect">
                                  <p:stCondLst>
                                    <p:cond delay="0"/>
                                  </p:stCondLst>
                                  <p:childTnLst>
                                    <p:set>
                                      <p:cBhvr>
                                        <p:cTn id="14" dur="1" fill="hold">
                                          <p:stCondLst>
                                            <p:cond delay="0"/>
                                          </p:stCondLst>
                                        </p:cTn>
                                        <p:tgtEl>
                                          <p:spTgt spid="19"/>
                                        </p:tgtEl>
                                        <p:attrNameLst>
                                          <p:attrName>style.visibility</p:attrName>
                                        </p:attrNameLst>
                                      </p:cBhvr>
                                      <p:to>
                                        <p:strVal val="visible"/>
                                      </p:to>
                                    </p:set>
                                    <p:animEffect transition="in" filter="wipe(up)">
                                      <p:cBhvr>
                                        <p:cTn id="15" dur="500"/>
                                        <p:tgtEl>
                                          <p:spTgt spid="19"/>
                                        </p:tgtEl>
                                      </p:cBhvr>
                                    </p:animEffect>
                                  </p:childTnLst>
                                </p:cTn>
                              </p:par>
                            </p:childTnLst>
                          </p:cTn>
                        </p:par>
                        <p:par>
                          <p:cTn id="16" fill="hold">
                            <p:stCondLst>
                              <p:cond delay="1750"/>
                            </p:stCondLst>
                            <p:childTnLst>
                              <p:par>
                                <p:cTn id="17" presetID="22" presetClass="entr" presetSubtype="4" fill="hold" nodeType="afterEffect">
                                  <p:stCondLst>
                                    <p:cond delay="0"/>
                                  </p:stCondLst>
                                  <p:childTnLst>
                                    <p:set>
                                      <p:cBhvr>
                                        <p:cTn id="18" dur="1" fill="hold">
                                          <p:stCondLst>
                                            <p:cond delay="0"/>
                                          </p:stCondLst>
                                        </p:cTn>
                                        <p:tgtEl>
                                          <p:spTgt spid="2"/>
                                        </p:tgtEl>
                                        <p:attrNameLst>
                                          <p:attrName>style.visibility</p:attrName>
                                        </p:attrNameLst>
                                      </p:cBhvr>
                                      <p:to>
                                        <p:strVal val="visible"/>
                                      </p:to>
                                    </p:set>
                                    <p:animEffect transition="in" filter="wipe(down)">
                                      <p:cBhvr>
                                        <p:cTn id="19"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对角圆角矩形 1"/>
          <p:cNvSpPr/>
          <p:nvPr/>
        </p:nvSpPr>
        <p:spPr>
          <a:xfrm>
            <a:off x="755576" y="1988840"/>
            <a:ext cx="4896544" cy="648072"/>
          </a:xfrm>
          <a:prstGeom prst="round2DiagRect">
            <a:avLst>
              <a:gd name="adj1" fmla="val 20943"/>
              <a:gd name="adj2" fmla="val 0"/>
            </a:avLst>
          </a:prstGeom>
          <a:solidFill>
            <a:srgbClr val="006BA9"/>
          </a:solidFill>
          <a:ln>
            <a:solidFill>
              <a:srgbClr val="006BA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4" name="TextBox 6"/>
          <p:cNvSpPr txBox="1"/>
          <p:nvPr/>
        </p:nvSpPr>
        <p:spPr>
          <a:xfrm>
            <a:off x="1097740" y="2123564"/>
            <a:ext cx="3834300" cy="369332"/>
          </a:xfrm>
          <a:prstGeom prst="rect">
            <a:avLst/>
          </a:prstGeom>
          <a:noFill/>
        </p:spPr>
        <p:txBody>
          <a:bodyPr vert="horz" wrap="square" lIns="0" tIns="0" rIns="0" bIns="0" rtlCol="0" anchor="ctr">
            <a:spAutoFit/>
          </a:bodyPr>
          <a:lstStyle/>
          <a:p>
            <a:r>
              <a:rPr lang="en-US" altLang="zh-CN" sz="2400" smtClean="0">
                <a:solidFill>
                  <a:prstClr val="white"/>
                </a:solidFill>
                <a:latin typeface="Impact" pitchFamily="34" charset="0"/>
                <a:ea typeface="微软雅黑" pitchFamily="34" charset="-122"/>
              </a:rPr>
              <a:t>12.1    </a:t>
            </a:r>
            <a:r>
              <a:rPr lang="zh-CN" altLang="en-US" sz="2400" smtClean="0">
                <a:solidFill>
                  <a:prstClr val="white"/>
                </a:solidFill>
                <a:latin typeface="Impact" pitchFamily="34" charset="0"/>
                <a:ea typeface="微软雅黑" pitchFamily="34" charset="-122"/>
              </a:rPr>
              <a:t>如何实现文件上传</a:t>
            </a:r>
            <a:r>
              <a:rPr lang="zh-CN" altLang="en-US" sz="2400" smtClean="0">
                <a:solidFill>
                  <a:prstClr val="white"/>
                </a:solidFill>
                <a:latin typeface="微软雅黑" pitchFamily="34" charset="-122"/>
                <a:ea typeface="微软雅黑" pitchFamily="34" charset="-122"/>
              </a:rPr>
              <a:t> </a:t>
            </a:r>
            <a:endParaRPr lang="zh-CN" altLang="en-US" sz="2400" dirty="0">
              <a:solidFill>
                <a:prstClr val="white"/>
              </a:solidFill>
              <a:latin typeface="微软雅黑" pitchFamily="34" charset="-122"/>
              <a:ea typeface="微软雅黑" pitchFamily="34" charset="-122"/>
            </a:endParaRPr>
          </a:p>
        </p:txBody>
      </p:sp>
      <p:sp>
        <p:nvSpPr>
          <p:cNvPr id="5" name="TextBox 10"/>
          <p:cNvSpPr txBox="1"/>
          <p:nvPr/>
        </p:nvSpPr>
        <p:spPr>
          <a:xfrm>
            <a:off x="1097740" y="2987660"/>
            <a:ext cx="3834300" cy="369332"/>
          </a:xfrm>
          <a:prstGeom prst="rect">
            <a:avLst/>
          </a:prstGeom>
          <a:noFill/>
        </p:spPr>
        <p:txBody>
          <a:bodyPr vert="horz" wrap="square" lIns="0" tIns="0" rIns="0" bIns="0" rtlCol="0" anchor="ctr">
            <a:spAutoFit/>
          </a:bodyPr>
          <a:lstStyle/>
          <a:p>
            <a:r>
              <a:rPr lang="en-US" altLang="zh-CN" sz="2400" smtClean="0">
                <a:solidFill>
                  <a:srgbClr val="7F7F7F"/>
                </a:solidFill>
                <a:latin typeface="Impact" pitchFamily="34" charset="0"/>
                <a:ea typeface="微软雅黑" pitchFamily="34" charset="-122"/>
              </a:rPr>
              <a:t>12.2    </a:t>
            </a:r>
            <a:r>
              <a:rPr lang="zh-CN" altLang="en-US" sz="2400" smtClean="0">
                <a:solidFill>
                  <a:srgbClr val="7F7F7F"/>
                </a:solidFill>
                <a:latin typeface="Impact" pitchFamily="34" charset="0"/>
                <a:ea typeface="微软雅黑" pitchFamily="34" charset="-122"/>
              </a:rPr>
              <a:t>文件上传的相关</a:t>
            </a:r>
            <a:r>
              <a:rPr lang="en-US" altLang="zh-CN" sz="2400" smtClean="0">
                <a:solidFill>
                  <a:srgbClr val="7F7F7F"/>
                </a:solidFill>
                <a:latin typeface="Impact" pitchFamily="34" charset="0"/>
                <a:ea typeface="微软雅黑" pitchFamily="34" charset="-122"/>
              </a:rPr>
              <a:t>API</a:t>
            </a:r>
            <a:endParaRPr lang="zh-CN" altLang="en-US" sz="2400" dirty="0">
              <a:solidFill>
                <a:srgbClr val="7F7F7F"/>
              </a:solidFill>
              <a:latin typeface="Impact" pitchFamily="34" charset="0"/>
              <a:ea typeface="微软雅黑" pitchFamily="34" charset="-122"/>
            </a:endParaRPr>
          </a:p>
        </p:txBody>
      </p:sp>
      <p:sp>
        <p:nvSpPr>
          <p:cNvPr id="9" name="椭圆 8"/>
          <p:cNvSpPr/>
          <p:nvPr/>
        </p:nvSpPr>
        <p:spPr>
          <a:xfrm>
            <a:off x="4897998" y="1712810"/>
            <a:ext cx="3444382" cy="3444382"/>
          </a:xfrm>
          <a:prstGeom prst="ellipse">
            <a:avLst/>
          </a:prstGeom>
          <a:solidFill>
            <a:schemeClr val="tx2">
              <a:lumMod val="40000"/>
              <a:lumOff val="60000"/>
            </a:schemeClr>
          </a:solidFill>
          <a:ln w="381000">
            <a:solidFill>
              <a:srgbClr val="006BA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10" name="TextBox 1"/>
          <p:cNvSpPr txBox="1"/>
          <p:nvPr/>
        </p:nvSpPr>
        <p:spPr>
          <a:xfrm>
            <a:off x="4860032" y="2492896"/>
            <a:ext cx="3566358" cy="1831271"/>
          </a:xfrm>
          <a:prstGeom prst="rect">
            <a:avLst/>
          </a:prstGeom>
          <a:noFill/>
        </p:spPr>
        <p:txBody>
          <a:bodyPr wrap="square" rtlCol="0" anchor="ctr">
            <a:spAutoFit/>
          </a:bodyPr>
          <a:lstStyle/>
          <a:p>
            <a:pPr algn="ctr">
              <a:lnSpc>
                <a:spcPct val="150000"/>
              </a:lnSpc>
            </a:pPr>
            <a:r>
              <a:rPr lang="zh-CN" altLang="en-US" sz="5400" b="1" smtClean="0">
                <a:solidFill>
                  <a:srgbClr val="F2F2E6"/>
                </a:solidFill>
                <a:latin typeface="微软雅黑" pitchFamily="34" charset="-122"/>
                <a:ea typeface="微软雅黑" pitchFamily="34" charset="-122"/>
              </a:rPr>
              <a:t>主讲内容</a:t>
            </a:r>
            <a:endParaRPr lang="en-US" altLang="zh-CN" sz="5400" b="1" dirty="0" smtClean="0">
              <a:solidFill>
                <a:srgbClr val="F2F2E6"/>
              </a:solidFill>
              <a:latin typeface="微软雅黑" pitchFamily="34" charset="-122"/>
              <a:ea typeface="微软雅黑" pitchFamily="34" charset="-122"/>
            </a:endParaRPr>
          </a:p>
          <a:p>
            <a:pPr algn="ctr"/>
            <a:r>
              <a:rPr lang="en-US" altLang="zh-CN" sz="3200" smtClean="0">
                <a:solidFill>
                  <a:srgbClr val="F2F2E6"/>
                </a:solidFill>
                <a:latin typeface="Times New Roman" panose="02020603050405020304" pitchFamily="18" charset="0"/>
                <a:ea typeface="Adobe 宋体 Std L" pitchFamily="18" charset="-122"/>
                <a:cs typeface="Times New Roman" panose="02020603050405020304" pitchFamily="18" charset="0"/>
              </a:rPr>
              <a:t>Speech content</a:t>
            </a:r>
            <a:endParaRPr lang="en-US" altLang="zh-CN" sz="3200" dirty="0" smtClean="0">
              <a:solidFill>
                <a:srgbClr val="F2F2E6"/>
              </a:solidFill>
              <a:latin typeface="Times New Roman" panose="02020603050405020304" pitchFamily="18" charset="0"/>
              <a:ea typeface="Adobe 宋体 Std L" pitchFamily="18" charset="-122"/>
              <a:cs typeface="Times New Roman" panose="02020603050405020304" pitchFamily="18" charset="0"/>
            </a:endParaRPr>
          </a:p>
        </p:txBody>
      </p:sp>
      <p:sp>
        <p:nvSpPr>
          <p:cNvPr id="7" name="TextBox 10"/>
          <p:cNvSpPr txBox="1"/>
          <p:nvPr/>
        </p:nvSpPr>
        <p:spPr>
          <a:xfrm>
            <a:off x="1097740" y="3779748"/>
            <a:ext cx="3834300" cy="369332"/>
          </a:xfrm>
          <a:prstGeom prst="rect">
            <a:avLst/>
          </a:prstGeom>
          <a:noFill/>
        </p:spPr>
        <p:txBody>
          <a:bodyPr vert="horz" wrap="square" lIns="0" tIns="0" rIns="0" bIns="0" rtlCol="0" anchor="ctr">
            <a:spAutoFit/>
          </a:bodyPr>
          <a:lstStyle/>
          <a:p>
            <a:r>
              <a:rPr lang="en-US" altLang="zh-CN" sz="2400" dirty="0" smtClean="0">
                <a:solidFill>
                  <a:srgbClr val="7F7F7F"/>
                </a:solidFill>
                <a:latin typeface="Impact" pitchFamily="34" charset="0"/>
                <a:ea typeface="微软雅黑" pitchFamily="34" charset="-122"/>
              </a:rPr>
              <a:t>12.3    </a:t>
            </a:r>
            <a:r>
              <a:rPr lang="zh-CN" altLang="en-US" sz="2400" dirty="0" smtClean="0">
                <a:solidFill>
                  <a:srgbClr val="7F7F7F"/>
                </a:solidFill>
                <a:latin typeface="Impact" pitchFamily="34" charset="0"/>
                <a:ea typeface="微软雅黑" pitchFamily="34" charset="-122"/>
              </a:rPr>
              <a:t>文件下载</a:t>
            </a:r>
            <a:endParaRPr lang="zh-CN" altLang="en-US" sz="2400" dirty="0">
              <a:solidFill>
                <a:srgbClr val="7F7F7F"/>
              </a:solidFill>
              <a:latin typeface="Impact" pitchFamily="34" charset="0"/>
              <a:ea typeface="微软雅黑" pitchFamily="34" charset="-122"/>
            </a:endParaRPr>
          </a:p>
        </p:txBody>
      </p:sp>
      <p:sp>
        <p:nvSpPr>
          <p:cNvPr id="8" name="标题 1"/>
          <p:cNvSpPr>
            <a:spLocks noChangeArrowheads="1"/>
          </p:cNvSpPr>
          <p:nvPr/>
        </p:nvSpPr>
        <p:spPr bwMode="auto">
          <a:xfrm>
            <a:off x="1643733" y="389681"/>
            <a:ext cx="4944491" cy="56162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pPr marL="571500" indent="-571500"/>
            <a:r>
              <a:rPr lang="zh-CN" altLang="en-US" sz="3200" b="1" dirty="0" smtClean="0">
                <a:solidFill>
                  <a:srgbClr val="006BA9"/>
                </a:solidFill>
                <a:latin typeface="微软雅黑" pitchFamily="34" charset="-122"/>
                <a:ea typeface="微软雅黑" pitchFamily="34" charset="-122"/>
                <a:sym typeface="宋体" charset="-122"/>
              </a:rPr>
              <a:t>主讲内容</a:t>
            </a:r>
            <a:endParaRPr lang="zh-CN" altLang="en-US" sz="3200" b="1" dirty="0">
              <a:solidFill>
                <a:srgbClr val="006BA9"/>
              </a:solidFill>
              <a:latin typeface="微软雅黑" pitchFamily="34" charset="-122"/>
              <a:ea typeface="微软雅黑" pitchFamily="34" charset="-122"/>
              <a:sym typeface="宋体" charset="-122"/>
            </a:endParaRPr>
          </a:p>
        </p:txBody>
      </p:sp>
    </p:spTree>
    <p:custDataLst>
      <p:tags r:id="rId1"/>
    </p:custDataLst>
    <p:extLst>
      <p:ext uri="{BB962C8B-B14F-4D97-AF65-F5344CB8AC3E}">
        <p14:creationId xmlns:p14="http://schemas.microsoft.com/office/powerpoint/2010/main" val="281741572"/>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a:grpSpLocks/>
          </p:cNvGrpSpPr>
          <p:nvPr/>
        </p:nvGrpSpPr>
        <p:grpSpPr bwMode="auto">
          <a:xfrm>
            <a:off x="755576" y="548680"/>
            <a:ext cx="4824536" cy="2677091"/>
            <a:chOff x="2379663" y="623888"/>
            <a:chExt cx="7170737" cy="4635500"/>
          </a:xfrm>
        </p:grpSpPr>
        <p:pic>
          <p:nvPicPr>
            <p:cNvPr id="3" name="Picture 6" descr="云朵"/>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379663" y="623888"/>
              <a:ext cx="7170737" cy="4635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Text Box 7"/>
            <p:cNvSpPr txBox="1">
              <a:spLocks noChangeArrowheads="1"/>
            </p:cNvSpPr>
            <p:nvPr/>
          </p:nvSpPr>
          <p:spPr bwMode="auto">
            <a:xfrm>
              <a:off x="4436777" y="2037432"/>
              <a:ext cx="4043363" cy="567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itchFamily="34" charset="0"/>
                  <a:ea typeface="宋体" pitchFamily="2" charset="-122"/>
                </a:defRPr>
              </a:lvl1pPr>
              <a:lvl2pPr marL="742950" indent="-285750">
                <a:defRPr>
                  <a:solidFill>
                    <a:schemeClr val="tx1"/>
                  </a:solidFill>
                  <a:latin typeface="Arial" pitchFamily="34" charset="0"/>
                  <a:ea typeface="宋体" pitchFamily="2" charset="-122"/>
                </a:defRPr>
              </a:lvl2pPr>
              <a:lvl3pPr marL="1143000" indent="-228600">
                <a:defRPr>
                  <a:solidFill>
                    <a:schemeClr val="tx1"/>
                  </a:solidFill>
                  <a:latin typeface="Arial" pitchFamily="34" charset="0"/>
                  <a:ea typeface="宋体" pitchFamily="2" charset="-122"/>
                </a:defRPr>
              </a:lvl3pPr>
              <a:lvl4pPr marL="1600200" indent="-228600">
                <a:defRPr>
                  <a:solidFill>
                    <a:schemeClr val="tx1"/>
                  </a:solidFill>
                  <a:latin typeface="Arial" pitchFamily="34" charset="0"/>
                  <a:ea typeface="宋体" pitchFamily="2" charset="-122"/>
                </a:defRPr>
              </a:lvl4pPr>
              <a:lvl5pPr marL="2057400" indent="-22860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buFont typeface="Arial" pitchFamily="34" charset="0"/>
                <a:buNone/>
              </a:pPr>
              <a:r>
                <a:rPr lang="zh-CN" altLang="en-US" sz="1600" b="1">
                  <a:solidFill>
                    <a:schemeClr val="bg1"/>
                  </a:solidFill>
                  <a:ea typeface="黑体" pitchFamily="49" charset="-122"/>
                </a:rPr>
                <a:t>如何实现文件上传？</a:t>
              </a:r>
            </a:p>
          </p:txBody>
        </p:sp>
      </p:grpSp>
      <p:pic>
        <p:nvPicPr>
          <p:cNvPr id="5" name="Picture 8" descr="问小人"/>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23528" y="1415946"/>
            <a:ext cx="1881188" cy="19442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圆角矩形 6"/>
          <p:cNvSpPr/>
          <p:nvPr/>
        </p:nvSpPr>
        <p:spPr>
          <a:xfrm>
            <a:off x="2339753" y="2924943"/>
            <a:ext cx="5904656" cy="2520281"/>
          </a:xfrm>
          <a:prstGeom prst="roundRect">
            <a:avLst/>
          </a:prstGeom>
          <a:ln w="19050">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0" name="TextBox 9"/>
          <p:cNvSpPr txBox="1"/>
          <p:nvPr/>
        </p:nvSpPr>
        <p:spPr>
          <a:xfrm>
            <a:off x="2483768" y="2972559"/>
            <a:ext cx="5688632" cy="2400657"/>
          </a:xfrm>
          <a:prstGeom prst="rect">
            <a:avLst/>
          </a:prstGeom>
          <a:noFill/>
        </p:spPr>
        <p:txBody>
          <a:bodyPr wrap="square" rtlCol="0">
            <a:spAutoFit/>
          </a:bodyPr>
          <a:lstStyle/>
          <a:p>
            <a:pPr indent="457200">
              <a:lnSpc>
                <a:spcPct val="150000"/>
              </a:lnSpc>
            </a:pPr>
            <a:r>
              <a:rPr lang="zh-CN" altLang="en-US" sz="2000" dirty="0">
                <a:latin typeface="Times New Roman" panose="02020603050405020304" pitchFamily="18" charset="0"/>
                <a:cs typeface="Times New Roman" panose="02020603050405020304" pitchFamily="18" charset="0"/>
              </a:rPr>
              <a:t>要实现</a:t>
            </a:r>
            <a:r>
              <a:rPr lang="en-US" altLang="zh-CN" sz="2000" dirty="0">
                <a:latin typeface="Times New Roman" panose="02020603050405020304" pitchFamily="18" charset="0"/>
                <a:cs typeface="Times New Roman" panose="02020603050405020304" pitchFamily="18" charset="0"/>
              </a:rPr>
              <a:t>Web</a:t>
            </a:r>
            <a:r>
              <a:rPr lang="zh-CN" altLang="en-US" sz="2000" dirty="0">
                <a:latin typeface="Times New Roman" panose="02020603050405020304" pitchFamily="18" charset="0"/>
                <a:cs typeface="Times New Roman" panose="02020603050405020304" pitchFamily="18" charset="0"/>
              </a:rPr>
              <a:t>开发中的文件上传功能，通常需完成两步操作：一是在</a:t>
            </a:r>
            <a:r>
              <a:rPr lang="en-US" altLang="zh-CN" sz="2000" dirty="0">
                <a:latin typeface="Times New Roman" panose="02020603050405020304" pitchFamily="18" charset="0"/>
                <a:cs typeface="Times New Roman" panose="02020603050405020304" pitchFamily="18" charset="0"/>
              </a:rPr>
              <a:t>Web</a:t>
            </a:r>
            <a:r>
              <a:rPr lang="zh-CN" altLang="en-US" sz="2000" dirty="0">
                <a:latin typeface="Times New Roman" panose="02020603050405020304" pitchFamily="18" charset="0"/>
                <a:cs typeface="Times New Roman" panose="02020603050405020304" pitchFamily="18" charset="0"/>
              </a:rPr>
              <a:t>页面中添加上传输入项，二是在</a:t>
            </a:r>
            <a:r>
              <a:rPr lang="en-US" altLang="zh-CN" sz="2000" dirty="0">
                <a:latin typeface="Times New Roman" panose="02020603050405020304" pitchFamily="18" charset="0"/>
                <a:cs typeface="Times New Roman" panose="02020603050405020304" pitchFamily="18" charset="0"/>
              </a:rPr>
              <a:t>Servlet</a:t>
            </a:r>
            <a:r>
              <a:rPr lang="zh-CN" altLang="en-US" sz="2000" dirty="0">
                <a:latin typeface="Times New Roman" panose="02020603050405020304" pitchFamily="18" charset="0"/>
                <a:cs typeface="Times New Roman" panose="02020603050405020304" pitchFamily="18" charset="0"/>
              </a:rPr>
              <a:t>中读取上传文件的数据，并保存到本地硬盘中。接下来，本节中将对这两步操作内容进行详细讲解。</a:t>
            </a:r>
          </a:p>
        </p:txBody>
      </p:sp>
      <p:sp>
        <p:nvSpPr>
          <p:cNvPr id="8" name="标题 1"/>
          <p:cNvSpPr>
            <a:spLocks noChangeArrowheads="1"/>
          </p:cNvSpPr>
          <p:nvPr/>
        </p:nvSpPr>
        <p:spPr bwMode="auto">
          <a:xfrm>
            <a:off x="1643733" y="389681"/>
            <a:ext cx="4944491" cy="56162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pPr marL="571500" indent="-571500">
              <a:buFont typeface="Wingdings" pitchFamily="2" charset="2"/>
              <a:buNone/>
            </a:pPr>
            <a:r>
              <a:rPr lang="zh-CN" altLang="en-US" sz="3200" b="1" dirty="0" smtClean="0">
                <a:solidFill>
                  <a:srgbClr val="006BA9"/>
                </a:solidFill>
                <a:latin typeface="微软雅黑" pitchFamily="34" charset="-122"/>
                <a:ea typeface="微软雅黑" pitchFamily="34" charset="-122"/>
                <a:sym typeface="宋体" charset="-122"/>
              </a:rPr>
              <a:t>如何实现文件上传</a:t>
            </a:r>
            <a:endParaRPr lang="zh-CN" altLang="en-US" sz="3200" b="1" dirty="0">
              <a:solidFill>
                <a:srgbClr val="006BA9"/>
              </a:solidFill>
              <a:latin typeface="微软雅黑" pitchFamily="34" charset="-122"/>
              <a:ea typeface="微软雅黑" pitchFamily="34" charset="-122"/>
              <a:sym typeface="宋体" charset="-122"/>
            </a:endParaRPr>
          </a:p>
        </p:txBody>
      </p:sp>
    </p:spTree>
    <p:custDataLst>
      <p:tags r:id="rId1"/>
    </p:custDataLst>
    <p:extLst>
      <p:ext uri="{BB962C8B-B14F-4D97-AF65-F5344CB8AC3E}">
        <p14:creationId xmlns:p14="http://schemas.microsoft.com/office/powerpoint/2010/main" val="2736493520"/>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6" presetClass="emph" presetSubtype="0" fill="hold" nodeType="afterEffect">
                                  <p:stCondLst>
                                    <p:cond delay="0"/>
                                  </p:stCondLst>
                                  <p:childTnLst>
                                    <p:animEffect transition="out" filter="fade">
                                      <p:cBhvr>
                                        <p:cTn id="6" dur="500" tmFilter="0, 0; .2, .5; .8, .5; 1, 0"/>
                                        <p:tgtEl>
                                          <p:spTgt spid="5"/>
                                        </p:tgtEl>
                                      </p:cBhvr>
                                    </p:animEffect>
                                    <p:animScale>
                                      <p:cBhvr>
                                        <p:cTn id="7" dur="250" autoRev="1" fill="hold"/>
                                        <p:tgtEl>
                                          <p:spTgt spid="5"/>
                                        </p:tgtEl>
                                      </p:cBhvr>
                                      <p:by x="105000" y="105000"/>
                                    </p:animScale>
                                  </p:childTnLst>
                                </p:cTn>
                              </p:par>
                            </p:childTnLst>
                          </p:cTn>
                        </p:par>
                        <p:par>
                          <p:cTn id="8" fill="hold">
                            <p:stCondLst>
                              <p:cond delay="500"/>
                            </p:stCondLst>
                            <p:childTnLst>
                              <p:par>
                                <p:cTn id="9" presetID="10" presetClass="entr" presetSubtype="0" fill="hold" nodeType="afterEffect">
                                  <p:stCondLst>
                                    <p:cond delay="0"/>
                                  </p:stCondLst>
                                  <p:childTnLst>
                                    <p:set>
                                      <p:cBhvr>
                                        <p:cTn id="10" dur="1" fill="hold">
                                          <p:stCondLst>
                                            <p:cond delay="0"/>
                                          </p:stCondLst>
                                        </p:cTn>
                                        <p:tgtEl>
                                          <p:spTgt spid="2"/>
                                        </p:tgtEl>
                                        <p:attrNameLst>
                                          <p:attrName>style.visibility</p:attrName>
                                        </p:attrNameLst>
                                      </p:cBhvr>
                                      <p:to>
                                        <p:strVal val="visible"/>
                                      </p:to>
                                    </p:set>
                                    <p:animEffect transition="in" filter="fade">
                                      <p:cBhvr>
                                        <p:cTn id="11" dur="1000"/>
                                        <p:tgtEl>
                                          <p:spTgt spid="2"/>
                                        </p:tgtEl>
                                      </p:cBhvr>
                                    </p:animEffect>
                                  </p:childTnLst>
                                </p:cTn>
                              </p:par>
                            </p:childTnLst>
                          </p:cTn>
                        </p:par>
                        <p:par>
                          <p:cTn id="12" fill="hold">
                            <p:stCondLst>
                              <p:cond delay="1500"/>
                            </p:stCondLst>
                            <p:childTnLst>
                              <p:par>
                                <p:cTn id="13" presetID="32" presetClass="emph" presetSubtype="0" fill="hold" nodeType="afterEffect">
                                  <p:stCondLst>
                                    <p:cond delay="0"/>
                                  </p:stCondLst>
                                  <p:childTnLst>
                                    <p:animRot by="120000">
                                      <p:cBhvr>
                                        <p:cTn id="14" dur="50" fill="hold">
                                          <p:stCondLst>
                                            <p:cond delay="0"/>
                                          </p:stCondLst>
                                        </p:cTn>
                                        <p:tgtEl>
                                          <p:spTgt spid="2"/>
                                        </p:tgtEl>
                                        <p:attrNameLst>
                                          <p:attrName>r</p:attrName>
                                        </p:attrNameLst>
                                      </p:cBhvr>
                                    </p:animRot>
                                    <p:animRot by="-240000">
                                      <p:cBhvr>
                                        <p:cTn id="15" dur="100" fill="hold">
                                          <p:stCondLst>
                                            <p:cond delay="100"/>
                                          </p:stCondLst>
                                        </p:cTn>
                                        <p:tgtEl>
                                          <p:spTgt spid="2"/>
                                        </p:tgtEl>
                                        <p:attrNameLst>
                                          <p:attrName>r</p:attrName>
                                        </p:attrNameLst>
                                      </p:cBhvr>
                                    </p:animRot>
                                    <p:animRot by="240000">
                                      <p:cBhvr>
                                        <p:cTn id="16" dur="100" fill="hold">
                                          <p:stCondLst>
                                            <p:cond delay="200"/>
                                          </p:stCondLst>
                                        </p:cTn>
                                        <p:tgtEl>
                                          <p:spTgt spid="2"/>
                                        </p:tgtEl>
                                        <p:attrNameLst>
                                          <p:attrName>r</p:attrName>
                                        </p:attrNameLst>
                                      </p:cBhvr>
                                    </p:animRot>
                                    <p:animRot by="-240000">
                                      <p:cBhvr>
                                        <p:cTn id="17" dur="100" fill="hold">
                                          <p:stCondLst>
                                            <p:cond delay="300"/>
                                          </p:stCondLst>
                                        </p:cTn>
                                        <p:tgtEl>
                                          <p:spTgt spid="2"/>
                                        </p:tgtEl>
                                        <p:attrNameLst>
                                          <p:attrName>r</p:attrName>
                                        </p:attrNameLst>
                                      </p:cBhvr>
                                    </p:animRot>
                                    <p:animRot by="120000">
                                      <p:cBhvr>
                                        <p:cTn id="18" dur="100" fill="hold">
                                          <p:stCondLst>
                                            <p:cond delay="400"/>
                                          </p:stCondLst>
                                        </p:cTn>
                                        <p:tgtEl>
                                          <p:spTgt spid="2"/>
                                        </p:tgtEl>
                                        <p:attrNameLst>
                                          <p:attrName>r</p:attrName>
                                        </p:attrNameLst>
                                      </p:cBhvr>
                                    </p:animRot>
                                  </p:childTnLst>
                                </p:cTn>
                              </p:par>
                            </p:childTnLst>
                          </p:cTn>
                        </p:par>
                        <p:par>
                          <p:cTn id="19" fill="hold">
                            <p:stCondLst>
                              <p:cond delay="2000"/>
                            </p:stCondLst>
                            <p:childTnLst>
                              <p:par>
                                <p:cTn id="20" presetID="22" presetClass="entr" presetSubtype="8" fill="hold" grpId="0" nodeType="afterEffect">
                                  <p:stCondLst>
                                    <p:cond delay="0"/>
                                  </p:stCondLst>
                                  <p:childTnLst>
                                    <p:set>
                                      <p:cBhvr>
                                        <p:cTn id="21" dur="1" fill="hold">
                                          <p:stCondLst>
                                            <p:cond delay="0"/>
                                          </p:stCondLst>
                                        </p:cTn>
                                        <p:tgtEl>
                                          <p:spTgt spid="10"/>
                                        </p:tgtEl>
                                        <p:attrNameLst>
                                          <p:attrName>style.visibility</p:attrName>
                                        </p:attrNameLst>
                                      </p:cBhvr>
                                      <p:to>
                                        <p:strVal val="visible"/>
                                      </p:to>
                                    </p:set>
                                    <p:animEffect transition="in" filter="wipe(left)">
                                      <p:cBhvr>
                                        <p:cTn id="22" dur="500"/>
                                        <p:tgtEl>
                                          <p:spTgt spid="10"/>
                                        </p:tgtEl>
                                      </p:cBhvr>
                                    </p:animEffect>
                                  </p:childTnLst>
                                </p:cTn>
                              </p:par>
                              <p:par>
                                <p:cTn id="23" presetID="22" presetClass="entr" presetSubtype="8" fill="hold" grpId="0" nodeType="withEffect">
                                  <p:stCondLst>
                                    <p:cond delay="0"/>
                                  </p:stCondLst>
                                  <p:childTnLst>
                                    <p:set>
                                      <p:cBhvr>
                                        <p:cTn id="24" dur="1" fill="hold">
                                          <p:stCondLst>
                                            <p:cond delay="0"/>
                                          </p:stCondLst>
                                        </p:cTn>
                                        <p:tgtEl>
                                          <p:spTgt spid="7"/>
                                        </p:tgtEl>
                                        <p:attrNameLst>
                                          <p:attrName>style.visibility</p:attrName>
                                        </p:attrNameLst>
                                      </p:cBhvr>
                                      <p:to>
                                        <p:strVal val="visible"/>
                                      </p:to>
                                    </p:set>
                                    <p:animEffect transition="in" filter="wipe(left)">
                                      <p:cBhvr>
                                        <p:cTn id="25"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10"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内容占位符 2"/>
          <p:cNvSpPr txBox="1">
            <a:spLocks/>
          </p:cNvSpPr>
          <p:nvPr/>
        </p:nvSpPr>
        <p:spPr bwMode="auto">
          <a:xfrm>
            <a:off x="467544" y="1268760"/>
            <a:ext cx="8136904" cy="2664296"/>
          </a:xfrm>
          <a:prstGeom prst="rect">
            <a:avLst/>
          </a:prstGeom>
          <a:solidFill>
            <a:schemeClr val="bg1"/>
          </a:solidFill>
          <a:ln w="19050">
            <a:solidFill>
              <a:srgbClr val="4F81BD"/>
            </a:solidFill>
          </a:ln>
          <a:extLst/>
        </p:spPr>
        <p:txBody>
          <a:bodyPr vert="horz" wrap="square" lIns="91440" tIns="45720" rIns="91440" bIns="45720" numCol="1" anchor="t" anchorCtr="0" compatLnSpc="1">
            <a:prstTxWarp prst="textNoShape">
              <a:avLst/>
            </a:prstTxWarp>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285750" lvl="1">
              <a:lnSpc>
                <a:spcPts val="2500"/>
              </a:lnSpc>
              <a:spcBef>
                <a:spcPts val="0"/>
              </a:spcBef>
              <a:buFont typeface="Calibri" panose="020F0502020204030204" pitchFamily="34" charset="0"/>
              <a:buChar char="–"/>
              <a:defRPr/>
            </a:pPr>
            <a:r>
              <a:rPr lang="zh-CN" altLang="zh-CN" sz="1600" dirty="0" smtClean="0">
                <a:latin typeface="+mn-ea"/>
              </a:rPr>
              <a:t>在</a:t>
            </a:r>
            <a:r>
              <a:rPr lang="en-US" altLang="zh-CN" sz="1600" dirty="0" smtClean="0">
                <a:latin typeface="+mn-ea"/>
              </a:rPr>
              <a:t>Web</a:t>
            </a:r>
            <a:r>
              <a:rPr lang="zh-CN" altLang="zh-CN" sz="1600" dirty="0" smtClean="0">
                <a:latin typeface="+mn-ea"/>
              </a:rPr>
              <a:t>应用中，由于大多数文件的上传都是通过表单的形式提交给服务器的，因此，要想在程序中实现文件上传的功能，首先得创建一个用于提交上传文件的表单页面。</a:t>
            </a:r>
            <a:r>
              <a:rPr lang="zh-CN" altLang="en-US" sz="1600" dirty="0" smtClean="0">
                <a:latin typeface="+mn-ea"/>
              </a:rPr>
              <a:t>其示例代码如下：</a:t>
            </a:r>
            <a:endParaRPr lang="en-US" altLang="zh-CN" sz="1600" dirty="0" smtClean="0">
              <a:latin typeface="+mn-ea"/>
            </a:endParaRPr>
          </a:p>
        </p:txBody>
      </p:sp>
      <p:sp>
        <p:nvSpPr>
          <p:cNvPr id="7" name="矩形 6"/>
          <p:cNvSpPr/>
          <p:nvPr/>
        </p:nvSpPr>
        <p:spPr>
          <a:xfrm>
            <a:off x="1187624" y="4113654"/>
            <a:ext cx="6912768" cy="2123658"/>
          </a:xfrm>
          <a:prstGeom prst="rect">
            <a:avLst/>
          </a:prstGeom>
          <a:solidFill>
            <a:srgbClr val="E7F4FF"/>
          </a:solidFill>
          <a:ln w="19050">
            <a:solidFill>
              <a:srgbClr val="4F81BD"/>
            </a:solidFill>
            <a:prstDash val="solid"/>
          </a:ln>
        </p:spPr>
        <p:txBody>
          <a:bodyPr wrap="square">
            <a:spAutoFit/>
          </a:bodyPr>
          <a:lstStyle/>
          <a:p>
            <a:pPr>
              <a:lnSpc>
                <a:spcPct val="150000"/>
              </a:lnSpc>
              <a:defRPr/>
            </a:pPr>
            <a:r>
              <a:rPr lang="zh-CN" altLang="en-US" sz="2400" dirty="0">
                <a:solidFill>
                  <a:srgbClr val="FF0000"/>
                </a:solidFill>
                <a:latin typeface="黑体" panose="02010609060101010101" pitchFamily="49" charset="-122"/>
                <a:ea typeface="黑体" panose="02010609060101010101" pitchFamily="49" charset="-122"/>
              </a:rPr>
              <a:t>注意</a:t>
            </a:r>
            <a:r>
              <a:rPr lang="zh-CN" altLang="en-US" sz="2400" dirty="0" smtClean="0">
                <a:solidFill>
                  <a:srgbClr val="FF0000"/>
                </a:solidFill>
                <a:latin typeface="黑体" panose="02010609060101010101" pitchFamily="49" charset="-122"/>
                <a:ea typeface="黑体" panose="02010609060101010101" pitchFamily="49" charset="-122"/>
              </a:rPr>
              <a:t>：</a:t>
            </a:r>
            <a:r>
              <a:rPr lang="en-US" altLang="zh-CN" sz="1600" dirty="0" smtClean="0"/>
              <a:t>&lt;</a:t>
            </a:r>
            <a:r>
              <a:rPr lang="en-US" altLang="zh-CN" sz="1600" dirty="0"/>
              <a:t>input type="file"&gt;</a:t>
            </a:r>
            <a:r>
              <a:rPr lang="zh-CN" altLang="zh-CN" sz="1600" dirty="0"/>
              <a:t>标签的使用需要注意以下两点：</a:t>
            </a:r>
          </a:p>
          <a:p>
            <a:pPr marL="285750" lvl="0" indent="-285750">
              <a:lnSpc>
                <a:spcPct val="150000"/>
              </a:lnSpc>
              <a:buFont typeface="Arial" panose="020B0604020202020204" pitchFamily="34" charset="0"/>
              <a:buChar char="•"/>
            </a:pPr>
            <a:r>
              <a:rPr lang="zh-CN" altLang="zh-CN" sz="1600" dirty="0"/>
              <a:t>必须要设置</a:t>
            </a:r>
            <a:r>
              <a:rPr lang="en-US" altLang="zh-CN" sz="1600" dirty="0"/>
              <a:t>input</a:t>
            </a:r>
            <a:r>
              <a:rPr lang="zh-CN" altLang="zh-CN" sz="1600" dirty="0"/>
              <a:t>输入项的</a:t>
            </a:r>
            <a:r>
              <a:rPr lang="en-US" altLang="zh-CN" sz="1600" dirty="0"/>
              <a:t>name</a:t>
            </a:r>
            <a:r>
              <a:rPr lang="zh-CN" altLang="zh-CN" sz="1600" dirty="0"/>
              <a:t>属性，否则浏览器将不会发送上传文件的数据。</a:t>
            </a:r>
          </a:p>
          <a:p>
            <a:pPr marL="285750" lvl="0" indent="-285750">
              <a:lnSpc>
                <a:spcPct val="150000"/>
              </a:lnSpc>
              <a:buFont typeface="Arial" panose="020B0604020202020204" pitchFamily="34" charset="0"/>
              <a:buChar char="•"/>
            </a:pPr>
            <a:r>
              <a:rPr lang="zh-CN" altLang="zh-CN" sz="1600" dirty="0"/>
              <a:t>必须把将表单页面的</a:t>
            </a:r>
            <a:r>
              <a:rPr lang="en-US" altLang="zh-CN" sz="1600" dirty="0"/>
              <a:t>method</a:t>
            </a:r>
            <a:r>
              <a:rPr lang="zh-CN" altLang="zh-CN" sz="1600" dirty="0"/>
              <a:t>属性设置为</a:t>
            </a:r>
            <a:r>
              <a:rPr lang="en-US" altLang="zh-CN" sz="1600" dirty="0"/>
              <a:t>post</a:t>
            </a:r>
            <a:r>
              <a:rPr lang="zh-CN" altLang="zh-CN" sz="1600" dirty="0"/>
              <a:t>方式，</a:t>
            </a:r>
            <a:r>
              <a:rPr lang="en-US" altLang="zh-CN" sz="1600" dirty="0" err="1"/>
              <a:t>enctype</a:t>
            </a:r>
            <a:r>
              <a:rPr lang="zh-CN" altLang="zh-CN" sz="1600" dirty="0"/>
              <a:t>属性设置为“</a:t>
            </a:r>
            <a:r>
              <a:rPr lang="en-US" altLang="zh-CN" sz="1600" dirty="0"/>
              <a:t>multipart/form-data</a:t>
            </a:r>
            <a:r>
              <a:rPr lang="zh-CN" altLang="zh-CN" sz="1600" dirty="0"/>
              <a:t>”类型</a:t>
            </a:r>
            <a:r>
              <a:rPr lang="zh-CN" altLang="zh-CN" sz="1600" dirty="0" smtClean="0"/>
              <a:t>。</a:t>
            </a:r>
            <a:endParaRPr lang="zh-CN" altLang="zh-CN" sz="1600" dirty="0"/>
          </a:p>
        </p:txBody>
      </p:sp>
      <p:sp>
        <p:nvSpPr>
          <p:cNvPr id="8" name="矩形 7"/>
          <p:cNvSpPr>
            <a:spLocks noChangeArrowheads="1"/>
          </p:cNvSpPr>
          <p:nvPr/>
        </p:nvSpPr>
        <p:spPr bwMode="auto">
          <a:xfrm>
            <a:off x="539552" y="2420888"/>
            <a:ext cx="8042275" cy="1368152"/>
          </a:xfrm>
          <a:prstGeom prst="rect">
            <a:avLst/>
          </a:prstGeom>
          <a:solidFill>
            <a:srgbClr val="E7F4FF"/>
          </a:solidFill>
          <a:ln>
            <a:noFill/>
          </a:ln>
          <a:extLst>
            <a:ext uri="{91240B29-F687-4F45-9708-019B960494DF}">
              <a14:hiddenLine xmlns:a14="http://schemas.microsoft.com/office/drawing/2010/main" w="28575" algn="ctr">
                <a:solidFill>
                  <a:srgbClr val="000000"/>
                </a:solidFill>
                <a:round/>
                <a:headEnd/>
                <a:tailEnd/>
              </a14:hiddenLine>
            </a:ext>
          </a:extLst>
        </p:spPr>
        <p:txBody>
          <a:bodyPr/>
          <a:lstStyle/>
          <a:p>
            <a:pPr>
              <a:lnSpc>
                <a:spcPct val="150000"/>
              </a:lnSpc>
            </a:pPr>
            <a:r>
              <a:rPr lang="en-US" altLang="zh-CN" dirty="0" smtClean="0"/>
              <a:t>     &lt;form </a:t>
            </a:r>
            <a:r>
              <a:rPr lang="en-US" altLang="zh-CN" dirty="0" err="1" smtClean="0"/>
              <a:t>enctype</a:t>
            </a:r>
            <a:r>
              <a:rPr lang="en-US" altLang="zh-CN" dirty="0" smtClean="0"/>
              <a:t>=“multipart/form-data” method=“post”&gt;</a:t>
            </a:r>
          </a:p>
          <a:p>
            <a:pPr>
              <a:lnSpc>
                <a:spcPct val="150000"/>
              </a:lnSpc>
            </a:pPr>
            <a:r>
              <a:rPr lang="en-US" altLang="zh-CN" dirty="0" smtClean="0"/>
              <a:t>          </a:t>
            </a:r>
            <a:r>
              <a:rPr lang="zh-CN" altLang="en-US" dirty="0" smtClean="0"/>
              <a:t>选择上传文件：</a:t>
            </a:r>
            <a:r>
              <a:rPr lang="en-US" altLang="zh-CN" dirty="0" smtClean="0"/>
              <a:t>&lt;input type=“file” name=“</a:t>
            </a:r>
            <a:r>
              <a:rPr lang="en-US" altLang="zh-CN" dirty="0" err="1" smtClean="0"/>
              <a:t>myfile</a:t>
            </a:r>
            <a:r>
              <a:rPr lang="en-US" altLang="zh-CN" dirty="0" smtClean="0"/>
              <a:t>”/&gt;&lt;</a:t>
            </a:r>
            <a:r>
              <a:rPr lang="en-US" altLang="zh-CN" dirty="0" err="1" smtClean="0"/>
              <a:t>br</a:t>
            </a:r>
            <a:r>
              <a:rPr lang="en-US" altLang="zh-CN" dirty="0"/>
              <a:t> </a:t>
            </a:r>
            <a:r>
              <a:rPr lang="en-US" altLang="zh-CN" dirty="0" smtClean="0"/>
              <a:t>/&gt;</a:t>
            </a:r>
            <a:endParaRPr lang="en-US" altLang="zh-CN" dirty="0"/>
          </a:p>
          <a:p>
            <a:pPr>
              <a:lnSpc>
                <a:spcPct val="150000"/>
              </a:lnSpc>
            </a:pPr>
            <a:r>
              <a:rPr lang="en-US" altLang="zh-CN" dirty="0" smtClean="0"/>
              <a:t>    &lt;/form&gt;</a:t>
            </a:r>
            <a:endParaRPr lang="zh-CN" altLang="zh-CN" dirty="0"/>
          </a:p>
        </p:txBody>
      </p:sp>
      <p:sp>
        <p:nvSpPr>
          <p:cNvPr id="5" name="标题 1"/>
          <p:cNvSpPr>
            <a:spLocks noChangeArrowheads="1"/>
          </p:cNvSpPr>
          <p:nvPr/>
        </p:nvSpPr>
        <p:spPr bwMode="auto">
          <a:xfrm>
            <a:off x="1643733" y="389681"/>
            <a:ext cx="4944491" cy="56162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pPr marL="571500" indent="-571500">
              <a:buFont typeface="Wingdings" pitchFamily="2" charset="2"/>
              <a:buNone/>
            </a:pPr>
            <a:r>
              <a:rPr lang="zh-CN" altLang="en-US" sz="3200" b="1" dirty="0" smtClean="0">
                <a:solidFill>
                  <a:srgbClr val="006BA9"/>
                </a:solidFill>
                <a:latin typeface="微软雅黑" pitchFamily="34" charset="-122"/>
                <a:ea typeface="微软雅黑" pitchFamily="34" charset="-122"/>
                <a:sym typeface="宋体" charset="-122"/>
              </a:rPr>
              <a:t>如何实现文件上传</a:t>
            </a:r>
            <a:endParaRPr lang="zh-CN" altLang="en-US" sz="3200" b="1" dirty="0">
              <a:solidFill>
                <a:srgbClr val="006BA9"/>
              </a:solidFill>
              <a:latin typeface="微软雅黑" pitchFamily="34" charset="-122"/>
              <a:ea typeface="微软雅黑" pitchFamily="34" charset="-122"/>
              <a:sym typeface="宋体" charset="-122"/>
            </a:endParaRPr>
          </a:p>
        </p:txBody>
      </p:sp>
    </p:spTree>
    <p:custDataLst>
      <p:tags r:id="rId1"/>
    </p:custDataLst>
    <p:extLst>
      <p:ext uri="{BB962C8B-B14F-4D97-AF65-F5344CB8AC3E}">
        <p14:creationId xmlns:p14="http://schemas.microsoft.com/office/powerpoint/2010/main" val="219755867"/>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left)">
                                      <p:cBhvr>
                                        <p:cTn id="7" dur="500"/>
                                        <p:tgtEl>
                                          <p:spTgt spid="4"/>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wipe(left)">
                                      <p:cBhvr>
                                        <p:cTn id="11" dur="500"/>
                                        <p:tgtEl>
                                          <p:spTgt spid="8"/>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grpId="0" nodeType="clickEffect">
                                  <p:stCondLst>
                                    <p:cond delay="0"/>
                                  </p:stCondLst>
                                  <p:childTnLst>
                                    <p:set>
                                      <p:cBhvr>
                                        <p:cTn id="15" dur="1" fill="hold">
                                          <p:stCondLst>
                                            <p:cond delay="0"/>
                                          </p:stCondLst>
                                        </p:cTn>
                                        <p:tgtEl>
                                          <p:spTgt spid="7"/>
                                        </p:tgtEl>
                                        <p:attrNameLst>
                                          <p:attrName>style.visibility</p:attrName>
                                        </p:attrNameLst>
                                      </p:cBhvr>
                                      <p:to>
                                        <p:strVal val="visible"/>
                                      </p:to>
                                    </p:set>
                                    <p:animEffect transition="in" filter="wipe(left)">
                                      <p:cBhvr>
                                        <p:cTn id="16"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7" grpId="0" animBg="1"/>
      <p:bldP spid="8"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741738" y="3757613"/>
            <a:ext cx="4821237" cy="26638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00ACE6"/>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矩形标注 2"/>
          <p:cNvSpPr>
            <a:spLocks noChangeArrowheads="1"/>
          </p:cNvSpPr>
          <p:nvPr/>
        </p:nvSpPr>
        <p:spPr bwMode="auto">
          <a:xfrm>
            <a:off x="3813175" y="1201738"/>
            <a:ext cx="4749800" cy="2093912"/>
          </a:xfrm>
          <a:prstGeom prst="wedgeRectCallout">
            <a:avLst>
              <a:gd name="adj1" fmla="val -58366"/>
              <a:gd name="adj2" fmla="val 42472"/>
            </a:avLst>
          </a:prstGeom>
          <a:solidFill>
            <a:srgbClr val="E7F4FF"/>
          </a:solidFill>
          <a:ln w="22225" algn="ctr">
            <a:solidFill>
              <a:srgbClr val="4F81BD"/>
            </a:solidFill>
            <a:round/>
            <a:headEnd/>
            <a:tailEnd/>
          </a:ln>
          <a:effectLst/>
        </p:spPr>
        <p:txBody>
          <a:bodyPr/>
          <a:lstStyle>
            <a:lvl1pPr>
              <a:defRPr>
                <a:solidFill>
                  <a:schemeClr val="tx1"/>
                </a:solidFill>
                <a:latin typeface="Arial" charset="0"/>
                <a:ea typeface="宋体" pitchFamily="2" charset="-122"/>
              </a:defRPr>
            </a:lvl1pPr>
            <a:lvl2pPr marL="742950" indent="-285750">
              <a:defRPr>
                <a:solidFill>
                  <a:schemeClr val="tx1"/>
                </a:solidFill>
                <a:latin typeface="Arial" charset="0"/>
                <a:ea typeface="宋体" pitchFamily="2" charset="-122"/>
              </a:defRPr>
            </a:lvl2pPr>
            <a:lvl3pPr marL="1143000" indent="-228600">
              <a:defRPr>
                <a:solidFill>
                  <a:schemeClr val="tx1"/>
                </a:solidFill>
                <a:latin typeface="Arial" charset="0"/>
                <a:ea typeface="宋体" pitchFamily="2" charset="-122"/>
              </a:defRPr>
            </a:lvl3pPr>
            <a:lvl4pPr marL="1600200" indent="-228600">
              <a:defRPr>
                <a:solidFill>
                  <a:schemeClr val="tx1"/>
                </a:solidFill>
                <a:latin typeface="Arial" charset="0"/>
                <a:ea typeface="宋体" pitchFamily="2" charset="-122"/>
              </a:defRPr>
            </a:lvl4pPr>
            <a:lvl5pPr marL="2057400" indent="-22860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nSpc>
                <a:spcPct val="150000"/>
              </a:lnSpc>
              <a:defRPr/>
            </a:pPr>
            <a:r>
              <a:rPr lang="zh-CN" altLang="en-US" sz="1600" dirty="0" smtClean="0"/>
              <a:t>      </a:t>
            </a:r>
            <a:r>
              <a:rPr lang="zh-CN" altLang="en-US" dirty="0">
                <a:latin typeface="+mn-ea"/>
                <a:ea typeface="+mn-ea"/>
              </a:rPr>
              <a:t>由于</a:t>
            </a:r>
            <a:r>
              <a:rPr lang="zh-CN" altLang="zh-CN" dirty="0">
                <a:latin typeface="+mn-ea"/>
                <a:ea typeface="+mn-ea"/>
              </a:rPr>
              <a:t>请求正文</a:t>
            </a:r>
            <a:r>
              <a:rPr lang="zh-CN" altLang="en-US" dirty="0">
                <a:latin typeface="+mn-ea"/>
                <a:ea typeface="+mn-ea"/>
              </a:rPr>
              <a:t>由</a:t>
            </a:r>
            <a:r>
              <a:rPr lang="zh-CN" altLang="zh-CN" dirty="0">
                <a:latin typeface="+mn-ea"/>
                <a:ea typeface="+mn-ea"/>
              </a:rPr>
              <a:t>多个部分</a:t>
            </a:r>
            <a:r>
              <a:rPr lang="zh-CN" altLang="en-US" dirty="0">
                <a:latin typeface="+mn-ea"/>
                <a:ea typeface="+mn-ea"/>
              </a:rPr>
              <a:t>组成</a:t>
            </a:r>
            <a:r>
              <a:rPr lang="zh-CN" altLang="zh-CN" dirty="0">
                <a:latin typeface="+mn-ea"/>
                <a:ea typeface="+mn-ea"/>
              </a:rPr>
              <a:t>，解析这部分内容比较麻烦。为此，</a:t>
            </a:r>
            <a:r>
              <a:rPr lang="en-US" altLang="zh-CN" dirty="0">
                <a:latin typeface="+mn-ea"/>
                <a:ea typeface="+mn-ea"/>
              </a:rPr>
              <a:t>Apache</a:t>
            </a:r>
            <a:r>
              <a:rPr lang="zh-CN" altLang="zh-CN" dirty="0">
                <a:latin typeface="+mn-ea"/>
                <a:ea typeface="+mn-ea"/>
              </a:rPr>
              <a:t>组织提供了一个开源组件</a:t>
            </a:r>
            <a:r>
              <a:rPr lang="en-US" altLang="zh-CN" dirty="0">
                <a:latin typeface="+mn-ea"/>
                <a:ea typeface="+mn-ea"/>
              </a:rPr>
              <a:t>Commons-</a:t>
            </a:r>
            <a:r>
              <a:rPr lang="en-US" altLang="zh-CN" dirty="0" err="1">
                <a:latin typeface="+mn-ea"/>
                <a:ea typeface="+mn-ea"/>
              </a:rPr>
              <a:t>FileUpload</a:t>
            </a:r>
            <a:r>
              <a:rPr lang="zh-CN" altLang="en-US" dirty="0">
                <a:latin typeface="+mn-ea"/>
                <a:ea typeface="+mn-ea"/>
              </a:rPr>
              <a:t>。</a:t>
            </a:r>
            <a:r>
              <a:rPr lang="zh-CN" altLang="zh-CN" dirty="0">
                <a:latin typeface="+mn-ea"/>
                <a:ea typeface="+mn-ea"/>
              </a:rPr>
              <a:t>打开</a:t>
            </a:r>
            <a:r>
              <a:rPr lang="en-US" altLang="zh-CN" dirty="0">
                <a:latin typeface="+mn-ea"/>
                <a:ea typeface="+mn-ea"/>
              </a:rPr>
              <a:t>FileUpload</a:t>
            </a:r>
            <a:r>
              <a:rPr lang="zh-CN" altLang="zh-CN" dirty="0">
                <a:latin typeface="+mn-ea"/>
                <a:ea typeface="+mn-ea"/>
              </a:rPr>
              <a:t>组件的帮助文档，</a:t>
            </a:r>
            <a:r>
              <a:rPr lang="zh-CN" altLang="en-US" dirty="0">
                <a:latin typeface="+mn-ea"/>
                <a:ea typeface="+mn-ea"/>
              </a:rPr>
              <a:t>可以</a:t>
            </a:r>
            <a:r>
              <a:rPr lang="zh-CN" altLang="zh-CN" dirty="0">
                <a:latin typeface="+mn-ea"/>
                <a:ea typeface="+mn-ea"/>
              </a:rPr>
              <a:t>查看其实现方式。</a:t>
            </a:r>
          </a:p>
          <a:p>
            <a:pPr>
              <a:defRPr/>
            </a:pPr>
            <a:endParaRPr lang="zh-CN" altLang="zh-CN" sz="1600" dirty="0" smtClean="0"/>
          </a:p>
        </p:txBody>
      </p:sp>
      <p:pic>
        <p:nvPicPr>
          <p:cNvPr id="4" name="Picture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767388" y="3359150"/>
            <a:ext cx="401637" cy="3746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00ACE6"/>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 name="图片 4"/>
          <p:cNvPicPr>
            <a:picLocks noChangeAspect="1"/>
          </p:cNvPicPr>
          <p:nvPr/>
        </p:nvPicPr>
        <p:blipFill>
          <a:blip r:embed="rId6">
            <a:extLst>
              <a:ext uri="{28A0092B-C50C-407E-A947-70E740481C1C}">
                <a14:useLocalDpi xmlns:a14="http://schemas.microsoft.com/office/drawing/2010/main" val="0"/>
              </a:ext>
            </a:extLst>
          </a:blip>
          <a:srcRect/>
          <a:stretch>
            <a:fillRect/>
          </a:stretch>
        </p:blipFill>
        <p:spPr bwMode="auto">
          <a:xfrm>
            <a:off x="547688" y="2544763"/>
            <a:ext cx="2447925" cy="3457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标题 1"/>
          <p:cNvSpPr>
            <a:spLocks noChangeArrowheads="1"/>
          </p:cNvSpPr>
          <p:nvPr/>
        </p:nvSpPr>
        <p:spPr bwMode="auto">
          <a:xfrm>
            <a:off x="1643733" y="389681"/>
            <a:ext cx="4944491" cy="56162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pPr marL="571500" indent="-571500">
              <a:buFont typeface="Wingdings" pitchFamily="2" charset="2"/>
              <a:buNone/>
            </a:pPr>
            <a:r>
              <a:rPr lang="zh-CN" altLang="en-US" sz="3200" b="1" dirty="0" smtClean="0">
                <a:solidFill>
                  <a:srgbClr val="006BA9"/>
                </a:solidFill>
                <a:latin typeface="微软雅黑" pitchFamily="34" charset="-122"/>
                <a:ea typeface="微软雅黑" pitchFamily="34" charset="-122"/>
                <a:sym typeface="宋体" charset="-122"/>
              </a:rPr>
              <a:t>如何实现文件上传</a:t>
            </a:r>
            <a:endParaRPr lang="zh-CN" altLang="en-US" sz="3200" b="1" dirty="0">
              <a:solidFill>
                <a:srgbClr val="006BA9"/>
              </a:solidFill>
              <a:latin typeface="微软雅黑" pitchFamily="34" charset="-122"/>
              <a:ea typeface="微软雅黑" pitchFamily="34" charset="-122"/>
              <a:sym typeface="宋体" charset="-122"/>
            </a:endParaRPr>
          </a:p>
        </p:txBody>
      </p:sp>
    </p:spTree>
    <p:custDataLst>
      <p:tags r:id="rId1"/>
    </p:custDataLst>
    <p:extLst>
      <p:ext uri="{BB962C8B-B14F-4D97-AF65-F5344CB8AC3E}">
        <p14:creationId xmlns:p14="http://schemas.microsoft.com/office/powerpoint/2010/main" val="3981415341"/>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left)">
                                      <p:cBhvr>
                                        <p:cTn id="7" dur="500"/>
                                        <p:tgtEl>
                                          <p:spTgt spid="3"/>
                                        </p:tgtEl>
                                      </p:cBhvr>
                                    </p:animEffect>
                                  </p:childTnLst>
                                </p:cTn>
                              </p:par>
                              <p:par>
                                <p:cTn id="8" presetID="26" presetClass="emph" presetSubtype="0" fill="hold" nodeType="withEffect">
                                  <p:stCondLst>
                                    <p:cond delay="0"/>
                                  </p:stCondLst>
                                  <p:childTnLst>
                                    <p:animEffect transition="out" filter="fade">
                                      <p:cBhvr>
                                        <p:cTn id="9" dur="500" tmFilter="0, 0; .2, .5; .8, .5; 1, 0"/>
                                        <p:tgtEl>
                                          <p:spTgt spid="5"/>
                                        </p:tgtEl>
                                      </p:cBhvr>
                                    </p:animEffect>
                                    <p:animScale>
                                      <p:cBhvr>
                                        <p:cTn id="10" dur="250" autoRev="1" fill="hold"/>
                                        <p:tgtEl>
                                          <p:spTgt spid="5"/>
                                        </p:tgtEl>
                                      </p:cBhvr>
                                      <p:by x="105000" y="105000"/>
                                    </p:animScale>
                                  </p:childTnLst>
                                </p:cTn>
                              </p:par>
                            </p:childTnLst>
                          </p:cTn>
                        </p:par>
                        <p:par>
                          <p:cTn id="11" fill="hold">
                            <p:stCondLst>
                              <p:cond delay="500"/>
                            </p:stCondLst>
                            <p:childTnLst>
                              <p:par>
                                <p:cTn id="12" presetID="22" presetClass="entr" presetSubtype="1" fill="hold" nodeType="afterEffect">
                                  <p:stCondLst>
                                    <p:cond delay="0"/>
                                  </p:stCondLst>
                                  <p:childTnLst>
                                    <p:set>
                                      <p:cBhvr>
                                        <p:cTn id="13" dur="1" fill="hold">
                                          <p:stCondLst>
                                            <p:cond delay="0"/>
                                          </p:stCondLst>
                                        </p:cTn>
                                        <p:tgtEl>
                                          <p:spTgt spid="4"/>
                                        </p:tgtEl>
                                        <p:attrNameLst>
                                          <p:attrName>style.visibility</p:attrName>
                                        </p:attrNameLst>
                                      </p:cBhvr>
                                      <p:to>
                                        <p:strVal val="visible"/>
                                      </p:to>
                                    </p:set>
                                    <p:animEffect transition="in" filter="wipe(up)">
                                      <p:cBhvr>
                                        <p:cTn id="14" dur="500"/>
                                        <p:tgtEl>
                                          <p:spTgt spid="4"/>
                                        </p:tgtEl>
                                      </p:cBhvr>
                                    </p:animEffect>
                                  </p:childTnLst>
                                </p:cTn>
                              </p:par>
                            </p:childTnLst>
                          </p:cTn>
                        </p:par>
                        <p:par>
                          <p:cTn id="15" fill="hold">
                            <p:stCondLst>
                              <p:cond delay="1000"/>
                            </p:stCondLst>
                            <p:childTnLst>
                              <p:par>
                                <p:cTn id="16" presetID="22" presetClass="entr" presetSubtype="1" fill="hold" nodeType="afterEffect">
                                  <p:stCondLst>
                                    <p:cond delay="0"/>
                                  </p:stCondLst>
                                  <p:childTnLst>
                                    <p:set>
                                      <p:cBhvr>
                                        <p:cTn id="17" dur="1" fill="hold">
                                          <p:stCondLst>
                                            <p:cond delay="0"/>
                                          </p:stCondLst>
                                        </p:cTn>
                                        <p:tgtEl>
                                          <p:spTgt spid="2"/>
                                        </p:tgtEl>
                                        <p:attrNameLst>
                                          <p:attrName>style.visibility</p:attrName>
                                        </p:attrNameLst>
                                      </p:cBhvr>
                                      <p:to>
                                        <p:strVal val="visible"/>
                                      </p:to>
                                    </p:set>
                                    <p:animEffect transition="in" filter="wipe(up)">
                                      <p:cBhvr>
                                        <p:cTn id="18"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2020888" y="1184275"/>
            <a:ext cx="6456362" cy="1162050"/>
          </a:xfrm>
          <a:prstGeom prst="rect">
            <a:avLst/>
          </a:prstGeom>
        </p:spPr>
        <p:txBody>
          <a:bodyPr>
            <a:spAutoFit/>
          </a:bodyPr>
          <a:lstStyle/>
          <a:p>
            <a:pPr>
              <a:lnSpc>
                <a:spcPct val="200000"/>
              </a:lnSpc>
              <a:defRPr/>
            </a:pPr>
            <a:r>
              <a:rPr lang="en-US" altLang="zh-CN" sz="2000" dirty="0">
                <a:solidFill>
                  <a:srgbClr val="009ED6"/>
                </a:solidFill>
                <a:latin typeface="+mn-ea"/>
                <a:ea typeface="+mn-ea"/>
              </a:rPr>
              <a:t>   </a:t>
            </a:r>
            <a:r>
              <a:rPr lang="en-US" altLang="zh-CN" b="1" dirty="0">
                <a:solidFill>
                  <a:srgbClr val="009ED6"/>
                </a:solidFill>
              </a:rPr>
              <a:t> </a:t>
            </a:r>
            <a:r>
              <a:rPr lang="en-US" altLang="zh-CN" dirty="0">
                <a:latin typeface="+mn-ea"/>
              </a:rPr>
              <a:t>FileUpload</a:t>
            </a:r>
            <a:r>
              <a:rPr lang="zh-CN" altLang="zh-CN" dirty="0">
                <a:latin typeface="+mn-ea"/>
              </a:rPr>
              <a:t>组件也是通过</a:t>
            </a:r>
            <a:r>
              <a:rPr lang="en-US" altLang="zh-CN" dirty="0">
                <a:latin typeface="+mn-ea"/>
              </a:rPr>
              <a:t>Servlet</a:t>
            </a:r>
            <a:r>
              <a:rPr lang="zh-CN" altLang="zh-CN" dirty="0">
                <a:latin typeface="+mn-ea"/>
              </a:rPr>
              <a:t>来实现文件上传功能的。其工作流程</a:t>
            </a:r>
            <a:r>
              <a:rPr lang="zh-CN" altLang="en-US" dirty="0">
                <a:latin typeface="+mn-ea"/>
              </a:rPr>
              <a:t>如下所示。</a:t>
            </a:r>
          </a:p>
        </p:txBody>
      </p:sp>
      <p:pic>
        <p:nvPicPr>
          <p:cNvPr id="3"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47664" y="3121521"/>
            <a:ext cx="6035675" cy="2343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00ACE6"/>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 name="Picture 6"/>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74626" y="1047750"/>
            <a:ext cx="1823744" cy="12985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00ACE6"/>
                </a:solidFill>
                <a:miter lim="800000"/>
                <a:headEnd/>
                <a:tailEnd/>
              </a14:hiddenLine>
            </a:ext>
          </a:extLst>
        </p:spPr>
      </p:pic>
      <p:sp>
        <p:nvSpPr>
          <p:cNvPr id="5" name="矩形 24"/>
          <p:cNvSpPr>
            <a:spLocks noChangeArrowheads="1"/>
          </p:cNvSpPr>
          <p:nvPr/>
        </p:nvSpPr>
        <p:spPr bwMode="auto">
          <a:xfrm>
            <a:off x="683568" y="2564904"/>
            <a:ext cx="7745933" cy="3456384"/>
          </a:xfrm>
          <a:prstGeom prst="rect">
            <a:avLst/>
          </a:prstGeom>
          <a:noFill/>
          <a:ln w="19050" algn="ctr">
            <a:solidFill>
              <a:srgbClr val="006BA9"/>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buFont typeface="Arial" charset="0"/>
              <a:buNone/>
            </a:pPr>
            <a:endParaRPr lang="zh-CN" altLang="en-US"/>
          </a:p>
        </p:txBody>
      </p:sp>
      <p:sp>
        <p:nvSpPr>
          <p:cNvPr id="6" name="标题 1"/>
          <p:cNvSpPr>
            <a:spLocks noChangeArrowheads="1"/>
          </p:cNvSpPr>
          <p:nvPr/>
        </p:nvSpPr>
        <p:spPr bwMode="auto">
          <a:xfrm>
            <a:off x="1643733" y="389681"/>
            <a:ext cx="4944491" cy="56162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pPr marL="571500" indent="-571500">
              <a:buFont typeface="Wingdings" pitchFamily="2" charset="2"/>
              <a:buNone/>
            </a:pPr>
            <a:r>
              <a:rPr lang="zh-CN" altLang="en-US" sz="3200" b="1" dirty="0" smtClean="0">
                <a:solidFill>
                  <a:srgbClr val="006BA9"/>
                </a:solidFill>
                <a:latin typeface="微软雅黑" pitchFamily="34" charset="-122"/>
                <a:ea typeface="微软雅黑" pitchFamily="34" charset="-122"/>
                <a:sym typeface="宋体" charset="-122"/>
              </a:rPr>
              <a:t>如何实现文件上传</a:t>
            </a:r>
            <a:endParaRPr lang="zh-CN" altLang="en-US" sz="3200" b="1" dirty="0">
              <a:solidFill>
                <a:srgbClr val="006BA9"/>
              </a:solidFill>
              <a:latin typeface="微软雅黑" pitchFamily="34" charset="-122"/>
              <a:ea typeface="微软雅黑" pitchFamily="34" charset="-122"/>
              <a:sym typeface="宋体" charset="-122"/>
            </a:endParaRPr>
          </a:p>
        </p:txBody>
      </p:sp>
    </p:spTree>
    <p:custDataLst>
      <p:tags r:id="rId1"/>
    </p:custDataLst>
    <p:extLst>
      <p:ext uri="{BB962C8B-B14F-4D97-AF65-F5344CB8AC3E}">
        <p14:creationId xmlns:p14="http://schemas.microsoft.com/office/powerpoint/2010/main" val="328433248"/>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left)">
                                      <p:cBhvr>
                                        <p:cTn id="7" dur="500"/>
                                        <p:tgtEl>
                                          <p:spTgt spid="4"/>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2"/>
                                        </p:tgtEl>
                                        <p:attrNameLst>
                                          <p:attrName>style.visibility</p:attrName>
                                        </p:attrNameLst>
                                      </p:cBhvr>
                                      <p:to>
                                        <p:strVal val="visible"/>
                                      </p:to>
                                    </p:set>
                                    <p:animEffect transition="in" filter="wipe(left)">
                                      <p:cBhvr>
                                        <p:cTn id="10" dur="500"/>
                                        <p:tgtEl>
                                          <p:spTgt spid="2"/>
                                        </p:tgtEl>
                                      </p:cBhvr>
                                    </p:animEffect>
                                  </p:childTnLst>
                                </p:cTn>
                              </p:par>
                              <p:par>
                                <p:cTn id="11" presetID="22" presetClass="entr" presetSubtype="8" fill="hold" grpId="0" nodeType="withEffect">
                                  <p:stCondLst>
                                    <p:cond delay="0"/>
                                  </p:stCondLst>
                                  <p:childTnLst>
                                    <p:set>
                                      <p:cBhvr>
                                        <p:cTn id="12" dur="1" fill="hold">
                                          <p:stCondLst>
                                            <p:cond delay="0"/>
                                          </p:stCondLst>
                                        </p:cTn>
                                        <p:tgtEl>
                                          <p:spTgt spid="5"/>
                                        </p:tgtEl>
                                        <p:attrNameLst>
                                          <p:attrName>style.visibility</p:attrName>
                                        </p:attrNameLst>
                                      </p:cBhvr>
                                      <p:to>
                                        <p:strVal val="visible"/>
                                      </p:to>
                                    </p:set>
                                    <p:animEffect transition="in" filter="wipe(left)">
                                      <p:cBhvr>
                                        <p:cTn id="13" dur="500"/>
                                        <p:tgtEl>
                                          <p:spTgt spid="5"/>
                                        </p:tgtEl>
                                      </p:cBhvr>
                                    </p:animEffect>
                                  </p:childTnLst>
                                </p:cTn>
                              </p:par>
                            </p:childTnLst>
                          </p:cTn>
                        </p:par>
                        <p:par>
                          <p:cTn id="14" fill="hold">
                            <p:stCondLst>
                              <p:cond delay="500"/>
                            </p:stCondLst>
                            <p:childTnLst>
                              <p:par>
                                <p:cTn id="15" presetID="22" presetClass="entr" presetSubtype="8" fill="hold" nodeType="afterEffect">
                                  <p:stCondLst>
                                    <p:cond delay="0"/>
                                  </p:stCondLst>
                                  <p:childTnLst>
                                    <p:set>
                                      <p:cBhvr>
                                        <p:cTn id="16" dur="1" fill="hold">
                                          <p:stCondLst>
                                            <p:cond delay="0"/>
                                          </p:stCondLst>
                                        </p:cTn>
                                        <p:tgtEl>
                                          <p:spTgt spid="3"/>
                                        </p:tgtEl>
                                        <p:attrNameLst>
                                          <p:attrName>style.visibility</p:attrName>
                                        </p:attrNameLst>
                                      </p:cBhvr>
                                      <p:to>
                                        <p:strVal val="visible"/>
                                      </p:to>
                                    </p:set>
                                    <p:animEffect transition="in" filter="wipe(left)">
                                      <p:cBhvr>
                                        <p:cTn id="17" dur="20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5"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对角圆角矩形 1"/>
          <p:cNvSpPr/>
          <p:nvPr/>
        </p:nvSpPr>
        <p:spPr>
          <a:xfrm>
            <a:off x="755576" y="2852936"/>
            <a:ext cx="4896544" cy="648072"/>
          </a:xfrm>
          <a:prstGeom prst="round2DiagRect">
            <a:avLst>
              <a:gd name="adj1" fmla="val 20943"/>
              <a:gd name="adj2" fmla="val 0"/>
            </a:avLst>
          </a:prstGeom>
          <a:solidFill>
            <a:srgbClr val="006BA9"/>
          </a:solidFill>
          <a:ln>
            <a:solidFill>
              <a:srgbClr val="006BA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4" name="TextBox 6"/>
          <p:cNvSpPr txBox="1"/>
          <p:nvPr/>
        </p:nvSpPr>
        <p:spPr>
          <a:xfrm>
            <a:off x="1097740" y="2123564"/>
            <a:ext cx="3834300" cy="369332"/>
          </a:xfrm>
          <a:prstGeom prst="rect">
            <a:avLst/>
          </a:prstGeom>
          <a:noFill/>
        </p:spPr>
        <p:txBody>
          <a:bodyPr vert="horz" wrap="square" lIns="0" tIns="0" rIns="0" bIns="0" rtlCol="0" anchor="ctr">
            <a:spAutoFit/>
          </a:bodyPr>
          <a:lstStyle/>
          <a:p>
            <a:r>
              <a:rPr lang="en-US" altLang="zh-CN" sz="2400" dirty="0">
                <a:solidFill>
                  <a:srgbClr val="7F7F7F"/>
                </a:solidFill>
                <a:latin typeface="Impact" pitchFamily="34" charset="0"/>
                <a:ea typeface="微软雅黑" pitchFamily="34" charset="-122"/>
              </a:rPr>
              <a:t>12.1    </a:t>
            </a:r>
            <a:r>
              <a:rPr lang="zh-CN" altLang="en-US" sz="2400" dirty="0">
                <a:solidFill>
                  <a:srgbClr val="7F7F7F"/>
                </a:solidFill>
                <a:latin typeface="Impact" pitchFamily="34" charset="0"/>
                <a:ea typeface="微软雅黑" pitchFamily="34" charset="-122"/>
              </a:rPr>
              <a:t>如何实现文件上传 </a:t>
            </a:r>
          </a:p>
        </p:txBody>
      </p:sp>
      <p:sp>
        <p:nvSpPr>
          <p:cNvPr id="5" name="TextBox 10"/>
          <p:cNvSpPr txBox="1"/>
          <p:nvPr/>
        </p:nvSpPr>
        <p:spPr>
          <a:xfrm>
            <a:off x="1097740" y="2987660"/>
            <a:ext cx="3834300" cy="369332"/>
          </a:xfrm>
          <a:prstGeom prst="rect">
            <a:avLst/>
          </a:prstGeom>
          <a:noFill/>
        </p:spPr>
        <p:txBody>
          <a:bodyPr vert="horz" wrap="square" lIns="0" tIns="0" rIns="0" bIns="0" rtlCol="0" anchor="ctr">
            <a:spAutoFit/>
          </a:bodyPr>
          <a:lstStyle/>
          <a:p>
            <a:r>
              <a:rPr lang="en-US" altLang="zh-CN" sz="2400" dirty="0" smtClean="0">
                <a:solidFill>
                  <a:schemeClr val="bg1"/>
                </a:solidFill>
                <a:latin typeface="Impact" pitchFamily="34" charset="0"/>
                <a:ea typeface="微软雅黑" pitchFamily="34" charset="-122"/>
              </a:rPr>
              <a:t>12.2    </a:t>
            </a:r>
            <a:r>
              <a:rPr lang="zh-CN" altLang="en-US" sz="2400" dirty="0" smtClean="0">
                <a:solidFill>
                  <a:schemeClr val="bg1"/>
                </a:solidFill>
                <a:latin typeface="Impact" pitchFamily="34" charset="0"/>
                <a:ea typeface="微软雅黑" pitchFamily="34" charset="-122"/>
              </a:rPr>
              <a:t>文件上传的相关</a:t>
            </a:r>
            <a:r>
              <a:rPr lang="en-US" altLang="zh-CN" sz="2400" dirty="0" smtClean="0">
                <a:solidFill>
                  <a:schemeClr val="bg1"/>
                </a:solidFill>
                <a:latin typeface="Impact" pitchFamily="34" charset="0"/>
                <a:ea typeface="微软雅黑" pitchFamily="34" charset="-122"/>
              </a:rPr>
              <a:t>API</a:t>
            </a:r>
            <a:endParaRPr lang="zh-CN" altLang="en-US" sz="2400" dirty="0">
              <a:solidFill>
                <a:schemeClr val="bg1"/>
              </a:solidFill>
              <a:latin typeface="Impact" pitchFamily="34" charset="0"/>
              <a:ea typeface="微软雅黑" pitchFamily="34" charset="-122"/>
            </a:endParaRPr>
          </a:p>
        </p:txBody>
      </p:sp>
      <p:sp>
        <p:nvSpPr>
          <p:cNvPr id="9" name="椭圆 8"/>
          <p:cNvSpPr/>
          <p:nvPr/>
        </p:nvSpPr>
        <p:spPr>
          <a:xfrm>
            <a:off x="4897998" y="1712810"/>
            <a:ext cx="3444382" cy="3444382"/>
          </a:xfrm>
          <a:prstGeom prst="ellipse">
            <a:avLst/>
          </a:prstGeom>
          <a:solidFill>
            <a:schemeClr val="tx2">
              <a:lumMod val="40000"/>
              <a:lumOff val="60000"/>
            </a:schemeClr>
          </a:solidFill>
          <a:ln w="381000">
            <a:solidFill>
              <a:srgbClr val="006BA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10" name="TextBox 1"/>
          <p:cNvSpPr txBox="1"/>
          <p:nvPr/>
        </p:nvSpPr>
        <p:spPr>
          <a:xfrm>
            <a:off x="4860032" y="2492896"/>
            <a:ext cx="3566358" cy="1831271"/>
          </a:xfrm>
          <a:prstGeom prst="rect">
            <a:avLst/>
          </a:prstGeom>
          <a:noFill/>
        </p:spPr>
        <p:txBody>
          <a:bodyPr wrap="square" rtlCol="0" anchor="ctr">
            <a:spAutoFit/>
          </a:bodyPr>
          <a:lstStyle/>
          <a:p>
            <a:pPr algn="ctr">
              <a:lnSpc>
                <a:spcPct val="150000"/>
              </a:lnSpc>
            </a:pPr>
            <a:r>
              <a:rPr lang="zh-CN" altLang="en-US" sz="5400" b="1" smtClean="0">
                <a:solidFill>
                  <a:srgbClr val="F2F2E6"/>
                </a:solidFill>
                <a:latin typeface="微软雅黑" pitchFamily="34" charset="-122"/>
                <a:ea typeface="微软雅黑" pitchFamily="34" charset="-122"/>
              </a:rPr>
              <a:t>主讲内容</a:t>
            </a:r>
            <a:endParaRPr lang="en-US" altLang="zh-CN" sz="5400" b="1" dirty="0" smtClean="0">
              <a:solidFill>
                <a:srgbClr val="F2F2E6"/>
              </a:solidFill>
              <a:latin typeface="微软雅黑" pitchFamily="34" charset="-122"/>
              <a:ea typeface="微软雅黑" pitchFamily="34" charset="-122"/>
            </a:endParaRPr>
          </a:p>
          <a:p>
            <a:pPr algn="ctr"/>
            <a:r>
              <a:rPr lang="en-US" altLang="zh-CN" sz="3200" smtClean="0">
                <a:solidFill>
                  <a:srgbClr val="F2F2E6"/>
                </a:solidFill>
                <a:latin typeface="Times New Roman" panose="02020603050405020304" pitchFamily="18" charset="0"/>
                <a:ea typeface="Adobe 宋体 Std L" pitchFamily="18" charset="-122"/>
                <a:cs typeface="Times New Roman" panose="02020603050405020304" pitchFamily="18" charset="0"/>
              </a:rPr>
              <a:t>Speech content</a:t>
            </a:r>
            <a:endParaRPr lang="en-US" altLang="zh-CN" sz="3200" dirty="0" smtClean="0">
              <a:solidFill>
                <a:srgbClr val="F2F2E6"/>
              </a:solidFill>
              <a:latin typeface="Times New Roman" panose="02020603050405020304" pitchFamily="18" charset="0"/>
              <a:ea typeface="Adobe 宋体 Std L" pitchFamily="18" charset="-122"/>
              <a:cs typeface="Times New Roman" panose="02020603050405020304" pitchFamily="18" charset="0"/>
            </a:endParaRPr>
          </a:p>
        </p:txBody>
      </p:sp>
      <p:sp>
        <p:nvSpPr>
          <p:cNvPr id="7" name="TextBox 10"/>
          <p:cNvSpPr txBox="1"/>
          <p:nvPr/>
        </p:nvSpPr>
        <p:spPr>
          <a:xfrm>
            <a:off x="1097740" y="3779748"/>
            <a:ext cx="3834300" cy="369332"/>
          </a:xfrm>
          <a:prstGeom prst="rect">
            <a:avLst/>
          </a:prstGeom>
          <a:noFill/>
        </p:spPr>
        <p:txBody>
          <a:bodyPr vert="horz" wrap="square" lIns="0" tIns="0" rIns="0" bIns="0" rtlCol="0" anchor="ctr">
            <a:spAutoFit/>
          </a:bodyPr>
          <a:lstStyle/>
          <a:p>
            <a:r>
              <a:rPr lang="en-US" altLang="zh-CN" sz="2400" dirty="0" smtClean="0">
                <a:solidFill>
                  <a:srgbClr val="7F7F7F"/>
                </a:solidFill>
                <a:latin typeface="Impact" pitchFamily="34" charset="0"/>
                <a:ea typeface="微软雅黑" pitchFamily="34" charset="-122"/>
              </a:rPr>
              <a:t>12.3    </a:t>
            </a:r>
            <a:r>
              <a:rPr lang="zh-CN" altLang="en-US" sz="2400" dirty="0" smtClean="0">
                <a:solidFill>
                  <a:srgbClr val="7F7F7F"/>
                </a:solidFill>
                <a:latin typeface="Impact" pitchFamily="34" charset="0"/>
                <a:ea typeface="微软雅黑" pitchFamily="34" charset="-122"/>
              </a:rPr>
              <a:t>文件下载</a:t>
            </a:r>
            <a:endParaRPr lang="zh-CN" altLang="en-US" sz="2400" dirty="0">
              <a:solidFill>
                <a:srgbClr val="7F7F7F"/>
              </a:solidFill>
              <a:latin typeface="Impact" pitchFamily="34" charset="0"/>
              <a:ea typeface="微软雅黑" pitchFamily="34" charset="-122"/>
            </a:endParaRPr>
          </a:p>
        </p:txBody>
      </p:sp>
      <p:sp>
        <p:nvSpPr>
          <p:cNvPr id="8" name="标题 1"/>
          <p:cNvSpPr>
            <a:spLocks noChangeArrowheads="1"/>
          </p:cNvSpPr>
          <p:nvPr/>
        </p:nvSpPr>
        <p:spPr bwMode="auto">
          <a:xfrm>
            <a:off x="1643733" y="389681"/>
            <a:ext cx="4944491" cy="56162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pPr marL="571500" indent="-571500"/>
            <a:r>
              <a:rPr lang="zh-CN" altLang="en-US" sz="3200" b="1" dirty="0" smtClean="0">
                <a:solidFill>
                  <a:srgbClr val="006BA9"/>
                </a:solidFill>
                <a:latin typeface="微软雅黑" pitchFamily="34" charset="-122"/>
                <a:ea typeface="微软雅黑" pitchFamily="34" charset="-122"/>
                <a:sym typeface="宋体" charset="-122"/>
              </a:rPr>
              <a:t>主讲内容</a:t>
            </a:r>
            <a:endParaRPr lang="zh-CN" altLang="en-US" sz="3200" b="1" dirty="0">
              <a:solidFill>
                <a:srgbClr val="006BA9"/>
              </a:solidFill>
              <a:latin typeface="微软雅黑" pitchFamily="34" charset="-122"/>
              <a:ea typeface="微软雅黑" pitchFamily="34" charset="-122"/>
              <a:sym typeface="宋体" charset="-122"/>
            </a:endParaRPr>
          </a:p>
        </p:txBody>
      </p:sp>
    </p:spTree>
    <p:custDataLst>
      <p:tags r:id="rId1"/>
    </p:custDataLst>
    <p:extLst>
      <p:ext uri="{BB962C8B-B14F-4D97-AF65-F5344CB8AC3E}">
        <p14:creationId xmlns:p14="http://schemas.microsoft.com/office/powerpoint/2010/main" val="513528614"/>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ChangeArrowheads="1"/>
          </p:cNvSpPr>
          <p:nvPr/>
        </p:nvSpPr>
        <p:spPr bwMode="auto">
          <a:xfrm>
            <a:off x="251520" y="923156"/>
            <a:ext cx="4944491" cy="56162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pPr marL="571500" indent="-571500"/>
            <a:endParaRPr lang="zh-CN" altLang="en-US" sz="2400" b="1" dirty="0">
              <a:solidFill>
                <a:srgbClr val="006BA9"/>
              </a:solidFill>
              <a:latin typeface="微软雅黑" pitchFamily="34" charset="-122"/>
              <a:ea typeface="微软雅黑" pitchFamily="34" charset="-122"/>
              <a:sym typeface="宋体" charset="-122"/>
            </a:endParaRPr>
          </a:p>
        </p:txBody>
      </p:sp>
      <p:sp>
        <p:nvSpPr>
          <p:cNvPr id="3" name="矩形 3"/>
          <p:cNvSpPr>
            <a:spLocks noChangeArrowheads="1"/>
          </p:cNvSpPr>
          <p:nvPr/>
        </p:nvSpPr>
        <p:spPr bwMode="auto">
          <a:xfrm>
            <a:off x="467544" y="1708150"/>
            <a:ext cx="7912100" cy="733534"/>
          </a:xfrm>
          <a:prstGeom prst="rect">
            <a:avLst/>
          </a:prstGeom>
          <a:solidFill>
            <a:schemeClr val="bg1"/>
          </a:solidFill>
          <a:ln>
            <a:solidFill>
              <a:srgbClr val="00B0F0"/>
            </a:solidFill>
          </a:ln>
          <a:extLst/>
        </p:spPr>
        <p:txBody>
          <a:bodyPr>
            <a:spAutoFit/>
          </a:bodyPr>
          <a:lstStyle>
            <a:lvl1pPr>
              <a:defRPr>
                <a:solidFill>
                  <a:schemeClr val="tx1"/>
                </a:solidFill>
                <a:latin typeface="Arial" pitchFamily="34" charset="0"/>
                <a:ea typeface="宋体" pitchFamily="2" charset="-122"/>
              </a:defRPr>
            </a:lvl1pPr>
            <a:lvl2pPr marL="742950" indent="-285750">
              <a:defRPr>
                <a:solidFill>
                  <a:schemeClr val="tx1"/>
                </a:solidFill>
                <a:latin typeface="Arial" pitchFamily="34" charset="0"/>
                <a:ea typeface="宋体" pitchFamily="2" charset="-122"/>
              </a:defRPr>
            </a:lvl2pPr>
            <a:lvl3pPr marL="1143000" indent="-228600">
              <a:defRPr>
                <a:solidFill>
                  <a:schemeClr val="tx1"/>
                </a:solidFill>
                <a:latin typeface="Arial" pitchFamily="34" charset="0"/>
                <a:ea typeface="宋体" pitchFamily="2" charset="-122"/>
              </a:defRPr>
            </a:lvl3pPr>
            <a:lvl4pPr marL="1600200" indent="-228600">
              <a:defRPr>
                <a:solidFill>
                  <a:schemeClr val="tx1"/>
                </a:solidFill>
                <a:latin typeface="Arial" pitchFamily="34" charset="0"/>
                <a:ea typeface="宋体" pitchFamily="2" charset="-122"/>
              </a:defRPr>
            </a:lvl4pPr>
            <a:lvl5pPr marL="2057400" indent="-22860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marL="285750" indent="-285750">
              <a:lnSpc>
                <a:spcPts val="2500"/>
              </a:lnSpc>
              <a:buFont typeface="Calibri" panose="020F0502020204030204" pitchFamily="34" charset="0"/>
              <a:buChar char="–"/>
              <a:defRPr/>
            </a:pPr>
            <a:r>
              <a:rPr lang="en-US" altLang="zh-CN" dirty="0" err="1" smtClean="0">
                <a:latin typeface="Times New Roman" panose="02020603050405020304" pitchFamily="18" charset="0"/>
                <a:ea typeface="+mn-ea"/>
                <a:cs typeface="Times New Roman" panose="02020603050405020304" pitchFamily="18" charset="0"/>
              </a:rPr>
              <a:t>FileItme</a:t>
            </a:r>
            <a:r>
              <a:rPr lang="zh-CN" altLang="en-US" sz="1600" dirty="0" smtClean="0">
                <a:latin typeface="Times New Roman" panose="02020603050405020304" pitchFamily="18" charset="0"/>
                <a:ea typeface="+mn-ea"/>
                <a:cs typeface="Times New Roman" panose="02020603050405020304" pitchFamily="18" charset="0"/>
              </a:rPr>
              <a:t>接口用于封装单个表单字段元素的数据，一个表单字段元素对应一个</a:t>
            </a:r>
            <a:r>
              <a:rPr lang="en-US" altLang="zh-CN" dirty="0">
                <a:latin typeface="Times New Roman" panose="02020603050405020304" pitchFamily="18" charset="0"/>
                <a:ea typeface="+mn-ea"/>
                <a:cs typeface="Times New Roman" panose="02020603050405020304" pitchFamily="18" charset="0"/>
              </a:rPr>
              <a:t>FileItem</a:t>
            </a:r>
            <a:r>
              <a:rPr lang="zh-CN" altLang="en-US" sz="1600" dirty="0" smtClean="0">
                <a:latin typeface="Times New Roman" panose="02020603050405020304" pitchFamily="18" charset="0"/>
                <a:ea typeface="+mn-ea"/>
                <a:cs typeface="Times New Roman" panose="02020603050405020304" pitchFamily="18" charset="0"/>
              </a:rPr>
              <a:t>对象，</a:t>
            </a:r>
            <a:r>
              <a:rPr lang="zh-CN" altLang="zh-CN" sz="1600" dirty="0" smtClean="0">
                <a:latin typeface="Times New Roman" panose="02020603050405020304" pitchFamily="18" charset="0"/>
                <a:ea typeface="+mn-ea"/>
                <a:cs typeface="Times New Roman" panose="02020603050405020304" pitchFamily="18" charset="0"/>
              </a:rPr>
              <a:t>在</a:t>
            </a:r>
            <a:r>
              <a:rPr lang="en-US" altLang="zh-CN" dirty="0">
                <a:latin typeface="Times New Roman" panose="02020603050405020304" pitchFamily="18" charset="0"/>
                <a:ea typeface="+mn-ea"/>
                <a:cs typeface="Times New Roman" panose="02020603050405020304" pitchFamily="18" charset="0"/>
              </a:rPr>
              <a:t>FileItem</a:t>
            </a:r>
            <a:r>
              <a:rPr lang="zh-CN" altLang="zh-CN" sz="1600" dirty="0" smtClean="0">
                <a:latin typeface="Times New Roman" panose="02020603050405020304" pitchFamily="18" charset="0"/>
                <a:ea typeface="+mn-ea"/>
                <a:cs typeface="Times New Roman" panose="02020603050405020304" pitchFamily="18" charset="0"/>
              </a:rPr>
              <a:t>类中定义了许多获取表单字段元素的方法</a:t>
            </a:r>
            <a:r>
              <a:rPr lang="zh-CN" altLang="en-US" sz="1600" dirty="0" smtClean="0">
                <a:latin typeface="Times New Roman" panose="02020603050405020304" pitchFamily="18" charset="0"/>
                <a:ea typeface="+mn-ea"/>
                <a:cs typeface="Times New Roman" panose="02020603050405020304" pitchFamily="18" charset="0"/>
              </a:rPr>
              <a:t>。</a:t>
            </a:r>
          </a:p>
        </p:txBody>
      </p:sp>
      <p:graphicFrame>
        <p:nvGraphicFramePr>
          <p:cNvPr id="6" name="表格 5"/>
          <p:cNvGraphicFramePr>
            <a:graphicFrameLocks noGrp="1"/>
          </p:cNvGraphicFramePr>
          <p:nvPr>
            <p:extLst>
              <p:ext uri="{D42A27DB-BD31-4B8C-83A1-F6EECF244321}">
                <p14:modId xmlns:p14="http://schemas.microsoft.com/office/powerpoint/2010/main" val="1638727477"/>
              </p:ext>
            </p:extLst>
          </p:nvPr>
        </p:nvGraphicFramePr>
        <p:xfrm>
          <a:off x="720725" y="1567172"/>
          <a:ext cx="7883723" cy="4886164"/>
        </p:xfrm>
        <a:graphic>
          <a:graphicData uri="http://schemas.openxmlformats.org/drawingml/2006/table">
            <a:tbl>
              <a:tblPr firstRow="1" firstCol="1" bandRow="1"/>
              <a:tblGrid>
                <a:gridCol w="1866426"/>
                <a:gridCol w="6017297"/>
              </a:tblGrid>
              <a:tr h="268666">
                <a:tc>
                  <a:txBody>
                    <a:bodyPr/>
                    <a:lstStyle/>
                    <a:p>
                      <a:pPr indent="266700" algn="ctr">
                        <a:spcAft>
                          <a:spcPts val="0"/>
                        </a:spcAft>
                      </a:pPr>
                      <a:r>
                        <a:rPr lang="zh-CN" sz="1800" b="1" kern="100" dirty="0">
                          <a:solidFill>
                            <a:schemeClr val="bg1"/>
                          </a:solidFill>
                          <a:effectLst/>
                          <a:latin typeface="微软雅黑" panose="020B0503020204020204" pitchFamily="34" charset="-122"/>
                          <a:ea typeface="微软雅黑" panose="020B0503020204020204" pitchFamily="34" charset="-122"/>
                          <a:cs typeface="宋体"/>
                        </a:rPr>
                        <a:t>方法声明</a:t>
                      </a:r>
                      <a:endParaRPr lang="zh-CN" sz="1800" kern="100" dirty="0">
                        <a:solidFill>
                          <a:schemeClr val="bg1"/>
                        </a:solidFill>
                        <a:effectLst/>
                        <a:latin typeface="微软雅黑" panose="020B0503020204020204" pitchFamily="34" charset="-122"/>
                        <a:ea typeface="微软雅黑" panose="020B0503020204020204" pitchFamily="34" charset="-122"/>
                        <a:cs typeface="宋体"/>
                      </a:endParaRPr>
                    </a:p>
                  </a:txBody>
                  <a:tcPr marL="57050" marR="57050"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4F81BD"/>
                    </a:solidFill>
                  </a:tcPr>
                </a:tc>
                <a:tc>
                  <a:txBody>
                    <a:bodyPr/>
                    <a:lstStyle/>
                    <a:p>
                      <a:pPr indent="266700" algn="ctr">
                        <a:spcAft>
                          <a:spcPts val="0"/>
                        </a:spcAft>
                      </a:pPr>
                      <a:r>
                        <a:rPr lang="zh-CN" sz="1800" b="1" kern="100" dirty="0">
                          <a:solidFill>
                            <a:schemeClr val="bg1"/>
                          </a:solidFill>
                          <a:effectLst/>
                          <a:latin typeface="微软雅黑" panose="020B0503020204020204" pitchFamily="34" charset="-122"/>
                          <a:ea typeface="微软雅黑" panose="020B0503020204020204" pitchFamily="34" charset="-122"/>
                          <a:cs typeface="宋体"/>
                        </a:rPr>
                        <a:t>功能描述</a:t>
                      </a:r>
                      <a:endParaRPr lang="zh-CN" sz="1800" kern="100" dirty="0">
                        <a:solidFill>
                          <a:schemeClr val="bg1"/>
                        </a:solidFill>
                        <a:effectLst/>
                        <a:latin typeface="微软雅黑" panose="020B0503020204020204" pitchFamily="34" charset="-122"/>
                        <a:ea typeface="微软雅黑" panose="020B0503020204020204" pitchFamily="34" charset="-122"/>
                        <a:cs typeface="宋体"/>
                      </a:endParaRPr>
                    </a:p>
                  </a:txBody>
                  <a:tcPr marL="57050" marR="57050"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4F81BD"/>
                    </a:solidFill>
                  </a:tcPr>
                </a:tc>
              </a:tr>
              <a:tr h="340798">
                <a:tc>
                  <a:txBody>
                    <a:bodyPr/>
                    <a:lstStyle/>
                    <a:p>
                      <a:pPr algn="just">
                        <a:spcAft>
                          <a:spcPts val="0"/>
                        </a:spcAft>
                      </a:pPr>
                      <a:r>
                        <a:rPr lang="en-US" sz="1400" kern="100" dirty="0" err="1" smtClean="0">
                          <a:effectLst/>
                          <a:latin typeface="Times New Roman" panose="02020603050405020304" pitchFamily="18" charset="0"/>
                          <a:ea typeface="+mn-ea"/>
                          <a:cs typeface="Times New Roman" panose="02020603050405020304" pitchFamily="18" charset="0"/>
                        </a:rPr>
                        <a:t>boolean</a:t>
                      </a:r>
                      <a:r>
                        <a:rPr lang="en-US" sz="1400" kern="100" dirty="0" smtClean="0">
                          <a:effectLst/>
                          <a:latin typeface="Times New Roman" panose="02020603050405020304" pitchFamily="18" charset="0"/>
                          <a:ea typeface="+mn-ea"/>
                          <a:cs typeface="Times New Roman" panose="02020603050405020304" pitchFamily="18" charset="0"/>
                        </a:rPr>
                        <a:t> </a:t>
                      </a:r>
                      <a:r>
                        <a:rPr lang="en-US" sz="1400" kern="100" dirty="0" err="1" smtClean="0">
                          <a:effectLst/>
                          <a:latin typeface="Times New Roman" panose="02020603050405020304" pitchFamily="18" charset="0"/>
                          <a:ea typeface="+mn-ea"/>
                          <a:cs typeface="Times New Roman" panose="02020603050405020304" pitchFamily="18" charset="0"/>
                        </a:rPr>
                        <a:t>isFormField</a:t>
                      </a:r>
                      <a:r>
                        <a:rPr lang="en-US" sz="1400" kern="100" dirty="0" smtClean="0">
                          <a:effectLst/>
                          <a:latin typeface="Times New Roman" panose="02020603050405020304" pitchFamily="18" charset="0"/>
                          <a:ea typeface="+mn-ea"/>
                          <a:cs typeface="Times New Roman" panose="02020603050405020304" pitchFamily="18" charset="0"/>
                        </a:rPr>
                        <a:t>()</a:t>
                      </a:r>
                      <a:endParaRPr lang="zh-CN" sz="1400" kern="100" dirty="0">
                        <a:effectLst/>
                        <a:latin typeface="Times New Roman" panose="02020603050405020304" pitchFamily="18" charset="0"/>
                        <a:ea typeface="+mn-ea"/>
                        <a:cs typeface="Times New Roman" panose="02020603050405020304" pitchFamily="18" charset="0"/>
                      </a:endParaRPr>
                    </a:p>
                  </a:txBody>
                  <a:tcPr marL="57050" marR="57050"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9EDF4"/>
                    </a:solidFill>
                  </a:tcPr>
                </a:tc>
                <a:tc>
                  <a:txBody>
                    <a:bodyPr/>
                    <a:lstStyle/>
                    <a:p>
                      <a:pPr algn="just">
                        <a:spcAft>
                          <a:spcPts val="0"/>
                        </a:spcAft>
                      </a:pPr>
                      <a:r>
                        <a:rPr lang="en-US" sz="1100" kern="100" dirty="0" err="1" smtClean="0">
                          <a:effectLst/>
                          <a:latin typeface="Times New Roman" panose="02020603050405020304" pitchFamily="18" charset="0"/>
                          <a:ea typeface="+mn-ea"/>
                          <a:cs typeface="Times New Roman" panose="02020603050405020304" pitchFamily="18" charset="0"/>
                        </a:rPr>
                        <a:t>isFormField</a:t>
                      </a:r>
                      <a:r>
                        <a:rPr lang="en-US" sz="1100" kern="100" dirty="0" smtClean="0">
                          <a:effectLst/>
                          <a:latin typeface="Times New Roman" panose="02020603050405020304" pitchFamily="18" charset="0"/>
                          <a:ea typeface="+mn-ea"/>
                          <a:cs typeface="Times New Roman" panose="02020603050405020304" pitchFamily="18" charset="0"/>
                        </a:rPr>
                        <a:t>()</a:t>
                      </a:r>
                      <a:r>
                        <a:rPr lang="zh-CN" sz="1100" kern="100" dirty="0" smtClean="0">
                          <a:effectLst/>
                          <a:latin typeface="Times New Roman" panose="02020603050405020304" pitchFamily="18" charset="0"/>
                          <a:ea typeface="+mn-ea"/>
                          <a:cs typeface="Times New Roman" panose="02020603050405020304" pitchFamily="18" charset="0"/>
                        </a:rPr>
                        <a:t>方法用于判断</a:t>
                      </a:r>
                      <a:r>
                        <a:rPr lang="en-US" sz="1100" kern="100" dirty="0" smtClean="0">
                          <a:effectLst/>
                          <a:latin typeface="Times New Roman" panose="02020603050405020304" pitchFamily="18" charset="0"/>
                          <a:ea typeface="+mn-ea"/>
                          <a:cs typeface="Times New Roman" panose="02020603050405020304" pitchFamily="18" charset="0"/>
                        </a:rPr>
                        <a:t>FileItem</a:t>
                      </a:r>
                      <a:r>
                        <a:rPr lang="zh-CN" sz="1100" kern="100" dirty="0" smtClean="0">
                          <a:effectLst/>
                          <a:latin typeface="Times New Roman" panose="02020603050405020304" pitchFamily="18" charset="0"/>
                          <a:ea typeface="+mn-ea"/>
                          <a:cs typeface="Times New Roman" panose="02020603050405020304" pitchFamily="18" charset="0"/>
                        </a:rPr>
                        <a:t>类对象封装的数据是一个普通文本表单字段，还是一个文件表单字段，如果是普通表单字段则返回</a:t>
                      </a:r>
                      <a:r>
                        <a:rPr lang="en-US" sz="1100" kern="100" dirty="0" smtClean="0">
                          <a:effectLst/>
                          <a:latin typeface="Times New Roman" panose="02020603050405020304" pitchFamily="18" charset="0"/>
                          <a:ea typeface="+mn-ea"/>
                          <a:cs typeface="Times New Roman" panose="02020603050405020304" pitchFamily="18" charset="0"/>
                        </a:rPr>
                        <a:t>true</a:t>
                      </a:r>
                      <a:r>
                        <a:rPr lang="zh-CN" sz="1100" kern="100" dirty="0" smtClean="0">
                          <a:effectLst/>
                          <a:latin typeface="Times New Roman" panose="02020603050405020304" pitchFamily="18" charset="0"/>
                          <a:ea typeface="+mn-ea"/>
                          <a:cs typeface="Times New Roman" panose="02020603050405020304" pitchFamily="18" charset="0"/>
                        </a:rPr>
                        <a:t>，否则返回</a:t>
                      </a:r>
                      <a:r>
                        <a:rPr lang="en-US" sz="1100" kern="100" dirty="0" smtClean="0">
                          <a:effectLst/>
                          <a:latin typeface="Times New Roman" panose="02020603050405020304" pitchFamily="18" charset="0"/>
                          <a:ea typeface="+mn-ea"/>
                          <a:cs typeface="Times New Roman" panose="02020603050405020304" pitchFamily="18" charset="0"/>
                        </a:rPr>
                        <a:t>false</a:t>
                      </a:r>
                      <a:r>
                        <a:rPr lang="zh-CN" sz="1100" kern="100" dirty="0" smtClean="0">
                          <a:effectLst/>
                          <a:latin typeface="Times New Roman" panose="02020603050405020304" pitchFamily="18" charset="0"/>
                          <a:ea typeface="+mn-ea"/>
                          <a:cs typeface="Times New Roman" panose="02020603050405020304" pitchFamily="18" charset="0"/>
                        </a:rPr>
                        <a:t>。</a:t>
                      </a:r>
                      <a:endParaRPr lang="zh-CN" sz="1100" kern="100" dirty="0">
                        <a:effectLst/>
                        <a:latin typeface="Times New Roman" panose="02020603050405020304" pitchFamily="18" charset="0"/>
                        <a:ea typeface="+mn-ea"/>
                        <a:cs typeface="Times New Roman" panose="02020603050405020304" pitchFamily="18" charset="0"/>
                      </a:endParaRPr>
                    </a:p>
                  </a:txBody>
                  <a:tcPr marL="57050" marR="57050"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9EDF4"/>
                    </a:solidFill>
                  </a:tcPr>
                </a:tc>
              </a:tr>
              <a:tr h="492555">
                <a:tc>
                  <a:txBody>
                    <a:bodyPr/>
                    <a:lstStyle/>
                    <a:p>
                      <a:pPr algn="just">
                        <a:spcAft>
                          <a:spcPts val="0"/>
                        </a:spcAft>
                      </a:pPr>
                      <a:r>
                        <a:rPr lang="en-US" sz="1400" kern="100">
                          <a:effectLst/>
                          <a:latin typeface="Times New Roman" panose="02020603050405020304" pitchFamily="18" charset="0"/>
                          <a:ea typeface="+mn-ea"/>
                          <a:cs typeface="Times New Roman" panose="02020603050405020304" pitchFamily="18" charset="0"/>
                        </a:rPr>
                        <a:t>String getName()</a:t>
                      </a:r>
                      <a:endParaRPr lang="zh-CN" sz="1400" kern="100">
                        <a:effectLst/>
                        <a:latin typeface="Times New Roman" panose="02020603050405020304" pitchFamily="18" charset="0"/>
                        <a:ea typeface="+mn-ea"/>
                        <a:cs typeface="Times New Roman" panose="02020603050405020304" pitchFamily="18" charset="0"/>
                      </a:endParaRPr>
                    </a:p>
                  </a:txBody>
                  <a:tcPr marL="57050" marR="57050"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algn="just">
                        <a:spcAft>
                          <a:spcPts val="0"/>
                        </a:spcAft>
                      </a:pPr>
                      <a:r>
                        <a:rPr lang="en-US" sz="1100" kern="100" dirty="0" err="1">
                          <a:effectLst/>
                          <a:latin typeface="Times New Roman" panose="02020603050405020304" pitchFamily="18" charset="0"/>
                          <a:ea typeface="+mn-ea"/>
                          <a:cs typeface="Times New Roman" panose="02020603050405020304" pitchFamily="18" charset="0"/>
                        </a:rPr>
                        <a:t>getName</a:t>
                      </a:r>
                      <a:r>
                        <a:rPr lang="en-US" sz="1100" kern="100" dirty="0">
                          <a:effectLst/>
                          <a:latin typeface="Times New Roman" panose="02020603050405020304" pitchFamily="18" charset="0"/>
                          <a:ea typeface="+mn-ea"/>
                          <a:cs typeface="Times New Roman" panose="02020603050405020304" pitchFamily="18" charset="0"/>
                        </a:rPr>
                        <a:t>()</a:t>
                      </a:r>
                      <a:r>
                        <a:rPr lang="zh-CN" sz="1100" kern="100" dirty="0">
                          <a:effectLst/>
                          <a:latin typeface="Times New Roman" panose="02020603050405020304" pitchFamily="18" charset="0"/>
                          <a:ea typeface="+mn-ea"/>
                          <a:cs typeface="Times New Roman" panose="02020603050405020304" pitchFamily="18" charset="0"/>
                        </a:rPr>
                        <a:t>方法用于获得文件上传字段中的文件名。如果</a:t>
                      </a:r>
                      <a:r>
                        <a:rPr lang="en-US" sz="1100" kern="100" dirty="0">
                          <a:effectLst/>
                          <a:latin typeface="Times New Roman" panose="02020603050405020304" pitchFamily="18" charset="0"/>
                          <a:ea typeface="+mn-ea"/>
                          <a:cs typeface="Times New Roman" panose="02020603050405020304" pitchFamily="18" charset="0"/>
                        </a:rPr>
                        <a:t>FileItem</a:t>
                      </a:r>
                      <a:r>
                        <a:rPr lang="zh-CN" sz="1100" kern="100" dirty="0">
                          <a:effectLst/>
                          <a:latin typeface="Times New Roman" panose="02020603050405020304" pitchFamily="18" charset="0"/>
                          <a:ea typeface="+mn-ea"/>
                          <a:cs typeface="Times New Roman" panose="02020603050405020304" pitchFamily="18" charset="0"/>
                        </a:rPr>
                        <a:t>类对象对应的是普通表单字段，</a:t>
                      </a:r>
                      <a:r>
                        <a:rPr lang="en-US" sz="1100" kern="100" dirty="0" err="1">
                          <a:effectLst/>
                          <a:latin typeface="Times New Roman" panose="02020603050405020304" pitchFamily="18" charset="0"/>
                          <a:ea typeface="+mn-ea"/>
                          <a:cs typeface="Times New Roman" panose="02020603050405020304" pitchFamily="18" charset="0"/>
                        </a:rPr>
                        <a:t>getName</a:t>
                      </a:r>
                      <a:r>
                        <a:rPr lang="en-US" sz="1100" kern="100" dirty="0">
                          <a:effectLst/>
                          <a:latin typeface="Times New Roman" panose="02020603050405020304" pitchFamily="18" charset="0"/>
                          <a:ea typeface="+mn-ea"/>
                          <a:cs typeface="Times New Roman" panose="02020603050405020304" pitchFamily="18" charset="0"/>
                        </a:rPr>
                        <a:t>()</a:t>
                      </a:r>
                      <a:r>
                        <a:rPr lang="zh-CN" sz="1100" kern="100" dirty="0">
                          <a:effectLst/>
                          <a:latin typeface="Times New Roman" panose="02020603050405020304" pitchFamily="18" charset="0"/>
                          <a:ea typeface="+mn-ea"/>
                          <a:cs typeface="Times New Roman" panose="02020603050405020304" pitchFamily="18" charset="0"/>
                        </a:rPr>
                        <a:t>方法将返回</a:t>
                      </a:r>
                      <a:r>
                        <a:rPr lang="en-US" sz="1100" kern="100" dirty="0">
                          <a:effectLst/>
                          <a:latin typeface="Times New Roman" panose="02020603050405020304" pitchFamily="18" charset="0"/>
                          <a:ea typeface="+mn-ea"/>
                          <a:cs typeface="Times New Roman" panose="02020603050405020304" pitchFamily="18" charset="0"/>
                        </a:rPr>
                        <a:t>null</a:t>
                      </a:r>
                      <a:r>
                        <a:rPr lang="zh-CN" sz="1100" kern="100" dirty="0">
                          <a:effectLst/>
                          <a:latin typeface="Times New Roman" panose="02020603050405020304" pitchFamily="18" charset="0"/>
                          <a:ea typeface="+mn-ea"/>
                          <a:cs typeface="Times New Roman" panose="02020603050405020304" pitchFamily="18" charset="0"/>
                        </a:rPr>
                        <a:t>，否则，只要浏览器将文件的字段信息传递给服务器，</a:t>
                      </a:r>
                      <a:r>
                        <a:rPr lang="en-US" sz="1100" kern="100" dirty="0" err="1">
                          <a:effectLst/>
                          <a:latin typeface="Times New Roman" panose="02020603050405020304" pitchFamily="18" charset="0"/>
                          <a:ea typeface="+mn-ea"/>
                          <a:cs typeface="Times New Roman" panose="02020603050405020304" pitchFamily="18" charset="0"/>
                        </a:rPr>
                        <a:t>getName</a:t>
                      </a:r>
                      <a:r>
                        <a:rPr lang="en-US" sz="1100" kern="100" dirty="0">
                          <a:effectLst/>
                          <a:latin typeface="Times New Roman" panose="02020603050405020304" pitchFamily="18" charset="0"/>
                          <a:ea typeface="+mn-ea"/>
                          <a:cs typeface="Times New Roman" panose="02020603050405020304" pitchFamily="18" charset="0"/>
                        </a:rPr>
                        <a:t>()</a:t>
                      </a:r>
                      <a:r>
                        <a:rPr lang="zh-CN" sz="1100" kern="100" dirty="0">
                          <a:effectLst/>
                          <a:latin typeface="Times New Roman" panose="02020603050405020304" pitchFamily="18" charset="0"/>
                          <a:ea typeface="+mn-ea"/>
                          <a:cs typeface="Times New Roman" panose="02020603050405020304" pitchFamily="18" charset="0"/>
                        </a:rPr>
                        <a:t>方法就会返回一个字符串类型的结果，如：“</a:t>
                      </a:r>
                      <a:r>
                        <a:rPr lang="en-US" sz="1100" kern="100" dirty="0">
                          <a:effectLst/>
                          <a:latin typeface="Times New Roman" panose="02020603050405020304" pitchFamily="18" charset="0"/>
                          <a:ea typeface="+mn-ea"/>
                          <a:cs typeface="Times New Roman" panose="02020603050405020304" pitchFamily="18" charset="0"/>
                        </a:rPr>
                        <a:t>C:\Sunset.jpg</a:t>
                      </a:r>
                      <a:r>
                        <a:rPr lang="zh-CN" sz="1100" kern="100" dirty="0">
                          <a:effectLst/>
                          <a:latin typeface="Times New Roman" panose="02020603050405020304" pitchFamily="18" charset="0"/>
                          <a:ea typeface="+mn-ea"/>
                          <a:cs typeface="Times New Roman" panose="02020603050405020304" pitchFamily="18" charset="0"/>
                        </a:rPr>
                        <a:t>”。</a:t>
                      </a:r>
                    </a:p>
                  </a:txBody>
                  <a:tcPr marL="57050" marR="57050"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r>
              <a:tr h="328370">
                <a:tc>
                  <a:txBody>
                    <a:bodyPr/>
                    <a:lstStyle/>
                    <a:p>
                      <a:pPr algn="just">
                        <a:spcAft>
                          <a:spcPts val="0"/>
                        </a:spcAft>
                      </a:pPr>
                      <a:r>
                        <a:rPr lang="en-US" sz="1400" kern="100">
                          <a:effectLst/>
                          <a:latin typeface="Times New Roman" panose="02020603050405020304" pitchFamily="18" charset="0"/>
                          <a:ea typeface="+mn-ea"/>
                          <a:cs typeface="Times New Roman" panose="02020603050405020304" pitchFamily="18" charset="0"/>
                        </a:rPr>
                        <a:t>String getFieldName()</a:t>
                      </a:r>
                      <a:endParaRPr lang="zh-CN" sz="1400" kern="100">
                        <a:effectLst/>
                        <a:latin typeface="Times New Roman" panose="02020603050405020304" pitchFamily="18" charset="0"/>
                        <a:ea typeface="+mn-ea"/>
                        <a:cs typeface="Times New Roman" panose="02020603050405020304" pitchFamily="18" charset="0"/>
                      </a:endParaRPr>
                    </a:p>
                  </a:txBody>
                  <a:tcPr marL="57050" marR="57050"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9EDF4"/>
                    </a:solidFill>
                  </a:tcPr>
                </a:tc>
                <a:tc>
                  <a:txBody>
                    <a:bodyPr/>
                    <a:lstStyle/>
                    <a:p>
                      <a:pPr algn="just">
                        <a:spcAft>
                          <a:spcPts val="0"/>
                        </a:spcAft>
                      </a:pPr>
                      <a:r>
                        <a:rPr lang="en-US" sz="1100" kern="100" dirty="0" err="1">
                          <a:effectLst/>
                          <a:latin typeface="Times New Roman" panose="02020603050405020304" pitchFamily="18" charset="0"/>
                          <a:ea typeface="+mn-ea"/>
                          <a:cs typeface="Times New Roman" panose="02020603050405020304" pitchFamily="18" charset="0"/>
                        </a:rPr>
                        <a:t>getFieldName</a:t>
                      </a:r>
                      <a:r>
                        <a:rPr lang="en-US" sz="1100" kern="100" dirty="0">
                          <a:effectLst/>
                          <a:latin typeface="Times New Roman" panose="02020603050405020304" pitchFamily="18" charset="0"/>
                          <a:ea typeface="+mn-ea"/>
                          <a:cs typeface="Times New Roman" panose="02020603050405020304" pitchFamily="18" charset="0"/>
                        </a:rPr>
                        <a:t>()</a:t>
                      </a:r>
                      <a:r>
                        <a:rPr lang="zh-CN" sz="1100" kern="100" dirty="0">
                          <a:effectLst/>
                          <a:latin typeface="Times New Roman" panose="02020603050405020304" pitchFamily="18" charset="0"/>
                          <a:ea typeface="+mn-ea"/>
                          <a:cs typeface="Times New Roman" panose="02020603050405020304" pitchFamily="18" charset="0"/>
                        </a:rPr>
                        <a:t>方法用于获得表单字段元素描述头的</a:t>
                      </a:r>
                      <a:r>
                        <a:rPr lang="en-US" sz="1100" kern="100" dirty="0">
                          <a:effectLst/>
                          <a:latin typeface="Times New Roman" panose="02020603050405020304" pitchFamily="18" charset="0"/>
                          <a:ea typeface="+mn-ea"/>
                          <a:cs typeface="Times New Roman" panose="02020603050405020304" pitchFamily="18" charset="0"/>
                        </a:rPr>
                        <a:t>name</a:t>
                      </a:r>
                      <a:r>
                        <a:rPr lang="zh-CN" sz="1100" kern="100" dirty="0">
                          <a:effectLst/>
                          <a:latin typeface="Times New Roman" panose="02020603050405020304" pitchFamily="18" charset="0"/>
                          <a:ea typeface="+mn-ea"/>
                          <a:cs typeface="Times New Roman" panose="02020603050405020304" pitchFamily="18" charset="0"/>
                        </a:rPr>
                        <a:t>属性值，也是表单标签</a:t>
                      </a:r>
                      <a:r>
                        <a:rPr lang="en-US" sz="1100" kern="100" dirty="0">
                          <a:effectLst/>
                          <a:latin typeface="Times New Roman" panose="02020603050405020304" pitchFamily="18" charset="0"/>
                          <a:ea typeface="+mn-ea"/>
                          <a:cs typeface="Times New Roman" panose="02020603050405020304" pitchFamily="18" charset="0"/>
                        </a:rPr>
                        <a:t>name</a:t>
                      </a:r>
                      <a:r>
                        <a:rPr lang="zh-CN" sz="1100" kern="100" dirty="0">
                          <a:effectLst/>
                          <a:latin typeface="Times New Roman" panose="02020603050405020304" pitchFamily="18" charset="0"/>
                          <a:ea typeface="+mn-ea"/>
                          <a:cs typeface="Times New Roman" panose="02020603050405020304" pitchFamily="18" charset="0"/>
                        </a:rPr>
                        <a:t>属性的值。例如“</a:t>
                      </a:r>
                      <a:r>
                        <a:rPr lang="en-US" sz="1100" kern="100" dirty="0">
                          <a:effectLst/>
                          <a:latin typeface="Times New Roman" panose="02020603050405020304" pitchFamily="18" charset="0"/>
                          <a:ea typeface="+mn-ea"/>
                          <a:cs typeface="Times New Roman" panose="02020603050405020304" pitchFamily="18" charset="0"/>
                        </a:rPr>
                        <a:t>name=file1</a:t>
                      </a:r>
                      <a:r>
                        <a:rPr lang="zh-CN" sz="1100" kern="100" dirty="0">
                          <a:effectLst/>
                          <a:latin typeface="Times New Roman" panose="02020603050405020304" pitchFamily="18" charset="0"/>
                          <a:ea typeface="+mn-ea"/>
                          <a:cs typeface="Times New Roman" panose="02020603050405020304" pitchFamily="18" charset="0"/>
                        </a:rPr>
                        <a:t>”中的“</a:t>
                      </a:r>
                      <a:r>
                        <a:rPr lang="en-US" sz="1100" kern="100" dirty="0">
                          <a:effectLst/>
                          <a:latin typeface="Times New Roman" panose="02020603050405020304" pitchFamily="18" charset="0"/>
                          <a:ea typeface="+mn-ea"/>
                          <a:cs typeface="Times New Roman" panose="02020603050405020304" pitchFamily="18" charset="0"/>
                        </a:rPr>
                        <a:t>file1</a:t>
                      </a:r>
                      <a:r>
                        <a:rPr lang="zh-CN" sz="1100" kern="100" dirty="0">
                          <a:effectLst/>
                          <a:latin typeface="Times New Roman" panose="02020603050405020304" pitchFamily="18" charset="0"/>
                          <a:ea typeface="+mn-ea"/>
                          <a:cs typeface="Times New Roman" panose="02020603050405020304" pitchFamily="18" charset="0"/>
                        </a:rPr>
                        <a:t>”。</a:t>
                      </a:r>
                    </a:p>
                  </a:txBody>
                  <a:tcPr marL="57050" marR="57050"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9EDF4"/>
                    </a:solidFill>
                  </a:tcPr>
                </a:tc>
              </a:tr>
              <a:tr h="656740">
                <a:tc>
                  <a:txBody>
                    <a:bodyPr/>
                    <a:lstStyle/>
                    <a:p>
                      <a:pPr algn="just">
                        <a:spcAft>
                          <a:spcPts val="0"/>
                        </a:spcAft>
                      </a:pPr>
                      <a:r>
                        <a:rPr lang="en-US" sz="1400" kern="100" dirty="0">
                          <a:effectLst/>
                          <a:latin typeface="Times New Roman" panose="02020603050405020304" pitchFamily="18" charset="0"/>
                          <a:ea typeface="+mn-ea"/>
                          <a:cs typeface="Times New Roman" panose="02020603050405020304" pitchFamily="18" charset="0"/>
                        </a:rPr>
                        <a:t>void write(File file)</a:t>
                      </a:r>
                      <a:endParaRPr lang="zh-CN" sz="1400" kern="100" dirty="0">
                        <a:effectLst/>
                        <a:latin typeface="Times New Roman" panose="02020603050405020304" pitchFamily="18" charset="0"/>
                        <a:ea typeface="+mn-ea"/>
                        <a:cs typeface="Times New Roman" panose="02020603050405020304" pitchFamily="18" charset="0"/>
                      </a:endParaRPr>
                    </a:p>
                  </a:txBody>
                  <a:tcPr marL="57050" marR="57050"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algn="just">
                        <a:spcAft>
                          <a:spcPts val="0"/>
                        </a:spcAft>
                      </a:pPr>
                      <a:r>
                        <a:rPr lang="en-US" sz="1100" kern="100" dirty="0">
                          <a:effectLst/>
                          <a:latin typeface="Times New Roman" panose="02020603050405020304" pitchFamily="18" charset="0"/>
                          <a:ea typeface="+mn-ea"/>
                          <a:cs typeface="Times New Roman" panose="02020603050405020304" pitchFamily="18" charset="0"/>
                        </a:rPr>
                        <a:t>write()</a:t>
                      </a:r>
                      <a:r>
                        <a:rPr lang="zh-CN" sz="1100" kern="100" dirty="0">
                          <a:effectLst/>
                          <a:latin typeface="Times New Roman" panose="02020603050405020304" pitchFamily="18" charset="0"/>
                          <a:ea typeface="+mn-ea"/>
                          <a:cs typeface="Times New Roman" panose="02020603050405020304" pitchFamily="18" charset="0"/>
                        </a:rPr>
                        <a:t>方法用于将</a:t>
                      </a:r>
                      <a:r>
                        <a:rPr lang="en-US" sz="1100" kern="100" dirty="0">
                          <a:effectLst/>
                          <a:latin typeface="Times New Roman" panose="02020603050405020304" pitchFamily="18" charset="0"/>
                          <a:ea typeface="+mn-ea"/>
                          <a:cs typeface="Times New Roman" panose="02020603050405020304" pitchFamily="18" charset="0"/>
                        </a:rPr>
                        <a:t>FileItem</a:t>
                      </a:r>
                      <a:r>
                        <a:rPr lang="zh-CN" sz="1100" kern="100" dirty="0">
                          <a:effectLst/>
                          <a:latin typeface="Times New Roman" panose="02020603050405020304" pitchFamily="18" charset="0"/>
                          <a:ea typeface="+mn-ea"/>
                          <a:cs typeface="Times New Roman" panose="02020603050405020304" pitchFamily="18" charset="0"/>
                        </a:rPr>
                        <a:t>对象中保存的主体内容保存到某个指定的文件中。如果</a:t>
                      </a:r>
                      <a:r>
                        <a:rPr lang="en-US" sz="1100" kern="100" dirty="0">
                          <a:effectLst/>
                          <a:latin typeface="Times New Roman" panose="02020603050405020304" pitchFamily="18" charset="0"/>
                          <a:ea typeface="+mn-ea"/>
                          <a:cs typeface="Times New Roman" panose="02020603050405020304" pitchFamily="18" charset="0"/>
                        </a:rPr>
                        <a:t>FileItem</a:t>
                      </a:r>
                      <a:r>
                        <a:rPr lang="zh-CN" sz="1100" kern="100" dirty="0">
                          <a:effectLst/>
                          <a:latin typeface="Times New Roman" panose="02020603050405020304" pitchFamily="18" charset="0"/>
                          <a:ea typeface="+mn-ea"/>
                          <a:cs typeface="Times New Roman" panose="02020603050405020304" pitchFamily="18" charset="0"/>
                        </a:rPr>
                        <a:t>对象中的主体内容是保存在某个临时文件中，那么该方法顺利完成后，临时文件有可能会被清除。另外，该方法也可将普通表单字段内容写入到一个文件中，但它主要用于将上传的文件内容保存到本地文件系统中。</a:t>
                      </a:r>
                    </a:p>
                  </a:txBody>
                  <a:tcPr marL="57050" marR="57050"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r>
              <a:tr h="656740">
                <a:tc>
                  <a:txBody>
                    <a:bodyPr/>
                    <a:lstStyle/>
                    <a:p>
                      <a:pPr algn="just">
                        <a:spcAft>
                          <a:spcPts val="0"/>
                        </a:spcAft>
                      </a:pPr>
                      <a:r>
                        <a:rPr lang="en-US" sz="1400" kern="100">
                          <a:effectLst/>
                          <a:latin typeface="Times New Roman" panose="02020603050405020304" pitchFamily="18" charset="0"/>
                          <a:ea typeface="+mn-ea"/>
                          <a:cs typeface="Times New Roman" panose="02020603050405020304" pitchFamily="18" charset="0"/>
                        </a:rPr>
                        <a:t>String getString()</a:t>
                      </a:r>
                      <a:endParaRPr lang="zh-CN" sz="1400" kern="100">
                        <a:effectLst/>
                        <a:latin typeface="Times New Roman" panose="02020603050405020304" pitchFamily="18" charset="0"/>
                        <a:ea typeface="+mn-ea"/>
                        <a:cs typeface="Times New Roman" panose="02020603050405020304" pitchFamily="18" charset="0"/>
                      </a:endParaRPr>
                    </a:p>
                  </a:txBody>
                  <a:tcPr marL="57050" marR="57050"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9EDF4"/>
                    </a:solidFill>
                  </a:tcPr>
                </a:tc>
                <a:tc>
                  <a:txBody>
                    <a:bodyPr/>
                    <a:lstStyle/>
                    <a:p>
                      <a:pPr algn="just">
                        <a:spcAft>
                          <a:spcPts val="0"/>
                        </a:spcAft>
                      </a:pPr>
                      <a:r>
                        <a:rPr lang="en-US" sz="1100" kern="100" dirty="0" err="1">
                          <a:effectLst/>
                          <a:latin typeface="Times New Roman" panose="02020603050405020304" pitchFamily="18" charset="0"/>
                          <a:ea typeface="+mn-ea"/>
                          <a:cs typeface="Times New Roman" panose="02020603050405020304" pitchFamily="18" charset="0"/>
                        </a:rPr>
                        <a:t>getString</a:t>
                      </a:r>
                      <a:r>
                        <a:rPr lang="en-US" sz="1100" kern="100" dirty="0">
                          <a:effectLst/>
                          <a:latin typeface="Times New Roman" panose="02020603050405020304" pitchFamily="18" charset="0"/>
                          <a:ea typeface="+mn-ea"/>
                          <a:cs typeface="Times New Roman" panose="02020603050405020304" pitchFamily="18" charset="0"/>
                        </a:rPr>
                        <a:t>()</a:t>
                      </a:r>
                      <a:r>
                        <a:rPr lang="zh-CN" sz="1100" kern="100" dirty="0">
                          <a:effectLst/>
                          <a:latin typeface="Times New Roman" panose="02020603050405020304" pitchFamily="18" charset="0"/>
                          <a:ea typeface="+mn-ea"/>
                          <a:cs typeface="Times New Roman" panose="02020603050405020304" pitchFamily="18" charset="0"/>
                        </a:rPr>
                        <a:t>方法用于将</a:t>
                      </a:r>
                      <a:r>
                        <a:rPr lang="en-US" sz="1100" kern="100" dirty="0">
                          <a:effectLst/>
                          <a:latin typeface="Times New Roman" panose="02020603050405020304" pitchFamily="18" charset="0"/>
                          <a:ea typeface="+mn-ea"/>
                          <a:cs typeface="Times New Roman" panose="02020603050405020304" pitchFamily="18" charset="0"/>
                        </a:rPr>
                        <a:t>FileItem</a:t>
                      </a:r>
                      <a:r>
                        <a:rPr lang="zh-CN" sz="1100" kern="100" dirty="0">
                          <a:effectLst/>
                          <a:latin typeface="Times New Roman" panose="02020603050405020304" pitchFamily="18" charset="0"/>
                          <a:ea typeface="+mn-ea"/>
                          <a:cs typeface="Times New Roman" panose="02020603050405020304" pitchFamily="18" charset="0"/>
                        </a:rPr>
                        <a:t>对象中保存的数据流内容以一个字符串返回，它有两个重载的定义形式：</a:t>
                      </a:r>
                    </a:p>
                    <a:p>
                      <a:pPr algn="just">
                        <a:spcAft>
                          <a:spcPts val="0"/>
                        </a:spcAft>
                      </a:pPr>
                      <a:r>
                        <a:rPr lang="en-US" sz="1100" kern="100" dirty="0">
                          <a:effectLst/>
                          <a:latin typeface="Times New Roman" panose="02020603050405020304" pitchFamily="18" charset="0"/>
                          <a:ea typeface="+mn-ea"/>
                          <a:cs typeface="Times New Roman" panose="02020603050405020304" pitchFamily="18" charset="0"/>
                        </a:rPr>
                        <a:t>public String </a:t>
                      </a:r>
                      <a:r>
                        <a:rPr lang="en-US" sz="1100" kern="100" dirty="0" err="1">
                          <a:effectLst/>
                          <a:latin typeface="Times New Roman" panose="02020603050405020304" pitchFamily="18" charset="0"/>
                          <a:ea typeface="+mn-ea"/>
                          <a:cs typeface="Times New Roman" panose="02020603050405020304" pitchFamily="18" charset="0"/>
                        </a:rPr>
                        <a:t>getString</a:t>
                      </a:r>
                      <a:r>
                        <a:rPr lang="en-US" sz="1100" kern="100" dirty="0">
                          <a:effectLst/>
                          <a:latin typeface="Times New Roman" panose="02020603050405020304" pitchFamily="18" charset="0"/>
                          <a:ea typeface="+mn-ea"/>
                          <a:cs typeface="Times New Roman" panose="02020603050405020304" pitchFamily="18" charset="0"/>
                        </a:rPr>
                        <a:t>()</a:t>
                      </a:r>
                      <a:endParaRPr lang="zh-CN" sz="1100" kern="100" dirty="0">
                        <a:effectLst/>
                        <a:latin typeface="Times New Roman" panose="02020603050405020304" pitchFamily="18" charset="0"/>
                        <a:ea typeface="+mn-ea"/>
                        <a:cs typeface="Times New Roman" panose="02020603050405020304" pitchFamily="18" charset="0"/>
                      </a:endParaRPr>
                    </a:p>
                    <a:p>
                      <a:pPr algn="just">
                        <a:spcAft>
                          <a:spcPts val="0"/>
                        </a:spcAft>
                      </a:pPr>
                      <a:r>
                        <a:rPr lang="en-US" sz="1100" kern="100" dirty="0">
                          <a:effectLst/>
                          <a:latin typeface="Times New Roman" panose="02020603050405020304" pitchFamily="18" charset="0"/>
                          <a:ea typeface="+mn-ea"/>
                          <a:cs typeface="Times New Roman" panose="02020603050405020304" pitchFamily="18" charset="0"/>
                        </a:rPr>
                        <a:t>public String </a:t>
                      </a:r>
                      <a:r>
                        <a:rPr lang="en-US" sz="1100" kern="100" dirty="0" err="1">
                          <a:effectLst/>
                          <a:latin typeface="Times New Roman" panose="02020603050405020304" pitchFamily="18" charset="0"/>
                          <a:ea typeface="+mn-ea"/>
                          <a:cs typeface="Times New Roman" panose="02020603050405020304" pitchFamily="18" charset="0"/>
                        </a:rPr>
                        <a:t>getString</a:t>
                      </a:r>
                      <a:r>
                        <a:rPr lang="en-US" sz="1100" kern="100" dirty="0">
                          <a:effectLst/>
                          <a:latin typeface="Times New Roman" panose="02020603050405020304" pitchFamily="18" charset="0"/>
                          <a:ea typeface="+mn-ea"/>
                          <a:cs typeface="Times New Roman" panose="02020603050405020304" pitchFamily="18" charset="0"/>
                        </a:rPr>
                        <a:t>(</a:t>
                      </a:r>
                      <a:r>
                        <a:rPr lang="en-US" sz="1100" kern="100" dirty="0" err="1">
                          <a:effectLst/>
                          <a:latin typeface="Times New Roman" panose="02020603050405020304" pitchFamily="18" charset="0"/>
                          <a:ea typeface="+mn-ea"/>
                          <a:cs typeface="Times New Roman" panose="02020603050405020304" pitchFamily="18" charset="0"/>
                        </a:rPr>
                        <a:t>java.lang.String</a:t>
                      </a:r>
                      <a:r>
                        <a:rPr lang="en-US" sz="1100" kern="100" dirty="0">
                          <a:effectLst/>
                          <a:latin typeface="Times New Roman" panose="02020603050405020304" pitchFamily="18" charset="0"/>
                          <a:ea typeface="+mn-ea"/>
                          <a:cs typeface="Times New Roman" panose="02020603050405020304" pitchFamily="18" charset="0"/>
                        </a:rPr>
                        <a:t> encoding)</a:t>
                      </a:r>
                      <a:endParaRPr lang="zh-CN" sz="1100" kern="100" dirty="0">
                        <a:effectLst/>
                        <a:latin typeface="Times New Roman" panose="02020603050405020304" pitchFamily="18" charset="0"/>
                        <a:ea typeface="+mn-ea"/>
                        <a:cs typeface="Times New Roman" panose="02020603050405020304" pitchFamily="18" charset="0"/>
                      </a:endParaRPr>
                    </a:p>
                  </a:txBody>
                  <a:tcPr marL="57050" marR="57050"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9EDF4"/>
                    </a:solidFill>
                  </a:tcPr>
                </a:tc>
              </a:tr>
              <a:tr h="429258">
                <a:tc>
                  <a:txBody>
                    <a:bodyPr/>
                    <a:lstStyle/>
                    <a:p>
                      <a:pPr algn="just">
                        <a:spcAft>
                          <a:spcPts val="0"/>
                        </a:spcAft>
                      </a:pPr>
                      <a:r>
                        <a:rPr lang="en-US" sz="1400" kern="100" dirty="0">
                          <a:effectLst/>
                          <a:latin typeface="Times New Roman" panose="02020603050405020304" pitchFamily="18" charset="0"/>
                          <a:ea typeface="+mn-ea"/>
                          <a:cs typeface="Times New Roman" panose="02020603050405020304" pitchFamily="18" charset="0"/>
                        </a:rPr>
                        <a:t>String </a:t>
                      </a:r>
                      <a:r>
                        <a:rPr lang="en-US" sz="1400" kern="100" dirty="0" err="1">
                          <a:effectLst/>
                          <a:latin typeface="Times New Roman" panose="02020603050405020304" pitchFamily="18" charset="0"/>
                          <a:ea typeface="+mn-ea"/>
                          <a:cs typeface="Times New Roman" panose="02020603050405020304" pitchFamily="18" charset="0"/>
                        </a:rPr>
                        <a:t>getContentType</a:t>
                      </a:r>
                      <a:r>
                        <a:rPr lang="en-US" sz="1400" kern="100" dirty="0">
                          <a:effectLst/>
                          <a:latin typeface="Times New Roman" panose="02020603050405020304" pitchFamily="18" charset="0"/>
                          <a:ea typeface="+mn-ea"/>
                          <a:cs typeface="Times New Roman" panose="02020603050405020304" pitchFamily="18" charset="0"/>
                        </a:rPr>
                        <a:t>()</a:t>
                      </a:r>
                      <a:endParaRPr lang="zh-CN" sz="1400" kern="100" dirty="0">
                        <a:effectLst/>
                        <a:latin typeface="Times New Roman" panose="02020603050405020304" pitchFamily="18" charset="0"/>
                        <a:ea typeface="+mn-ea"/>
                        <a:cs typeface="Times New Roman" panose="02020603050405020304" pitchFamily="18" charset="0"/>
                      </a:endParaRPr>
                    </a:p>
                  </a:txBody>
                  <a:tcPr marL="57050" marR="57050"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algn="just">
                        <a:spcAft>
                          <a:spcPts val="0"/>
                        </a:spcAft>
                      </a:pPr>
                      <a:r>
                        <a:rPr lang="en-US" sz="1100" kern="100" dirty="0" err="1">
                          <a:effectLst/>
                          <a:latin typeface="Times New Roman" panose="02020603050405020304" pitchFamily="18" charset="0"/>
                          <a:ea typeface="+mn-ea"/>
                          <a:cs typeface="Times New Roman" panose="02020603050405020304" pitchFamily="18" charset="0"/>
                        </a:rPr>
                        <a:t>getContentType</a:t>
                      </a:r>
                      <a:r>
                        <a:rPr lang="en-US" sz="1100" kern="100" dirty="0">
                          <a:effectLst/>
                          <a:latin typeface="Times New Roman" panose="02020603050405020304" pitchFamily="18" charset="0"/>
                          <a:ea typeface="+mn-ea"/>
                          <a:cs typeface="Times New Roman" panose="02020603050405020304" pitchFamily="18" charset="0"/>
                        </a:rPr>
                        <a:t>()</a:t>
                      </a:r>
                      <a:r>
                        <a:rPr lang="zh-CN" sz="1100" kern="100" dirty="0">
                          <a:effectLst/>
                          <a:latin typeface="Times New Roman" panose="02020603050405020304" pitchFamily="18" charset="0"/>
                          <a:ea typeface="+mn-ea"/>
                          <a:cs typeface="Times New Roman" panose="02020603050405020304" pitchFamily="18" charset="0"/>
                        </a:rPr>
                        <a:t>方法用于获得上传文件的类型，即表单字段元素描述头属性“</a:t>
                      </a:r>
                      <a:r>
                        <a:rPr lang="en-US" sz="1100" kern="100" dirty="0">
                          <a:effectLst/>
                          <a:latin typeface="Times New Roman" panose="02020603050405020304" pitchFamily="18" charset="0"/>
                          <a:ea typeface="+mn-ea"/>
                          <a:cs typeface="Times New Roman" panose="02020603050405020304" pitchFamily="18" charset="0"/>
                        </a:rPr>
                        <a:t>Content-Type</a:t>
                      </a:r>
                      <a:r>
                        <a:rPr lang="zh-CN" sz="1100" kern="100" dirty="0">
                          <a:effectLst/>
                          <a:latin typeface="Times New Roman" panose="02020603050405020304" pitchFamily="18" charset="0"/>
                          <a:ea typeface="+mn-ea"/>
                          <a:cs typeface="Times New Roman" panose="02020603050405020304" pitchFamily="18" charset="0"/>
                        </a:rPr>
                        <a:t>”的值，如“</a:t>
                      </a:r>
                      <a:r>
                        <a:rPr lang="en-US" sz="1100" kern="100" dirty="0">
                          <a:effectLst/>
                          <a:latin typeface="Times New Roman" panose="02020603050405020304" pitchFamily="18" charset="0"/>
                          <a:ea typeface="+mn-ea"/>
                          <a:cs typeface="Times New Roman" panose="02020603050405020304" pitchFamily="18" charset="0"/>
                        </a:rPr>
                        <a:t>image/jpeg</a:t>
                      </a:r>
                      <a:r>
                        <a:rPr lang="zh-CN" sz="1100" kern="100" dirty="0">
                          <a:effectLst/>
                          <a:latin typeface="Times New Roman" panose="02020603050405020304" pitchFamily="18" charset="0"/>
                          <a:ea typeface="+mn-ea"/>
                          <a:cs typeface="Times New Roman" panose="02020603050405020304" pitchFamily="18" charset="0"/>
                        </a:rPr>
                        <a:t>”。如果</a:t>
                      </a:r>
                      <a:r>
                        <a:rPr lang="en-US" sz="1100" kern="100" dirty="0">
                          <a:effectLst/>
                          <a:latin typeface="Times New Roman" panose="02020603050405020304" pitchFamily="18" charset="0"/>
                          <a:ea typeface="+mn-ea"/>
                          <a:cs typeface="Times New Roman" panose="02020603050405020304" pitchFamily="18" charset="0"/>
                        </a:rPr>
                        <a:t>FileItem</a:t>
                      </a:r>
                      <a:r>
                        <a:rPr lang="zh-CN" sz="1100" kern="100" dirty="0">
                          <a:effectLst/>
                          <a:latin typeface="Times New Roman" panose="02020603050405020304" pitchFamily="18" charset="0"/>
                          <a:ea typeface="+mn-ea"/>
                          <a:cs typeface="Times New Roman" panose="02020603050405020304" pitchFamily="18" charset="0"/>
                        </a:rPr>
                        <a:t>类对象对应的是普通表单字段，该方法将返回</a:t>
                      </a:r>
                      <a:r>
                        <a:rPr lang="en-US" sz="1100" kern="100" dirty="0">
                          <a:effectLst/>
                          <a:latin typeface="Times New Roman" panose="02020603050405020304" pitchFamily="18" charset="0"/>
                          <a:ea typeface="+mn-ea"/>
                          <a:cs typeface="Times New Roman" panose="02020603050405020304" pitchFamily="18" charset="0"/>
                        </a:rPr>
                        <a:t>null</a:t>
                      </a:r>
                      <a:r>
                        <a:rPr lang="zh-CN" sz="1100" kern="100" dirty="0">
                          <a:effectLst/>
                          <a:latin typeface="Times New Roman" panose="02020603050405020304" pitchFamily="18" charset="0"/>
                          <a:ea typeface="+mn-ea"/>
                          <a:cs typeface="Times New Roman" panose="02020603050405020304" pitchFamily="18" charset="0"/>
                        </a:rPr>
                        <a:t>。</a:t>
                      </a:r>
                    </a:p>
                  </a:txBody>
                  <a:tcPr marL="57050" marR="57050"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r>
              <a:tr h="340798">
                <a:tc>
                  <a:txBody>
                    <a:bodyPr/>
                    <a:lstStyle/>
                    <a:p>
                      <a:pPr algn="just">
                        <a:spcAft>
                          <a:spcPts val="0"/>
                        </a:spcAft>
                      </a:pPr>
                      <a:r>
                        <a:rPr lang="en-US" sz="1400" kern="100">
                          <a:effectLst/>
                          <a:latin typeface="Times New Roman" panose="02020603050405020304" pitchFamily="18" charset="0"/>
                          <a:ea typeface="+mn-ea"/>
                          <a:cs typeface="Times New Roman" panose="02020603050405020304" pitchFamily="18" charset="0"/>
                        </a:rPr>
                        <a:t>boolean isInMemory()</a:t>
                      </a:r>
                      <a:endParaRPr lang="zh-CN" sz="1400" kern="100">
                        <a:effectLst/>
                        <a:latin typeface="Times New Roman" panose="02020603050405020304" pitchFamily="18" charset="0"/>
                        <a:ea typeface="+mn-ea"/>
                        <a:cs typeface="Times New Roman" panose="02020603050405020304" pitchFamily="18" charset="0"/>
                      </a:endParaRPr>
                    </a:p>
                  </a:txBody>
                  <a:tcPr marL="57050" marR="57050"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9EDF4"/>
                    </a:solidFill>
                  </a:tcPr>
                </a:tc>
                <a:tc>
                  <a:txBody>
                    <a:bodyPr/>
                    <a:lstStyle/>
                    <a:p>
                      <a:pPr algn="just">
                        <a:spcAft>
                          <a:spcPts val="0"/>
                        </a:spcAft>
                      </a:pPr>
                      <a:r>
                        <a:rPr lang="en-US" sz="1100" kern="100" dirty="0" err="1" smtClean="0">
                          <a:effectLst/>
                          <a:latin typeface="Times New Roman" panose="02020603050405020304" pitchFamily="18" charset="0"/>
                          <a:ea typeface="+mn-ea"/>
                          <a:cs typeface="Times New Roman" panose="02020603050405020304" pitchFamily="18" charset="0"/>
                        </a:rPr>
                        <a:t>isInMemory</a:t>
                      </a:r>
                      <a:r>
                        <a:rPr lang="en-US" sz="1100" kern="100" dirty="0" smtClean="0">
                          <a:effectLst/>
                          <a:latin typeface="Times New Roman" panose="02020603050405020304" pitchFamily="18" charset="0"/>
                          <a:ea typeface="+mn-ea"/>
                          <a:cs typeface="Times New Roman" panose="02020603050405020304" pitchFamily="18" charset="0"/>
                        </a:rPr>
                        <a:t>()</a:t>
                      </a:r>
                      <a:r>
                        <a:rPr lang="zh-CN" sz="1100" kern="100" dirty="0" smtClean="0">
                          <a:effectLst/>
                          <a:latin typeface="Times New Roman" panose="02020603050405020304" pitchFamily="18" charset="0"/>
                          <a:ea typeface="+mn-ea"/>
                          <a:cs typeface="Times New Roman" panose="02020603050405020304" pitchFamily="18" charset="0"/>
                        </a:rPr>
                        <a:t>方法用来判断</a:t>
                      </a:r>
                      <a:r>
                        <a:rPr lang="en-US" sz="1100" kern="100" dirty="0" smtClean="0">
                          <a:effectLst/>
                          <a:latin typeface="Times New Roman" panose="02020603050405020304" pitchFamily="18" charset="0"/>
                          <a:ea typeface="+mn-ea"/>
                          <a:cs typeface="Times New Roman" panose="02020603050405020304" pitchFamily="18" charset="0"/>
                        </a:rPr>
                        <a:t>FileItem</a:t>
                      </a:r>
                      <a:r>
                        <a:rPr lang="zh-CN" sz="1100" kern="100" dirty="0" smtClean="0">
                          <a:effectLst/>
                          <a:latin typeface="Times New Roman" panose="02020603050405020304" pitchFamily="18" charset="0"/>
                          <a:ea typeface="+mn-ea"/>
                          <a:cs typeface="Times New Roman" panose="02020603050405020304" pitchFamily="18" charset="0"/>
                        </a:rPr>
                        <a:t>对象封装的数据内容是存储在内存中，还是存储在临时文件中，如果存储在内存中则返回</a:t>
                      </a:r>
                      <a:r>
                        <a:rPr lang="en-US" sz="1100" kern="100" dirty="0" smtClean="0">
                          <a:effectLst/>
                          <a:latin typeface="Times New Roman" panose="02020603050405020304" pitchFamily="18" charset="0"/>
                          <a:ea typeface="+mn-ea"/>
                          <a:cs typeface="Times New Roman" panose="02020603050405020304" pitchFamily="18" charset="0"/>
                        </a:rPr>
                        <a:t>true</a:t>
                      </a:r>
                      <a:r>
                        <a:rPr lang="zh-CN" sz="1100" kern="100" dirty="0" smtClean="0">
                          <a:effectLst/>
                          <a:latin typeface="Times New Roman" panose="02020603050405020304" pitchFamily="18" charset="0"/>
                          <a:ea typeface="+mn-ea"/>
                          <a:cs typeface="Times New Roman" panose="02020603050405020304" pitchFamily="18" charset="0"/>
                        </a:rPr>
                        <a:t>，否则返回</a:t>
                      </a:r>
                      <a:r>
                        <a:rPr lang="en-US" sz="1100" kern="100" dirty="0" smtClean="0">
                          <a:effectLst/>
                          <a:latin typeface="Times New Roman" panose="02020603050405020304" pitchFamily="18" charset="0"/>
                          <a:ea typeface="+mn-ea"/>
                          <a:cs typeface="Times New Roman" panose="02020603050405020304" pitchFamily="18" charset="0"/>
                        </a:rPr>
                        <a:t>false</a:t>
                      </a:r>
                      <a:r>
                        <a:rPr lang="zh-CN" sz="1100" kern="100" dirty="0" smtClean="0">
                          <a:effectLst/>
                          <a:latin typeface="Times New Roman" panose="02020603050405020304" pitchFamily="18" charset="0"/>
                          <a:ea typeface="+mn-ea"/>
                          <a:cs typeface="Times New Roman" panose="02020603050405020304" pitchFamily="18" charset="0"/>
                        </a:rPr>
                        <a:t>。</a:t>
                      </a:r>
                      <a:endParaRPr lang="zh-CN" sz="1100" kern="100" dirty="0">
                        <a:effectLst/>
                        <a:latin typeface="Times New Roman" panose="02020603050405020304" pitchFamily="18" charset="0"/>
                        <a:ea typeface="+mn-ea"/>
                        <a:cs typeface="Times New Roman" panose="02020603050405020304" pitchFamily="18" charset="0"/>
                      </a:endParaRPr>
                    </a:p>
                  </a:txBody>
                  <a:tcPr marL="57050" marR="57050"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9EDF4"/>
                    </a:solidFill>
                  </a:tcPr>
                </a:tc>
              </a:tr>
              <a:tr h="681590">
                <a:tc>
                  <a:txBody>
                    <a:bodyPr/>
                    <a:lstStyle/>
                    <a:p>
                      <a:pPr algn="just">
                        <a:spcAft>
                          <a:spcPts val="0"/>
                        </a:spcAft>
                      </a:pPr>
                      <a:r>
                        <a:rPr lang="en-US" sz="1400" kern="100" dirty="0" smtClean="0">
                          <a:effectLst/>
                          <a:latin typeface="Times New Roman" panose="02020603050405020304" pitchFamily="18" charset="0"/>
                          <a:ea typeface="+mn-ea"/>
                          <a:cs typeface="Times New Roman" panose="02020603050405020304" pitchFamily="18" charset="0"/>
                        </a:rPr>
                        <a:t>void delete()</a:t>
                      </a:r>
                      <a:endParaRPr lang="zh-CN" sz="1400" kern="100" dirty="0">
                        <a:effectLst/>
                        <a:latin typeface="Times New Roman" panose="02020603050405020304" pitchFamily="18" charset="0"/>
                        <a:ea typeface="+mn-ea"/>
                        <a:cs typeface="Times New Roman" panose="02020603050405020304" pitchFamily="18" charset="0"/>
                      </a:endParaRPr>
                    </a:p>
                  </a:txBody>
                  <a:tcPr marL="57050" marR="57050"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algn="just">
                        <a:spcAft>
                          <a:spcPts val="0"/>
                        </a:spcAft>
                      </a:pPr>
                      <a:r>
                        <a:rPr lang="en-US" sz="1100" kern="100" dirty="0">
                          <a:effectLst/>
                          <a:latin typeface="Times New Roman" panose="02020603050405020304" pitchFamily="18" charset="0"/>
                          <a:ea typeface="+mn-ea"/>
                          <a:cs typeface="Times New Roman" panose="02020603050405020304" pitchFamily="18" charset="0"/>
                        </a:rPr>
                        <a:t>delete()</a:t>
                      </a:r>
                      <a:r>
                        <a:rPr lang="zh-CN" sz="1100" kern="100" dirty="0">
                          <a:effectLst/>
                          <a:latin typeface="Times New Roman" panose="02020603050405020304" pitchFamily="18" charset="0"/>
                          <a:ea typeface="+mn-ea"/>
                          <a:cs typeface="Times New Roman" panose="02020603050405020304" pitchFamily="18" charset="0"/>
                        </a:rPr>
                        <a:t>方法用来清空</a:t>
                      </a:r>
                      <a:r>
                        <a:rPr lang="en-US" sz="1100" kern="100" dirty="0">
                          <a:effectLst/>
                          <a:latin typeface="Times New Roman" panose="02020603050405020304" pitchFamily="18" charset="0"/>
                          <a:ea typeface="+mn-ea"/>
                          <a:cs typeface="Times New Roman" panose="02020603050405020304" pitchFamily="18" charset="0"/>
                        </a:rPr>
                        <a:t>FileItem</a:t>
                      </a:r>
                      <a:r>
                        <a:rPr lang="zh-CN" sz="1100" kern="100" dirty="0">
                          <a:effectLst/>
                          <a:latin typeface="Times New Roman" panose="02020603050405020304" pitchFamily="18" charset="0"/>
                          <a:ea typeface="+mn-ea"/>
                          <a:cs typeface="Times New Roman" panose="02020603050405020304" pitchFamily="18" charset="0"/>
                        </a:rPr>
                        <a:t>类对象中存放的主体内容，如果主体内容被保存在临时文件中，</a:t>
                      </a:r>
                      <a:r>
                        <a:rPr lang="en-US" sz="1100" kern="100" dirty="0">
                          <a:effectLst/>
                          <a:latin typeface="Times New Roman" panose="02020603050405020304" pitchFamily="18" charset="0"/>
                          <a:ea typeface="+mn-ea"/>
                          <a:cs typeface="Times New Roman" panose="02020603050405020304" pitchFamily="18" charset="0"/>
                        </a:rPr>
                        <a:t>delete()</a:t>
                      </a:r>
                      <a:r>
                        <a:rPr lang="zh-CN" sz="1100" kern="100" dirty="0">
                          <a:effectLst/>
                          <a:latin typeface="Times New Roman" panose="02020603050405020304" pitchFamily="18" charset="0"/>
                          <a:ea typeface="+mn-ea"/>
                          <a:cs typeface="Times New Roman" panose="02020603050405020304" pitchFamily="18" charset="0"/>
                        </a:rPr>
                        <a:t>方法将删除该临时文件。需要注意的是，尽管</a:t>
                      </a:r>
                      <a:r>
                        <a:rPr lang="en-US" sz="1100" kern="100" dirty="0">
                          <a:effectLst/>
                          <a:latin typeface="Times New Roman" panose="02020603050405020304" pitchFamily="18" charset="0"/>
                          <a:ea typeface="+mn-ea"/>
                          <a:cs typeface="Times New Roman" panose="02020603050405020304" pitchFamily="18" charset="0"/>
                        </a:rPr>
                        <a:t>FileItem</a:t>
                      </a:r>
                      <a:r>
                        <a:rPr lang="zh-CN" sz="1100" kern="100" dirty="0">
                          <a:effectLst/>
                          <a:latin typeface="Times New Roman" panose="02020603050405020304" pitchFamily="18" charset="0"/>
                          <a:ea typeface="+mn-ea"/>
                          <a:cs typeface="Times New Roman" panose="02020603050405020304" pitchFamily="18" charset="0"/>
                        </a:rPr>
                        <a:t>对象被垃圾收集器收集时会自动清除临时文件，但应该及时调用</a:t>
                      </a:r>
                      <a:r>
                        <a:rPr lang="en-US" sz="1100" kern="100" dirty="0">
                          <a:effectLst/>
                          <a:latin typeface="Times New Roman" panose="02020603050405020304" pitchFamily="18" charset="0"/>
                          <a:ea typeface="+mn-ea"/>
                          <a:cs typeface="Times New Roman" panose="02020603050405020304" pitchFamily="18" charset="0"/>
                        </a:rPr>
                        <a:t>delete()</a:t>
                      </a:r>
                      <a:r>
                        <a:rPr lang="zh-CN" sz="1100" kern="100" dirty="0">
                          <a:effectLst/>
                          <a:latin typeface="Times New Roman" panose="02020603050405020304" pitchFamily="18" charset="0"/>
                          <a:ea typeface="+mn-ea"/>
                          <a:cs typeface="Times New Roman" panose="02020603050405020304" pitchFamily="18" charset="0"/>
                        </a:rPr>
                        <a:t>方法清除临时文件，从而释放系统存储资源，以防系统出现异常，导致临时文件被永久的保存在硬盘中。</a:t>
                      </a:r>
                    </a:p>
                  </a:txBody>
                  <a:tcPr marL="57050" marR="57050"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r>
              <a:tr h="417925">
                <a:tc>
                  <a:txBody>
                    <a:bodyPr/>
                    <a:lstStyle/>
                    <a:p>
                      <a:pPr algn="just">
                        <a:spcAft>
                          <a:spcPts val="0"/>
                        </a:spcAft>
                      </a:pPr>
                      <a:r>
                        <a:rPr lang="en-US" sz="1400" kern="100">
                          <a:effectLst/>
                          <a:latin typeface="Times New Roman" panose="02020603050405020304" pitchFamily="18" charset="0"/>
                          <a:ea typeface="+mn-ea"/>
                          <a:cs typeface="Times New Roman" panose="02020603050405020304" pitchFamily="18" charset="0"/>
                        </a:rPr>
                        <a:t>InputStream getInputStream()</a:t>
                      </a:r>
                      <a:endParaRPr lang="zh-CN" sz="1400" kern="100">
                        <a:effectLst/>
                        <a:latin typeface="Times New Roman" panose="02020603050405020304" pitchFamily="18" charset="0"/>
                        <a:ea typeface="+mn-ea"/>
                        <a:cs typeface="Times New Roman" panose="02020603050405020304" pitchFamily="18" charset="0"/>
                      </a:endParaRPr>
                    </a:p>
                  </a:txBody>
                  <a:tcPr marL="57050" marR="57050"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9EDF4"/>
                    </a:solidFill>
                  </a:tcPr>
                </a:tc>
                <a:tc>
                  <a:txBody>
                    <a:bodyPr/>
                    <a:lstStyle/>
                    <a:p>
                      <a:pPr algn="just">
                        <a:spcAft>
                          <a:spcPts val="0"/>
                        </a:spcAft>
                      </a:pPr>
                      <a:r>
                        <a:rPr lang="en-US" sz="1100" kern="100" dirty="0" err="1">
                          <a:effectLst/>
                          <a:latin typeface="Times New Roman" panose="02020603050405020304" pitchFamily="18" charset="0"/>
                          <a:ea typeface="+mn-ea"/>
                          <a:cs typeface="Times New Roman" panose="02020603050405020304" pitchFamily="18" charset="0"/>
                        </a:rPr>
                        <a:t>getInputStream</a:t>
                      </a:r>
                      <a:r>
                        <a:rPr lang="en-US" sz="1100" kern="100" dirty="0">
                          <a:effectLst/>
                          <a:latin typeface="Times New Roman" panose="02020603050405020304" pitchFamily="18" charset="0"/>
                          <a:ea typeface="+mn-ea"/>
                          <a:cs typeface="Times New Roman" panose="02020603050405020304" pitchFamily="18" charset="0"/>
                        </a:rPr>
                        <a:t>()</a:t>
                      </a:r>
                      <a:r>
                        <a:rPr lang="zh-CN" sz="1100" kern="100" dirty="0">
                          <a:effectLst/>
                          <a:latin typeface="Times New Roman" panose="02020603050405020304" pitchFamily="18" charset="0"/>
                          <a:ea typeface="+mn-ea"/>
                          <a:cs typeface="Times New Roman" panose="02020603050405020304" pitchFamily="18" charset="0"/>
                        </a:rPr>
                        <a:t>方法以流的形式返回上传文件的数据内容。</a:t>
                      </a:r>
                    </a:p>
                  </a:txBody>
                  <a:tcPr marL="57050" marR="57050"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9EDF4"/>
                    </a:solidFill>
                  </a:tcPr>
                </a:tc>
              </a:tr>
              <a:tr h="208963">
                <a:tc>
                  <a:txBody>
                    <a:bodyPr/>
                    <a:lstStyle/>
                    <a:p>
                      <a:pPr algn="just">
                        <a:spcAft>
                          <a:spcPts val="0"/>
                        </a:spcAft>
                      </a:pPr>
                      <a:r>
                        <a:rPr lang="en-US" sz="1400" kern="100" dirty="0">
                          <a:effectLst/>
                          <a:latin typeface="Times New Roman" panose="02020603050405020304" pitchFamily="18" charset="0"/>
                          <a:ea typeface="+mn-ea"/>
                          <a:cs typeface="Times New Roman" panose="02020603050405020304" pitchFamily="18" charset="0"/>
                        </a:rPr>
                        <a:t>long </a:t>
                      </a:r>
                      <a:r>
                        <a:rPr lang="en-US" sz="1400" kern="100" dirty="0" err="1">
                          <a:effectLst/>
                          <a:latin typeface="Times New Roman" panose="02020603050405020304" pitchFamily="18" charset="0"/>
                          <a:ea typeface="+mn-ea"/>
                          <a:cs typeface="Times New Roman" panose="02020603050405020304" pitchFamily="18" charset="0"/>
                        </a:rPr>
                        <a:t>getSize</a:t>
                      </a:r>
                      <a:r>
                        <a:rPr lang="en-US" sz="1400" kern="100" dirty="0">
                          <a:effectLst/>
                          <a:latin typeface="Times New Roman" panose="02020603050405020304" pitchFamily="18" charset="0"/>
                          <a:ea typeface="+mn-ea"/>
                          <a:cs typeface="Times New Roman" panose="02020603050405020304" pitchFamily="18" charset="0"/>
                        </a:rPr>
                        <a:t>()</a:t>
                      </a:r>
                      <a:endParaRPr lang="zh-CN" sz="1400" kern="100" dirty="0">
                        <a:effectLst/>
                        <a:latin typeface="Times New Roman" panose="02020603050405020304" pitchFamily="18" charset="0"/>
                        <a:ea typeface="+mn-ea"/>
                        <a:cs typeface="Times New Roman" panose="02020603050405020304" pitchFamily="18" charset="0"/>
                      </a:endParaRPr>
                    </a:p>
                  </a:txBody>
                  <a:tcPr marL="57050" marR="57050"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algn="just">
                        <a:spcAft>
                          <a:spcPts val="0"/>
                        </a:spcAft>
                      </a:pPr>
                      <a:r>
                        <a:rPr lang="en-US" sz="1100" kern="100" dirty="0" err="1">
                          <a:effectLst/>
                          <a:latin typeface="Times New Roman" panose="02020603050405020304" pitchFamily="18" charset="0"/>
                          <a:ea typeface="+mn-ea"/>
                          <a:cs typeface="Times New Roman" panose="02020603050405020304" pitchFamily="18" charset="0"/>
                        </a:rPr>
                        <a:t>getSize</a:t>
                      </a:r>
                      <a:r>
                        <a:rPr lang="en-US" sz="1100" kern="100" dirty="0">
                          <a:effectLst/>
                          <a:latin typeface="Times New Roman" panose="02020603050405020304" pitchFamily="18" charset="0"/>
                          <a:ea typeface="+mn-ea"/>
                          <a:cs typeface="Times New Roman" panose="02020603050405020304" pitchFamily="18" charset="0"/>
                        </a:rPr>
                        <a:t>()</a:t>
                      </a:r>
                      <a:r>
                        <a:rPr lang="zh-CN" sz="1100" kern="100" dirty="0">
                          <a:effectLst/>
                          <a:latin typeface="Times New Roman" panose="02020603050405020304" pitchFamily="18" charset="0"/>
                          <a:ea typeface="+mn-ea"/>
                          <a:cs typeface="Times New Roman" panose="02020603050405020304" pitchFamily="18" charset="0"/>
                        </a:rPr>
                        <a:t>方法返回该上传文件的大小（以字节为单位）。</a:t>
                      </a:r>
                    </a:p>
                  </a:txBody>
                  <a:tcPr marL="57050" marR="57050"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r>
            </a:tbl>
          </a:graphicData>
        </a:graphic>
      </p:graphicFrame>
      <p:sp>
        <p:nvSpPr>
          <p:cNvPr id="5" name="标题 1"/>
          <p:cNvSpPr>
            <a:spLocks noChangeArrowheads="1"/>
          </p:cNvSpPr>
          <p:nvPr/>
        </p:nvSpPr>
        <p:spPr bwMode="auto">
          <a:xfrm>
            <a:off x="1643733" y="389681"/>
            <a:ext cx="4944491" cy="56162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pPr marL="571500" indent="-571500"/>
            <a:r>
              <a:rPr lang="en-US" altLang="zh-CN" sz="3200" b="1" dirty="0">
                <a:solidFill>
                  <a:srgbClr val="006BA9"/>
                </a:solidFill>
                <a:latin typeface="微软雅黑" pitchFamily="34" charset="-122"/>
                <a:ea typeface="微软雅黑" pitchFamily="34" charset="-122"/>
                <a:sym typeface="宋体" charset="-122"/>
              </a:rPr>
              <a:t>12.2.1  </a:t>
            </a:r>
            <a:r>
              <a:rPr lang="en-US" altLang="zh-CN" sz="3200" b="1" dirty="0" err="1">
                <a:solidFill>
                  <a:srgbClr val="006BA9"/>
                </a:solidFill>
                <a:latin typeface="微软雅黑" pitchFamily="34" charset="-122"/>
                <a:ea typeface="微软雅黑" pitchFamily="34" charset="-122"/>
                <a:sym typeface="宋体" charset="-122"/>
              </a:rPr>
              <a:t>FileItem</a:t>
            </a:r>
            <a:r>
              <a:rPr lang="zh-CN" altLang="en-US" sz="3200" b="1" dirty="0">
                <a:solidFill>
                  <a:srgbClr val="006BA9"/>
                </a:solidFill>
                <a:latin typeface="微软雅黑" pitchFamily="34" charset="-122"/>
                <a:ea typeface="微软雅黑" pitchFamily="34" charset="-122"/>
                <a:sym typeface="宋体" charset="-122"/>
              </a:rPr>
              <a:t>接口</a:t>
            </a:r>
          </a:p>
        </p:txBody>
      </p:sp>
    </p:spTree>
    <p:custDataLst>
      <p:tags r:id="rId1"/>
    </p:custDataLst>
    <p:extLst>
      <p:ext uri="{BB962C8B-B14F-4D97-AF65-F5344CB8AC3E}">
        <p14:creationId xmlns:p14="http://schemas.microsoft.com/office/powerpoint/2010/main" val="3003821254"/>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xit" presetSubtype="0" fill="hold" grpId="1" nodeType="clickEffect">
                                  <p:stCondLst>
                                    <p:cond delay="0"/>
                                  </p:stCondLst>
                                  <p:childTnLst>
                                    <p:set>
                                      <p:cBhvr>
                                        <p:cTn id="10" dur="1" fill="hold">
                                          <p:stCondLst>
                                            <p:cond delay="0"/>
                                          </p:stCondLst>
                                        </p:cTn>
                                        <p:tgtEl>
                                          <p:spTgt spid="3"/>
                                        </p:tgtEl>
                                        <p:attrNameLst>
                                          <p:attrName>style.visibility</p:attrName>
                                        </p:attrNameLst>
                                      </p:cBhvr>
                                      <p:to>
                                        <p:strVal val="hidden"/>
                                      </p:to>
                                    </p:set>
                                  </p:childTnLst>
                                </p:cTn>
                              </p:par>
                              <p:par>
                                <p:cTn id="11" presetID="42" presetClass="entr" presetSubtype="0" fill="hold" nodeType="with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fade">
                                      <p:cBhvr>
                                        <p:cTn id="13" dur="1000"/>
                                        <p:tgtEl>
                                          <p:spTgt spid="6"/>
                                        </p:tgtEl>
                                      </p:cBhvr>
                                    </p:animEffect>
                                    <p:anim calcmode="lin" valueType="num">
                                      <p:cBhvr>
                                        <p:cTn id="14" dur="1000" fill="hold"/>
                                        <p:tgtEl>
                                          <p:spTgt spid="6"/>
                                        </p:tgtEl>
                                        <p:attrNameLst>
                                          <p:attrName>ppt_x</p:attrName>
                                        </p:attrNameLst>
                                      </p:cBhvr>
                                      <p:tavLst>
                                        <p:tav tm="0">
                                          <p:val>
                                            <p:strVal val="#ppt_x"/>
                                          </p:val>
                                        </p:tav>
                                        <p:tav tm="100000">
                                          <p:val>
                                            <p:strVal val="#ppt_x"/>
                                          </p:val>
                                        </p:tav>
                                      </p:tavLst>
                                    </p:anim>
                                    <p:anim calcmode="lin" valueType="num">
                                      <p:cBhvr>
                                        <p:cTn id="15" dur="1000" fill="hold"/>
                                        <p:tgtEl>
                                          <p:spTgt spid="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3" grpId="1"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ChangeArrowheads="1"/>
          </p:cNvSpPr>
          <p:nvPr/>
        </p:nvSpPr>
        <p:spPr bwMode="auto">
          <a:xfrm>
            <a:off x="251520" y="923156"/>
            <a:ext cx="4944491" cy="56162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pPr marL="571500" indent="-571500"/>
            <a:endParaRPr lang="zh-CN" altLang="en-US" sz="2400" b="1" dirty="0">
              <a:solidFill>
                <a:srgbClr val="006BA9"/>
              </a:solidFill>
              <a:latin typeface="微软雅黑" pitchFamily="34" charset="-122"/>
              <a:ea typeface="微软雅黑" pitchFamily="34" charset="-122"/>
              <a:sym typeface="宋体" charset="-122"/>
            </a:endParaRPr>
          </a:p>
        </p:txBody>
      </p:sp>
      <p:sp>
        <p:nvSpPr>
          <p:cNvPr id="3" name="矩形 3"/>
          <p:cNvSpPr>
            <a:spLocks noChangeArrowheads="1"/>
          </p:cNvSpPr>
          <p:nvPr/>
        </p:nvSpPr>
        <p:spPr bwMode="auto">
          <a:xfrm>
            <a:off x="683568" y="1556792"/>
            <a:ext cx="8064896" cy="1754326"/>
          </a:xfrm>
          <a:prstGeom prst="rect">
            <a:avLst/>
          </a:prstGeom>
          <a:solidFill>
            <a:srgbClr val="E7F4FF"/>
          </a:solidFill>
          <a:ln w="15875" cmpd="sng">
            <a:solidFill>
              <a:srgbClr val="009ED6"/>
            </a:solidFill>
            <a:prstDash val="solid"/>
            <a:miter lim="800000"/>
            <a:headEnd/>
            <a:tailEnd/>
          </a:ln>
          <a:extLst/>
        </p:spPr>
        <p:txBody>
          <a:bodyPr wrap="square">
            <a:spAutoFit/>
          </a:bodyPr>
          <a:lstStyle>
            <a:lvl1pPr>
              <a:defRPr>
                <a:solidFill>
                  <a:schemeClr val="tx1"/>
                </a:solidFill>
                <a:latin typeface="Arial" pitchFamily="34" charset="0"/>
                <a:ea typeface="宋体" pitchFamily="2" charset="-122"/>
              </a:defRPr>
            </a:lvl1pPr>
            <a:lvl2pPr marL="742950" indent="-285750">
              <a:defRPr>
                <a:solidFill>
                  <a:schemeClr val="tx1"/>
                </a:solidFill>
                <a:latin typeface="Arial" pitchFamily="34" charset="0"/>
                <a:ea typeface="宋体" pitchFamily="2" charset="-122"/>
              </a:defRPr>
            </a:lvl2pPr>
            <a:lvl3pPr marL="1143000" indent="-228600">
              <a:defRPr>
                <a:solidFill>
                  <a:schemeClr val="tx1"/>
                </a:solidFill>
                <a:latin typeface="Arial" pitchFamily="34" charset="0"/>
                <a:ea typeface="宋体" pitchFamily="2" charset="-122"/>
              </a:defRPr>
            </a:lvl3pPr>
            <a:lvl4pPr marL="1600200" indent="-228600">
              <a:defRPr>
                <a:solidFill>
                  <a:schemeClr val="tx1"/>
                </a:solidFill>
                <a:latin typeface="Arial" pitchFamily="34" charset="0"/>
                <a:ea typeface="宋体" pitchFamily="2" charset="-122"/>
              </a:defRPr>
            </a:lvl4pPr>
            <a:lvl5pPr marL="2057400" indent="-22860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a:lnSpc>
                <a:spcPct val="150000"/>
              </a:lnSpc>
              <a:defRPr/>
            </a:pPr>
            <a:r>
              <a:rPr lang="en-US" altLang="zh-CN" b="1" dirty="0" smtClean="0">
                <a:solidFill>
                  <a:srgbClr val="009ED6"/>
                </a:solidFill>
                <a:latin typeface="+mn-ea"/>
                <a:ea typeface="+mn-ea"/>
              </a:rPr>
              <a:t>    </a:t>
            </a:r>
            <a:r>
              <a:rPr lang="en-US" altLang="zh-CN" b="1" dirty="0">
                <a:solidFill>
                  <a:srgbClr val="009ED6"/>
                </a:solidFill>
                <a:latin typeface="Times New Roman" panose="02020603050405020304" pitchFamily="18" charset="0"/>
                <a:ea typeface="+mn-ea"/>
                <a:cs typeface="Times New Roman" panose="02020603050405020304" pitchFamily="18" charset="0"/>
              </a:rPr>
              <a:t>DiskFileItemFactory</a:t>
            </a:r>
            <a:r>
              <a:rPr lang="zh-CN" altLang="en-US" dirty="0" smtClean="0">
                <a:latin typeface="Times New Roman" panose="02020603050405020304" pitchFamily="18" charset="0"/>
                <a:ea typeface="+mn-ea"/>
                <a:cs typeface="Times New Roman" panose="02020603050405020304" pitchFamily="18" charset="0"/>
              </a:rPr>
              <a:t>类用于将请求消息实体中的每一个文件封装成单独的</a:t>
            </a:r>
            <a:r>
              <a:rPr lang="en-US" altLang="zh-CN" b="1" dirty="0">
                <a:solidFill>
                  <a:srgbClr val="009ED6"/>
                </a:solidFill>
                <a:latin typeface="Times New Roman" panose="02020603050405020304" pitchFamily="18" charset="0"/>
                <a:ea typeface="+mn-ea"/>
                <a:cs typeface="Times New Roman" panose="02020603050405020304" pitchFamily="18" charset="0"/>
              </a:rPr>
              <a:t>FileItem</a:t>
            </a:r>
            <a:r>
              <a:rPr lang="zh-CN" altLang="en-US" dirty="0" smtClean="0">
                <a:latin typeface="Times New Roman" panose="02020603050405020304" pitchFamily="18" charset="0"/>
                <a:ea typeface="+mn-ea"/>
                <a:cs typeface="Times New Roman" panose="02020603050405020304" pitchFamily="18" charset="0"/>
              </a:rPr>
              <a:t>对象。如果上传的文件比较小，将直接保存在内存中，如果上传的文件比较大，则会以临时文件的形式，保存在磁盘的临时文件夹中。默认情况下，文件保存在内存还是硬盘临时文件夹的临界值是</a:t>
            </a:r>
            <a:r>
              <a:rPr lang="en-US" altLang="zh-CN" b="1" dirty="0">
                <a:solidFill>
                  <a:srgbClr val="009ED6"/>
                </a:solidFill>
                <a:latin typeface="Times New Roman" panose="02020603050405020304" pitchFamily="18" charset="0"/>
                <a:ea typeface="+mn-ea"/>
                <a:cs typeface="Times New Roman" panose="02020603050405020304" pitchFamily="18" charset="0"/>
              </a:rPr>
              <a:t>10240</a:t>
            </a:r>
            <a:r>
              <a:rPr lang="zh-CN" altLang="en-US" dirty="0" smtClean="0">
                <a:latin typeface="Times New Roman" panose="02020603050405020304" pitchFamily="18" charset="0"/>
                <a:ea typeface="+mn-ea"/>
                <a:cs typeface="Times New Roman" panose="02020603050405020304" pitchFamily="18" charset="0"/>
              </a:rPr>
              <a:t>，即</a:t>
            </a:r>
            <a:r>
              <a:rPr lang="en-US" altLang="zh-CN" b="1" dirty="0">
                <a:solidFill>
                  <a:srgbClr val="009ED6"/>
                </a:solidFill>
                <a:latin typeface="Times New Roman" panose="02020603050405020304" pitchFamily="18" charset="0"/>
                <a:ea typeface="+mn-ea"/>
                <a:cs typeface="Times New Roman" panose="02020603050405020304" pitchFamily="18" charset="0"/>
              </a:rPr>
              <a:t>10kb</a:t>
            </a:r>
            <a:r>
              <a:rPr lang="zh-CN" altLang="en-US" dirty="0" smtClean="0">
                <a:latin typeface="Times New Roman" panose="02020603050405020304" pitchFamily="18" charset="0"/>
                <a:ea typeface="+mn-ea"/>
                <a:cs typeface="Times New Roman" panose="02020603050405020304" pitchFamily="18" charset="0"/>
              </a:rPr>
              <a:t>。</a:t>
            </a:r>
            <a:endParaRPr lang="zh-CN" altLang="en-US" sz="1600" dirty="0" smtClean="0">
              <a:latin typeface="Times New Roman" panose="02020603050405020304" pitchFamily="18" charset="0"/>
              <a:ea typeface="+mn-ea"/>
              <a:cs typeface="Times New Roman" panose="02020603050405020304" pitchFamily="18" charset="0"/>
            </a:endParaRPr>
          </a:p>
        </p:txBody>
      </p:sp>
      <p:sp>
        <p:nvSpPr>
          <p:cNvPr id="4" name="矩形 1"/>
          <p:cNvSpPr>
            <a:spLocks noChangeArrowheads="1"/>
          </p:cNvSpPr>
          <p:nvPr/>
        </p:nvSpPr>
        <p:spPr bwMode="auto">
          <a:xfrm>
            <a:off x="591344" y="3629025"/>
            <a:ext cx="49276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000" b="1">
                <a:solidFill>
                  <a:srgbClr val="009ED6"/>
                </a:solidFill>
                <a:latin typeface="Times New Roman" panose="02020603050405020304" pitchFamily="18" charset="0"/>
                <a:cs typeface="Times New Roman" panose="02020603050405020304" pitchFamily="18" charset="0"/>
              </a:rPr>
              <a:t>DiskFileItemFactory</a:t>
            </a:r>
            <a:r>
              <a:rPr lang="zh-CN" altLang="en-US" sz="2000">
                <a:latin typeface="Times New Roman" panose="02020603050405020304" pitchFamily="18" charset="0"/>
                <a:cs typeface="Times New Roman" panose="02020603050405020304" pitchFamily="18" charset="0"/>
              </a:rPr>
              <a:t>类的两个构造方法：</a:t>
            </a:r>
          </a:p>
        </p:txBody>
      </p:sp>
      <p:sp>
        <p:nvSpPr>
          <p:cNvPr id="6" name="TextBox 5"/>
          <p:cNvSpPr txBox="1"/>
          <p:nvPr/>
        </p:nvSpPr>
        <p:spPr>
          <a:xfrm>
            <a:off x="683568" y="4221088"/>
            <a:ext cx="8064896" cy="1200329"/>
          </a:xfrm>
          <a:prstGeom prst="rect">
            <a:avLst/>
          </a:prstGeom>
          <a:solidFill>
            <a:srgbClr val="E7F4FF"/>
          </a:solidFill>
        </p:spPr>
        <p:txBody>
          <a:bodyPr wrap="square" rtlCol="0">
            <a:spAutoFit/>
          </a:bodyPr>
          <a:lstStyle/>
          <a:p>
            <a:pPr marL="285750" lvl="0" indent="-285750">
              <a:buFont typeface="Arial" panose="020B0604020202020204" pitchFamily="34" charset="0"/>
              <a:buChar char="•"/>
            </a:pPr>
            <a:r>
              <a:rPr lang="en-US" altLang="zh-CN" dirty="0" err="1" smtClean="0">
                <a:latin typeface="Times New Roman" panose="02020603050405020304" pitchFamily="18" charset="0"/>
                <a:cs typeface="Times New Roman" panose="02020603050405020304" pitchFamily="18" charset="0"/>
              </a:rPr>
              <a:t>DiskFileItemFactory</a:t>
            </a:r>
            <a:r>
              <a:rPr lang="en-US" altLang="zh-CN" dirty="0">
                <a:latin typeface="Times New Roman" panose="02020603050405020304" pitchFamily="18" charset="0"/>
                <a:cs typeface="Times New Roman" panose="02020603050405020304" pitchFamily="18" charset="0"/>
              </a:rPr>
              <a:t>()</a:t>
            </a:r>
            <a:r>
              <a:rPr lang="zh-CN" altLang="en-US" dirty="0">
                <a:latin typeface="Times New Roman" panose="02020603050405020304" pitchFamily="18" charset="0"/>
                <a:cs typeface="Times New Roman" panose="02020603050405020304" pitchFamily="18" charset="0"/>
              </a:rPr>
              <a:t>：采用默认临界值和系统临时文件夹构造文件项工厂对象</a:t>
            </a:r>
            <a:endParaRPr lang="en-US" altLang="zh-CN" dirty="0">
              <a:latin typeface="Times New Roman" panose="02020603050405020304" pitchFamily="18" charset="0"/>
              <a:cs typeface="Times New Roman" panose="02020603050405020304" pitchFamily="18" charset="0"/>
            </a:endParaRPr>
          </a:p>
          <a:p>
            <a:pPr marL="285750" lvl="0" indent="-285750">
              <a:buFont typeface="Arial" panose="020B0604020202020204" pitchFamily="34" charset="0"/>
              <a:buChar char="•"/>
            </a:pPr>
            <a:r>
              <a:rPr lang="en-US" altLang="zh-CN" dirty="0" err="1">
                <a:latin typeface="Times New Roman" panose="02020603050405020304" pitchFamily="18" charset="0"/>
                <a:cs typeface="Times New Roman" panose="02020603050405020304" pitchFamily="18" charset="0"/>
              </a:rPr>
              <a:t>DiskFileItemFactory</a:t>
            </a:r>
            <a:r>
              <a:rPr lang="en-US" altLang="zh-CN" dirty="0">
                <a:latin typeface="Times New Roman" panose="02020603050405020304" pitchFamily="18" charset="0"/>
                <a:cs typeface="Times New Roman" panose="02020603050405020304" pitchFamily="18" charset="0"/>
              </a:rPr>
              <a:t>(</a:t>
            </a:r>
            <a:r>
              <a:rPr lang="en-US" altLang="zh-CN" dirty="0" err="1">
                <a:latin typeface="Times New Roman" panose="02020603050405020304" pitchFamily="18" charset="0"/>
                <a:cs typeface="Times New Roman" panose="02020603050405020304" pitchFamily="18" charset="0"/>
              </a:rPr>
              <a:t>int</a:t>
            </a:r>
            <a:r>
              <a:rPr lang="en-US" altLang="zh-CN" dirty="0">
                <a:latin typeface="Times New Roman" panose="02020603050405020304" pitchFamily="18" charset="0"/>
                <a:cs typeface="Times New Roman" panose="02020603050405020304" pitchFamily="18" charset="0"/>
              </a:rPr>
              <a:t> </a:t>
            </a:r>
            <a:r>
              <a:rPr lang="en-US" altLang="zh-CN" dirty="0" err="1">
                <a:latin typeface="Times New Roman" panose="02020603050405020304" pitchFamily="18" charset="0"/>
                <a:cs typeface="Times New Roman" panose="02020603050405020304" pitchFamily="18" charset="0"/>
              </a:rPr>
              <a:t>sizeThreshold</a:t>
            </a:r>
            <a:r>
              <a:rPr lang="zh-CN" altLang="zh-CN" dirty="0">
                <a:latin typeface="Times New Roman" panose="02020603050405020304" pitchFamily="18" charset="0"/>
                <a:cs typeface="Times New Roman" panose="02020603050405020304" pitchFamily="18" charset="0"/>
              </a:rPr>
              <a:t>，</a:t>
            </a:r>
            <a:r>
              <a:rPr lang="en-US" altLang="zh-CN" dirty="0">
                <a:latin typeface="Times New Roman" panose="02020603050405020304" pitchFamily="18" charset="0"/>
                <a:cs typeface="Times New Roman" panose="02020603050405020304" pitchFamily="18" charset="0"/>
              </a:rPr>
              <a:t>File repository)</a:t>
            </a:r>
            <a:r>
              <a:rPr lang="zh-CN" altLang="en-US" dirty="0">
                <a:latin typeface="Times New Roman" panose="02020603050405020304" pitchFamily="18" charset="0"/>
                <a:cs typeface="Times New Roman" panose="02020603050405020304" pitchFamily="18" charset="0"/>
              </a:rPr>
              <a:t>：采用参数指定临界值和系统临时文件夹构造文件项工厂</a:t>
            </a:r>
            <a:r>
              <a:rPr lang="zh-CN" altLang="en-US" dirty="0" smtClean="0">
                <a:latin typeface="Times New Roman" panose="02020603050405020304" pitchFamily="18" charset="0"/>
                <a:cs typeface="Times New Roman" panose="02020603050405020304" pitchFamily="18" charset="0"/>
              </a:rPr>
              <a:t>对象</a:t>
            </a:r>
            <a:endParaRPr lang="zh-CN" altLang="en-US" dirty="0">
              <a:latin typeface="Times New Roman" panose="02020603050405020304" pitchFamily="18" charset="0"/>
              <a:cs typeface="Times New Roman" panose="02020603050405020304" pitchFamily="18" charset="0"/>
            </a:endParaRPr>
          </a:p>
        </p:txBody>
      </p:sp>
      <p:sp>
        <p:nvSpPr>
          <p:cNvPr id="7" name="标题 1"/>
          <p:cNvSpPr>
            <a:spLocks noChangeArrowheads="1"/>
          </p:cNvSpPr>
          <p:nvPr/>
        </p:nvSpPr>
        <p:spPr bwMode="auto">
          <a:xfrm>
            <a:off x="1643733" y="389681"/>
            <a:ext cx="6888707" cy="56162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pPr marL="571500" indent="-571500"/>
            <a:r>
              <a:rPr lang="en-US" altLang="zh-CN" sz="3200" b="1" dirty="0">
                <a:solidFill>
                  <a:srgbClr val="006BA9"/>
                </a:solidFill>
                <a:latin typeface="微软雅黑" pitchFamily="34" charset="-122"/>
                <a:ea typeface="微软雅黑" pitchFamily="34" charset="-122"/>
                <a:sym typeface="宋体" charset="-122"/>
              </a:rPr>
              <a:t>12.2.2  </a:t>
            </a:r>
            <a:r>
              <a:rPr lang="en-US" altLang="zh-CN" sz="3200" b="1" dirty="0" err="1">
                <a:solidFill>
                  <a:srgbClr val="006BA9"/>
                </a:solidFill>
                <a:latin typeface="微软雅黑" pitchFamily="34" charset="-122"/>
                <a:ea typeface="微软雅黑" pitchFamily="34" charset="-122"/>
                <a:sym typeface="宋体" charset="-122"/>
              </a:rPr>
              <a:t>DiskFileItemFactory</a:t>
            </a:r>
            <a:r>
              <a:rPr lang="zh-CN" altLang="en-US" sz="3200" b="1" dirty="0">
                <a:solidFill>
                  <a:srgbClr val="006BA9"/>
                </a:solidFill>
                <a:latin typeface="微软雅黑" pitchFamily="34" charset="-122"/>
                <a:ea typeface="微软雅黑" pitchFamily="34" charset="-122"/>
                <a:sym typeface="宋体" charset="-122"/>
              </a:rPr>
              <a:t>类</a:t>
            </a:r>
          </a:p>
        </p:txBody>
      </p:sp>
    </p:spTree>
    <p:custDataLst>
      <p:tags r:id="rId1"/>
    </p:custDataLst>
    <p:extLst>
      <p:ext uri="{BB962C8B-B14F-4D97-AF65-F5344CB8AC3E}">
        <p14:creationId xmlns:p14="http://schemas.microsoft.com/office/powerpoint/2010/main" val="2097087208"/>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left)">
                                      <p:cBhvr>
                                        <p:cTn id="7" dur="500"/>
                                        <p:tgtEl>
                                          <p:spTgt spid="3"/>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4"/>
                                        </p:tgtEl>
                                        <p:attrNameLst>
                                          <p:attrName>style.visibility</p:attrName>
                                        </p:attrNameLst>
                                      </p:cBhvr>
                                      <p:to>
                                        <p:strVal val="visible"/>
                                      </p:to>
                                    </p:set>
                                    <p:animEffect transition="in" filter="wipe(left)">
                                      <p:cBhvr>
                                        <p:cTn id="11" dur="500"/>
                                        <p:tgtEl>
                                          <p:spTgt spid="4"/>
                                        </p:tgtEl>
                                      </p:cBhvr>
                                    </p:animEffect>
                                  </p:childTnLst>
                                </p:cTn>
                              </p:par>
                            </p:childTnLst>
                          </p:cTn>
                        </p:par>
                        <p:par>
                          <p:cTn id="12" fill="hold">
                            <p:stCondLst>
                              <p:cond delay="1000"/>
                            </p:stCondLst>
                            <p:childTnLst>
                              <p:par>
                                <p:cTn id="13" presetID="22" presetClass="entr" presetSubtype="8" fill="hold" grpId="0" nodeType="afterEffect">
                                  <p:stCondLst>
                                    <p:cond delay="0"/>
                                  </p:stCondLst>
                                  <p:childTnLst>
                                    <p:set>
                                      <p:cBhvr>
                                        <p:cTn id="14" dur="1" fill="hold">
                                          <p:stCondLst>
                                            <p:cond delay="0"/>
                                          </p:stCondLst>
                                        </p:cTn>
                                        <p:tgtEl>
                                          <p:spTgt spid="6"/>
                                        </p:tgtEl>
                                        <p:attrNameLst>
                                          <p:attrName>style.visibility</p:attrName>
                                        </p:attrNameLst>
                                      </p:cBhvr>
                                      <p:to>
                                        <p:strVal val="visible"/>
                                      </p:to>
                                    </p:set>
                                    <p:animEffect transition="in" filter="wipe(left)">
                                      <p:cBhvr>
                                        <p:cTn id="15"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p:bldP spid="6"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ChangeArrowheads="1"/>
          </p:cNvSpPr>
          <p:nvPr/>
        </p:nvSpPr>
        <p:spPr bwMode="auto">
          <a:xfrm>
            <a:off x="467544" y="1887264"/>
            <a:ext cx="4414838"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000" b="1">
                <a:solidFill>
                  <a:srgbClr val="009ED6"/>
                </a:solidFill>
                <a:latin typeface="Times New Roman" panose="02020603050405020304" pitchFamily="18" charset="0"/>
                <a:cs typeface="Times New Roman" panose="02020603050405020304" pitchFamily="18" charset="0"/>
              </a:rPr>
              <a:t>DiskFileItemFactory</a:t>
            </a:r>
            <a:r>
              <a:rPr lang="zh-CN" altLang="en-US" sz="2000">
                <a:latin typeface="Times New Roman" panose="02020603050405020304" pitchFamily="18" charset="0"/>
                <a:cs typeface="Times New Roman" panose="02020603050405020304" pitchFamily="18" charset="0"/>
              </a:rPr>
              <a:t>类的常用方法。</a:t>
            </a:r>
          </a:p>
        </p:txBody>
      </p:sp>
      <p:graphicFrame>
        <p:nvGraphicFramePr>
          <p:cNvPr id="3" name="图示 2"/>
          <p:cNvGraphicFramePr/>
          <p:nvPr>
            <p:extLst>
              <p:ext uri="{D42A27DB-BD31-4B8C-83A1-F6EECF244321}">
                <p14:modId xmlns:p14="http://schemas.microsoft.com/office/powerpoint/2010/main" val="179339305"/>
              </p:ext>
            </p:extLst>
          </p:nvPr>
        </p:nvGraphicFramePr>
        <p:xfrm>
          <a:off x="779265" y="2641823"/>
          <a:ext cx="7581874" cy="3019425"/>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
        <p:nvSpPr>
          <p:cNvPr id="4" name="椭圆形标注 20"/>
          <p:cNvSpPr>
            <a:spLocks noChangeArrowheads="1"/>
          </p:cNvSpPr>
          <p:nvPr/>
        </p:nvSpPr>
        <p:spPr bwMode="auto">
          <a:xfrm>
            <a:off x="5125640" y="976883"/>
            <a:ext cx="3952875" cy="2047875"/>
          </a:xfrm>
          <a:prstGeom prst="wedgeEllipseCallout">
            <a:avLst>
              <a:gd name="adj1" fmla="val -47400"/>
              <a:gd name="adj2" fmla="val 40688"/>
            </a:avLst>
          </a:prstGeom>
          <a:solidFill>
            <a:srgbClr val="E7F4FF"/>
          </a:solidFill>
          <a:ln w="28575" algn="ctr">
            <a:solidFill>
              <a:srgbClr val="00ACE6"/>
            </a:solidFill>
            <a:round/>
            <a:headEnd/>
            <a:tailEnd/>
          </a:ln>
        </p:spPr>
        <p:txBody>
          <a:bodyPr/>
          <a:lstStyle>
            <a:lvl1pPr>
              <a:defRPr>
                <a:solidFill>
                  <a:schemeClr val="tx1"/>
                </a:solidFill>
                <a:latin typeface="Arial" charset="0"/>
                <a:ea typeface="宋体" pitchFamily="2" charset="-122"/>
              </a:defRPr>
            </a:lvl1pPr>
            <a:lvl2pPr marL="742950" indent="-285750">
              <a:defRPr>
                <a:solidFill>
                  <a:schemeClr val="tx1"/>
                </a:solidFill>
                <a:latin typeface="Arial" charset="0"/>
                <a:ea typeface="宋体" pitchFamily="2" charset="-122"/>
              </a:defRPr>
            </a:lvl2pPr>
            <a:lvl3pPr marL="1143000" indent="-228600">
              <a:defRPr>
                <a:solidFill>
                  <a:schemeClr val="tx1"/>
                </a:solidFill>
                <a:latin typeface="Arial" charset="0"/>
                <a:ea typeface="宋体" pitchFamily="2" charset="-122"/>
              </a:defRPr>
            </a:lvl3pPr>
            <a:lvl4pPr marL="1600200" indent="-228600">
              <a:defRPr>
                <a:solidFill>
                  <a:schemeClr val="tx1"/>
                </a:solidFill>
                <a:latin typeface="Arial" charset="0"/>
                <a:ea typeface="宋体" pitchFamily="2" charset="-122"/>
              </a:defRPr>
            </a:lvl4pPr>
            <a:lvl5pPr marL="2057400" indent="-22860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defRPr/>
            </a:pPr>
            <a:r>
              <a:rPr lang="zh-CN" altLang="en-US" sz="1600" dirty="0" smtClean="0">
                <a:latin typeface="Times New Roman" panose="02020603050405020304" pitchFamily="18" charset="0"/>
                <a:ea typeface="+mn-ea"/>
                <a:cs typeface="Times New Roman" panose="02020603050405020304" pitchFamily="18" charset="0"/>
              </a:rPr>
              <a:t>    该方法用于将请求消息实体创建成</a:t>
            </a:r>
            <a:r>
              <a:rPr lang="en-US" altLang="zh-CN" sz="1600" dirty="0" err="1" smtClean="0">
                <a:latin typeface="Times New Roman" panose="02020603050405020304" pitchFamily="18" charset="0"/>
                <a:ea typeface="+mn-ea"/>
                <a:cs typeface="Times New Roman" panose="02020603050405020304" pitchFamily="18" charset="0"/>
              </a:rPr>
              <a:t>FileItem</a:t>
            </a:r>
            <a:r>
              <a:rPr lang="zh-CN" altLang="en-US" sz="1600" dirty="0" smtClean="0">
                <a:latin typeface="Times New Roman" panose="02020603050405020304" pitchFamily="18" charset="0"/>
                <a:ea typeface="+mn-ea"/>
                <a:cs typeface="Times New Roman" panose="02020603050405020304" pitchFamily="18" charset="0"/>
              </a:rPr>
              <a:t>类型的实例对象，该方法是</a:t>
            </a:r>
            <a:r>
              <a:rPr lang="en-US" altLang="zh-CN" sz="1600" dirty="0" err="1" smtClean="0">
                <a:latin typeface="Times New Roman" panose="02020603050405020304" pitchFamily="18" charset="0"/>
                <a:ea typeface="+mn-ea"/>
                <a:cs typeface="Times New Roman" panose="02020603050405020304" pitchFamily="18" charset="0"/>
              </a:rPr>
              <a:t>FileUpload</a:t>
            </a:r>
            <a:r>
              <a:rPr lang="zh-CN" altLang="en-US" sz="1600" dirty="0" smtClean="0">
                <a:latin typeface="Times New Roman" panose="02020603050405020304" pitchFamily="18" charset="0"/>
                <a:ea typeface="+mn-ea"/>
                <a:cs typeface="Times New Roman" panose="02020603050405020304" pitchFamily="18" charset="0"/>
              </a:rPr>
              <a:t>组件在解析请求时内部自动调用，无需我们管理。</a:t>
            </a:r>
          </a:p>
        </p:txBody>
      </p:sp>
      <p:sp>
        <p:nvSpPr>
          <p:cNvPr id="5" name="椭圆形标注 29"/>
          <p:cNvSpPr>
            <a:spLocks noChangeArrowheads="1"/>
          </p:cNvSpPr>
          <p:nvPr/>
        </p:nvSpPr>
        <p:spPr bwMode="auto">
          <a:xfrm>
            <a:off x="5182320" y="1886694"/>
            <a:ext cx="3862387" cy="2047875"/>
          </a:xfrm>
          <a:prstGeom prst="wedgeEllipseCallout">
            <a:avLst>
              <a:gd name="adj1" fmla="val -41167"/>
              <a:gd name="adj2" fmla="val 44874"/>
            </a:avLst>
          </a:prstGeom>
          <a:solidFill>
            <a:srgbClr val="E7F4FF"/>
          </a:solidFill>
          <a:ln w="28575" algn="ctr">
            <a:solidFill>
              <a:srgbClr val="00ACE6"/>
            </a:solidFill>
            <a:round/>
            <a:headEnd/>
            <a:tailEnd/>
          </a:ln>
        </p:spPr>
        <p:txBody>
          <a:bodyPr/>
          <a:lstStyle>
            <a:lvl1pPr>
              <a:defRPr>
                <a:solidFill>
                  <a:schemeClr val="tx1"/>
                </a:solidFill>
                <a:latin typeface="Arial" charset="0"/>
                <a:ea typeface="宋体" pitchFamily="2" charset="-122"/>
              </a:defRPr>
            </a:lvl1pPr>
            <a:lvl2pPr marL="742950" indent="-285750">
              <a:defRPr>
                <a:solidFill>
                  <a:schemeClr val="tx1"/>
                </a:solidFill>
                <a:latin typeface="Arial" charset="0"/>
                <a:ea typeface="宋体" pitchFamily="2" charset="-122"/>
              </a:defRPr>
            </a:lvl2pPr>
            <a:lvl3pPr marL="1143000" indent="-228600">
              <a:defRPr>
                <a:solidFill>
                  <a:schemeClr val="tx1"/>
                </a:solidFill>
                <a:latin typeface="Arial" charset="0"/>
                <a:ea typeface="宋体" pitchFamily="2" charset="-122"/>
              </a:defRPr>
            </a:lvl3pPr>
            <a:lvl4pPr marL="1600200" indent="-228600">
              <a:defRPr>
                <a:solidFill>
                  <a:schemeClr val="tx1"/>
                </a:solidFill>
                <a:latin typeface="Arial" charset="0"/>
                <a:ea typeface="宋体" pitchFamily="2" charset="-122"/>
              </a:defRPr>
            </a:lvl4pPr>
            <a:lvl5pPr marL="2057400" indent="-22860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defRPr/>
            </a:pPr>
            <a:r>
              <a:rPr lang="en-US" altLang="zh-CN" sz="1600" dirty="0" smtClean="0">
                <a:latin typeface="Times New Roman" panose="02020603050405020304" pitchFamily="18" charset="0"/>
                <a:ea typeface="+mn-ea"/>
                <a:cs typeface="Times New Roman" panose="02020603050405020304" pitchFamily="18" charset="0"/>
              </a:rPr>
              <a:t>    </a:t>
            </a:r>
            <a:r>
              <a:rPr lang="en-US" altLang="zh-CN" sz="1600" dirty="0" err="1" smtClean="0">
                <a:latin typeface="Times New Roman" panose="02020603050405020304" pitchFamily="18" charset="0"/>
                <a:ea typeface="+mn-ea"/>
                <a:cs typeface="Times New Roman" panose="02020603050405020304" pitchFamily="18" charset="0"/>
              </a:rPr>
              <a:t>setSizeThreshold</a:t>
            </a:r>
            <a:r>
              <a:rPr lang="en-US" altLang="zh-CN" sz="1600" dirty="0" smtClean="0">
                <a:latin typeface="Times New Roman" panose="02020603050405020304" pitchFamily="18" charset="0"/>
                <a:ea typeface="+mn-ea"/>
                <a:cs typeface="Times New Roman" panose="02020603050405020304" pitchFamily="18" charset="0"/>
              </a:rPr>
              <a:t>(</a:t>
            </a:r>
            <a:r>
              <a:rPr lang="en-US" altLang="zh-CN" sz="1600" dirty="0" err="1" smtClean="0">
                <a:latin typeface="Times New Roman" panose="02020603050405020304" pitchFamily="18" charset="0"/>
                <a:ea typeface="+mn-ea"/>
                <a:cs typeface="Times New Roman" panose="02020603050405020304" pitchFamily="18" charset="0"/>
              </a:rPr>
              <a:t>int</a:t>
            </a:r>
            <a:r>
              <a:rPr lang="en-US" altLang="zh-CN" sz="1600" dirty="0" smtClean="0">
                <a:latin typeface="Times New Roman" panose="02020603050405020304" pitchFamily="18" charset="0"/>
                <a:ea typeface="+mn-ea"/>
                <a:cs typeface="Times New Roman" panose="02020603050405020304" pitchFamily="18" charset="0"/>
              </a:rPr>
              <a:t> </a:t>
            </a:r>
            <a:r>
              <a:rPr lang="en-US" altLang="zh-CN" sz="1600" dirty="0" err="1" smtClean="0">
                <a:latin typeface="Times New Roman" panose="02020603050405020304" pitchFamily="18" charset="0"/>
                <a:ea typeface="+mn-ea"/>
                <a:cs typeface="Times New Roman" panose="02020603050405020304" pitchFamily="18" charset="0"/>
              </a:rPr>
              <a:t>sizeThreshold</a:t>
            </a:r>
            <a:r>
              <a:rPr lang="en-US" altLang="zh-CN" sz="1600" dirty="0" smtClean="0">
                <a:latin typeface="Times New Roman" panose="02020603050405020304" pitchFamily="18" charset="0"/>
                <a:ea typeface="+mn-ea"/>
                <a:cs typeface="Times New Roman" panose="02020603050405020304" pitchFamily="18" charset="0"/>
              </a:rPr>
              <a:t>)</a:t>
            </a:r>
            <a:r>
              <a:rPr lang="zh-CN" altLang="zh-CN" sz="1600" dirty="0" smtClean="0">
                <a:latin typeface="Times New Roman" panose="02020603050405020304" pitchFamily="18" charset="0"/>
                <a:ea typeface="+mn-ea"/>
                <a:cs typeface="Times New Roman" panose="02020603050405020304" pitchFamily="18" charset="0"/>
              </a:rPr>
              <a:t>方法用于设置是否将上传文件以临时文件的形式保存在磁盘的临界值</a:t>
            </a:r>
            <a:r>
              <a:rPr lang="zh-CN" altLang="en-US" sz="1600" dirty="0" smtClean="0">
                <a:latin typeface="Times New Roman" panose="02020603050405020304" pitchFamily="18" charset="0"/>
                <a:ea typeface="+mn-ea"/>
                <a:cs typeface="Times New Roman" panose="02020603050405020304" pitchFamily="18" charset="0"/>
              </a:rPr>
              <a:t>。</a:t>
            </a:r>
            <a:r>
              <a:rPr lang="en-US" altLang="zh-CN" sz="1600" dirty="0" err="1" smtClean="0">
                <a:latin typeface="Times New Roman" panose="02020603050405020304" pitchFamily="18" charset="0"/>
                <a:ea typeface="+mn-ea"/>
                <a:cs typeface="Times New Roman" panose="02020603050405020304" pitchFamily="18" charset="0"/>
              </a:rPr>
              <a:t>getSizeThreshold</a:t>
            </a:r>
            <a:r>
              <a:rPr lang="en-US" altLang="zh-CN" sz="1600" dirty="0" smtClean="0">
                <a:latin typeface="Times New Roman" panose="02020603050405020304" pitchFamily="18" charset="0"/>
                <a:ea typeface="+mn-ea"/>
                <a:cs typeface="Times New Roman" panose="02020603050405020304" pitchFamily="18" charset="0"/>
              </a:rPr>
              <a:t>()</a:t>
            </a:r>
            <a:r>
              <a:rPr lang="zh-CN" altLang="en-US" sz="1600" dirty="0" smtClean="0">
                <a:latin typeface="Times New Roman" panose="02020603050405020304" pitchFamily="18" charset="0"/>
                <a:ea typeface="+mn-ea"/>
                <a:cs typeface="Times New Roman" panose="02020603050405020304" pitchFamily="18" charset="0"/>
              </a:rPr>
              <a:t>方法用来获取此临界值。</a:t>
            </a:r>
          </a:p>
        </p:txBody>
      </p:sp>
      <p:sp>
        <p:nvSpPr>
          <p:cNvPr id="6" name="椭圆形标注 28"/>
          <p:cNvSpPr>
            <a:spLocks noChangeArrowheads="1"/>
          </p:cNvSpPr>
          <p:nvPr/>
        </p:nvSpPr>
        <p:spPr bwMode="auto">
          <a:xfrm>
            <a:off x="5125640" y="2492897"/>
            <a:ext cx="3919067" cy="2811746"/>
          </a:xfrm>
          <a:prstGeom prst="wedgeEllipseCallout">
            <a:avLst>
              <a:gd name="adj1" fmla="val -49366"/>
              <a:gd name="adj2" fmla="val 39959"/>
            </a:avLst>
          </a:prstGeom>
          <a:solidFill>
            <a:srgbClr val="E7F4FF"/>
          </a:solidFill>
          <a:ln w="28575" algn="ctr">
            <a:solidFill>
              <a:srgbClr val="00ACE6"/>
            </a:solidFill>
            <a:round/>
            <a:headEnd/>
            <a:tailEnd/>
          </a:ln>
        </p:spPr>
        <p:txBody>
          <a:bodyPr/>
          <a:lstStyle>
            <a:lvl1pPr>
              <a:defRPr>
                <a:solidFill>
                  <a:schemeClr val="tx1"/>
                </a:solidFill>
                <a:latin typeface="Arial" charset="0"/>
                <a:ea typeface="宋体" pitchFamily="2" charset="-122"/>
              </a:defRPr>
            </a:lvl1pPr>
            <a:lvl2pPr marL="742950" indent="-285750">
              <a:defRPr>
                <a:solidFill>
                  <a:schemeClr val="tx1"/>
                </a:solidFill>
                <a:latin typeface="Arial" charset="0"/>
                <a:ea typeface="宋体" pitchFamily="2" charset="-122"/>
              </a:defRPr>
            </a:lvl2pPr>
            <a:lvl3pPr marL="1143000" indent="-228600">
              <a:defRPr>
                <a:solidFill>
                  <a:schemeClr val="tx1"/>
                </a:solidFill>
                <a:latin typeface="Arial" charset="0"/>
                <a:ea typeface="宋体" pitchFamily="2" charset="-122"/>
              </a:defRPr>
            </a:lvl3pPr>
            <a:lvl4pPr marL="1600200" indent="-228600">
              <a:defRPr>
                <a:solidFill>
                  <a:schemeClr val="tx1"/>
                </a:solidFill>
                <a:latin typeface="Arial" charset="0"/>
                <a:ea typeface="宋体" pitchFamily="2" charset="-122"/>
              </a:defRPr>
            </a:lvl4pPr>
            <a:lvl5pPr marL="2057400" indent="-22860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defRPr/>
            </a:pPr>
            <a:r>
              <a:rPr lang="zh-CN" altLang="en-US" sz="1600" dirty="0" smtClean="0"/>
              <a:t>    </a:t>
            </a:r>
            <a:r>
              <a:rPr lang="zh-CN" altLang="en-US" sz="1600" dirty="0" smtClean="0">
                <a:latin typeface="+mn-ea"/>
                <a:ea typeface="+mn-ea"/>
              </a:rPr>
              <a:t>如果上传文件的大小大于</a:t>
            </a:r>
            <a:r>
              <a:rPr lang="en-US" altLang="zh-CN" sz="1600" dirty="0" smtClean="0">
                <a:latin typeface="+mn-ea"/>
                <a:ea typeface="+mn-ea"/>
              </a:rPr>
              <a:t>setSizeThreshold()</a:t>
            </a:r>
            <a:r>
              <a:rPr lang="zh-CN" altLang="en-US" sz="1600" dirty="0" smtClean="0">
                <a:latin typeface="+mn-ea"/>
                <a:ea typeface="+mn-ea"/>
              </a:rPr>
              <a:t>方法设置的临界值，这时，可以采用</a:t>
            </a:r>
            <a:r>
              <a:rPr lang="en-US" altLang="zh-CN" sz="1600" dirty="0" smtClean="0">
                <a:latin typeface="+mn-ea"/>
                <a:ea typeface="+mn-ea"/>
              </a:rPr>
              <a:t>setRepository()</a:t>
            </a:r>
            <a:r>
              <a:rPr lang="zh-CN" altLang="en-US" sz="1600" dirty="0" smtClean="0">
                <a:latin typeface="+mn-ea"/>
                <a:ea typeface="+mn-ea"/>
              </a:rPr>
              <a:t>方法，将上传的文件以临时文件的形式保存在指定的目录</a:t>
            </a:r>
            <a:r>
              <a:rPr lang="zh-CN" altLang="en-US" sz="1600" smtClean="0">
                <a:latin typeface="+mn-ea"/>
                <a:ea typeface="+mn-ea"/>
              </a:rPr>
              <a:t>下。</a:t>
            </a:r>
            <a:r>
              <a:rPr lang="en-US" altLang="zh-CN" sz="1600">
                <a:latin typeface="+mn-ea"/>
                <a:ea typeface="+mn-ea"/>
              </a:rPr>
              <a:t>getRepository()</a:t>
            </a:r>
            <a:r>
              <a:rPr lang="zh-CN" altLang="zh-CN" sz="1600">
                <a:latin typeface="+mn-ea"/>
                <a:ea typeface="+mn-ea"/>
              </a:rPr>
              <a:t>方法用于获取临时文件</a:t>
            </a:r>
            <a:endParaRPr lang="zh-CN" altLang="en-US" sz="1600" dirty="0" smtClean="0">
              <a:latin typeface="+mn-ea"/>
              <a:ea typeface="+mn-ea"/>
            </a:endParaRPr>
          </a:p>
        </p:txBody>
      </p:sp>
      <p:sp>
        <p:nvSpPr>
          <p:cNvPr id="8" name="标题 1"/>
          <p:cNvSpPr>
            <a:spLocks noChangeArrowheads="1"/>
          </p:cNvSpPr>
          <p:nvPr/>
        </p:nvSpPr>
        <p:spPr bwMode="auto">
          <a:xfrm>
            <a:off x="1643733" y="389681"/>
            <a:ext cx="6888707" cy="56162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pPr marL="571500" indent="-571500"/>
            <a:r>
              <a:rPr lang="en-US" altLang="zh-CN" sz="3200" b="1" dirty="0">
                <a:solidFill>
                  <a:srgbClr val="006BA9"/>
                </a:solidFill>
                <a:latin typeface="微软雅黑" pitchFamily="34" charset="-122"/>
                <a:ea typeface="微软雅黑" pitchFamily="34" charset="-122"/>
                <a:sym typeface="宋体" charset="-122"/>
              </a:rPr>
              <a:t>12.2.2  </a:t>
            </a:r>
            <a:r>
              <a:rPr lang="en-US" altLang="zh-CN" sz="3200" b="1" dirty="0" err="1">
                <a:solidFill>
                  <a:srgbClr val="006BA9"/>
                </a:solidFill>
                <a:latin typeface="微软雅黑" pitchFamily="34" charset="-122"/>
                <a:ea typeface="微软雅黑" pitchFamily="34" charset="-122"/>
                <a:sym typeface="宋体" charset="-122"/>
              </a:rPr>
              <a:t>DiskFileItemFactory</a:t>
            </a:r>
            <a:r>
              <a:rPr lang="zh-CN" altLang="en-US" sz="3200" b="1" dirty="0">
                <a:solidFill>
                  <a:srgbClr val="006BA9"/>
                </a:solidFill>
                <a:latin typeface="微软雅黑" pitchFamily="34" charset="-122"/>
                <a:ea typeface="微软雅黑" pitchFamily="34" charset="-122"/>
                <a:sym typeface="宋体" charset="-122"/>
              </a:rPr>
              <a:t>类</a:t>
            </a:r>
          </a:p>
        </p:txBody>
      </p:sp>
    </p:spTree>
    <p:custDataLst>
      <p:tags r:id="rId1"/>
    </p:custDataLst>
    <p:extLst>
      <p:ext uri="{BB962C8B-B14F-4D97-AF65-F5344CB8AC3E}">
        <p14:creationId xmlns:p14="http://schemas.microsoft.com/office/powerpoint/2010/main" val="2564023050"/>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53" presetClass="entr" presetSubtype="16" fill="hold" grpId="0" nodeType="clickEffect">
                                  <p:stCondLst>
                                    <p:cond delay="0"/>
                                  </p:stCondLst>
                                  <p:childTnLst>
                                    <p:set>
                                      <p:cBhvr>
                                        <p:cTn id="13" dur="1" fill="hold">
                                          <p:stCondLst>
                                            <p:cond delay="0"/>
                                          </p:stCondLst>
                                        </p:cTn>
                                        <p:tgtEl>
                                          <p:spTgt spid="5"/>
                                        </p:tgtEl>
                                        <p:attrNameLst>
                                          <p:attrName>style.visibility</p:attrName>
                                        </p:attrNameLst>
                                      </p:cBhvr>
                                      <p:to>
                                        <p:strVal val="visible"/>
                                      </p:to>
                                    </p:set>
                                    <p:anim calcmode="lin" valueType="num">
                                      <p:cBhvr>
                                        <p:cTn id="14" dur="500" fill="hold"/>
                                        <p:tgtEl>
                                          <p:spTgt spid="5"/>
                                        </p:tgtEl>
                                        <p:attrNameLst>
                                          <p:attrName>ppt_w</p:attrName>
                                        </p:attrNameLst>
                                      </p:cBhvr>
                                      <p:tavLst>
                                        <p:tav tm="0">
                                          <p:val>
                                            <p:fltVal val="0"/>
                                          </p:val>
                                        </p:tav>
                                        <p:tav tm="100000">
                                          <p:val>
                                            <p:strVal val="#ppt_w"/>
                                          </p:val>
                                        </p:tav>
                                      </p:tavLst>
                                    </p:anim>
                                    <p:anim calcmode="lin" valueType="num">
                                      <p:cBhvr>
                                        <p:cTn id="15" dur="500" fill="hold"/>
                                        <p:tgtEl>
                                          <p:spTgt spid="5"/>
                                        </p:tgtEl>
                                        <p:attrNameLst>
                                          <p:attrName>ppt_h</p:attrName>
                                        </p:attrNameLst>
                                      </p:cBhvr>
                                      <p:tavLst>
                                        <p:tav tm="0">
                                          <p:val>
                                            <p:fltVal val="0"/>
                                          </p:val>
                                        </p:tav>
                                        <p:tav tm="100000">
                                          <p:val>
                                            <p:strVal val="#ppt_h"/>
                                          </p:val>
                                        </p:tav>
                                      </p:tavLst>
                                    </p:anim>
                                    <p:animEffect transition="in" filter="fade">
                                      <p:cBhvr>
                                        <p:cTn id="16" dur="500"/>
                                        <p:tgtEl>
                                          <p:spTgt spid="5"/>
                                        </p:tgtEl>
                                      </p:cBhvr>
                                    </p:animEffect>
                                  </p:childTnLst>
                                </p:cTn>
                              </p:par>
                            </p:childTnLst>
                          </p:cTn>
                        </p:par>
                      </p:childTnLst>
                    </p:cTn>
                  </p:par>
                  <p:par>
                    <p:cTn id="17" fill="hold">
                      <p:stCondLst>
                        <p:cond delay="indefinite"/>
                      </p:stCondLst>
                      <p:childTnLst>
                        <p:par>
                          <p:cTn id="18" fill="hold">
                            <p:stCondLst>
                              <p:cond delay="0"/>
                            </p:stCondLst>
                            <p:childTnLst>
                              <p:par>
                                <p:cTn id="19" presetID="53" presetClass="entr" presetSubtype="16" fill="hold" grpId="0" nodeType="clickEffect">
                                  <p:stCondLst>
                                    <p:cond delay="0"/>
                                  </p:stCondLst>
                                  <p:childTnLst>
                                    <p:set>
                                      <p:cBhvr>
                                        <p:cTn id="20" dur="1" fill="hold">
                                          <p:stCondLst>
                                            <p:cond delay="0"/>
                                          </p:stCondLst>
                                        </p:cTn>
                                        <p:tgtEl>
                                          <p:spTgt spid="6"/>
                                        </p:tgtEl>
                                        <p:attrNameLst>
                                          <p:attrName>style.visibility</p:attrName>
                                        </p:attrNameLst>
                                      </p:cBhvr>
                                      <p:to>
                                        <p:strVal val="visible"/>
                                      </p:to>
                                    </p:set>
                                    <p:anim calcmode="lin" valueType="num">
                                      <p:cBhvr>
                                        <p:cTn id="21" dur="500" fill="hold"/>
                                        <p:tgtEl>
                                          <p:spTgt spid="6"/>
                                        </p:tgtEl>
                                        <p:attrNameLst>
                                          <p:attrName>ppt_w</p:attrName>
                                        </p:attrNameLst>
                                      </p:cBhvr>
                                      <p:tavLst>
                                        <p:tav tm="0">
                                          <p:val>
                                            <p:fltVal val="0"/>
                                          </p:val>
                                        </p:tav>
                                        <p:tav tm="100000">
                                          <p:val>
                                            <p:strVal val="#ppt_w"/>
                                          </p:val>
                                        </p:tav>
                                      </p:tavLst>
                                    </p:anim>
                                    <p:anim calcmode="lin" valueType="num">
                                      <p:cBhvr>
                                        <p:cTn id="22" dur="500" fill="hold"/>
                                        <p:tgtEl>
                                          <p:spTgt spid="6"/>
                                        </p:tgtEl>
                                        <p:attrNameLst>
                                          <p:attrName>ppt_h</p:attrName>
                                        </p:attrNameLst>
                                      </p:cBhvr>
                                      <p:tavLst>
                                        <p:tav tm="0">
                                          <p:val>
                                            <p:fltVal val="0"/>
                                          </p:val>
                                        </p:tav>
                                        <p:tav tm="100000">
                                          <p:val>
                                            <p:strVal val="#ppt_h"/>
                                          </p:val>
                                        </p:tav>
                                      </p:tavLst>
                                    </p:anim>
                                    <p:animEffect transition="in" filter="fade">
                                      <p:cBhvr>
                                        <p:cTn id="23"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a:spLocks noChangeArrowheads="1"/>
          </p:cNvSpPr>
          <p:nvPr/>
        </p:nvSpPr>
        <p:spPr bwMode="auto">
          <a:xfrm>
            <a:off x="251520" y="923156"/>
            <a:ext cx="4944491" cy="56162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pPr marL="571500" indent="-571500"/>
            <a:endParaRPr lang="zh-CN" altLang="en-US" sz="2400" b="1" dirty="0">
              <a:solidFill>
                <a:srgbClr val="006BA9"/>
              </a:solidFill>
              <a:latin typeface="微软雅黑" pitchFamily="34" charset="-122"/>
              <a:ea typeface="微软雅黑" pitchFamily="34" charset="-122"/>
              <a:sym typeface="宋体" charset="-122"/>
            </a:endParaRPr>
          </a:p>
        </p:txBody>
      </p:sp>
      <p:sp>
        <p:nvSpPr>
          <p:cNvPr id="5" name="矩形 3"/>
          <p:cNvSpPr>
            <a:spLocks noChangeArrowheads="1"/>
          </p:cNvSpPr>
          <p:nvPr/>
        </p:nvSpPr>
        <p:spPr bwMode="auto">
          <a:xfrm>
            <a:off x="539552" y="1628800"/>
            <a:ext cx="8064896" cy="1286250"/>
          </a:xfrm>
          <a:prstGeom prst="rect">
            <a:avLst/>
          </a:prstGeom>
          <a:solidFill>
            <a:srgbClr val="E7F4FF"/>
          </a:solidFill>
          <a:ln w="15875" cmpd="sng">
            <a:solidFill>
              <a:srgbClr val="009ED6"/>
            </a:solidFill>
            <a:prstDash val="solid"/>
            <a:miter lim="800000"/>
            <a:headEnd/>
            <a:tailEnd/>
          </a:ln>
          <a:extLst/>
        </p:spPr>
        <p:txBody>
          <a:bodyPr wrap="square">
            <a:spAutoFit/>
          </a:bodyPr>
          <a:lstStyle>
            <a:lvl1pPr>
              <a:defRPr>
                <a:solidFill>
                  <a:schemeClr val="tx1"/>
                </a:solidFill>
                <a:latin typeface="Arial" pitchFamily="34" charset="0"/>
                <a:ea typeface="宋体" pitchFamily="2" charset="-122"/>
              </a:defRPr>
            </a:lvl1pPr>
            <a:lvl2pPr marL="742950" indent="-285750">
              <a:defRPr>
                <a:solidFill>
                  <a:schemeClr val="tx1"/>
                </a:solidFill>
                <a:latin typeface="Arial" pitchFamily="34" charset="0"/>
                <a:ea typeface="宋体" pitchFamily="2" charset="-122"/>
              </a:defRPr>
            </a:lvl2pPr>
            <a:lvl3pPr marL="1143000" indent="-228600">
              <a:defRPr>
                <a:solidFill>
                  <a:schemeClr val="tx1"/>
                </a:solidFill>
                <a:latin typeface="Arial" pitchFamily="34" charset="0"/>
                <a:ea typeface="宋体" pitchFamily="2" charset="-122"/>
              </a:defRPr>
            </a:lvl3pPr>
            <a:lvl4pPr marL="1600200" indent="-228600">
              <a:defRPr>
                <a:solidFill>
                  <a:schemeClr val="tx1"/>
                </a:solidFill>
                <a:latin typeface="Arial" pitchFamily="34" charset="0"/>
                <a:ea typeface="宋体" pitchFamily="2" charset="-122"/>
              </a:defRPr>
            </a:lvl4pPr>
            <a:lvl5pPr marL="2057400" indent="-22860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indent="457200">
              <a:lnSpc>
                <a:spcPct val="150000"/>
              </a:lnSpc>
              <a:defRPr/>
            </a:pPr>
            <a:r>
              <a:rPr lang="en-US" altLang="zh-CN" smtClean="0">
                <a:solidFill>
                  <a:srgbClr val="00B0F0"/>
                </a:solidFill>
                <a:latin typeface="Times New Roman" panose="02020603050405020304" pitchFamily="18" charset="0"/>
                <a:ea typeface="+mn-ea"/>
                <a:cs typeface="Times New Roman" panose="02020603050405020304" pitchFamily="18" charset="0"/>
              </a:rPr>
              <a:t>ServletFileUpload</a:t>
            </a:r>
            <a:r>
              <a:rPr lang="zh-CN" altLang="en-US">
                <a:latin typeface="Times New Roman" panose="02020603050405020304" pitchFamily="18" charset="0"/>
                <a:ea typeface="+mn-ea"/>
                <a:cs typeface="Times New Roman" panose="02020603050405020304" pitchFamily="18" charset="0"/>
              </a:rPr>
              <a:t>类是</a:t>
            </a:r>
            <a:r>
              <a:rPr lang="en-US" altLang="zh-CN">
                <a:solidFill>
                  <a:srgbClr val="00B0F0"/>
                </a:solidFill>
                <a:latin typeface="Times New Roman" panose="02020603050405020304" pitchFamily="18" charset="0"/>
                <a:ea typeface="+mn-ea"/>
                <a:cs typeface="Times New Roman" panose="02020603050405020304" pitchFamily="18" charset="0"/>
              </a:rPr>
              <a:t>Apache</a:t>
            </a:r>
            <a:r>
              <a:rPr lang="zh-CN" altLang="en-US">
                <a:latin typeface="Times New Roman" panose="02020603050405020304" pitchFamily="18" charset="0"/>
                <a:ea typeface="+mn-ea"/>
                <a:cs typeface="Times New Roman" panose="02020603050405020304" pitchFamily="18" charset="0"/>
              </a:rPr>
              <a:t>组件处理文件上传的核心高级类，通过使用</a:t>
            </a:r>
            <a:r>
              <a:rPr lang="en-US" altLang="zh-CN">
                <a:solidFill>
                  <a:srgbClr val="00B0F0"/>
                </a:solidFill>
                <a:latin typeface="Times New Roman" panose="02020603050405020304" pitchFamily="18" charset="0"/>
                <a:ea typeface="+mn-ea"/>
                <a:cs typeface="Times New Roman" panose="02020603050405020304" pitchFamily="18" charset="0"/>
              </a:rPr>
              <a:t>parseRequest(HttpServletRequest) </a:t>
            </a:r>
            <a:r>
              <a:rPr lang="zh-CN" altLang="en-US">
                <a:latin typeface="Times New Roman" panose="02020603050405020304" pitchFamily="18" charset="0"/>
                <a:ea typeface="+mn-ea"/>
                <a:cs typeface="Times New Roman" panose="02020603050405020304" pitchFamily="18" charset="0"/>
              </a:rPr>
              <a:t>方法可以将</a:t>
            </a:r>
            <a:r>
              <a:rPr lang="en-US" altLang="zh-CN">
                <a:solidFill>
                  <a:srgbClr val="00B0F0"/>
                </a:solidFill>
                <a:latin typeface="Times New Roman" panose="02020603050405020304" pitchFamily="18" charset="0"/>
                <a:ea typeface="+mn-ea"/>
                <a:cs typeface="Times New Roman" panose="02020603050405020304" pitchFamily="18" charset="0"/>
              </a:rPr>
              <a:t>HTML</a:t>
            </a:r>
            <a:r>
              <a:rPr lang="zh-CN" altLang="en-US">
                <a:latin typeface="Times New Roman" panose="02020603050405020304" pitchFamily="18" charset="0"/>
                <a:ea typeface="+mn-ea"/>
                <a:cs typeface="Times New Roman" panose="02020603050405020304" pitchFamily="18" charset="0"/>
              </a:rPr>
              <a:t>中每个表单提交的数据封装成一个</a:t>
            </a:r>
            <a:r>
              <a:rPr lang="en-US" altLang="zh-CN">
                <a:solidFill>
                  <a:srgbClr val="00B0F0"/>
                </a:solidFill>
                <a:latin typeface="Times New Roman" panose="02020603050405020304" pitchFamily="18" charset="0"/>
                <a:ea typeface="+mn-ea"/>
                <a:cs typeface="Times New Roman" panose="02020603050405020304" pitchFamily="18" charset="0"/>
              </a:rPr>
              <a:t>FileItem</a:t>
            </a:r>
            <a:r>
              <a:rPr lang="zh-CN" altLang="en-US">
                <a:latin typeface="Times New Roman" panose="02020603050405020304" pitchFamily="18" charset="0"/>
                <a:ea typeface="+mn-ea"/>
                <a:cs typeface="Times New Roman" panose="02020603050405020304" pitchFamily="18" charset="0"/>
              </a:rPr>
              <a:t>对象，然后以</a:t>
            </a:r>
            <a:r>
              <a:rPr lang="en-US" altLang="zh-CN">
                <a:solidFill>
                  <a:srgbClr val="00B0F0"/>
                </a:solidFill>
                <a:latin typeface="Times New Roman" panose="02020603050405020304" pitchFamily="18" charset="0"/>
                <a:ea typeface="+mn-ea"/>
                <a:cs typeface="Times New Roman" panose="02020603050405020304" pitchFamily="18" charset="0"/>
              </a:rPr>
              <a:t>List</a:t>
            </a:r>
            <a:r>
              <a:rPr lang="zh-CN" altLang="en-US">
                <a:latin typeface="Times New Roman" panose="02020603050405020304" pitchFamily="18" charset="0"/>
                <a:ea typeface="+mn-ea"/>
                <a:cs typeface="Times New Roman" panose="02020603050405020304" pitchFamily="18" charset="0"/>
              </a:rPr>
              <a:t>列表的形式返回</a:t>
            </a:r>
            <a:r>
              <a:rPr lang="zh-CN" altLang="en-US" smtClean="0">
                <a:latin typeface="Times New Roman" panose="02020603050405020304" pitchFamily="18" charset="0"/>
                <a:ea typeface="+mn-ea"/>
                <a:cs typeface="Times New Roman" panose="02020603050405020304" pitchFamily="18" charset="0"/>
              </a:rPr>
              <a:t>。</a:t>
            </a:r>
            <a:endParaRPr lang="zh-CN" altLang="en-US" sz="1600" dirty="0" smtClean="0">
              <a:latin typeface="Times New Roman" panose="02020603050405020304" pitchFamily="18" charset="0"/>
              <a:ea typeface="+mn-ea"/>
              <a:cs typeface="Times New Roman" panose="02020603050405020304" pitchFamily="18" charset="0"/>
            </a:endParaRPr>
          </a:p>
        </p:txBody>
      </p:sp>
      <p:sp>
        <p:nvSpPr>
          <p:cNvPr id="6" name="TextBox 5"/>
          <p:cNvSpPr txBox="1"/>
          <p:nvPr/>
        </p:nvSpPr>
        <p:spPr>
          <a:xfrm>
            <a:off x="539552" y="3933056"/>
            <a:ext cx="8064896" cy="1338828"/>
          </a:xfrm>
          <a:prstGeom prst="rect">
            <a:avLst/>
          </a:prstGeom>
          <a:solidFill>
            <a:srgbClr val="E7F4FF"/>
          </a:solidFill>
        </p:spPr>
        <p:txBody>
          <a:bodyPr wrap="square" rtlCol="0">
            <a:spAutoFit/>
          </a:bodyPr>
          <a:lstStyle/>
          <a:p>
            <a:pPr marL="285750" indent="-285750">
              <a:lnSpc>
                <a:spcPct val="150000"/>
              </a:lnSpc>
              <a:buFont typeface="Wingdings" panose="05000000000000000000" pitchFamily="2" charset="2"/>
              <a:buChar char="l"/>
            </a:pPr>
            <a:r>
              <a:rPr lang="en-US" altLang="zh-CN">
                <a:latin typeface="Times New Roman" panose="02020603050405020304" pitchFamily="18" charset="0"/>
                <a:cs typeface="Times New Roman" panose="02020603050405020304" pitchFamily="18" charset="0"/>
              </a:rPr>
              <a:t>ServletFileUpload():</a:t>
            </a:r>
            <a:r>
              <a:rPr lang="zh-CN" altLang="zh-CN">
                <a:latin typeface="Times New Roman" panose="02020603050405020304" pitchFamily="18" charset="0"/>
                <a:cs typeface="Times New Roman" panose="02020603050405020304" pitchFamily="18" charset="0"/>
              </a:rPr>
              <a:t>构造一个未初始化的</a:t>
            </a:r>
            <a:r>
              <a:rPr lang="en-US" altLang="zh-CN">
                <a:latin typeface="Times New Roman" panose="02020603050405020304" pitchFamily="18" charset="0"/>
                <a:cs typeface="Times New Roman" panose="02020603050405020304" pitchFamily="18" charset="0"/>
              </a:rPr>
              <a:t>ServletFileUpload</a:t>
            </a:r>
            <a:r>
              <a:rPr lang="zh-CN" altLang="zh-CN">
                <a:latin typeface="Times New Roman" panose="02020603050405020304" pitchFamily="18" charset="0"/>
                <a:cs typeface="Times New Roman" panose="02020603050405020304" pitchFamily="18" charset="0"/>
              </a:rPr>
              <a:t>实例对象 </a:t>
            </a:r>
            <a:endParaRPr lang="zh-CN" altLang="en-US">
              <a:latin typeface="Times New Roman" panose="02020603050405020304" pitchFamily="18" charset="0"/>
              <a:cs typeface="Times New Roman" panose="02020603050405020304" pitchFamily="18" charset="0"/>
            </a:endParaRPr>
          </a:p>
          <a:p>
            <a:pPr marL="285750" lvl="0" indent="-285750">
              <a:lnSpc>
                <a:spcPct val="150000"/>
              </a:lnSpc>
              <a:buFont typeface="Wingdings" panose="05000000000000000000" pitchFamily="2" charset="2"/>
              <a:buChar char="l"/>
            </a:pPr>
            <a:r>
              <a:rPr lang="en-US" altLang="zh-CN">
                <a:latin typeface="Times New Roman" panose="02020603050405020304" pitchFamily="18" charset="0"/>
                <a:cs typeface="Times New Roman" panose="02020603050405020304" pitchFamily="18" charset="0"/>
              </a:rPr>
              <a:t>ServletFileUpload(FileItemFactory fileItemFactory):</a:t>
            </a:r>
            <a:r>
              <a:rPr lang="zh-CN" altLang="zh-CN">
                <a:latin typeface="Times New Roman" panose="02020603050405020304" pitchFamily="18" charset="0"/>
                <a:cs typeface="Times New Roman" panose="02020603050405020304" pitchFamily="18" charset="0"/>
              </a:rPr>
              <a:t>根据参数指定的</a:t>
            </a:r>
            <a:r>
              <a:rPr lang="en-US" altLang="zh-CN">
                <a:latin typeface="Times New Roman" panose="02020603050405020304" pitchFamily="18" charset="0"/>
                <a:cs typeface="Times New Roman" panose="02020603050405020304" pitchFamily="18" charset="0"/>
              </a:rPr>
              <a:t>FileItemFactory </a:t>
            </a:r>
            <a:r>
              <a:rPr lang="zh-CN" altLang="zh-CN">
                <a:latin typeface="Times New Roman" panose="02020603050405020304" pitchFamily="18" charset="0"/>
                <a:cs typeface="Times New Roman" panose="02020603050405020304" pitchFamily="18" charset="0"/>
              </a:rPr>
              <a:t>对象创建一个</a:t>
            </a:r>
            <a:r>
              <a:rPr lang="en-US" altLang="zh-CN">
                <a:latin typeface="Times New Roman" panose="02020603050405020304" pitchFamily="18" charset="0"/>
                <a:cs typeface="Times New Roman" panose="02020603050405020304" pitchFamily="18" charset="0"/>
              </a:rPr>
              <a:t>ServletFileUpload</a:t>
            </a:r>
            <a:r>
              <a:rPr lang="zh-CN" altLang="zh-CN">
                <a:latin typeface="Times New Roman" panose="02020603050405020304" pitchFamily="18" charset="0"/>
                <a:cs typeface="Times New Roman" panose="02020603050405020304" pitchFamily="18" charset="0"/>
              </a:rPr>
              <a:t>对象</a:t>
            </a:r>
            <a:endParaRPr lang="zh-CN" altLang="en-US" dirty="0">
              <a:latin typeface="Times New Roman" panose="02020603050405020304" pitchFamily="18" charset="0"/>
              <a:cs typeface="Times New Roman" panose="02020603050405020304" pitchFamily="18" charset="0"/>
            </a:endParaRPr>
          </a:p>
        </p:txBody>
      </p:sp>
      <p:sp>
        <p:nvSpPr>
          <p:cNvPr id="7" name="TextBox 6"/>
          <p:cNvSpPr txBox="1"/>
          <p:nvPr/>
        </p:nvSpPr>
        <p:spPr>
          <a:xfrm>
            <a:off x="539552" y="3388350"/>
            <a:ext cx="4878259" cy="369332"/>
          </a:xfrm>
          <a:prstGeom prst="rect">
            <a:avLst/>
          </a:prstGeom>
          <a:noFill/>
        </p:spPr>
        <p:txBody>
          <a:bodyPr wrap="none" rtlCol="0">
            <a:spAutoFit/>
          </a:bodyPr>
          <a:lstStyle/>
          <a:p>
            <a:r>
              <a:rPr lang="en-US" altLang="zh-CN">
                <a:solidFill>
                  <a:srgbClr val="00B0F0"/>
                </a:solidFill>
                <a:latin typeface="Times New Roman" panose="02020603050405020304" pitchFamily="18" charset="0"/>
                <a:cs typeface="Times New Roman" panose="02020603050405020304" pitchFamily="18" charset="0"/>
              </a:rPr>
              <a:t>ServletFileUpload</a:t>
            </a:r>
            <a:r>
              <a:rPr lang="zh-CN" altLang="en-US">
                <a:latin typeface="Times New Roman" panose="02020603050405020304" pitchFamily="18" charset="0"/>
                <a:cs typeface="Times New Roman" panose="02020603050405020304" pitchFamily="18" charset="0"/>
              </a:rPr>
              <a:t>类的两个构造方法如下所示</a:t>
            </a:r>
            <a:r>
              <a:rPr lang="zh-CN" altLang="en-US" smtClean="0">
                <a:latin typeface="Times New Roman" panose="02020603050405020304" pitchFamily="18" charset="0"/>
                <a:cs typeface="Times New Roman" panose="02020603050405020304" pitchFamily="18" charset="0"/>
              </a:rPr>
              <a:t>：</a:t>
            </a:r>
            <a:endParaRPr lang="zh-CN" altLang="en-US" sz="1600">
              <a:latin typeface="Times New Roman" panose="02020603050405020304" pitchFamily="18" charset="0"/>
              <a:cs typeface="Times New Roman" panose="02020603050405020304" pitchFamily="18" charset="0"/>
            </a:endParaRPr>
          </a:p>
        </p:txBody>
      </p:sp>
      <p:sp>
        <p:nvSpPr>
          <p:cNvPr id="8" name="标题 1"/>
          <p:cNvSpPr>
            <a:spLocks noChangeArrowheads="1"/>
          </p:cNvSpPr>
          <p:nvPr/>
        </p:nvSpPr>
        <p:spPr bwMode="auto">
          <a:xfrm>
            <a:off x="1643733" y="389681"/>
            <a:ext cx="6888707" cy="56162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pPr marL="571500" indent="-571500"/>
            <a:r>
              <a:rPr lang="en-US" altLang="zh-CN" sz="3200" b="1" dirty="0">
                <a:solidFill>
                  <a:srgbClr val="006BA9"/>
                </a:solidFill>
                <a:latin typeface="微软雅黑" pitchFamily="34" charset="-122"/>
                <a:ea typeface="微软雅黑" pitchFamily="34" charset="-122"/>
                <a:sym typeface="宋体" charset="-122"/>
              </a:rPr>
              <a:t>12.2.3  </a:t>
            </a:r>
            <a:r>
              <a:rPr lang="en-US" altLang="zh-CN" sz="3200" b="1" dirty="0" err="1">
                <a:solidFill>
                  <a:srgbClr val="006BA9"/>
                </a:solidFill>
                <a:latin typeface="微软雅黑" pitchFamily="34" charset="-122"/>
                <a:ea typeface="微软雅黑" pitchFamily="34" charset="-122"/>
                <a:sym typeface="宋体" charset="-122"/>
              </a:rPr>
              <a:t>ServletFileUpload</a:t>
            </a:r>
            <a:r>
              <a:rPr lang="zh-CN" altLang="en-US" sz="3200" b="1" dirty="0">
                <a:solidFill>
                  <a:srgbClr val="006BA9"/>
                </a:solidFill>
                <a:latin typeface="微软雅黑" pitchFamily="34" charset="-122"/>
                <a:ea typeface="微软雅黑" pitchFamily="34" charset="-122"/>
                <a:sym typeface="宋体" charset="-122"/>
              </a:rPr>
              <a:t>类</a:t>
            </a:r>
          </a:p>
        </p:txBody>
      </p:sp>
    </p:spTree>
    <p:custDataLst>
      <p:tags r:id="rId1"/>
    </p:custDataLst>
    <p:extLst>
      <p:ext uri="{BB962C8B-B14F-4D97-AF65-F5344CB8AC3E}">
        <p14:creationId xmlns:p14="http://schemas.microsoft.com/office/powerpoint/2010/main" val="3905386496"/>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left)">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wipe(left)">
                                      <p:cBhvr>
                                        <p:cTn id="12" dur="500"/>
                                        <p:tgtEl>
                                          <p:spTgt spid="6"/>
                                        </p:tgtEl>
                                      </p:cBhvr>
                                    </p:animEffect>
                                  </p:childTnLst>
                                </p:cTn>
                              </p:par>
                              <p:par>
                                <p:cTn id="13" presetID="22" presetClass="entr" presetSubtype="8" fill="hold" grpId="0" nodeType="withEffect">
                                  <p:stCondLst>
                                    <p:cond delay="0"/>
                                  </p:stCondLst>
                                  <p:childTnLst>
                                    <p:set>
                                      <p:cBhvr>
                                        <p:cTn id="14" dur="1" fill="hold">
                                          <p:stCondLst>
                                            <p:cond delay="0"/>
                                          </p:stCondLst>
                                        </p:cTn>
                                        <p:tgtEl>
                                          <p:spTgt spid="7"/>
                                        </p:tgtEl>
                                        <p:attrNameLst>
                                          <p:attrName>style.visibility</p:attrName>
                                        </p:attrNameLst>
                                      </p:cBhvr>
                                      <p:to>
                                        <p:strVal val="visible"/>
                                      </p:to>
                                    </p:set>
                                    <p:animEffect transition="in" filter="wipe(left)">
                                      <p:cBhvr>
                                        <p:cTn id="15"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表格 2"/>
          <p:cNvGraphicFramePr>
            <a:graphicFrameLocks noGrp="1"/>
          </p:cNvGraphicFramePr>
          <p:nvPr>
            <p:extLst>
              <p:ext uri="{D42A27DB-BD31-4B8C-83A1-F6EECF244321}">
                <p14:modId xmlns:p14="http://schemas.microsoft.com/office/powerpoint/2010/main" val="4215972083"/>
              </p:ext>
            </p:extLst>
          </p:nvPr>
        </p:nvGraphicFramePr>
        <p:xfrm>
          <a:off x="539552" y="1160148"/>
          <a:ext cx="8093075" cy="5293188"/>
        </p:xfrm>
        <a:graphic>
          <a:graphicData uri="http://schemas.openxmlformats.org/drawingml/2006/table">
            <a:tbl>
              <a:tblPr firstRow="1" firstCol="1" bandRow="1"/>
              <a:tblGrid>
                <a:gridCol w="2969146"/>
                <a:gridCol w="5123929"/>
              </a:tblGrid>
              <a:tr h="261026">
                <a:tc>
                  <a:txBody>
                    <a:bodyPr/>
                    <a:lstStyle/>
                    <a:p>
                      <a:pPr indent="266700" algn="ctr">
                        <a:spcAft>
                          <a:spcPts val="0"/>
                        </a:spcAft>
                      </a:pPr>
                      <a:r>
                        <a:rPr lang="zh-CN" sz="1800" b="1" kern="100" dirty="0">
                          <a:solidFill>
                            <a:schemeClr val="bg1"/>
                          </a:solidFill>
                          <a:effectLst/>
                          <a:latin typeface="微软雅黑" panose="020B0503020204020204" pitchFamily="34" charset="-122"/>
                          <a:ea typeface="微软雅黑" panose="020B0503020204020204" pitchFamily="34" charset="-122"/>
                          <a:cs typeface="宋体"/>
                        </a:rPr>
                        <a:t>方法声明</a:t>
                      </a:r>
                      <a:endParaRPr lang="zh-CN" sz="1800" kern="100" dirty="0">
                        <a:solidFill>
                          <a:schemeClr val="bg1"/>
                        </a:solidFill>
                        <a:effectLst/>
                        <a:latin typeface="微软雅黑" panose="020B0503020204020204" pitchFamily="34" charset="-122"/>
                        <a:ea typeface="微软雅黑" panose="020B0503020204020204" pitchFamily="34" charset="-122"/>
                        <a:cs typeface="宋体"/>
                      </a:endParaRPr>
                    </a:p>
                  </a:txBody>
                  <a:tcPr marL="63129" marR="63129"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4F81BD"/>
                    </a:solidFill>
                  </a:tcPr>
                </a:tc>
                <a:tc>
                  <a:txBody>
                    <a:bodyPr/>
                    <a:lstStyle/>
                    <a:p>
                      <a:pPr indent="266700" algn="ctr">
                        <a:spcAft>
                          <a:spcPts val="0"/>
                        </a:spcAft>
                      </a:pPr>
                      <a:r>
                        <a:rPr lang="zh-CN" sz="1800" b="1" kern="100" dirty="0">
                          <a:solidFill>
                            <a:schemeClr val="bg1"/>
                          </a:solidFill>
                          <a:effectLst/>
                          <a:latin typeface="微软雅黑" panose="020B0503020204020204" pitchFamily="34" charset="-122"/>
                          <a:ea typeface="微软雅黑" panose="020B0503020204020204" pitchFamily="34" charset="-122"/>
                          <a:cs typeface="宋体"/>
                        </a:rPr>
                        <a:t>功能描述</a:t>
                      </a:r>
                      <a:endParaRPr lang="zh-CN" sz="1800" kern="100" dirty="0">
                        <a:solidFill>
                          <a:schemeClr val="bg1"/>
                        </a:solidFill>
                        <a:effectLst/>
                        <a:latin typeface="微软雅黑" panose="020B0503020204020204" pitchFamily="34" charset="-122"/>
                        <a:ea typeface="微软雅黑" panose="020B0503020204020204" pitchFamily="34" charset="-122"/>
                        <a:cs typeface="宋体"/>
                      </a:endParaRPr>
                    </a:p>
                  </a:txBody>
                  <a:tcPr marL="63129" marR="63129"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4F81BD"/>
                    </a:solidFill>
                  </a:tcPr>
                </a:tc>
              </a:tr>
              <a:tr h="628396">
                <a:tc>
                  <a:txBody>
                    <a:bodyPr/>
                    <a:lstStyle/>
                    <a:p>
                      <a:pPr algn="just">
                        <a:spcAft>
                          <a:spcPts val="0"/>
                        </a:spcAft>
                      </a:pPr>
                      <a:r>
                        <a:rPr lang="en-US" sz="1200" kern="100" dirty="0" err="1">
                          <a:effectLst/>
                          <a:latin typeface="Times New Roman" panose="02020603050405020304" pitchFamily="18" charset="0"/>
                          <a:ea typeface="+mn-ea"/>
                          <a:cs typeface="Times New Roman" panose="02020603050405020304" pitchFamily="18" charset="0"/>
                        </a:rPr>
                        <a:t>setSizeMax</a:t>
                      </a:r>
                      <a:r>
                        <a:rPr lang="en-US" sz="1200" kern="100" dirty="0">
                          <a:effectLst/>
                          <a:latin typeface="Times New Roman" panose="02020603050405020304" pitchFamily="18" charset="0"/>
                          <a:ea typeface="+mn-ea"/>
                          <a:cs typeface="Times New Roman" panose="02020603050405020304" pitchFamily="18" charset="0"/>
                        </a:rPr>
                        <a:t>(long </a:t>
                      </a:r>
                      <a:r>
                        <a:rPr lang="en-US" sz="1200" kern="100" dirty="0" err="1">
                          <a:effectLst/>
                          <a:latin typeface="Times New Roman" panose="02020603050405020304" pitchFamily="18" charset="0"/>
                          <a:ea typeface="+mn-ea"/>
                          <a:cs typeface="Times New Roman" panose="02020603050405020304" pitchFamily="18" charset="0"/>
                        </a:rPr>
                        <a:t>sizeMax</a:t>
                      </a:r>
                      <a:r>
                        <a:rPr lang="en-US" sz="1200" kern="100" dirty="0" smtClean="0">
                          <a:effectLst/>
                          <a:latin typeface="Times New Roman" panose="02020603050405020304" pitchFamily="18" charset="0"/>
                          <a:ea typeface="+mn-ea"/>
                          <a:cs typeface="Times New Roman" panose="02020603050405020304" pitchFamily="18" charset="0"/>
                        </a:rPr>
                        <a:t>)</a:t>
                      </a:r>
                    </a:p>
                    <a:p>
                      <a:pPr algn="just">
                        <a:spcAft>
                          <a:spcPts val="0"/>
                        </a:spcAft>
                      </a:pPr>
                      <a:r>
                        <a:rPr lang="zh-CN" sz="1200" kern="100" dirty="0" smtClean="0">
                          <a:effectLst/>
                          <a:latin typeface="Times New Roman" panose="02020603050405020304" pitchFamily="18" charset="0"/>
                          <a:ea typeface="+mn-ea"/>
                          <a:cs typeface="Times New Roman" panose="02020603050405020304" pitchFamily="18" charset="0"/>
                        </a:rPr>
                        <a:t>和</a:t>
                      </a:r>
                      <a:endParaRPr lang="zh-CN" sz="1200" kern="100" dirty="0">
                        <a:effectLst/>
                        <a:latin typeface="Times New Roman" panose="02020603050405020304" pitchFamily="18" charset="0"/>
                        <a:ea typeface="+mn-ea"/>
                        <a:cs typeface="Times New Roman" panose="02020603050405020304" pitchFamily="18" charset="0"/>
                      </a:endParaRPr>
                    </a:p>
                    <a:p>
                      <a:pPr algn="just">
                        <a:spcAft>
                          <a:spcPts val="0"/>
                        </a:spcAft>
                      </a:pPr>
                      <a:r>
                        <a:rPr lang="en-US" sz="1200" kern="100" dirty="0" err="1">
                          <a:effectLst/>
                          <a:latin typeface="Times New Roman" panose="02020603050405020304" pitchFamily="18" charset="0"/>
                          <a:ea typeface="+mn-ea"/>
                          <a:cs typeface="Times New Roman" panose="02020603050405020304" pitchFamily="18" charset="0"/>
                        </a:rPr>
                        <a:t>getSizeMax</a:t>
                      </a:r>
                      <a:r>
                        <a:rPr lang="en-US" sz="1200" kern="100" dirty="0">
                          <a:effectLst/>
                          <a:latin typeface="Times New Roman" panose="02020603050405020304" pitchFamily="18" charset="0"/>
                          <a:ea typeface="+mn-ea"/>
                          <a:cs typeface="Times New Roman" panose="02020603050405020304" pitchFamily="18" charset="0"/>
                        </a:rPr>
                        <a:t>()</a:t>
                      </a:r>
                      <a:endParaRPr lang="zh-CN" sz="1200" kern="100" dirty="0">
                        <a:effectLst/>
                        <a:latin typeface="Times New Roman" panose="02020603050405020304" pitchFamily="18" charset="0"/>
                        <a:ea typeface="+mn-ea"/>
                        <a:cs typeface="Times New Roman" panose="02020603050405020304" pitchFamily="18" charset="0"/>
                      </a:endParaRPr>
                    </a:p>
                  </a:txBody>
                  <a:tcPr marL="63129" marR="63129"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9EDF4"/>
                    </a:solidFill>
                  </a:tcPr>
                </a:tc>
                <a:tc>
                  <a:txBody>
                    <a:bodyPr/>
                    <a:lstStyle/>
                    <a:p>
                      <a:pPr algn="just">
                        <a:lnSpc>
                          <a:spcPts val="1300"/>
                        </a:lnSpc>
                        <a:spcAft>
                          <a:spcPts val="0"/>
                        </a:spcAft>
                      </a:pPr>
                      <a:r>
                        <a:rPr lang="zh-CN" sz="1200" kern="100" dirty="0" smtClean="0">
                          <a:effectLst/>
                          <a:latin typeface="Times New Roman" panose="02020603050405020304" pitchFamily="18" charset="0"/>
                          <a:ea typeface="+mn-ea"/>
                          <a:cs typeface="Times New Roman" panose="02020603050405020304" pitchFamily="18" charset="0"/>
                        </a:rPr>
                        <a:t>用于</a:t>
                      </a:r>
                      <a:r>
                        <a:rPr lang="zh-CN" sz="1200" kern="100" dirty="0">
                          <a:effectLst/>
                          <a:latin typeface="Times New Roman" panose="02020603050405020304" pitchFamily="18" charset="0"/>
                          <a:ea typeface="+mn-ea"/>
                          <a:cs typeface="Times New Roman" panose="02020603050405020304" pitchFamily="18" charset="0"/>
                        </a:rPr>
                        <a:t>设置请求消息实体内容（即所有上传数据）的最大尺寸限制，以防止客户端恶意上传超大文件来浪费服务器端的存储空间。其中，参数</a:t>
                      </a:r>
                      <a:r>
                        <a:rPr lang="en-US" sz="1200" kern="100" dirty="0" err="1">
                          <a:effectLst/>
                          <a:latin typeface="Times New Roman" panose="02020603050405020304" pitchFamily="18" charset="0"/>
                          <a:ea typeface="+mn-ea"/>
                          <a:cs typeface="Times New Roman" panose="02020603050405020304" pitchFamily="18" charset="0"/>
                        </a:rPr>
                        <a:t>sizeMax</a:t>
                      </a:r>
                      <a:r>
                        <a:rPr lang="zh-CN" sz="1200" kern="100" dirty="0">
                          <a:effectLst/>
                          <a:latin typeface="Times New Roman" panose="02020603050405020304" pitchFamily="18" charset="0"/>
                          <a:ea typeface="+mn-ea"/>
                          <a:cs typeface="Times New Roman" panose="02020603050405020304" pitchFamily="18" charset="0"/>
                        </a:rPr>
                        <a:t>是以字节为单位</a:t>
                      </a:r>
                      <a:r>
                        <a:rPr lang="zh-CN" sz="1200" kern="100" dirty="0" smtClean="0">
                          <a:effectLst/>
                          <a:latin typeface="Times New Roman" panose="02020603050405020304" pitchFamily="18" charset="0"/>
                          <a:ea typeface="+mn-ea"/>
                          <a:cs typeface="Times New Roman" panose="02020603050405020304" pitchFamily="18" charset="0"/>
                        </a:rPr>
                        <a:t>。用于</a:t>
                      </a:r>
                      <a:r>
                        <a:rPr lang="zh-CN" sz="1200" kern="100" dirty="0">
                          <a:effectLst/>
                          <a:latin typeface="Times New Roman" panose="02020603050405020304" pitchFamily="18" charset="0"/>
                          <a:ea typeface="+mn-ea"/>
                          <a:cs typeface="Times New Roman" panose="02020603050405020304" pitchFamily="18" charset="0"/>
                        </a:rPr>
                        <a:t>读取请求消息实体内容所允许的最大值</a:t>
                      </a:r>
                    </a:p>
                  </a:txBody>
                  <a:tcPr marL="63129" marR="63129"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9EDF4"/>
                    </a:solidFill>
                  </a:tcPr>
                </a:tc>
              </a:tr>
              <a:tr h="628396">
                <a:tc>
                  <a:txBody>
                    <a:bodyPr/>
                    <a:lstStyle/>
                    <a:p>
                      <a:pPr algn="just">
                        <a:spcAft>
                          <a:spcPts val="0"/>
                        </a:spcAft>
                      </a:pPr>
                      <a:r>
                        <a:rPr lang="en-US" sz="1200" kern="100" dirty="0" err="1">
                          <a:effectLst/>
                          <a:latin typeface="Times New Roman" panose="02020603050405020304" pitchFamily="18" charset="0"/>
                          <a:ea typeface="+mn-ea"/>
                          <a:cs typeface="Times New Roman" panose="02020603050405020304" pitchFamily="18" charset="0"/>
                        </a:rPr>
                        <a:t>setFileSizeMax</a:t>
                      </a:r>
                      <a:r>
                        <a:rPr lang="en-US" sz="1200" kern="100" dirty="0">
                          <a:effectLst/>
                          <a:latin typeface="Times New Roman" panose="02020603050405020304" pitchFamily="18" charset="0"/>
                          <a:ea typeface="+mn-ea"/>
                          <a:cs typeface="Times New Roman" panose="02020603050405020304" pitchFamily="18" charset="0"/>
                        </a:rPr>
                        <a:t>(long </a:t>
                      </a:r>
                      <a:r>
                        <a:rPr lang="en-US" sz="1200" kern="100" dirty="0" err="1">
                          <a:effectLst/>
                          <a:latin typeface="Times New Roman" panose="02020603050405020304" pitchFamily="18" charset="0"/>
                          <a:ea typeface="+mn-ea"/>
                          <a:cs typeface="Times New Roman" panose="02020603050405020304" pitchFamily="18" charset="0"/>
                        </a:rPr>
                        <a:t>fileSizeMax</a:t>
                      </a:r>
                      <a:r>
                        <a:rPr lang="en-US" sz="1200" kern="100" dirty="0">
                          <a:effectLst/>
                          <a:latin typeface="Times New Roman" panose="02020603050405020304" pitchFamily="18" charset="0"/>
                          <a:ea typeface="+mn-ea"/>
                          <a:cs typeface="Times New Roman" panose="02020603050405020304" pitchFamily="18" charset="0"/>
                        </a:rPr>
                        <a:t>)</a:t>
                      </a:r>
                      <a:endParaRPr lang="zh-CN" sz="1200" kern="100" dirty="0">
                        <a:effectLst/>
                        <a:latin typeface="Times New Roman" panose="02020603050405020304" pitchFamily="18" charset="0"/>
                        <a:ea typeface="+mn-ea"/>
                        <a:cs typeface="Times New Roman" panose="02020603050405020304" pitchFamily="18" charset="0"/>
                      </a:endParaRPr>
                    </a:p>
                  </a:txBody>
                  <a:tcPr marL="63129" marR="63129"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algn="just">
                        <a:lnSpc>
                          <a:spcPts val="1300"/>
                        </a:lnSpc>
                        <a:spcAft>
                          <a:spcPts val="0"/>
                        </a:spcAft>
                      </a:pPr>
                      <a:r>
                        <a:rPr lang="en-US" sz="1200" kern="100" dirty="0" err="1">
                          <a:effectLst/>
                          <a:latin typeface="Times New Roman" panose="02020603050405020304" pitchFamily="18" charset="0"/>
                          <a:ea typeface="+mn-ea"/>
                          <a:cs typeface="Times New Roman" panose="02020603050405020304" pitchFamily="18" charset="0"/>
                        </a:rPr>
                        <a:t>setFileSizeMax</a:t>
                      </a:r>
                      <a:r>
                        <a:rPr lang="en-US" sz="1200" kern="100" dirty="0">
                          <a:effectLst/>
                          <a:latin typeface="Times New Roman" panose="02020603050405020304" pitchFamily="18" charset="0"/>
                          <a:ea typeface="+mn-ea"/>
                          <a:cs typeface="Times New Roman" panose="02020603050405020304" pitchFamily="18" charset="0"/>
                        </a:rPr>
                        <a:t>()</a:t>
                      </a:r>
                      <a:r>
                        <a:rPr lang="zh-CN" sz="1200" kern="100" dirty="0">
                          <a:effectLst/>
                          <a:latin typeface="Times New Roman" panose="02020603050405020304" pitchFamily="18" charset="0"/>
                          <a:ea typeface="+mn-ea"/>
                          <a:cs typeface="Times New Roman" panose="02020603050405020304" pitchFamily="18" charset="0"/>
                        </a:rPr>
                        <a:t>方法继承自</a:t>
                      </a:r>
                      <a:r>
                        <a:rPr lang="en-US" sz="1200" kern="100" dirty="0" err="1">
                          <a:effectLst/>
                          <a:latin typeface="Times New Roman" panose="02020603050405020304" pitchFamily="18" charset="0"/>
                          <a:ea typeface="+mn-ea"/>
                          <a:cs typeface="Times New Roman" panose="02020603050405020304" pitchFamily="18" charset="0"/>
                        </a:rPr>
                        <a:t>FileUploadBase</a:t>
                      </a:r>
                      <a:r>
                        <a:rPr lang="zh-CN" sz="1200" kern="100" dirty="0">
                          <a:effectLst/>
                          <a:latin typeface="Times New Roman" panose="02020603050405020304" pitchFamily="18" charset="0"/>
                          <a:ea typeface="+mn-ea"/>
                          <a:cs typeface="Times New Roman" panose="02020603050405020304" pitchFamily="18" charset="0"/>
                        </a:rPr>
                        <a:t>类，用于设置单个上传文件的最大尺寸限制，以防止客户端恶意上传超大文件来浪费服务器端的存储空间。其中，参数</a:t>
                      </a:r>
                      <a:r>
                        <a:rPr lang="en-US" sz="1200" kern="100" dirty="0" err="1">
                          <a:effectLst/>
                          <a:latin typeface="Times New Roman" panose="02020603050405020304" pitchFamily="18" charset="0"/>
                          <a:ea typeface="+mn-ea"/>
                          <a:cs typeface="Times New Roman" panose="02020603050405020304" pitchFamily="18" charset="0"/>
                        </a:rPr>
                        <a:t>fileSizeMax</a:t>
                      </a:r>
                      <a:r>
                        <a:rPr lang="zh-CN" sz="1200" kern="100" dirty="0">
                          <a:effectLst/>
                          <a:latin typeface="Times New Roman" panose="02020603050405020304" pitchFamily="18" charset="0"/>
                          <a:ea typeface="+mn-ea"/>
                          <a:cs typeface="Times New Roman" panose="02020603050405020304" pitchFamily="18" charset="0"/>
                        </a:rPr>
                        <a:t>是以字节为单位。对应的</a:t>
                      </a:r>
                      <a:r>
                        <a:rPr lang="en-US" sz="1200" kern="100" dirty="0" err="1">
                          <a:effectLst/>
                          <a:latin typeface="Times New Roman" panose="02020603050405020304" pitchFamily="18" charset="0"/>
                          <a:ea typeface="+mn-ea"/>
                          <a:cs typeface="Times New Roman" panose="02020603050405020304" pitchFamily="18" charset="0"/>
                        </a:rPr>
                        <a:t>geFileSizeMax</a:t>
                      </a:r>
                      <a:r>
                        <a:rPr lang="en-US" sz="1200" kern="100" dirty="0">
                          <a:effectLst/>
                          <a:latin typeface="Times New Roman" panose="02020603050405020304" pitchFamily="18" charset="0"/>
                          <a:ea typeface="+mn-ea"/>
                          <a:cs typeface="Times New Roman" panose="02020603050405020304" pitchFamily="18" charset="0"/>
                        </a:rPr>
                        <a:t>()</a:t>
                      </a:r>
                      <a:r>
                        <a:rPr lang="zh-CN" sz="1200" kern="100" dirty="0">
                          <a:effectLst/>
                          <a:latin typeface="Times New Roman" panose="02020603050405020304" pitchFamily="18" charset="0"/>
                          <a:ea typeface="+mn-ea"/>
                          <a:cs typeface="Times New Roman" panose="02020603050405020304" pitchFamily="18" charset="0"/>
                        </a:rPr>
                        <a:t>方法用于获取单个上传文件所允许的最大值。</a:t>
                      </a:r>
                    </a:p>
                  </a:txBody>
                  <a:tcPr marL="63129" marR="63129"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r>
              <a:tr h="628396">
                <a:tc>
                  <a:txBody>
                    <a:bodyPr/>
                    <a:lstStyle/>
                    <a:p>
                      <a:pPr algn="just">
                        <a:spcAft>
                          <a:spcPts val="0"/>
                        </a:spcAft>
                      </a:pPr>
                      <a:r>
                        <a:rPr lang="en-US" sz="1200" kern="100" dirty="0">
                          <a:effectLst/>
                          <a:latin typeface="Times New Roman" panose="02020603050405020304" pitchFamily="18" charset="0"/>
                          <a:ea typeface="+mn-ea"/>
                          <a:cs typeface="Times New Roman" panose="02020603050405020304" pitchFamily="18" charset="0"/>
                        </a:rPr>
                        <a:t>parseRequest(</a:t>
                      </a:r>
                      <a:r>
                        <a:rPr lang="en-US" sz="1200" kern="100" dirty="0" err="1">
                          <a:effectLst/>
                          <a:latin typeface="Times New Roman" panose="02020603050405020304" pitchFamily="18" charset="0"/>
                          <a:ea typeface="+mn-ea"/>
                          <a:cs typeface="Times New Roman" panose="02020603050405020304" pitchFamily="18" charset="0"/>
                        </a:rPr>
                        <a:t>javax.servlet.http</a:t>
                      </a:r>
                      <a:r>
                        <a:rPr lang="en-US" sz="1200" kern="100" dirty="0">
                          <a:effectLst/>
                          <a:latin typeface="Times New Roman" panose="02020603050405020304" pitchFamily="18" charset="0"/>
                          <a:ea typeface="+mn-ea"/>
                          <a:cs typeface="Times New Roman" panose="02020603050405020304" pitchFamily="18" charset="0"/>
                        </a:rPr>
                        <a:t>.</a:t>
                      </a:r>
                      <a:endParaRPr lang="zh-CN" sz="1200" kern="100" dirty="0">
                        <a:effectLst/>
                        <a:latin typeface="Times New Roman" panose="02020603050405020304" pitchFamily="18" charset="0"/>
                        <a:ea typeface="+mn-ea"/>
                        <a:cs typeface="Times New Roman" panose="02020603050405020304" pitchFamily="18" charset="0"/>
                      </a:endParaRPr>
                    </a:p>
                    <a:p>
                      <a:pPr indent="400050" algn="just">
                        <a:spcAft>
                          <a:spcPts val="0"/>
                        </a:spcAft>
                      </a:pPr>
                      <a:r>
                        <a:rPr lang="en-US" sz="1200" kern="100" dirty="0">
                          <a:effectLst/>
                          <a:latin typeface="Times New Roman" panose="02020603050405020304" pitchFamily="18" charset="0"/>
                          <a:ea typeface="+mn-ea"/>
                          <a:cs typeface="Times New Roman" panose="02020603050405020304" pitchFamily="18" charset="0"/>
                        </a:rPr>
                        <a:t>HttpServletRequest </a:t>
                      </a:r>
                      <a:r>
                        <a:rPr lang="en-US" sz="1200" kern="100" dirty="0" err="1">
                          <a:effectLst/>
                          <a:latin typeface="Times New Roman" panose="02020603050405020304" pitchFamily="18" charset="0"/>
                          <a:ea typeface="+mn-ea"/>
                          <a:cs typeface="Times New Roman" panose="02020603050405020304" pitchFamily="18" charset="0"/>
                        </a:rPr>
                        <a:t>req</a:t>
                      </a:r>
                      <a:r>
                        <a:rPr lang="en-US" sz="1200" kern="100" dirty="0">
                          <a:effectLst/>
                          <a:latin typeface="Times New Roman" panose="02020603050405020304" pitchFamily="18" charset="0"/>
                          <a:ea typeface="+mn-ea"/>
                          <a:cs typeface="Times New Roman" panose="02020603050405020304" pitchFamily="18" charset="0"/>
                        </a:rPr>
                        <a:t>)</a:t>
                      </a:r>
                      <a:endParaRPr lang="zh-CN" sz="1200" kern="100" dirty="0">
                        <a:effectLst/>
                        <a:latin typeface="Times New Roman" panose="02020603050405020304" pitchFamily="18" charset="0"/>
                        <a:ea typeface="+mn-ea"/>
                        <a:cs typeface="Times New Roman" panose="02020603050405020304" pitchFamily="18" charset="0"/>
                      </a:endParaRPr>
                    </a:p>
                  </a:txBody>
                  <a:tcPr marL="63129" marR="63129"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9EDF4"/>
                    </a:solidFill>
                  </a:tcPr>
                </a:tc>
                <a:tc>
                  <a:txBody>
                    <a:bodyPr/>
                    <a:lstStyle/>
                    <a:p>
                      <a:pPr algn="just">
                        <a:lnSpc>
                          <a:spcPts val="1300"/>
                        </a:lnSpc>
                        <a:spcAft>
                          <a:spcPts val="0"/>
                        </a:spcAft>
                      </a:pPr>
                      <a:r>
                        <a:rPr lang="en-US" sz="1200" kern="100" dirty="0">
                          <a:effectLst/>
                          <a:latin typeface="Times New Roman" panose="02020603050405020304" pitchFamily="18" charset="0"/>
                          <a:ea typeface="+mn-ea"/>
                          <a:cs typeface="Times New Roman" panose="02020603050405020304" pitchFamily="18" charset="0"/>
                        </a:rPr>
                        <a:t>parseRequest()</a:t>
                      </a:r>
                      <a:r>
                        <a:rPr lang="zh-CN" sz="1200" kern="100" dirty="0">
                          <a:effectLst/>
                          <a:latin typeface="Times New Roman" panose="02020603050405020304" pitchFamily="18" charset="0"/>
                          <a:ea typeface="+mn-ea"/>
                          <a:cs typeface="Times New Roman" panose="02020603050405020304" pitchFamily="18" charset="0"/>
                        </a:rPr>
                        <a:t>方法是</a:t>
                      </a:r>
                      <a:r>
                        <a:rPr lang="en-US" sz="1200" kern="100" dirty="0">
                          <a:effectLst/>
                          <a:latin typeface="Times New Roman" panose="02020603050405020304" pitchFamily="18" charset="0"/>
                          <a:ea typeface="+mn-ea"/>
                          <a:cs typeface="Times New Roman" panose="02020603050405020304" pitchFamily="18" charset="0"/>
                        </a:rPr>
                        <a:t>ServletFileUpload</a:t>
                      </a:r>
                      <a:r>
                        <a:rPr lang="zh-CN" sz="1200" kern="100" dirty="0">
                          <a:effectLst/>
                          <a:latin typeface="Times New Roman" panose="02020603050405020304" pitchFamily="18" charset="0"/>
                          <a:ea typeface="+mn-ea"/>
                          <a:cs typeface="Times New Roman" panose="02020603050405020304" pitchFamily="18" charset="0"/>
                        </a:rPr>
                        <a:t>类的重要方法，它是对</a:t>
                      </a:r>
                      <a:r>
                        <a:rPr lang="en-US" sz="1200" kern="100" dirty="0">
                          <a:effectLst/>
                          <a:latin typeface="Times New Roman" panose="02020603050405020304" pitchFamily="18" charset="0"/>
                          <a:ea typeface="+mn-ea"/>
                          <a:cs typeface="Times New Roman" panose="02020603050405020304" pitchFamily="18" charset="0"/>
                        </a:rPr>
                        <a:t>HTTP</a:t>
                      </a:r>
                      <a:r>
                        <a:rPr lang="zh-CN" sz="1200" kern="100" dirty="0">
                          <a:effectLst/>
                          <a:latin typeface="Times New Roman" panose="02020603050405020304" pitchFamily="18" charset="0"/>
                          <a:ea typeface="+mn-ea"/>
                          <a:cs typeface="Times New Roman" panose="02020603050405020304" pitchFamily="18" charset="0"/>
                        </a:rPr>
                        <a:t>请求消息体内容进行解析的入口。它解析出</a:t>
                      </a:r>
                      <a:r>
                        <a:rPr lang="en-US" sz="1200" kern="100" dirty="0">
                          <a:effectLst/>
                          <a:latin typeface="Times New Roman" panose="02020603050405020304" pitchFamily="18" charset="0"/>
                          <a:ea typeface="+mn-ea"/>
                          <a:cs typeface="Times New Roman" panose="02020603050405020304" pitchFamily="18" charset="0"/>
                        </a:rPr>
                        <a:t>FORM</a:t>
                      </a:r>
                      <a:r>
                        <a:rPr lang="zh-CN" sz="1200" kern="100" dirty="0">
                          <a:effectLst/>
                          <a:latin typeface="Times New Roman" panose="02020603050405020304" pitchFamily="18" charset="0"/>
                          <a:ea typeface="+mn-ea"/>
                          <a:cs typeface="Times New Roman" panose="02020603050405020304" pitchFamily="18" charset="0"/>
                        </a:rPr>
                        <a:t>表单中的每个字段的数据，并将它们分别包装成独立的</a:t>
                      </a:r>
                      <a:r>
                        <a:rPr lang="en-US" sz="1200" kern="100" dirty="0">
                          <a:effectLst/>
                          <a:latin typeface="Times New Roman" panose="02020603050405020304" pitchFamily="18" charset="0"/>
                          <a:ea typeface="+mn-ea"/>
                          <a:cs typeface="Times New Roman" panose="02020603050405020304" pitchFamily="18" charset="0"/>
                        </a:rPr>
                        <a:t>FileItem</a:t>
                      </a:r>
                      <a:r>
                        <a:rPr lang="zh-CN" sz="1200" kern="100" dirty="0">
                          <a:effectLst/>
                          <a:latin typeface="Times New Roman" panose="02020603050405020304" pitchFamily="18" charset="0"/>
                          <a:ea typeface="+mn-ea"/>
                          <a:cs typeface="Times New Roman" panose="02020603050405020304" pitchFamily="18" charset="0"/>
                        </a:rPr>
                        <a:t>对象，然后将这些</a:t>
                      </a:r>
                      <a:r>
                        <a:rPr lang="en-US" sz="1200" kern="100" dirty="0">
                          <a:effectLst/>
                          <a:latin typeface="Times New Roman" panose="02020603050405020304" pitchFamily="18" charset="0"/>
                          <a:ea typeface="+mn-ea"/>
                          <a:cs typeface="Times New Roman" panose="02020603050405020304" pitchFamily="18" charset="0"/>
                        </a:rPr>
                        <a:t>FileItem</a:t>
                      </a:r>
                      <a:r>
                        <a:rPr lang="zh-CN" sz="1200" kern="100" dirty="0">
                          <a:effectLst/>
                          <a:latin typeface="Times New Roman" panose="02020603050405020304" pitchFamily="18" charset="0"/>
                          <a:ea typeface="+mn-ea"/>
                          <a:cs typeface="Times New Roman" panose="02020603050405020304" pitchFamily="18" charset="0"/>
                        </a:rPr>
                        <a:t>对象加入进一个</a:t>
                      </a:r>
                      <a:r>
                        <a:rPr lang="en-US" sz="1200" kern="100" dirty="0">
                          <a:effectLst/>
                          <a:latin typeface="Times New Roman" panose="02020603050405020304" pitchFamily="18" charset="0"/>
                          <a:ea typeface="+mn-ea"/>
                          <a:cs typeface="Times New Roman" panose="02020603050405020304" pitchFamily="18" charset="0"/>
                        </a:rPr>
                        <a:t>List</a:t>
                      </a:r>
                      <a:r>
                        <a:rPr lang="zh-CN" sz="1200" kern="100" dirty="0">
                          <a:effectLst/>
                          <a:latin typeface="Times New Roman" panose="02020603050405020304" pitchFamily="18" charset="0"/>
                          <a:ea typeface="+mn-ea"/>
                          <a:cs typeface="Times New Roman" panose="02020603050405020304" pitchFamily="18" charset="0"/>
                        </a:rPr>
                        <a:t>类型的集合对象中返回。</a:t>
                      </a:r>
                    </a:p>
                  </a:txBody>
                  <a:tcPr marL="63129" marR="63129"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9EDF4"/>
                    </a:solidFill>
                  </a:tcPr>
                </a:tc>
              </a:tr>
              <a:tr h="785495">
                <a:tc>
                  <a:txBody>
                    <a:bodyPr/>
                    <a:lstStyle/>
                    <a:p>
                      <a:pPr algn="just">
                        <a:spcAft>
                          <a:spcPts val="0"/>
                        </a:spcAft>
                      </a:pPr>
                      <a:r>
                        <a:rPr lang="en-US" sz="1200" kern="100" dirty="0" err="1">
                          <a:effectLst/>
                          <a:latin typeface="Times New Roman" panose="02020603050405020304" pitchFamily="18" charset="0"/>
                          <a:ea typeface="+mn-ea"/>
                          <a:cs typeface="Times New Roman" panose="02020603050405020304" pitchFamily="18" charset="0"/>
                        </a:rPr>
                        <a:t>getItemIterator</a:t>
                      </a:r>
                      <a:r>
                        <a:rPr lang="en-US" sz="1200" kern="100" dirty="0">
                          <a:effectLst/>
                          <a:latin typeface="Times New Roman" panose="02020603050405020304" pitchFamily="18" charset="0"/>
                          <a:ea typeface="+mn-ea"/>
                          <a:cs typeface="Times New Roman" panose="02020603050405020304" pitchFamily="18" charset="0"/>
                        </a:rPr>
                        <a:t>(HttpServletRequest request)</a:t>
                      </a:r>
                      <a:endParaRPr lang="zh-CN" sz="1200" kern="100" dirty="0">
                        <a:effectLst/>
                        <a:latin typeface="Times New Roman" panose="02020603050405020304" pitchFamily="18" charset="0"/>
                        <a:ea typeface="+mn-ea"/>
                        <a:cs typeface="Times New Roman" panose="02020603050405020304" pitchFamily="18" charset="0"/>
                      </a:endParaRPr>
                    </a:p>
                  </a:txBody>
                  <a:tcPr marL="63129" marR="63129"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algn="just">
                        <a:lnSpc>
                          <a:spcPts val="1300"/>
                        </a:lnSpc>
                        <a:spcAft>
                          <a:spcPts val="0"/>
                        </a:spcAft>
                      </a:pPr>
                      <a:r>
                        <a:rPr lang="en-US" sz="1200" kern="100" dirty="0" err="1">
                          <a:effectLst/>
                          <a:latin typeface="Times New Roman" panose="02020603050405020304" pitchFamily="18" charset="0"/>
                          <a:ea typeface="+mn-ea"/>
                          <a:cs typeface="Times New Roman" panose="02020603050405020304" pitchFamily="18" charset="0"/>
                        </a:rPr>
                        <a:t>getItemIterator</a:t>
                      </a:r>
                      <a:r>
                        <a:rPr lang="en-US" sz="1200" kern="100" dirty="0">
                          <a:effectLst/>
                          <a:latin typeface="Times New Roman" panose="02020603050405020304" pitchFamily="18" charset="0"/>
                          <a:ea typeface="+mn-ea"/>
                          <a:cs typeface="Times New Roman" panose="02020603050405020304" pitchFamily="18" charset="0"/>
                        </a:rPr>
                        <a:t>()</a:t>
                      </a:r>
                      <a:r>
                        <a:rPr lang="zh-CN" sz="1200" kern="100" dirty="0">
                          <a:effectLst/>
                          <a:latin typeface="Times New Roman" panose="02020603050405020304" pitchFamily="18" charset="0"/>
                          <a:ea typeface="+mn-ea"/>
                          <a:cs typeface="Times New Roman" panose="02020603050405020304" pitchFamily="18" charset="0"/>
                        </a:rPr>
                        <a:t>方法和</a:t>
                      </a:r>
                      <a:r>
                        <a:rPr lang="en-US" sz="1200" kern="100" dirty="0">
                          <a:effectLst/>
                          <a:latin typeface="Times New Roman" panose="02020603050405020304" pitchFamily="18" charset="0"/>
                          <a:ea typeface="+mn-ea"/>
                          <a:cs typeface="Times New Roman" panose="02020603050405020304" pitchFamily="18" charset="0"/>
                        </a:rPr>
                        <a:t>parseRequest()</a:t>
                      </a:r>
                      <a:r>
                        <a:rPr lang="zh-CN" sz="1200" kern="100" dirty="0">
                          <a:effectLst/>
                          <a:latin typeface="Times New Roman" panose="02020603050405020304" pitchFamily="18" charset="0"/>
                          <a:ea typeface="+mn-ea"/>
                          <a:cs typeface="Times New Roman" panose="02020603050405020304" pitchFamily="18" charset="0"/>
                        </a:rPr>
                        <a:t>方法基本相同。但是</a:t>
                      </a:r>
                      <a:r>
                        <a:rPr lang="en-US" sz="1200" kern="100" dirty="0" err="1">
                          <a:effectLst/>
                          <a:latin typeface="Times New Roman" panose="02020603050405020304" pitchFamily="18" charset="0"/>
                          <a:ea typeface="+mn-ea"/>
                          <a:cs typeface="Times New Roman" panose="02020603050405020304" pitchFamily="18" charset="0"/>
                        </a:rPr>
                        <a:t>getItemIterator</a:t>
                      </a:r>
                      <a:r>
                        <a:rPr lang="en-US" sz="1200" kern="100" dirty="0">
                          <a:effectLst/>
                          <a:latin typeface="Times New Roman" panose="02020603050405020304" pitchFamily="18" charset="0"/>
                          <a:ea typeface="+mn-ea"/>
                          <a:cs typeface="Times New Roman" panose="02020603050405020304" pitchFamily="18" charset="0"/>
                        </a:rPr>
                        <a:t>()</a:t>
                      </a:r>
                      <a:r>
                        <a:rPr lang="zh-CN" sz="1200" kern="100" dirty="0">
                          <a:effectLst/>
                          <a:latin typeface="Times New Roman" panose="02020603050405020304" pitchFamily="18" charset="0"/>
                          <a:ea typeface="+mn-ea"/>
                          <a:cs typeface="Times New Roman" panose="02020603050405020304" pitchFamily="18" charset="0"/>
                        </a:rPr>
                        <a:t>方法返回的是一个迭代器，该迭代器中保存的不是</a:t>
                      </a:r>
                      <a:r>
                        <a:rPr lang="en-US" sz="1200" kern="100" dirty="0">
                          <a:effectLst/>
                          <a:latin typeface="Times New Roman" panose="02020603050405020304" pitchFamily="18" charset="0"/>
                          <a:ea typeface="+mn-ea"/>
                          <a:cs typeface="Times New Roman" panose="02020603050405020304" pitchFamily="18" charset="0"/>
                        </a:rPr>
                        <a:t>FileItem</a:t>
                      </a:r>
                      <a:r>
                        <a:rPr lang="zh-CN" sz="1200" kern="100" dirty="0">
                          <a:effectLst/>
                          <a:latin typeface="Times New Roman" panose="02020603050405020304" pitchFamily="18" charset="0"/>
                          <a:ea typeface="+mn-ea"/>
                          <a:cs typeface="Times New Roman" panose="02020603050405020304" pitchFamily="18" charset="0"/>
                        </a:rPr>
                        <a:t>对象，而是</a:t>
                      </a:r>
                      <a:r>
                        <a:rPr lang="en-US" sz="1200" kern="100" dirty="0" err="1">
                          <a:effectLst/>
                          <a:latin typeface="Times New Roman" panose="02020603050405020304" pitchFamily="18" charset="0"/>
                          <a:ea typeface="+mn-ea"/>
                          <a:cs typeface="Times New Roman" panose="02020603050405020304" pitchFamily="18" charset="0"/>
                        </a:rPr>
                        <a:t>FileItemStream</a:t>
                      </a:r>
                      <a:r>
                        <a:rPr lang="zh-CN" sz="1200" kern="100" dirty="0">
                          <a:effectLst/>
                          <a:latin typeface="Times New Roman" panose="02020603050405020304" pitchFamily="18" charset="0"/>
                          <a:ea typeface="+mn-ea"/>
                          <a:cs typeface="Times New Roman" panose="02020603050405020304" pitchFamily="18" charset="0"/>
                        </a:rPr>
                        <a:t>对象，如果你希望进一步提高性能，你可以采用</a:t>
                      </a:r>
                      <a:r>
                        <a:rPr lang="en-US" sz="1200" kern="100" dirty="0" err="1">
                          <a:effectLst/>
                          <a:latin typeface="Times New Roman" panose="02020603050405020304" pitchFamily="18" charset="0"/>
                          <a:ea typeface="+mn-ea"/>
                          <a:cs typeface="Times New Roman" panose="02020603050405020304" pitchFamily="18" charset="0"/>
                        </a:rPr>
                        <a:t>getItemIterator</a:t>
                      </a:r>
                      <a:r>
                        <a:rPr lang="en-US" sz="1200" kern="100" dirty="0">
                          <a:effectLst/>
                          <a:latin typeface="Times New Roman" panose="02020603050405020304" pitchFamily="18" charset="0"/>
                          <a:ea typeface="+mn-ea"/>
                          <a:cs typeface="Times New Roman" panose="02020603050405020304" pitchFamily="18" charset="0"/>
                        </a:rPr>
                        <a:t>()</a:t>
                      </a:r>
                      <a:r>
                        <a:rPr lang="zh-CN" sz="1200" kern="100" dirty="0">
                          <a:effectLst/>
                          <a:latin typeface="Times New Roman" panose="02020603050405020304" pitchFamily="18" charset="0"/>
                          <a:ea typeface="+mn-ea"/>
                          <a:cs typeface="Times New Roman" panose="02020603050405020304" pitchFamily="18" charset="0"/>
                        </a:rPr>
                        <a:t>方法，直接获得每一个文件项的数据输入流，做底层处理；如果性能不是问题，你希望代码简单，则采用</a:t>
                      </a:r>
                      <a:r>
                        <a:rPr lang="en-US" sz="1200" kern="100" dirty="0">
                          <a:effectLst/>
                          <a:latin typeface="Times New Roman" panose="02020603050405020304" pitchFamily="18" charset="0"/>
                          <a:ea typeface="+mn-ea"/>
                          <a:cs typeface="Times New Roman" panose="02020603050405020304" pitchFamily="18" charset="0"/>
                        </a:rPr>
                        <a:t>parseRequest()</a:t>
                      </a:r>
                      <a:r>
                        <a:rPr lang="zh-CN" sz="1200" kern="100" dirty="0">
                          <a:effectLst/>
                          <a:latin typeface="Times New Roman" panose="02020603050405020304" pitchFamily="18" charset="0"/>
                          <a:ea typeface="+mn-ea"/>
                          <a:cs typeface="Times New Roman" panose="02020603050405020304" pitchFamily="18" charset="0"/>
                        </a:rPr>
                        <a:t>方法即可。</a:t>
                      </a:r>
                    </a:p>
                  </a:txBody>
                  <a:tcPr marL="63129" marR="63129"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r>
              <a:tr h="696069">
                <a:tc>
                  <a:txBody>
                    <a:bodyPr/>
                    <a:lstStyle/>
                    <a:p>
                      <a:pPr algn="just">
                        <a:spcAft>
                          <a:spcPts val="0"/>
                        </a:spcAft>
                      </a:pPr>
                      <a:r>
                        <a:rPr lang="en-US" sz="1200" kern="100" dirty="0" err="1">
                          <a:effectLst/>
                          <a:latin typeface="Times New Roman" panose="02020603050405020304" pitchFamily="18" charset="0"/>
                          <a:ea typeface="+mn-ea"/>
                          <a:cs typeface="Times New Roman" panose="02020603050405020304" pitchFamily="18" charset="0"/>
                        </a:rPr>
                        <a:t>isMultipartContent</a:t>
                      </a:r>
                      <a:r>
                        <a:rPr lang="en-US" sz="1200" kern="100" dirty="0">
                          <a:effectLst/>
                          <a:latin typeface="Times New Roman" panose="02020603050405020304" pitchFamily="18" charset="0"/>
                          <a:ea typeface="+mn-ea"/>
                          <a:cs typeface="Times New Roman" panose="02020603050405020304" pitchFamily="18" charset="0"/>
                        </a:rPr>
                        <a:t>(HttpServletRequest </a:t>
                      </a:r>
                      <a:r>
                        <a:rPr lang="en-US" sz="1200" kern="100" dirty="0" err="1">
                          <a:effectLst/>
                          <a:latin typeface="Times New Roman" panose="02020603050405020304" pitchFamily="18" charset="0"/>
                          <a:ea typeface="+mn-ea"/>
                          <a:cs typeface="Times New Roman" panose="02020603050405020304" pitchFamily="18" charset="0"/>
                        </a:rPr>
                        <a:t>req</a:t>
                      </a:r>
                      <a:r>
                        <a:rPr lang="en-US" sz="1200" kern="100" dirty="0">
                          <a:effectLst/>
                          <a:latin typeface="Times New Roman" panose="02020603050405020304" pitchFamily="18" charset="0"/>
                          <a:ea typeface="+mn-ea"/>
                          <a:cs typeface="Times New Roman" panose="02020603050405020304" pitchFamily="18" charset="0"/>
                        </a:rPr>
                        <a:t>)</a:t>
                      </a:r>
                      <a:endParaRPr lang="zh-CN" sz="1200" kern="100" dirty="0">
                        <a:effectLst/>
                        <a:latin typeface="Times New Roman" panose="02020603050405020304" pitchFamily="18" charset="0"/>
                        <a:ea typeface="+mn-ea"/>
                        <a:cs typeface="Times New Roman" panose="02020603050405020304" pitchFamily="18" charset="0"/>
                      </a:endParaRPr>
                    </a:p>
                  </a:txBody>
                  <a:tcPr marL="63129" marR="63129"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9EDF4"/>
                    </a:solidFill>
                  </a:tcPr>
                </a:tc>
                <a:tc>
                  <a:txBody>
                    <a:bodyPr/>
                    <a:lstStyle/>
                    <a:p>
                      <a:pPr algn="just">
                        <a:spcAft>
                          <a:spcPts val="0"/>
                        </a:spcAft>
                      </a:pPr>
                      <a:r>
                        <a:rPr lang="en-US" sz="1200" kern="100" dirty="0" err="1">
                          <a:effectLst/>
                          <a:latin typeface="Times New Roman" panose="02020603050405020304" pitchFamily="18" charset="0"/>
                          <a:ea typeface="+mn-ea"/>
                          <a:cs typeface="Times New Roman" panose="02020603050405020304" pitchFamily="18" charset="0"/>
                        </a:rPr>
                        <a:t>isMultipartContent</a:t>
                      </a:r>
                      <a:r>
                        <a:rPr lang="en-US" sz="1200" kern="100" dirty="0">
                          <a:effectLst/>
                          <a:latin typeface="Times New Roman" panose="02020603050405020304" pitchFamily="18" charset="0"/>
                          <a:ea typeface="+mn-ea"/>
                          <a:cs typeface="Times New Roman" panose="02020603050405020304" pitchFamily="18" charset="0"/>
                        </a:rPr>
                        <a:t>()</a:t>
                      </a:r>
                      <a:r>
                        <a:rPr lang="zh-CN" sz="1200" kern="100" dirty="0">
                          <a:effectLst/>
                          <a:latin typeface="Times New Roman" panose="02020603050405020304" pitchFamily="18" charset="0"/>
                          <a:ea typeface="+mn-ea"/>
                          <a:cs typeface="Times New Roman" panose="02020603050405020304" pitchFamily="18" charset="0"/>
                        </a:rPr>
                        <a:t>方法用于判断请求消息中的内容是否是“</a:t>
                      </a:r>
                      <a:r>
                        <a:rPr lang="en-US" sz="1200" kern="100" dirty="0">
                          <a:effectLst/>
                          <a:latin typeface="Times New Roman" panose="02020603050405020304" pitchFamily="18" charset="0"/>
                          <a:ea typeface="+mn-ea"/>
                          <a:cs typeface="Times New Roman" panose="02020603050405020304" pitchFamily="18" charset="0"/>
                        </a:rPr>
                        <a:t>multipart/form-data</a:t>
                      </a:r>
                      <a:r>
                        <a:rPr lang="zh-CN" sz="1200" kern="100" dirty="0">
                          <a:effectLst/>
                          <a:latin typeface="Times New Roman" panose="02020603050405020304" pitchFamily="18" charset="0"/>
                          <a:ea typeface="+mn-ea"/>
                          <a:cs typeface="Times New Roman" panose="02020603050405020304" pitchFamily="18" charset="0"/>
                        </a:rPr>
                        <a:t>”类型，如果是，则返回</a:t>
                      </a:r>
                      <a:r>
                        <a:rPr lang="en-US" sz="1200" kern="100" dirty="0">
                          <a:effectLst/>
                          <a:latin typeface="Times New Roman" panose="02020603050405020304" pitchFamily="18" charset="0"/>
                          <a:ea typeface="+mn-ea"/>
                          <a:cs typeface="Times New Roman" panose="02020603050405020304" pitchFamily="18" charset="0"/>
                        </a:rPr>
                        <a:t>true</a:t>
                      </a:r>
                      <a:r>
                        <a:rPr lang="zh-CN" sz="1200" kern="100" dirty="0">
                          <a:effectLst/>
                          <a:latin typeface="Times New Roman" panose="02020603050405020304" pitchFamily="18" charset="0"/>
                          <a:ea typeface="+mn-ea"/>
                          <a:cs typeface="Times New Roman" panose="02020603050405020304" pitchFamily="18" charset="0"/>
                        </a:rPr>
                        <a:t>，否则返回</a:t>
                      </a:r>
                      <a:r>
                        <a:rPr lang="en-US" sz="1200" kern="100" dirty="0">
                          <a:effectLst/>
                          <a:latin typeface="Times New Roman" panose="02020603050405020304" pitchFamily="18" charset="0"/>
                          <a:ea typeface="+mn-ea"/>
                          <a:cs typeface="Times New Roman" panose="02020603050405020304" pitchFamily="18" charset="0"/>
                        </a:rPr>
                        <a:t>false</a:t>
                      </a:r>
                      <a:r>
                        <a:rPr lang="zh-CN" sz="1200" kern="100" dirty="0">
                          <a:effectLst/>
                          <a:latin typeface="Times New Roman" panose="02020603050405020304" pitchFamily="18" charset="0"/>
                          <a:ea typeface="+mn-ea"/>
                          <a:cs typeface="Times New Roman" panose="02020603050405020304" pitchFamily="18" charset="0"/>
                        </a:rPr>
                        <a:t>。需要注意的是，</a:t>
                      </a:r>
                      <a:r>
                        <a:rPr lang="en-US" sz="1200" kern="100" dirty="0" err="1">
                          <a:effectLst/>
                          <a:latin typeface="Times New Roman" panose="02020603050405020304" pitchFamily="18" charset="0"/>
                          <a:ea typeface="+mn-ea"/>
                          <a:cs typeface="Times New Roman" panose="02020603050405020304" pitchFamily="18" charset="0"/>
                        </a:rPr>
                        <a:t>isMultipartContent</a:t>
                      </a:r>
                      <a:r>
                        <a:rPr lang="en-US" sz="1200" kern="100" dirty="0">
                          <a:effectLst/>
                          <a:latin typeface="Times New Roman" panose="02020603050405020304" pitchFamily="18" charset="0"/>
                          <a:ea typeface="+mn-ea"/>
                          <a:cs typeface="Times New Roman" panose="02020603050405020304" pitchFamily="18" charset="0"/>
                        </a:rPr>
                        <a:t>()</a:t>
                      </a:r>
                      <a:r>
                        <a:rPr lang="zh-CN" sz="1200" kern="100" dirty="0">
                          <a:effectLst/>
                          <a:latin typeface="Times New Roman" panose="02020603050405020304" pitchFamily="18" charset="0"/>
                          <a:ea typeface="+mn-ea"/>
                          <a:cs typeface="Times New Roman" panose="02020603050405020304" pitchFamily="18" charset="0"/>
                        </a:rPr>
                        <a:t>方法是一个静态方法，不用创建</a:t>
                      </a:r>
                      <a:r>
                        <a:rPr lang="en-US" sz="1200" kern="100" dirty="0">
                          <a:effectLst/>
                          <a:latin typeface="Times New Roman" panose="02020603050405020304" pitchFamily="18" charset="0"/>
                          <a:ea typeface="+mn-ea"/>
                          <a:cs typeface="Times New Roman" panose="02020603050405020304" pitchFamily="18" charset="0"/>
                        </a:rPr>
                        <a:t>ServletFileUpload</a:t>
                      </a:r>
                      <a:r>
                        <a:rPr lang="zh-CN" sz="1200" kern="100" dirty="0">
                          <a:effectLst/>
                          <a:latin typeface="Times New Roman" panose="02020603050405020304" pitchFamily="18" charset="0"/>
                          <a:ea typeface="+mn-ea"/>
                          <a:cs typeface="Times New Roman" panose="02020603050405020304" pitchFamily="18" charset="0"/>
                        </a:rPr>
                        <a:t>类的实例对象即可被调用。</a:t>
                      </a:r>
                    </a:p>
                  </a:txBody>
                  <a:tcPr marL="63129" marR="63129"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9EDF4"/>
                    </a:solidFill>
                  </a:tcPr>
                </a:tc>
              </a:tr>
              <a:tr h="522052">
                <a:tc>
                  <a:txBody>
                    <a:bodyPr/>
                    <a:lstStyle/>
                    <a:p>
                      <a:pPr algn="just">
                        <a:spcAft>
                          <a:spcPts val="0"/>
                        </a:spcAft>
                      </a:pPr>
                      <a:r>
                        <a:rPr lang="en-US" sz="1200" kern="100" dirty="0" err="1">
                          <a:effectLst/>
                          <a:latin typeface="Times New Roman" panose="02020603050405020304" pitchFamily="18" charset="0"/>
                          <a:ea typeface="+mn-ea"/>
                          <a:cs typeface="Times New Roman" panose="02020603050405020304" pitchFamily="18" charset="0"/>
                        </a:rPr>
                        <a:t>getFileItemFactory</a:t>
                      </a:r>
                      <a:r>
                        <a:rPr lang="en-US" sz="1200" kern="100" dirty="0">
                          <a:effectLst/>
                          <a:latin typeface="Times New Roman" panose="02020603050405020304" pitchFamily="18" charset="0"/>
                          <a:ea typeface="+mn-ea"/>
                          <a:cs typeface="Times New Roman" panose="02020603050405020304" pitchFamily="18" charset="0"/>
                        </a:rPr>
                        <a:t>()</a:t>
                      </a:r>
                      <a:r>
                        <a:rPr lang="zh-CN" sz="1200" kern="100" dirty="0">
                          <a:effectLst/>
                          <a:latin typeface="Times New Roman" panose="02020603050405020304" pitchFamily="18" charset="0"/>
                          <a:ea typeface="+mn-ea"/>
                          <a:cs typeface="Times New Roman" panose="02020603050405020304" pitchFamily="18" charset="0"/>
                        </a:rPr>
                        <a:t>和</a:t>
                      </a:r>
                    </a:p>
                    <a:p>
                      <a:pPr algn="just">
                        <a:spcAft>
                          <a:spcPts val="0"/>
                        </a:spcAft>
                      </a:pPr>
                      <a:r>
                        <a:rPr lang="en-US" sz="1200" kern="100" dirty="0" err="1">
                          <a:effectLst/>
                          <a:latin typeface="Times New Roman" panose="02020603050405020304" pitchFamily="18" charset="0"/>
                          <a:ea typeface="+mn-ea"/>
                          <a:cs typeface="Times New Roman" panose="02020603050405020304" pitchFamily="18" charset="0"/>
                        </a:rPr>
                        <a:t>setFileItemFactory</a:t>
                      </a:r>
                      <a:r>
                        <a:rPr lang="en-US" sz="1200" kern="100" dirty="0">
                          <a:effectLst/>
                          <a:latin typeface="Times New Roman" panose="02020603050405020304" pitchFamily="18" charset="0"/>
                          <a:ea typeface="+mn-ea"/>
                          <a:cs typeface="Times New Roman" panose="02020603050405020304" pitchFamily="18" charset="0"/>
                        </a:rPr>
                        <a:t>(</a:t>
                      </a:r>
                      <a:r>
                        <a:rPr lang="en-US" sz="1200" kern="100" dirty="0" err="1">
                          <a:effectLst/>
                          <a:latin typeface="Times New Roman" panose="02020603050405020304" pitchFamily="18" charset="0"/>
                          <a:ea typeface="+mn-ea"/>
                          <a:cs typeface="Times New Roman" panose="02020603050405020304" pitchFamily="18" charset="0"/>
                        </a:rPr>
                        <a:t>FileItemFactory</a:t>
                      </a:r>
                      <a:r>
                        <a:rPr lang="en-US" sz="1200" kern="100" dirty="0">
                          <a:effectLst/>
                          <a:latin typeface="Times New Roman" panose="02020603050405020304" pitchFamily="18" charset="0"/>
                          <a:ea typeface="+mn-ea"/>
                          <a:cs typeface="Times New Roman" panose="02020603050405020304" pitchFamily="18" charset="0"/>
                        </a:rPr>
                        <a:t> factory)</a:t>
                      </a:r>
                      <a:endParaRPr lang="zh-CN" sz="1200" kern="100" dirty="0">
                        <a:effectLst/>
                        <a:latin typeface="Times New Roman" panose="02020603050405020304" pitchFamily="18" charset="0"/>
                        <a:ea typeface="+mn-ea"/>
                        <a:cs typeface="Times New Roman" panose="02020603050405020304" pitchFamily="18" charset="0"/>
                      </a:endParaRPr>
                    </a:p>
                  </a:txBody>
                  <a:tcPr marL="63129" marR="63129"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algn="just">
                        <a:lnSpc>
                          <a:spcPts val="1300"/>
                        </a:lnSpc>
                        <a:spcAft>
                          <a:spcPts val="0"/>
                        </a:spcAft>
                      </a:pPr>
                      <a:r>
                        <a:rPr lang="zh-CN" sz="1200" kern="100" dirty="0">
                          <a:effectLst/>
                          <a:latin typeface="Times New Roman" panose="02020603050405020304" pitchFamily="18" charset="0"/>
                          <a:ea typeface="+mn-ea"/>
                          <a:cs typeface="Times New Roman" panose="02020603050405020304" pitchFamily="18" charset="0"/>
                        </a:rPr>
                        <a:t>这两个方法继承自</a:t>
                      </a:r>
                      <a:r>
                        <a:rPr lang="en-US" sz="1200" kern="100" dirty="0">
                          <a:effectLst/>
                          <a:latin typeface="Times New Roman" panose="02020603050405020304" pitchFamily="18" charset="0"/>
                          <a:ea typeface="+mn-ea"/>
                          <a:cs typeface="Times New Roman" panose="02020603050405020304" pitchFamily="18" charset="0"/>
                        </a:rPr>
                        <a:t>FileUpload</a:t>
                      </a:r>
                      <a:r>
                        <a:rPr lang="zh-CN" sz="1200" kern="100" dirty="0">
                          <a:effectLst/>
                          <a:latin typeface="Times New Roman" panose="02020603050405020304" pitchFamily="18" charset="0"/>
                          <a:ea typeface="+mn-ea"/>
                          <a:cs typeface="Times New Roman" panose="02020603050405020304" pitchFamily="18" charset="0"/>
                        </a:rPr>
                        <a:t>类，分别用于读取和设置</a:t>
                      </a:r>
                      <a:r>
                        <a:rPr lang="en-US" sz="1200" kern="100" dirty="0" err="1">
                          <a:effectLst/>
                          <a:latin typeface="Times New Roman" panose="02020603050405020304" pitchFamily="18" charset="0"/>
                          <a:ea typeface="+mn-ea"/>
                          <a:cs typeface="Times New Roman" panose="02020603050405020304" pitchFamily="18" charset="0"/>
                        </a:rPr>
                        <a:t>fileItemFactory</a:t>
                      </a:r>
                      <a:r>
                        <a:rPr lang="zh-CN" sz="1200" kern="100" dirty="0">
                          <a:effectLst/>
                          <a:latin typeface="Times New Roman" panose="02020603050405020304" pitchFamily="18" charset="0"/>
                          <a:ea typeface="+mn-ea"/>
                          <a:cs typeface="Times New Roman" panose="02020603050405020304" pitchFamily="18" charset="0"/>
                        </a:rPr>
                        <a:t>属性。</a:t>
                      </a:r>
                    </a:p>
                  </a:txBody>
                  <a:tcPr marL="63129" marR="63129"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r>
              <a:tr h="942594">
                <a:tc>
                  <a:txBody>
                    <a:bodyPr/>
                    <a:lstStyle/>
                    <a:p>
                      <a:pPr algn="just">
                        <a:spcAft>
                          <a:spcPts val="0"/>
                        </a:spcAft>
                      </a:pPr>
                      <a:r>
                        <a:rPr lang="en-US" sz="1200" kern="100" dirty="0" err="1">
                          <a:effectLst/>
                          <a:latin typeface="Times New Roman" panose="02020603050405020304" pitchFamily="18" charset="0"/>
                          <a:ea typeface="+mn-ea"/>
                          <a:cs typeface="Times New Roman" panose="02020603050405020304" pitchFamily="18" charset="0"/>
                        </a:rPr>
                        <a:t>setHeaderEncoding</a:t>
                      </a:r>
                      <a:r>
                        <a:rPr lang="en-US" sz="1200" kern="100" dirty="0">
                          <a:effectLst/>
                          <a:latin typeface="Times New Roman" panose="02020603050405020304" pitchFamily="18" charset="0"/>
                          <a:ea typeface="+mn-ea"/>
                          <a:cs typeface="Times New Roman" panose="02020603050405020304" pitchFamily="18" charset="0"/>
                        </a:rPr>
                        <a:t>(String </a:t>
                      </a:r>
                      <a:r>
                        <a:rPr lang="en-US" sz="1200" kern="100">
                          <a:effectLst/>
                          <a:latin typeface="Times New Roman" panose="02020603050405020304" pitchFamily="18" charset="0"/>
                          <a:ea typeface="+mn-ea"/>
                          <a:cs typeface="Times New Roman" panose="02020603050405020304" pitchFamily="18" charset="0"/>
                        </a:rPr>
                        <a:t>encoding</a:t>
                      </a:r>
                      <a:r>
                        <a:rPr lang="en-US" sz="1200" kern="100" smtClean="0">
                          <a:effectLst/>
                          <a:latin typeface="Times New Roman" panose="02020603050405020304" pitchFamily="18" charset="0"/>
                          <a:ea typeface="+mn-ea"/>
                          <a:cs typeface="Times New Roman" panose="02020603050405020304" pitchFamily="18" charset="0"/>
                        </a:rPr>
                        <a:t>)</a:t>
                      </a:r>
                    </a:p>
                    <a:p>
                      <a:pPr algn="just">
                        <a:spcAft>
                          <a:spcPts val="0"/>
                        </a:spcAft>
                      </a:pPr>
                      <a:r>
                        <a:rPr lang="zh-CN" sz="1200" kern="100" smtClean="0">
                          <a:effectLst/>
                          <a:latin typeface="Times New Roman" panose="02020603050405020304" pitchFamily="18" charset="0"/>
                          <a:ea typeface="+mn-ea"/>
                          <a:cs typeface="Times New Roman" panose="02020603050405020304" pitchFamily="18" charset="0"/>
                        </a:rPr>
                        <a:t>和</a:t>
                      </a:r>
                      <a:endParaRPr lang="en-US" altLang="zh-CN" sz="1200" kern="100" smtClean="0">
                        <a:effectLst/>
                        <a:latin typeface="Times New Roman" panose="02020603050405020304" pitchFamily="18" charset="0"/>
                        <a:ea typeface="+mn-ea"/>
                        <a:cs typeface="Times New Roman" panose="02020603050405020304" pitchFamily="18" charset="0"/>
                      </a:endParaRPr>
                    </a:p>
                    <a:p>
                      <a:pPr algn="just">
                        <a:spcAft>
                          <a:spcPts val="0"/>
                        </a:spcAft>
                      </a:pPr>
                      <a:r>
                        <a:rPr lang="en-US" sz="1200" kern="100" smtClean="0">
                          <a:effectLst/>
                          <a:latin typeface="Times New Roman" panose="02020603050405020304" pitchFamily="18" charset="0"/>
                          <a:ea typeface="+mn-ea"/>
                          <a:cs typeface="Times New Roman" panose="02020603050405020304" pitchFamily="18" charset="0"/>
                        </a:rPr>
                        <a:t>getHeaderEncoding</a:t>
                      </a:r>
                      <a:r>
                        <a:rPr lang="en-US" sz="1200" kern="100" dirty="0">
                          <a:effectLst/>
                          <a:latin typeface="Times New Roman" panose="02020603050405020304" pitchFamily="18" charset="0"/>
                          <a:ea typeface="+mn-ea"/>
                          <a:cs typeface="Times New Roman" panose="02020603050405020304" pitchFamily="18" charset="0"/>
                        </a:rPr>
                        <a:t>()</a:t>
                      </a:r>
                      <a:endParaRPr lang="zh-CN" sz="1200" kern="100" dirty="0">
                        <a:effectLst/>
                        <a:latin typeface="Times New Roman" panose="02020603050405020304" pitchFamily="18" charset="0"/>
                        <a:ea typeface="+mn-ea"/>
                        <a:cs typeface="Times New Roman" panose="02020603050405020304" pitchFamily="18" charset="0"/>
                      </a:endParaRPr>
                    </a:p>
                  </a:txBody>
                  <a:tcPr marL="63129" marR="63129"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9EDF4"/>
                    </a:solidFill>
                  </a:tcPr>
                </a:tc>
                <a:tc>
                  <a:txBody>
                    <a:bodyPr/>
                    <a:lstStyle/>
                    <a:p>
                      <a:pPr algn="just">
                        <a:lnSpc>
                          <a:spcPts val="1300"/>
                        </a:lnSpc>
                        <a:spcAft>
                          <a:spcPts val="0"/>
                        </a:spcAft>
                      </a:pPr>
                      <a:r>
                        <a:rPr lang="zh-CN" sz="1200" kern="100" dirty="0">
                          <a:effectLst/>
                          <a:latin typeface="Times New Roman" panose="02020603050405020304" pitchFamily="18" charset="0"/>
                          <a:ea typeface="+mn-ea"/>
                          <a:cs typeface="Times New Roman" panose="02020603050405020304" pitchFamily="18" charset="0"/>
                        </a:rPr>
                        <a:t>这两个方法继承自</a:t>
                      </a:r>
                      <a:r>
                        <a:rPr lang="en-US" sz="1200" kern="100" dirty="0" err="1">
                          <a:effectLst/>
                          <a:latin typeface="Times New Roman" panose="02020603050405020304" pitchFamily="18" charset="0"/>
                          <a:ea typeface="+mn-ea"/>
                          <a:cs typeface="Times New Roman" panose="02020603050405020304" pitchFamily="18" charset="0"/>
                        </a:rPr>
                        <a:t>FileUploadBase</a:t>
                      </a:r>
                      <a:r>
                        <a:rPr lang="zh-CN" sz="1200" kern="100" dirty="0">
                          <a:effectLst/>
                          <a:latin typeface="Times New Roman" panose="02020603050405020304" pitchFamily="18" charset="0"/>
                          <a:ea typeface="+mn-ea"/>
                          <a:cs typeface="Times New Roman" panose="02020603050405020304" pitchFamily="18" charset="0"/>
                        </a:rPr>
                        <a:t>类，用于设置和读取字符编码。需要注意的是，如果没有使用</a:t>
                      </a:r>
                      <a:r>
                        <a:rPr lang="en-US" sz="1200" kern="100" dirty="0" err="1">
                          <a:effectLst/>
                          <a:latin typeface="Times New Roman" panose="02020603050405020304" pitchFamily="18" charset="0"/>
                          <a:ea typeface="+mn-ea"/>
                          <a:cs typeface="Times New Roman" panose="02020603050405020304" pitchFamily="18" charset="0"/>
                        </a:rPr>
                        <a:t>setHeaderEncoding</a:t>
                      </a:r>
                      <a:r>
                        <a:rPr lang="en-US" sz="1200" kern="100" dirty="0">
                          <a:effectLst/>
                          <a:latin typeface="Times New Roman" panose="02020603050405020304" pitchFamily="18" charset="0"/>
                          <a:ea typeface="+mn-ea"/>
                          <a:cs typeface="Times New Roman" panose="02020603050405020304" pitchFamily="18" charset="0"/>
                        </a:rPr>
                        <a:t>()</a:t>
                      </a:r>
                      <a:r>
                        <a:rPr lang="zh-CN" sz="1200" kern="100" dirty="0">
                          <a:effectLst/>
                          <a:latin typeface="Times New Roman" panose="02020603050405020304" pitchFamily="18" charset="0"/>
                          <a:ea typeface="+mn-ea"/>
                          <a:cs typeface="Times New Roman" panose="02020603050405020304" pitchFamily="18" charset="0"/>
                        </a:rPr>
                        <a:t>设置字符编码，则</a:t>
                      </a:r>
                      <a:r>
                        <a:rPr lang="en-US" sz="1200" kern="100" dirty="0" err="1">
                          <a:effectLst/>
                          <a:latin typeface="Times New Roman" panose="02020603050405020304" pitchFamily="18" charset="0"/>
                          <a:ea typeface="+mn-ea"/>
                          <a:cs typeface="Times New Roman" panose="02020603050405020304" pitchFamily="18" charset="0"/>
                        </a:rPr>
                        <a:t>getHeaderEncoding</a:t>
                      </a:r>
                      <a:r>
                        <a:rPr lang="en-US" sz="1200" kern="100" dirty="0">
                          <a:effectLst/>
                          <a:latin typeface="Times New Roman" panose="02020603050405020304" pitchFamily="18" charset="0"/>
                          <a:ea typeface="+mn-ea"/>
                          <a:cs typeface="Times New Roman" panose="02020603050405020304" pitchFamily="18" charset="0"/>
                        </a:rPr>
                        <a:t>()</a:t>
                      </a:r>
                      <a:r>
                        <a:rPr lang="zh-CN" sz="1200" kern="100" dirty="0">
                          <a:effectLst/>
                          <a:latin typeface="Times New Roman" panose="02020603050405020304" pitchFamily="18" charset="0"/>
                          <a:ea typeface="+mn-ea"/>
                          <a:cs typeface="Times New Roman" panose="02020603050405020304" pitchFamily="18" charset="0"/>
                        </a:rPr>
                        <a:t>方法返回</a:t>
                      </a:r>
                      <a:r>
                        <a:rPr lang="en-US" sz="1200" kern="100" dirty="0">
                          <a:effectLst/>
                          <a:latin typeface="Times New Roman" panose="02020603050405020304" pitchFamily="18" charset="0"/>
                          <a:ea typeface="+mn-ea"/>
                          <a:cs typeface="Times New Roman" panose="02020603050405020304" pitchFamily="18" charset="0"/>
                        </a:rPr>
                        <a:t>null</a:t>
                      </a:r>
                      <a:r>
                        <a:rPr lang="zh-CN" sz="1200" kern="100" dirty="0">
                          <a:effectLst/>
                          <a:latin typeface="Times New Roman" panose="02020603050405020304" pitchFamily="18" charset="0"/>
                          <a:ea typeface="+mn-ea"/>
                          <a:cs typeface="Times New Roman" panose="02020603050405020304" pitchFamily="18" charset="0"/>
                        </a:rPr>
                        <a:t>，上传组件会采用</a:t>
                      </a:r>
                      <a:r>
                        <a:rPr lang="en-US" sz="1200" kern="100" dirty="0">
                          <a:effectLst/>
                          <a:latin typeface="Times New Roman" panose="02020603050405020304" pitchFamily="18" charset="0"/>
                          <a:ea typeface="+mn-ea"/>
                          <a:cs typeface="Times New Roman" panose="02020603050405020304" pitchFamily="18" charset="0"/>
                        </a:rPr>
                        <a:t>HttpServletRequest</a:t>
                      </a:r>
                      <a:r>
                        <a:rPr lang="zh-CN" sz="1200" kern="100" dirty="0">
                          <a:effectLst/>
                          <a:latin typeface="Times New Roman" panose="02020603050405020304" pitchFamily="18" charset="0"/>
                          <a:ea typeface="+mn-ea"/>
                          <a:cs typeface="Times New Roman" panose="02020603050405020304" pitchFamily="18" charset="0"/>
                        </a:rPr>
                        <a:t>设置的字符编码。但是，如果</a:t>
                      </a:r>
                      <a:r>
                        <a:rPr lang="en-US" sz="1200" kern="100" dirty="0">
                          <a:effectLst/>
                          <a:latin typeface="Times New Roman" panose="02020603050405020304" pitchFamily="18" charset="0"/>
                          <a:ea typeface="+mn-ea"/>
                          <a:cs typeface="Times New Roman" panose="02020603050405020304" pitchFamily="18" charset="0"/>
                        </a:rPr>
                        <a:t>HttpServletRequest</a:t>
                      </a:r>
                      <a:r>
                        <a:rPr lang="zh-CN" sz="1200" kern="100" dirty="0">
                          <a:effectLst/>
                          <a:latin typeface="Times New Roman" panose="02020603050405020304" pitchFamily="18" charset="0"/>
                          <a:ea typeface="+mn-ea"/>
                          <a:cs typeface="Times New Roman" panose="02020603050405020304" pitchFamily="18" charset="0"/>
                        </a:rPr>
                        <a:t>的字符编码也为</a:t>
                      </a:r>
                      <a:r>
                        <a:rPr lang="en-US" sz="1200" kern="100" dirty="0">
                          <a:effectLst/>
                          <a:latin typeface="Times New Roman" panose="02020603050405020304" pitchFamily="18" charset="0"/>
                          <a:ea typeface="+mn-ea"/>
                          <a:cs typeface="Times New Roman" panose="02020603050405020304" pitchFamily="18" charset="0"/>
                        </a:rPr>
                        <a:t>null</a:t>
                      </a:r>
                      <a:r>
                        <a:rPr lang="zh-CN" sz="1200" kern="100" dirty="0">
                          <a:effectLst/>
                          <a:latin typeface="Times New Roman" panose="02020603050405020304" pitchFamily="18" charset="0"/>
                          <a:ea typeface="+mn-ea"/>
                          <a:cs typeface="Times New Roman" panose="02020603050405020304" pitchFamily="18" charset="0"/>
                        </a:rPr>
                        <a:t>，这时，上传组件将采用系统默认的字符编码。获取系统默认字符编码的方式如：</a:t>
                      </a:r>
                      <a:r>
                        <a:rPr lang="en-US" sz="1200" kern="100" dirty="0" err="1">
                          <a:effectLst/>
                          <a:latin typeface="Times New Roman" panose="02020603050405020304" pitchFamily="18" charset="0"/>
                          <a:ea typeface="+mn-ea"/>
                          <a:cs typeface="Times New Roman" panose="02020603050405020304" pitchFamily="18" charset="0"/>
                        </a:rPr>
                        <a:t>System.getProperty</a:t>
                      </a:r>
                      <a:r>
                        <a:rPr lang="en-US" sz="1200" kern="100" dirty="0">
                          <a:effectLst/>
                          <a:latin typeface="Times New Roman" panose="02020603050405020304" pitchFamily="18" charset="0"/>
                          <a:ea typeface="+mn-ea"/>
                          <a:cs typeface="Times New Roman" panose="02020603050405020304" pitchFamily="18" charset="0"/>
                        </a:rPr>
                        <a:t>("</a:t>
                      </a:r>
                      <a:r>
                        <a:rPr lang="en-US" sz="1200" kern="100" dirty="0" err="1">
                          <a:effectLst/>
                          <a:latin typeface="Times New Roman" panose="02020603050405020304" pitchFamily="18" charset="0"/>
                          <a:ea typeface="+mn-ea"/>
                          <a:cs typeface="Times New Roman" panose="02020603050405020304" pitchFamily="18" charset="0"/>
                        </a:rPr>
                        <a:t>file.encoding</a:t>
                      </a:r>
                      <a:r>
                        <a:rPr lang="en-US" sz="1200" kern="100" dirty="0">
                          <a:effectLst/>
                          <a:latin typeface="Times New Roman" panose="02020603050405020304" pitchFamily="18" charset="0"/>
                          <a:ea typeface="+mn-ea"/>
                          <a:cs typeface="Times New Roman" panose="02020603050405020304" pitchFamily="18" charset="0"/>
                        </a:rPr>
                        <a:t>"));</a:t>
                      </a:r>
                      <a:endParaRPr lang="zh-CN" sz="1200" kern="100" dirty="0">
                        <a:effectLst/>
                        <a:latin typeface="Times New Roman" panose="02020603050405020304" pitchFamily="18" charset="0"/>
                        <a:ea typeface="+mn-ea"/>
                        <a:cs typeface="Times New Roman" panose="02020603050405020304" pitchFamily="18" charset="0"/>
                      </a:endParaRPr>
                    </a:p>
                  </a:txBody>
                  <a:tcPr marL="63129" marR="63129"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9EDF4"/>
                    </a:solidFill>
                  </a:tcPr>
                </a:tc>
              </a:tr>
            </a:tbl>
          </a:graphicData>
        </a:graphic>
      </p:graphicFrame>
      <p:sp>
        <p:nvSpPr>
          <p:cNvPr id="4" name="标题 1"/>
          <p:cNvSpPr>
            <a:spLocks noChangeArrowheads="1"/>
          </p:cNvSpPr>
          <p:nvPr/>
        </p:nvSpPr>
        <p:spPr bwMode="auto">
          <a:xfrm>
            <a:off x="1643733" y="389681"/>
            <a:ext cx="6888707" cy="56162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pPr marL="571500" indent="-571500"/>
            <a:r>
              <a:rPr lang="en-US" altLang="zh-CN" sz="3200" b="1" dirty="0">
                <a:solidFill>
                  <a:srgbClr val="006BA9"/>
                </a:solidFill>
                <a:latin typeface="微软雅黑" pitchFamily="34" charset="-122"/>
                <a:ea typeface="微软雅黑" pitchFamily="34" charset="-122"/>
                <a:sym typeface="宋体" charset="-122"/>
              </a:rPr>
              <a:t>12.2.3  </a:t>
            </a:r>
            <a:r>
              <a:rPr lang="en-US" altLang="zh-CN" sz="3200" b="1" dirty="0" err="1">
                <a:solidFill>
                  <a:srgbClr val="006BA9"/>
                </a:solidFill>
                <a:latin typeface="微软雅黑" pitchFamily="34" charset="-122"/>
                <a:ea typeface="微软雅黑" pitchFamily="34" charset="-122"/>
                <a:sym typeface="宋体" charset="-122"/>
              </a:rPr>
              <a:t>ServletFileUpload</a:t>
            </a:r>
            <a:r>
              <a:rPr lang="zh-CN" altLang="en-US" sz="3200" b="1" dirty="0">
                <a:solidFill>
                  <a:srgbClr val="006BA9"/>
                </a:solidFill>
                <a:latin typeface="微软雅黑" pitchFamily="34" charset="-122"/>
                <a:ea typeface="微软雅黑" pitchFamily="34" charset="-122"/>
                <a:sym typeface="宋体" charset="-122"/>
              </a:rPr>
              <a:t>类</a:t>
            </a:r>
          </a:p>
        </p:txBody>
      </p:sp>
    </p:spTree>
    <p:custDataLst>
      <p:tags r:id="rId1"/>
    </p:custDataLst>
    <p:extLst>
      <p:ext uri="{BB962C8B-B14F-4D97-AF65-F5344CB8AC3E}">
        <p14:creationId xmlns:p14="http://schemas.microsoft.com/office/powerpoint/2010/main" val="326861461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anim calcmode="lin" valueType="num">
                                      <p:cBhvr>
                                        <p:cTn id="8" dur="1000" fill="hold"/>
                                        <p:tgtEl>
                                          <p:spTgt spid="3"/>
                                        </p:tgtEl>
                                        <p:attrNameLst>
                                          <p:attrName>ppt_x</p:attrName>
                                        </p:attrNameLst>
                                      </p:cBhvr>
                                      <p:tavLst>
                                        <p:tav tm="0">
                                          <p:val>
                                            <p:strVal val="#ppt_x"/>
                                          </p:val>
                                        </p:tav>
                                        <p:tav tm="100000">
                                          <p:val>
                                            <p:strVal val="#ppt_x"/>
                                          </p:val>
                                        </p:tav>
                                      </p:tavLst>
                                    </p:anim>
                                    <p:anim calcmode="lin" valueType="num">
                                      <p:cBhvr>
                                        <p:cTn id="9" dur="100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ChangeArrowheads="1"/>
          </p:cNvSpPr>
          <p:nvPr/>
        </p:nvSpPr>
        <p:spPr bwMode="auto">
          <a:xfrm>
            <a:off x="251520" y="923156"/>
            <a:ext cx="8064896" cy="56162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pPr marL="571500" indent="-571500"/>
            <a:endParaRPr lang="zh-CN" altLang="en-US" sz="2400" b="1" dirty="0">
              <a:solidFill>
                <a:srgbClr val="006BA9"/>
              </a:solidFill>
              <a:latin typeface="微软雅黑" pitchFamily="34" charset="-122"/>
              <a:ea typeface="微软雅黑" pitchFamily="34" charset="-122"/>
              <a:sym typeface="宋体" charset="-122"/>
            </a:endParaRPr>
          </a:p>
        </p:txBody>
      </p:sp>
      <p:sp>
        <p:nvSpPr>
          <p:cNvPr id="3" name="椭圆 2"/>
          <p:cNvSpPr/>
          <p:nvPr/>
        </p:nvSpPr>
        <p:spPr bwMode="auto">
          <a:xfrm rot="574600">
            <a:off x="1327821" y="3950469"/>
            <a:ext cx="361950" cy="361950"/>
          </a:xfrm>
          <a:prstGeom prst="ellipse">
            <a:avLst/>
          </a:prstGeom>
          <a:solidFill>
            <a:srgbClr val="3BCCFF"/>
          </a:solidFill>
          <a:ln w="28575" cap="flat" cmpd="sng" algn="ctr">
            <a:noFill/>
            <a:prstDash val="solid"/>
            <a:round/>
            <a:headEnd type="none" w="med" len="med"/>
            <a:tailEnd type="none" w="med" len="med"/>
          </a:ln>
          <a:effectLst>
            <a:outerShdw blurRad="25400" dist="12700" dir="2700000" algn="tl" rotWithShape="0">
              <a:prstClr val="black">
                <a:alpha val="40000"/>
              </a:prstClr>
            </a:outerShdw>
          </a:effectLst>
        </p:spPr>
        <p:txBody>
          <a:bodyPr/>
          <a:lstStyle/>
          <a:p>
            <a:pPr>
              <a:buFont typeface="Arial" pitchFamily="34" charset="0"/>
              <a:buNone/>
            </a:pPr>
            <a:endParaRPr lang="zh-CN" altLang="en-US" dirty="0">
              <a:solidFill>
                <a:prstClr val="white"/>
              </a:solidFill>
              <a:latin typeface="Arial" charset="0"/>
            </a:endParaRPr>
          </a:p>
        </p:txBody>
      </p:sp>
      <p:sp>
        <p:nvSpPr>
          <p:cNvPr id="4" name="TextBox 3"/>
          <p:cNvSpPr txBox="1">
            <a:spLocks noChangeArrowheads="1"/>
          </p:cNvSpPr>
          <p:nvPr/>
        </p:nvSpPr>
        <p:spPr bwMode="auto">
          <a:xfrm>
            <a:off x="1340124" y="3933056"/>
            <a:ext cx="349250" cy="369887"/>
          </a:xfrm>
          <a:prstGeom prst="rect">
            <a:avLst/>
          </a:prstGeom>
          <a:noFill/>
          <a:ln>
            <a:noFill/>
          </a:ln>
        </p:spPr>
        <p:txBody>
          <a:bodyPr wrap="none">
            <a:spAutoFit/>
          </a:bodyP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a:defRPr/>
            </a:pPr>
            <a:r>
              <a:rPr lang="en-US" altLang="zh-CN" b="1" kern="0" dirty="0" smtClean="0">
                <a:solidFill>
                  <a:sysClr val="window" lastClr="FFFFFF"/>
                </a:solidFill>
                <a:latin typeface="Verdana" pitchFamily="34" charset="0"/>
              </a:rPr>
              <a:t>2</a:t>
            </a:r>
            <a:endParaRPr lang="zh-CN" altLang="en-US" b="1" kern="0" dirty="0" smtClean="0">
              <a:solidFill>
                <a:sysClr val="window" lastClr="FFFFFF"/>
              </a:solidFill>
              <a:latin typeface="Verdana" pitchFamily="34" charset="0"/>
            </a:endParaRPr>
          </a:p>
        </p:txBody>
      </p:sp>
      <p:sp>
        <p:nvSpPr>
          <p:cNvPr id="5" name="矩形 4"/>
          <p:cNvSpPr/>
          <p:nvPr/>
        </p:nvSpPr>
        <p:spPr>
          <a:xfrm>
            <a:off x="1719064" y="2415197"/>
            <a:ext cx="1152525" cy="345094"/>
          </a:xfrm>
          <a:prstGeom prst="rect">
            <a:avLst/>
          </a:prstGeom>
        </p:spPr>
        <p:txBody>
          <a:bodyPr>
            <a:spAutoFit/>
          </a:bodyPr>
          <a:lstStyle/>
          <a:p>
            <a:pPr>
              <a:lnSpc>
                <a:spcPct val="130000"/>
              </a:lnSpc>
              <a:spcAft>
                <a:spcPts val="300"/>
              </a:spcAft>
              <a:defRPr/>
            </a:pPr>
            <a:r>
              <a:rPr lang="zh-CN" altLang="en-US" sz="1400" b="1" kern="0" dirty="0" smtClean="0">
                <a:solidFill>
                  <a:srgbClr val="0070C0"/>
                </a:solidFill>
                <a:latin typeface="微软雅黑" pitchFamily="34" charset="-122"/>
                <a:ea typeface="微软雅黑" pitchFamily="34" charset="-122"/>
              </a:rPr>
              <a:t>任务目标：</a:t>
            </a:r>
            <a:endParaRPr lang="en-US" altLang="zh-CN" sz="1200" kern="0" dirty="0">
              <a:solidFill>
                <a:srgbClr val="0070C0"/>
              </a:solidFill>
              <a:latin typeface="微软雅黑" pitchFamily="34" charset="-122"/>
              <a:ea typeface="微软雅黑" pitchFamily="34" charset="-122"/>
            </a:endParaRPr>
          </a:p>
        </p:txBody>
      </p:sp>
      <p:sp>
        <p:nvSpPr>
          <p:cNvPr id="6" name="圆角矩形 5"/>
          <p:cNvSpPr/>
          <p:nvPr/>
        </p:nvSpPr>
        <p:spPr>
          <a:xfrm>
            <a:off x="1411958" y="4691514"/>
            <a:ext cx="5219700" cy="408623"/>
          </a:xfrm>
          <a:prstGeom prst="roundRect">
            <a:avLst/>
          </a:prstGeom>
          <a:solidFill>
            <a:srgbClr val="0070C0"/>
          </a:solidFill>
          <a:ln>
            <a:solidFill>
              <a:srgbClr val="D6ECFF">
                <a:lumMod val="75000"/>
              </a:srgbClr>
            </a:solidFill>
          </a:ln>
          <a:effectLst>
            <a:outerShdw blurRad="50800" dist="38100" dir="2700000" algn="tl" rotWithShape="0">
              <a:prstClr val="black">
                <a:alpha val="40000"/>
              </a:prstClr>
            </a:outerShdw>
          </a:effectLst>
        </p:spPr>
        <p:txBody>
          <a:bodyPr anchor="ctr">
            <a:spAutoFit/>
          </a:bodyPr>
          <a:lstStyle/>
          <a:p>
            <a:pPr algn="ctr">
              <a:defRPr/>
            </a:pPr>
            <a:r>
              <a:rPr lang="zh-CN" altLang="en-US" b="1" kern="0" dirty="0">
                <a:solidFill>
                  <a:sysClr val="window" lastClr="FFFFFF"/>
                </a:solidFill>
                <a:latin typeface="Arial"/>
              </a:rPr>
              <a:t>案例代码（详</a:t>
            </a:r>
            <a:r>
              <a:rPr lang="zh-CN" altLang="en-US" b="1" kern="0">
                <a:solidFill>
                  <a:sysClr val="window" lastClr="FFFFFF"/>
                </a:solidFill>
                <a:latin typeface="Arial"/>
              </a:rPr>
              <a:t>见</a:t>
            </a:r>
            <a:r>
              <a:rPr lang="zh-CN" altLang="en-US" b="1" kern="0" smtClean="0">
                <a:solidFill>
                  <a:sysClr val="window" lastClr="FFFFFF"/>
                </a:solidFill>
                <a:latin typeface="Arial"/>
              </a:rPr>
              <a:t>教材</a:t>
            </a:r>
            <a:r>
              <a:rPr lang="en-US" altLang="zh-CN" b="1" kern="0" smtClean="0">
                <a:solidFill>
                  <a:sysClr val="window" lastClr="FFFFFF"/>
                </a:solidFill>
                <a:latin typeface="Arial"/>
              </a:rPr>
              <a:t>【</a:t>
            </a:r>
            <a:r>
              <a:rPr lang="zh-CN" altLang="en-US" b="1" kern="0" smtClean="0">
                <a:solidFill>
                  <a:sysClr val="window" lastClr="FFFFFF"/>
                </a:solidFill>
                <a:latin typeface="Arial"/>
              </a:rPr>
              <a:t>任务</a:t>
            </a:r>
            <a:r>
              <a:rPr lang="en-US" altLang="zh-CN" b="1" kern="0" smtClean="0">
                <a:solidFill>
                  <a:sysClr val="window" lastClr="FFFFFF"/>
                </a:solidFill>
                <a:latin typeface="Arial"/>
              </a:rPr>
              <a:t>12-1】</a:t>
            </a:r>
            <a:r>
              <a:rPr lang="zh-CN" altLang="en-US" b="1" kern="0" smtClean="0">
                <a:solidFill>
                  <a:sysClr val="window" lastClr="FFFFFF"/>
                </a:solidFill>
                <a:latin typeface="Arial"/>
              </a:rPr>
              <a:t>中的实现步骤）</a:t>
            </a:r>
            <a:endParaRPr lang="en-US" altLang="zh-CN" b="1" kern="0" dirty="0">
              <a:solidFill>
                <a:sysClr val="window" lastClr="FFFFFF"/>
              </a:solidFill>
              <a:latin typeface="Arial"/>
            </a:endParaRPr>
          </a:p>
        </p:txBody>
      </p:sp>
      <p:sp>
        <p:nvSpPr>
          <p:cNvPr id="7" name="矩形 6"/>
          <p:cNvSpPr/>
          <p:nvPr/>
        </p:nvSpPr>
        <p:spPr>
          <a:xfrm>
            <a:off x="1716758" y="3936182"/>
            <a:ext cx="1152525" cy="369887"/>
          </a:xfrm>
          <a:prstGeom prst="rect">
            <a:avLst/>
          </a:prstGeom>
        </p:spPr>
        <p:txBody>
          <a:bodyPr wrap="none">
            <a:spAutoFit/>
          </a:bodyPr>
          <a:lstStyle/>
          <a:p>
            <a:pPr>
              <a:defRPr/>
            </a:pPr>
            <a:r>
              <a:rPr lang="zh-CN" altLang="en-US" sz="1400" b="1" kern="0" dirty="0" smtClean="0">
                <a:solidFill>
                  <a:srgbClr val="0070C0"/>
                </a:solidFill>
                <a:latin typeface="微软雅黑" pitchFamily="34" charset="-122"/>
                <a:ea typeface="微软雅黑" pitchFamily="34" charset="-122"/>
              </a:rPr>
              <a:t>实现步骤：</a:t>
            </a:r>
            <a:r>
              <a:rPr lang="zh-CN" altLang="en-US" b="1" kern="0" dirty="0" smtClean="0">
                <a:solidFill>
                  <a:srgbClr val="0070C0"/>
                </a:solidFill>
                <a:latin typeface="微软雅黑" pitchFamily="34" charset="-122"/>
                <a:ea typeface="微软雅黑" pitchFamily="34" charset="-122"/>
              </a:rPr>
              <a:t> </a:t>
            </a:r>
            <a:endParaRPr lang="zh-CN" altLang="en-US" kern="0" dirty="0">
              <a:solidFill>
                <a:srgbClr val="0070C0"/>
              </a:solidFill>
              <a:latin typeface="Arial" pitchFamily="34" charset="0"/>
            </a:endParaRPr>
          </a:p>
        </p:txBody>
      </p:sp>
      <p:cxnSp>
        <p:nvCxnSpPr>
          <p:cNvPr id="8" name="直接连接符 7"/>
          <p:cNvCxnSpPr/>
          <p:nvPr/>
        </p:nvCxnSpPr>
        <p:spPr>
          <a:xfrm>
            <a:off x="1539677" y="2802547"/>
            <a:ext cx="5094287" cy="0"/>
          </a:xfrm>
          <a:prstGeom prst="line">
            <a:avLst/>
          </a:prstGeom>
          <a:solidFill>
            <a:srgbClr val="3BCCFF"/>
          </a:solidFill>
          <a:ln w="12700" cap="flat" cmpd="sng" algn="ctr">
            <a:solidFill>
              <a:srgbClr val="19C3FF"/>
            </a:solidFill>
            <a:prstDash val="solid"/>
            <a:round/>
            <a:headEnd type="none" w="med" len="med"/>
            <a:tailEnd type="none" w="med" len="med"/>
          </a:ln>
          <a:effectLst>
            <a:outerShdw blurRad="25400" dist="12700" dir="2700000" algn="tl" rotWithShape="0">
              <a:prstClr val="black">
                <a:alpha val="40000"/>
              </a:prstClr>
            </a:outerShdw>
          </a:effectLst>
        </p:spPr>
      </p:cxnSp>
      <p:cxnSp>
        <p:nvCxnSpPr>
          <p:cNvPr id="9" name="直接连接符 8"/>
          <p:cNvCxnSpPr/>
          <p:nvPr/>
        </p:nvCxnSpPr>
        <p:spPr>
          <a:xfrm>
            <a:off x="1474664" y="4306069"/>
            <a:ext cx="5094287" cy="0"/>
          </a:xfrm>
          <a:prstGeom prst="line">
            <a:avLst/>
          </a:prstGeom>
          <a:solidFill>
            <a:srgbClr val="3BCCFF"/>
          </a:solidFill>
          <a:ln w="12700" cap="flat" cmpd="sng" algn="ctr">
            <a:solidFill>
              <a:srgbClr val="19C3FF"/>
            </a:solidFill>
            <a:prstDash val="solid"/>
            <a:round/>
            <a:headEnd type="none" w="med" len="med"/>
            <a:tailEnd type="none" w="med" len="med"/>
          </a:ln>
          <a:effectLst>
            <a:outerShdw blurRad="25400" dist="12700" dir="2700000" algn="tl" rotWithShape="0">
              <a:prstClr val="black">
                <a:alpha val="40000"/>
              </a:prstClr>
            </a:outerShdw>
          </a:effectLst>
        </p:spPr>
      </p:cxnSp>
      <p:sp>
        <p:nvSpPr>
          <p:cNvPr id="10" name="椭圆 9"/>
          <p:cNvSpPr/>
          <p:nvPr/>
        </p:nvSpPr>
        <p:spPr bwMode="auto">
          <a:xfrm rot="574600">
            <a:off x="1305584" y="2461823"/>
            <a:ext cx="361950" cy="363537"/>
          </a:xfrm>
          <a:prstGeom prst="ellipse">
            <a:avLst/>
          </a:prstGeom>
          <a:solidFill>
            <a:srgbClr val="3BCCFF"/>
          </a:solidFill>
          <a:ln w="28575" cap="flat" cmpd="sng" algn="ctr">
            <a:noFill/>
            <a:prstDash val="solid"/>
            <a:round/>
            <a:headEnd type="none" w="med" len="med"/>
            <a:tailEnd type="none" w="med" len="med"/>
          </a:ln>
          <a:effectLst>
            <a:outerShdw blurRad="25400" dist="12700" dir="2700000" algn="tl" rotWithShape="0">
              <a:prstClr val="black">
                <a:alpha val="40000"/>
              </a:prstClr>
            </a:outerShdw>
          </a:effectLst>
        </p:spPr>
        <p:txBody>
          <a:bodyPr/>
          <a:lstStyle/>
          <a:p>
            <a:pPr>
              <a:buFont typeface="Arial" pitchFamily="34" charset="0"/>
              <a:buNone/>
              <a:defRPr/>
            </a:pPr>
            <a:endParaRPr lang="zh-CN" altLang="en-US" dirty="0">
              <a:solidFill>
                <a:prstClr val="white"/>
              </a:solidFill>
              <a:latin typeface="Arial" charset="0"/>
            </a:endParaRPr>
          </a:p>
        </p:txBody>
      </p:sp>
      <p:sp>
        <p:nvSpPr>
          <p:cNvPr id="11" name="TextBox 10"/>
          <p:cNvSpPr txBox="1">
            <a:spLocks noChangeArrowheads="1"/>
          </p:cNvSpPr>
          <p:nvPr/>
        </p:nvSpPr>
        <p:spPr bwMode="auto">
          <a:xfrm>
            <a:off x="1312728" y="2452503"/>
            <a:ext cx="347662"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itchFamily="34" charset="0"/>
                <a:ea typeface="宋体" pitchFamily="2" charset="-122"/>
              </a:defRPr>
            </a:lvl1pPr>
            <a:lvl2pPr marL="742950" indent="-285750">
              <a:defRPr>
                <a:solidFill>
                  <a:schemeClr val="tx1"/>
                </a:solidFill>
                <a:latin typeface="Arial" pitchFamily="34" charset="0"/>
                <a:ea typeface="宋体" pitchFamily="2" charset="-122"/>
              </a:defRPr>
            </a:lvl2pPr>
            <a:lvl3pPr marL="1143000" indent="-228600">
              <a:defRPr>
                <a:solidFill>
                  <a:schemeClr val="tx1"/>
                </a:solidFill>
                <a:latin typeface="Arial" pitchFamily="34" charset="0"/>
                <a:ea typeface="宋体" pitchFamily="2" charset="-122"/>
              </a:defRPr>
            </a:lvl3pPr>
            <a:lvl4pPr marL="1600200" indent="-228600">
              <a:defRPr>
                <a:solidFill>
                  <a:schemeClr val="tx1"/>
                </a:solidFill>
                <a:latin typeface="Arial" pitchFamily="34" charset="0"/>
                <a:ea typeface="宋体" pitchFamily="2" charset="-122"/>
              </a:defRPr>
            </a:lvl4pPr>
            <a:lvl5pPr marL="2057400" indent="-22860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r>
              <a:rPr lang="en-US" altLang="zh-CN" b="1">
                <a:solidFill>
                  <a:prstClr val="white"/>
                </a:solidFill>
                <a:latin typeface="Verdana" pitchFamily="34" charset="0"/>
              </a:rPr>
              <a:t>1</a:t>
            </a:r>
            <a:endParaRPr lang="zh-CN" altLang="en-US" b="1">
              <a:solidFill>
                <a:prstClr val="white"/>
              </a:solidFill>
              <a:latin typeface="Verdana" pitchFamily="34" charset="0"/>
            </a:endParaRPr>
          </a:p>
        </p:txBody>
      </p:sp>
      <p:sp>
        <p:nvSpPr>
          <p:cNvPr id="12" name="矩形 11"/>
          <p:cNvSpPr/>
          <p:nvPr/>
        </p:nvSpPr>
        <p:spPr>
          <a:xfrm>
            <a:off x="2988345" y="3125084"/>
            <a:ext cx="3671887" cy="1168012"/>
          </a:xfrm>
          <a:prstGeom prst="rect">
            <a:avLst/>
          </a:prstGeom>
        </p:spPr>
        <p:txBody>
          <a:bodyPr>
            <a:spAutoFit/>
          </a:bodyPr>
          <a:lstStyle/>
          <a:p>
            <a:pPr marL="228600" indent="-228600">
              <a:lnSpc>
                <a:spcPct val="130000"/>
              </a:lnSpc>
              <a:spcAft>
                <a:spcPts val="300"/>
              </a:spcAft>
              <a:buFont typeface="+mj-ea"/>
              <a:buAutoNum type="circleNumDbPlain"/>
            </a:pPr>
            <a:r>
              <a:rPr lang="zh-CN" altLang="en-US" sz="1200" smtClean="0">
                <a:solidFill>
                  <a:prstClr val="black">
                    <a:lumMod val="65000"/>
                    <a:lumOff val="35000"/>
                  </a:prstClr>
                </a:solidFill>
                <a:latin typeface="微软雅黑" pitchFamily="34" charset="-122"/>
                <a:ea typeface="微软雅黑" pitchFamily="34" charset="-122"/>
              </a:rPr>
              <a:t>创建项目，导入</a:t>
            </a:r>
            <a:r>
              <a:rPr lang="en-US" altLang="zh-CN" sz="1200" smtClean="0">
                <a:solidFill>
                  <a:prstClr val="black">
                    <a:lumMod val="65000"/>
                    <a:lumOff val="35000"/>
                  </a:prstClr>
                </a:solidFill>
                <a:latin typeface="微软雅黑" pitchFamily="34" charset="-122"/>
                <a:ea typeface="微软雅黑" pitchFamily="34" charset="-122"/>
              </a:rPr>
              <a:t>JAR</a:t>
            </a:r>
            <a:r>
              <a:rPr lang="zh-CN" altLang="en-US" sz="1200" smtClean="0">
                <a:solidFill>
                  <a:prstClr val="black">
                    <a:lumMod val="65000"/>
                    <a:lumOff val="35000"/>
                  </a:prstClr>
                </a:solidFill>
                <a:latin typeface="微软雅黑" pitchFamily="34" charset="-122"/>
                <a:ea typeface="微软雅黑" pitchFamily="34" charset="-122"/>
              </a:rPr>
              <a:t>包</a:t>
            </a:r>
            <a:endParaRPr lang="en-US" altLang="zh-CN" sz="1200" dirty="0" smtClean="0">
              <a:solidFill>
                <a:prstClr val="black">
                  <a:lumMod val="65000"/>
                  <a:lumOff val="35000"/>
                </a:prstClr>
              </a:solidFill>
              <a:latin typeface="微软雅黑" pitchFamily="34" charset="-122"/>
              <a:ea typeface="微软雅黑" pitchFamily="34" charset="-122"/>
            </a:endParaRPr>
          </a:p>
          <a:p>
            <a:pPr marL="228600" indent="-228600">
              <a:lnSpc>
                <a:spcPct val="130000"/>
              </a:lnSpc>
              <a:spcAft>
                <a:spcPts val="300"/>
              </a:spcAft>
              <a:buFont typeface="+mj-ea"/>
              <a:buAutoNum type="circleNumDbPlain"/>
            </a:pPr>
            <a:r>
              <a:rPr lang="zh-CN" altLang="en-US" sz="1200" smtClean="0">
                <a:solidFill>
                  <a:prstClr val="black">
                    <a:lumMod val="65000"/>
                    <a:lumOff val="35000"/>
                  </a:prstClr>
                </a:solidFill>
                <a:latin typeface="微软雅黑" pitchFamily="34" charset="-122"/>
                <a:ea typeface="微软雅黑" pitchFamily="34" charset="-122"/>
              </a:rPr>
              <a:t>创建上传页面</a:t>
            </a:r>
            <a:endParaRPr lang="en-US" altLang="zh-CN" sz="1200" dirty="0" smtClean="0">
              <a:solidFill>
                <a:prstClr val="black">
                  <a:lumMod val="65000"/>
                  <a:lumOff val="35000"/>
                </a:prstClr>
              </a:solidFill>
              <a:latin typeface="微软雅黑" pitchFamily="34" charset="-122"/>
              <a:ea typeface="微软雅黑" pitchFamily="34" charset="-122"/>
            </a:endParaRPr>
          </a:p>
          <a:p>
            <a:pPr marL="228600" indent="-228600">
              <a:lnSpc>
                <a:spcPct val="130000"/>
              </a:lnSpc>
              <a:spcAft>
                <a:spcPts val="300"/>
              </a:spcAft>
              <a:buFont typeface="+mj-ea"/>
              <a:buAutoNum type="circleNumDbPlain"/>
            </a:pPr>
            <a:r>
              <a:rPr lang="zh-CN" altLang="en-US" sz="1200" smtClean="0">
                <a:solidFill>
                  <a:prstClr val="black">
                    <a:lumMod val="65000"/>
                    <a:lumOff val="35000"/>
                  </a:prstClr>
                </a:solidFill>
                <a:latin typeface="微软雅黑" pitchFamily="34" charset="-122"/>
                <a:ea typeface="微软雅黑" pitchFamily="34" charset="-122"/>
              </a:rPr>
              <a:t>创建</a:t>
            </a:r>
            <a:r>
              <a:rPr lang="en-US" altLang="zh-CN" sz="1200" smtClean="0">
                <a:solidFill>
                  <a:prstClr val="black">
                    <a:lumMod val="65000"/>
                    <a:lumOff val="35000"/>
                  </a:prstClr>
                </a:solidFill>
                <a:latin typeface="微软雅黑" pitchFamily="34" charset="-122"/>
                <a:ea typeface="微软雅黑" pitchFamily="34" charset="-122"/>
              </a:rPr>
              <a:t>Servlet</a:t>
            </a:r>
          </a:p>
          <a:p>
            <a:pPr marL="228600" indent="-228600">
              <a:lnSpc>
                <a:spcPct val="130000"/>
              </a:lnSpc>
              <a:spcAft>
                <a:spcPts val="300"/>
              </a:spcAft>
              <a:buFont typeface="+mj-ea"/>
              <a:buAutoNum type="circleNumDbPlain"/>
            </a:pPr>
            <a:r>
              <a:rPr lang="zh-CN" altLang="en-US" sz="1200" smtClean="0">
                <a:solidFill>
                  <a:prstClr val="black">
                    <a:lumMod val="65000"/>
                    <a:lumOff val="35000"/>
                  </a:prstClr>
                </a:solidFill>
                <a:latin typeface="微软雅黑" pitchFamily="34" charset="-122"/>
                <a:ea typeface="微软雅黑" pitchFamily="34" charset="-122"/>
              </a:rPr>
              <a:t>启动项目，查看运行结果</a:t>
            </a:r>
            <a:endParaRPr lang="en-US" altLang="zh-CN" sz="1200" smtClean="0">
              <a:solidFill>
                <a:prstClr val="black">
                  <a:lumMod val="65000"/>
                  <a:lumOff val="35000"/>
                </a:prstClr>
              </a:solidFill>
              <a:latin typeface="微软雅黑" pitchFamily="34" charset="-122"/>
              <a:ea typeface="微软雅黑" pitchFamily="34" charset="-122"/>
            </a:endParaRPr>
          </a:p>
        </p:txBody>
      </p:sp>
      <p:sp>
        <p:nvSpPr>
          <p:cNvPr id="13" name="矩形 12"/>
          <p:cNvSpPr/>
          <p:nvPr/>
        </p:nvSpPr>
        <p:spPr>
          <a:xfrm>
            <a:off x="2699792" y="2470759"/>
            <a:ext cx="3416320" cy="332399"/>
          </a:xfrm>
          <a:prstGeom prst="rect">
            <a:avLst/>
          </a:prstGeom>
        </p:spPr>
        <p:txBody>
          <a:bodyPr wrap="none">
            <a:spAutoFit/>
          </a:bodyPr>
          <a:lstStyle/>
          <a:p>
            <a:pPr>
              <a:lnSpc>
                <a:spcPct val="130000"/>
              </a:lnSpc>
              <a:spcAft>
                <a:spcPts val="300"/>
              </a:spcAft>
              <a:defRPr/>
            </a:pPr>
            <a:r>
              <a:rPr lang="zh-CN" altLang="en-US" sz="1200" smtClean="0">
                <a:solidFill>
                  <a:prstClr val="black">
                    <a:lumMod val="65000"/>
                    <a:lumOff val="35000"/>
                  </a:prstClr>
                </a:solidFill>
                <a:latin typeface="微软雅黑" pitchFamily="34" charset="-122"/>
                <a:ea typeface="微软雅黑" pitchFamily="34" charset="-122"/>
              </a:rPr>
              <a:t>使用文件上传的相关知识，实现文件的上传功能</a:t>
            </a:r>
            <a:endParaRPr lang="en-US" altLang="zh-CN" sz="1200" dirty="0">
              <a:solidFill>
                <a:prstClr val="black">
                  <a:lumMod val="65000"/>
                  <a:lumOff val="35000"/>
                </a:prstClr>
              </a:solidFill>
              <a:latin typeface="微软雅黑" pitchFamily="34" charset="-122"/>
              <a:ea typeface="微软雅黑" pitchFamily="34" charset="-122"/>
            </a:endParaRPr>
          </a:p>
        </p:txBody>
      </p:sp>
      <p:sp>
        <p:nvSpPr>
          <p:cNvPr id="14" name="标题 1"/>
          <p:cNvSpPr>
            <a:spLocks noChangeArrowheads="1"/>
          </p:cNvSpPr>
          <p:nvPr/>
        </p:nvSpPr>
        <p:spPr bwMode="auto">
          <a:xfrm>
            <a:off x="1643733" y="389681"/>
            <a:ext cx="6888707" cy="56162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pPr marL="571500" indent="-571500"/>
            <a:r>
              <a:rPr lang="en-US" altLang="zh-CN" sz="3200" b="1" dirty="0">
                <a:solidFill>
                  <a:srgbClr val="006BA9"/>
                </a:solidFill>
                <a:latin typeface="微软雅黑" pitchFamily="34" charset="-122"/>
                <a:ea typeface="微软雅黑" pitchFamily="34" charset="-122"/>
                <a:sym typeface="宋体" charset="-122"/>
              </a:rPr>
              <a:t>【</a:t>
            </a:r>
            <a:r>
              <a:rPr lang="zh-CN" altLang="en-US" sz="3200" b="1" dirty="0">
                <a:solidFill>
                  <a:srgbClr val="006BA9"/>
                </a:solidFill>
                <a:latin typeface="微软雅黑" pitchFamily="34" charset="-122"/>
                <a:ea typeface="微软雅黑" pitchFamily="34" charset="-122"/>
                <a:sym typeface="宋体" charset="-122"/>
              </a:rPr>
              <a:t>任务</a:t>
            </a:r>
            <a:r>
              <a:rPr lang="en-US" altLang="zh-CN" sz="3200" b="1" dirty="0">
                <a:solidFill>
                  <a:srgbClr val="006BA9"/>
                </a:solidFill>
                <a:latin typeface="微软雅黑" pitchFamily="34" charset="-122"/>
                <a:ea typeface="微软雅黑" pitchFamily="34" charset="-122"/>
                <a:sym typeface="宋体" charset="-122"/>
              </a:rPr>
              <a:t>12-1</a:t>
            </a:r>
            <a:r>
              <a:rPr lang="en-US" altLang="zh-CN" sz="3200" b="1" dirty="0" smtClean="0">
                <a:solidFill>
                  <a:srgbClr val="006BA9"/>
                </a:solidFill>
                <a:latin typeface="微软雅黑" pitchFamily="34" charset="-122"/>
                <a:ea typeface="微软雅黑" pitchFamily="34" charset="-122"/>
                <a:sym typeface="宋体" charset="-122"/>
              </a:rPr>
              <a:t>】</a:t>
            </a:r>
            <a:r>
              <a:rPr lang="zh-CN" altLang="en-US" sz="3200" b="1" dirty="0" smtClean="0">
                <a:solidFill>
                  <a:srgbClr val="006BA9"/>
                </a:solidFill>
                <a:latin typeface="微软雅黑" pitchFamily="34" charset="-122"/>
                <a:ea typeface="微软雅黑" pitchFamily="34" charset="-122"/>
                <a:sym typeface="宋体" charset="-122"/>
              </a:rPr>
              <a:t>实现</a:t>
            </a:r>
            <a:r>
              <a:rPr lang="zh-CN" altLang="en-US" sz="3200" b="1" dirty="0">
                <a:solidFill>
                  <a:srgbClr val="006BA9"/>
                </a:solidFill>
                <a:latin typeface="微软雅黑" pitchFamily="34" charset="-122"/>
                <a:ea typeface="微软雅黑" pitchFamily="34" charset="-122"/>
                <a:sym typeface="宋体" charset="-122"/>
              </a:rPr>
              <a:t>文件上传</a:t>
            </a:r>
          </a:p>
        </p:txBody>
      </p:sp>
    </p:spTree>
    <p:custDataLst>
      <p:tags r:id="rId1"/>
    </p:custDataLst>
    <p:extLst>
      <p:ext uri="{BB962C8B-B14F-4D97-AF65-F5344CB8AC3E}">
        <p14:creationId xmlns:p14="http://schemas.microsoft.com/office/powerpoint/2010/main" val="4147564464"/>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left)">
                                      <p:cBhvr>
                                        <p:cTn id="7" dur="500"/>
                                        <p:tgtEl>
                                          <p:spTgt spid="3"/>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wipe(left)">
                                      <p:cBhvr>
                                        <p:cTn id="10" dur="500"/>
                                        <p:tgtEl>
                                          <p:spTgt spid="4"/>
                                        </p:tgtEl>
                                      </p:cBhvr>
                                    </p:animEffect>
                                  </p:childTnLst>
                                </p:cTn>
                              </p:par>
                              <p:par>
                                <p:cTn id="11" presetID="22" presetClass="entr" presetSubtype="8" fill="hold" grpId="0" nodeType="withEffect">
                                  <p:stCondLst>
                                    <p:cond delay="0"/>
                                  </p:stCondLst>
                                  <p:childTnLst>
                                    <p:set>
                                      <p:cBhvr>
                                        <p:cTn id="12" dur="1" fill="hold">
                                          <p:stCondLst>
                                            <p:cond delay="0"/>
                                          </p:stCondLst>
                                        </p:cTn>
                                        <p:tgtEl>
                                          <p:spTgt spid="5"/>
                                        </p:tgtEl>
                                        <p:attrNameLst>
                                          <p:attrName>style.visibility</p:attrName>
                                        </p:attrNameLst>
                                      </p:cBhvr>
                                      <p:to>
                                        <p:strVal val="visible"/>
                                      </p:to>
                                    </p:set>
                                    <p:animEffect transition="in" filter="wipe(left)">
                                      <p:cBhvr>
                                        <p:cTn id="13" dur="500"/>
                                        <p:tgtEl>
                                          <p:spTgt spid="5"/>
                                        </p:tgtEl>
                                      </p:cBhvr>
                                    </p:animEffect>
                                  </p:childTnLst>
                                </p:cTn>
                              </p:par>
                              <p:par>
                                <p:cTn id="14" presetID="22" presetClass="entr" presetSubtype="8" fill="hold" grpId="0" nodeType="withEffect">
                                  <p:stCondLst>
                                    <p:cond delay="0"/>
                                  </p:stCondLst>
                                  <p:childTnLst>
                                    <p:set>
                                      <p:cBhvr>
                                        <p:cTn id="15" dur="1" fill="hold">
                                          <p:stCondLst>
                                            <p:cond delay="0"/>
                                          </p:stCondLst>
                                        </p:cTn>
                                        <p:tgtEl>
                                          <p:spTgt spid="6"/>
                                        </p:tgtEl>
                                        <p:attrNameLst>
                                          <p:attrName>style.visibility</p:attrName>
                                        </p:attrNameLst>
                                      </p:cBhvr>
                                      <p:to>
                                        <p:strVal val="visible"/>
                                      </p:to>
                                    </p:set>
                                    <p:animEffect transition="in" filter="wipe(left)">
                                      <p:cBhvr>
                                        <p:cTn id="16" dur="500"/>
                                        <p:tgtEl>
                                          <p:spTgt spid="6"/>
                                        </p:tgtEl>
                                      </p:cBhvr>
                                    </p:animEffect>
                                  </p:childTnLst>
                                </p:cTn>
                              </p:par>
                              <p:par>
                                <p:cTn id="17" presetID="22" presetClass="entr" presetSubtype="8" fill="hold" grpId="0" nodeType="withEffect">
                                  <p:stCondLst>
                                    <p:cond delay="0"/>
                                  </p:stCondLst>
                                  <p:childTnLst>
                                    <p:set>
                                      <p:cBhvr>
                                        <p:cTn id="18" dur="1" fill="hold">
                                          <p:stCondLst>
                                            <p:cond delay="0"/>
                                          </p:stCondLst>
                                        </p:cTn>
                                        <p:tgtEl>
                                          <p:spTgt spid="7"/>
                                        </p:tgtEl>
                                        <p:attrNameLst>
                                          <p:attrName>style.visibility</p:attrName>
                                        </p:attrNameLst>
                                      </p:cBhvr>
                                      <p:to>
                                        <p:strVal val="visible"/>
                                      </p:to>
                                    </p:set>
                                    <p:animEffect transition="in" filter="wipe(left)">
                                      <p:cBhvr>
                                        <p:cTn id="19" dur="500"/>
                                        <p:tgtEl>
                                          <p:spTgt spid="7"/>
                                        </p:tgtEl>
                                      </p:cBhvr>
                                    </p:animEffect>
                                  </p:childTnLst>
                                </p:cTn>
                              </p:par>
                              <p:par>
                                <p:cTn id="20" presetID="22" presetClass="entr" presetSubtype="8" fill="hold" nodeType="withEffect">
                                  <p:stCondLst>
                                    <p:cond delay="0"/>
                                  </p:stCondLst>
                                  <p:childTnLst>
                                    <p:set>
                                      <p:cBhvr>
                                        <p:cTn id="21" dur="1" fill="hold">
                                          <p:stCondLst>
                                            <p:cond delay="0"/>
                                          </p:stCondLst>
                                        </p:cTn>
                                        <p:tgtEl>
                                          <p:spTgt spid="8"/>
                                        </p:tgtEl>
                                        <p:attrNameLst>
                                          <p:attrName>style.visibility</p:attrName>
                                        </p:attrNameLst>
                                      </p:cBhvr>
                                      <p:to>
                                        <p:strVal val="visible"/>
                                      </p:to>
                                    </p:set>
                                    <p:animEffect transition="in" filter="wipe(left)">
                                      <p:cBhvr>
                                        <p:cTn id="22" dur="500"/>
                                        <p:tgtEl>
                                          <p:spTgt spid="8"/>
                                        </p:tgtEl>
                                      </p:cBhvr>
                                    </p:animEffect>
                                  </p:childTnLst>
                                </p:cTn>
                              </p:par>
                              <p:par>
                                <p:cTn id="23" presetID="22" presetClass="entr" presetSubtype="8" fill="hold" nodeType="withEffect">
                                  <p:stCondLst>
                                    <p:cond delay="0"/>
                                  </p:stCondLst>
                                  <p:childTnLst>
                                    <p:set>
                                      <p:cBhvr>
                                        <p:cTn id="24" dur="1" fill="hold">
                                          <p:stCondLst>
                                            <p:cond delay="0"/>
                                          </p:stCondLst>
                                        </p:cTn>
                                        <p:tgtEl>
                                          <p:spTgt spid="9"/>
                                        </p:tgtEl>
                                        <p:attrNameLst>
                                          <p:attrName>style.visibility</p:attrName>
                                        </p:attrNameLst>
                                      </p:cBhvr>
                                      <p:to>
                                        <p:strVal val="visible"/>
                                      </p:to>
                                    </p:set>
                                    <p:animEffect transition="in" filter="wipe(left)">
                                      <p:cBhvr>
                                        <p:cTn id="25" dur="500"/>
                                        <p:tgtEl>
                                          <p:spTgt spid="9"/>
                                        </p:tgtEl>
                                      </p:cBhvr>
                                    </p:animEffect>
                                  </p:childTnLst>
                                </p:cTn>
                              </p:par>
                              <p:par>
                                <p:cTn id="26" presetID="22" presetClass="entr" presetSubtype="8" fill="hold" grpId="0" nodeType="withEffect">
                                  <p:stCondLst>
                                    <p:cond delay="0"/>
                                  </p:stCondLst>
                                  <p:childTnLst>
                                    <p:set>
                                      <p:cBhvr>
                                        <p:cTn id="27" dur="1" fill="hold">
                                          <p:stCondLst>
                                            <p:cond delay="0"/>
                                          </p:stCondLst>
                                        </p:cTn>
                                        <p:tgtEl>
                                          <p:spTgt spid="10"/>
                                        </p:tgtEl>
                                        <p:attrNameLst>
                                          <p:attrName>style.visibility</p:attrName>
                                        </p:attrNameLst>
                                      </p:cBhvr>
                                      <p:to>
                                        <p:strVal val="visible"/>
                                      </p:to>
                                    </p:set>
                                    <p:animEffect transition="in" filter="wipe(left)">
                                      <p:cBhvr>
                                        <p:cTn id="28" dur="500"/>
                                        <p:tgtEl>
                                          <p:spTgt spid="10"/>
                                        </p:tgtEl>
                                      </p:cBhvr>
                                    </p:animEffect>
                                  </p:childTnLst>
                                </p:cTn>
                              </p:par>
                              <p:par>
                                <p:cTn id="29" presetID="22" presetClass="entr" presetSubtype="8" fill="hold" grpId="0" nodeType="withEffect">
                                  <p:stCondLst>
                                    <p:cond delay="0"/>
                                  </p:stCondLst>
                                  <p:childTnLst>
                                    <p:set>
                                      <p:cBhvr>
                                        <p:cTn id="30" dur="1" fill="hold">
                                          <p:stCondLst>
                                            <p:cond delay="0"/>
                                          </p:stCondLst>
                                        </p:cTn>
                                        <p:tgtEl>
                                          <p:spTgt spid="11"/>
                                        </p:tgtEl>
                                        <p:attrNameLst>
                                          <p:attrName>style.visibility</p:attrName>
                                        </p:attrNameLst>
                                      </p:cBhvr>
                                      <p:to>
                                        <p:strVal val="visible"/>
                                      </p:to>
                                    </p:set>
                                    <p:animEffect transition="in" filter="wipe(left)">
                                      <p:cBhvr>
                                        <p:cTn id="31" dur="500"/>
                                        <p:tgtEl>
                                          <p:spTgt spid="11"/>
                                        </p:tgtEl>
                                      </p:cBhvr>
                                    </p:animEffect>
                                  </p:childTnLst>
                                </p:cTn>
                              </p:par>
                              <p:par>
                                <p:cTn id="32" presetID="22" presetClass="entr" presetSubtype="8" fill="hold" grpId="0" nodeType="withEffect">
                                  <p:stCondLst>
                                    <p:cond delay="0"/>
                                  </p:stCondLst>
                                  <p:childTnLst>
                                    <p:set>
                                      <p:cBhvr>
                                        <p:cTn id="33" dur="1" fill="hold">
                                          <p:stCondLst>
                                            <p:cond delay="0"/>
                                          </p:stCondLst>
                                        </p:cTn>
                                        <p:tgtEl>
                                          <p:spTgt spid="12"/>
                                        </p:tgtEl>
                                        <p:attrNameLst>
                                          <p:attrName>style.visibility</p:attrName>
                                        </p:attrNameLst>
                                      </p:cBhvr>
                                      <p:to>
                                        <p:strVal val="visible"/>
                                      </p:to>
                                    </p:set>
                                    <p:animEffect transition="in" filter="wipe(left)">
                                      <p:cBhvr>
                                        <p:cTn id="34" dur="500"/>
                                        <p:tgtEl>
                                          <p:spTgt spid="12"/>
                                        </p:tgtEl>
                                      </p:cBhvr>
                                    </p:animEffect>
                                  </p:childTnLst>
                                </p:cTn>
                              </p:par>
                              <p:par>
                                <p:cTn id="35" presetID="22" presetClass="entr" presetSubtype="8" fill="hold" grpId="0" nodeType="withEffect">
                                  <p:stCondLst>
                                    <p:cond delay="0"/>
                                  </p:stCondLst>
                                  <p:childTnLst>
                                    <p:set>
                                      <p:cBhvr>
                                        <p:cTn id="36" dur="1" fill="hold">
                                          <p:stCondLst>
                                            <p:cond delay="0"/>
                                          </p:stCondLst>
                                        </p:cTn>
                                        <p:tgtEl>
                                          <p:spTgt spid="13"/>
                                        </p:tgtEl>
                                        <p:attrNameLst>
                                          <p:attrName>style.visibility</p:attrName>
                                        </p:attrNameLst>
                                      </p:cBhvr>
                                      <p:to>
                                        <p:strVal val="visible"/>
                                      </p:to>
                                    </p:set>
                                    <p:animEffect transition="in" filter="wipe(left)">
                                      <p:cBhvr>
                                        <p:cTn id="37"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p:bldP spid="5" grpId="0"/>
      <p:bldP spid="6" grpId="0" animBg="1"/>
      <p:bldP spid="7" grpId="0"/>
      <p:bldP spid="10" grpId="0" animBg="1"/>
      <p:bldP spid="11" grpId="0"/>
      <p:bldP spid="12" grpId="0"/>
      <p:bldP spid="13"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对角圆角矩形 1"/>
          <p:cNvSpPr/>
          <p:nvPr/>
        </p:nvSpPr>
        <p:spPr>
          <a:xfrm>
            <a:off x="755576" y="3645024"/>
            <a:ext cx="4896544" cy="648072"/>
          </a:xfrm>
          <a:prstGeom prst="round2DiagRect">
            <a:avLst>
              <a:gd name="adj1" fmla="val 20943"/>
              <a:gd name="adj2" fmla="val 0"/>
            </a:avLst>
          </a:prstGeom>
          <a:solidFill>
            <a:srgbClr val="006BA9"/>
          </a:solidFill>
          <a:ln>
            <a:solidFill>
              <a:srgbClr val="006BA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4" name="TextBox 6"/>
          <p:cNvSpPr txBox="1"/>
          <p:nvPr/>
        </p:nvSpPr>
        <p:spPr>
          <a:xfrm>
            <a:off x="1097740" y="2123564"/>
            <a:ext cx="3834300" cy="369332"/>
          </a:xfrm>
          <a:prstGeom prst="rect">
            <a:avLst/>
          </a:prstGeom>
          <a:noFill/>
        </p:spPr>
        <p:txBody>
          <a:bodyPr vert="horz" wrap="square" lIns="0" tIns="0" rIns="0" bIns="0" rtlCol="0" anchor="ctr">
            <a:spAutoFit/>
          </a:bodyPr>
          <a:lstStyle/>
          <a:p>
            <a:r>
              <a:rPr lang="en-US" altLang="zh-CN" sz="2400" dirty="0">
                <a:solidFill>
                  <a:srgbClr val="7F7F7F"/>
                </a:solidFill>
                <a:latin typeface="Impact" pitchFamily="34" charset="0"/>
                <a:ea typeface="微软雅黑" pitchFamily="34" charset="-122"/>
              </a:rPr>
              <a:t>12.1    </a:t>
            </a:r>
            <a:r>
              <a:rPr lang="zh-CN" altLang="en-US" sz="2400" dirty="0">
                <a:solidFill>
                  <a:srgbClr val="7F7F7F"/>
                </a:solidFill>
                <a:latin typeface="Impact" pitchFamily="34" charset="0"/>
                <a:ea typeface="微软雅黑" pitchFamily="34" charset="-122"/>
              </a:rPr>
              <a:t>如何实现文件上传 </a:t>
            </a:r>
          </a:p>
        </p:txBody>
      </p:sp>
      <p:sp>
        <p:nvSpPr>
          <p:cNvPr id="5" name="TextBox 10"/>
          <p:cNvSpPr txBox="1"/>
          <p:nvPr/>
        </p:nvSpPr>
        <p:spPr>
          <a:xfrm>
            <a:off x="1097740" y="2987660"/>
            <a:ext cx="3834300" cy="369332"/>
          </a:xfrm>
          <a:prstGeom prst="rect">
            <a:avLst/>
          </a:prstGeom>
          <a:noFill/>
        </p:spPr>
        <p:txBody>
          <a:bodyPr vert="horz" wrap="square" lIns="0" tIns="0" rIns="0" bIns="0" rtlCol="0" anchor="ctr">
            <a:spAutoFit/>
          </a:bodyPr>
          <a:lstStyle/>
          <a:p>
            <a:r>
              <a:rPr lang="en-US" altLang="zh-CN" sz="2400" dirty="0">
                <a:solidFill>
                  <a:srgbClr val="7F7F7F"/>
                </a:solidFill>
                <a:latin typeface="Impact" pitchFamily="34" charset="0"/>
                <a:ea typeface="微软雅黑" pitchFamily="34" charset="-122"/>
              </a:rPr>
              <a:t>12.2    </a:t>
            </a:r>
            <a:r>
              <a:rPr lang="zh-CN" altLang="en-US" sz="2400" dirty="0">
                <a:solidFill>
                  <a:srgbClr val="7F7F7F"/>
                </a:solidFill>
                <a:latin typeface="Impact" pitchFamily="34" charset="0"/>
                <a:ea typeface="微软雅黑" pitchFamily="34" charset="-122"/>
              </a:rPr>
              <a:t>文件上传的相关</a:t>
            </a:r>
            <a:r>
              <a:rPr lang="en-US" altLang="zh-CN" sz="2400" dirty="0">
                <a:solidFill>
                  <a:srgbClr val="7F7F7F"/>
                </a:solidFill>
                <a:latin typeface="Impact" pitchFamily="34" charset="0"/>
                <a:ea typeface="微软雅黑" pitchFamily="34" charset="-122"/>
              </a:rPr>
              <a:t>API</a:t>
            </a:r>
            <a:endParaRPr lang="zh-CN" altLang="en-US" sz="2400" dirty="0">
              <a:solidFill>
                <a:srgbClr val="7F7F7F"/>
              </a:solidFill>
              <a:latin typeface="Impact" pitchFamily="34" charset="0"/>
              <a:ea typeface="微软雅黑" pitchFamily="34" charset="-122"/>
            </a:endParaRPr>
          </a:p>
        </p:txBody>
      </p:sp>
      <p:sp>
        <p:nvSpPr>
          <p:cNvPr id="9" name="椭圆 8"/>
          <p:cNvSpPr/>
          <p:nvPr/>
        </p:nvSpPr>
        <p:spPr>
          <a:xfrm>
            <a:off x="4897998" y="1712810"/>
            <a:ext cx="3444382" cy="3444382"/>
          </a:xfrm>
          <a:prstGeom prst="ellipse">
            <a:avLst/>
          </a:prstGeom>
          <a:solidFill>
            <a:schemeClr val="tx2">
              <a:lumMod val="40000"/>
              <a:lumOff val="60000"/>
            </a:schemeClr>
          </a:solidFill>
          <a:ln w="381000">
            <a:solidFill>
              <a:srgbClr val="006BA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10" name="TextBox 1"/>
          <p:cNvSpPr txBox="1"/>
          <p:nvPr/>
        </p:nvSpPr>
        <p:spPr>
          <a:xfrm>
            <a:off x="4860032" y="2492896"/>
            <a:ext cx="3566358" cy="1831271"/>
          </a:xfrm>
          <a:prstGeom prst="rect">
            <a:avLst/>
          </a:prstGeom>
          <a:noFill/>
        </p:spPr>
        <p:txBody>
          <a:bodyPr wrap="square" rtlCol="0" anchor="ctr">
            <a:spAutoFit/>
          </a:bodyPr>
          <a:lstStyle/>
          <a:p>
            <a:pPr algn="ctr">
              <a:lnSpc>
                <a:spcPct val="150000"/>
              </a:lnSpc>
            </a:pPr>
            <a:r>
              <a:rPr lang="zh-CN" altLang="en-US" sz="5400" b="1" smtClean="0">
                <a:solidFill>
                  <a:srgbClr val="F2F2E6"/>
                </a:solidFill>
                <a:latin typeface="微软雅黑" pitchFamily="34" charset="-122"/>
                <a:ea typeface="微软雅黑" pitchFamily="34" charset="-122"/>
              </a:rPr>
              <a:t>主讲内容</a:t>
            </a:r>
            <a:endParaRPr lang="en-US" altLang="zh-CN" sz="5400" b="1" dirty="0" smtClean="0">
              <a:solidFill>
                <a:srgbClr val="F2F2E6"/>
              </a:solidFill>
              <a:latin typeface="微软雅黑" pitchFamily="34" charset="-122"/>
              <a:ea typeface="微软雅黑" pitchFamily="34" charset="-122"/>
            </a:endParaRPr>
          </a:p>
          <a:p>
            <a:pPr algn="ctr"/>
            <a:r>
              <a:rPr lang="en-US" altLang="zh-CN" sz="3200" smtClean="0">
                <a:solidFill>
                  <a:srgbClr val="F2F2E6"/>
                </a:solidFill>
                <a:latin typeface="Times New Roman" panose="02020603050405020304" pitchFamily="18" charset="0"/>
                <a:ea typeface="Adobe 宋体 Std L" pitchFamily="18" charset="-122"/>
                <a:cs typeface="Times New Roman" panose="02020603050405020304" pitchFamily="18" charset="0"/>
              </a:rPr>
              <a:t>Speech content</a:t>
            </a:r>
            <a:endParaRPr lang="en-US" altLang="zh-CN" sz="3200" dirty="0" smtClean="0">
              <a:solidFill>
                <a:srgbClr val="F2F2E6"/>
              </a:solidFill>
              <a:latin typeface="Times New Roman" panose="02020603050405020304" pitchFamily="18" charset="0"/>
              <a:ea typeface="Adobe 宋体 Std L" pitchFamily="18" charset="-122"/>
              <a:cs typeface="Times New Roman" panose="02020603050405020304" pitchFamily="18" charset="0"/>
            </a:endParaRPr>
          </a:p>
        </p:txBody>
      </p:sp>
      <p:sp>
        <p:nvSpPr>
          <p:cNvPr id="7" name="TextBox 10"/>
          <p:cNvSpPr txBox="1"/>
          <p:nvPr/>
        </p:nvSpPr>
        <p:spPr>
          <a:xfrm>
            <a:off x="1097740" y="3779748"/>
            <a:ext cx="3834300" cy="369332"/>
          </a:xfrm>
          <a:prstGeom prst="rect">
            <a:avLst/>
          </a:prstGeom>
          <a:noFill/>
        </p:spPr>
        <p:txBody>
          <a:bodyPr vert="horz" wrap="square" lIns="0" tIns="0" rIns="0" bIns="0" rtlCol="0" anchor="ctr">
            <a:spAutoFit/>
          </a:bodyPr>
          <a:lstStyle/>
          <a:p>
            <a:r>
              <a:rPr lang="en-US" altLang="zh-CN" sz="2400" dirty="0" smtClean="0">
                <a:solidFill>
                  <a:schemeClr val="bg1"/>
                </a:solidFill>
                <a:latin typeface="Impact" pitchFamily="34" charset="0"/>
                <a:ea typeface="微软雅黑" pitchFamily="34" charset="-122"/>
              </a:rPr>
              <a:t>12.3    </a:t>
            </a:r>
            <a:r>
              <a:rPr lang="zh-CN" altLang="en-US" sz="2400" dirty="0" smtClean="0">
                <a:solidFill>
                  <a:schemeClr val="bg1"/>
                </a:solidFill>
                <a:latin typeface="Impact" pitchFamily="34" charset="0"/>
                <a:ea typeface="微软雅黑" pitchFamily="34" charset="-122"/>
              </a:rPr>
              <a:t>文件下载</a:t>
            </a:r>
            <a:endParaRPr lang="zh-CN" altLang="en-US" sz="2400" dirty="0">
              <a:solidFill>
                <a:schemeClr val="bg1"/>
              </a:solidFill>
              <a:latin typeface="Impact" pitchFamily="34" charset="0"/>
              <a:ea typeface="微软雅黑" pitchFamily="34" charset="-122"/>
            </a:endParaRPr>
          </a:p>
        </p:txBody>
      </p:sp>
      <p:sp>
        <p:nvSpPr>
          <p:cNvPr id="8" name="标题 1"/>
          <p:cNvSpPr>
            <a:spLocks noChangeArrowheads="1"/>
          </p:cNvSpPr>
          <p:nvPr/>
        </p:nvSpPr>
        <p:spPr bwMode="auto">
          <a:xfrm>
            <a:off x="1643733" y="389681"/>
            <a:ext cx="4944491" cy="56162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pPr marL="571500" indent="-571500"/>
            <a:r>
              <a:rPr lang="zh-CN" altLang="en-US" sz="3200" b="1" dirty="0" smtClean="0">
                <a:solidFill>
                  <a:srgbClr val="006BA9"/>
                </a:solidFill>
                <a:latin typeface="微软雅黑" pitchFamily="34" charset="-122"/>
                <a:ea typeface="微软雅黑" pitchFamily="34" charset="-122"/>
                <a:sym typeface="宋体" charset="-122"/>
              </a:rPr>
              <a:t>主讲内容</a:t>
            </a:r>
            <a:endParaRPr lang="zh-CN" altLang="en-US" sz="3200" b="1" dirty="0">
              <a:solidFill>
                <a:srgbClr val="006BA9"/>
              </a:solidFill>
              <a:latin typeface="微软雅黑" pitchFamily="34" charset="-122"/>
              <a:ea typeface="微软雅黑" pitchFamily="34" charset="-122"/>
              <a:sym typeface="宋体" charset="-122"/>
            </a:endParaRPr>
          </a:p>
        </p:txBody>
      </p:sp>
    </p:spTree>
    <p:custDataLst>
      <p:tags r:id="rId1"/>
    </p:custDataLst>
    <p:extLst>
      <p:ext uri="{BB962C8B-B14F-4D97-AF65-F5344CB8AC3E}">
        <p14:creationId xmlns:p14="http://schemas.microsoft.com/office/powerpoint/2010/main" val="268128332"/>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71451" y="1033463"/>
            <a:ext cx="1880270" cy="161247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00ACE6"/>
                </a:solidFill>
                <a:miter lim="800000"/>
                <a:headEnd/>
                <a:tailEnd/>
              </a14:hiddenLine>
            </a:ext>
          </a:extLst>
        </p:spPr>
      </p:pic>
      <p:sp>
        <p:nvSpPr>
          <p:cNvPr id="3" name="矩形 1"/>
          <p:cNvSpPr>
            <a:spLocks noChangeArrowheads="1"/>
          </p:cNvSpPr>
          <p:nvPr/>
        </p:nvSpPr>
        <p:spPr bwMode="auto">
          <a:xfrm>
            <a:off x="2555776" y="1004888"/>
            <a:ext cx="5791200" cy="2170112"/>
          </a:xfrm>
          <a:prstGeom prst="rect">
            <a:avLst/>
          </a:prstGeom>
          <a:solidFill>
            <a:schemeClr val="bg1"/>
          </a:solidFill>
          <a:ln w="19050">
            <a:solidFill>
              <a:srgbClr val="00ACE6"/>
            </a:solidFill>
            <a:miter lim="800000"/>
            <a:headEnd/>
            <a:tailEnd/>
          </a:ln>
        </p:spPr>
        <p:txBody>
          <a:bodyPr>
            <a:spAutoFit/>
          </a:bodyPr>
          <a:lstStyle/>
          <a:p>
            <a:pPr>
              <a:lnSpc>
                <a:spcPct val="150000"/>
              </a:lnSpc>
            </a:pPr>
            <a:r>
              <a:rPr lang="zh-CN" altLang="en-US" dirty="0"/>
              <a:t> </a:t>
            </a:r>
            <a:r>
              <a:rPr lang="zh-CN" altLang="en-US" dirty="0">
                <a:latin typeface="黑体" pitchFamily="49" charset="-122"/>
                <a:ea typeface="黑体" pitchFamily="49" charset="-122"/>
              </a:rPr>
              <a:t>   </a:t>
            </a:r>
            <a:r>
              <a:rPr lang="zh-CN" altLang="en-US" dirty="0" smtClean="0">
                <a:latin typeface="黑体" pitchFamily="49" charset="-122"/>
                <a:ea typeface="黑体" pitchFamily="49" charset="-122"/>
              </a:rPr>
              <a:t> </a:t>
            </a:r>
            <a:r>
              <a:rPr lang="zh-CN" altLang="en-US" dirty="0" smtClean="0">
                <a:latin typeface="Times New Roman" panose="02020603050405020304" pitchFamily="18" charset="0"/>
                <a:cs typeface="Times New Roman" panose="02020603050405020304" pitchFamily="18" charset="0"/>
              </a:rPr>
              <a:t>对于</a:t>
            </a:r>
            <a:r>
              <a:rPr lang="zh-CN" altLang="en-US" dirty="0">
                <a:solidFill>
                  <a:srgbClr val="00B0F0"/>
                </a:solidFill>
                <a:latin typeface="Times New Roman" panose="02020603050405020304" pitchFamily="18" charset="0"/>
                <a:cs typeface="Times New Roman" panose="02020603050405020304" pitchFamily="18" charset="0"/>
              </a:rPr>
              <a:t>文件下载</a:t>
            </a:r>
            <a:r>
              <a:rPr lang="zh-CN" altLang="en-US" dirty="0" smtClean="0">
                <a:latin typeface="Times New Roman" panose="02020603050405020304" pitchFamily="18" charset="0"/>
                <a:cs typeface="Times New Roman" panose="02020603050405020304" pitchFamily="18" charset="0"/>
              </a:rPr>
              <a:t>，人们并不</a:t>
            </a:r>
            <a:r>
              <a:rPr lang="zh-CN" altLang="en-US" dirty="0">
                <a:latin typeface="Times New Roman" panose="02020603050405020304" pitchFamily="18" charset="0"/>
                <a:cs typeface="Times New Roman" panose="02020603050405020304" pitchFamily="18" charset="0"/>
              </a:rPr>
              <a:t>陌生</a:t>
            </a:r>
            <a:r>
              <a:rPr lang="zh-CN" altLang="en-US" dirty="0" smtClean="0">
                <a:latin typeface="Times New Roman" panose="02020603050405020304" pitchFamily="18" charset="0"/>
                <a:cs typeface="Times New Roman" panose="02020603050405020304" pitchFamily="18" charset="0"/>
              </a:rPr>
              <a:t>，我们经常会在</a:t>
            </a:r>
            <a:r>
              <a:rPr lang="zh-CN" altLang="en-US" dirty="0">
                <a:latin typeface="Times New Roman" panose="02020603050405020304" pitchFamily="18" charset="0"/>
                <a:cs typeface="Times New Roman" panose="02020603050405020304" pitchFamily="18" charset="0"/>
              </a:rPr>
              <a:t>某网站下载图片，</a:t>
            </a:r>
            <a:r>
              <a:rPr lang="zh-CN" altLang="en-US" dirty="0" smtClean="0">
                <a:latin typeface="Times New Roman" panose="02020603050405020304" pitchFamily="18" charset="0"/>
                <a:cs typeface="Times New Roman" panose="02020603050405020304" pitchFamily="18" charset="0"/>
              </a:rPr>
              <a:t>下载电影等等。</a:t>
            </a:r>
            <a:endParaRPr lang="en-US" altLang="zh-CN" dirty="0" smtClean="0">
              <a:latin typeface="Times New Roman" panose="02020603050405020304" pitchFamily="18" charset="0"/>
              <a:cs typeface="Times New Roman" panose="02020603050405020304" pitchFamily="18" charset="0"/>
            </a:endParaRPr>
          </a:p>
          <a:p>
            <a:pPr indent="457200">
              <a:lnSpc>
                <a:spcPct val="150000"/>
              </a:lnSpc>
            </a:pPr>
            <a:r>
              <a:rPr lang="zh-CN" altLang="en-US" dirty="0" smtClean="0">
                <a:solidFill>
                  <a:srgbClr val="00B0F0"/>
                </a:solidFill>
                <a:latin typeface="Times New Roman" panose="02020603050405020304" pitchFamily="18" charset="0"/>
                <a:cs typeface="Times New Roman" panose="02020603050405020304" pitchFamily="18" charset="0"/>
              </a:rPr>
              <a:t>实现</a:t>
            </a:r>
            <a:r>
              <a:rPr lang="zh-CN" altLang="en-US" dirty="0">
                <a:solidFill>
                  <a:srgbClr val="00B0F0"/>
                </a:solidFill>
                <a:latin typeface="Times New Roman" panose="02020603050405020304" pitchFamily="18" charset="0"/>
                <a:cs typeface="Times New Roman" panose="02020603050405020304" pitchFamily="18" charset="0"/>
              </a:rPr>
              <a:t>文件下载</a:t>
            </a:r>
            <a:r>
              <a:rPr lang="zh-CN" altLang="en-US" dirty="0">
                <a:latin typeface="Times New Roman" panose="02020603050405020304" pitchFamily="18" charset="0"/>
                <a:cs typeface="Times New Roman" panose="02020603050405020304" pitchFamily="18" charset="0"/>
              </a:rPr>
              <a:t>功能比较简单，直接</a:t>
            </a:r>
            <a:r>
              <a:rPr lang="zh-CN" altLang="en-US" dirty="0">
                <a:solidFill>
                  <a:srgbClr val="00B0F0"/>
                </a:solidFill>
                <a:latin typeface="Times New Roman" panose="02020603050405020304" pitchFamily="18" charset="0"/>
                <a:cs typeface="Times New Roman" panose="02020603050405020304" pitchFamily="18" charset="0"/>
              </a:rPr>
              <a:t>使用</a:t>
            </a:r>
            <a:r>
              <a:rPr lang="en-US" altLang="zh-CN" dirty="0">
                <a:solidFill>
                  <a:srgbClr val="00B0F0"/>
                </a:solidFill>
                <a:latin typeface="Times New Roman" panose="02020603050405020304" pitchFamily="18" charset="0"/>
                <a:cs typeface="Times New Roman" panose="02020603050405020304" pitchFamily="18" charset="0"/>
              </a:rPr>
              <a:t>Servlet</a:t>
            </a:r>
            <a:r>
              <a:rPr lang="zh-CN" altLang="en-US" dirty="0">
                <a:solidFill>
                  <a:srgbClr val="00B0F0"/>
                </a:solidFill>
                <a:latin typeface="Times New Roman" panose="02020603050405020304" pitchFamily="18" charset="0"/>
                <a:cs typeface="Times New Roman" panose="02020603050405020304" pitchFamily="18" charset="0"/>
              </a:rPr>
              <a:t>类</a:t>
            </a:r>
            <a:r>
              <a:rPr lang="zh-CN" altLang="en-US" dirty="0">
                <a:latin typeface="Times New Roman" panose="02020603050405020304" pitchFamily="18" charset="0"/>
                <a:cs typeface="Times New Roman" panose="02020603050405020304" pitchFamily="18" charset="0"/>
              </a:rPr>
              <a:t>和</a:t>
            </a:r>
            <a:r>
              <a:rPr lang="zh-CN" altLang="en-US" dirty="0">
                <a:solidFill>
                  <a:srgbClr val="00B0F0"/>
                </a:solidFill>
                <a:latin typeface="Times New Roman" panose="02020603050405020304" pitchFamily="18" charset="0"/>
                <a:cs typeface="Times New Roman" panose="02020603050405020304" pitchFamily="18" charset="0"/>
              </a:rPr>
              <a:t>输入</a:t>
            </a:r>
            <a:r>
              <a:rPr lang="en-US" altLang="zh-CN" dirty="0">
                <a:solidFill>
                  <a:srgbClr val="00B0F0"/>
                </a:solidFill>
                <a:latin typeface="Times New Roman" panose="02020603050405020304" pitchFamily="18" charset="0"/>
                <a:cs typeface="Times New Roman" panose="02020603050405020304" pitchFamily="18" charset="0"/>
              </a:rPr>
              <a:t>/</a:t>
            </a:r>
            <a:r>
              <a:rPr lang="zh-CN" altLang="en-US" dirty="0">
                <a:solidFill>
                  <a:srgbClr val="00B0F0"/>
                </a:solidFill>
                <a:latin typeface="Times New Roman" panose="02020603050405020304" pitchFamily="18" charset="0"/>
                <a:cs typeface="Times New Roman" panose="02020603050405020304" pitchFamily="18" charset="0"/>
              </a:rPr>
              <a:t>输出</a:t>
            </a:r>
            <a:r>
              <a:rPr lang="zh-CN" altLang="en-US" dirty="0" smtClean="0">
                <a:solidFill>
                  <a:srgbClr val="00B0F0"/>
                </a:solidFill>
                <a:latin typeface="Times New Roman" panose="02020603050405020304" pitchFamily="18" charset="0"/>
                <a:cs typeface="Times New Roman" panose="02020603050405020304" pitchFamily="18" charset="0"/>
              </a:rPr>
              <a:t>流</a:t>
            </a:r>
            <a:r>
              <a:rPr lang="zh-CN" altLang="en-US" dirty="0">
                <a:latin typeface="Times New Roman" panose="02020603050405020304" pitchFamily="18" charset="0"/>
                <a:cs typeface="Times New Roman" panose="02020603050405020304" pitchFamily="18" charset="0"/>
              </a:rPr>
              <a:t>即可</a:t>
            </a:r>
            <a:r>
              <a:rPr lang="zh-CN" altLang="en-US" dirty="0" smtClean="0">
                <a:latin typeface="Times New Roman" panose="02020603050405020304" pitchFamily="18" charset="0"/>
                <a:cs typeface="Times New Roman" panose="02020603050405020304" pitchFamily="18" charset="0"/>
              </a:rPr>
              <a:t>实现。</a:t>
            </a:r>
            <a:r>
              <a:rPr lang="zh-CN" altLang="en-US" dirty="0">
                <a:latin typeface="Times New Roman" panose="02020603050405020304" pitchFamily="18" charset="0"/>
                <a:cs typeface="Times New Roman" panose="02020603050405020304" pitchFamily="18" charset="0"/>
              </a:rPr>
              <a:t>实现文件的下载，不仅需要指定文件的路径，还需要在</a:t>
            </a:r>
            <a:r>
              <a:rPr lang="en-US" altLang="zh-CN" dirty="0">
                <a:solidFill>
                  <a:srgbClr val="00B0F0"/>
                </a:solidFill>
                <a:latin typeface="Times New Roman" panose="02020603050405020304" pitchFamily="18" charset="0"/>
                <a:cs typeface="Times New Roman" panose="02020603050405020304" pitchFamily="18" charset="0"/>
              </a:rPr>
              <a:t>HTTP</a:t>
            </a:r>
            <a:r>
              <a:rPr lang="zh-CN" altLang="en-US" dirty="0">
                <a:latin typeface="Times New Roman" panose="02020603050405020304" pitchFamily="18" charset="0"/>
                <a:cs typeface="Times New Roman" panose="02020603050405020304" pitchFamily="18" charset="0"/>
              </a:rPr>
              <a:t>协议中设置两个响应消息头：</a:t>
            </a:r>
          </a:p>
        </p:txBody>
      </p:sp>
      <p:sp>
        <p:nvSpPr>
          <p:cNvPr id="5" name="下箭头 2"/>
          <p:cNvSpPr>
            <a:spLocks noChangeArrowheads="1"/>
          </p:cNvSpPr>
          <p:nvPr/>
        </p:nvSpPr>
        <p:spPr bwMode="auto">
          <a:xfrm>
            <a:off x="5076056" y="3248025"/>
            <a:ext cx="438150" cy="295275"/>
          </a:xfrm>
          <a:prstGeom prst="downArrow">
            <a:avLst>
              <a:gd name="adj1" fmla="val 50000"/>
              <a:gd name="adj2" fmla="val 50000"/>
            </a:avLst>
          </a:prstGeom>
          <a:noFill/>
          <a:ln w="28575" algn="ctr">
            <a:solidFill>
              <a:srgbClr val="00ACE6"/>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buFont typeface="Arial" charset="0"/>
              <a:buNone/>
            </a:pPr>
            <a:endParaRPr lang="zh-CN" altLang="en-US"/>
          </a:p>
        </p:txBody>
      </p:sp>
      <p:sp>
        <p:nvSpPr>
          <p:cNvPr id="6" name="圆角矩形标注 5"/>
          <p:cNvSpPr/>
          <p:nvPr/>
        </p:nvSpPr>
        <p:spPr bwMode="auto">
          <a:xfrm>
            <a:off x="395536" y="4940301"/>
            <a:ext cx="7869238" cy="1513036"/>
          </a:xfrm>
          <a:prstGeom prst="wedgeRoundRectCallout">
            <a:avLst>
              <a:gd name="adj1" fmla="val -21549"/>
              <a:gd name="adj2" fmla="val -68006"/>
              <a:gd name="adj3" fmla="val 16667"/>
            </a:avLst>
          </a:prstGeom>
          <a:solidFill>
            <a:srgbClr val="E7F4FF"/>
          </a:solidFill>
          <a:ln w="28575" cap="flat" cmpd="sng" algn="ctr">
            <a:solidFill>
              <a:srgbClr val="00ACE6"/>
            </a:solidFill>
            <a:prstDash val="solid"/>
            <a:round/>
            <a:headEnd type="none" w="med" len="med"/>
            <a:tailEnd type="none" w="med" len="med"/>
          </a:ln>
          <a:effectLst/>
          <a:extLst/>
        </p:spPr>
        <p:txBody>
          <a:bodyPr/>
          <a:lstStyle/>
          <a:p>
            <a:pPr eaLnBrk="1" hangingPunct="1">
              <a:lnSpc>
                <a:spcPct val="150000"/>
              </a:lnSpc>
              <a:defRPr/>
            </a:pPr>
            <a:r>
              <a:rPr lang="zh-CN" altLang="en-US" sz="1400" dirty="0">
                <a:latin typeface="黑体" panose="02010609060101010101" pitchFamily="49" charset="-122"/>
                <a:ea typeface="黑体" panose="02010609060101010101" pitchFamily="49" charset="-122"/>
              </a:rPr>
              <a:t>    </a:t>
            </a:r>
            <a:r>
              <a:rPr lang="zh-CN" altLang="en-US" sz="1400" dirty="0">
                <a:latin typeface="Times New Roman" panose="02020603050405020304" pitchFamily="18" charset="0"/>
                <a:ea typeface="宋体" panose="02010600030101010101" pitchFamily="2" charset="-122"/>
                <a:cs typeface="Times New Roman" panose="02020603050405020304" pitchFamily="18" charset="0"/>
              </a:rPr>
              <a:t>浏览器通常会直接处理响应的实体内容。</a:t>
            </a:r>
            <a:r>
              <a:rPr lang="zh-CN" altLang="en-US" sz="1400">
                <a:latin typeface="Times New Roman" panose="02020603050405020304" pitchFamily="18" charset="0"/>
                <a:ea typeface="宋体" panose="02010600030101010101" pitchFamily="2" charset="-122"/>
                <a:cs typeface="Times New Roman" panose="02020603050405020304" pitchFamily="18" charset="0"/>
              </a:rPr>
              <a:t>当</a:t>
            </a:r>
            <a:r>
              <a:rPr lang="zh-CN" altLang="en-US" sz="1400" smtClean="0">
                <a:latin typeface="Times New Roman" panose="02020603050405020304" pitchFamily="18" charset="0"/>
                <a:ea typeface="宋体" panose="02010600030101010101" pitchFamily="2" charset="-122"/>
                <a:cs typeface="Times New Roman" panose="02020603050405020304" pitchFamily="18" charset="0"/>
              </a:rPr>
              <a:t>我们需要在</a:t>
            </a:r>
            <a:r>
              <a:rPr lang="en-US" altLang="zh-CN" sz="1400" dirty="0">
                <a:latin typeface="Times New Roman" panose="02020603050405020304" pitchFamily="18" charset="0"/>
                <a:ea typeface="宋体" panose="02010600030101010101" pitchFamily="2" charset="-122"/>
                <a:cs typeface="Times New Roman" panose="02020603050405020304" pitchFamily="18" charset="0"/>
              </a:rPr>
              <a:t>HTTP</a:t>
            </a:r>
            <a:r>
              <a:rPr lang="zh-CN" altLang="en-US" sz="1400" dirty="0">
                <a:latin typeface="Times New Roman" panose="02020603050405020304" pitchFamily="18" charset="0"/>
                <a:ea typeface="宋体" panose="02010600030101010101" pitchFamily="2" charset="-122"/>
                <a:cs typeface="Times New Roman" panose="02020603050405020304" pitchFamily="18" charset="0"/>
              </a:rPr>
              <a:t>响应消息中设置这两个响应消息</a:t>
            </a:r>
            <a:r>
              <a:rPr lang="zh-CN" altLang="en-US" sz="1400">
                <a:latin typeface="Times New Roman" panose="02020603050405020304" pitchFamily="18" charset="0"/>
                <a:ea typeface="宋体" panose="02010600030101010101" pitchFamily="2" charset="-122"/>
                <a:cs typeface="Times New Roman" panose="02020603050405020304" pitchFamily="18" charset="0"/>
              </a:rPr>
              <a:t>头</a:t>
            </a:r>
            <a:r>
              <a:rPr lang="zh-CN" altLang="en-US" sz="1400" smtClean="0">
                <a:latin typeface="Times New Roman" panose="02020603050405020304" pitchFamily="18" charset="0"/>
                <a:ea typeface="宋体" panose="02010600030101010101" pitchFamily="2" charset="-122"/>
                <a:cs typeface="Times New Roman" panose="02020603050405020304" pitchFamily="18" charset="0"/>
              </a:rPr>
              <a:t>字段，来指定</a:t>
            </a:r>
            <a:r>
              <a:rPr lang="zh-CN" altLang="en-US" sz="1400" dirty="0">
                <a:latin typeface="Times New Roman" panose="02020603050405020304" pitchFamily="18" charset="0"/>
                <a:ea typeface="宋体" panose="02010600030101010101" pitchFamily="2" charset="-122"/>
                <a:cs typeface="Times New Roman" panose="02020603050405020304" pitchFamily="18" charset="0"/>
              </a:rPr>
              <a:t>接收程序处理数据内容的方式为下载方式</a:t>
            </a:r>
            <a:r>
              <a:rPr lang="zh-CN" altLang="en-US" sz="1400">
                <a:latin typeface="Times New Roman" panose="02020603050405020304" pitchFamily="18" charset="0"/>
                <a:ea typeface="宋体" panose="02010600030101010101" pitchFamily="2" charset="-122"/>
                <a:cs typeface="Times New Roman" panose="02020603050405020304" pitchFamily="18" charset="0"/>
              </a:rPr>
              <a:t>，</a:t>
            </a:r>
            <a:r>
              <a:rPr lang="zh-CN" altLang="en-US" sz="1400" smtClean="0">
                <a:latin typeface="Times New Roman" panose="02020603050405020304" pitchFamily="18" charset="0"/>
                <a:ea typeface="宋体" panose="02010600030101010101" pitchFamily="2" charset="-122"/>
                <a:cs typeface="Times New Roman" panose="02020603050405020304" pitchFamily="18" charset="0"/>
              </a:rPr>
              <a:t>当单击</a:t>
            </a:r>
            <a:r>
              <a:rPr lang="zh-CN" altLang="en-US" sz="1400" dirty="0">
                <a:latin typeface="Times New Roman" panose="02020603050405020304" pitchFamily="18" charset="0"/>
                <a:ea typeface="宋体" panose="02010600030101010101" pitchFamily="2" charset="-122"/>
                <a:cs typeface="Times New Roman" panose="02020603050405020304" pitchFamily="18" charset="0"/>
              </a:rPr>
              <a:t>“下载”超链接时，系统将请求提交到对应的</a:t>
            </a:r>
            <a:r>
              <a:rPr lang="en-US" altLang="zh-CN" sz="1400" dirty="0">
                <a:latin typeface="Times New Roman" panose="02020603050405020304" pitchFamily="18" charset="0"/>
                <a:ea typeface="宋体" panose="02010600030101010101" pitchFamily="2" charset="-122"/>
                <a:cs typeface="Times New Roman" panose="02020603050405020304" pitchFamily="18" charset="0"/>
              </a:rPr>
              <a:t>Servlet</a:t>
            </a:r>
            <a:r>
              <a:rPr lang="zh-CN" altLang="en-US" sz="1400" dirty="0">
                <a:latin typeface="Times New Roman" panose="02020603050405020304" pitchFamily="18" charset="0"/>
                <a:ea typeface="宋体" panose="02010600030101010101" pitchFamily="2" charset="-122"/>
                <a:cs typeface="Times New Roman" panose="02020603050405020304" pitchFamily="18" charset="0"/>
              </a:rPr>
              <a:t>。在该</a:t>
            </a:r>
            <a:r>
              <a:rPr lang="en-US" altLang="zh-CN" sz="1400" dirty="0">
                <a:latin typeface="Times New Roman" panose="02020603050405020304" pitchFamily="18" charset="0"/>
                <a:ea typeface="宋体" panose="02010600030101010101" pitchFamily="2" charset="-122"/>
                <a:cs typeface="Times New Roman" panose="02020603050405020304" pitchFamily="18" charset="0"/>
              </a:rPr>
              <a:t>Servlet</a:t>
            </a:r>
            <a:r>
              <a:rPr lang="zh-CN" altLang="en-US" sz="1400" dirty="0">
                <a:latin typeface="Times New Roman" panose="02020603050405020304" pitchFamily="18" charset="0"/>
                <a:ea typeface="宋体" panose="02010600030101010101" pitchFamily="2" charset="-122"/>
                <a:cs typeface="Times New Roman" panose="02020603050405020304" pitchFamily="18" charset="0"/>
              </a:rPr>
              <a:t>中，首先获取下载文件的地址，并根据该地址创建文件字节</a:t>
            </a:r>
            <a:r>
              <a:rPr lang="zh-CN" altLang="en-US" sz="1400">
                <a:latin typeface="Times New Roman" panose="02020603050405020304" pitchFamily="18" charset="0"/>
                <a:ea typeface="宋体" panose="02010600030101010101" pitchFamily="2" charset="-122"/>
                <a:cs typeface="Times New Roman" panose="02020603050405020304" pitchFamily="18" charset="0"/>
              </a:rPr>
              <a:t>输入流</a:t>
            </a:r>
            <a:r>
              <a:rPr lang="zh-CN" altLang="en-US" sz="1400" smtClean="0">
                <a:latin typeface="Times New Roman" panose="02020603050405020304" pitchFamily="18" charset="0"/>
                <a:ea typeface="宋体" panose="02010600030101010101" pitchFamily="2" charset="-122"/>
                <a:cs typeface="Times New Roman" panose="02020603050405020304" pitchFamily="18" charset="0"/>
              </a:rPr>
              <a:t>，然后通过</a:t>
            </a:r>
            <a:r>
              <a:rPr lang="zh-CN" altLang="en-US" sz="1400" dirty="0">
                <a:latin typeface="Times New Roman" panose="02020603050405020304" pitchFamily="18" charset="0"/>
                <a:ea typeface="宋体" panose="02010600030101010101" pitchFamily="2" charset="-122"/>
                <a:cs typeface="Times New Roman" panose="02020603050405020304" pitchFamily="18" charset="0"/>
              </a:rPr>
              <a:t>该流读取下载文件内容，最后将读取的内容通过输出流写到目标文件中。</a:t>
            </a:r>
          </a:p>
        </p:txBody>
      </p:sp>
      <p:sp>
        <p:nvSpPr>
          <p:cNvPr id="7" name="TextBox 6"/>
          <p:cNvSpPr txBox="1"/>
          <p:nvPr/>
        </p:nvSpPr>
        <p:spPr>
          <a:xfrm>
            <a:off x="2895092" y="3543300"/>
            <a:ext cx="5112568" cy="1077218"/>
          </a:xfrm>
          <a:prstGeom prst="rect">
            <a:avLst/>
          </a:prstGeom>
          <a:solidFill>
            <a:srgbClr val="E7F4FF"/>
          </a:solidFill>
        </p:spPr>
        <p:txBody>
          <a:bodyPr wrap="square" rtlCol="0">
            <a:spAutoFit/>
          </a:bodyPr>
          <a:lstStyle/>
          <a:p>
            <a:pPr lvl="0"/>
            <a:r>
              <a:rPr lang="en-US" altLang="zh-CN" sz="1600" dirty="0" smtClean="0">
                <a:latin typeface="Times New Roman" panose="02020603050405020304" pitchFamily="18" charset="0"/>
                <a:cs typeface="Times New Roman" panose="02020603050405020304" pitchFamily="18" charset="0"/>
              </a:rPr>
              <a:t>     //</a:t>
            </a:r>
            <a:r>
              <a:rPr lang="zh-CN" altLang="en-US" sz="1600" dirty="0" smtClean="0">
                <a:latin typeface="Times New Roman" panose="02020603050405020304" pitchFamily="18" charset="0"/>
                <a:cs typeface="Times New Roman" panose="02020603050405020304" pitchFamily="18" charset="0"/>
              </a:rPr>
              <a:t>设定接受程序处理数据的方式</a:t>
            </a:r>
            <a:endParaRPr lang="en-US" altLang="zh-CN" sz="1600" dirty="0" smtClean="0">
              <a:latin typeface="Times New Roman" panose="02020603050405020304" pitchFamily="18" charset="0"/>
              <a:cs typeface="Times New Roman" panose="02020603050405020304" pitchFamily="18" charset="0"/>
            </a:endParaRPr>
          </a:p>
          <a:p>
            <a:pPr lvl="0"/>
            <a:r>
              <a:rPr lang="en-US" altLang="zh-CN" sz="1600" dirty="0" smtClean="0">
                <a:latin typeface="Times New Roman" panose="02020603050405020304" pitchFamily="18" charset="0"/>
                <a:cs typeface="Times New Roman" panose="02020603050405020304" pitchFamily="18" charset="0"/>
              </a:rPr>
              <a:t>     Content-Disposition</a:t>
            </a:r>
            <a:r>
              <a:rPr lang="zh-CN" altLang="en-US" sz="1600" dirty="0" smtClean="0">
                <a:latin typeface="Times New Roman" panose="02020603050405020304" pitchFamily="18" charset="0"/>
                <a:cs typeface="Times New Roman" panose="02020603050405020304" pitchFamily="18" charset="0"/>
              </a:rPr>
              <a:t>：</a:t>
            </a:r>
            <a:r>
              <a:rPr lang="en-US" altLang="zh-CN" sz="1600" dirty="0" smtClean="0">
                <a:latin typeface="Times New Roman" panose="02020603050405020304" pitchFamily="18" charset="0"/>
                <a:cs typeface="Times New Roman" panose="02020603050405020304" pitchFamily="18" charset="0"/>
              </a:rPr>
              <a:t>attachment; filename = </a:t>
            </a:r>
          </a:p>
          <a:p>
            <a:pPr lvl="0"/>
            <a:r>
              <a:rPr lang="en-US" altLang="zh-CN" sz="1600" dirty="0" smtClean="0">
                <a:latin typeface="Times New Roman" panose="02020603050405020304" pitchFamily="18" charset="0"/>
                <a:cs typeface="Times New Roman" panose="02020603050405020304" pitchFamily="18" charset="0"/>
              </a:rPr>
              <a:t>     //</a:t>
            </a:r>
            <a:r>
              <a:rPr lang="zh-CN" altLang="en-US" sz="1600" dirty="0" smtClean="0">
                <a:latin typeface="Times New Roman" panose="02020603050405020304" pitchFamily="18" charset="0"/>
                <a:cs typeface="Times New Roman" panose="02020603050405020304" pitchFamily="18" charset="0"/>
              </a:rPr>
              <a:t>设定试题内容的</a:t>
            </a:r>
            <a:r>
              <a:rPr lang="en-US" altLang="zh-CN" sz="1600" dirty="0" smtClean="0">
                <a:latin typeface="Times New Roman" panose="02020603050405020304" pitchFamily="18" charset="0"/>
                <a:cs typeface="Times New Roman" panose="02020603050405020304" pitchFamily="18" charset="0"/>
              </a:rPr>
              <a:t>MIME</a:t>
            </a:r>
            <a:r>
              <a:rPr lang="zh-CN" altLang="en-US" sz="1600" dirty="0" smtClean="0">
                <a:latin typeface="Times New Roman" panose="02020603050405020304" pitchFamily="18" charset="0"/>
                <a:cs typeface="Times New Roman" panose="02020603050405020304" pitchFamily="18" charset="0"/>
              </a:rPr>
              <a:t>类型</a:t>
            </a:r>
            <a:endParaRPr lang="en-US" altLang="zh-CN" sz="1600" dirty="0" smtClean="0">
              <a:latin typeface="Times New Roman" panose="02020603050405020304" pitchFamily="18" charset="0"/>
              <a:cs typeface="Times New Roman" panose="02020603050405020304" pitchFamily="18" charset="0"/>
            </a:endParaRPr>
          </a:p>
          <a:p>
            <a:pPr lvl="0"/>
            <a:r>
              <a:rPr lang="en-US" altLang="zh-CN" sz="1600" dirty="0" smtClean="0">
                <a:latin typeface="Times New Roman" panose="02020603050405020304" pitchFamily="18" charset="0"/>
                <a:cs typeface="Times New Roman" panose="02020603050405020304" pitchFamily="18" charset="0"/>
              </a:rPr>
              <a:t>     Content-Type</a:t>
            </a:r>
            <a:r>
              <a:rPr lang="zh-CN" altLang="en-US" sz="1600" dirty="0" smtClean="0">
                <a:latin typeface="Times New Roman" panose="02020603050405020304" pitchFamily="18" charset="0"/>
                <a:cs typeface="Times New Roman" panose="02020603050405020304" pitchFamily="18" charset="0"/>
              </a:rPr>
              <a:t>：</a:t>
            </a:r>
            <a:r>
              <a:rPr lang="en-US" altLang="zh-CN" sz="1600" dirty="0" smtClean="0">
                <a:latin typeface="Times New Roman" panose="02020603050405020304" pitchFamily="18" charset="0"/>
                <a:cs typeface="Times New Roman" panose="02020603050405020304" pitchFamily="18" charset="0"/>
              </a:rPr>
              <a:t>application/x-</a:t>
            </a:r>
            <a:r>
              <a:rPr lang="en-US" altLang="zh-CN" sz="1600" dirty="0" err="1" smtClean="0">
                <a:latin typeface="Times New Roman" panose="02020603050405020304" pitchFamily="18" charset="0"/>
                <a:cs typeface="Times New Roman" panose="02020603050405020304" pitchFamily="18" charset="0"/>
              </a:rPr>
              <a:t>msdownload</a:t>
            </a:r>
            <a:endParaRPr lang="zh-CN" altLang="en-US" sz="1600" dirty="0">
              <a:latin typeface="Times New Roman" panose="02020603050405020304" pitchFamily="18" charset="0"/>
              <a:cs typeface="Times New Roman" panose="02020603050405020304" pitchFamily="18" charset="0"/>
            </a:endParaRPr>
          </a:p>
        </p:txBody>
      </p:sp>
      <p:sp>
        <p:nvSpPr>
          <p:cNvPr id="8" name="标题 1"/>
          <p:cNvSpPr>
            <a:spLocks noChangeArrowheads="1"/>
          </p:cNvSpPr>
          <p:nvPr/>
        </p:nvSpPr>
        <p:spPr bwMode="auto">
          <a:xfrm>
            <a:off x="1643733" y="389681"/>
            <a:ext cx="4944491" cy="56162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pPr marL="571500" indent="-571500">
              <a:buFont typeface="Wingdings" pitchFamily="2" charset="2"/>
              <a:buNone/>
            </a:pPr>
            <a:r>
              <a:rPr lang="zh-CN" altLang="en-US" sz="3200" b="1" dirty="0" smtClean="0">
                <a:solidFill>
                  <a:srgbClr val="006BA9"/>
                </a:solidFill>
                <a:latin typeface="微软雅黑" pitchFamily="34" charset="-122"/>
                <a:ea typeface="微软雅黑" pitchFamily="34" charset="-122"/>
                <a:sym typeface="宋体" charset="-122"/>
              </a:rPr>
              <a:t>文件下载</a:t>
            </a:r>
            <a:endParaRPr lang="zh-CN" altLang="en-US" sz="3200" b="1" dirty="0">
              <a:solidFill>
                <a:srgbClr val="006BA9"/>
              </a:solidFill>
              <a:latin typeface="微软雅黑" pitchFamily="34" charset="-122"/>
              <a:ea typeface="微软雅黑" pitchFamily="34" charset="-122"/>
              <a:sym typeface="宋体" charset="-122"/>
            </a:endParaRPr>
          </a:p>
        </p:txBody>
      </p:sp>
    </p:spTree>
    <p:custDataLst>
      <p:tags r:id="rId1"/>
    </p:custDataLst>
    <p:extLst>
      <p:ext uri="{BB962C8B-B14F-4D97-AF65-F5344CB8AC3E}">
        <p14:creationId xmlns:p14="http://schemas.microsoft.com/office/powerpoint/2010/main" val="3187944376"/>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childTnLst>
                          </p:cTn>
                        </p:par>
                        <p:par>
                          <p:cTn id="8" fill="hold">
                            <p:stCondLst>
                              <p:cond delay="500"/>
                            </p:stCondLst>
                            <p:childTnLst>
                              <p:par>
                                <p:cTn id="9" presetID="22" presetClass="entr" presetSubtype="1" fill="hold" grpId="0" nodeType="afterEffect">
                                  <p:stCondLst>
                                    <p:cond delay="0"/>
                                  </p:stCondLst>
                                  <p:childTnLst>
                                    <p:set>
                                      <p:cBhvr>
                                        <p:cTn id="10" dur="1" fill="hold">
                                          <p:stCondLst>
                                            <p:cond delay="0"/>
                                          </p:stCondLst>
                                        </p:cTn>
                                        <p:tgtEl>
                                          <p:spTgt spid="3"/>
                                        </p:tgtEl>
                                        <p:attrNameLst>
                                          <p:attrName>style.visibility</p:attrName>
                                        </p:attrNameLst>
                                      </p:cBhvr>
                                      <p:to>
                                        <p:strVal val="visible"/>
                                      </p:to>
                                    </p:set>
                                    <p:animEffect transition="in" filter="wipe(up)">
                                      <p:cBhvr>
                                        <p:cTn id="11" dur="500"/>
                                        <p:tgtEl>
                                          <p:spTgt spid="3"/>
                                        </p:tgtEl>
                                      </p:cBhvr>
                                    </p:animEffect>
                                  </p:childTnLst>
                                </p:cTn>
                              </p:par>
                            </p:childTnLst>
                          </p:cTn>
                        </p:par>
                        <p:par>
                          <p:cTn id="12" fill="hold">
                            <p:stCondLst>
                              <p:cond delay="1000"/>
                            </p:stCondLst>
                            <p:childTnLst>
                              <p:par>
                                <p:cTn id="13" presetID="22" presetClass="entr" presetSubtype="1" fill="hold" grpId="0" nodeType="afterEffect">
                                  <p:stCondLst>
                                    <p:cond delay="0"/>
                                  </p:stCondLst>
                                  <p:childTnLst>
                                    <p:set>
                                      <p:cBhvr>
                                        <p:cTn id="14" dur="1" fill="hold">
                                          <p:stCondLst>
                                            <p:cond delay="0"/>
                                          </p:stCondLst>
                                        </p:cTn>
                                        <p:tgtEl>
                                          <p:spTgt spid="5"/>
                                        </p:tgtEl>
                                        <p:attrNameLst>
                                          <p:attrName>style.visibility</p:attrName>
                                        </p:attrNameLst>
                                      </p:cBhvr>
                                      <p:to>
                                        <p:strVal val="visible"/>
                                      </p:to>
                                    </p:set>
                                    <p:animEffect transition="in" filter="wipe(up)">
                                      <p:cBhvr>
                                        <p:cTn id="15" dur="500"/>
                                        <p:tgtEl>
                                          <p:spTgt spid="5"/>
                                        </p:tgtEl>
                                      </p:cBhvr>
                                    </p:animEffect>
                                  </p:childTnLst>
                                </p:cTn>
                              </p:par>
                            </p:childTnLst>
                          </p:cTn>
                        </p:par>
                        <p:par>
                          <p:cTn id="16" fill="hold">
                            <p:stCondLst>
                              <p:cond delay="1500"/>
                            </p:stCondLst>
                            <p:childTnLst>
                              <p:par>
                                <p:cTn id="17" presetID="22" presetClass="entr" presetSubtype="1" fill="hold" grpId="0" nodeType="afterEffect">
                                  <p:stCondLst>
                                    <p:cond delay="0"/>
                                  </p:stCondLst>
                                  <p:childTnLst>
                                    <p:set>
                                      <p:cBhvr>
                                        <p:cTn id="18" dur="1" fill="hold">
                                          <p:stCondLst>
                                            <p:cond delay="0"/>
                                          </p:stCondLst>
                                        </p:cTn>
                                        <p:tgtEl>
                                          <p:spTgt spid="7"/>
                                        </p:tgtEl>
                                        <p:attrNameLst>
                                          <p:attrName>style.visibility</p:attrName>
                                        </p:attrNameLst>
                                      </p:cBhvr>
                                      <p:to>
                                        <p:strVal val="visible"/>
                                      </p:to>
                                    </p:set>
                                    <p:animEffect transition="in" filter="wipe(up)">
                                      <p:cBhvr>
                                        <p:cTn id="19" dur="5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22" presetClass="entr" presetSubtype="1" fill="hold" grpId="0" nodeType="clickEffect">
                                  <p:stCondLst>
                                    <p:cond delay="0"/>
                                  </p:stCondLst>
                                  <p:childTnLst>
                                    <p:set>
                                      <p:cBhvr>
                                        <p:cTn id="23" dur="1" fill="hold">
                                          <p:stCondLst>
                                            <p:cond delay="0"/>
                                          </p:stCondLst>
                                        </p:cTn>
                                        <p:tgtEl>
                                          <p:spTgt spid="6"/>
                                        </p:tgtEl>
                                        <p:attrNameLst>
                                          <p:attrName>style.visibility</p:attrName>
                                        </p:attrNameLst>
                                      </p:cBhvr>
                                      <p:to>
                                        <p:strVal val="visible"/>
                                      </p:to>
                                    </p:set>
                                    <p:animEffect transition="in" filter="wipe(up)">
                                      <p:cBhvr>
                                        <p:cTn id="24"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5" grpId="0" animBg="1"/>
      <p:bldP spid="6" grpId="0" animBg="1"/>
      <p:bldP spid="7"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ChangeArrowheads="1"/>
          </p:cNvSpPr>
          <p:nvPr/>
        </p:nvSpPr>
        <p:spPr bwMode="auto">
          <a:xfrm>
            <a:off x="251520" y="923156"/>
            <a:ext cx="8064896" cy="56162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pPr marL="571500" indent="-571500"/>
            <a:endParaRPr lang="zh-CN" altLang="en-US" sz="2400" b="1" dirty="0">
              <a:solidFill>
                <a:srgbClr val="006BA9"/>
              </a:solidFill>
              <a:latin typeface="微软雅黑" pitchFamily="34" charset="-122"/>
              <a:ea typeface="微软雅黑" pitchFamily="34" charset="-122"/>
              <a:sym typeface="宋体" charset="-122"/>
            </a:endParaRPr>
          </a:p>
        </p:txBody>
      </p:sp>
      <p:sp>
        <p:nvSpPr>
          <p:cNvPr id="3" name="椭圆 2"/>
          <p:cNvSpPr/>
          <p:nvPr/>
        </p:nvSpPr>
        <p:spPr bwMode="auto">
          <a:xfrm rot="574600">
            <a:off x="1327821" y="3950469"/>
            <a:ext cx="361950" cy="361950"/>
          </a:xfrm>
          <a:prstGeom prst="ellipse">
            <a:avLst/>
          </a:prstGeom>
          <a:solidFill>
            <a:srgbClr val="3BCCFF"/>
          </a:solidFill>
          <a:ln w="28575" cap="flat" cmpd="sng" algn="ctr">
            <a:noFill/>
            <a:prstDash val="solid"/>
            <a:round/>
            <a:headEnd type="none" w="med" len="med"/>
            <a:tailEnd type="none" w="med" len="med"/>
          </a:ln>
          <a:effectLst>
            <a:outerShdw blurRad="25400" dist="12700" dir="2700000" algn="tl" rotWithShape="0">
              <a:prstClr val="black">
                <a:alpha val="40000"/>
              </a:prstClr>
            </a:outerShdw>
          </a:effectLst>
        </p:spPr>
        <p:txBody>
          <a:bodyPr/>
          <a:lstStyle/>
          <a:p>
            <a:pPr>
              <a:buFont typeface="Arial" pitchFamily="34" charset="0"/>
              <a:buNone/>
            </a:pPr>
            <a:endParaRPr lang="zh-CN" altLang="en-US" dirty="0">
              <a:solidFill>
                <a:prstClr val="white"/>
              </a:solidFill>
              <a:latin typeface="Arial" charset="0"/>
            </a:endParaRPr>
          </a:p>
        </p:txBody>
      </p:sp>
      <p:sp>
        <p:nvSpPr>
          <p:cNvPr id="4" name="TextBox 3"/>
          <p:cNvSpPr txBox="1">
            <a:spLocks noChangeArrowheads="1"/>
          </p:cNvSpPr>
          <p:nvPr/>
        </p:nvSpPr>
        <p:spPr bwMode="auto">
          <a:xfrm>
            <a:off x="1340124" y="3933056"/>
            <a:ext cx="349250" cy="369887"/>
          </a:xfrm>
          <a:prstGeom prst="rect">
            <a:avLst/>
          </a:prstGeom>
          <a:noFill/>
          <a:ln>
            <a:noFill/>
          </a:ln>
        </p:spPr>
        <p:txBody>
          <a:bodyPr wrap="none">
            <a:spAutoFit/>
          </a:bodyP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a:defRPr/>
            </a:pPr>
            <a:r>
              <a:rPr lang="en-US" altLang="zh-CN" b="1" kern="0" dirty="0" smtClean="0">
                <a:solidFill>
                  <a:sysClr val="window" lastClr="FFFFFF"/>
                </a:solidFill>
                <a:latin typeface="Verdana" pitchFamily="34" charset="0"/>
              </a:rPr>
              <a:t>2</a:t>
            </a:r>
            <a:endParaRPr lang="zh-CN" altLang="en-US" b="1" kern="0" dirty="0" smtClean="0">
              <a:solidFill>
                <a:sysClr val="window" lastClr="FFFFFF"/>
              </a:solidFill>
              <a:latin typeface="Verdana" pitchFamily="34" charset="0"/>
            </a:endParaRPr>
          </a:p>
        </p:txBody>
      </p:sp>
      <p:sp>
        <p:nvSpPr>
          <p:cNvPr id="5" name="矩形 4"/>
          <p:cNvSpPr/>
          <p:nvPr/>
        </p:nvSpPr>
        <p:spPr>
          <a:xfrm>
            <a:off x="1719064" y="2415197"/>
            <a:ext cx="1152525" cy="345094"/>
          </a:xfrm>
          <a:prstGeom prst="rect">
            <a:avLst/>
          </a:prstGeom>
        </p:spPr>
        <p:txBody>
          <a:bodyPr>
            <a:spAutoFit/>
          </a:bodyPr>
          <a:lstStyle/>
          <a:p>
            <a:pPr>
              <a:lnSpc>
                <a:spcPct val="130000"/>
              </a:lnSpc>
              <a:spcAft>
                <a:spcPts val="300"/>
              </a:spcAft>
              <a:defRPr/>
            </a:pPr>
            <a:r>
              <a:rPr lang="zh-CN" altLang="en-US" sz="1400" b="1" kern="0" dirty="0" smtClean="0">
                <a:solidFill>
                  <a:srgbClr val="0070C0"/>
                </a:solidFill>
                <a:latin typeface="微软雅黑" pitchFamily="34" charset="-122"/>
                <a:ea typeface="微软雅黑" pitchFamily="34" charset="-122"/>
              </a:rPr>
              <a:t>任务目标：</a:t>
            </a:r>
            <a:endParaRPr lang="en-US" altLang="zh-CN" sz="1200" kern="0" dirty="0">
              <a:solidFill>
                <a:srgbClr val="0070C0"/>
              </a:solidFill>
              <a:latin typeface="微软雅黑" pitchFamily="34" charset="-122"/>
              <a:ea typeface="微软雅黑" pitchFamily="34" charset="-122"/>
            </a:endParaRPr>
          </a:p>
        </p:txBody>
      </p:sp>
      <p:sp>
        <p:nvSpPr>
          <p:cNvPr id="6" name="圆角矩形 5"/>
          <p:cNvSpPr/>
          <p:nvPr/>
        </p:nvSpPr>
        <p:spPr>
          <a:xfrm>
            <a:off x="1411958" y="4691514"/>
            <a:ext cx="5219700" cy="408623"/>
          </a:xfrm>
          <a:prstGeom prst="roundRect">
            <a:avLst/>
          </a:prstGeom>
          <a:solidFill>
            <a:srgbClr val="0070C0"/>
          </a:solidFill>
          <a:ln>
            <a:solidFill>
              <a:srgbClr val="D6ECFF">
                <a:lumMod val="75000"/>
              </a:srgbClr>
            </a:solidFill>
          </a:ln>
          <a:effectLst>
            <a:outerShdw blurRad="50800" dist="38100" dir="2700000" algn="tl" rotWithShape="0">
              <a:prstClr val="black">
                <a:alpha val="40000"/>
              </a:prstClr>
            </a:outerShdw>
          </a:effectLst>
        </p:spPr>
        <p:txBody>
          <a:bodyPr anchor="ctr">
            <a:spAutoFit/>
          </a:bodyPr>
          <a:lstStyle/>
          <a:p>
            <a:pPr algn="ctr">
              <a:defRPr/>
            </a:pPr>
            <a:r>
              <a:rPr lang="zh-CN" altLang="en-US" b="1" kern="0" dirty="0">
                <a:solidFill>
                  <a:sysClr val="window" lastClr="FFFFFF"/>
                </a:solidFill>
                <a:latin typeface="Arial"/>
              </a:rPr>
              <a:t>案例代码（详</a:t>
            </a:r>
            <a:r>
              <a:rPr lang="zh-CN" altLang="en-US" b="1" kern="0">
                <a:solidFill>
                  <a:sysClr val="window" lastClr="FFFFFF"/>
                </a:solidFill>
                <a:latin typeface="Arial"/>
              </a:rPr>
              <a:t>见</a:t>
            </a:r>
            <a:r>
              <a:rPr lang="zh-CN" altLang="en-US" b="1" kern="0" smtClean="0">
                <a:solidFill>
                  <a:sysClr val="window" lastClr="FFFFFF"/>
                </a:solidFill>
                <a:latin typeface="Arial"/>
              </a:rPr>
              <a:t>教材</a:t>
            </a:r>
            <a:r>
              <a:rPr lang="en-US" altLang="zh-CN" b="1" kern="0" smtClean="0">
                <a:solidFill>
                  <a:sysClr val="window" lastClr="FFFFFF"/>
                </a:solidFill>
                <a:latin typeface="Arial"/>
              </a:rPr>
              <a:t>【</a:t>
            </a:r>
            <a:r>
              <a:rPr lang="zh-CN" altLang="en-US" b="1" kern="0" smtClean="0">
                <a:solidFill>
                  <a:sysClr val="window" lastClr="FFFFFF"/>
                </a:solidFill>
                <a:latin typeface="Arial"/>
              </a:rPr>
              <a:t>任务</a:t>
            </a:r>
            <a:r>
              <a:rPr lang="en-US" altLang="zh-CN" b="1" kern="0" smtClean="0">
                <a:solidFill>
                  <a:sysClr val="window" lastClr="FFFFFF"/>
                </a:solidFill>
                <a:latin typeface="Arial"/>
              </a:rPr>
              <a:t>12-2】</a:t>
            </a:r>
            <a:r>
              <a:rPr lang="zh-CN" altLang="en-US" b="1" kern="0" smtClean="0">
                <a:solidFill>
                  <a:sysClr val="window" lastClr="FFFFFF"/>
                </a:solidFill>
                <a:latin typeface="Arial"/>
              </a:rPr>
              <a:t>中的实现步骤）</a:t>
            </a:r>
            <a:endParaRPr lang="en-US" altLang="zh-CN" b="1" kern="0" dirty="0">
              <a:solidFill>
                <a:sysClr val="window" lastClr="FFFFFF"/>
              </a:solidFill>
              <a:latin typeface="Arial"/>
            </a:endParaRPr>
          </a:p>
        </p:txBody>
      </p:sp>
      <p:sp>
        <p:nvSpPr>
          <p:cNvPr id="7" name="矩形 6"/>
          <p:cNvSpPr/>
          <p:nvPr/>
        </p:nvSpPr>
        <p:spPr>
          <a:xfrm>
            <a:off x="1716758" y="3936182"/>
            <a:ext cx="1152525" cy="369887"/>
          </a:xfrm>
          <a:prstGeom prst="rect">
            <a:avLst/>
          </a:prstGeom>
        </p:spPr>
        <p:txBody>
          <a:bodyPr wrap="none">
            <a:spAutoFit/>
          </a:bodyPr>
          <a:lstStyle/>
          <a:p>
            <a:pPr>
              <a:defRPr/>
            </a:pPr>
            <a:r>
              <a:rPr lang="zh-CN" altLang="en-US" sz="1400" b="1" kern="0" dirty="0" smtClean="0">
                <a:solidFill>
                  <a:srgbClr val="0070C0"/>
                </a:solidFill>
                <a:latin typeface="微软雅黑" pitchFamily="34" charset="-122"/>
                <a:ea typeface="微软雅黑" pitchFamily="34" charset="-122"/>
              </a:rPr>
              <a:t>实现步骤：</a:t>
            </a:r>
            <a:r>
              <a:rPr lang="zh-CN" altLang="en-US" b="1" kern="0" dirty="0" smtClean="0">
                <a:solidFill>
                  <a:srgbClr val="0070C0"/>
                </a:solidFill>
                <a:latin typeface="微软雅黑" pitchFamily="34" charset="-122"/>
                <a:ea typeface="微软雅黑" pitchFamily="34" charset="-122"/>
              </a:rPr>
              <a:t> </a:t>
            </a:r>
            <a:endParaRPr lang="zh-CN" altLang="en-US" kern="0" dirty="0">
              <a:solidFill>
                <a:srgbClr val="0070C0"/>
              </a:solidFill>
              <a:latin typeface="Arial" pitchFamily="34" charset="0"/>
            </a:endParaRPr>
          </a:p>
        </p:txBody>
      </p:sp>
      <p:cxnSp>
        <p:nvCxnSpPr>
          <p:cNvPr id="8" name="直接连接符 7"/>
          <p:cNvCxnSpPr/>
          <p:nvPr/>
        </p:nvCxnSpPr>
        <p:spPr>
          <a:xfrm>
            <a:off x="1539677" y="2802547"/>
            <a:ext cx="5094287" cy="0"/>
          </a:xfrm>
          <a:prstGeom prst="line">
            <a:avLst/>
          </a:prstGeom>
          <a:solidFill>
            <a:srgbClr val="3BCCFF"/>
          </a:solidFill>
          <a:ln w="12700" cap="flat" cmpd="sng" algn="ctr">
            <a:solidFill>
              <a:srgbClr val="19C3FF"/>
            </a:solidFill>
            <a:prstDash val="solid"/>
            <a:round/>
            <a:headEnd type="none" w="med" len="med"/>
            <a:tailEnd type="none" w="med" len="med"/>
          </a:ln>
          <a:effectLst>
            <a:outerShdw blurRad="25400" dist="12700" dir="2700000" algn="tl" rotWithShape="0">
              <a:prstClr val="black">
                <a:alpha val="40000"/>
              </a:prstClr>
            </a:outerShdw>
          </a:effectLst>
        </p:spPr>
      </p:cxnSp>
      <p:cxnSp>
        <p:nvCxnSpPr>
          <p:cNvPr id="9" name="直接连接符 8"/>
          <p:cNvCxnSpPr/>
          <p:nvPr/>
        </p:nvCxnSpPr>
        <p:spPr>
          <a:xfrm>
            <a:off x="1474664" y="4306069"/>
            <a:ext cx="5094287" cy="0"/>
          </a:xfrm>
          <a:prstGeom prst="line">
            <a:avLst/>
          </a:prstGeom>
          <a:solidFill>
            <a:srgbClr val="3BCCFF"/>
          </a:solidFill>
          <a:ln w="12700" cap="flat" cmpd="sng" algn="ctr">
            <a:solidFill>
              <a:srgbClr val="19C3FF"/>
            </a:solidFill>
            <a:prstDash val="solid"/>
            <a:round/>
            <a:headEnd type="none" w="med" len="med"/>
            <a:tailEnd type="none" w="med" len="med"/>
          </a:ln>
          <a:effectLst>
            <a:outerShdw blurRad="25400" dist="12700" dir="2700000" algn="tl" rotWithShape="0">
              <a:prstClr val="black">
                <a:alpha val="40000"/>
              </a:prstClr>
            </a:outerShdw>
          </a:effectLst>
        </p:spPr>
      </p:cxnSp>
      <p:sp>
        <p:nvSpPr>
          <p:cNvPr id="10" name="椭圆 9"/>
          <p:cNvSpPr/>
          <p:nvPr/>
        </p:nvSpPr>
        <p:spPr bwMode="auto">
          <a:xfrm rot="574600">
            <a:off x="1305584" y="2461823"/>
            <a:ext cx="361950" cy="363537"/>
          </a:xfrm>
          <a:prstGeom prst="ellipse">
            <a:avLst/>
          </a:prstGeom>
          <a:solidFill>
            <a:srgbClr val="3BCCFF"/>
          </a:solidFill>
          <a:ln w="28575" cap="flat" cmpd="sng" algn="ctr">
            <a:noFill/>
            <a:prstDash val="solid"/>
            <a:round/>
            <a:headEnd type="none" w="med" len="med"/>
            <a:tailEnd type="none" w="med" len="med"/>
          </a:ln>
          <a:effectLst>
            <a:outerShdw blurRad="25400" dist="12700" dir="2700000" algn="tl" rotWithShape="0">
              <a:prstClr val="black">
                <a:alpha val="40000"/>
              </a:prstClr>
            </a:outerShdw>
          </a:effectLst>
        </p:spPr>
        <p:txBody>
          <a:bodyPr/>
          <a:lstStyle/>
          <a:p>
            <a:pPr>
              <a:buFont typeface="Arial" pitchFamily="34" charset="0"/>
              <a:buNone/>
              <a:defRPr/>
            </a:pPr>
            <a:endParaRPr lang="zh-CN" altLang="en-US" dirty="0">
              <a:solidFill>
                <a:prstClr val="white"/>
              </a:solidFill>
              <a:latin typeface="Arial" charset="0"/>
            </a:endParaRPr>
          </a:p>
        </p:txBody>
      </p:sp>
      <p:sp>
        <p:nvSpPr>
          <p:cNvPr id="11" name="TextBox 10"/>
          <p:cNvSpPr txBox="1">
            <a:spLocks noChangeArrowheads="1"/>
          </p:cNvSpPr>
          <p:nvPr/>
        </p:nvSpPr>
        <p:spPr bwMode="auto">
          <a:xfrm>
            <a:off x="1312728" y="2452503"/>
            <a:ext cx="347662"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itchFamily="34" charset="0"/>
                <a:ea typeface="宋体" pitchFamily="2" charset="-122"/>
              </a:defRPr>
            </a:lvl1pPr>
            <a:lvl2pPr marL="742950" indent="-285750">
              <a:defRPr>
                <a:solidFill>
                  <a:schemeClr val="tx1"/>
                </a:solidFill>
                <a:latin typeface="Arial" pitchFamily="34" charset="0"/>
                <a:ea typeface="宋体" pitchFamily="2" charset="-122"/>
              </a:defRPr>
            </a:lvl2pPr>
            <a:lvl3pPr marL="1143000" indent="-228600">
              <a:defRPr>
                <a:solidFill>
                  <a:schemeClr val="tx1"/>
                </a:solidFill>
                <a:latin typeface="Arial" pitchFamily="34" charset="0"/>
                <a:ea typeface="宋体" pitchFamily="2" charset="-122"/>
              </a:defRPr>
            </a:lvl3pPr>
            <a:lvl4pPr marL="1600200" indent="-228600">
              <a:defRPr>
                <a:solidFill>
                  <a:schemeClr val="tx1"/>
                </a:solidFill>
                <a:latin typeface="Arial" pitchFamily="34" charset="0"/>
                <a:ea typeface="宋体" pitchFamily="2" charset="-122"/>
              </a:defRPr>
            </a:lvl4pPr>
            <a:lvl5pPr marL="2057400" indent="-22860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r>
              <a:rPr lang="en-US" altLang="zh-CN" b="1">
                <a:solidFill>
                  <a:prstClr val="white"/>
                </a:solidFill>
                <a:latin typeface="Verdana" pitchFamily="34" charset="0"/>
              </a:rPr>
              <a:t>1</a:t>
            </a:r>
            <a:endParaRPr lang="zh-CN" altLang="en-US" b="1">
              <a:solidFill>
                <a:prstClr val="white"/>
              </a:solidFill>
              <a:latin typeface="Verdana" pitchFamily="34" charset="0"/>
            </a:endParaRPr>
          </a:p>
        </p:txBody>
      </p:sp>
      <p:sp>
        <p:nvSpPr>
          <p:cNvPr id="12" name="矩形 11"/>
          <p:cNvSpPr/>
          <p:nvPr/>
        </p:nvSpPr>
        <p:spPr>
          <a:xfrm>
            <a:off x="2988345" y="3125084"/>
            <a:ext cx="3671887" cy="1168012"/>
          </a:xfrm>
          <a:prstGeom prst="rect">
            <a:avLst/>
          </a:prstGeom>
        </p:spPr>
        <p:txBody>
          <a:bodyPr>
            <a:spAutoFit/>
          </a:bodyPr>
          <a:lstStyle/>
          <a:p>
            <a:pPr marL="228600" indent="-228600">
              <a:lnSpc>
                <a:spcPct val="130000"/>
              </a:lnSpc>
              <a:spcAft>
                <a:spcPts val="300"/>
              </a:spcAft>
              <a:buFont typeface="+mj-ea"/>
              <a:buAutoNum type="circleNumDbPlain"/>
            </a:pPr>
            <a:r>
              <a:rPr lang="zh-CN" altLang="en-US" sz="1200" smtClean="0">
                <a:solidFill>
                  <a:prstClr val="black">
                    <a:lumMod val="65000"/>
                    <a:lumOff val="35000"/>
                  </a:prstClr>
                </a:solidFill>
                <a:latin typeface="微软雅黑" pitchFamily="34" charset="-122"/>
                <a:ea typeface="微软雅黑" pitchFamily="34" charset="-122"/>
              </a:rPr>
              <a:t>创建下载页面</a:t>
            </a:r>
            <a:endParaRPr lang="en-US" altLang="zh-CN" sz="1200" dirty="0" smtClean="0">
              <a:solidFill>
                <a:prstClr val="black">
                  <a:lumMod val="65000"/>
                  <a:lumOff val="35000"/>
                </a:prstClr>
              </a:solidFill>
              <a:latin typeface="微软雅黑" pitchFamily="34" charset="-122"/>
              <a:ea typeface="微软雅黑" pitchFamily="34" charset="-122"/>
            </a:endParaRPr>
          </a:p>
          <a:p>
            <a:pPr marL="228600" indent="-228600">
              <a:lnSpc>
                <a:spcPct val="130000"/>
              </a:lnSpc>
              <a:spcAft>
                <a:spcPts val="300"/>
              </a:spcAft>
              <a:buFont typeface="+mj-ea"/>
              <a:buAutoNum type="circleNumDbPlain"/>
            </a:pPr>
            <a:r>
              <a:rPr lang="zh-CN" altLang="en-US" sz="1200" smtClean="0">
                <a:solidFill>
                  <a:prstClr val="black">
                    <a:lumMod val="65000"/>
                    <a:lumOff val="35000"/>
                  </a:prstClr>
                </a:solidFill>
                <a:latin typeface="微软雅黑" pitchFamily="34" charset="-122"/>
                <a:ea typeface="微软雅黑" pitchFamily="34" charset="-122"/>
              </a:rPr>
              <a:t>创建</a:t>
            </a:r>
            <a:r>
              <a:rPr lang="en-US" altLang="zh-CN" sz="1200" smtClean="0">
                <a:solidFill>
                  <a:prstClr val="black">
                    <a:lumMod val="65000"/>
                    <a:lumOff val="35000"/>
                  </a:prstClr>
                </a:solidFill>
                <a:latin typeface="微软雅黑" pitchFamily="34" charset="-122"/>
                <a:ea typeface="微软雅黑" pitchFamily="34" charset="-122"/>
              </a:rPr>
              <a:t>Servlet</a:t>
            </a:r>
          </a:p>
          <a:p>
            <a:pPr marL="228600" indent="-228600">
              <a:lnSpc>
                <a:spcPct val="130000"/>
              </a:lnSpc>
              <a:spcAft>
                <a:spcPts val="300"/>
              </a:spcAft>
              <a:buFont typeface="+mj-ea"/>
              <a:buAutoNum type="circleNumDbPlain"/>
            </a:pPr>
            <a:r>
              <a:rPr lang="zh-CN" altLang="en-US" sz="1200" smtClean="0">
                <a:solidFill>
                  <a:prstClr val="black">
                    <a:lumMod val="65000"/>
                    <a:lumOff val="35000"/>
                  </a:prstClr>
                </a:solidFill>
                <a:latin typeface="微软雅黑" pitchFamily="34" charset="-122"/>
                <a:ea typeface="微软雅黑" pitchFamily="34" charset="-122"/>
              </a:rPr>
              <a:t>创建下载目录及文件</a:t>
            </a:r>
            <a:endParaRPr lang="en-US" altLang="zh-CN" sz="1200" smtClean="0">
              <a:solidFill>
                <a:prstClr val="black">
                  <a:lumMod val="65000"/>
                  <a:lumOff val="35000"/>
                </a:prstClr>
              </a:solidFill>
              <a:latin typeface="微软雅黑" pitchFamily="34" charset="-122"/>
              <a:ea typeface="微软雅黑" pitchFamily="34" charset="-122"/>
            </a:endParaRPr>
          </a:p>
          <a:p>
            <a:pPr marL="228600" indent="-228600">
              <a:lnSpc>
                <a:spcPct val="130000"/>
              </a:lnSpc>
              <a:spcAft>
                <a:spcPts val="300"/>
              </a:spcAft>
              <a:buFont typeface="+mj-ea"/>
              <a:buAutoNum type="circleNumDbPlain"/>
            </a:pPr>
            <a:r>
              <a:rPr lang="zh-CN" altLang="en-US" sz="1200" smtClean="0">
                <a:solidFill>
                  <a:prstClr val="black">
                    <a:lumMod val="65000"/>
                    <a:lumOff val="35000"/>
                  </a:prstClr>
                </a:solidFill>
                <a:latin typeface="微软雅黑" pitchFamily="34" charset="-122"/>
                <a:ea typeface="微软雅黑" pitchFamily="34" charset="-122"/>
              </a:rPr>
              <a:t>启动项目，查看运行结果</a:t>
            </a:r>
            <a:endParaRPr lang="en-US" altLang="zh-CN" sz="1200" smtClean="0">
              <a:solidFill>
                <a:prstClr val="black">
                  <a:lumMod val="65000"/>
                  <a:lumOff val="35000"/>
                </a:prstClr>
              </a:solidFill>
              <a:latin typeface="微软雅黑" pitchFamily="34" charset="-122"/>
              <a:ea typeface="微软雅黑" pitchFamily="34" charset="-122"/>
            </a:endParaRPr>
          </a:p>
        </p:txBody>
      </p:sp>
      <p:sp>
        <p:nvSpPr>
          <p:cNvPr id="13" name="矩形 12"/>
          <p:cNvSpPr/>
          <p:nvPr/>
        </p:nvSpPr>
        <p:spPr>
          <a:xfrm>
            <a:off x="2699792" y="2470759"/>
            <a:ext cx="4647426" cy="332399"/>
          </a:xfrm>
          <a:prstGeom prst="rect">
            <a:avLst/>
          </a:prstGeom>
        </p:spPr>
        <p:txBody>
          <a:bodyPr wrap="none">
            <a:spAutoFit/>
          </a:bodyPr>
          <a:lstStyle/>
          <a:p>
            <a:pPr>
              <a:lnSpc>
                <a:spcPct val="130000"/>
              </a:lnSpc>
              <a:spcAft>
                <a:spcPts val="300"/>
              </a:spcAft>
              <a:defRPr/>
            </a:pPr>
            <a:r>
              <a:rPr lang="zh-CN" altLang="zh-CN" sz="1200" smtClean="0">
                <a:solidFill>
                  <a:prstClr val="black">
                    <a:lumMod val="65000"/>
                    <a:lumOff val="35000"/>
                  </a:prstClr>
                </a:solidFill>
                <a:latin typeface="微软雅黑" pitchFamily="34" charset="-122"/>
                <a:ea typeface="微软雅黑" pitchFamily="34" charset="-122"/>
              </a:rPr>
              <a:t>通过</a:t>
            </a:r>
            <a:r>
              <a:rPr lang="zh-CN" altLang="zh-CN" sz="1200">
                <a:solidFill>
                  <a:prstClr val="black">
                    <a:lumMod val="65000"/>
                    <a:lumOff val="35000"/>
                  </a:prstClr>
                </a:solidFill>
                <a:latin typeface="微软雅黑" pitchFamily="34" charset="-122"/>
                <a:ea typeface="微软雅黑" pitchFamily="34" charset="-122"/>
              </a:rPr>
              <a:t>文件上传知识及文件下载原理的学习，实现文件的下载功能</a:t>
            </a:r>
            <a:endParaRPr lang="en-US" altLang="zh-CN" sz="1200" dirty="0">
              <a:solidFill>
                <a:prstClr val="black">
                  <a:lumMod val="65000"/>
                  <a:lumOff val="35000"/>
                </a:prstClr>
              </a:solidFill>
              <a:latin typeface="微软雅黑" pitchFamily="34" charset="-122"/>
              <a:ea typeface="微软雅黑" pitchFamily="34" charset="-122"/>
            </a:endParaRPr>
          </a:p>
        </p:txBody>
      </p:sp>
      <p:sp>
        <p:nvSpPr>
          <p:cNvPr id="14" name="标题 1"/>
          <p:cNvSpPr>
            <a:spLocks noChangeArrowheads="1"/>
          </p:cNvSpPr>
          <p:nvPr/>
        </p:nvSpPr>
        <p:spPr bwMode="auto">
          <a:xfrm>
            <a:off x="1643733" y="389681"/>
            <a:ext cx="6888707" cy="56162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pPr marL="571500" indent="-571500"/>
            <a:r>
              <a:rPr lang="en-US" altLang="zh-CN" sz="3200" b="1" dirty="0">
                <a:solidFill>
                  <a:srgbClr val="006BA9"/>
                </a:solidFill>
                <a:latin typeface="微软雅黑" pitchFamily="34" charset="-122"/>
                <a:ea typeface="微软雅黑" pitchFamily="34" charset="-122"/>
                <a:sym typeface="宋体" charset="-122"/>
              </a:rPr>
              <a:t>【</a:t>
            </a:r>
            <a:r>
              <a:rPr lang="zh-CN" altLang="en-US" sz="3200" b="1" dirty="0">
                <a:solidFill>
                  <a:srgbClr val="006BA9"/>
                </a:solidFill>
                <a:latin typeface="微软雅黑" pitchFamily="34" charset="-122"/>
                <a:ea typeface="微软雅黑" pitchFamily="34" charset="-122"/>
                <a:sym typeface="宋体" charset="-122"/>
              </a:rPr>
              <a:t>任务</a:t>
            </a:r>
            <a:r>
              <a:rPr lang="en-US" altLang="zh-CN" sz="3200" b="1" dirty="0">
                <a:solidFill>
                  <a:srgbClr val="006BA9"/>
                </a:solidFill>
                <a:latin typeface="微软雅黑" pitchFamily="34" charset="-122"/>
                <a:ea typeface="微软雅黑" pitchFamily="34" charset="-122"/>
                <a:sym typeface="宋体" charset="-122"/>
              </a:rPr>
              <a:t>12-2</a:t>
            </a:r>
            <a:r>
              <a:rPr lang="en-US" altLang="zh-CN" sz="3200" b="1" dirty="0" smtClean="0">
                <a:solidFill>
                  <a:srgbClr val="006BA9"/>
                </a:solidFill>
                <a:latin typeface="微软雅黑" pitchFamily="34" charset="-122"/>
                <a:ea typeface="微软雅黑" pitchFamily="34" charset="-122"/>
                <a:sym typeface="宋体" charset="-122"/>
              </a:rPr>
              <a:t>】</a:t>
            </a:r>
            <a:r>
              <a:rPr lang="zh-CN" altLang="en-US" sz="3200" b="1" dirty="0" smtClean="0">
                <a:solidFill>
                  <a:srgbClr val="006BA9"/>
                </a:solidFill>
                <a:latin typeface="微软雅黑" pitchFamily="34" charset="-122"/>
                <a:ea typeface="微软雅黑" pitchFamily="34" charset="-122"/>
                <a:sym typeface="宋体" charset="-122"/>
              </a:rPr>
              <a:t>实现</a:t>
            </a:r>
            <a:r>
              <a:rPr lang="zh-CN" altLang="en-US" sz="3200" b="1" dirty="0">
                <a:solidFill>
                  <a:srgbClr val="006BA9"/>
                </a:solidFill>
                <a:latin typeface="微软雅黑" pitchFamily="34" charset="-122"/>
                <a:ea typeface="微软雅黑" pitchFamily="34" charset="-122"/>
                <a:sym typeface="宋体" charset="-122"/>
              </a:rPr>
              <a:t>文件下载</a:t>
            </a:r>
          </a:p>
        </p:txBody>
      </p:sp>
    </p:spTree>
    <p:custDataLst>
      <p:tags r:id="rId1"/>
    </p:custDataLst>
    <p:extLst>
      <p:ext uri="{BB962C8B-B14F-4D97-AF65-F5344CB8AC3E}">
        <p14:creationId xmlns:p14="http://schemas.microsoft.com/office/powerpoint/2010/main" val="2942007431"/>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left)">
                                      <p:cBhvr>
                                        <p:cTn id="7" dur="500"/>
                                        <p:tgtEl>
                                          <p:spTgt spid="3"/>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wipe(left)">
                                      <p:cBhvr>
                                        <p:cTn id="10" dur="500"/>
                                        <p:tgtEl>
                                          <p:spTgt spid="4"/>
                                        </p:tgtEl>
                                      </p:cBhvr>
                                    </p:animEffect>
                                  </p:childTnLst>
                                </p:cTn>
                              </p:par>
                              <p:par>
                                <p:cTn id="11" presetID="22" presetClass="entr" presetSubtype="8" fill="hold" grpId="0" nodeType="withEffect">
                                  <p:stCondLst>
                                    <p:cond delay="0"/>
                                  </p:stCondLst>
                                  <p:childTnLst>
                                    <p:set>
                                      <p:cBhvr>
                                        <p:cTn id="12" dur="1" fill="hold">
                                          <p:stCondLst>
                                            <p:cond delay="0"/>
                                          </p:stCondLst>
                                        </p:cTn>
                                        <p:tgtEl>
                                          <p:spTgt spid="5"/>
                                        </p:tgtEl>
                                        <p:attrNameLst>
                                          <p:attrName>style.visibility</p:attrName>
                                        </p:attrNameLst>
                                      </p:cBhvr>
                                      <p:to>
                                        <p:strVal val="visible"/>
                                      </p:to>
                                    </p:set>
                                    <p:animEffect transition="in" filter="wipe(left)">
                                      <p:cBhvr>
                                        <p:cTn id="13" dur="500"/>
                                        <p:tgtEl>
                                          <p:spTgt spid="5"/>
                                        </p:tgtEl>
                                      </p:cBhvr>
                                    </p:animEffect>
                                  </p:childTnLst>
                                </p:cTn>
                              </p:par>
                              <p:par>
                                <p:cTn id="14" presetID="22" presetClass="entr" presetSubtype="8" fill="hold" grpId="0" nodeType="withEffect">
                                  <p:stCondLst>
                                    <p:cond delay="0"/>
                                  </p:stCondLst>
                                  <p:childTnLst>
                                    <p:set>
                                      <p:cBhvr>
                                        <p:cTn id="15" dur="1" fill="hold">
                                          <p:stCondLst>
                                            <p:cond delay="0"/>
                                          </p:stCondLst>
                                        </p:cTn>
                                        <p:tgtEl>
                                          <p:spTgt spid="6"/>
                                        </p:tgtEl>
                                        <p:attrNameLst>
                                          <p:attrName>style.visibility</p:attrName>
                                        </p:attrNameLst>
                                      </p:cBhvr>
                                      <p:to>
                                        <p:strVal val="visible"/>
                                      </p:to>
                                    </p:set>
                                    <p:animEffect transition="in" filter="wipe(left)">
                                      <p:cBhvr>
                                        <p:cTn id="16" dur="500"/>
                                        <p:tgtEl>
                                          <p:spTgt spid="6"/>
                                        </p:tgtEl>
                                      </p:cBhvr>
                                    </p:animEffect>
                                  </p:childTnLst>
                                </p:cTn>
                              </p:par>
                              <p:par>
                                <p:cTn id="17" presetID="22" presetClass="entr" presetSubtype="8" fill="hold" grpId="0" nodeType="withEffect">
                                  <p:stCondLst>
                                    <p:cond delay="0"/>
                                  </p:stCondLst>
                                  <p:childTnLst>
                                    <p:set>
                                      <p:cBhvr>
                                        <p:cTn id="18" dur="1" fill="hold">
                                          <p:stCondLst>
                                            <p:cond delay="0"/>
                                          </p:stCondLst>
                                        </p:cTn>
                                        <p:tgtEl>
                                          <p:spTgt spid="7"/>
                                        </p:tgtEl>
                                        <p:attrNameLst>
                                          <p:attrName>style.visibility</p:attrName>
                                        </p:attrNameLst>
                                      </p:cBhvr>
                                      <p:to>
                                        <p:strVal val="visible"/>
                                      </p:to>
                                    </p:set>
                                    <p:animEffect transition="in" filter="wipe(left)">
                                      <p:cBhvr>
                                        <p:cTn id="19" dur="500"/>
                                        <p:tgtEl>
                                          <p:spTgt spid="7"/>
                                        </p:tgtEl>
                                      </p:cBhvr>
                                    </p:animEffect>
                                  </p:childTnLst>
                                </p:cTn>
                              </p:par>
                              <p:par>
                                <p:cTn id="20" presetID="22" presetClass="entr" presetSubtype="8" fill="hold" nodeType="withEffect">
                                  <p:stCondLst>
                                    <p:cond delay="0"/>
                                  </p:stCondLst>
                                  <p:childTnLst>
                                    <p:set>
                                      <p:cBhvr>
                                        <p:cTn id="21" dur="1" fill="hold">
                                          <p:stCondLst>
                                            <p:cond delay="0"/>
                                          </p:stCondLst>
                                        </p:cTn>
                                        <p:tgtEl>
                                          <p:spTgt spid="8"/>
                                        </p:tgtEl>
                                        <p:attrNameLst>
                                          <p:attrName>style.visibility</p:attrName>
                                        </p:attrNameLst>
                                      </p:cBhvr>
                                      <p:to>
                                        <p:strVal val="visible"/>
                                      </p:to>
                                    </p:set>
                                    <p:animEffect transition="in" filter="wipe(left)">
                                      <p:cBhvr>
                                        <p:cTn id="22" dur="500"/>
                                        <p:tgtEl>
                                          <p:spTgt spid="8"/>
                                        </p:tgtEl>
                                      </p:cBhvr>
                                    </p:animEffect>
                                  </p:childTnLst>
                                </p:cTn>
                              </p:par>
                              <p:par>
                                <p:cTn id="23" presetID="22" presetClass="entr" presetSubtype="8" fill="hold" nodeType="withEffect">
                                  <p:stCondLst>
                                    <p:cond delay="0"/>
                                  </p:stCondLst>
                                  <p:childTnLst>
                                    <p:set>
                                      <p:cBhvr>
                                        <p:cTn id="24" dur="1" fill="hold">
                                          <p:stCondLst>
                                            <p:cond delay="0"/>
                                          </p:stCondLst>
                                        </p:cTn>
                                        <p:tgtEl>
                                          <p:spTgt spid="9"/>
                                        </p:tgtEl>
                                        <p:attrNameLst>
                                          <p:attrName>style.visibility</p:attrName>
                                        </p:attrNameLst>
                                      </p:cBhvr>
                                      <p:to>
                                        <p:strVal val="visible"/>
                                      </p:to>
                                    </p:set>
                                    <p:animEffect transition="in" filter="wipe(left)">
                                      <p:cBhvr>
                                        <p:cTn id="25" dur="500"/>
                                        <p:tgtEl>
                                          <p:spTgt spid="9"/>
                                        </p:tgtEl>
                                      </p:cBhvr>
                                    </p:animEffect>
                                  </p:childTnLst>
                                </p:cTn>
                              </p:par>
                              <p:par>
                                <p:cTn id="26" presetID="22" presetClass="entr" presetSubtype="8" fill="hold" grpId="0" nodeType="withEffect">
                                  <p:stCondLst>
                                    <p:cond delay="0"/>
                                  </p:stCondLst>
                                  <p:childTnLst>
                                    <p:set>
                                      <p:cBhvr>
                                        <p:cTn id="27" dur="1" fill="hold">
                                          <p:stCondLst>
                                            <p:cond delay="0"/>
                                          </p:stCondLst>
                                        </p:cTn>
                                        <p:tgtEl>
                                          <p:spTgt spid="10"/>
                                        </p:tgtEl>
                                        <p:attrNameLst>
                                          <p:attrName>style.visibility</p:attrName>
                                        </p:attrNameLst>
                                      </p:cBhvr>
                                      <p:to>
                                        <p:strVal val="visible"/>
                                      </p:to>
                                    </p:set>
                                    <p:animEffect transition="in" filter="wipe(left)">
                                      <p:cBhvr>
                                        <p:cTn id="28" dur="500"/>
                                        <p:tgtEl>
                                          <p:spTgt spid="10"/>
                                        </p:tgtEl>
                                      </p:cBhvr>
                                    </p:animEffect>
                                  </p:childTnLst>
                                </p:cTn>
                              </p:par>
                              <p:par>
                                <p:cTn id="29" presetID="22" presetClass="entr" presetSubtype="8" fill="hold" grpId="0" nodeType="withEffect">
                                  <p:stCondLst>
                                    <p:cond delay="0"/>
                                  </p:stCondLst>
                                  <p:childTnLst>
                                    <p:set>
                                      <p:cBhvr>
                                        <p:cTn id="30" dur="1" fill="hold">
                                          <p:stCondLst>
                                            <p:cond delay="0"/>
                                          </p:stCondLst>
                                        </p:cTn>
                                        <p:tgtEl>
                                          <p:spTgt spid="11"/>
                                        </p:tgtEl>
                                        <p:attrNameLst>
                                          <p:attrName>style.visibility</p:attrName>
                                        </p:attrNameLst>
                                      </p:cBhvr>
                                      <p:to>
                                        <p:strVal val="visible"/>
                                      </p:to>
                                    </p:set>
                                    <p:animEffect transition="in" filter="wipe(left)">
                                      <p:cBhvr>
                                        <p:cTn id="31" dur="500"/>
                                        <p:tgtEl>
                                          <p:spTgt spid="11"/>
                                        </p:tgtEl>
                                      </p:cBhvr>
                                    </p:animEffect>
                                  </p:childTnLst>
                                </p:cTn>
                              </p:par>
                              <p:par>
                                <p:cTn id="32" presetID="22" presetClass="entr" presetSubtype="8" fill="hold" grpId="0" nodeType="withEffect">
                                  <p:stCondLst>
                                    <p:cond delay="0"/>
                                  </p:stCondLst>
                                  <p:childTnLst>
                                    <p:set>
                                      <p:cBhvr>
                                        <p:cTn id="33" dur="1" fill="hold">
                                          <p:stCondLst>
                                            <p:cond delay="0"/>
                                          </p:stCondLst>
                                        </p:cTn>
                                        <p:tgtEl>
                                          <p:spTgt spid="12"/>
                                        </p:tgtEl>
                                        <p:attrNameLst>
                                          <p:attrName>style.visibility</p:attrName>
                                        </p:attrNameLst>
                                      </p:cBhvr>
                                      <p:to>
                                        <p:strVal val="visible"/>
                                      </p:to>
                                    </p:set>
                                    <p:animEffect transition="in" filter="wipe(left)">
                                      <p:cBhvr>
                                        <p:cTn id="34" dur="500"/>
                                        <p:tgtEl>
                                          <p:spTgt spid="12"/>
                                        </p:tgtEl>
                                      </p:cBhvr>
                                    </p:animEffect>
                                  </p:childTnLst>
                                </p:cTn>
                              </p:par>
                              <p:par>
                                <p:cTn id="35" presetID="22" presetClass="entr" presetSubtype="8" fill="hold" grpId="0" nodeType="withEffect">
                                  <p:stCondLst>
                                    <p:cond delay="0"/>
                                  </p:stCondLst>
                                  <p:childTnLst>
                                    <p:set>
                                      <p:cBhvr>
                                        <p:cTn id="36" dur="1" fill="hold">
                                          <p:stCondLst>
                                            <p:cond delay="0"/>
                                          </p:stCondLst>
                                        </p:cTn>
                                        <p:tgtEl>
                                          <p:spTgt spid="13"/>
                                        </p:tgtEl>
                                        <p:attrNameLst>
                                          <p:attrName>style.visibility</p:attrName>
                                        </p:attrNameLst>
                                      </p:cBhvr>
                                      <p:to>
                                        <p:strVal val="visible"/>
                                      </p:to>
                                    </p:set>
                                    <p:animEffect transition="in" filter="wipe(left)">
                                      <p:cBhvr>
                                        <p:cTn id="37"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p:bldP spid="5" grpId="0"/>
      <p:bldP spid="6" grpId="0" animBg="1"/>
      <p:bldP spid="7" grpId="0"/>
      <p:bldP spid="10" grpId="0" animBg="1"/>
      <p:bldP spid="11" grpId="0"/>
      <p:bldP spid="12" grpId="0"/>
      <p:bldP spid="13"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ChangeArrowheads="1"/>
          </p:cNvSpPr>
          <p:nvPr/>
        </p:nvSpPr>
        <p:spPr bwMode="auto">
          <a:xfrm>
            <a:off x="251520" y="923156"/>
            <a:ext cx="8064896" cy="56162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pPr marL="571500" indent="-571500"/>
            <a:endParaRPr lang="zh-CN" altLang="en-US" sz="2400" b="1" dirty="0">
              <a:solidFill>
                <a:srgbClr val="006BA9"/>
              </a:solidFill>
              <a:latin typeface="微软雅黑" pitchFamily="34" charset="-122"/>
              <a:ea typeface="微软雅黑" pitchFamily="34" charset="-122"/>
              <a:sym typeface="宋体" charset="-122"/>
            </a:endParaRPr>
          </a:p>
        </p:txBody>
      </p:sp>
      <p:sp>
        <p:nvSpPr>
          <p:cNvPr id="3" name="椭圆 2"/>
          <p:cNvSpPr/>
          <p:nvPr/>
        </p:nvSpPr>
        <p:spPr bwMode="auto">
          <a:xfrm rot="574600">
            <a:off x="1327821" y="3950469"/>
            <a:ext cx="361950" cy="361950"/>
          </a:xfrm>
          <a:prstGeom prst="ellipse">
            <a:avLst/>
          </a:prstGeom>
          <a:solidFill>
            <a:srgbClr val="3BCCFF"/>
          </a:solidFill>
          <a:ln w="28575" cap="flat" cmpd="sng" algn="ctr">
            <a:noFill/>
            <a:prstDash val="solid"/>
            <a:round/>
            <a:headEnd type="none" w="med" len="med"/>
            <a:tailEnd type="none" w="med" len="med"/>
          </a:ln>
          <a:effectLst>
            <a:outerShdw blurRad="25400" dist="12700" dir="2700000" algn="tl" rotWithShape="0">
              <a:prstClr val="black">
                <a:alpha val="40000"/>
              </a:prstClr>
            </a:outerShdw>
          </a:effectLst>
        </p:spPr>
        <p:txBody>
          <a:bodyPr/>
          <a:lstStyle/>
          <a:p>
            <a:pPr>
              <a:buFont typeface="Arial" pitchFamily="34" charset="0"/>
              <a:buNone/>
            </a:pPr>
            <a:endParaRPr lang="zh-CN" altLang="en-US" dirty="0">
              <a:solidFill>
                <a:prstClr val="white"/>
              </a:solidFill>
              <a:latin typeface="Arial" charset="0"/>
            </a:endParaRPr>
          </a:p>
        </p:txBody>
      </p:sp>
      <p:sp>
        <p:nvSpPr>
          <p:cNvPr id="4" name="TextBox 3"/>
          <p:cNvSpPr txBox="1">
            <a:spLocks noChangeArrowheads="1"/>
          </p:cNvSpPr>
          <p:nvPr/>
        </p:nvSpPr>
        <p:spPr bwMode="auto">
          <a:xfrm>
            <a:off x="1340124" y="3933056"/>
            <a:ext cx="349250" cy="369887"/>
          </a:xfrm>
          <a:prstGeom prst="rect">
            <a:avLst/>
          </a:prstGeom>
          <a:noFill/>
          <a:ln>
            <a:noFill/>
          </a:ln>
        </p:spPr>
        <p:txBody>
          <a:bodyPr wrap="none">
            <a:spAutoFit/>
          </a:bodyP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a:defRPr/>
            </a:pPr>
            <a:r>
              <a:rPr lang="en-US" altLang="zh-CN" b="1" kern="0" dirty="0" smtClean="0">
                <a:solidFill>
                  <a:sysClr val="window" lastClr="FFFFFF"/>
                </a:solidFill>
                <a:latin typeface="Verdana" pitchFamily="34" charset="0"/>
              </a:rPr>
              <a:t>2</a:t>
            </a:r>
            <a:endParaRPr lang="zh-CN" altLang="en-US" b="1" kern="0" dirty="0" smtClean="0">
              <a:solidFill>
                <a:sysClr val="window" lastClr="FFFFFF"/>
              </a:solidFill>
              <a:latin typeface="Verdana" pitchFamily="34" charset="0"/>
            </a:endParaRPr>
          </a:p>
        </p:txBody>
      </p:sp>
      <p:sp>
        <p:nvSpPr>
          <p:cNvPr id="5" name="矩形 4"/>
          <p:cNvSpPr/>
          <p:nvPr/>
        </p:nvSpPr>
        <p:spPr>
          <a:xfrm>
            <a:off x="1719064" y="2415197"/>
            <a:ext cx="1152525" cy="345094"/>
          </a:xfrm>
          <a:prstGeom prst="rect">
            <a:avLst/>
          </a:prstGeom>
        </p:spPr>
        <p:txBody>
          <a:bodyPr>
            <a:spAutoFit/>
          </a:bodyPr>
          <a:lstStyle/>
          <a:p>
            <a:pPr>
              <a:lnSpc>
                <a:spcPct val="130000"/>
              </a:lnSpc>
              <a:spcAft>
                <a:spcPts val="300"/>
              </a:spcAft>
              <a:defRPr/>
            </a:pPr>
            <a:r>
              <a:rPr lang="zh-CN" altLang="en-US" sz="1400" b="1" kern="0" dirty="0" smtClean="0">
                <a:solidFill>
                  <a:srgbClr val="0070C0"/>
                </a:solidFill>
                <a:latin typeface="微软雅黑" pitchFamily="34" charset="-122"/>
                <a:ea typeface="微软雅黑" pitchFamily="34" charset="-122"/>
              </a:rPr>
              <a:t>任务目标：</a:t>
            </a:r>
            <a:endParaRPr lang="en-US" altLang="zh-CN" sz="1200" kern="0" dirty="0">
              <a:solidFill>
                <a:srgbClr val="0070C0"/>
              </a:solidFill>
              <a:latin typeface="微软雅黑" pitchFamily="34" charset="-122"/>
              <a:ea typeface="微软雅黑" pitchFamily="34" charset="-122"/>
            </a:endParaRPr>
          </a:p>
        </p:txBody>
      </p:sp>
      <p:sp>
        <p:nvSpPr>
          <p:cNvPr id="6" name="圆角矩形 5"/>
          <p:cNvSpPr/>
          <p:nvPr/>
        </p:nvSpPr>
        <p:spPr>
          <a:xfrm>
            <a:off x="1411958" y="4691514"/>
            <a:ext cx="5219700" cy="408623"/>
          </a:xfrm>
          <a:prstGeom prst="roundRect">
            <a:avLst/>
          </a:prstGeom>
          <a:solidFill>
            <a:srgbClr val="0070C0"/>
          </a:solidFill>
          <a:ln>
            <a:solidFill>
              <a:srgbClr val="D6ECFF">
                <a:lumMod val="75000"/>
              </a:srgbClr>
            </a:solidFill>
          </a:ln>
          <a:effectLst>
            <a:outerShdw blurRad="50800" dist="38100" dir="2700000" algn="tl" rotWithShape="0">
              <a:prstClr val="black">
                <a:alpha val="40000"/>
              </a:prstClr>
            </a:outerShdw>
          </a:effectLst>
        </p:spPr>
        <p:txBody>
          <a:bodyPr anchor="ctr">
            <a:spAutoFit/>
          </a:bodyPr>
          <a:lstStyle/>
          <a:p>
            <a:pPr algn="ctr">
              <a:defRPr/>
            </a:pPr>
            <a:r>
              <a:rPr lang="zh-CN" altLang="en-US" b="1" kern="0" dirty="0">
                <a:solidFill>
                  <a:sysClr val="window" lastClr="FFFFFF"/>
                </a:solidFill>
                <a:latin typeface="Arial"/>
              </a:rPr>
              <a:t>案例代码（详</a:t>
            </a:r>
            <a:r>
              <a:rPr lang="zh-CN" altLang="en-US" b="1" kern="0">
                <a:solidFill>
                  <a:sysClr val="window" lastClr="FFFFFF"/>
                </a:solidFill>
                <a:latin typeface="Arial"/>
              </a:rPr>
              <a:t>见</a:t>
            </a:r>
            <a:r>
              <a:rPr lang="zh-CN" altLang="en-US" b="1" kern="0" smtClean="0">
                <a:solidFill>
                  <a:sysClr val="window" lastClr="FFFFFF"/>
                </a:solidFill>
                <a:latin typeface="Arial"/>
              </a:rPr>
              <a:t>教材</a:t>
            </a:r>
            <a:r>
              <a:rPr lang="en-US" altLang="zh-CN" b="1" kern="0" smtClean="0">
                <a:solidFill>
                  <a:sysClr val="window" lastClr="FFFFFF"/>
                </a:solidFill>
                <a:latin typeface="Arial"/>
              </a:rPr>
              <a:t>【</a:t>
            </a:r>
            <a:r>
              <a:rPr lang="zh-CN" altLang="en-US" b="1" kern="0" smtClean="0">
                <a:solidFill>
                  <a:sysClr val="window" lastClr="FFFFFF"/>
                </a:solidFill>
                <a:latin typeface="Arial"/>
              </a:rPr>
              <a:t>任务</a:t>
            </a:r>
            <a:r>
              <a:rPr lang="en-US" altLang="zh-CN" b="1" kern="0" smtClean="0">
                <a:solidFill>
                  <a:sysClr val="window" lastClr="FFFFFF"/>
                </a:solidFill>
                <a:latin typeface="Arial"/>
              </a:rPr>
              <a:t>12-2】</a:t>
            </a:r>
            <a:r>
              <a:rPr lang="zh-CN" altLang="en-US" b="1" kern="0" smtClean="0">
                <a:solidFill>
                  <a:sysClr val="window" lastClr="FFFFFF"/>
                </a:solidFill>
                <a:latin typeface="Arial"/>
              </a:rPr>
              <a:t>中的实现步骤）</a:t>
            </a:r>
            <a:endParaRPr lang="en-US" altLang="zh-CN" b="1" kern="0" dirty="0">
              <a:solidFill>
                <a:sysClr val="window" lastClr="FFFFFF"/>
              </a:solidFill>
              <a:latin typeface="Arial"/>
            </a:endParaRPr>
          </a:p>
        </p:txBody>
      </p:sp>
      <p:sp>
        <p:nvSpPr>
          <p:cNvPr id="7" name="矩形 6"/>
          <p:cNvSpPr/>
          <p:nvPr/>
        </p:nvSpPr>
        <p:spPr>
          <a:xfrm>
            <a:off x="1716758" y="3936182"/>
            <a:ext cx="1152525" cy="369887"/>
          </a:xfrm>
          <a:prstGeom prst="rect">
            <a:avLst/>
          </a:prstGeom>
        </p:spPr>
        <p:txBody>
          <a:bodyPr wrap="none">
            <a:spAutoFit/>
          </a:bodyPr>
          <a:lstStyle/>
          <a:p>
            <a:pPr>
              <a:defRPr/>
            </a:pPr>
            <a:r>
              <a:rPr lang="zh-CN" altLang="en-US" sz="1400" b="1" kern="0" dirty="0" smtClean="0">
                <a:solidFill>
                  <a:srgbClr val="0070C0"/>
                </a:solidFill>
                <a:latin typeface="微软雅黑" pitchFamily="34" charset="-122"/>
                <a:ea typeface="微软雅黑" pitchFamily="34" charset="-122"/>
              </a:rPr>
              <a:t>实现步骤：</a:t>
            </a:r>
            <a:r>
              <a:rPr lang="zh-CN" altLang="en-US" b="1" kern="0" dirty="0" smtClean="0">
                <a:solidFill>
                  <a:srgbClr val="0070C0"/>
                </a:solidFill>
                <a:latin typeface="微软雅黑" pitchFamily="34" charset="-122"/>
                <a:ea typeface="微软雅黑" pitchFamily="34" charset="-122"/>
              </a:rPr>
              <a:t> </a:t>
            </a:r>
            <a:endParaRPr lang="zh-CN" altLang="en-US" kern="0" dirty="0">
              <a:solidFill>
                <a:srgbClr val="0070C0"/>
              </a:solidFill>
              <a:latin typeface="Arial" pitchFamily="34" charset="0"/>
            </a:endParaRPr>
          </a:p>
        </p:txBody>
      </p:sp>
      <p:cxnSp>
        <p:nvCxnSpPr>
          <p:cNvPr id="8" name="直接连接符 7"/>
          <p:cNvCxnSpPr/>
          <p:nvPr/>
        </p:nvCxnSpPr>
        <p:spPr>
          <a:xfrm>
            <a:off x="1539677" y="2802547"/>
            <a:ext cx="5094287" cy="0"/>
          </a:xfrm>
          <a:prstGeom prst="line">
            <a:avLst/>
          </a:prstGeom>
          <a:solidFill>
            <a:srgbClr val="3BCCFF"/>
          </a:solidFill>
          <a:ln w="12700" cap="flat" cmpd="sng" algn="ctr">
            <a:solidFill>
              <a:srgbClr val="19C3FF"/>
            </a:solidFill>
            <a:prstDash val="solid"/>
            <a:round/>
            <a:headEnd type="none" w="med" len="med"/>
            <a:tailEnd type="none" w="med" len="med"/>
          </a:ln>
          <a:effectLst>
            <a:outerShdw blurRad="25400" dist="12700" dir="2700000" algn="tl" rotWithShape="0">
              <a:prstClr val="black">
                <a:alpha val="40000"/>
              </a:prstClr>
            </a:outerShdw>
          </a:effectLst>
        </p:spPr>
      </p:cxnSp>
      <p:cxnSp>
        <p:nvCxnSpPr>
          <p:cNvPr id="9" name="直接连接符 8"/>
          <p:cNvCxnSpPr/>
          <p:nvPr/>
        </p:nvCxnSpPr>
        <p:spPr>
          <a:xfrm>
            <a:off x="1474664" y="4306069"/>
            <a:ext cx="5094287" cy="0"/>
          </a:xfrm>
          <a:prstGeom prst="line">
            <a:avLst/>
          </a:prstGeom>
          <a:solidFill>
            <a:srgbClr val="3BCCFF"/>
          </a:solidFill>
          <a:ln w="12700" cap="flat" cmpd="sng" algn="ctr">
            <a:solidFill>
              <a:srgbClr val="19C3FF"/>
            </a:solidFill>
            <a:prstDash val="solid"/>
            <a:round/>
            <a:headEnd type="none" w="med" len="med"/>
            <a:tailEnd type="none" w="med" len="med"/>
          </a:ln>
          <a:effectLst>
            <a:outerShdw blurRad="25400" dist="12700" dir="2700000" algn="tl" rotWithShape="0">
              <a:prstClr val="black">
                <a:alpha val="40000"/>
              </a:prstClr>
            </a:outerShdw>
          </a:effectLst>
        </p:spPr>
      </p:cxnSp>
      <p:sp>
        <p:nvSpPr>
          <p:cNvPr id="10" name="椭圆 9"/>
          <p:cNvSpPr/>
          <p:nvPr/>
        </p:nvSpPr>
        <p:spPr bwMode="auto">
          <a:xfrm rot="574600">
            <a:off x="1305584" y="2461823"/>
            <a:ext cx="361950" cy="363537"/>
          </a:xfrm>
          <a:prstGeom prst="ellipse">
            <a:avLst/>
          </a:prstGeom>
          <a:solidFill>
            <a:srgbClr val="3BCCFF"/>
          </a:solidFill>
          <a:ln w="28575" cap="flat" cmpd="sng" algn="ctr">
            <a:noFill/>
            <a:prstDash val="solid"/>
            <a:round/>
            <a:headEnd type="none" w="med" len="med"/>
            <a:tailEnd type="none" w="med" len="med"/>
          </a:ln>
          <a:effectLst>
            <a:outerShdw blurRad="25400" dist="12700" dir="2700000" algn="tl" rotWithShape="0">
              <a:prstClr val="black">
                <a:alpha val="40000"/>
              </a:prstClr>
            </a:outerShdw>
          </a:effectLst>
        </p:spPr>
        <p:txBody>
          <a:bodyPr/>
          <a:lstStyle/>
          <a:p>
            <a:pPr>
              <a:buFont typeface="Arial" pitchFamily="34" charset="0"/>
              <a:buNone/>
              <a:defRPr/>
            </a:pPr>
            <a:endParaRPr lang="zh-CN" altLang="en-US" dirty="0">
              <a:solidFill>
                <a:prstClr val="white"/>
              </a:solidFill>
              <a:latin typeface="Arial" charset="0"/>
            </a:endParaRPr>
          </a:p>
        </p:txBody>
      </p:sp>
      <p:sp>
        <p:nvSpPr>
          <p:cNvPr id="11" name="TextBox 10"/>
          <p:cNvSpPr txBox="1">
            <a:spLocks noChangeArrowheads="1"/>
          </p:cNvSpPr>
          <p:nvPr/>
        </p:nvSpPr>
        <p:spPr bwMode="auto">
          <a:xfrm>
            <a:off x="1312728" y="2452503"/>
            <a:ext cx="347662"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itchFamily="34" charset="0"/>
                <a:ea typeface="宋体" pitchFamily="2" charset="-122"/>
              </a:defRPr>
            </a:lvl1pPr>
            <a:lvl2pPr marL="742950" indent="-285750">
              <a:defRPr>
                <a:solidFill>
                  <a:schemeClr val="tx1"/>
                </a:solidFill>
                <a:latin typeface="Arial" pitchFamily="34" charset="0"/>
                <a:ea typeface="宋体" pitchFamily="2" charset="-122"/>
              </a:defRPr>
            </a:lvl2pPr>
            <a:lvl3pPr marL="1143000" indent="-228600">
              <a:defRPr>
                <a:solidFill>
                  <a:schemeClr val="tx1"/>
                </a:solidFill>
                <a:latin typeface="Arial" pitchFamily="34" charset="0"/>
                <a:ea typeface="宋体" pitchFamily="2" charset="-122"/>
              </a:defRPr>
            </a:lvl3pPr>
            <a:lvl4pPr marL="1600200" indent="-228600">
              <a:defRPr>
                <a:solidFill>
                  <a:schemeClr val="tx1"/>
                </a:solidFill>
                <a:latin typeface="Arial" pitchFamily="34" charset="0"/>
                <a:ea typeface="宋体" pitchFamily="2" charset="-122"/>
              </a:defRPr>
            </a:lvl4pPr>
            <a:lvl5pPr marL="2057400" indent="-22860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r>
              <a:rPr lang="en-US" altLang="zh-CN" b="1">
                <a:solidFill>
                  <a:prstClr val="white"/>
                </a:solidFill>
                <a:latin typeface="Verdana" pitchFamily="34" charset="0"/>
              </a:rPr>
              <a:t>1</a:t>
            </a:r>
            <a:endParaRPr lang="zh-CN" altLang="en-US" b="1">
              <a:solidFill>
                <a:prstClr val="white"/>
              </a:solidFill>
              <a:latin typeface="Verdana" pitchFamily="34" charset="0"/>
            </a:endParaRPr>
          </a:p>
        </p:txBody>
      </p:sp>
      <p:sp>
        <p:nvSpPr>
          <p:cNvPr id="12" name="矩形 11"/>
          <p:cNvSpPr/>
          <p:nvPr/>
        </p:nvSpPr>
        <p:spPr>
          <a:xfrm>
            <a:off x="2988345" y="3403622"/>
            <a:ext cx="3671887" cy="889474"/>
          </a:xfrm>
          <a:prstGeom prst="rect">
            <a:avLst/>
          </a:prstGeom>
        </p:spPr>
        <p:txBody>
          <a:bodyPr>
            <a:spAutoFit/>
          </a:bodyPr>
          <a:lstStyle/>
          <a:p>
            <a:pPr marL="228600" indent="-228600">
              <a:lnSpc>
                <a:spcPct val="130000"/>
              </a:lnSpc>
              <a:spcAft>
                <a:spcPts val="300"/>
              </a:spcAft>
              <a:buFont typeface="+mj-ea"/>
              <a:buAutoNum type="circleNumDbPlain"/>
            </a:pPr>
            <a:r>
              <a:rPr lang="zh-CN" altLang="en-US" sz="1200">
                <a:solidFill>
                  <a:prstClr val="black">
                    <a:lumMod val="65000"/>
                    <a:lumOff val="35000"/>
                  </a:prstClr>
                </a:solidFill>
                <a:latin typeface="微软雅黑" pitchFamily="34" charset="-122"/>
                <a:ea typeface="微软雅黑" pitchFamily="34" charset="-122"/>
              </a:rPr>
              <a:t>修改</a:t>
            </a:r>
            <a:r>
              <a:rPr lang="en-US" altLang="zh-CN" sz="1200" smtClean="0">
                <a:solidFill>
                  <a:prstClr val="black">
                    <a:lumMod val="65000"/>
                    <a:lumOff val="35000"/>
                  </a:prstClr>
                </a:solidFill>
                <a:latin typeface="微软雅黑" pitchFamily="34" charset="-122"/>
                <a:ea typeface="微软雅黑" pitchFamily="34" charset="-122"/>
              </a:rPr>
              <a:t>Servlet</a:t>
            </a:r>
            <a:r>
              <a:rPr lang="zh-CN" altLang="en-US" sz="1200" smtClean="0">
                <a:solidFill>
                  <a:prstClr val="black">
                    <a:lumMod val="65000"/>
                    <a:lumOff val="35000"/>
                  </a:prstClr>
                </a:solidFill>
                <a:latin typeface="微软雅黑" pitchFamily="34" charset="-122"/>
                <a:ea typeface="微软雅黑" pitchFamily="34" charset="-122"/>
              </a:rPr>
              <a:t>类</a:t>
            </a:r>
            <a:endParaRPr lang="en-US" altLang="zh-CN" sz="1200" smtClean="0">
              <a:solidFill>
                <a:prstClr val="black">
                  <a:lumMod val="65000"/>
                  <a:lumOff val="35000"/>
                </a:prstClr>
              </a:solidFill>
              <a:latin typeface="微软雅黑" pitchFamily="34" charset="-122"/>
              <a:ea typeface="微软雅黑" pitchFamily="34" charset="-122"/>
            </a:endParaRPr>
          </a:p>
          <a:p>
            <a:pPr marL="228600" indent="-228600">
              <a:lnSpc>
                <a:spcPct val="130000"/>
              </a:lnSpc>
              <a:spcAft>
                <a:spcPts val="300"/>
              </a:spcAft>
              <a:buFont typeface="+mj-ea"/>
              <a:buAutoNum type="circleNumDbPlain"/>
            </a:pPr>
            <a:r>
              <a:rPr lang="zh-CN" altLang="en-US" sz="1200" smtClean="0">
                <a:solidFill>
                  <a:prstClr val="black">
                    <a:lumMod val="65000"/>
                    <a:lumOff val="35000"/>
                  </a:prstClr>
                </a:solidFill>
                <a:latin typeface="微软雅黑" pitchFamily="34" charset="-122"/>
                <a:ea typeface="微软雅黑" pitchFamily="34" charset="-122"/>
              </a:rPr>
              <a:t>修改下载页面</a:t>
            </a:r>
            <a:endParaRPr lang="en-US" altLang="zh-CN" sz="1200" smtClean="0">
              <a:solidFill>
                <a:prstClr val="black">
                  <a:lumMod val="65000"/>
                  <a:lumOff val="35000"/>
                </a:prstClr>
              </a:solidFill>
              <a:latin typeface="微软雅黑" pitchFamily="34" charset="-122"/>
              <a:ea typeface="微软雅黑" pitchFamily="34" charset="-122"/>
            </a:endParaRPr>
          </a:p>
          <a:p>
            <a:pPr marL="228600" indent="-228600">
              <a:lnSpc>
                <a:spcPct val="130000"/>
              </a:lnSpc>
              <a:spcAft>
                <a:spcPts val="300"/>
              </a:spcAft>
              <a:buFont typeface="+mj-ea"/>
              <a:buAutoNum type="circleNumDbPlain"/>
            </a:pPr>
            <a:r>
              <a:rPr lang="zh-CN" altLang="en-US" sz="1200">
                <a:solidFill>
                  <a:prstClr val="black">
                    <a:lumMod val="65000"/>
                    <a:lumOff val="35000"/>
                  </a:prstClr>
                </a:solidFill>
                <a:latin typeface="微软雅黑" pitchFamily="34" charset="-122"/>
                <a:ea typeface="微软雅黑" pitchFamily="34" charset="-122"/>
              </a:rPr>
              <a:t>运行</a:t>
            </a:r>
            <a:r>
              <a:rPr lang="zh-CN" altLang="en-US" sz="1200" smtClean="0">
                <a:solidFill>
                  <a:prstClr val="black">
                    <a:lumMod val="65000"/>
                    <a:lumOff val="35000"/>
                  </a:prstClr>
                </a:solidFill>
                <a:latin typeface="微软雅黑" pitchFamily="34" charset="-122"/>
                <a:ea typeface="微软雅黑" pitchFamily="34" charset="-122"/>
              </a:rPr>
              <a:t>项目，查看结果</a:t>
            </a:r>
            <a:endParaRPr lang="en-US" altLang="zh-CN" sz="1200" smtClean="0">
              <a:solidFill>
                <a:prstClr val="black">
                  <a:lumMod val="65000"/>
                  <a:lumOff val="35000"/>
                </a:prstClr>
              </a:solidFill>
              <a:latin typeface="微软雅黑" pitchFamily="34" charset="-122"/>
              <a:ea typeface="微软雅黑" pitchFamily="34" charset="-122"/>
            </a:endParaRPr>
          </a:p>
        </p:txBody>
      </p:sp>
      <p:sp>
        <p:nvSpPr>
          <p:cNvPr id="13" name="矩形 12"/>
          <p:cNvSpPr/>
          <p:nvPr/>
        </p:nvSpPr>
        <p:spPr>
          <a:xfrm>
            <a:off x="2699792" y="2470759"/>
            <a:ext cx="4339650" cy="332399"/>
          </a:xfrm>
          <a:prstGeom prst="rect">
            <a:avLst/>
          </a:prstGeom>
        </p:spPr>
        <p:txBody>
          <a:bodyPr wrap="none">
            <a:spAutoFit/>
          </a:bodyPr>
          <a:lstStyle/>
          <a:p>
            <a:pPr>
              <a:lnSpc>
                <a:spcPct val="130000"/>
              </a:lnSpc>
              <a:spcAft>
                <a:spcPts val="300"/>
              </a:spcAft>
              <a:defRPr/>
            </a:pPr>
            <a:r>
              <a:rPr lang="zh-CN" altLang="zh-CN" sz="1200" smtClean="0">
                <a:solidFill>
                  <a:prstClr val="black">
                    <a:lumMod val="65000"/>
                    <a:lumOff val="35000"/>
                  </a:prstClr>
                </a:solidFill>
                <a:latin typeface="微软雅黑" pitchFamily="34" charset="-122"/>
                <a:ea typeface="微软雅黑" pitchFamily="34" charset="-122"/>
              </a:rPr>
              <a:t>通过</a:t>
            </a:r>
            <a:r>
              <a:rPr lang="zh-CN" altLang="en-US" sz="1200" smtClean="0">
                <a:solidFill>
                  <a:prstClr val="black">
                    <a:lumMod val="65000"/>
                    <a:lumOff val="35000"/>
                  </a:prstClr>
                </a:solidFill>
                <a:latin typeface="微软雅黑" pitchFamily="34" charset="-122"/>
                <a:ea typeface="微软雅黑" pitchFamily="34" charset="-122"/>
              </a:rPr>
              <a:t>本任务</a:t>
            </a:r>
            <a:r>
              <a:rPr lang="zh-CN" altLang="zh-CN" sz="1200" smtClean="0">
                <a:solidFill>
                  <a:prstClr val="black">
                    <a:lumMod val="65000"/>
                    <a:lumOff val="35000"/>
                  </a:prstClr>
                </a:solidFill>
                <a:latin typeface="微软雅黑" pitchFamily="34" charset="-122"/>
                <a:ea typeface="微软雅黑" pitchFamily="34" charset="-122"/>
              </a:rPr>
              <a:t>的</a:t>
            </a:r>
            <a:r>
              <a:rPr lang="zh-CN" altLang="zh-CN" sz="1200">
                <a:solidFill>
                  <a:prstClr val="black">
                    <a:lumMod val="65000"/>
                    <a:lumOff val="35000"/>
                  </a:prstClr>
                </a:solidFill>
                <a:latin typeface="微软雅黑" pitchFamily="34" charset="-122"/>
                <a:ea typeface="微软雅黑" pitchFamily="34" charset="-122"/>
              </a:rPr>
              <a:t>学习</a:t>
            </a:r>
            <a:r>
              <a:rPr lang="zh-CN" altLang="zh-CN" sz="1200" smtClean="0">
                <a:solidFill>
                  <a:prstClr val="black">
                    <a:lumMod val="65000"/>
                    <a:lumOff val="35000"/>
                  </a:prstClr>
                </a:solidFill>
                <a:latin typeface="微软雅黑" pitchFamily="34" charset="-122"/>
                <a:ea typeface="微软雅黑" pitchFamily="34" charset="-122"/>
              </a:rPr>
              <a:t>，</a:t>
            </a:r>
            <a:r>
              <a:rPr lang="zh-CN" altLang="en-US" sz="1200" smtClean="0">
                <a:solidFill>
                  <a:prstClr val="black">
                    <a:lumMod val="65000"/>
                    <a:lumOff val="35000"/>
                  </a:prstClr>
                </a:solidFill>
                <a:latin typeface="微软雅黑" pitchFamily="34" charset="-122"/>
                <a:ea typeface="微软雅黑" pitchFamily="34" charset="-122"/>
              </a:rPr>
              <a:t>学会如何解决下载中文文件时的乱码问题</a:t>
            </a:r>
            <a:endParaRPr lang="en-US" altLang="zh-CN" sz="1200" dirty="0">
              <a:solidFill>
                <a:prstClr val="black">
                  <a:lumMod val="65000"/>
                  <a:lumOff val="35000"/>
                </a:prstClr>
              </a:solidFill>
              <a:latin typeface="微软雅黑" pitchFamily="34" charset="-122"/>
              <a:ea typeface="微软雅黑" pitchFamily="34" charset="-122"/>
            </a:endParaRPr>
          </a:p>
        </p:txBody>
      </p:sp>
      <p:sp>
        <p:nvSpPr>
          <p:cNvPr id="14" name="标题 1"/>
          <p:cNvSpPr>
            <a:spLocks noChangeArrowheads="1"/>
          </p:cNvSpPr>
          <p:nvPr/>
        </p:nvSpPr>
        <p:spPr bwMode="auto">
          <a:xfrm>
            <a:off x="1643733" y="389681"/>
            <a:ext cx="7392763" cy="56162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pPr marL="571500" indent="-571500"/>
            <a:r>
              <a:rPr lang="en-US" altLang="zh-CN" sz="2800" b="1" dirty="0">
                <a:solidFill>
                  <a:srgbClr val="006BA9"/>
                </a:solidFill>
                <a:latin typeface="微软雅黑" pitchFamily="34" charset="-122"/>
                <a:ea typeface="微软雅黑" pitchFamily="34" charset="-122"/>
                <a:sym typeface="宋体" charset="-122"/>
              </a:rPr>
              <a:t>【</a:t>
            </a:r>
            <a:r>
              <a:rPr lang="zh-CN" altLang="en-US" sz="2800" b="1" dirty="0">
                <a:solidFill>
                  <a:srgbClr val="006BA9"/>
                </a:solidFill>
                <a:latin typeface="微软雅黑" pitchFamily="34" charset="-122"/>
                <a:ea typeface="微软雅黑" pitchFamily="34" charset="-122"/>
                <a:sym typeface="宋体" charset="-122"/>
              </a:rPr>
              <a:t>任务</a:t>
            </a:r>
            <a:r>
              <a:rPr lang="en-US" altLang="zh-CN" sz="2800" b="1" dirty="0">
                <a:solidFill>
                  <a:srgbClr val="006BA9"/>
                </a:solidFill>
                <a:latin typeface="微软雅黑" pitchFamily="34" charset="-122"/>
                <a:ea typeface="微软雅黑" pitchFamily="34" charset="-122"/>
                <a:sym typeface="宋体" charset="-122"/>
              </a:rPr>
              <a:t>12-3</a:t>
            </a:r>
            <a:r>
              <a:rPr lang="en-US" altLang="zh-CN" sz="2800" b="1" dirty="0" smtClean="0">
                <a:solidFill>
                  <a:srgbClr val="006BA9"/>
                </a:solidFill>
                <a:latin typeface="微软雅黑" pitchFamily="34" charset="-122"/>
                <a:ea typeface="微软雅黑" pitchFamily="34" charset="-122"/>
                <a:sym typeface="宋体" charset="-122"/>
              </a:rPr>
              <a:t>】</a:t>
            </a:r>
            <a:r>
              <a:rPr lang="zh-CN" altLang="en-US" sz="2800" b="1" dirty="0" smtClean="0">
                <a:solidFill>
                  <a:srgbClr val="006BA9"/>
                </a:solidFill>
                <a:latin typeface="微软雅黑" pitchFamily="34" charset="-122"/>
                <a:ea typeface="微软雅黑" pitchFamily="34" charset="-122"/>
                <a:sym typeface="宋体" charset="-122"/>
              </a:rPr>
              <a:t>解决</a:t>
            </a:r>
            <a:r>
              <a:rPr lang="zh-CN" altLang="en-US" sz="2800" b="1" dirty="0">
                <a:solidFill>
                  <a:srgbClr val="006BA9"/>
                </a:solidFill>
                <a:latin typeface="微软雅黑" pitchFamily="34" charset="-122"/>
                <a:ea typeface="微软雅黑" pitchFamily="34" charset="-122"/>
                <a:sym typeface="宋体" charset="-122"/>
              </a:rPr>
              <a:t>下载中文文件乱码问题</a:t>
            </a:r>
          </a:p>
        </p:txBody>
      </p:sp>
    </p:spTree>
    <p:custDataLst>
      <p:tags r:id="rId1"/>
    </p:custDataLst>
    <p:extLst>
      <p:ext uri="{BB962C8B-B14F-4D97-AF65-F5344CB8AC3E}">
        <p14:creationId xmlns:p14="http://schemas.microsoft.com/office/powerpoint/2010/main" val="2890108739"/>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left)">
                                      <p:cBhvr>
                                        <p:cTn id="7" dur="500"/>
                                        <p:tgtEl>
                                          <p:spTgt spid="3"/>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wipe(left)">
                                      <p:cBhvr>
                                        <p:cTn id="10" dur="500"/>
                                        <p:tgtEl>
                                          <p:spTgt spid="4"/>
                                        </p:tgtEl>
                                      </p:cBhvr>
                                    </p:animEffect>
                                  </p:childTnLst>
                                </p:cTn>
                              </p:par>
                              <p:par>
                                <p:cTn id="11" presetID="22" presetClass="entr" presetSubtype="8" fill="hold" grpId="0" nodeType="withEffect">
                                  <p:stCondLst>
                                    <p:cond delay="0"/>
                                  </p:stCondLst>
                                  <p:childTnLst>
                                    <p:set>
                                      <p:cBhvr>
                                        <p:cTn id="12" dur="1" fill="hold">
                                          <p:stCondLst>
                                            <p:cond delay="0"/>
                                          </p:stCondLst>
                                        </p:cTn>
                                        <p:tgtEl>
                                          <p:spTgt spid="5"/>
                                        </p:tgtEl>
                                        <p:attrNameLst>
                                          <p:attrName>style.visibility</p:attrName>
                                        </p:attrNameLst>
                                      </p:cBhvr>
                                      <p:to>
                                        <p:strVal val="visible"/>
                                      </p:to>
                                    </p:set>
                                    <p:animEffect transition="in" filter="wipe(left)">
                                      <p:cBhvr>
                                        <p:cTn id="13" dur="500"/>
                                        <p:tgtEl>
                                          <p:spTgt spid="5"/>
                                        </p:tgtEl>
                                      </p:cBhvr>
                                    </p:animEffect>
                                  </p:childTnLst>
                                </p:cTn>
                              </p:par>
                              <p:par>
                                <p:cTn id="14" presetID="22" presetClass="entr" presetSubtype="8" fill="hold" grpId="0" nodeType="withEffect">
                                  <p:stCondLst>
                                    <p:cond delay="0"/>
                                  </p:stCondLst>
                                  <p:childTnLst>
                                    <p:set>
                                      <p:cBhvr>
                                        <p:cTn id="15" dur="1" fill="hold">
                                          <p:stCondLst>
                                            <p:cond delay="0"/>
                                          </p:stCondLst>
                                        </p:cTn>
                                        <p:tgtEl>
                                          <p:spTgt spid="6"/>
                                        </p:tgtEl>
                                        <p:attrNameLst>
                                          <p:attrName>style.visibility</p:attrName>
                                        </p:attrNameLst>
                                      </p:cBhvr>
                                      <p:to>
                                        <p:strVal val="visible"/>
                                      </p:to>
                                    </p:set>
                                    <p:animEffect transition="in" filter="wipe(left)">
                                      <p:cBhvr>
                                        <p:cTn id="16" dur="500"/>
                                        <p:tgtEl>
                                          <p:spTgt spid="6"/>
                                        </p:tgtEl>
                                      </p:cBhvr>
                                    </p:animEffect>
                                  </p:childTnLst>
                                </p:cTn>
                              </p:par>
                              <p:par>
                                <p:cTn id="17" presetID="22" presetClass="entr" presetSubtype="8" fill="hold" grpId="0" nodeType="withEffect">
                                  <p:stCondLst>
                                    <p:cond delay="0"/>
                                  </p:stCondLst>
                                  <p:childTnLst>
                                    <p:set>
                                      <p:cBhvr>
                                        <p:cTn id="18" dur="1" fill="hold">
                                          <p:stCondLst>
                                            <p:cond delay="0"/>
                                          </p:stCondLst>
                                        </p:cTn>
                                        <p:tgtEl>
                                          <p:spTgt spid="7"/>
                                        </p:tgtEl>
                                        <p:attrNameLst>
                                          <p:attrName>style.visibility</p:attrName>
                                        </p:attrNameLst>
                                      </p:cBhvr>
                                      <p:to>
                                        <p:strVal val="visible"/>
                                      </p:to>
                                    </p:set>
                                    <p:animEffect transition="in" filter="wipe(left)">
                                      <p:cBhvr>
                                        <p:cTn id="19" dur="500"/>
                                        <p:tgtEl>
                                          <p:spTgt spid="7"/>
                                        </p:tgtEl>
                                      </p:cBhvr>
                                    </p:animEffect>
                                  </p:childTnLst>
                                </p:cTn>
                              </p:par>
                              <p:par>
                                <p:cTn id="20" presetID="22" presetClass="entr" presetSubtype="8" fill="hold" nodeType="withEffect">
                                  <p:stCondLst>
                                    <p:cond delay="0"/>
                                  </p:stCondLst>
                                  <p:childTnLst>
                                    <p:set>
                                      <p:cBhvr>
                                        <p:cTn id="21" dur="1" fill="hold">
                                          <p:stCondLst>
                                            <p:cond delay="0"/>
                                          </p:stCondLst>
                                        </p:cTn>
                                        <p:tgtEl>
                                          <p:spTgt spid="8"/>
                                        </p:tgtEl>
                                        <p:attrNameLst>
                                          <p:attrName>style.visibility</p:attrName>
                                        </p:attrNameLst>
                                      </p:cBhvr>
                                      <p:to>
                                        <p:strVal val="visible"/>
                                      </p:to>
                                    </p:set>
                                    <p:animEffect transition="in" filter="wipe(left)">
                                      <p:cBhvr>
                                        <p:cTn id="22" dur="500"/>
                                        <p:tgtEl>
                                          <p:spTgt spid="8"/>
                                        </p:tgtEl>
                                      </p:cBhvr>
                                    </p:animEffect>
                                  </p:childTnLst>
                                </p:cTn>
                              </p:par>
                              <p:par>
                                <p:cTn id="23" presetID="22" presetClass="entr" presetSubtype="8" fill="hold" nodeType="withEffect">
                                  <p:stCondLst>
                                    <p:cond delay="0"/>
                                  </p:stCondLst>
                                  <p:childTnLst>
                                    <p:set>
                                      <p:cBhvr>
                                        <p:cTn id="24" dur="1" fill="hold">
                                          <p:stCondLst>
                                            <p:cond delay="0"/>
                                          </p:stCondLst>
                                        </p:cTn>
                                        <p:tgtEl>
                                          <p:spTgt spid="9"/>
                                        </p:tgtEl>
                                        <p:attrNameLst>
                                          <p:attrName>style.visibility</p:attrName>
                                        </p:attrNameLst>
                                      </p:cBhvr>
                                      <p:to>
                                        <p:strVal val="visible"/>
                                      </p:to>
                                    </p:set>
                                    <p:animEffect transition="in" filter="wipe(left)">
                                      <p:cBhvr>
                                        <p:cTn id="25" dur="500"/>
                                        <p:tgtEl>
                                          <p:spTgt spid="9"/>
                                        </p:tgtEl>
                                      </p:cBhvr>
                                    </p:animEffect>
                                  </p:childTnLst>
                                </p:cTn>
                              </p:par>
                              <p:par>
                                <p:cTn id="26" presetID="22" presetClass="entr" presetSubtype="8" fill="hold" grpId="0" nodeType="withEffect">
                                  <p:stCondLst>
                                    <p:cond delay="0"/>
                                  </p:stCondLst>
                                  <p:childTnLst>
                                    <p:set>
                                      <p:cBhvr>
                                        <p:cTn id="27" dur="1" fill="hold">
                                          <p:stCondLst>
                                            <p:cond delay="0"/>
                                          </p:stCondLst>
                                        </p:cTn>
                                        <p:tgtEl>
                                          <p:spTgt spid="10"/>
                                        </p:tgtEl>
                                        <p:attrNameLst>
                                          <p:attrName>style.visibility</p:attrName>
                                        </p:attrNameLst>
                                      </p:cBhvr>
                                      <p:to>
                                        <p:strVal val="visible"/>
                                      </p:to>
                                    </p:set>
                                    <p:animEffect transition="in" filter="wipe(left)">
                                      <p:cBhvr>
                                        <p:cTn id="28" dur="500"/>
                                        <p:tgtEl>
                                          <p:spTgt spid="10"/>
                                        </p:tgtEl>
                                      </p:cBhvr>
                                    </p:animEffect>
                                  </p:childTnLst>
                                </p:cTn>
                              </p:par>
                              <p:par>
                                <p:cTn id="29" presetID="22" presetClass="entr" presetSubtype="8" fill="hold" grpId="0" nodeType="withEffect">
                                  <p:stCondLst>
                                    <p:cond delay="0"/>
                                  </p:stCondLst>
                                  <p:childTnLst>
                                    <p:set>
                                      <p:cBhvr>
                                        <p:cTn id="30" dur="1" fill="hold">
                                          <p:stCondLst>
                                            <p:cond delay="0"/>
                                          </p:stCondLst>
                                        </p:cTn>
                                        <p:tgtEl>
                                          <p:spTgt spid="11"/>
                                        </p:tgtEl>
                                        <p:attrNameLst>
                                          <p:attrName>style.visibility</p:attrName>
                                        </p:attrNameLst>
                                      </p:cBhvr>
                                      <p:to>
                                        <p:strVal val="visible"/>
                                      </p:to>
                                    </p:set>
                                    <p:animEffect transition="in" filter="wipe(left)">
                                      <p:cBhvr>
                                        <p:cTn id="31" dur="500"/>
                                        <p:tgtEl>
                                          <p:spTgt spid="11"/>
                                        </p:tgtEl>
                                      </p:cBhvr>
                                    </p:animEffect>
                                  </p:childTnLst>
                                </p:cTn>
                              </p:par>
                              <p:par>
                                <p:cTn id="32" presetID="22" presetClass="entr" presetSubtype="8" fill="hold" grpId="0" nodeType="withEffect">
                                  <p:stCondLst>
                                    <p:cond delay="0"/>
                                  </p:stCondLst>
                                  <p:childTnLst>
                                    <p:set>
                                      <p:cBhvr>
                                        <p:cTn id="33" dur="1" fill="hold">
                                          <p:stCondLst>
                                            <p:cond delay="0"/>
                                          </p:stCondLst>
                                        </p:cTn>
                                        <p:tgtEl>
                                          <p:spTgt spid="12"/>
                                        </p:tgtEl>
                                        <p:attrNameLst>
                                          <p:attrName>style.visibility</p:attrName>
                                        </p:attrNameLst>
                                      </p:cBhvr>
                                      <p:to>
                                        <p:strVal val="visible"/>
                                      </p:to>
                                    </p:set>
                                    <p:animEffect transition="in" filter="wipe(left)">
                                      <p:cBhvr>
                                        <p:cTn id="34" dur="500"/>
                                        <p:tgtEl>
                                          <p:spTgt spid="12"/>
                                        </p:tgtEl>
                                      </p:cBhvr>
                                    </p:animEffect>
                                  </p:childTnLst>
                                </p:cTn>
                              </p:par>
                              <p:par>
                                <p:cTn id="35" presetID="22" presetClass="entr" presetSubtype="8" fill="hold" grpId="0" nodeType="withEffect">
                                  <p:stCondLst>
                                    <p:cond delay="0"/>
                                  </p:stCondLst>
                                  <p:childTnLst>
                                    <p:set>
                                      <p:cBhvr>
                                        <p:cTn id="36" dur="1" fill="hold">
                                          <p:stCondLst>
                                            <p:cond delay="0"/>
                                          </p:stCondLst>
                                        </p:cTn>
                                        <p:tgtEl>
                                          <p:spTgt spid="13"/>
                                        </p:tgtEl>
                                        <p:attrNameLst>
                                          <p:attrName>style.visibility</p:attrName>
                                        </p:attrNameLst>
                                      </p:cBhvr>
                                      <p:to>
                                        <p:strVal val="visible"/>
                                      </p:to>
                                    </p:set>
                                    <p:animEffect transition="in" filter="wipe(left)">
                                      <p:cBhvr>
                                        <p:cTn id="37"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p:bldP spid="5" grpId="0"/>
      <p:bldP spid="6" grpId="0" animBg="1"/>
      <p:bldP spid="7" grpId="0"/>
      <p:bldP spid="10" grpId="0" animBg="1"/>
      <p:bldP spid="11" grpId="0"/>
      <p:bldP spid="12" grpId="0"/>
      <p:bldP spid="13"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290513" y="2676525"/>
            <a:ext cx="2447925" cy="3457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3" name="组合 2"/>
          <p:cNvGrpSpPr>
            <a:grpSpLocks/>
          </p:cNvGrpSpPr>
          <p:nvPr/>
        </p:nvGrpSpPr>
        <p:grpSpPr bwMode="auto">
          <a:xfrm>
            <a:off x="2768600" y="1142550"/>
            <a:ext cx="5619824" cy="4991550"/>
            <a:chOff x="2488655" y="2668586"/>
            <a:chExt cx="5115855" cy="4007327"/>
          </a:xfrm>
        </p:grpSpPr>
        <p:sp>
          <p:nvSpPr>
            <p:cNvPr id="4" name="圆角矩形 1"/>
            <p:cNvSpPr>
              <a:spLocks noChangeArrowheads="1"/>
            </p:cNvSpPr>
            <p:nvPr/>
          </p:nvSpPr>
          <p:spPr bwMode="auto">
            <a:xfrm>
              <a:off x="2488655" y="2668586"/>
              <a:ext cx="5115855" cy="4007327"/>
            </a:xfrm>
            <a:prstGeom prst="roundRect">
              <a:avLst>
                <a:gd name="adj" fmla="val 16667"/>
              </a:avLst>
            </a:prstGeom>
            <a:noFill/>
            <a:ln w="31750">
              <a:solidFill>
                <a:srgbClr val="006BA9"/>
              </a:solidFill>
              <a:prstDash val="dash"/>
              <a:round/>
              <a:headEnd/>
              <a:tailEnd/>
            </a:ln>
            <a:extLst>
              <a:ext uri="{909E8E84-426E-40DD-AFC4-6F175D3DCCD1}">
                <a14:hiddenFill xmlns:a14="http://schemas.microsoft.com/office/drawing/2010/main">
                  <a:solidFill>
                    <a:srgbClr val="FFFFFF"/>
                  </a:solidFill>
                </a14:hiddenFill>
              </a:ext>
            </a:extLst>
          </p:spPr>
          <p:txBody>
            <a:bodyPr wrap="square" anchor="ctr">
              <a:spAutoFit/>
            </a:bodyPr>
            <a:lstStyle/>
            <a:p>
              <a:pPr algn="ctr"/>
              <a:endParaRPr lang="zh-CN" altLang="en-US"/>
            </a:p>
          </p:txBody>
        </p:sp>
        <p:sp>
          <p:nvSpPr>
            <p:cNvPr id="5" name="矩形 2"/>
            <p:cNvSpPr>
              <a:spLocks noChangeArrowheads="1"/>
            </p:cNvSpPr>
            <p:nvPr/>
          </p:nvSpPr>
          <p:spPr bwMode="auto">
            <a:xfrm>
              <a:off x="2688220" y="2784123"/>
              <a:ext cx="4916290" cy="37434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indent="457200">
                <a:lnSpc>
                  <a:spcPct val="150000"/>
                </a:lnSpc>
              </a:pPr>
              <a:r>
                <a:rPr lang="zh-CN" altLang="en-US" dirty="0" smtClean="0">
                  <a:latin typeface="微软雅黑" panose="020B0503020204020204" pitchFamily="34" charset="-122"/>
                  <a:ea typeface="微软雅黑" panose="020B0503020204020204" pitchFamily="34" charset="-122"/>
                  <a:cs typeface="Times New Roman" panose="02020603050405020304" pitchFamily="18" charset="0"/>
                </a:rPr>
                <a:t>本章</a:t>
              </a:r>
              <a:r>
                <a:rPr lang="zh-CN" altLang="en-US" dirty="0">
                  <a:latin typeface="微软雅黑" panose="020B0503020204020204" pitchFamily="34" charset="-122"/>
                  <a:ea typeface="微软雅黑" panose="020B0503020204020204" pitchFamily="34" charset="-122"/>
                  <a:cs typeface="Times New Roman" panose="02020603050405020304" pitchFamily="18" charset="0"/>
                </a:rPr>
                <a:t>主要介绍了</a:t>
              </a:r>
              <a:r>
                <a:rPr lang="zh-CN" altLang="en-US" dirty="0">
                  <a:solidFill>
                    <a:srgbClr val="00B0F0"/>
                  </a:solidFill>
                  <a:latin typeface="微软雅黑" panose="020B0503020204020204" pitchFamily="34" charset="-122"/>
                  <a:ea typeface="微软雅黑" panose="020B0503020204020204" pitchFamily="34" charset="-122"/>
                  <a:cs typeface="Times New Roman" panose="02020603050405020304" pitchFamily="18" charset="0"/>
                </a:rPr>
                <a:t>文件上传</a:t>
              </a:r>
              <a:r>
                <a:rPr lang="zh-CN" altLang="en-US" dirty="0">
                  <a:latin typeface="微软雅黑" panose="020B0503020204020204" pitchFamily="34" charset="-122"/>
                  <a:ea typeface="微软雅黑" panose="020B0503020204020204" pitchFamily="34" charset="-122"/>
                  <a:cs typeface="Times New Roman" panose="02020603050405020304" pitchFamily="18" charset="0"/>
                </a:rPr>
                <a:t>和</a:t>
              </a:r>
              <a:r>
                <a:rPr lang="zh-CN" altLang="en-US" dirty="0">
                  <a:solidFill>
                    <a:srgbClr val="00B0F0"/>
                  </a:solidFill>
                  <a:latin typeface="微软雅黑" panose="020B0503020204020204" pitchFamily="34" charset="-122"/>
                  <a:ea typeface="微软雅黑" panose="020B0503020204020204" pitchFamily="34" charset="-122"/>
                  <a:cs typeface="Times New Roman" panose="02020603050405020304" pitchFamily="18" charset="0"/>
                </a:rPr>
                <a:t>下载</a:t>
              </a:r>
              <a:r>
                <a:rPr lang="zh-CN" altLang="en-US" dirty="0">
                  <a:latin typeface="微软雅黑" panose="020B0503020204020204" pitchFamily="34" charset="-122"/>
                  <a:ea typeface="微软雅黑" panose="020B0503020204020204" pitchFamily="34" charset="-122"/>
                  <a:cs typeface="Times New Roman" panose="02020603050405020304" pitchFamily="18" charset="0"/>
                </a:rPr>
                <a:t>功能的实现。在实现文件上传时，使用了</a:t>
              </a:r>
              <a:r>
                <a:rPr lang="en-US" altLang="zh-CN" dirty="0">
                  <a:latin typeface="微软雅黑" panose="020B0503020204020204" pitchFamily="34" charset="-122"/>
                  <a:ea typeface="微软雅黑" panose="020B0503020204020204" pitchFamily="34" charset="-122"/>
                  <a:cs typeface="Times New Roman" panose="02020603050405020304" pitchFamily="18" charset="0"/>
                </a:rPr>
                <a:t>Apache</a:t>
              </a:r>
              <a:r>
                <a:rPr lang="zh-CN" altLang="en-US" dirty="0">
                  <a:latin typeface="微软雅黑" panose="020B0503020204020204" pitchFamily="34" charset="-122"/>
                  <a:ea typeface="微软雅黑" panose="020B0503020204020204" pitchFamily="34" charset="-122"/>
                  <a:cs typeface="Times New Roman" panose="02020603050405020304" pitchFamily="18" charset="0"/>
                </a:rPr>
                <a:t>组织提供的</a:t>
              </a:r>
              <a:r>
                <a:rPr lang="en-US" altLang="zh-CN" dirty="0">
                  <a:solidFill>
                    <a:srgbClr val="00B0F0"/>
                  </a:solidFill>
                  <a:latin typeface="微软雅黑" panose="020B0503020204020204" pitchFamily="34" charset="-122"/>
                  <a:ea typeface="微软雅黑" panose="020B0503020204020204" pitchFamily="34" charset="-122"/>
                  <a:cs typeface="Times New Roman" panose="02020603050405020304" pitchFamily="18" charset="0"/>
                </a:rPr>
                <a:t>Commons-</a:t>
              </a:r>
              <a:r>
                <a:rPr lang="en-US" altLang="zh-CN" dirty="0" err="1">
                  <a:solidFill>
                    <a:srgbClr val="00B0F0"/>
                  </a:solidFill>
                  <a:latin typeface="微软雅黑" panose="020B0503020204020204" pitchFamily="34" charset="-122"/>
                  <a:ea typeface="微软雅黑" panose="020B0503020204020204" pitchFamily="34" charset="-122"/>
                  <a:cs typeface="Times New Roman" panose="02020603050405020304" pitchFamily="18" charset="0"/>
                </a:rPr>
                <a:t>FileUpload</a:t>
              </a:r>
              <a:r>
                <a:rPr lang="zh-CN" altLang="en-US" dirty="0">
                  <a:solidFill>
                    <a:srgbClr val="00B0F0"/>
                  </a:solidFill>
                  <a:latin typeface="微软雅黑" panose="020B0503020204020204" pitchFamily="34" charset="-122"/>
                  <a:ea typeface="微软雅黑" panose="020B0503020204020204" pitchFamily="34" charset="-122"/>
                  <a:cs typeface="Times New Roman" panose="02020603050405020304" pitchFamily="18" charset="0"/>
                </a:rPr>
                <a:t>组件</a:t>
              </a:r>
              <a:r>
                <a:rPr lang="zh-CN" altLang="en-US" dirty="0">
                  <a:latin typeface="微软雅黑" panose="020B0503020204020204" pitchFamily="34" charset="-122"/>
                  <a:ea typeface="微软雅黑" panose="020B0503020204020204" pitchFamily="34" charset="-122"/>
                  <a:cs typeface="Times New Roman" panose="02020603050405020304" pitchFamily="18" charset="0"/>
                </a:rPr>
                <a:t>，该组件提供了文件上传的相关接口和类。文件下载的功能，是通过设置</a:t>
              </a:r>
              <a:r>
                <a:rPr lang="en-US" altLang="zh-CN" dirty="0">
                  <a:solidFill>
                    <a:srgbClr val="00B0F0"/>
                  </a:solidFill>
                  <a:latin typeface="微软雅黑" panose="020B0503020204020204" pitchFamily="34" charset="-122"/>
                  <a:ea typeface="微软雅黑" panose="020B0503020204020204" pitchFamily="34" charset="-122"/>
                  <a:cs typeface="Times New Roman" panose="02020603050405020304" pitchFamily="18" charset="0"/>
                </a:rPr>
                <a:t>HTTP</a:t>
              </a:r>
              <a:r>
                <a:rPr lang="zh-CN" altLang="en-US" dirty="0">
                  <a:solidFill>
                    <a:srgbClr val="00B0F0"/>
                  </a:solidFill>
                  <a:latin typeface="微软雅黑" panose="020B0503020204020204" pitchFamily="34" charset="-122"/>
                  <a:ea typeface="微软雅黑" panose="020B0503020204020204" pitchFamily="34" charset="-122"/>
                  <a:cs typeface="Times New Roman" panose="02020603050405020304" pitchFamily="18" charset="0"/>
                </a:rPr>
                <a:t>响应消息头</a:t>
              </a:r>
              <a:r>
                <a:rPr lang="zh-CN" altLang="en-US" dirty="0">
                  <a:latin typeface="微软雅黑" panose="020B0503020204020204" pitchFamily="34" charset="-122"/>
                  <a:ea typeface="微软雅黑" panose="020B0503020204020204" pitchFamily="34" charset="-122"/>
                  <a:cs typeface="Times New Roman" panose="02020603050405020304" pitchFamily="18" charset="0"/>
                </a:rPr>
                <a:t>和</a:t>
              </a:r>
              <a:r>
                <a:rPr lang="en-US" altLang="zh-CN" dirty="0">
                  <a:solidFill>
                    <a:srgbClr val="00B0F0"/>
                  </a:solidFill>
                  <a:latin typeface="微软雅黑" panose="020B0503020204020204" pitchFamily="34" charset="-122"/>
                  <a:ea typeface="微软雅黑" panose="020B0503020204020204" pitchFamily="34" charset="-122"/>
                  <a:cs typeface="Times New Roman" panose="02020603050405020304" pitchFamily="18" charset="0"/>
                </a:rPr>
                <a:t>IO</a:t>
              </a:r>
              <a:r>
                <a:rPr lang="zh-CN" altLang="en-US" dirty="0">
                  <a:solidFill>
                    <a:srgbClr val="00B0F0"/>
                  </a:solidFill>
                  <a:latin typeface="微软雅黑" panose="020B0503020204020204" pitchFamily="34" charset="-122"/>
                  <a:ea typeface="微软雅黑" panose="020B0503020204020204" pitchFamily="34" charset="-122"/>
                  <a:cs typeface="Times New Roman" panose="02020603050405020304" pitchFamily="18" charset="0"/>
                </a:rPr>
                <a:t>流</a:t>
              </a:r>
              <a:r>
                <a:rPr lang="zh-CN" altLang="en-US" dirty="0">
                  <a:latin typeface="微软雅黑" panose="020B0503020204020204" pitchFamily="34" charset="-122"/>
                  <a:ea typeface="微软雅黑" panose="020B0503020204020204" pitchFamily="34" charset="-122"/>
                  <a:cs typeface="Times New Roman" panose="02020603050405020304" pitchFamily="18" charset="0"/>
                </a:rPr>
                <a:t>的方式实现的</a:t>
              </a:r>
              <a:r>
                <a:rPr lang="zh-CN" altLang="en-US" dirty="0" smtClean="0">
                  <a:latin typeface="微软雅黑" panose="020B0503020204020204" pitchFamily="34" charset="-122"/>
                  <a:ea typeface="微软雅黑" panose="020B0503020204020204" pitchFamily="34" charset="-122"/>
                  <a:cs typeface="Times New Roman" panose="02020603050405020304" pitchFamily="18" charset="0"/>
                </a:rPr>
                <a:t>。</a:t>
              </a:r>
              <a:endParaRPr lang="en-US" altLang="zh-CN" dirty="0" smtClean="0">
                <a:latin typeface="微软雅黑" panose="020B0503020204020204" pitchFamily="34" charset="-122"/>
                <a:ea typeface="微软雅黑" panose="020B0503020204020204" pitchFamily="34" charset="-122"/>
                <a:cs typeface="Times New Roman" panose="02020603050405020304" pitchFamily="18" charset="0"/>
              </a:endParaRPr>
            </a:p>
            <a:p>
              <a:pPr indent="457200">
                <a:lnSpc>
                  <a:spcPct val="150000"/>
                </a:lnSpc>
              </a:pPr>
              <a:r>
                <a:rPr lang="zh-CN" altLang="en-US" dirty="0" smtClean="0">
                  <a:latin typeface="微软雅黑" panose="020B0503020204020204" pitchFamily="34" charset="-122"/>
                  <a:ea typeface="微软雅黑" panose="020B0503020204020204" pitchFamily="34" charset="-122"/>
                  <a:cs typeface="Times New Roman" panose="02020603050405020304" pitchFamily="18" charset="0"/>
                </a:rPr>
                <a:t>通过</a:t>
              </a:r>
              <a:r>
                <a:rPr lang="zh-CN" altLang="en-US" dirty="0">
                  <a:latin typeface="微软雅黑" panose="020B0503020204020204" pitchFamily="34" charset="-122"/>
                  <a:ea typeface="微软雅黑" panose="020B0503020204020204" pitchFamily="34" charset="-122"/>
                  <a:cs typeface="Times New Roman" panose="02020603050405020304" pitchFamily="18" charset="0"/>
                </a:rPr>
                <a:t>本章的学习，读者可以了解到如何实现文件上传，以及文件上传</a:t>
              </a:r>
              <a:r>
                <a:rPr lang="en-US" altLang="zh-CN" dirty="0">
                  <a:latin typeface="微软雅黑" panose="020B0503020204020204" pitchFamily="34" charset="-122"/>
                  <a:ea typeface="微软雅黑" panose="020B0503020204020204" pitchFamily="34" charset="-122"/>
                  <a:cs typeface="Times New Roman" panose="02020603050405020304" pitchFamily="18" charset="0"/>
                </a:rPr>
                <a:t>API</a:t>
              </a:r>
              <a:r>
                <a:rPr lang="zh-CN" altLang="en-US" dirty="0">
                  <a:latin typeface="微软雅黑" panose="020B0503020204020204" pitchFamily="34" charset="-122"/>
                  <a:ea typeface="微软雅黑" panose="020B0503020204020204" pitchFamily="34" charset="-122"/>
                  <a:cs typeface="Times New Roman" panose="02020603050405020304" pitchFamily="18" charset="0"/>
                </a:rPr>
                <a:t>的相关知识，能够熟练使用</a:t>
              </a:r>
              <a:r>
                <a:rPr lang="en-US" altLang="zh-CN" dirty="0" err="1">
                  <a:latin typeface="微软雅黑" panose="020B0503020204020204" pitchFamily="34" charset="-122"/>
                  <a:ea typeface="微软雅黑" panose="020B0503020204020204" pitchFamily="34" charset="-122"/>
                  <a:cs typeface="Times New Roman" panose="02020603050405020304" pitchFamily="18" charset="0"/>
                </a:rPr>
                <a:t>FileUpload</a:t>
              </a:r>
              <a:r>
                <a:rPr lang="zh-CN" altLang="en-US" dirty="0">
                  <a:latin typeface="微软雅黑" panose="020B0503020204020204" pitchFamily="34" charset="-122"/>
                  <a:ea typeface="微软雅黑" panose="020B0503020204020204" pitchFamily="34" charset="-122"/>
                  <a:cs typeface="Times New Roman" panose="02020603050405020304" pitchFamily="18" charset="0"/>
                </a:rPr>
                <a:t>组件实现文件上传，并能学会如何实现文件下载和解决下载文件的中文乱码问题。由于文件上传和下载在实际开发中经常会用到，因此，要求读者对其实现原理要深入掌握。</a:t>
              </a:r>
              <a:endParaRPr lang="en-US" altLang="zh-CN" dirty="0">
                <a:ea typeface="微软雅黑" pitchFamily="34" charset="-122"/>
              </a:endParaRPr>
            </a:p>
          </p:txBody>
        </p:sp>
      </p:grpSp>
      <p:sp>
        <p:nvSpPr>
          <p:cNvPr id="6" name="标题 1"/>
          <p:cNvSpPr>
            <a:spLocks noChangeArrowheads="1"/>
          </p:cNvSpPr>
          <p:nvPr/>
        </p:nvSpPr>
        <p:spPr bwMode="auto">
          <a:xfrm>
            <a:off x="1643733" y="389681"/>
            <a:ext cx="7392763" cy="56162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pPr marL="571500" indent="-571500"/>
            <a:r>
              <a:rPr lang="zh-CN" altLang="en-US" sz="3200" b="1" smtClean="0">
                <a:solidFill>
                  <a:srgbClr val="006BA9"/>
                </a:solidFill>
                <a:latin typeface="微软雅黑" pitchFamily="34" charset="-122"/>
                <a:ea typeface="微软雅黑" pitchFamily="34" charset="-122"/>
                <a:sym typeface="宋体" charset="-122"/>
              </a:rPr>
              <a:t>本章小</a:t>
            </a:r>
            <a:r>
              <a:rPr lang="zh-CN" altLang="en-US" sz="3200" b="1">
                <a:solidFill>
                  <a:srgbClr val="006BA9"/>
                </a:solidFill>
                <a:latin typeface="微软雅黑" pitchFamily="34" charset="-122"/>
                <a:ea typeface="微软雅黑" pitchFamily="34" charset="-122"/>
                <a:sym typeface="宋体" charset="-122"/>
              </a:rPr>
              <a:t>结</a:t>
            </a:r>
            <a:endParaRPr lang="zh-CN" altLang="en-US" sz="3200" b="1" dirty="0">
              <a:solidFill>
                <a:srgbClr val="006BA9"/>
              </a:solidFill>
              <a:latin typeface="微软雅黑" pitchFamily="34" charset="-122"/>
              <a:ea typeface="微软雅黑" pitchFamily="34" charset="-122"/>
              <a:sym typeface="宋体" charset="-122"/>
            </a:endParaRPr>
          </a:p>
        </p:txBody>
      </p:sp>
    </p:spTree>
    <p:custDataLst>
      <p:tags r:id="rId1"/>
    </p:custDataLst>
    <p:extLst>
      <p:ext uri="{BB962C8B-B14F-4D97-AF65-F5344CB8AC3E}">
        <p14:creationId xmlns:p14="http://schemas.microsoft.com/office/powerpoint/2010/main" val="606452074"/>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6" presetClass="emph" presetSubtype="0" fill="hold" nodeType="afterEffect">
                                  <p:stCondLst>
                                    <p:cond delay="0"/>
                                  </p:stCondLst>
                                  <p:childTnLst>
                                    <p:animEffect transition="out" filter="fade">
                                      <p:cBhvr>
                                        <p:cTn id="6" dur="500" tmFilter="0, 0; .2, .5; .8, .5; 1, 0"/>
                                        <p:tgtEl>
                                          <p:spTgt spid="2"/>
                                        </p:tgtEl>
                                      </p:cBhvr>
                                    </p:animEffect>
                                    <p:animScale>
                                      <p:cBhvr>
                                        <p:cTn id="7" dur="250" autoRev="1" fill="hold"/>
                                        <p:tgtEl>
                                          <p:spTgt spid="2"/>
                                        </p:tgtEl>
                                      </p:cBhvr>
                                      <p:by x="105000" y="105000"/>
                                    </p:animScale>
                                  </p:childTnLst>
                                </p:cTn>
                              </p:par>
                            </p:childTnLst>
                          </p:cTn>
                        </p:par>
                        <p:par>
                          <p:cTn id="8" fill="hold">
                            <p:stCondLst>
                              <p:cond delay="500"/>
                            </p:stCondLst>
                            <p:childTnLst>
                              <p:par>
                                <p:cTn id="9" presetID="22" presetClass="entr" presetSubtype="8" fill="hold" nodeType="afterEffect">
                                  <p:stCondLst>
                                    <p:cond delay="0"/>
                                  </p:stCondLst>
                                  <p:childTnLst>
                                    <p:set>
                                      <p:cBhvr>
                                        <p:cTn id="10" dur="1" fill="hold">
                                          <p:stCondLst>
                                            <p:cond delay="0"/>
                                          </p:stCondLst>
                                        </p:cTn>
                                        <p:tgtEl>
                                          <p:spTgt spid="3"/>
                                        </p:tgtEl>
                                        <p:attrNameLst>
                                          <p:attrName>style.visibility</p:attrName>
                                        </p:attrNameLst>
                                      </p:cBhvr>
                                      <p:to>
                                        <p:strVal val="visible"/>
                                      </p:to>
                                    </p:set>
                                    <p:animEffect transition="in" filter="wipe(left)">
                                      <p:cBhvr>
                                        <p:cTn id="11"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2"/>
          <p:cNvSpPr txBox="1">
            <a:spLocks/>
          </p:cNvSpPr>
          <p:nvPr/>
        </p:nvSpPr>
        <p:spPr bwMode="auto">
          <a:xfrm>
            <a:off x="481013" y="1300163"/>
            <a:ext cx="7975600" cy="472112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571500" indent="-571500" eaLnBrk="1" hangingPunct="1">
              <a:buFont typeface="Wingdings" pitchFamily="2" charset="2"/>
              <a:buNone/>
            </a:pPr>
            <a:r>
              <a:rPr lang="zh-CN" altLang="en-US" sz="2400" b="1">
                <a:solidFill>
                  <a:srgbClr val="006BA9"/>
                </a:solidFill>
                <a:latin typeface="微软雅黑" pitchFamily="34" charset="-122"/>
                <a:ea typeface="微软雅黑" pitchFamily="34" charset="-122"/>
                <a:sym typeface="宋体" charset="-122"/>
              </a:rPr>
              <a:t>✎ </a:t>
            </a:r>
            <a:r>
              <a:rPr lang="zh-CN" altLang="en-US" sz="2400" b="1" smtClean="0">
                <a:solidFill>
                  <a:srgbClr val="006BA9"/>
                </a:solidFill>
                <a:latin typeface="微软雅黑" pitchFamily="34" charset="-122"/>
                <a:ea typeface="微软雅黑" pitchFamily="34" charset="-122"/>
                <a:sym typeface="宋体" charset="-122"/>
              </a:rPr>
              <a:t>本章作业 </a:t>
            </a:r>
          </a:p>
          <a:p>
            <a:pPr lvl="1">
              <a:lnSpc>
                <a:spcPct val="150000"/>
              </a:lnSpc>
              <a:defRPr/>
            </a:pPr>
            <a:r>
              <a:rPr lang="zh-CN" altLang="en-US" sz="2400" smtClean="0">
                <a:solidFill>
                  <a:prstClr val="black"/>
                </a:solidFill>
              </a:rPr>
              <a:t>实现</a:t>
            </a:r>
            <a:r>
              <a:rPr lang="zh-CN" altLang="en-US" sz="2400">
                <a:solidFill>
                  <a:prstClr val="black"/>
                </a:solidFill>
              </a:rPr>
              <a:t>文件上传的表单页面都需要哪些配置</a:t>
            </a:r>
            <a:r>
              <a:rPr lang="en-US" altLang="zh-CN" sz="2400">
                <a:solidFill>
                  <a:prstClr val="black"/>
                </a:solidFill>
              </a:rPr>
              <a:t>?</a:t>
            </a:r>
          </a:p>
          <a:p>
            <a:pPr lvl="1">
              <a:lnSpc>
                <a:spcPct val="150000"/>
              </a:lnSpc>
              <a:defRPr/>
            </a:pPr>
            <a:r>
              <a:rPr lang="zh-CN" altLang="en-US" sz="2400">
                <a:solidFill>
                  <a:prstClr val="black"/>
                </a:solidFill>
              </a:rPr>
              <a:t>简述文件下载的实现</a:t>
            </a:r>
            <a:r>
              <a:rPr lang="zh-CN" altLang="en-US" sz="2400" smtClean="0">
                <a:solidFill>
                  <a:prstClr val="black"/>
                </a:solidFill>
              </a:rPr>
              <a:t>原理。</a:t>
            </a:r>
            <a:endParaRPr lang="en-US" altLang="zh-CN" sz="2400" smtClean="0">
              <a:solidFill>
                <a:prstClr val="black"/>
              </a:solidFill>
            </a:endParaRPr>
          </a:p>
          <a:p>
            <a:pPr marL="571500" lvl="1" indent="-571500" eaLnBrk="1" hangingPunct="1">
              <a:lnSpc>
                <a:spcPct val="150000"/>
              </a:lnSpc>
              <a:buFontTx/>
              <a:buNone/>
              <a:defRPr/>
            </a:pPr>
            <a:r>
              <a:rPr lang="zh-CN" altLang="en-US" sz="2400" b="1" smtClean="0">
                <a:solidFill>
                  <a:srgbClr val="006BA9"/>
                </a:solidFill>
                <a:latin typeface="微软雅黑" pitchFamily="34" charset="-122"/>
                <a:ea typeface="微软雅黑" pitchFamily="34" charset="-122"/>
                <a:sym typeface="宋体" charset="-122"/>
              </a:rPr>
              <a:t>✎ </a:t>
            </a:r>
            <a:r>
              <a:rPr lang="zh-CN" altLang="en-US" sz="2400" b="1" smtClean="0">
                <a:solidFill>
                  <a:srgbClr val="006BA9"/>
                </a:solidFill>
                <a:latin typeface="微软雅黑" pitchFamily="34" charset="-122"/>
                <a:ea typeface="微软雅黑" pitchFamily="34" charset="-122"/>
              </a:rPr>
              <a:t>预习作业</a:t>
            </a:r>
            <a:endParaRPr lang="en-US" altLang="zh-CN" sz="2400" b="1" smtClean="0">
              <a:solidFill>
                <a:srgbClr val="006BA9"/>
              </a:solidFill>
              <a:latin typeface="微软雅黑" pitchFamily="34" charset="-122"/>
              <a:ea typeface="微软雅黑" pitchFamily="34" charset="-122"/>
            </a:endParaRPr>
          </a:p>
          <a:p>
            <a:pPr lvl="1">
              <a:lnSpc>
                <a:spcPct val="150000"/>
              </a:lnSpc>
              <a:defRPr/>
            </a:pPr>
            <a:r>
              <a:rPr lang="zh-CN" altLang="en-US" sz="2400" smtClean="0">
                <a:solidFill>
                  <a:prstClr val="black"/>
                </a:solidFill>
              </a:rPr>
              <a:t>传智书城项目包含哪些功能和模块？</a:t>
            </a:r>
            <a:endParaRPr lang="zh-CN" altLang="en-US" sz="2400">
              <a:solidFill>
                <a:prstClr val="black"/>
              </a:solidFill>
            </a:endParaRPr>
          </a:p>
          <a:p>
            <a:pPr lvl="1">
              <a:lnSpc>
                <a:spcPct val="150000"/>
              </a:lnSpc>
              <a:defRPr/>
            </a:pPr>
            <a:r>
              <a:rPr lang="zh-CN" altLang="en-US" sz="2400" smtClean="0">
                <a:solidFill>
                  <a:prstClr val="black"/>
                </a:solidFill>
              </a:rPr>
              <a:t>传智书城项目需要创建哪些表</a:t>
            </a:r>
            <a:r>
              <a:rPr lang="zh-CN" altLang="en-US" sz="2400">
                <a:solidFill>
                  <a:prstClr val="black"/>
                </a:solidFill>
              </a:rPr>
              <a:t>？</a:t>
            </a:r>
          </a:p>
        </p:txBody>
      </p:sp>
    </p:spTree>
    <p:custDataLst>
      <p:tags r:id="rId1"/>
    </p:custDataLst>
    <p:extLst>
      <p:ext uri="{BB962C8B-B14F-4D97-AF65-F5344CB8AC3E}">
        <p14:creationId xmlns:p14="http://schemas.microsoft.com/office/powerpoint/2010/main" val="3306100230"/>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ustDataLst>
      <p:tags r:id="rId1"/>
    </p:custDataLst>
    <p:extLst>
      <p:ext uri="{BB962C8B-B14F-4D97-AF65-F5344CB8AC3E}">
        <p14:creationId xmlns:p14="http://schemas.microsoft.com/office/powerpoint/2010/main" val="576992799"/>
      </p:ext>
    </p:extLst>
  </p:cSld>
  <p:clrMapOvr>
    <a:masterClrMapping/>
  </p:clrMapOvr>
  <p:transition spd="slow"/>
  <p:timing>
    <p:tnLst>
      <p:par>
        <p:cTn id="1" dur="indefinite" restart="never" nodeType="tmRoot"/>
      </p:par>
    </p:tnLst>
  </p:timing>
</p:sld>
</file>

<file path=ppt/tags/tag1.xml><?xml version="1.0" encoding="utf-8"?>
<p:tagLst xmlns:a="http://schemas.openxmlformats.org/drawingml/2006/main" xmlns:r="http://schemas.openxmlformats.org/officeDocument/2006/relationships" xmlns:p="http://schemas.openxmlformats.org/presentationml/2006/main">
  <p:tag name="ISPRING_ULTRA_SCORM_COURSE_ID" val="CAE1D67B-9222-4AA3-BC96-395CE41EBE5B"/>
  <p:tag name="ISPRING_SCORM_RATE_SLIDES" val="1"/>
  <p:tag name="ISPRING_SCORM_RATE_QUIZZES" val="0"/>
  <p:tag name="ISPRING_SCORM_PASSING_SCORE" val="100.0000000000"/>
  <p:tag name="ISPRINGONLINEFOLDERID" val="0"/>
  <p:tag name="ISPRINGONLINEFOLDERPATH" val="Content List"/>
  <p:tag name="ISPRINGCLOUDFOLDERID" val="0"/>
  <p:tag name="ISPRINGCLOUDFOLDERPATH" val="Content List"/>
  <p:tag name="ISPRING_PLAYERS_CUSTOMIZATION" val="UEsDBBQAAgAIAMWLWEkYJkPyLgQAAH8OAAAdAAAAdW5pdmVyc2FsL2NvbW1vbl9tZXNzYWdlcy5sbmetl19v21QUwN8n7TtcWRqCB7INadMk0kw38W1izbEz+6Z/QMi6je8ya45vsZ2w8jQQTBQJbdIGGmNQFZUWiRHQJNBYYZ+mcbonvgLHdrIlGRC73YOlXCvnd/4fn1u8eL3joh73A0d4C9LZwhkJca8lbMdrL0hNuvjmBQkFIfNs5gqPL0iekNDF0skTRZd57S5rc/h98gRCxQ4PAjgGpfj04owce0FqlK2KXm9gbdVS9apulZWqVKqIzjrzNpAq2uL1t85fuH723Pk3iqdHclkwZh2r6jQIJaRzZzKANGroqgU0oloaWaFS6bV2+Pbsk4+jN6mqaEQqDXb2hk8eHe7dHHzzNB+iYZAlMMUF9TPPXE7TMIhGLVNVZGIppqXpNAmYSiiRpVJ075fB7d3h/t5w/+eDx58fPL4RPdwe3v8k+u3W4d5nh/1fB399+fefW/PUyAZeVrSqRXVdNS2iyeM3Umm4fyf6dmt4d3/48G5OjIFNYoCNd3affb1zBFkrKYVUPNq8ET3YzAepKdWaCg+NrXj2072DJ/18gAbRIADz/a4T08RVYpX1FUgQVMrt3Twi+iXQst0f9O/nkVolZpL/eTIaXlKqmCq6FtePQUxqKJWkeFZFF7WYh4TnbiDWaoEcWvd5zxHdAN70HP4Bt1HgOjYP8mkxyeUmlK2C1VTLVdbjKBQJcgREjofCqxy1nR4HE3yb+/N0QBtViByn53JTecdaxIpKZAvyJevLFk3aPVbGfI48ESLmuiJ2APQyu8e8FkdrvMW6AUcb8DfbsZO/rTNwO7bk/a7zIWJhah86NWo5TSYrpwrHM02hKsyPZeZ7MIJzoqYa/mVnO90APA1D3lkP53kxEYnCK7HiuH41sGn+p1NZ8nJMj2b053XHhBInBnz5oOXLjsguQepQH1KJdJjjZpdStEVQ1PB5wL2Q+0jxruTQqekjgCbQURlLEPkpE5YgIznkl0nZVGgcY74WOCGfJ5kkKs33v9dIC9YEl4f8RZ2s8SsC+t/lrAdJhPdOkBZO4QjKchXEeLLGI3ByTo8oGhjUZiGsZAhMcp0O+G9nYDbrZBzBdLxOReIVff//T09qfvTR94OdL1LsPJpJsFGpWRWsVQiU+eDWV9HvWYWgTGNjVGpaKi7H4tGjbfjyRx//GG39EG0+BecGNz8d9P/ICEw3MJksYoCOo5aQCoVCRsasRakhsBh99yAXATownjvkOeldTYQ8eG8ehOLytFxyyCI1Wl7HcnlW2CTxo/BhSnGlVofagJ3D4IHo+q35O8EkoY6NSzABkr1KKtWZfw3GBxXCzUVJ/I5HWJhP+5F2+EnA8aZw7DVVGhaW5eSWA/cb12ldS79eNmLJHIuvOy5cd7LCKjWswYiZ4XHbCXMCk6k+bnfov/Q8rrR4aXtpyD8/BclVsXh64ub4D1BLAwQUAAIACADFi1hJCswVnxYEAAALEAAAJwAAAHVuaXZlcnNhbC9mbGFzaF9wdWJsaXNoaW5nX3NldHRpbmdzLnhtbNVXUW8bRRB+969YHSpv9SVtQtJwdhUltmrhOKE+RCuEovXdxLdkb/e43bPrPhVUKoqEqISQUKiogkrCAwRUCakQ6I9BtZ03/gJzPseJY6ecVQVSWSfrZr/5dmZ29ttb6+otn5MGhIpJkTOms1MGAeFIl4l6znjHLl6cN4jSVLiUSwE5Q0iDXM1nrCCqcaa8KmiNUEWQRqiFQOcMT+tgwTSbzWaWqSCMRyWPNPKrrCN9MwhBgdAQmgGnLfzTrQCUkc9kCLES04p0Iw6EuRiCYHF0lBc5VZ5hJrAadTbroYyEuyS5DElYr+WM1+YX498hJqFaZj6IODmVR2Ns1gvUdVkcD+VVdhuIB6zuYeBzMwZpMld7OePy1KWYBuHmKE2PPEmCxjRLErMRus/vg6Yu1TR5TSbUcEurQ0NicluC+syxcYTEBcgZy/Z6tVxaLqxXVu1Cdf2avVJOYpjAyS7csCdwskt2uTAJPi39tZtrhevlUuWtdXt1tWyX1o68sKJDBbHM4YpZWFkZhQ4MCmZpL/JrgjKO3XaijAo09iunYR1sWWS4ihuUKzDIBwHU344oZ7qFbT2Fbb0JECyqABx9PV62nKHDCIwjuoQQA8O1HPTE7JVBT8zND6VuJrMfpTU2SotqTR0PmwdtvdAs87jpELYhxVBq8TupSe4OEgK/Bm6F+nBsT1Q3mSgictogG7gIHFNdDBnlBmEaU3cGziqqKc10bxcWjyMJcuFuB7JSHSmF49FQDVV8UPW48Z38exWpQb2flCIxnQbtfP1z+8FOd3+3u//T86efPX96p/PjdnfrbufXLw52Pz3Y+6X951d///EoDdVNGRE/UpqgmAQcNBDtAfkwYrdJDTZkCIQDbaDsoJ0pojhzITsRcUCVOiKlOuEgF5JNUKosF25cIFoS6jaocCYkx9UHP9BnwU8xdyFxCs5lE9xjFFgZh0YKSAthLnN7sDRpZv+HxXWoIFLwFqEOqoAiqLUNJiOFlgaDOLFeoCotn0cbENcidu67EiZ6mddxI+FkoQthGrap6UuXZ2bfmJu/spA1/7qzc/GFTn1lXOM0ni2RxqVTpTed1wkB/henF8jwiG9Rhn7cm+7IpOOPlr4EjoqEZcbiNV7LepJ7HqWs8+j7zv1n3f0vO98+TNXyT7Y7D+93Pv6h77h1t33vk/beb2l82493u78/Odi91/7mWRp8r/5pgK9z/ebJJ5VfHbEnnpT7PlW+D3bSwLrbe+29rVTzfvRd+/Hnibqkwb9LQ4HnwSsBreDRVe99VhI8vDjzGW7JV0KbTpOJl5e1/0SaXuozK9G1s5SmbDZ7Zl1w7qX/LMt7niqWvA0uRkM3Icsce+eMR3wmmI91jD9tBhfV/OzMFN6txg5lMsg2fIHPZ/4BUEsDBBQAAgAIAMWLWEkE5wPRtgIAAFMKAAAhAAAAdW5pdmVyc2FsL2ZsYXNoX3NraW5fc2V0dGluZ3MueG1slVZtT9swEP6+X1F13wl7LZNMJSidhMQGGojvTnJNrDp2ZDtl/ffzK7HbpM16Qqrvnsd3vreC5Jaw5YfZDBWccvEMShFWSaMJuhkpr+d5pxRnFwVnCpi6YFw0mM6XH3/aD8os8hyL70BM5WxwAb2bhf1MoXgf3xZGxggFb1rM9g+84hc5LraV4B0rz4ZW71sQlLCtRl7+WKzWow4okepeQZPEtL4yMo3SCpASTEjf10bOsijOgQZPl/YzkdO7Ov36A9qOSKIs7eaTkTFaiytIk3x1Y2Qcz/TtaVUWRk4TFPxVGvrls5FRKMV7EOnld1+NjDJ427X/0yOt4JVJaMo5XcR3DuW41ONnoro0cpZgHmQcna2CT499610E8l/juUdmXAWnTyavBwvBFD2nsFSiA5SFk7PJmr89dkrPByw3mEoNiFU96EkH/YQ7Ga5JdT3uD7wRVkYgr+gRr5x2DaxcvLHT1NATVqtbuyti7LsuilDAziujEHtlj/yt83qEjJQ98pmSEh4Z3R/BDy2OE2p8i301T6dfW4FhfQwJC6dgNZ4ezOTKyLVXBEzDS1hKE84LacCUDWVW50LKjmJCDO9IhRXh7JfB5Xv7GImyA4NvteHGQoooCkP9ZmPUWzqulz2n7eitaT+6X4X+ce48U3qJX8+xUrioG/2rJOczz9NTohMzz4YZZk1qOIh7tuERx/oeIzVYbEG8cE6numFcgZx6PXezNQZHWZQDlA1nGflLhtLPuiYHsdZVIxDaJtU5XE2qmuo/9UrgDcqUMGJ0TFXr6xgm710ZKXwLABZFHXrWHZyl6agiFHZAvTVS2AePvQxJ3aNj7XajHmCj4obzmkkd6RdF3ykxLjUMEF51XMMMZzm/hBXOpX1ZMvdhB/eDn2zlsMtM68XencK3UnKzth+nUCvNP5P/AFBLAwQUAAIACADFi1hJagDFHuoDAAAcDwAAJgAAAHVuaXZlcnNhbC9odG1sX3B1Ymxpc2hpbmdfc2V0dGluZ3MueG1s1Vfvb9tEGP6ev+JkNL7NbveDdsXJVLWpGpGlZTViE0LVxXexj53vjO+cLPs00JgYEmISQkJlYioaLR+goElIg8L+GLQk/ca/wHtxmi5NWxyxH0yRFfn1+z73Ps+9fmy7F69HHDVpopgURWvanrIQFb4kTARF6x1v6fSshZTGgmAuBS1aQlroYqngxmmdMxWuUa0hVSGAEWou1kUr1Dqec5xWq2UzFSfmquSpBnxl+zJy4oQqKjRNnJjjNvzpdkyVVSoUEHKz0CVJUk4RI9CCYKY7zJd1xC0ny6pj/1qQyFSQBcllgpKgXrRem503v/2cDGmRRVQYbqoEQRPWc5gQZtrBfI3doCikLAih75lzFmoxosOidXbqjIGBdGccpg+eccAGZkECGaEH+BHVmGCNs9NsQU2va7UfyEKkLXDEfA+uIMO/aC1662vVymJ5vbbildfWl71L1ayHCYq88hVvgiKv4lXLk+TnhV++ulq+XK3U3lr3VlaqXmX1oAoUHRHEdUYVc0FZmSY+HQrm6jCN6gIzDsN2SEZFNYwrx0lAPbnEYBcbmCtqoQ9iGrydYs50G6Z6Cqb6GqXxvIqpry+bbStaOkmpdQCXAUJjsJfDmTh/YTgTM7Mj1J1s9QNaR3bpYq2xH8LwQKzfmus8HdpPa0gxQs2co7rkZEioASpz4DKfMMwtxDRw84dXtVFALzEO+pvaabsh9Bg5P8SJGtFwqKMZZb/0Xk1qqt7PyGWh41K7X//cubvV293u7f705NFnTx7d7P642du41f31i73tT/d2fun8+dXff9zPA3VVpihKlUbgDjGnmiIdUvRhym6gOm3IhCJOcRN8BOJMIcUZofZEwDFW6gAU6wwDncrGulJbLF85hbREmDSx8CcEh/2kUayfBz4G7kLCEpzLFiVPQYAyPk4VRW1II4z00/LQtF/C5vpYICl4G2Ef7muFwD2bTKYKIk1GDbF+oyovXoib1GhhigeliIk+8wCeFrBYQmiSB21q+szZc+ffmJm9MGc7f93cOn1i0cDrVjk2q2Vmt3CsmearOmSp/1J0grGO1S7JJDKzScYWPfphMTC1cZNwHWMpR7tT30RfjDl173/fvfO4t/tl99t7uYb44Wb33p3uxz8MCjdudW5/0tn5LU9t58F27/eHe9u3O988zpPfVzRP4utcv3n4yFUXQO6hI+ednIvv3a08ab3Nnc7ORq51P/qu8+DzzC/y5L+LEwEO/0qk1uBhFPRf/RA8jjiLGNxkr4TbHHfj/3ejeiFmc/KrUGZFz9RsbNt+bvv68u35mQr2f9IgOxt+YIx8UbjOkd9uBYiPftGWCv8AUEsDBBQAAgAIAMWLWEkP5FkgmQEAAB0GAAAfAAAAdW5pdmVyc2FsL2h0bWxfc2tpbl9zZXR0aW5ncy5qc42UTW/CMAyG7/wKlF0nxD677YYGkyZxmDRu0w5pMaUiTaIkdDDEf18dvprWHcSX5u3T17ErZ9PploslrPvS3fhnv/8I914D1JxZwnWoixY9R51ZkU1hkuUgMgmshhSHT4/y9kRQxkx603j9iba24scUvplxYau4JiwMoVlCKwjth0qyosTfoLR9WbuSKn2Ol84p2UuUdCBdTyqTc8+wqze/qhXWYFWAOYPOeAKBaeRXG3lyfIgwqlyics3leqxS1Yt5skiNWsppW/75WoMp//hiB/Sfo9dRYCcy694d5PXEoyeMdlIbsBb2eR9HGCQseAyi4tv36x80MG4WVKOLzGbuQA9uMKq05ik0uvQ0wAgxWXo1uhlhNDkHK7cj7m4xAkLwNZiG1fAeIwCVXuoLfqA2KsWONNBmz4+oUHyayXSfuo9BcnhYtG3r3qlQf/whC0ZI1UZoToxp3nZzXDD2jhxcW8s6pmZeUKKkREUk1hRYkKdx9WsE919dxp3jyTwvb4fyaizbwM0CzEQpUR7/+9xBi6O4y9XZ/gFQSwMEFAACAAgAxYtYSRra6juqAAAAHwEAABoAAAB1bml2ZXJzYWwvaTE4bl9wcmVzZXRzLnhtbJ2PMQ/CIBCFd34FuV2wW9MA3UzcHHQ2FVFJ6NFw1PrzhdQYZ4dL7l3e915O9a8x8KdL5CNqaMQWuEMbrx7vGk7H3aYFTnnA6xAiOg0YgfeGKd+0eEiOXCZeIpA0PHKeOimXZRGeplQSKIY5l2ASNo6yzBhRVlJOKwor2/m/6M8NDGOcq8vsQ96jKXtRq4VTshoqc3YoPN4iyGpQ8uuuys6US0URSv48ZtgbUEsDBBQAAgAIAMWLWEl0Pke4XQAAAGIAAAAcAAAAdW5pdmVyc2FsL2xvY2FsX3NldHRpbmdzLnhtbBXKOw5AQBAA0N4pJtP7dQpLp9TgABMmIpmdEbvxuT26V7y6vb3AyUfYTB2WWYHAOtuy6epwGru0QgiRdCExZYdqCG2T1GIzycAxfjHALvTwMbL/ELkn/0++MG+SF1BLAwQUAAIACAB2uMNEzoIJN+wCAACICAAAFAAAAHVuaXZlcnNhbC9wbGF5ZXIueG1srVVNb9swDD2nwP6DoXutpF3XNJBbdAWKHdahQNZtt0C1GVuLbXmSXDf99aP8bc/pVmAHAzbF90jxkTS7ek5i5wmUFjL1yMKdEwdSXwYiDT3y8PX2eEmuLt8dsSzme1COCDySp8ICeEycALSvRGYQfM9N5JGewUVm4mRKSCXMHrnPkLuLtCTvjmbokmqPRMZkK0qLonCFRkQaahnnlkS7vkxopkBDakDRKg3iNNiV+Tsan0Sm1Owz0D1kZt4euCZpOZ61GJAUp65UIT2Zzxf0x93ntR9Bwo9Fqg1PfSAOVnJWlvKR+7s7GeQxaGubsSrJNRhjkyhtM2ZWYrFMHa18j1QOmwS05iFoN05DQissnQCzbcx1VPPoAa3l1TtR85Z+G/u9adxK5WjnnOWPsdARHvUhnXUSyOgwKkvK65Yd9NB00K1lIo6CX7lQEJSf39oWmS9IFbDtuDJPVxc+HuDbLfeNVPsbhGEX1Qq6rWhuJZpbgloOt42+7ihIc9stcJMraEo1Y08iAPmFK8VtW1walQOjI2ONpUMwo9WVa5E6QVhkkvjsH7SxfiNpfurXlCkB/0OYT0jU1kSkATzfCvQxkGBNDWCxrc01WezamF1OOn9Men09MFU51qLgRRzDVQg4hgE3nHZ2eggKimt08XM1wvYODoIjEUYxPmaSYXx6kCbhajfJ0Ds4CI6lv5uAtua2jHRcx1EztR3E6MQ6YX6ujUzES9megz1jVmUfvjZyzdF1JtqD8/kfoziI0QzmlkysLvvW21fN4b2dU6M7n01WWQbdivMAJs8qr2YW8mzkE8CW57G56efU7MMedJTz1HRMc33HfpfFWryAU4jA/ukWp7YmEdie8ciH5WmPAfXE7TIIX5qmIjJaS1KpeUg5hrV5ElBUmGpWPqLqoZJ5Goy0cbPu56Bj3FXXCrgTwxYzXZxg88nMI+/xpb7LxdlFd5XzxUWDLfO6rwJXubxhVdcJd51B635tL8LqmcfX31BLAwQUAAIACADFi1hJcYP8DhoIAADbHQAAKQAAAHVuaXZlcnNhbC9za2luX2N1c3RvbWl6YXRpb25fc2V0dGluZ3MueG1srVlbb+PGFX7vrxioSNG+WBfqZkQrgJeRTUSiFJG2d1sUAiWNZcIUqZIjex3oIS3aIBsgSICkRZqmXWyx3S3Q1C0CtEizbX7NWt485S/0DC8WScsyubsiCJhnzvedM2fOnLm44R4bljh3qT013tGpYVsqodSwJm7zBwg1RrZpOz2HuIS6+ZXkwLDG9qlsHdpMBlKX6tZYd8Yia3WbBdTyfqhe4+tSHb7KQrmEamVcwnUk4YoIbductM2J0CaVimIjn6DweR0yIhZdz9rIx1qvA2TLJQ6VrTG53+Ti2tGmeA92HH1sgJ7brJbZswitLqQye1C5WKlV8KLEcxxXRWJFKkqFRa22XeOLCBfKlQK3EOolrsShYqVS3K4uirVShYOv1nYVWMp4u4rKtXK5JC1KuARoxPOCVBIXNW67WOTBGq5vi4tWS6gVCqhYLHJlaVGpci2hgECbAw6eq7MAchIncNUFL/DFOodaYktolRdYwlWxguolXC0UFmVB4AqFVXBXvYuGayVN3Z0wnLcQrh2Cta0st/JrkqsxmjsOKGtkOjN1SpClT8mdnEVOc0FCeskbNod+xKW+EMQM3ARsI+/9FYo9u9HEj8qRMb6TG84pta2tkW1RcGbLsp2pbuaaP/RzI/A8DdI+IU4W3KE+IitzNe+XFhbYgnyFZxNoZE9nunXWtif21lAfHU8ce26NU7l5dDYjjmlYx6Bd2K6JeKMh03CpTMk05h+usyc9bAb1yCXMvSpmTyqkqQ+JGVoseL8MuJXJ2yOSgJ4YrkE9KF9kzyboTJ+Q+ADUefZsxlhgJT5qNfbcDqLkPgV1jk3v0kZ1Uz8jTtyIXw43ouzZfJY1n2aOPWHBjuNuH+grnGlDdbEmzMMCe1KBWAeZwVSjFITN67+UUAw+k7WkMQUrMLjR4hKIPMqeMBC7nR6v3Bu0uzvdgSDv5JqiPysRm5Y/LlXr94uV6k8a+QCXkknt8O12nAt5ZJVCOi5F63fbAyDE7YGC72q55o8m9M3km5mqu6e1ZQXnmhePn15+89WLp+9d/OHbzCy9Pt4Hh0xwIvGmodrr97GiDdS2LOGBrA6UruYFr401LOWay8/+cfHxk8tnTy+f/f351x88//rd5ZePLj//9fJfH714+v6L839e/O+33//3YQpLUp8/kJWdgdbtttUBVqRQkmtePvtk+ceHl58+u/zy0+xMfV7FffD0kyff/f7xy8EHXn74DMsH7y6/eJCZZ1fe2W3DqzFfvvvbZ8+/Oc/M0cMKBCNVDDpYVfkdPBC6d2HIIIM+fpIR1X0LbD06vzj/PCPwHla9vEgBU/h9eYfX5K7CUquPVa0vi15e3bPnaKRbyLbMM6SPRoBDsMCcGPbcBcmJQU7JGLmmMSZuZkMqfnsPklrm276hI/2EIGp7rAEnMixEjwiaGCcEvHDGxElhBqaaiCU2YG/vyT8dtHi5jaUBjKDUPRhoXmFg9nQHtmg2Rbpp2qwbYFofn+jWiKAhGelzl6AzUBsbY09tpkPnmTO/mBvvIJ36LqI3gjmpSPjuG1uv7J2staHSHOiOBUU5O1usLlzv8hT2muA6LPkzeltfIvHYel2OvIbe9XhVvbFracbo1fuVcOElOqVC3uM+rJ1QEwTDzgTCHciYXBNPdcPMBJSVFpjzjsiwwXcQO7dkIlC6AYdio1eg2YexiDmyD2OUjeIAC6qssaiTIduzpgB7o+fnwfrcYScLk8Cx7Sp/huTQhhphEv0ERhbkhusn1NbL2cuaKGElZvUyWtoDIgXcmngXIQgcM40p27yno93r4DCafjmOheT17SY2mfI7sfzlny8ef+gzpyBUMd8Xdwcir4gYJsHFR79b/jsDDjKYudTW1EGbFxjD8qtHsI9Y/uqvy4d/WT74Fnp58d5vLs7/k57T395JuMUDbxhBj2xrays9TdIv3x3Ycv3pi6wkMEtZncJXZD9TbErcn6fg0XghDvU+UgKDjXIIzbhd9hIiiCavaby424GcgU1Mn7j23Bml2mFESTp8/y2oFd6mLdfs6M4x1BrNts2sRF4MWNWjmX142bNDlOOVKziLgCb3BrwkeSctOGOZxujYXwjHSEfBpQoy4ciVgU/c5RUoSQlKMjZodk5vUQhrA0xT/ztMQrYpXLdGXAlWx1c4HttzGjsNW9SxzR67R7h+cQYK7NpjaJImdeawkIRfUQ33yD7tzqlpWKR5qJsuqEVFSdUe+NBj+8eAMi5LavfJqWGNI6qBIKm3b5vzKRH93kTdiDckYaIoePdsUcSV7JrnsLcPmiKur4RJfYXcp9f0I8KkvspWzy4cJq6Bki1RZHj3IehOVJ5m6ECHWDoIwwCHX3Ed5kGb3YG5EZcCQVxzao9J09sEaMaUsOGHHGSyqMP5GzxuWFdLdodhhmdqcHRKNKyyN785fRvUoCa5Obe9fsAMjI6+971uAgQ662aAf1ebDIYvRfRsRu7k4Fihj46m7LY8hwKOOzkWTv/6+ybcLCxnrJpFkJ43m6FTr6Z7JT2TSYtV8mymbH+ubwY18tfi1MhvGqFGQHvzAFrz6ZA4GHLAIGFyxmVR7SNjcmTCS/e9k3kcdkNjFE+PgNqCg0WIiQhiaUV0Z3QUzhX/I9o+nZvUMMkJMQOdiCASms29b7gwNzanNk/b5JBGkzuQZJ4DQaFbZWJUO95wI8w7x6zF+S3ZFh2qD12v92tqVbjyrIrVmrUorNEs2aNe+YJY2q6xBbo3hb+Rjy6yUKKu/QcrKQMo8N34/9v/A1BLAwQUAAIACADFi1hJM91K5mcaAADkRQAAFwAAAHVuaXZlcnNhbC91bml2ZXJzYWwucG5n7XwLVBPXvjc9nlbbqrTH26Ko5LT09OGDV0VUSFLrA6tVqqjIKxERUo0QlZd523KvtlVMrUqwlqS+eIdRkAQSkmhRUIPEB0kIIYkejJEMSYQwiZmQyU2gx6Keb63vrnXv/e5dH6ywZs1k//b+/V97//+Z2fP9V+tip7wR+Iafn9+UL1Yt3+Dn92qmn9+E3Emvea9EMQbmew+v5GyI/dyvtmNWn/fkz4Sla5f6+V1kvTmc9qr3/PXdqxJz/Pymtvj+X2kjVWz381tB/mL50o37cGZt6qHag4nIA9qH2P2ozx4f+fbdPbF1H/1FsODSD8D8HUu/n/95eFLge+fOFP88qXhr5LehlVsqDmz7fuGtlTPjibgLWdumzbV58Pfy2qILaps6ThKUlIgcbJv/VOXNZiCRWFvXgTnZU8A3FUXpFrlaoyR77A0A3dzDlg5n+Pn+pl7or2loUtqFFnOaXe9x6zUJPqn87sM7C1OXoDLxdEhhf/UV36VG6s5DaFSmnma7ZX91BNzo2nlMDEikSx1fjpxbJN3brVRLk7Gb8Cff+W6H4kMq3jF59MvZLfN8x8tHZ2SO9HekPezNkVbbDyT6jvuDP20fgc06mfau9/DXp6YEKcVuqgY4dIdIjz52Tvhq3jTTwtyo3ojJ9b6GhUwnm7mYarsVZW0P/2mIqciqmHlHe+TqSL9hTwEPDERPO/yBWCR8W2teNYqZ8MXqPEFw+MhIkz/4RPGs+Y/nNhZE/2WE4+XPftowDvgfBiisFOgoYH+DChdNhRQJcqQXi0zoOgl31wIDcBLXlB27rcTnltO/dBuZiFENAlKG/dEpko78wzn0JrwGisThwfgx3VGWl55zsyVKkebo9BGPfC3+QGLfgogRSrPUx9M2LykabRu7MKPkxLrgUU5H187IPH/v+gjZ3dtfhAiddCtVH021qwlypN/7yYpDQ53qHDm6wPi3vSOOvj/4VET76igRienSEFgY+LE6mBVzFz6GdR6LDl1MGBFiUd0nLTW5OdWxN5VPkib0B0ifXrMxcVVX+EGRyXIq3FdujYH+PoZcdnZk67oWkNJIH7gWYI1pkI+h98j+tJfFZc4shIIzBIq/Uk/G3gockffIrpthc7U9O3fzPLcTTBGhzw09Gos920Z64NM8XX3JM5qf/PamMdTmYHocBZy7zzUX3WQOgwY2XmLrxIzR0yltRLNSMGcLdi//QBfMKlTYVot7hq4n/aPJ7CXtylVDPTnyUk/za2dgo+FtqoZZnLsvko+BOuNJ/heO7fgl8nftdr7X0i+Qus22B9C1AHyMxxj4Nchl8z3z+mCF4yceUL2CTi2Ek6hDd2JDIzv+IaLpdmz7auEMRfA9Ve8udzP1knBkcrl/vWxy/V0zaQYhNDBj7v+NZf+jztBZDUgodhgE9M6PvqDWSFpBIr1KNPv7keG3hkHKZFIpHUzWL2EumH0h7gXv/J8esBtIzQOtajxiwHPciNWDqEnIIxLHfTfU/ZfdMoVqL32tSpVPLyoX/hFbodLhQXWhP2af/fIEf7/oTfheqAHzx7AllP6Lbd3vTexiPx/M5Evzfjnw/KW8CVMvxI2N5OzmV+w7xuhWURRliGUOxaqbLI5S+qmx0N61lQ8sJxJwaeUc2uAN+8tfh7dbTqXZF6z9Q9Yy4UDZ9EzHrTDqz2Vj5NHui59c78osQa99nsonB9T0T9s5ZZWW/A9G4/3Kxijdv7T0S2Zkxt37Q7dbq2aSfkjL10+uL3+B+7UwEemA+t6CMcoxtZ7aVqKNaunf8fM43XG6/wvpCsDJ9Sy0vavJQk725mUeOCQO6x7SyDUS2uAAi9lMh1eY6PShsyi0x7nCap0j5VzzThZP7ZpUKQIgJoCjwbjLSl6SV3O6pZ+AsZ20YaO8iz5Th2FWV4XnZc1YACypK66iwit2Hk7VyVdYAcZ8thuapwTqg9JVVuuPAirwsprMP6bZuR4nVy5BIIDr2ae+sgf+lB+0EDx6XuqgSgswO0NYK1MP3IKNlCbKySqqHoqAhik4camhT3M6l0wRyykw7J4nry5X2IpZGWT4DE6gswzyVTiG01AfSnvgXT3r6SKQnSwVp79sO413gRtcpTLfX1SpLNye2NpRxagpV/yauLO/Zr0NUuGxTBTEm2QyQpconk3iYZh+PHAZ+0pjay8kWLMFJ6lCge7QCTsri/Fx6PcbdXgxMsgvxjvO4JhkLeSXjAXYgGB9aH2MGFeO4VO4snsmo/bxP1XDEn16PnrRh4rBx3evReRuhtKnlCsiNiovJC57NLhQGF5Q3dppMIcEZ7ubZ2aC6XimVRW4hY2Pm1KmMZ4wcANA+RXYCDoEMWIMp4qRgmO6GEcyXnaTtlmZonK2gRy5XflrUwydvHxnEQ8agvY3NXdspru+pVwyDa7qyviz+YAauncTVt1rQLqEqkQPzc1nl6uwBfOBnC9f9l7RjZb+JDTwmirjl1Sc8f3I68rgbOKvPKblgDowW6U/mO8GE3EfJko7YGPAlPoAN3wk62VmBTklvPBct5x4j3vRQNY8qDtwLzCdzawlEb9KJ7qbkw7Irw3y/lR8sUFStBTdzWfoptTLBKu3BG1KDrYMDoTqy/OdytehPfP0QD4Pl0nenu2mkd0UptZRwmMRnE9NZAVlFqb45SBLJZTwYoFaqfizKacD0O/nUs49HmymuKGniS0ZU86sgfbKvkpq6YO5AdDAPMUkIY0G5av0pHyykwIP1kVeCAnFkwS6tg1RN4sDN4FmxSQRQut8KzkOMAJcHKplkJjEpLUt/KeR2YMbn7fG6Y7T/X9BN7K9Do8dmIa9g0jqSWO/m4iiXZi9ez+9EoDGyNKZzkIrjyy6LOlUwWOEMXmLL3tFYlcTHAiMbb/UBOI9sLoNiwzk334lWzBSL/9XlART+3y/t6gX70h91vb+jzsbqYYTCV2VH3Fpgx3WS0OFfyjk4HafPmv4Y3q44dN7Yhb4TMGzfhqxT7fyGZVFH4zYsYH3zGC7V43Ye2fymGFHFK3g/6G092b4DFKd9Yd2l0X4DLdZM07ofxUhX44UJXXeqpczERuBhUWeNhm5TKQjJ8RyksBZ7Lp9EJNr/8afdr8nmBWz17jYmgrtwRt6t0hp7n13ABGDLmh6fghfzoe4rFhUJpduV9vS7BHLHk7wj9mNyVSCx2HylAZrBrQnJWN5qpRWVKd3dhR0MCVm3288pVxtx/OqEVRPrY9chxl+0lKA9E08/15dUFpyaDy2Npl1JnJvyFmz/WgFRAlAk8gwnKXa0tzcMWg7D7k+8eYhEKM49s+hE/phA7EEJ9UazApZLRYFsujuwagX+Qr16fzXbspiTJeCwpNDE/R3tyYXnYQ+7qEwppwGY++FyKvDGzkOxCH1mPc0MCTedO/R9x9xFjFLA1eCbsU90NxpKzbRO8FOV4XKirEHfgWSZW0bsPjXlAYD2AYbq3DZZCYkKU7jt2ph52C4EpyH6l1b+7zxRB1hyS3pU45qYi/mK0qEk0siNyvB+S2ZRSJw4NLK25ST8EVcOUe6sSVbLA2MVsXhD3RXeXNh/d2I40pZJzg/dcEc1T4hsvBNiCKb3jOlXtuGU7i6JVJIput8QanLDqoztje3f6zZxFrOe6W+9VYgHjQmy94STv4VFJarwBpmShLSpItLTNIh/MA04lepQetFky+DbLyO6VhY7EiIA7gk7dCLvXrzwTlsptgToZAVeE4DBrxHP7UMLH4lt5KBIwEcCcKfFFlWiwoXZTuNlA92TfltjbZCyMOVYTooXG/fmFp4VqdNNd9Kcl3UF7/sBzJpFT6YUHTkkIGsvSw8XCYLjqsO3MTeU+Ca/7ZSnizhfeZurrpYr2uz90GTVBm54q9LvHXK4BII1oYlk4hovlI2X6ozhyUr2oSHr0LEFP8rIOsiRmL+jjrthWCrXdKu7Npy9uHmTS3GQVtW5Drlx4lnMyqv7HVnvVUczucI3O++Hnk8BBAwroJwH2Qvts4VuacrPSktO8RuQxZPr9sgLoXakgB8XDVrB9kJ73FOB9sMWdltusCjApKxTPV8KKcasch5+n9KfJuFLf31cgzVSLD2nykHH70w0uyIdsb9CahGW/0hJiJxiK0d8lyN6Xnpp87IDA1MVcVFtet0L5uBFTN43flYGLMkf8bWUAoFujot7hesmPZ4GWowa2r2vhfmljxU+CkGMmyTcz20GekgV+9BHFxPSlT9C6xx/vW+mUftduiZSO82dKfpkeIF5uklPFLahaBMmW+yshnBFxtowTS7jesZVrf4Y2mIzRStdx5Jsx94UQFL2vM9RwFLX+RVzJPLE4yeO0DgdtAJnt4cBbw0jfGRCTgIvY2Ym8oEug5xcOiBq9OMLbvQ326OEr3UeLOrdnzBGif030xIESZjuHuxSG+pfkffxPGbXuOAccA4YBwwDhgHjAPGAeOAccA4YBwwDhgHjAPGAeOAccA4YBwwDhgHjAP+vwU8tRRIqQTK0XMFCVFnnt1yeaIAGFC/S+9BSl9f+RMCCKfkBT+7sfOtkUO19BdF6Ro/vbbqrtq5tkJzW3tYFvbcDiu/+9dHR/aLzRy51eO3KOI/uEnrn3RR50JcUo9rZNfX/t7w/7wR1Utb+omAON/eJKdb+qdxn15VL/NH59rvF/rrFkF7FG0JKAK9WQtMGNnYdlHXJswyLazCr3H2E7DU82gejo8jkN2WLP1KiNjE1vz9xEE1G0fp609gGBK6/e1lVSwBxmJRjcATBn57M7Sna+Jc3fyGcgVQ74IAhayHz3tSZXLAEdxD1cLBMFdfHFPo9iMJ4UYRXp5Hf/Qpd7EKTQIDmAMBcom9ARCDfUxHAbPAHi21RRuD6EN3CtBcqlFN4NJdOZ7O+DhxLxnUsylNkE1pcuwiN5HoYLJ1n25wSIZIcEOEh9nNrKG9KOf12Fa8MY/n4V4VDWBxBzFzkDLaLN/unHXQfalowHFDcz+eC290Ld5Sze7DFZBMjuFs7BPbzZb+rNTLYK+FgVatn6Dyd9/2L2Wlam0Ci9SDFKB5K7UUStF+QyzjYWwHs0cyy7GSbiH+yJM75e4euRjdoXzaNIw7jvIMoKS7NwKqahSYBxqKjQruocBokCyTqwBNH3K4p8gRLk5xJ4FmFddAQWDIUkx1r3JRNOzFR6IMvT6b51dNfBgz/KTFrH/dUeWKqckD6hMgKjMKdTzPkMZ3/Zp9yKLKqQis2/nXahTxsQmXyVspzl5QHbuqtu0CJZlNpqbg6TpVMAGddKm1C3bmN9e8LWEAJmNkWaiUILsgak5xk7cELU1dZoTv8LDDLdieI6JDh5DDs2CMSXVhmEZpgiNDmRyrIox6OLYb/2j9wDNizOQ6l+g+J497sMGSZ69BJudyDy6bnul/aXiunj17A7ErmUUMGPhO3VupP2a2pk4pgXrzwwBuKCuTN5A7YyXxfgqubB4zaOdQDwZuQMiwWPxYfv209SwDx1x3TzZ/ghneUaAR046bzuhiHRJV9s02r5NfNsfr0y+5qPd1edxDo+PqmAKJvibN/nPx0RqqLgn9/h73d9fWFX0jOxvR5BDqRRkl2iPHIZu5MbGYjZ9Hqqc6F9B8HiK09taFsjES8LEkyPpvFjqQB+SE5lpneuNGU41AULxTUpesNabzqKXiatKO2/SQ2pth1LWyVUo0KSv6ME8xPUEedTMowUF14KbWazWhB9QyUOdIciwJgHxbaMwy/EqHxMu5UbzOgN2t6MOgiFrwl2/lDHu92dg7Z3K96tLh7VrbuxBQjh+KiLypdNj7JYKPHZvp0d9C0yVIUD00ZNC8cxxylKRWs/GSdz5LlHiI6Cxy8qE+avs65spaFybEtdcKhbkmMp9MJOCRQbacw0SchbF3RsS5l1e6nv+7RH0nCZwdHkvBHKH8hpdi+d/X4OENrsVNNY5dJdp8tTE11gE21com10cKQ/TH8qtbJQas8FLX1MyemRC59pu9TnGl/lAGjfegnoHfuQjfasuo4KHYr+S4l0D5ykJC0WlQpT5yltgnv/6e9SySgjOkk4EDaj1i1mOovo11tAbPr9Knh6Rf4xf2jShJM5WuJ2pdr3l9yU7uO88+Mqif23RDKJf52J1BdnVyj1pse2ccUBOrjhJnNIfUuVXXA2SCsK7VJJaoHKOCeH+6GXHV98xWLhmHXp1HhmEs0nCYL5PxmNbitxs4OOy6swS3pCAu9KCERTkl66KeZGUEHgSqXZR5eZdxdEgRje8jGLHWoHDXw2NxHCzAwbj9t3ldTahS21tnkn5hXdPKcJtHbUg3Ub/PZ1qj/6Y1Zng9In5vqTWKWPKqpckCXuycJFqA3tAguXZFGMoYOGTe1y22Nphl7POUU2siO3BGz9tmXZQ3aARr6P53LFaaar3/DyaOpITDLFXxpL1BsKPHklOvFHdULh5y3QrM/IZa66LUxEpDFB93i9v/foafnu1lpQwVVRTHPq7FlsH2Nxwm5iXfNmK1ZPAEcImpj+60IharxL3/V7PNZOXIpJ90o7/eQdFuYLJ50hZlIZcvr77IxwmC9m8kEVzDsscYrNcZvzSptvhfFj7uTcT4a/U37oFKm0mlKeqElkDkpIX7RTykPZfL9S6ajUYh0GZYfyFvd/krl5CzW0ET80vTWwWxfKqeqGGHagpTWFd5jj2l3jARk7y8sllxdFO8We+orULWiRDBCuL0FE4CE+BJ9Uo9thre4y7o7MtbI97lLqX0+TbA6Ri6iOshCpm2WtqbD3xayaI6I1Vtm84OUQIq8MYN7kBl8C6KFp41L0u6aZsbZssTxEUUdXbyoo3uk30Y7LSWebvleXjWGtDz4HGN5+C5bsT/TtKIKfs6L2KGmBdWj5oRLZSCqSuKvgffvoBkixDqI9gqlJ1dxP4mXJxddBTcs9d9/zy8B/1IWXhm5/1UnOMtrZHgNfc5Bg8i4lZ2GVRNMVKGGJLLgHpc9oyv74EhhY7BxTUoMIcfI8WgZIXXqmCnNvBrkVx+NSz6qYDpEtTHBpEfDkcReJzNchA3cZ/AAu6pPJLhGF6Blh7JdDd2ilNGI4KddyJY+7v6LFZKwsXh2fyVV7Knp1Yt9U5p8p9wBTNwxJIeJLWhVVbVenPIYZaZRsyYstndDeZcuERneDXzTZ4L/AJI5p7KaObJ1XYnZC9+UOCu6AEf+9S06+xKFXyLev+biR0Y+A6LQ+9PR1EP+jOfthCwtk+xOUjEa0nXvbY+P/Sd+hqMj33MwQsdYq9rZszzhGrt6y8FoKu8RvetoEH+6KGvXA6xrOpWBRIkmsyUnV3IfpsfNNDE2E50i3NmTPT6k4w38QYkrcOHxoeKDp+EFpqyFJoaI+qMa9i7lB1LMarCxNlNHUb7EpP8S4fz5PTMKBzZcKLet5UIi8ITT0ivf4R13rCxK9k8VZ/u3ScTtKrevR+Ak/Ll+iQEXwtfpDJGlffFbOv5JT2y6clYJZaEl/w+6/X2lXOzPZKCTZFPFV81Dpfyk7BMF9APoN75GSdY2UpxZlyukRIALt6lgPFqfOuNatPvgZFea1KlSO3mQk6xSZUqRaCvf8YViCM7ZbUT+yC91doq2NdVhf3U6x7bSrQVsVcZTwpRtLZJ0WOIps9WnYc8T3JNxKxKhFtjyVg94pBNh6G2pDYpQnaiblkMIscU36o2+H0c7Yw7Wn+6OJaSL08O+lsSU9/PwYqzK1Wix1al7OxyQfCjjDzuKe+a9yF0cR1rAw9vXBG81xcTKUOLa/CePBSadhSuv0vP/ktL/03fo4HI/Df4vcTBeCwUT2DC5UyKPc4zFNcTwRxuY9KQ+XMbt8yutYCGOV5z1w1LKYoVngkb8OmySUlYXC5tzSjXmiX9qVpZ/qg2DQ0q3EzPVIp3Dbnlm6XPIYc7uScsOcemZyaYsKZN+vj86Gbl1iGf1xtNRo3R00oablUD7m6goQUVhY9aObhOq5JtysWzzq/UZ+TyTPj4CuCi18+aKkwgjxp9aHQVfgcKzwJxtaNuhsE7byZ0Sx2lP1lsdV5H/MR5ly3pZOBCetEzM/VvagGCmcC0E+SoOeKgVPDBHc17AIfPOElpHIxDHsZJQEPjbOF7PxWYJLjaMy5KSqf08wsIY3FqpA43BITX5Fmp3vCWdR+5vuaZmH05XFeKq0Aaf4e+TilULX6HiwyVa+Q3MmZkJozkf5Nrz88cvGk3MPrbGDX0xdmS7O8elgoBdrU3k1CZ0jwQc1+NtGHpJg/thNVz17sWWPJCes+s55twklGZcP7Y4d0uhzT+Nh3jG+FVbyjdvqL/bWtaSWp4O6dsTH8vZibgeTZuidoapfkdGdr85HOXs/GNlv7VDt5kE3V19sFmSjecQZtbqOHNfJ9c7rPwEW/uC2G8gZwfj5nqm1+4MO6MVj/BUetK8aWUBfIY25eupsY5Xs9pw9gv2rEIlMCEEkisfd7EyQZ6T6/4M57MTkcJYqOWjxqx05HSJ/nQWiaj4dmnBvf4yo7o2b3WE1FrHeQtII4gtzzSu4CYdp3yYJY3b9yFf/pbQEdshfnJz8NDXj9Uo5AHKP5ZVJTGl3U2E//1YSnjQQDjtJvS9APVDdA6NbWOO17V/d41VSFdrHWX7maZXBX53MIGyklLnqOCYRXJr5yu9Q3iIdyvI9pDPYOhXPrTFlT2xK514l3idQ7+fk+8nmrADbMSxLeqx3Atves4JW7n5M9hvS8J8G/1FiXUmZ4nqYZpjiISrXeYeguBAQ8l+moIxnkjjiP9crQ3X4HTxaVs7dC1qWWWHeVhG1WAFRczHbzZsqspgbVIFDCV/C/JU3iQOxPEP6hFCc72k9xKUqlnrg6KOTtSt/Y1rXV1bUrNi7M1LWr31mWV++C+cjlm8CjrFy3T47Z+FVdtzButxH6c/n8q7ERWqt6Fc00e8/IQkCcY+/IQb3Fr9fDlfx4pHS3Va+2Seg839tZIgx5qw7XNxpZdENZjw5rfHAXRG66EiNHtm32P7sp1vleVnBh9VYmwO4VIdUs7OhDUciYh7YK7DPFd/2LFuuW1n2/99t8BUEsDBBQAAgAIAMWLWEmJd2BCSgAAAGsAAAAbAAAAdW5pdmVyc2FsL3VuaXZlcnNhbC5wbmcueG1ss7GvyM1RKEstKs7Mz7NVMtQzULK34+WyKShKLctMLVeoAIoBBSFASaESyDVCcMszU0oygEIGFgYIwYzUzPSMElslC0OEoD7QTABQSwECAAAUAAIACADFi1hJGCZD8i4EAAB/DgAAHQAAAAAAAAABAAAAAAAAAAAAdW5pdmVyc2FsL2NvbW1vbl9tZXNzYWdlcy5sbmdQSwECAAAUAAIACADFi1hJCswVnxYEAAALEAAAJwAAAAAAAAABAAAAAABpBAAAdW5pdmVyc2FsL2ZsYXNoX3B1Ymxpc2hpbmdfc2V0dGluZ3MueG1sUEsBAgAAFAACAAgAxYtYSQTnA9G2AgAAUwoAACEAAAAAAAAAAQAAAAAAxAgAAHVuaXZlcnNhbC9mbGFzaF9za2luX3NldHRpbmdzLnhtbFBLAQIAABQAAgAIAMWLWElqAMUe6gMAABwPAAAmAAAAAAAAAAEAAAAAALkLAAB1bml2ZXJzYWwvaHRtbF9wdWJsaXNoaW5nX3NldHRpbmdzLnhtbFBLAQIAABQAAgAIAMWLWEkP5FkgmQEAAB0GAAAfAAAAAAAAAAEAAAAAAOcPAAB1bml2ZXJzYWwvaHRtbF9za2luX3NldHRpbmdzLmpzUEsBAgAAFAACAAgAxYtYSRra6juqAAAAHwEAABoAAAAAAAAAAQAAAAAAvREAAHVuaXZlcnNhbC9pMThuX3ByZXNldHMueG1sUEsBAgAAFAACAAgAxYtYSXQ+R7hdAAAAYgAAABwAAAAAAAAAAQAAAAAAnxIAAHVuaXZlcnNhbC9sb2NhbF9zZXR0aW5ncy54bWxQSwECAAAUAAIACAB2uMNEzoIJN+wCAACICAAAFAAAAAAAAAABAAAAAAA2EwAAdW5pdmVyc2FsL3BsYXllci54bWxQSwECAAAUAAIACADFi1hJcYP8DhoIAADbHQAAKQAAAAAAAAABAAAAAABUFgAAdW5pdmVyc2FsL3NraW5fY3VzdG9taXphdGlvbl9zZXR0aW5ncy54bWxQSwECAAAUAAIACADFi1hJM91K5mcaAADkRQAAFwAAAAAAAAAAAAAAAAC1HgAAdW5pdmVyc2FsL3VuaXZlcnNhbC5wbmdQSwECAAAUAAIACADFi1hJiXdgQkoAAABrAAAAGwAAAAAAAAABAAAAAABROQAAdW5pdmVyc2FsL3VuaXZlcnNhbC5wbmcueG1sUEsFBgAAAAALAAsASQMAANQ5AAAAAA=="/>
  <p:tag name="ISPRING_PRESENTATION_TITLE" val="第12章 文件上传和下载"/>
  <p:tag name="ISPRING_SCORM_ENDPOINT" val="&lt;endpoint&gt;&lt;enable&gt;0&lt;/enable&gt;&lt;lrs&gt;http://&lt;/lrs&gt;&lt;auth&gt;0&lt;/auth&gt;&lt;login&gt;&lt;/login&gt;&lt;password&gt;&lt;/password&gt;&lt;key&gt;&lt;/key&gt;&lt;name&gt;&lt;/name&gt;&lt;email&gt;&lt;/email&gt;&lt;/endpoint&gt;&#10;"/>
  <p:tag name="ISPRING_RESOURCE_PATHS_HASH_PRESENTER" val="eaea8d2d4294ac1a2c24b46d6712fa36b2c2c"/>
</p:tagLst>
</file>

<file path=ppt/tags/tag2.xml><?xml version="1.0" encoding="utf-8"?>
<p:tagLst xmlns:a="http://schemas.openxmlformats.org/drawingml/2006/main" xmlns:r="http://schemas.openxmlformats.org/officeDocument/2006/relationships" xmlns:p="http://schemas.openxmlformats.org/presentationml/2006/main">
  <p:tag name="GENSWF_SLIDE_TITLE" val="第12章 文件上传和下载"/>
  <p:tag name="GENSWF_ADVANCE_TIME" val="0.00"/>
  <p:tag name="ISPRING_SLIDE_INDENT_LEVEL" val="0"/>
  <p:tag name="ISPRING_CUSTOM_TIMING_USED" val="0"/>
</p:tagLst>
</file>

<file path=ppt/tags/tag3.xml><?xml version="1.0" encoding="utf-8"?>
<p:tagLst xmlns:a="http://schemas.openxmlformats.org/drawingml/2006/main" xmlns:r="http://schemas.openxmlformats.org/officeDocument/2006/relationships" xmlns:p="http://schemas.openxmlformats.org/presentationml/2006/main">
  <p:tag name="GENSWF_SLIDE_TITLE" val="作业点评"/>
  <p:tag name="GENSWF_ADVANCE_TIME" val="0.00"/>
  <p:tag name="ISPRING_SLIDE_INDENT_LEVEL" val="0"/>
  <p:tag name="ISPRING_CUSTOM_TIMING_USED" val="0"/>
</p:tagLst>
</file>

<file path=ppt/tags/tag4.xml><?xml version="1.0" encoding="utf-8"?>
<p:tagLst xmlns:a="http://schemas.openxmlformats.org/drawingml/2006/main" xmlns:r="http://schemas.openxmlformats.org/officeDocument/2006/relationships" xmlns:p="http://schemas.openxmlformats.org/presentationml/2006/main">
  <p:tag name="GENSWF_SLIDE_TITLE" val="预习检查"/>
  <p:tag name="GENSWF_ADVANCE_TIME" val="0.00"/>
  <p:tag name="ISPRING_SLIDE_INDENT_LEVEL" val="0"/>
  <p:tag name="ISPRING_CUSTOM_TIMING_USED" val="0"/>
</p:tagLst>
</file>

<file path=ppt/tags/tag5.xml><?xml version="1.0" encoding="utf-8"?>
<p:tagLst xmlns:a="http://schemas.openxmlformats.org/drawingml/2006/main" xmlns:r="http://schemas.openxmlformats.org/officeDocument/2006/relationships" xmlns:p="http://schemas.openxmlformats.org/presentationml/2006/main">
  <p:tag name="GENSWF_SLIDE_TITLE" val="学习目标"/>
  <p:tag name="GENSWF_ADVANCE_TIME" val="0.00"/>
  <p:tag name="ISPRING_SLIDE_INDENT_LEVEL" val="0"/>
  <p:tag name="ISPRING_CUSTOM_TIMING_USED" val="0"/>
</p:tagLst>
</file>

<file path=ppt/tags/tag6.xml><?xml version="1.0" encoding="utf-8"?>
<p:tagLst xmlns:a="http://schemas.openxmlformats.org/drawingml/2006/main" xmlns:r="http://schemas.openxmlformats.org/officeDocument/2006/relationships" xmlns:p="http://schemas.openxmlformats.org/presentationml/2006/main">
  <p:tag name="GENSWF_SLIDE_TITLE" val="主讲内容"/>
  <p:tag name="GENSWF_ADVANCE_TIME" val="0.00"/>
  <p:tag name="ISPRING_SLIDE_INDENT_LEVEL" val="0"/>
  <p:tag name="ISPRING_CUSTOM_TIMING_USED" val="0"/>
</p:tagLst>
</file>

<file path=ppt/tags/tag7.xml><?xml version="1.0" encoding="utf-8"?>
<p:tagLst xmlns:a="http://schemas.openxmlformats.org/drawingml/2006/main" xmlns:r="http://schemas.openxmlformats.org/officeDocument/2006/relationships" xmlns:p="http://schemas.openxmlformats.org/presentationml/2006/main">
  <p:tag name="GENSWF_SLIDE_TITLE" val="如何实现文件上传"/>
  <p:tag name="GENSWF_ADVANCE_TIME" val="0.00"/>
  <p:tag name="ISPRING_SLIDE_INDENT_LEVEL" val="0"/>
  <p:tag name="ISPRING_CUSTOM_TIMING_USED" val="0"/>
</p:tagLst>
</file>

<file path=ppt/tags/tag8.xml><?xml version="1.0" encoding="utf-8"?>
<p:tagLst xmlns:a="http://schemas.openxmlformats.org/drawingml/2006/main" xmlns:r="http://schemas.openxmlformats.org/officeDocument/2006/relationships" xmlns:p="http://schemas.openxmlformats.org/presentationml/2006/main">
  <p:tag name="GENSWF_SLIDE_TITLE" val="如何实现文件上传"/>
  <p:tag name="GENSWF_ADVANCE_TIME" val="0.00"/>
  <p:tag name="ISPRING_SLIDE_INDENT_LEVEL" val="0"/>
  <p:tag name="ISPRING_CUSTOM_TIMING_USED" val="0"/>
</p:tagLst>
</file>

<file path=ppt/tags/tag9.xml><?xml version="1.0" encoding="utf-8"?>
<p:tagLst xmlns:a="http://schemas.openxmlformats.org/drawingml/2006/main" xmlns:r="http://schemas.openxmlformats.org/officeDocument/2006/relationships" xmlns:p="http://schemas.openxmlformats.org/presentationml/2006/main">
  <p:tag name="GENSWF_SLIDE_TITLE" val="如何实现文件上传"/>
  <p:tag name="GENSWF_ADVANCE_TIME" val="0.00"/>
  <p:tag name="ISPRING_SLIDE_INDENT_LEVEL" val="0"/>
  <p:tag name="ISPRING_CUSTOM_TIMING_USED" val="0"/>
</p:tagLst>
</file>

<file path=ppt/tags/tag10.xml><?xml version="1.0" encoding="utf-8"?>
<p:tagLst xmlns:a="http://schemas.openxmlformats.org/drawingml/2006/main" xmlns:r="http://schemas.openxmlformats.org/officeDocument/2006/relationships" xmlns:p="http://schemas.openxmlformats.org/presentationml/2006/main">
  <p:tag name="GENSWF_SLIDE_TITLE" val="如何实现文件上传"/>
  <p:tag name="GENSWF_ADVANCE_TIME" val="0.00"/>
  <p:tag name="ISPRING_SLIDE_INDENT_LEVEL" val="0"/>
  <p:tag name="ISPRING_CUSTOM_TIMING_USED" val="0"/>
</p:tagLst>
</file>

<file path=ppt/tags/tag11.xml><?xml version="1.0" encoding="utf-8"?>
<p:tagLst xmlns:a="http://schemas.openxmlformats.org/drawingml/2006/main" xmlns:r="http://schemas.openxmlformats.org/officeDocument/2006/relationships" xmlns:p="http://schemas.openxmlformats.org/presentationml/2006/main">
  <p:tag name="GENSWF_SLIDE_TITLE" val="主讲内容"/>
  <p:tag name="GENSWF_ADVANCE_TIME" val="0.00"/>
  <p:tag name="ISPRING_SLIDE_INDENT_LEVEL" val="0"/>
  <p:tag name="ISPRING_CUSTOM_TIMING_USED" val="0"/>
</p:tagLst>
</file>

<file path=ppt/tags/tag12.xml><?xml version="1.0" encoding="utf-8"?>
<p:tagLst xmlns:a="http://schemas.openxmlformats.org/drawingml/2006/main" xmlns:r="http://schemas.openxmlformats.org/officeDocument/2006/relationships" xmlns:p="http://schemas.openxmlformats.org/presentationml/2006/main">
  <p:tag name="GENSWF_SLIDE_TITLE" val="FileItem接口"/>
  <p:tag name="GENSWF_ADVANCE_TIME" val="0.00"/>
  <p:tag name="ISPRING_SLIDE_INDENT_LEVEL" val="0"/>
  <p:tag name="ISPRING_CUSTOM_TIMING_USED" val="0"/>
</p:tagLst>
</file>

<file path=ppt/tags/tag13.xml><?xml version="1.0" encoding="utf-8"?>
<p:tagLst xmlns:a="http://schemas.openxmlformats.org/drawingml/2006/main" xmlns:r="http://schemas.openxmlformats.org/officeDocument/2006/relationships" xmlns:p="http://schemas.openxmlformats.org/presentationml/2006/main">
  <p:tag name="GENSWF_SLIDE_TITLE" val="DiskFileItemFactory类"/>
  <p:tag name="GENSWF_ADVANCE_TIME" val="0.00"/>
  <p:tag name="ISPRING_SLIDE_INDENT_LEVEL" val="0"/>
  <p:tag name="ISPRING_CUSTOM_TIMING_USED" val="0"/>
</p:tagLst>
</file>

<file path=ppt/tags/tag14.xml><?xml version="1.0" encoding="utf-8"?>
<p:tagLst xmlns:a="http://schemas.openxmlformats.org/drawingml/2006/main" xmlns:r="http://schemas.openxmlformats.org/officeDocument/2006/relationships" xmlns:p="http://schemas.openxmlformats.org/presentationml/2006/main">
  <p:tag name="GENSWF_SLIDE_TITLE" val="DiskFileItemFactory类"/>
  <p:tag name="GENSWF_ADVANCE_TIME" val="0.00"/>
  <p:tag name="ISPRING_SLIDE_INDENT_LEVEL" val="0"/>
  <p:tag name="ISPRING_CUSTOM_TIMING_USED" val="0"/>
</p:tagLst>
</file>

<file path=ppt/tags/tag15.xml><?xml version="1.0" encoding="utf-8"?>
<p:tagLst xmlns:a="http://schemas.openxmlformats.org/drawingml/2006/main" xmlns:r="http://schemas.openxmlformats.org/officeDocument/2006/relationships" xmlns:p="http://schemas.openxmlformats.org/presentationml/2006/main">
  <p:tag name="GENSWF_SLIDE_TITLE" val="ServletFileUpload类"/>
  <p:tag name="GENSWF_ADVANCE_TIME" val="0.00"/>
  <p:tag name="ISPRING_SLIDE_INDENT_LEVEL" val="0"/>
  <p:tag name="ISPRING_CUSTOM_TIMING_USED" val="0"/>
</p:tagLst>
</file>

<file path=ppt/tags/tag16.xml><?xml version="1.0" encoding="utf-8"?>
<p:tagLst xmlns:a="http://schemas.openxmlformats.org/drawingml/2006/main" xmlns:r="http://schemas.openxmlformats.org/officeDocument/2006/relationships" xmlns:p="http://schemas.openxmlformats.org/presentationml/2006/main">
  <p:tag name="GENSWF_SLIDE_TITLE" val="ServletFileUpload类"/>
  <p:tag name="GENSWF_ADVANCE_TIME" val="0.00"/>
  <p:tag name="ISPRING_SLIDE_INDENT_LEVEL" val="0"/>
  <p:tag name="ISPRING_CUSTOM_TIMING_USED" val="0"/>
</p:tagLst>
</file>

<file path=ppt/tags/tag17.xml><?xml version="1.0" encoding="utf-8"?>
<p:tagLst xmlns:a="http://schemas.openxmlformats.org/drawingml/2006/main" xmlns:r="http://schemas.openxmlformats.org/officeDocument/2006/relationships" xmlns:p="http://schemas.openxmlformats.org/presentationml/2006/main">
  <p:tag name="GENSWF_SLIDE_TITLE" val="【任务12-1】实现文件上传"/>
  <p:tag name="GENSWF_ADVANCE_TIME" val="0.00"/>
  <p:tag name="ISPRING_SLIDE_INDENT_LEVEL" val="0"/>
  <p:tag name="ISPRING_CUSTOM_TIMING_USED" val="0"/>
</p:tagLst>
</file>

<file path=ppt/tags/tag18.xml><?xml version="1.0" encoding="utf-8"?>
<p:tagLst xmlns:a="http://schemas.openxmlformats.org/drawingml/2006/main" xmlns:r="http://schemas.openxmlformats.org/officeDocument/2006/relationships" xmlns:p="http://schemas.openxmlformats.org/presentationml/2006/main">
  <p:tag name="GENSWF_SLIDE_TITLE" val="主讲内容"/>
  <p:tag name="GENSWF_ADVANCE_TIME" val="0.00"/>
  <p:tag name="ISPRING_SLIDE_INDENT_LEVEL" val="0"/>
  <p:tag name="ISPRING_CUSTOM_TIMING_USED" val="0"/>
</p:tagLst>
</file>

<file path=ppt/tags/tag19.xml><?xml version="1.0" encoding="utf-8"?>
<p:tagLst xmlns:a="http://schemas.openxmlformats.org/drawingml/2006/main" xmlns:r="http://schemas.openxmlformats.org/officeDocument/2006/relationships" xmlns:p="http://schemas.openxmlformats.org/presentationml/2006/main">
  <p:tag name="GENSWF_SLIDE_TITLE" val="文件下载"/>
  <p:tag name="GENSWF_ADVANCE_TIME" val="0.00"/>
  <p:tag name="ISPRING_SLIDE_INDENT_LEVEL" val="0"/>
  <p:tag name="ISPRING_CUSTOM_TIMING_USED" val="0"/>
</p:tagLst>
</file>

<file path=ppt/tags/tag20.xml><?xml version="1.0" encoding="utf-8"?>
<p:tagLst xmlns:a="http://schemas.openxmlformats.org/drawingml/2006/main" xmlns:r="http://schemas.openxmlformats.org/officeDocument/2006/relationships" xmlns:p="http://schemas.openxmlformats.org/presentationml/2006/main">
  <p:tag name="GENSWF_SLIDE_TITLE" val="【任务12-2】实现文件下载"/>
  <p:tag name="GENSWF_ADVANCE_TIME" val="0.00"/>
  <p:tag name="ISPRING_SLIDE_INDENT_LEVEL" val="0"/>
  <p:tag name="ISPRING_CUSTOM_TIMING_USED" val="0"/>
</p:tagLst>
</file>

<file path=ppt/tags/tag21.xml><?xml version="1.0" encoding="utf-8"?>
<p:tagLst xmlns:a="http://schemas.openxmlformats.org/drawingml/2006/main" xmlns:r="http://schemas.openxmlformats.org/officeDocument/2006/relationships" xmlns:p="http://schemas.openxmlformats.org/presentationml/2006/main">
  <p:tag name="GENSWF_SLIDE_TITLE" val="【任务12-3】解决下载中文文件乱码问题"/>
  <p:tag name="GENSWF_ADVANCE_TIME" val="0.00"/>
  <p:tag name="ISPRING_SLIDE_INDENT_LEVEL" val="0"/>
  <p:tag name="ISPRING_CUSTOM_TIMING_USED" val="0"/>
</p:tagLst>
</file>

<file path=ppt/tags/tag22.xml><?xml version="1.0" encoding="utf-8"?>
<p:tagLst xmlns:a="http://schemas.openxmlformats.org/drawingml/2006/main" xmlns:r="http://schemas.openxmlformats.org/officeDocument/2006/relationships" xmlns:p="http://schemas.openxmlformats.org/presentationml/2006/main">
  <p:tag name="GENSWF_SLIDE_TITLE" val="本章小结"/>
  <p:tag name="GENSWF_ADVANCE_TIME" val="0.00"/>
  <p:tag name="ISPRING_SLIDE_INDENT_LEVEL" val="0"/>
  <p:tag name="ISPRING_CUSTOM_TIMING_USED" val="0"/>
</p:tagLst>
</file>

<file path=ppt/tags/tag23.xml><?xml version="1.0" encoding="utf-8"?>
<p:tagLst xmlns:a="http://schemas.openxmlformats.org/drawingml/2006/main" xmlns:r="http://schemas.openxmlformats.org/officeDocument/2006/relationships" xmlns:p="http://schemas.openxmlformats.org/presentationml/2006/main">
  <p:tag name="GENSWF_SLIDE_TITLE" val="作业"/>
  <p:tag name="GENSWF_ADVANCE_TIME" val="0.00"/>
  <p:tag name="ISPRING_SLIDE_INDENT_LEVEL" val="0"/>
  <p:tag name="ISPRING_CUSTOM_TIMING_USED" val="0"/>
</p:tagLst>
</file>

<file path=ppt/tags/tag24.xml><?xml version="1.0" encoding="utf-8"?>
<p:tagLst xmlns:a="http://schemas.openxmlformats.org/drawingml/2006/main" xmlns:r="http://schemas.openxmlformats.org/officeDocument/2006/relationships" xmlns:p="http://schemas.openxmlformats.org/presentationml/2006/main">
  <p:tag name="GENSWF_ADVANCE_TIME" val="0.00"/>
  <p:tag name="ISPRING_SLIDE_INDENT_LEVEL" val="0"/>
  <p:tag name="ISPRING_CUSTOM_TIMING_USED" val="0"/>
</p:tagLst>
</file>

<file path=ppt/theme/theme1.xml><?xml version="1.0" encoding="utf-8"?>
<a:theme xmlns:a="http://schemas.openxmlformats.org/drawingml/2006/main" name="Office 主题​​">
  <a:themeElements>
    <a:clrScheme name="Office 主题​​">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主题​​">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3817</TotalTime>
  <Words>3563</Words>
  <Application>Microsoft Office PowerPoint</Application>
  <PresentationFormat>全屏显示(4:3)</PresentationFormat>
  <Paragraphs>197</Paragraphs>
  <Slides>23</Slides>
  <Notes>23</Notes>
  <HiddenSlides>0</HiddenSlides>
  <MMClips>0</MMClips>
  <ScaleCrop>false</ScaleCrop>
  <HeadingPairs>
    <vt:vector size="4" baseType="variant">
      <vt:variant>
        <vt:lpstr>主题</vt:lpstr>
      </vt:variant>
      <vt:variant>
        <vt:i4>1</vt:i4>
      </vt:variant>
      <vt:variant>
        <vt:lpstr>幻灯片标题</vt:lpstr>
      </vt:variant>
      <vt:variant>
        <vt:i4>23</vt:i4>
      </vt:variant>
    </vt:vector>
  </HeadingPairs>
  <TitlesOfParts>
    <vt:vector size="24" baseType="lpstr">
      <vt:lpstr>Office 主题​​</vt:lpstr>
      <vt:lpstr>Java Web程序设计任务教程</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第12章 文件上传和下载</dc:title>
  <dc:creator>admin</dc:creator>
  <cp:lastModifiedBy>石荣新</cp:lastModifiedBy>
  <cp:revision>325</cp:revision>
  <dcterms:created xsi:type="dcterms:W3CDTF">2015-06-29T07:19:00Z</dcterms:created>
  <dcterms:modified xsi:type="dcterms:W3CDTF">2018-01-09T09:40:13Z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2052-10.1.0.5777</vt:lpwstr>
  </property>
</Properties>
</file>
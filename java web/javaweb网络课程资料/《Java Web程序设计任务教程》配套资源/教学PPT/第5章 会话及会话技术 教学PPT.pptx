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ink/ink1.xml" ContentType="application/inkml+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ink/ink2.xml" ContentType="application/inkml+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31"/>
  </p:notesMasterIdLst>
  <p:sldIdLst>
    <p:sldId id="370" r:id="rId2"/>
    <p:sldId id="365" r:id="rId3"/>
    <p:sldId id="366" r:id="rId4"/>
    <p:sldId id="327" r:id="rId5"/>
    <p:sldId id="329" r:id="rId6"/>
    <p:sldId id="346" r:id="rId7"/>
    <p:sldId id="259" r:id="rId8"/>
    <p:sldId id="347" r:id="rId9"/>
    <p:sldId id="350" r:id="rId10"/>
    <p:sldId id="352" r:id="rId11"/>
    <p:sldId id="353" r:id="rId12"/>
    <p:sldId id="368" r:id="rId13"/>
    <p:sldId id="356" r:id="rId14"/>
    <p:sldId id="373" r:id="rId15"/>
    <p:sldId id="348" r:id="rId16"/>
    <p:sldId id="357" r:id="rId17"/>
    <p:sldId id="358" r:id="rId18"/>
    <p:sldId id="359" r:id="rId19"/>
    <p:sldId id="360" r:id="rId20"/>
    <p:sldId id="265" r:id="rId21"/>
    <p:sldId id="266" r:id="rId22"/>
    <p:sldId id="372" r:id="rId23"/>
    <p:sldId id="361" r:id="rId24"/>
    <p:sldId id="363" r:id="rId25"/>
    <p:sldId id="362" r:id="rId26"/>
    <p:sldId id="364" r:id="rId27"/>
    <p:sldId id="369" r:id="rId28"/>
    <p:sldId id="367" r:id="rId29"/>
    <p:sldId id="371" r:id="rId30"/>
  </p:sldIdLst>
  <p:sldSz cx="9144000" cy="6858000" type="screen4x3"/>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A1"/>
    <a:srgbClr val="009ED6"/>
    <a:srgbClr val="01598B"/>
    <a:srgbClr val="E7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0257" autoAdjust="0"/>
    <p:restoredTop sz="98129" autoAdjust="0"/>
  </p:normalViewPr>
  <p:slideViewPr>
    <p:cSldViewPr>
      <p:cViewPr>
        <p:scale>
          <a:sx n="100" d="100"/>
          <a:sy n="100" d="100"/>
        </p:scale>
        <p:origin x="-797" y="5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21259762883621849"/>
          <c:y val="6.8138576695007141E-2"/>
          <c:w val="0.61861102362204723"/>
          <c:h val="0.76592641554868568"/>
        </c:manualLayout>
      </c:layout>
      <c:doughnutChart>
        <c:varyColors val="1"/>
        <c:ser>
          <c:idx val="0"/>
          <c:order val="0"/>
          <c:tx>
            <c:strRef>
              <c:f>Sheet1!$B$1</c:f>
              <c:strCache>
                <c:ptCount val="1"/>
                <c:pt idx="0">
                  <c:v>销售额</c:v>
                </c:pt>
              </c:strCache>
            </c:strRef>
          </c:tx>
          <c:dPt>
            <c:idx val="0"/>
            <c:bubble3D val="0"/>
          </c:dPt>
          <c:dPt>
            <c:idx val="1"/>
            <c:bubble3D val="0"/>
          </c:dPt>
          <c:dPt>
            <c:idx val="2"/>
            <c:bubble3D val="0"/>
          </c:dPt>
          <c:cat>
            <c:strRef>
              <c:f>Sheet1!$A$2:$A$4</c:f>
              <c:strCache>
                <c:ptCount val="3"/>
                <c:pt idx="0">
                  <c:v>掌握知识</c:v>
                </c:pt>
                <c:pt idx="1">
                  <c:v>理解知识</c:v>
                </c:pt>
                <c:pt idx="2">
                  <c:v>了解知识</c:v>
                </c:pt>
              </c:strCache>
            </c:strRef>
          </c:cat>
          <c:val>
            <c:numRef>
              <c:f>Sheet1!$B$2:$B$4</c:f>
              <c:numCache>
                <c:formatCode>General</c:formatCode>
                <c:ptCount val="3"/>
                <c:pt idx="0">
                  <c:v>3.3333333330000001</c:v>
                </c:pt>
                <c:pt idx="1">
                  <c:v>3.3333333330000001</c:v>
                </c:pt>
                <c:pt idx="2">
                  <c:v>3.3333333330000001</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7.79528" units="1/cm"/>
          <inkml:channelProperty channel="Y" name="resolution" value="37.76224" units="1/cm"/>
        </inkml:channelProperties>
      </inkml:inkSource>
      <inkml:timestamp xml:id="ts0" timeString="2021-04-02T00:40:04.261"/>
    </inkml:context>
    <inkml:brush xml:id="br0">
      <inkml:brushProperty name="width" value="0.05292" units="cm"/>
      <inkml:brushProperty name="height" value="0.05292" units="cm"/>
      <inkml:brushProperty name="color" value="#FF0000"/>
    </inkml:brush>
  </inkml:definitions>
  <inkml:trace contextRef="#ctx0" brushRef="#br0">6191 8326,'-70'-36,"-89"19,35-36,1 17,0 19,-36-18,18 17,70 18,-17 0,0 0,17 0,36 0,-53 0,35 0,-35 0,52 0,-17 0,-17 0,-1 0,18 0,0 0,-35 35,71-17,-72-1,36 1,-17 53,17-54,0 36,0-18,-17 18,17 0,-18 18,18-18,-17 88,17-53,-18 71,-17 0,35-54,35 72,-52-36,52 0,1 35,17 1,-53-18,53-1,0-52,0 18,0-36,0 35,0-87,0 52,53 18,-18-36,0 18,18 18,0-35,0 17,-18-53,0 18,-17-35,35 17,0 0,0-17,0 0,53 34,17-52,-35 18,71 17,-18-35,-17 18,17 17,35-35,-35 0,-35 18,-18 0,0-18,18 17,-53-17,53 36,-18-36,-35 0,18 0,-1 0,1 0,17 0,-35 0,35 0,36 0,-1 0,1 0,52-18,0 18,-17 0,17 0,-34 0,-19-18,1 18,-1 0,-35-35,36 35,-36-18,35-17,1 17,70 1,-71-1,1 0,52-34,36-1,-36 35,36 0,0-17,-54 0,-17 17,-17 1,-18-19,-36 1,-17 17,-18 18,36-17,-36-19,-17 19,35-1,-18 1,0-1,-17 0,17-17,18 17,-35-17,17 17,-17 1,52-36,-52 18,17 17,18-70,-18 70,1-35,17-17,-18 17,-17 0,17-18,-18-17,1-18,0-17,52-1,-52 36,-18-18,0 53,18-35,-18 53,0-36,0-17,0 53,0-53,0 35,-36-18,19-35,-1 53,-35-35,18 53,17 0,-17-18,17 0,1 18,-1 17,-17-35,35 18,-18-1,0 1,-17 0,18 17,-1-17,0 17,1 1,-1 17,-35-36,35 36,-34-17,-54-19,17-16,-69 34,-1-17,18 35,-53-53,53 35,-71-17,89 17,-54-17,18 0,36 35,0 0,-19 0,54 0,-35 0,35 0,-36 0,1 0,-19 0,19 0,0 0,34 0,-34-18,-1 0,36-17,-18 35,18 0,0-35,35 35,-35 0,17 0,1 0,-1 0,1 0,17-18,-18 18,18 0,0 0,0 0,-17 0,17 0,18 0,-36 0,18 0,18 0,-36 0,54 0,-19 0,19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7.79528" units="1/cm"/>
          <inkml:channelProperty channel="Y" name="resolution" value="37.76224" units="1/cm"/>
        </inkml:channelProperties>
      </inkml:inkSource>
      <inkml:timestamp xml:id="ts0" timeString="2021-04-02T01:21:39.712"/>
    </inkml:context>
    <inkml:brush xml:id="br0">
      <inkml:brushProperty name="width" value="0.05292" units="cm"/>
      <inkml:brushProperty name="height" value="0.05292" units="cm"/>
      <inkml:brushProperty name="color" value="#FF0000"/>
    </inkml:brush>
  </inkml:definitions>
  <inkml:trace contextRef="#ctx0" brushRef="#br0">8908 5433,'53'0,"17"0,1-18,-18 18,70-18,1 18,-19 0,1 0,71 0,-36 0,35 0,-17 0,17 0,1 0,-36 0,35 0,36 0,-18 0,-18 0,89 0,-18 0,-53 0,70 0,1 0,-36 0,-17 0,-36 0,1 0,-36 0,-18 0,1 0,-36 0,35 0,-52 0,35 0,-36 0,-34 0,34 0,-17 0,-35 0,-1 0,19 0,-19 0,19 0,-1 0,-18 0,19 0,-1 0,0 0,-17 0,35 0,-36 0,1 0,0 0,-1 0,1 0,17 0,-17 0,17 0,1 0,-19 0,1 0,17 0,-17-17,17 17,0 0,1 0,-1 0,35-18,-17 1,-35 17,52 0,1-18,-53 18,52 0,-34 0,-1 0,0 0,18 0,-35 0,17 0,-17 0,-1 0,18 0,-17 0,0 0,-1 0,1 0,0 0,-1 0,1 0,0 0,-1 0,18 0,-17 0,0 0,-1 0,1 0,0 0,52 0,-34 0,-1 0,18 0,-36 18,1-18,17 0,-17 0,35 0,-18 0,0 0,1 0,17 0,-1 0,-34 0,0 0</inkml:trace>
  <inkml:trace contextRef="#ctx0" brushRef="#br0" timeOffset="2624.5647">9895 5345,'0'0,"0"-18,18 0,53 1,-36 17,18-18,0-17,-18 17,18 18,0 0,0-18,-36 18,36 0,-17 0,-19 0,18-17,18 17,-35 0,35 0,-18-35,1 35,-1 0,18 0,-36 0,54 0,-36-18,18 18,18 0,-18 0,17-18,18 18,-17 0,-18 0,35 0,-17 0,-19 0,1 0,18 0,-36 0,53 0,-35 0,18 0,17 0,0 0,0 0,18 0,-53 0,-18 0,36 0,-53 0,17 0,0 0,18 0,-35 0,35 0,-36 0,19 0,-1 0,18 0,-36 0,89 36,-88-36,17 0,36 17,-36-17,18 0,18 18,-54-18,18 0,1 0,-1 0,18 0,0 53,17-53,-34 17,17-17,17 0,-35 18,18-18,0 18,-17-1,-19-17,36 0,-35 0,17 18,0-18,1 0,-1 0,-18 0,19 0,-1 0,0 0,1 0,-19 0,18 0,-17 0,0 0,-1 0,1 0,17 0,-17 0,0 0,17 0</inkml:trace>
  <inkml:trace contextRef="#ctx0" brushRef="#br0" timeOffset="5945.5509">15522 3828,'0'-18,"-35"18,0 0,-18 35,35-35,-35 36,18-19,0 18,17-17,0 17,-17 1,0-19,0-17,35 18,-36 17,19-17,17-1,-18 19,-17-1,17-35,18 18,0-1,-35 36,-1-17,19-19,-1 1,18 17,-17 18,-1-18,18 1,-18-1,18 18,-17 0,-19-18,36-17,-17 17,17 0,0 0,0-17,0 0,0 17,0 0,0 18,0 0,0-35,0 35,35 0,-17-1,17-34,35 70,-34-70,17 35,-18-18,0 0,1-17,34 0,1-1,-18 19,70-19,0 1,36 52,53-52,0 0,-54 17,36-35,-17 0,-19 35,-34-35,-36 0,0 0,1-35,-19-18,-35 35,18 1,-17-1,-1-17,35 0,-17-18,-35 35,35-53,-35 1,34-18,-16 17,-19-17,19 35,-19-17,1 17,-18 17,18-34,-18 17,0 18,0-36,0 0,0 1,-71-1,53 36,-35 0,-17-36,17 18,0 18,-53-36,36 36,-54-35,54 52,-89 0,-18 1,89-1,-123-17,52 17,-35 1,0-36,53 35,-53 0,53 18,17-17,36 17,0 0,17 0,-17 0,17 0,54 0,-54 0,54 0,-1 17,18 1,-18 0,18-1</inkml:trace>
  <inkml:trace contextRef="#ctx0" brushRef="#br0" timeOffset="9680.0281">2681 6632,'88'-17,"36"-36,35 17,70-34,-18 17,36-53,-35 71,0-36,-53 18,17-17,-35 34,0-34,-35 52,17-52,-52 52,35 0,-18 1,-53 17,-17-18,0 18,17 0,-18 0,54 0,0 0,34 0,-16 0,-1 0,-18 0,-17 0,35 0,-52 0,-1 0,-17 0,-1 0,1 0</inkml:trace>
  <inkml:trace contextRef="#ctx0" brushRef="#br0" timeOffset="10640.1341">7232 6421,'18'0,"34"-18,-34 18,53 0,-1-18,-17 18,53-35,-18 35,71-18,17 18,89-17,17 17,36-36,-19 36,125-52,176 16,-177 36,-106 0,19 0,-19 0,-35 0,36 0,-71 0,-18 0,-53 0,54 0,-54 0,36 0,-71 0,53-17,-106-1,36-35,34 35,19 1,-142-1,-17 18,17-18,-17 1,-1 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25A8A-7E52-48CF-8B93-A7BD9870F15A}" type="datetimeFigureOut">
              <a:rPr lang="zh-CN" altLang="en-US" smtClean="0"/>
              <a:t>2021/4/2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DB2CEA-931D-42B8-8AFF-3E150A2A82EF}" type="slidenum">
              <a:rPr lang="zh-CN" altLang="en-US" smtClean="0"/>
              <a:t>‹#›</a:t>
            </a:fld>
            <a:endParaRPr lang="zh-CN" altLang="en-US"/>
          </a:p>
        </p:txBody>
      </p:sp>
    </p:spTree>
    <p:extLst>
      <p:ext uri="{BB962C8B-B14F-4D97-AF65-F5344CB8AC3E}">
        <p14:creationId xmlns:p14="http://schemas.microsoft.com/office/powerpoint/2010/main" val="935572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a:t>
            </a:fld>
            <a:endParaRPr lang="zh-CN" altLang="en-US"/>
          </a:p>
        </p:txBody>
      </p:sp>
    </p:spTree>
    <p:extLst>
      <p:ext uri="{BB962C8B-B14F-4D97-AF65-F5344CB8AC3E}">
        <p14:creationId xmlns:p14="http://schemas.microsoft.com/office/powerpoint/2010/main" val="470898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a:t>
            </a:fld>
            <a:endParaRPr lang="zh-CN" altLang="en-US"/>
          </a:p>
        </p:txBody>
      </p:sp>
    </p:spTree>
    <p:extLst>
      <p:ext uri="{BB962C8B-B14F-4D97-AF65-F5344CB8AC3E}">
        <p14:creationId xmlns:p14="http://schemas.microsoft.com/office/powerpoint/2010/main" val="3770585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3</a:t>
            </a:fld>
            <a:endParaRPr lang="zh-CN" altLang="en-US"/>
          </a:p>
        </p:txBody>
      </p:sp>
    </p:spTree>
    <p:extLst>
      <p:ext uri="{BB962C8B-B14F-4D97-AF65-F5344CB8AC3E}">
        <p14:creationId xmlns:p14="http://schemas.microsoft.com/office/powerpoint/2010/main" val="104125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4</a:t>
            </a:fld>
            <a:endParaRPr lang="zh-CN" altLang="en-US"/>
          </a:p>
        </p:txBody>
      </p:sp>
    </p:spTree>
    <p:extLst>
      <p:ext uri="{BB962C8B-B14F-4D97-AF65-F5344CB8AC3E}">
        <p14:creationId xmlns:p14="http://schemas.microsoft.com/office/powerpoint/2010/main" val="1800281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5</a:t>
            </a:fld>
            <a:endParaRPr lang="zh-CN" altLang="en-US"/>
          </a:p>
        </p:txBody>
      </p:sp>
    </p:spTree>
    <p:extLst>
      <p:ext uri="{BB962C8B-B14F-4D97-AF65-F5344CB8AC3E}">
        <p14:creationId xmlns:p14="http://schemas.microsoft.com/office/powerpoint/2010/main" val="3231819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6</a:t>
            </a:fld>
            <a:endParaRPr lang="zh-CN" altLang="en-US"/>
          </a:p>
        </p:txBody>
      </p:sp>
    </p:spTree>
    <p:extLst>
      <p:ext uri="{BB962C8B-B14F-4D97-AF65-F5344CB8AC3E}">
        <p14:creationId xmlns:p14="http://schemas.microsoft.com/office/powerpoint/2010/main" val="4129183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7</a:t>
            </a:fld>
            <a:endParaRPr lang="zh-CN" altLang="en-US"/>
          </a:p>
        </p:txBody>
      </p:sp>
    </p:spTree>
    <p:extLst>
      <p:ext uri="{BB962C8B-B14F-4D97-AF65-F5344CB8AC3E}">
        <p14:creationId xmlns:p14="http://schemas.microsoft.com/office/powerpoint/2010/main" val="2607886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8</a:t>
            </a:fld>
            <a:endParaRPr lang="zh-CN" altLang="en-US"/>
          </a:p>
        </p:txBody>
      </p:sp>
    </p:spTree>
    <p:extLst>
      <p:ext uri="{BB962C8B-B14F-4D97-AF65-F5344CB8AC3E}">
        <p14:creationId xmlns:p14="http://schemas.microsoft.com/office/powerpoint/2010/main" val="2870416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9</a:t>
            </a:fld>
            <a:endParaRPr lang="zh-CN" altLang="en-US"/>
          </a:p>
        </p:txBody>
      </p:sp>
    </p:spTree>
    <p:extLst>
      <p:ext uri="{BB962C8B-B14F-4D97-AF65-F5344CB8AC3E}">
        <p14:creationId xmlns:p14="http://schemas.microsoft.com/office/powerpoint/2010/main" val="2763473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10</a:t>
            </a:fld>
            <a:endParaRPr lang="zh-CN" altLang="en-US"/>
          </a:p>
        </p:txBody>
      </p:sp>
    </p:spTree>
    <p:extLst>
      <p:ext uri="{BB962C8B-B14F-4D97-AF65-F5344CB8AC3E}">
        <p14:creationId xmlns:p14="http://schemas.microsoft.com/office/powerpoint/2010/main" val="2269289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11</a:t>
            </a:fld>
            <a:endParaRPr lang="zh-CN" altLang="en-US"/>
          </a:p>
        </p:txBody>
      </p:sp>
    </p:spTree>
    <p:extLst>
      <p:ext uri="{BB962C8B-B14F-4D97-AF65-F5344CB8AC3E}">
        <p14:creationId xmlns:p14="http://schemas.microsoft.com/office/powerpoint/2010/main" val="2612633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12</a:t>
            </a:fld>
            <a:endParaRPr lang="zh-CN" altLang="en-US"/>
          </a:p>
        </p:txBody>
      </p:sp>
    </p:spTree>
    <p:extLst>
      <p:ext uri="{BB962C8B-B14F-4D97-AF65-F5344CB8AC3E}">
        <p14:creationId xmlns:p14="http://schemas.microsoft.com/office/powerpoint/2010/main" val="290962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13</a:t>
            </a:fld>
            <a:endParaRPr lang="zh-CN" altLang="en-US"/>
          </a:p>
        </p:txBody>
      </p:sp>
    </p:spTree>
    <p:extLst>
      <p:ext uri="{BB962C8B-B14F-4D97-AF65-F5344CB8AC3E}">
        <p14:creationId xmlns:p14="http://schemas.microsoft.com/office/powerpoint/2010/main" val="1514066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15</a:t>
            </a:fld>
            <a:endParaRPr lang="zh-CN" altLang="en-US"/>
          </a:p>
        </p:txBody>
      </p:sp>
    </p:spTree>
    <p:extLst>
      <p:ext uri="{BB962C8B-B14F-4D97-AF65-F5344CB8AC3E}">
        <p14:creationId xmlns:p14="http://schemas.microsoft.com/office/powerpoint/2010/main" val="1476588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16</a:t>
            </a:fld>
            <a:endParaRPr lang="zh-CN" altLang="en-US"/>
          </a:p>
        </p:txBody>
      </p:sp>
    </p:spTree>
    <p:extLst>
      <p:ext uri="{BB962C8B-B14F-4D97-AF65-F5344CB8AC3E}">
        <p14:creationId xmlns:p14="http://schemas.microsoft.com/office/powerpoint/2010/main" val="3875138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17</a:t>
            </a:fld>
            <a:endParaRPr lang="zh-CN" altLang="en-US"/>
          </a:p>
        </p:txBody>
      </p:sp>
    </p:spTree>
    <p:extLst>
      <p:ext uri="{BB962C8B-B14F-4D97-AF65-F5344CB8AC3E}">
        <p14:creationId xmlns:p14="http://schemas.microsoft.com/office/powerpoint/2010/main" val="3207744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18</a:t>
            </a:fld>
            <a:endParaRPr lang="zh-CN" altLang="en-US"/>
          </a:p>
        </p:txBody>
      </p:sp>
    </p:spTree>
    <p:extLst>
      <p:ext uri="{BB962C8B-B14F-4D97-AF65-F5344CB8AC3E}">
        <p14:creationId xmlns:p14="http://schemas.microsoft.com/office/powerpoint/2010/main" val="3511801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19</a:t>
            </a:fld>
            <a:endParaRPr lang="zh-CN" altLang="en-US"/>
          </a:p>
        </p:txBody>
      </p:sp>
    </p:spTree>
    <p:extLst>
      <p:ext uri="{BB962C8B-B14F-4D97-AF65-F5344CB8AC3E}">
        <p14:creationId xmlns:p14="http://schemas.microsoft.com/office/powerpoint/2010/main" val="150981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20</a:t>
            </a:fld>
            <a:endParaRPr lang="zh-CN" altLang="en-US"/>
          </a:p>
        </p:txBody>
      </p:sp>
    </p:spTree>
    <p:extLst>
      <p:ext uri="{BB962C8B-B14F-4D97-AF65-F5344CB8AC3E}">
        <p14:creationId xmlns:p14="http://schemas.microsoft.com/office/powerpoint/2010/main" val="3552881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21</a:t>
            </a:fld>
            <a:endParaRPr lang="zh-CN" altLang="en-US"/>
          </a:p>
        </p:txBody>
      </p:sp>
    </p:spTree>
    <p:extLst>
      <p:ext uri="{BB962C8B-B14F-4D97-AF65-F5344CB8AC3E}">
        <p14:creationId xmlns:p14="http://schemas.microsoft.com/office/powerpoint/2010/main" val="2177730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22</a:t>
            </a:fld>
            <a:endParaRPr lang="zh-CN" altLang="en-US"/>
          </a:p>
        </p:txBody>
      </p:sp>
    </p:spTree>
    <p:extLst>
      <p:ext uri="{BB962C8B-B14F-4D97-AF65-F5344CB8AC3E}">
        <p14:creationId xmlns:p14="http://schemas.microsoft.com/office/powerpoint/2010/main" val="2034878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23</a:t>
            </a:fld>
            <a:endParaRPr lang="zh-CN" altLang="en-US"/>
          </a:p>
        </p:txBody>
      </p:sp>
    </p:spTree>
    <p:extLst>
      <p:ext uri="{BB962C8B-B14F-4D97-AF65-F5344CB8AC3E}">
        <p14:creationId xmlns:p14="http://schemas.microsoft.com/office/powerpoint/2010/main" val="3763908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24</a:t>
            </a:fld>
            <a:endParaRPr lang="zh-CN" altLang="en-US"/>
          </a:p>
        </p:txBody>
      </p:sp>
    </p:spTree>
    <p:extLst>
      <p:ext uri="{BB962C8B-B14F-4D97-AF65-F5344CB8AC3E}">
        <p14:creationId xmlns:p14="http://schemas.microsoft.com/office/powerpoint/2010/main" val="4230150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25</a:t>
            </a:fld>
            <a:endParaRPr lang="zh-CN" altLang="en-US"/>
          </a:p>
        </p:txBody>
      </p:sp>
    </p:spTree>
    <p:extLst>
      <p:ext uri="{BB962C8B-B14F-4D97-AF65-F5344CB8AC3E}">
        <p14:creationId xmlns:p14="http://schemas.microsoft.com/office/powerpoint/2010/main" val="4112816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26</a:t>
            </a:fld>
            <a:endParaRPr lang="zh-CN" altLang="en-US"/>
          </a:p>
        </p:txBody>
      </p:sp>
    </p:spTree>
    <p:extLst>
      <p:ext uri="{BB962C8B-B14F-4D97-AF65-F5344CB8AC3E}">
        <p14:creationId xmlns:p14="http://schemas.microsoft.com/office/powerpoint/2010/main" val="3769056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27</a:t>
            </a:fld>
            <a:endParaRPr lang="zh-CN" altLang="en-US"/>
          </a:p>
        </p:txBody>
      </p:sp>
    </p:spTree>
    <p:extLst>
      <p:ext uri="{BB962C8B-B14F-4D97-AF65-F5344CB8AC3E}">
        <p14:creationId xmlns:p14="http://schemas.microsoft.com/office/powerpoint/2010/main" val="1054948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DB2CEA-931D-42B8-8AFF-3E150A2A82EF}" type="slidenum">
              <a:rPr lang="zh-CN" altLang="en-US" smtClean="0"/>
              <a:t>28</a:t>
            </a:fld>
            <a:endParaRPr lang="zh-CN" altLang="en-US"/>
          </a:p>
        </p:txBody>
      </p:sp>
    </p:spTree>
    <p:extLst>
      <p:ext uri="{BB962C8B-B14F-4D97-AF65-F5344CB8AC3E}">
        <p14:creationId xmlns:p14="http://schemas.microsoft.com/office/powerpoint/2010/main" val="1971272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p:sp>
      <p:sp>
        <p:nvSpPr>
          <p:cNvPr id="7171" name="备注占位符 2"/>
          <p:cNvSpPr>
            <a:spLocks noGrp="1"/>
          </p:cNvSpPr>
          <p:nvPr>
            <p:ph type="body" idx="1"/>
          </p:nvPr>
        </p:nvSpPr>
        <p:spPr>
          <a:noFill/>
        </p:spPr>
        <p:txBody>
          <a:bodyPr/>
          <a:lstStyle/>
          <a:p>
            <a:endParaRPr lang="zh-CN" altLang="en-US" smtClean="0"/>
          </a:p>
        </p:txBody>
      </p:sp>
      <p:sp>
        <p:nvSpPr>
          <p:cNvPr id="71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None/>
            </a:pPr>
            <a:fld id="{A3DF5170-8A0D-43AE-A108-EB1D46CE06DD}" type="slidenum">
              <a:rPr lang="zh-CN" altLang="en-US"/>
              <a:pPr eaLnBrk="1" hangingPunct="1">
                <a:buFontTx/>
                <a:buNone/>
              </a:pPr>
              <a:t>29</a:t>
            </a:fld>
            <a:endParaRPr lang="en-US" altLang="zh-CN"/>
          </a:p>
        </p:txBody>
      </p:sp>
    </p:spTree>
    <p:extLst>
      <p:ext uri="{BB962C8B-B14F-4D97-AF65-F5344CB8AC3E}">
        <p14:creationId xmlns:p14="http://schemas.microsoft.com/office/powerpoint/2010/main" val="2121676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0" y="-1"/>
            <a:ext cx="9140780" cy="6858001"/>
          </a:xfrm>
          <a:prstGeom prst="rect">
            <a:avLst/>
          </a:prstGeom>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Tree>
    <p:extLst>
      <p:ext uri="{BB962C8B-B14F-4D97-AF65-F5344CB8AC3E}">
        <p14:creationId xmlns:p14="http://schemas.microsoft.com/office/powerpoint/2010/main" val="9359214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9270778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9"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16728121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11"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70490808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6"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73824499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2021/4/2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1816152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2" y="0"/>
            <a:ext cx="9146352" cy="6858000"/>
          </a:xfrm>
          <a:prstGeom prst="rect">
            <a:avLst/>
          </a:prstGeom>
        </p:spPr>
      </p:pic>
    </p:spTree>
    <p:extLst>
      <p:ext uri="{BB962C8B-B14F-4D97-AF65-F5344CB8AC3E}">
        <p14:creationId xmlns:p14="http://schemas.microsoft.com/office/powerpoint/2010/main" val="372795182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98306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07010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571838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166910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67407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13959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799749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4"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102774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701743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027065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091488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631512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283971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980704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909419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7640004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690962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37814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8882412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237006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3933450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4045291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0167359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4870394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5559747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1377621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5218745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8476972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410008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2551851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5455989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311092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63252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6028798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6143821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4859900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6208589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9239613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995183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3732331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7190477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3418652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4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4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0103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7688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6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6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6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5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938104"/>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9377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31707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6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20277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6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20277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6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20277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7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502278"/>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8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80970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1655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image" Target="../media/image1.jpg"/><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8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A88397-7984-4816-A3BC-987D45041CB5}" type="datetimeFigureOut">
              <a:rPr lang="zh-CN" altLang="en-US" smtClean="0"/>
              <a:t>2021/4/2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4C423-1280-4737-888E-126E3DA98E05}" type="slidenum">
              <a:rPr lang="zh-CN" altLang="en-US" smtClean="0"/>
              <a:t>‹#›</a:t>
            </a:fld>
            <a:endParaRPr lang="zh-CN" altLang="en-US"/>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00458206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 id="2147483712" r:id="rId49"/>
    <p:sldLayoutId id="2147483713" r:id="rId50"/>
    <p:sldLayoutId id="2147483714" r:id="rId51"/>
    <p:sldLayoutId id="2147483715" r:id="rId52"/>
    <p:sldLayoutId id="2147483716" r:id="rId53"/>
    <p:sldLayoutId id="2147483717" r:id="rId54"/>
    <p:sldLayoutId id="2147483718" r:id="rId55"/>
    <p:sldLayoutId id="2147483719" r:id="rId56"/>
    <p:sldLayoutId id="2147483720" r:id="rId57"/>
    <p:sldLayoutId id="2147483721" r:id="rId58"/>
    <p:sldLayoutId id="2147483722" r:id="rId59"/>
    <p:sldLayoutId id="2147483652" r:id="rId60"/>
    <p:sldLayoutId id="2147483651" r:id="rId61"/>
    <p:sldLayoutId id="2147483724" r:id="rId62"/>
    <p:sldLayoutId id="2147483725" r:id="rId63"/>
    <p:sldLayoutId id="2147483726" r:id="rId64"/>
    <p:sldLayoutId id="2147483727" r:id="rId65"/>
    <p:sldLayoutId id="2147483728" r:id="rId66"/>
    <p:sldLayoutId id="2147483729" r:id="rId67"/>
    <p:sldLayoutId id="2147483730" r:id="rId68"/>
    <p:sldLayoutId id="2147483731" r:id="rId69"/>
    <p:sldLayoutId id="2147483732" r:id="rId70"/>
    <p:sldLayoutId id="2147483733" r:id="rId71"/>
    <p:sldLayoutId id="2147483734" r:id="rId72"/>
    <p:sldLayoutId id="2147483735" r:id="rId73"/>
    <p:sldLayoutId id="2147483654" r:id="rId74"/>
    <p:sldLayoutId id="2147483655" r:id="rId75"/>
    <p:sldLayoutId id="2147483657" r:id="rId76"/>
    <p:sldLayoutId id="2147483736" r:id="rId77"/>
    <p:sldLayoutId id="2147483737" r:id="rId78"/>
    <p:sldLayoutId id="2147483738" r:id="rId79"/>
    <p:sldLayoutId id="2147483659" r:id="rId80"/>
    <p:sldLayoutId id="2147483660" r:id="rId81"/>
    <p:sldLayoutId id="2147483662" r:id="rId8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0.xml"/><Relationship Id="rId1" Type="http://schemas.openxmlformats.org/officeDocument/2006/relationships/tags" Target="../tags/tag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3.xml"/><Relationship Id="rId1" Type="http://schemas.openxmlformats.org/officeDocument/2006/relationships/tags" Target="../tags/tag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7.xml"/><Relationship Id="rId7" Type="http://schemas.openxmlformats.org/officeDocument/2006/relationships/customXml" Target="../ink/ink1.xml"/><Relationship Id="rId2" Type="http://schemas.openxmlformats.org/officeDocument/2006/relationships/slideLayout" Target="../slideLayouts/slideLayout51.xml"/><Relationship Id="rId1" Type="http://schemas.openxmlformats.org/officeDocument/2006/relationships/tags" Target="../tags/tag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3.png"/><Relationship Id="rId2" Type="http://schemas.openxmlformats.org/officeDocument/2006/relationships/slideLayout" Target="../slideLayouts/slideLayout65.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6.xml"/><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7.xml"/><Relationship Id="rId1" Type="http://schemas.openxmlformats.org/officeDocument/2006/relationships/tags" Target="../tags/tag12.xml"/><Relationship Id="rId6" Type="http://schemas.openxmlformats.org/officeDocument/2006/relationships/image" Target="../media/image18.emf"/><Relationship Id="rId5" Type="http://schemas.openxmlformats.org/officeDocument/2006/relationships/customXml" Target="../ink/ink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8.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9.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0.xml"/><Relationship Id="rId1" Type="http://schemas.openxmlformats.org/officeDocument/2006/relationships/tags" Target="../tags/tag16.xml"/><Relationship Id="rId6" Type="http://schemas.openxmlformats.org/officeDocument/2006/relationships/image" Target="../media/image19.jpeg"/><Relationship Id="rId5" Type="http://schemas.openxmlformats.org/officeDocument/2006/relationships/image" Target="../media/image13.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1.xml"/><Relationship Id="rId1" Type="http://schemas.openxmlformats.org/officeDocument/2006/relationships/tags" Target="../tags/tag17.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2.xml"/><Relationship Id="rId1" Type="http://schemas.openxmlformats.org/officeDocument/2006/relationships/tags" Target="../tags/tag18.xml"/><Relationship Id="rId4" Type="http://schemas.openxmlformats.org/officeDocument/2006/relationships/image" Target="../media/image21.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3.xml"/><Relationship Id="rId1" Type="http://schemas.openxmlformats.org/officeDocument/2006/relationships/tags" Target="../tags/tag20.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4.xml"/><Relationship Id="rId1" Type="http://schemas.openxmlformats.org/officeDocument/2006/relationships/tags" Target="../tags/tag2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9.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5.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6.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7.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8.xml"/><Relationship Id="rId1" Type="http://schemas.openxmlformats.org/officeDocument/2006/relationships/tags" Target="../tags/tag26.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9.xml"/><Relationship Id="rId1" Type="http://schemas.openxmlformats.org/officeDocument/2006/relationships/tags" Target="../tags/tag27.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9.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539552" y="1352281"/>
            <a:ext cx="8136904" cy="2157681"/>
          </a:xfrm>
        </p:spPr>
        <p:txBody>
          <a:bodyPr/>
          <a:lstStyle/>
          <a:p>
            <a:r>
              <a:rPr lang="en-US" altLang="zh-CN" b="1" dirty="0" smtClean="0"/>
              <a:t>Java Web</a:t>
            </a:r>
            <a:r>
              <a:rPr lang="zh-CN" altLang="en-US" b="1" smtClean="0"/>
              <a:t>程序设计任务教程</a:t>
            </a:r>
            <a:endParaRPr lang="zh-CN" altLang="en-US" b="1" dirty="0"/>
          </a:p>
        </p:txBody>
      </p:sp>
      <p:sp>
        <p:nvSpPr>
          <p:cNvPr id="10" name="副标题 2"/>
          <p:cNvSpPr>
            <a:spLocks noGrp="1"/>
          </p:cNvSpPr>
          <p:nvPr>
            <p:ph type="subTitle" idx="1"/>
          </p:nvPr>
        </p:nvSpPr>
        <p:spPr>
          <a:xfrm>
            <a:off x="1143000" y="3861470"/>
            <a:ext cx="6858000" cy="1655762"/>
          </a:xfrm>
        </p:spPr>
        <p:txBody>
          <a:bodyPr>
            <a:normAutofit/>
          </a:bodyPr>
          <a:lstStyle/>
          <a:p>
            <a:r>
              <a:rPr lang="zh-CN" altLang="en-US" sz="3200" b="1" dirty="0" smtClean="0"/>
              <a:t>第</a:t>
            </a:r>
            <a:r>
              <a:rPr lang="en-US" altLang="zh-CN" sz="3200" b="1" dirty="0" smtClean="0"/>
              <a:t>5</a:t>
            </a:r>
            <a:r>
              <a:rPr lang="zh-CN" altLang="en-US" sz="3200" b="1" dirty="0" smtClean="0"/>
              <a:t>章 会话及会话技术</a:t>
            </a:r>
            <a:endParaRPr lang="zh-CN" altLang="en-US" sz="3200" b="1" dirty="0"/>
          </a:p>
        </p:txBody>
      </p:sp>
      <p:sp>
        <p:nvSpPr>
          <p:cNvPr id="11" name="TextBox 13"/>
          <p:cNvSpPr>
            <a:spLocks noChangeArrowheads="1"/>
          </p:cNvSpPr>
          <p:nvPr/>
        </p:nvSpPr>
        <p:spPr bwMode="auto">
          <a:xfrm>
            <a:off x="5430838" y="5517232"/>
            <a:ext cx="3461642" cy="874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Cookie</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对象</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 Session</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实现购物车</a:t>
            </a:r>
            <a:endParaRPr lang="en-US" altLang="zh-CN" dirty="0">
              <a:solidFill>
                <a:schemeClr val="accent1">
                  <a:lumMod val="75000"/>
                </a:schemeClr>
              </a:solidFill>
              <a:latin typeface="微软雅黑" pitchFamily="34" charset="-122"/>
              <a:ea typeface="微软雅黑" pitchFamily="34" charset="-122"/>
              <a:sym typeface="微软雅黑" pitchFamily="34" charset="-122"/>
            </a:endParaRPr>
          </a:p>
        </p:txBody>
      </p:sp>
      <p:sp>
        <p:nvSpPr>
          <p:cNvPr id="12" name="矩形 11"/>
          <p:cNvSpPr/>
          <p:nvPr/>
        </p:nvSpPr>
        <p:spPr>
          <a:xfrm>
            <a:off x="2752725" y="5538788"/>
            <a:ext cx="4572000" cy="923330"/>
          </a:xfrm>
          <a:prstGeom prst="rect">
            <a:avLst/>
          </a:prstGeom>
        </p:spPr>
        <p:txBody>
          <a:bodyPr>
            <a:spAutoFit/>
          </a:bodyPr>
          <a:lstStyle/>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会话的特点</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 session</a:t>
            </a:r>
            <a:r>
              <a:rPr lang="zh-CN" altLang="en-US" dirty="0">
                <a:solidFill>
                  <a:schemeClr val="accent1">
                    <a:lumMod val="75000"/>
                  </a:schemeClr>
                </a:solidFill>
                <a:latin typeface="微软雅黑" pitchFamily="34" charset="-122"/>
                <a:ea typeface="微软雅黑" pitchFamily="34" charset="-122"/>
                <a:sym typeface="微软雅黑" pitchFamily="34" charset="-122"/>
              </a:rPr>
              <a:t>对象</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p:txBody>
      </p:sp>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301208"/>
            <a:ext cx="947906" cy="119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81007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简述请求转发与重定向的异同？（至少写</a:t>
            </a:r>
            <a:r>
              <a:rPr lang="en-US" altLang="zh-CN" sz="2400">
                <a:solidFill>
                  <a:prstClr val="black"/>
                </a:solidFill>
              </a:rPr>
              <a:t>3</a:t>
            </a:r>
            <a:r>
              <a:rPr lang="zh-CN" altLang="en-US" sz="2400">
                <a:solidFill>
                  <a:prstClr val="black"/>
                </a:solidFill>
              </a:rPr>
              <a:t>点</a:t>
            </a:r>
            <a:r>
              <a:rPr lang="zh-CN" altLang="en-US" sz="2400" smtClean="0">
                <a:solidFill>
                  <a:prstClr val="black"/>
                </a:solidFill>
              </a:rPr>
              <a:t>）</a:t>
            </a:r>
          </a:p>
          <a:p>
            <a:pPr lvl="1">
              <a:lnSpc>
                <a:spcPct val="150000"/>
              </a:lnSpc>
              <a:spcBef>
                <a:spcPct val="20000"/>
              </a:spcBef>
              <a:buFontTx/>
              <a:buChar char="–"/>
            </a:pPr>
            <a:r>
              <a:rPr lang="zh-CN" altLang="en-US" sz="2400">
                <a:solidFill>
                  <a:prstClr val="black"/>
                </a:solidFill>
              </a:rPr>
              <a:t>请写出禁止浏览器缓存页面的核心代码</a:t>
            </a:r>
            <a:r>
              <a:rPr lang="zh-CN" altLang="en-US" sz="2400" smtClean="0">
                <a:solidFill>
                  <a:prstClr val="black"/>
                </a:solidFill>
              </a:rPr>
              <a:t>。</a:t>
            </a:r>
            <a:endParaRPr lang="en-US" altLang="zh-CN" sz="2400">
              <a:solidFill>
                <a:prstClr val="black"/>
              </a:solidFill>
            </a:endParaRPr>
          </a:p>
        </p:txBody>
      </p:sp>
      <p:sp>
        <p:nvSpPr>
          <p:cNvPr id="4" name="标题 1"/>
          <p:cNvSpPr>
            <a:spLocks noChangeArrowheads="1"/>
          </p:cNvSpPr>
          <p:nvPr/>
        </p:nvSpPr>
        <p:spPr bwMode="auto">
          <a:xfrm>
            <a:off x="1643733" y="389681"/>
            <a:ext cx="55925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作业</a:t>
            </a:r>
            <a:r>
              <a:rPr lang="zh-CN" altLang="en-US" sz="3200" b="1" dirty="0">
                <a:solidFill>
                  <a:srgbClr val="006BA9"/>
                </a:solidFill>
                <a:latin typeface="微软雅黑" pitchFamily="34" charset="-122"/>
                <a:ea typeface="微软雅黑" pitchFamily="34" charset="-122"/>
                <a:sym typeface="宋体" charset="-122"/>
              </a:rPr>
              <a:t>点评</a:t>
            </a:r>
          </a:p>
        </p:txBody>
      </p:sp>
    </p:spTree>
    <p:custDataLst>
      <p:tags r:id="rId1"/>
    </p:custDataLst>
    <p:extLst>
      <p:ext uri="{BB962C8B-B14F-4D97-AF65-F5344CB8AC3E}">
        <p14:creationId xmlns:p14="http://schemas.microsoft.com/office/powerpoint/2010/main" val="469961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t>会话的</a:t>
            </a:r>
            <a:r>
              <a:rPr lang="zh-CN" altLang="en-US" sz="2400" smtClean="0"/>
              <a:t>特点</a:t>
            </a:r>
            <a:r>
              <a:rPr lang="zh-CN" altLang="en-US" sz="2400" smtClean="0">
                <a:solidFill>
                  <a:prstClr val="black"/>
                </a:solidFill>
              </a:rPr>
              <a:t>。</a:t>
            </a:r>
            <a:endParaRPr lang="en-US" altLang="zh-CN" sz="2400" smtClean="0">
              <a:solidFill>
                <a:prstClr val="black"/>
              </a:solidFill>
            </a:endParaRPr>
          </a:p>
          <a:p>
            <a:pPr lvl="1">
              <a:lnSpc>
                <a:spcPct val="150000"/>
              </a:lnSpc>
              <a:spcBef>
                <a:spcPct val="20000"/>
              </a:spcBef>
              <a:buFontTx/>
              <a:buChar char="–"/>
            </a:pPr>
            <a:r>
              <a:rPr lang="zh-CN" altLang="en-US" sz="2400"/>
              <a:t>什么是</a:t>
            </a:r>
            <a:r>
              <a:rPr lang="en-US" altLang="zh-CN" sz="2400"/>
              <a:t>Cookie</a:t>
            </a:r>
            <a:r>
              <a:rPr lang="zh-CN" altLang="en-US" sz="2400"/>
              <a:t>对象和</a:t>
            </a:r>
            <a:r>
              <a:rPr lang="en-US" altLang="zh-CN" sz="2400"/>
              <a:t>Session</a:t>
            </a:r>
            <a:r>
              <a:rPr lang="zh-CN" altLang="en-US" sz="2400" smtClean="0"/>
              <a:t>对象？</a:t>
            </a:r>
            <a:endParaRPr lang="en-US" altLang="zh-CN" sz="2400" dirty="0">
              <a:solidFill>
                <a:prstClr val="black"/>
              </a:solidFill>
            </a:endParaRPr>
          </a:p>
        </p:txBody>
      </p:sp>
      <p:sp>
        <p:nvSpPr>
          <p:cNvPr id="4" name="标题 1"/>
          <p:cNvSpPr>
            <a:spLocks noChangeArrowheads="1"/>
          </p:cNvSpPr>
          <p:nvPr/>
        </p:nvSpPr>
        <p:spPr bwMode="auto">
          <a:xfrm>
            <a:off x="1643733" y="389681"/>
            <a:ext cx="55925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预习</a:t>
            </a:r>
            <a:r>
              <a:rPr lang="zh-CN" altLang="en-US" sz="3200" b="1" dirty="0">
                <a:solidFill>
                  <a:srgbClr val="006BA9"/>
                </a:solidFill>
                <a:latin typeface="微软雅黑" pitchFamily="34" charset="-122"/>
                <a:ea typeface="微软雅黑" pitchFamily="34" charset="-122"/>
                <a:sym typeface="宋体" charset="-122"/>
              </a:rPr>
              <a:t>检查</a:t>
            </a:r>
          </a:p>
        </p:txBody>
      </p:sp>
    </p:spTree>
    <p:custDataLst>
      <p:tags r:id="rId1"/>
    </p:custDataLst>
    <p:extLst>
      <p:ext uri="{BB962C8B-B14F-4D97-AF65-F5344CB8AC3E}">
        <p14:creationId xmlns:p14="http://schemas.microsoft.com/office/powerpoint/2010/main" val="2060494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flipH="1" flipV="1">
            <a:off x="321561" y="2194585"/>
            <a:ext cx="2666263" cy="1139825"/>
            <a:chOff x="5374687" y="4225925"/>
            <a:chExt cx="3297326" cy="1209015"/>
          </a:xfrm>
        </p:grpSpPr>
        <p:grpSp>
          <p:nvGrpSpPr>
            <p:cNvPr id="3" name="组合 38"/>
            <p:cNvGrpSpPr>
              <a:grpSpLocks/>
            </p:cNvGrpSpPr>
            <p:nvPr/>
          </p:nvGrpSpPr>
          <p:grpSpPr bwMode="auto">
            <a:xfrm rot="10800000">
              <a:off x="5687902" y="4225925"/>
              <a:ext cx="2669052" cy="686411"/>
              <a:chOff x="934464" y="2318309"/>
              <a:chExt cx="2669329" cy="686148"/>
            </a:xfrm>
          </p:grpSpPr>
          <p:cxnSp>
            <p:nvCxnSpPr>
              <p:cNvPr id="8" name="直接连接符 39"/>
              <p:cNvCxnSpPr>
                <a:cxnSpLocks noChangeShapeType="1"/>
              </p:cNvCxnSpPr>
              <p:nvPr/>
            </p:nvCxnSpPr>
            <p:spPr bwMode="auto">
              <a:xfrm rot="10800000" flipH="1" flipV="1">
                <a:off x="934464" y="2318309"/>
                <a:ext cx="298001" cy="686148"/>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0"/>
              <p:cNvCxnSpPr>
                <a:cxnSpLocks noChangeShapeType="1"/>
              </p:cNvCxnSpPr>
              <p:nvPr/>
            </p:nvCxnSpPr>
            <p:spPr bwMode="auto">
              <a:xfrm rot="10800000" flipH="1" flipV="1">
                <a:off x="1222939" y="3004457"/>
                <a:ext cx="2380854" cy="0"/>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41"/>
            <p:cNvGrpSpPr>
              <a:grpSpLocks/>
            </p:cNvGrpSpPr>
            <p:nvPr/>
          </p:nvGrpSpPr>
          <p:grpSpPr bwMode="auto">
            <a:xfrm flipH="1">
              <a:off x="8082606" y="4880949"/>
              <a:ext cx="589407" cy="553991"/>
              <a:chOff x="1256847" y="3607535"/>
              <a:chExt cx="591076" cy="553298"/>
            </a:xfrm>
          </p:grpSpPr>
          <p:sp>
            <p:nvSpPr>
              <p:cNvPr id="6" name="椭圆 5"/>
              <p:cNvSpPr/>
              <p:nvPr/>
            </p:nvSpPr>
            <p:spPr bwMode="auto">
              <a:xfrm>
                <a:off x="1256847" y="3647898"/>
                <a:ext cx="591076" cy="474256"/>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7" name="TextBox 6"/>
              <p:cNvSpPr txBox="1"/>
              <p:nvPr/>
            </p:nvSpPr>
            <p:spPr>
              <a:xfrm rot="10800000">
                <a:off x="1327723" y="3607535"/>
                <a:ext cx="334694" cy="553298"/>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5" name="矩形 51"/>
            <p:cNvSpPr>
              <a:spLocks noChangeArrowheads="1"/>
            </p:cNvSpPr>
            <p:nvPr/>
          </p:nvSpPr>
          <p:spPr bwMode="auto">
            <a:xfrm rot="10800000">
              <a:off x="5374687" y="4280196"/>
              <a:ext cx="2762197" cy="68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r>
                <a:rPr lang="zh-CN" altLang="en-US" b="1" dirty="0" smtClean="0">
                  <a:solidFill>
                    <a:srgbClr val="006BA9"/>
                  </a:solidFill>
                  <a:latin typeface="微软雅黑" panose="020B0503020204020204" pitchFamily="34" charset="-122"/>
                  <a:ea typeface="微软雅黑" panose="020B0503020204020204" pitchFamily="34" charset="-122"/>
                  <a:sym typeface="宋体" pitchFamily="2" charset="-122"/>
                </a:rPr>
                <a:t>什么是</a:t>
              </a:r>
              <a:r>
                <a:rPr lang="en-US" altLang="zh-CN" b="1" dirty="0" smtClean="0">
                  <a:solidFill>
                    <a:srgbClr val="006BA9"/>
                  </a:solidFill>
                  <a:latin typeface="微软雅黑" panose="020B0503020204020204" pitchFamily="34" charset="-122"/>
                  <a:ea typeface="微软雅黑" panose="020B0503020204020204" pitchFamily="34" charset="-122"/>
                  <a:sym typeface="宋体" pitchFamily="2" charset="-122"/>
                </a:rPr>
                <a:t>Cookie</a:t>
              </a:r>
              <a:r>
                <a:rPr lang="zh-CN" altLang="en-US" b="1" dirty="0" smtClean="0">
                  <a:solidFill>
                    <a:srgbClr val="006BA9"/>
                  </a:solidFill>
                  <a:latin typeface="微软雅黑" panose="020B0503020204020204" pitchFamily="34" charset="-122"/>
                  <a:ea typeface="微软雅黑" panose="020B0503020204020204" pitchFamily="34" charset="-122"/>
                  <a:sym typeface="宋体" pitchFamily="2" charset="-122"/>
                </a:rPr>
                <a:t>和</a:t>
              </a:r>
              <a:r>
                <a:rPr lang="en-US" altLang="zh-CN" b="1" dirty="0" smtClean="0">
                  <a:solidFill>
                    <a:srgbClr val="006BA9"/>
                  </a:solidFill>
                  <a:latin typeface="微软雅黑" panose="020B0503020204020204" pitchFamily="34" charset="-122"/>
                  <a:ea typeface="微软雅黑" panose="020B0503020204020204" pitchFamily="34" charset="-122"/>
                  <a:sym typeface="宋体" pitchFamily="2" charset="-122"/>
                </a:rPr>
                <a:t>Session</a:t>
              </a:r>
            </a:p>
          </p:txBody>
        </p:sp>
      </p:grpSp>
      <p:grpSp>
        <p:nvGrpSpPr>
          <p:cNvPr id="10" name="组合 9"/>
          <p:cNvGrpSpPr>
            <a:grpSpLocks/>
          </p:cNvGrpSpPr>
          <p:nvPr/>
        </p:nvGrpSpPr>
        <p:grpSpPr bwMode="auto">
          <a:xfrm>
            <a:off x="1570070" y="1316729"/>
            <a:ext cx="5245036" cy="4035361"/>
            <a:chOff x="1398367" y="1722062"/>
            <a:chExt cx="5245036" cy="4035172"/>
          </a:xfrm>
        </p:grpSpPr>
        <p:graphicFrame>
          <p:nvGraphicFramePr>
            <p:cNvPr id="11" name="图表 2"/>
            <p:cNvGraphicFramePr>
              <a:graphicFrameLocks/>
            </p:cNvGraphicFramePr>
            <p:nvPr>
              <p:extLst>
                <p:ext uri="{D42A27DB-BD31-4B8C-83A1-F6EECF244321}">
                  <p14:modId xmlns:p14="http://schemas.microsoft.com/office/powerpoint/2010/main" val="4192531024"/>
                </p:ext>
              </p:extLst>
            </p:nvPr>
          </p:nvGraphicFramePr>
          <p:xfrm>
            <a:off x="1398367" y="1722062"/>
            <a:ext cx="5245036" cy="403517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bwMode="auto">
            <a:xfrm rot="2719682">
              <a:off x="4600346" y="2872905"/>
              <a:ext cx="1042938" cy="369888"/>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掌握</a:t>
              </a:r>
            </a:p>
          </p:txBody>
        </p:sp>
        <p:sp>
          <p:nvSpPr>
            <p:cNvPr id="13" name="TextBox 12"/>
            <p:cNvSpPr txBox="1"/>
            <p:nvPr/>
          </p:nvSpPr>
          <p:spPr bwMode="auto">
            <a:xfrm rot="6997465" flipV="1">
              <a:off x="2748528" y="2675271"/>
              <a:ext cx="1041351" cy="369887"/>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了解</a:t>
              </a:r>
            </a:p>
          </p:txBody>
        </p:sp>
        <p:sp>
          <p:nvSpPr>
            <p:cNvPr id="14" name="TextBox 13"/>
            <p:cNvSpPr txBox="1"/>
            <p:nvPr/>
          </p:nvSpPr>
          <p:spPr bwMode="auto">
            <a:xfrm rot="10800000" flipH="1" flipV="1">
              <a:off x="3819272" y="4427003"/>
              <a:ext cx="1041400" cy="368283"/>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熟悉</a:t>
              </a:r>
            </a:p>
          </p:txBody>
        </p:sp>
      </p:grpSp>
      <p:grpSp>
        <p:nvGrpSpPr>
          <p:cNvPr id="15" name="组合 2"/>
          <p:cNvGrpSpPr>
            <a:grpSpLocks/>
          </p:cNvGrpSpPr>
          <p:nvPr/>
        </p:nvGrpSpPr>
        <p:grpSpPr bwMode="auto">
          <a:xfrm>
            <a:off x="3692525" y="2547010"/>
            <a:ext cx="1203325" cy="1201737"/>
            <a:chOff x="3692088" y="2878838"/>
            <a:chExt cx="1203191" cy="1201737"/>
          </a:xfrm>
        </p:grpSpPr>
        <p:sp>
          <p:nvSpPr>
            <p:cNvPr id="16" name="弧形 15"/>
            <p:cNvSpPr/>
            <p:nvPr/>
          </p:nvSpPr>
          <p:spPr bwMode="auto">
            <a:xfrm rot="5400000">
              <a:off x="3692815" y="2878111"/>
              <a:ext cx="1201737" cy="1203191"/>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7" name="弧形 16"/>
            <p:cNvSpPr/>
            <p:nvPr/>
          </p:nvSpPr>
          <p:spPr bwMode="auto">
            <a:xfrm>
              <a:off x="3795265" y="2996313"/>
              <a:ext cx="990490" cy="992187"/>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8" name="弧形 17"/>
            <p:cNvSpPr/>
            <p:nvPr/>
          </p:nvSpPr>
          <p:spPr bwMode="auto">
            <a:xfrm rot="16200000">
              <a:off x="3891251" y="3136849"/>
              <a:ext cx="822325" cy="753978"/>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grpSp>
      <p:grpSp>
        <p:nvGrpSpPr>
          <p:cNvPr id="19" name="组合 18"/>
          <p:cNvGrpSpPr>
            <a:grpSpLocks/>
          </p:cNvGrpSpPr>
          <p:nvPr/>
        </p:nvGrpSpPr>
        <p:grpSpPr bwMode="auto">
          <a:xfrm>
            <a:off x="4604978" y="4706680"/>
            <a:ext cx="3783444" cy="1082410"/>
            <a:chOff x="4241881" y="5106729"/>
            <a:chExt cx="2087300" cy="1075694"/>
          </a:xfrm>
        </p:grpSpPr>
        <p:grpSp>
          <p:nvGrpSpPr>
            <p:cNvPr id="20" name="组合 38"/>
            <p:cNvGrpSpPr>
              <a:grpSpLocks/>
            </p:cNvGrpSpPr>
            <p:nvPr/>
          </p:nvGrpSpPr>
          <p:grpSpPr bwMode="auto">
            <a:xfrm rot="5400000" flipV="1">
              <a:off x="4703914" y="4644696"/>
              <a:ext cx="1075694" cy="1999759"/>
              <a:chOff x="6453791" y="4116789"/>
              <a:chExt cx="1526764" cy="915993"/>
            </a:xfrm>
          </p:grpSpPr>
          <p:grpSp>
            <p:nvGrpSpPr>
              <p:cNvPr id="22" name="组合 38"/>
              <p:cNvGrpSpPr>
                <a:grpSpLocks/>
              </p:cNvGrpSpPr>
              <p:nvPr/>
            </p:nvGrpSpPr>
            <p:grpSpPr bwMode="auto">
              <a:xfrm rot="10800000">
                <a:off x="6453791" y="4116789"/>
                <a:ext cx="1212473" cy="810510"/>
                <a:chOff x="1625229" y="2303341"/>
                <a:chExt cx="1212595" cy="810196"/>
              </a:xfrm>
            </p:grpSpPr>
            <p:cxnSp>
              <p:nvCxnSpPr>
                <p:cNvPr id="26" name="直接连接符 39"/>
                <p:cNvCxnSpPr>
                  <a:cxnSpLocks noChangeShapeType="1"/>
                </p:cNvCxnSpPr>
                <p:nvPr/>
              </p:nvCxnSpPr>
              <p:spPr bwMode="auto">
                <a:xfrm rot="16200000" flipH="1" flipV="1">
                  <a:off x="1232572" y="2695997"/>
                  <a:ext cx="785314" cy="1"/>
                </a:xfrm>
                <a:prstGeom prst="line">
                  <a:avLst/>
                </a:prstGeom>
                <a:noFill/>
                <a:ln w="28575" algn="ctr">
                  <a:solidFill>
                    <a:srgbClr val="01598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40"/>
                <p:cNvCxnSpPr>
                  <a:cxnSpLocks noChangeShapeType="1"/>
                </p:cNvCxnSpPr>
                <p:nvPr/>
              </p:nvCxnSpPr>
              <p:spPr bwMode="auto">
                <a:xfrm rot="16200000" flipH="1">
                  <a:off x="2219087" y="2494799"/>
                  <a:ext cx="24880" cy="1212595"/>
                </a:xfrm>
                <a:prstGeom prst="line">
                  <a:avLst/>
                </a:prstGeom>
                <a:noFill/>
                <a:ln w="28575" algn="ctr">
                  <a:solidFill>
                    <a:srgbClr val="01598B"/>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组合 41"/>
              <p:cNvGrpSpPr>
                <a:grpSpLocks/>
              </p:cNvGrpSpPr>
              <p:nvPr/>
            </p:nvGrpSpPr>
            <p:grpSpPr bwMode="auto">
              <a:xfrm flipH="1">
                <a:off x="7292398" y="4920843"/>
                <a:ext cx="688157" cy="111939"/>
                <a:chOff x="1950262" y="3647353"/>
                <a:chExt cx="690106" cy="111798"/>
              </a:xfrm>
            </p:grpSpPr>
            <p:sp>
              <p:nvSpPr>
                <p:cNvPr id="24" name="椭圆 23"/>
                <p:cNvSpPr/>
                <p:nvPr/>
              </p:nvSpPr>
              <p:spPr bwMode="auto">
                <a:xfrm rot="5400000">
                  <a:off x="2204742" y="3392873"/>
                  <a:ext cx="111798" cy="620757"/>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25" name="TextBox 24"/>
                <p:cNvSpPr txBox="1"/>
                <p:nvPr/>
              </p:nvSpPr>
              <p:spPr>
                <a:xfrm rot="5400000">
                  <a:off x="2258983" y="3365768"/>
                  <a:ext cx="93355" cy="669414"/>
                </a:xfrm>
                <a:prstGeom prst="rect">
                  <a:avLst/>
                </a:prstGeom>
                <a:noFill/>
                <a:effectLst>
                  <a:outerShdw blurRad="12700" dist="12700" dir="2700000" algn="tl" rotWithShape="0">
                    <a:prstClr val="black">
                      <a:alpha val="40000"/>
                    </a:prstClr>
                  </a:outerShdw>
                </a:effectLst>
              </p:spPr>
              <p:txBody>
                <a:bodyPr wrap="square">
                  <a:spAutoFit/>
                </a:bodyPr>
                <a:lstStyle/>
                <a:p>
                  <a:pPr>
                    <a:defRPr/>
                  </a:pPr>
                  <a:r>
                    <a:rPr lang="en-US" altLang="zh-CN" sz="2800" b="1">
                      <a:solidFill>
                        <a:schemeClr val="bg1"/>
                      </a:solidFill>
                      <a:latin typeface="Times New Roman" panose="02020603050405020304" pitchFamily="18" charset="0"/>
                      <a:cs typeface="Times New Roman" panose="02020603050405020304" pitchFamily="18" charset="0"/>
                    </a:rPr>
                    <a:t>2</a:t>
                  </a:r>
                  <a:endParaRPr lang="zh-CN"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21" name="矩形 4"/>
            <p:cNvSpPr>
              <a:spLocks noChangeArrowheads="1"/>
            </p:cNvSpPr>
            <p:nvPr/>
          </p:nvSpPr>
          <p:spPr bwMode="auto">
            <a:xfrm>
              <a:off x="4349019" y="5339762"/>
              <a:ext cx="1980162" cy="49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nSpc>
                  <a:spcPts val="3600"/>
                </a:lnSpc>
              </a:pPr>
              <a:r>
                <a:rPr lang="zh-CN" altLang="en-US" b="1" dirty="0" smtClean="0">
                  <a:solidFill>
                    <a:srgbClr val="006BA9"/>
                  </a:solidFill>
                  <a:ea typeface="微软雅黑" pitchFamily="34" charset="-122"/>
                  <a:sym typeface="宋体" charset="-122"/>
                </a:rPr>
                <a:t>购物车和用户登录的流程</a:t>
              </a:r>
              <a:endParaRPr lang="en-US" altLang="zh-CN" b="1" dirty="0">
                <a:solidFill>
                  <a:srgbClr val="006BA9"/>
                </a:solidFill>
                <a:ea typeface="微软雅黑" pitchFamily="34" charset="-122"/>
                <a:sym typeface="宋体" charset="-122"/>
              </a:endParaRPr>
            </a:p>
          </p:txBody>
        </p:sp>
      </p:grpSp>
      <p:grpSp>
        <p:nvGrpSpPr>
          <p:cNvPr id="28" name="组合 6"/>
          <p:cNvGrpSpPr>
            <a:grpSpLocks/>
          </p:cNvGrpSpPr>
          <p:nvPr/>
        </p:nvGrpSpPr>
        <p:grpSpPr bwMode="auto">
          <a:xfrm>
            <a:off x="5501021" y="1563619"/>
            <a:ext cx="3535466" cy="906104"/>
            <a:chOff x="5947990" y="1827378"/>
            <a:chExt cx="3309141" cy="906134"/>
          </a:xfrm>
        </p:grpSpPr>
        <p:sp>
          <p:nvSpPr>
            <p:cNvPr id="29" name="矩形 5"/>
            <p:cNvSpPr>
              <a:spLocks noChangeArrowheads="1"/>
            </p:cNvSpPr>
            <p:nvPr/>
          </p:nvSpPr>
          <p:spPr bwMode="auto">
            <a:xfrm flipH="1">
              <a:off x="6113363" y="1964572"/>
              <a:ext cx="2671988" cy="646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r>
                <a:rPr lang="en-US" altLang="zh-CN" b="1" dirty="0" smtClean="0">
                  <a:solidFill>
                    <a:srgbClr val="01598B"/>
                  </a:solidFill>
                  <a:latin typeface="微软雅黑" pitchFamily="34" charset="-122"/>
                  <a:ea typeface="微软雅黑" pitchFamily="34" charset="-122"/>
                </a:rPr>
                <a:t>Cookie</a:t>
              </a:r>
              <a:r>
                <a:rPr lang="zh-CN" altLang="en-US" b="1" dirty="0" smtClean="0">
                  <a:solidFill>
                    <a:srgbClr val="01598B"/>
                  </a:solidFill>
                  <a:latin typeface="微软雅黑" pitchFamily="34" charset="-122"/>
                  <a:ea typeface="微软雅黑" pitchFamily="34" charset="-122"/>
                </a:rPr>
                <a:t>对象和</a:t>
              </a:r>
              <a:r>
                <a:rPr lang="en-US" altLang="zh-CN" b="1" dirty="0" smtClean="0">
                  <a:solidFill>
                    <a:srgbClr val="01598B"/>
                  </a:solidFill>
                  <a:latin typeface="微软雅黑" pitchFamily="34" charset="-122"/>
                  <a:ea typeface="微软雅黑" pitchFamily="34" charset="-122"/>
                </a:rPr>
                <a:t>Session</a:t>
              </a:r>
            </a:p>
            <a:p>
              <a:pPr marL="457200" indent="-457200"/>
              <a:r>
                <a:rPr lang="zh-CN" altLang="en-US" b="1" dirty="0" smtClean="0">
                  <a:solidFill>
                    <a:srgbClr val="01598B"/>
                  </a:solidFill>
                  <a:latin typeface="微软雅黑" pitchFamily="34" charset="-122"/>
                  <a:ea typeface="微软雅黑" pitchFamily="34" charset="-122"/>
                </a:rPr>
                <a:t>对象的使用</a:t>
              </a:r>
              <a:endParaRPr lang="zh-CN" altLang="zh-CN" b="1" dirty="0">
                <a:solidFill>
                  <a:srgbClr val="01598B"/>
                </a:solidFill>
                <a:latin typeface="微软雅黑" pitchFamily="34" charset="-122"/>
                <a:ea typeface="微软雅黑" pitchFamily="34" charset="-122"/>
              </a:endParaRPr>
            </a:p>
          </p:txBody>
        </p:sp>
        <p:grpSp>
          <p:nvGrpSpPr>
            <p:cNvPr id="30" name="组合 16"/>
            <p:cNvGrpSpPr>
              <a:grpSpLocks/>
            </p:cNvGrpSpPr>
            <p:nvPr/>
          </p:nvGrpSpPr>
          <p:grpSpPr bwMode="auto">
            <a:xfrm flipH="1">
              <a:off x="5947990" y="2286831"/>
              <a:ext cx="3039273" cy="446681"/>
              <a:chOff x="980659" y="2862509"/>
              <a:chExt cx="3177995" cy="446892"/>
            </a:xfrm>
          </p:grpSpPr>
          <p:cxnSp>
            <p:nvCxnSpPr>
              <p:cNvPr id="34" name="直接连接符 7"/>
              <p:cNvCxnSpPr>
                <a:cxnSpLocks noChangeShapeType="1"/>
              </p:cNvCxnSpPr>
              <p:nvPr/>
            </p:nvCxnSpPr>
            <p:spPr bwMode="auto">
              <a:xfrm>
                <a:off x="980659" y="2862509"/>
                <a:ext cx="255076" cy="446892"/>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10"/>
              <p:cNvCxnSpPr>
                <a:cxnSpLocks noChangeShapeType="1"/>
              </p:cNvCxnSpPr>
              <p:nvPr/>
            </p:nvCxnSpPr>
            <p:spPr bwMode="auto">
              <a:xfrm>
                <a:off x="1235735" y="3294594"/>
                <a:ext cx="2922919" cy="14807"/>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组合 15"/>
            <p:cNvGrpSpPr>
              <a:grpSpLocks/>
            </p:cNvGrpSpPr>
            <p:nvPr/>
          </p:nvGrpSpPr>
          <p:grpSpPr bwMode="auto">
            <a:xfrm flipH="1">
              <a:off x="8767740" y="1827378"/>
              <a:ext cx="489391" cy="520715"/>
              <a:chOff x="1383067" y="4069721"/>
              <a:chExt cx="511727" cy="520961"/>
            </a:xfrm>
          </p:grpSpPr>
          <p:sp>
            <p:nvSpPr>
              <p:cNvPr id="32" name="椭圆 31"/>
              <p:cNvSpPr/>
              <p:nvPr/>
            </p:nvSpPr>
            <p:spPr bwMode="auto">
              <a:xfrm>
                <a:off x="1383067" y="4085604"/>
                <a:ext cx="511727" cy="473312"/>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33" name="TextBox 32"/>
              <p:cNvSpPr txBox="1"/>
              <p:nvPr/>
            </p:nvSpPr>
            <p:spPr>
              <a:xfrm>
                <a:off x="1491055" y="4069721"/>
                <a:ext cx="335613" cy="52096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3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学习目标</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505850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p:stCondLst>
                              <p:cond delay="125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75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1844824"/>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1979548"/>
            <a:ext cx="3834300" cy="369332"/>
          </a:xfrm>
          <a:prstGeom prst="rect">
            <a:avLst/>
          </a:prstGeom>
          <a:noFill/>
        </p:spPr>
        <p:txBody>
          <a:bodyPr vert="horz" wrap="square" lIns="0" tIns="0" rIns="0" bIns="0" rtlCol="0" anchor="ctr">
            <a:spAutoFit/>
          </a:bodyPr>
          <a:lstStyle/>
          <a:p>
            <a:r>
              <a:rPr lang="en-US" altLang="zh-CN" sz="2400">
                <a:solidFill>
                  <a:schemeClr val="bg1"/>
                </a:solidFill>
                <a:latin typeface="Impact" pitchFamily="34" charset="0"/>
                <a:ea typeface="微软雅黑" pitchFamily="34" charset="-122"/>
              </a:rPr>
              <a:t>5</a:t>
            </a:r>
            <a:r>
              <a:rPr lang="en-US" altLang="zh-CN" sz="2400" smtClean="0">
                <a:solidFill>
                  <a:schemeClr val="bg1"/>
                </a:solidFill>
                <a:latin typeface="Impact" pitchFamily="34" charset="0"/>
                <a:ea typeface="微软雅黑" pitchFamily="34" charset="-122"/>
              </a:rPr>
              <a:t>.1    </a:t>
            </a:r>
            <a:r>
              <a:rPr lang="zh-CN" altLang="en-US" sz="2400" smtClean="0">
                <a:solidFill>
                  <a:schemeClr val="bg1"/>
                </a:solidFill>
                <a:latin typeface="Impact" pitchFamily="34" charset="0"/>
                <a:ea typeface="微软雅黑" pitchFamily="34" charset="-122"/>
              </a:rPr>
              <a:t>会话概述</a:t>
            </a:r>
            <a:r>
              <a:rPr lang="zh-CN" altLang="en-US" sz="2400" smtClean="0">
                <a:solidFill>
                  <a:schemeClr val="bg1"/>
                </a:solidFill>
                <a:latin typeface="微软雅黑" pitchFamily="34" charset="-122"/>
                <a:ea typeface="微软雅黑" pitchFamily="34" charset="-122"/>
              </a:rPr>
              <a:t> </a:t>
            </a:r>
            <a:endParaRPr lang="zh-CN" altLang="en-US" sz="2400" dirty="0">
              <a:solidFill>
                <a:schemeClr val="bg1"/>
              </a:solidFill>
              <a:latin typeface="微软雅黑" pitchFamily="34" charset="-122"/>
              <a:ea typeface="微软雅黑" pitchFamily="34" charset="-122"/>
            </a:endParaRPr>
          </a:p>
        </p:txBody>
      </p:sp>
      <p:sp>
        <p:nvSpPr>
          <p:cNvPr id="5" name="TextBox 10"/>
          <p:cNvSpPr txBox="1"/>
          <p:nvPr/>
        </p:nvSpPr>
        <p:spPr>
          <a:xfrm>
            <a:off x="1097740" y="2723631"/>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.2</a:t>
            </a:r>
            <a:r>
              <a:rPr lang="en-US" altLang="zh-CN" sz="2400" smtClean="0">
                <a:solidFill>
                  <a:srgbClr val="CD1F06"/>
                </a:solidFill>
                <a:latin typeface="Impact" pitchFamily="34" charset="0"/>
                <a:ea typeface="微软雅黑" pitchFamily="34" charset="-122"/>
              </a:rPr>
              <a:t>    </a:t>
            </a:r>
            <a:r>
              <a:rPr lang="en-US" altLang="zh-CN" sz="2400">
                <a:solidFill>
                  <a:srgbClr val="7F7F7F"/>
                </a:solidFill>
                <a:latin typeface="Impact" pitchFamily="34" charset="0"/>
                <a:ea typeface="微软雅黑" pitchFamily="34" charset="-122"/>
              </a:rPr>
              <a:t>Cookie</a:t>
            </a:r>
            <a:r>
              <a:rPr lang="zh-CN" altLang="en-US" sz="2400">
                <a:solidFill>
                  <a:srgbClr val="7F7F7F"/>
                </a:solidFill>
                <a:latin typeface="Impact" pitchFamily="34" charset="0"/>
                <a:ea typeface="微软雅黑" pitchFamily="34" charset="-122"/>
              </a:rPr>
              <a:t>对象</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097740" y="3467714"/>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.3    Session</a:t>
            </a:r>
            <a:r>
              <a:rPr lang="zh-CN" altLang="en-US" sz="2400" smtClean="0">
                <a:solidFill>
                  <a:srgbClr val="7F7F7F"/>
                </a:solidFill>
                <a:latin typeface="Impact" pitchFamily="34" charset="0"/>
                <a:ea typeface="微软雅黑" pitchFamily="34" charset="-122"/>
              </a:rPr>
              <a:t>对象</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5220072" y="1484784"/>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5182106" y="2264870"/>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8" name="TextBox 11"/>
          <p:cNvSpPr txBox="1"/>
          <p:nvPr/>
        </p:nvSpPr>
        <p:spPr>
          <a:xfrm>
            <a:off x="1097740" y="4139788"/>
            <a:ext cx="5346468"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.4    </a:t>
            </a:r>
            <a:r>
              <a:rPr lang="zh-CN" altLang="en-US" sz="2400" smtClean="0">
                <a:solidFill>
                  <a:srgbClr val="7F7F7F"/>
                </a:solidFill>
                <a:latin typeface="Impact" pitchFamily="34" charset="0"/>
                <a:ea typeface="微软雅黑" pitchFamily="34" charset="-122"/>
              </a:rPr>
              <a:t>阶段案例</a:t>
            </a:r>
            <a:endParaRPr lang="zh-CN" altLang="en-US" sz="2400" dirty="0">
              <a:solidFill>
                <a:srgbClr val="7F7F7F"/>
              </a:solidFill>
              <a:latin typeface="Impact" pitchFamily="34" charset="0"/>
              <a:ea typeface="微软雅黑"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469197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350" y="2359025"/>
            <a:ext cx="269557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0" y="1131888"/>
            <a:ext cx="2754313" cy="11080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noFill/>
          </a:ln>
        </p:spPr>
        <p:txBody>
          <a:bodyPr anchor="ctr">
            <a:spAutoFit/>
          </a:bodyPr>
          <a:lstStyle/>
          <a:p>
            <a:pPr eaLnBrk="0" hangingPunct="0">
              <a:lnSpc>
                <a:spcPct val="150000"/>
              </a:lnSpc>
              <a:defRPr/>
            </a:pPr>
            <a:r>
              <a:rPr lang="zh-CN" altLang="en-US" sz="2400" b="1">
                <a:latin typeface="+mj-ea"/>
                <a:ea typeface="+mj-ea"/>
              </a:rPr>
              <a:t> 案例</a:t>
            </a:r>
            <a:endParaRPr lang="en-US" altLang="zh-CN" sz="2400" b="1" dirty="0">
              <a:latin typeface="+mj-ea"/>
              <a:ea typeface="+mj-ea"/>
            </a:endParaRPr>
          </a:p>
          <a:p>
            <a:pPr eaLnBrk="0" hangingPunct="0">
              <a:lnSpc>
                <a:spcPct val="150000"/>
              </a:lnSpc>
              <a:defRPr/>
            </a:pPr>
            <a:r>
              <a:rPr lang="zh-CN" altLang="en-US" sz="2000">
                <a:latin typeface="楷体_GB2312" panose="02010609030101010101" pitchFamily="49" charset="-122"/>
                <a:ea typeface="楷体_GB2312" panose="02010609030101010101" pitchFamily="49" charset="-122"/>
              </a:rPr>
              <a:t> 两个人打电话</a:t>
            </a:r>
            <a:endParaRPr lang="zh-CN" altLang="en-US" sz="2000" dirty="0">
              <a:latin typeface="楷体_GB2312" panose="02010609030101010101" pitchFamily="49" charset="-122"/>
              <a:ea typeface="楷体_GB2312" panose="02010609030101010101" pitchFamily="49" charset="-122"/>
            </a:endParaRPr>
          </a:p>
        </p:txBody>
      </p:sp>
      <p:sp>
        <p:nvSpPr>
          <p:cNvPr id="4" name="矩形标注 3"/>
          <p:cNvSpPr/>
          <p:nvPr/>
        </p:nvSpPr>
        <p:spPr>
          <a:xfrm>
            <a:off x="900113" y="3768725"/>
            <a:ext cx="2384425" cy="1312863"/>
          </a:xfrm>
          <a:prstGeom prst="wedgeRectCallout">
            <a:avLst>
              <a:gd name="adj1" fmla="val 60712"/>
              <a:gd name="adj2" fmla="val -84405"/>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5" name="TextBox 4"/>
          <p:cNvSpPr txBox="1"/>
          <p:nvPr/>
        </p:nvSpPr>
        <p:spPr>
          <a:xfrm>
            <a:off x="1027113" y="3825875"/>
            <a:ext cx="2257425" cy="1200150"/>
          </a:xfrm>
          <a:prstGeom prst="rect">
            <a:avLst/>
          </a:prstGeom>
          <a:noFill/>
        </p:spPr>
        <p:txBody>
          <a:bodyPr>
            <a:spAutoFit/>
          </a:bodyPr>
          <a:lstStyle/>
          <a:p>
            <a:pPr eaLnBrk="0" hangingPunct="0">
              <a:defRPr/>
            </a:pPr>
            <a:r>
              <a:rPr lang="zh-CN" altLang="en-US" sz="2400">
                <a:latin typeface="+mj-ea"/>
                <a:ea typeface="+mj-ea"/>
              </a:rPr>
              <a:t>两个人你问我答的过程就是一个</a:t>
            </a:r>
            <a:r>
              <a:rPr lang="zh-CN" altLang="en-US" sz="2400">
                <a:solidFill>
                  <a:srgbClr val="00B0F0"/>
                </a:solidFill>
                <a:latin typeface="+mj-ea"/>
                <a:ea typeface="+mj-ea"/>
              </a:rPr>
              <a:t>会话</a:t>
            </a:r>
            <a:endParaRPr lang="zh-CN" altLang="en-US" sz="2400" dirty="0">
              <a:solidFill>
                <a:srgbClr val="00B0F0"/>
              </a:solidFill>
              <a:latin typeface="+mj-ea"/>
              <a:ea typeface="+mj-ea"/>
            </a:endParaRPr>
          </a:p>
        </p:txBody>
      </p:sp>
      <p:sp>
        <p:nvSpPr>
          <p:cNvPr id="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会话概述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86429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right)">
                                      <p:cBhvr>
                                        <p:cTn id="15" dur="500"/>
                                        <p:tgtEl>
                                          <p:spTgt spid="4"/>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righ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3" y="1052736"/>
            <a:ext cx="4427987" cy="1192802"/>
            <a:chOff x="-2" y="1921888"/>
            <a:chExt cx="3631564" cy="1192802"/>
          </a:xfrm>
          <a:solidFill>
            <a:srgbClr val="FFCC99"/>
          </a:solidFill>
        </p:grpSpPr>
        <p:sp>
          <p:nvSpPr>
            <p:cNvPr id="3" name="TextBox 2"/>
            <p:cNvSpPr txBox="1"/>
            <p:nvPr/>
          </p:nvSpPr>
          <p:spPr>
            <a:xfrm>
              <a:off x="-2" y="1921888"/>
              <a:ext cx="3631564" cy="110799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noFill/>
            </a:ln>
          </p:spPr>
          <p:txBody>
            <a:bodyPr wrap="square" anchor="ctr">
              <a:spAutoFit/>
            </a:bodyPr>
            <a:lstStyle/>
            <a:p>
              <a:pPr>
                <a:lnSpc>
                  <a:spcPct val="150000"/>
                </a:lnSpc>
                <a:defRPr/>
              </a:pPr>
              <a:r>
                <a:rPr lang="zh-CN" altLang="en-US" sz="2400" b="1">
                  <a:solidFill>
                    <a:srgbClr val="000000"/>
                  </a:solidFill>
                  <a:latin typeface="宋体"/>
                  <a:ea typeface="宋体"/>
                </a:rPr>
                <a:t>      思考</a:t>
              </a:r>
              <a:endParaRPr lang="en-US" altLang="zh-CN" sz="2400" b="1">
                <a:solidFill>
                  <a:srgbClr val="000000"/>
                </a:solidFill>
                <a:latin typeface="宋体"/>
                <a:ea typeface="宋体"/>
              </a:endParaRPr>
            </a:p>
            <a:p>
              <a:pPr eaLnBrk="0" hangingPunct="0">
                <a:lnSpc>
                  <a:spcPct val="150000"/>
                </a:lnSpc>
                <a:defRPr/>
              </a:pPr>
              <a:r>
                <a:rPr lang="zh-CN" altLang="en-US" sz="2000">
                  <a:solidFill>
                    <a:srgbClr val="000000"/>
                  </a:solidFill>
                  <a:latin typeface="楷体_GB2312" panose="02010609030101010101" pitchFamily="49" charset="-122"/>
                  <a:ea typeface="楷体_GB2312" panose="02010609030101010101" pitchFamily="49" charset="-122"/>
                </a:rPr>
                <a:t>       </a:t>
              </a:r>
              <a:r>
                <a:rPr lang="zh-CN" altLang="en-US" sz="2000" smtClean="0">
                  <a:solidFill>
                    <a:srgbClr val="000000"/>
                  </a:solidFill>
                  <a:latin typeface="楷体_GB2312" panose="02010609030101010101" pitchFamily="49" charset="-122"/>
                  <a:ea typeface="楷体_GB2312" panose="02010609030101010101" pitchFamily="49" charset="-122"/>
                </a:rPr>
                <a:t>  </a:t>
              </a:r>
              <a:r>
                <a:rPr lang="en-US" altLang="zh-CN" smtClean="0">
                  <a:latin typeface="楷体_GB2312" panose="02010609030101010101" pitchFamily="49" charset="-122"/>
                  <a:ea typeface="楷体_GB2312" panose="02010609030101010101" pitchFamily="49" charset="-122"/>
                </a:rPr>
                <a:t>Web</a:t>
              </a:r>
              <a:r>
                <a:rPr lang="zh-CN" altLang="en-US">
                  <a:latin typeface="楷体_GB2312" panose="02010609030101010101" pitchFamily="49" charset="-122"/>
                  <a:ea typeface="楷体_GB2312" panose="02010609030101010101" pitchFamily="49" charset="-122"/>
                </a:rPr>
                <a:t>应用中的会话是什么样呢？</a:t>
              </a:r>
              <a:endParaRPr lang="zh-CN" altLang="en-US" dirty="0">
                <a:latin typeface="楷体_GB2312" panose="02010609030101010101" pitchFamily="49" charset="-122"/>
                <a:ea typeface="楷体_GB2312" panose="02010609030101010101" pitchFamily="49" charset="-122"/>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449" y="1994481"/>
              <a:ext cx="762474" cy="1120209"/>
            </a:xfrm>
            <a:prstGeom prst="ellipse">
              <a:avLst/>
            </a:prstGeom>
            <a:grpFill/>
            <a:ln>
              <a:noFill/>
            </a:ln>
            <a:effectLst>
              <a:softEdge rad="112500"/>
            </a:effectLst>
          </p:spPr>
        </p:pic>
      </p:grpSp>
      <p:sp>
        <p:nvSpPr>
          <p:cNvPr id="8" name="矩形标注 7"/>
          <p:cNvSpPr/>
          <p:nvPr/>
        </p:nvSpPr>
        <p:spPr>
          <a:xfrm>
            <a:off x="1391543" y="2996952"/>
            <a:ext cx="2892425" cy="1314450"/>
          </a:xfrm>
          <a:prstGeom prst="wedgeRectCallout">
            <a:avLst>
              <a:gd name="adj1" fmla="val 60712"/>
              <a:gd name="adj2" fmla="val -84405"/>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9" name="TextBox 8"/>
          <p:cNvSpPr txBox="1"/>
          <p:nvPr/>
        </p:nvSpPr>
        <p:spPr>
          <a:xfrm>
            <a:off x="1391543" y="3092202"/>
            <a:ext cx="2744787" cy="1200150"/>
          </a:xfrm>
          <a:prstGeom prst="rect">
            <a:avLst/>
          </a:prstGeom>
          <a:noFill/>
        </p:spPr>
        <p:txBody>
          <a:bodyPr>
            <a:spAutoFit/>
          </a:bodyPr>
          <a:lstStyle/>
          <a:p>
            <a:pPr eaLnBrk="0" hangingPunct="0">
              <a:defRPr/>
            </a:pPr>
            <a:r>
              <a:rPr lang="zh-CN" altLang="zh-CN" sz="2400">
                <a:latin typeface="Arial" charset="0"/>
              </a:rPr>
              <a:t>一个用户在某网站上的整个购物过程就是一个</a:t>
            </a:r>
            <a:r>
              <a:rPr lang="zh-CN" altLang="zh-CN" sz="2400">
                <a:solidFill>
                  <a:srgbClr val="00B0F0"/>
                </a:solidFill>
                <a:latin typeface="Arial" charset="0"/>
              </a:rPr>
              <a:t>会话</a:t>
            </a:r>
            <a:endParaRPr lang="zh-CN" altLang="en-US" sz="2400" dirty="0">
              <a:solidFill>
                <a:srgbClr val="00B0F0"/>
              </a:solidFill>
              <a:latin typeface="+mj-ea"/>
              <a:ea typeface="+mj-ea"/>
            </a:endParaRPr>
          </a:p>
        </p:txBody>
      </p:sp>
      <p:pic>
        <p:nvPicPr>
          <p:cNvPr id="10" name="Picture 17" descr="C:\Users\Administrator\Desktop\prox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8431" y="1988840"/>
            <a:ext cx="2849562"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2"/>
          <p:cNvSpPr txBox="1">
            <a:spLocks/>
          </p:cNvSpPr>
          <p:nvPr/>
        </p:nvSpPr>
        <p:spPr bwMode="auto">
          <a:xfrm>
            <a:off x="755576" y="4509120"/>
            <a:ext cx="6988175" cy="1800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ts val="2500"/>
              </a:lnSpc>
              <a:buFont typeface="Arial" panose="020B0604020202020204" pitchFamily="34" charset="0"/>
              <a:buChar char="•"/>
            </a:pPr>
            <a:r>
              <a:rPr lang="en-US" altLang="zh-CN" sz="1800" dirty="0" smtClean="0"/>
              <a:t>Web</a:t>
            </a:r>
            <a:r>
              <a:rPr lang="zh-CN" altLang="en-US" sz="1800" dirty="0" smtClean="0"/>
              <a:t>应用中的会话过程类似于生活中的打电话过程，它指的是一个</a:t>
            </a:r>
            <a:r>
              <a:rPr lang="zh-CN" altLang="en-US" sz="1800" dirty="0" smtClean="0">
                <a:solidFill>
                  <a:srgbClr val="00B0F0"/>
                </a:solidFill>
              </a:rPr>
              <a:t>客户端（浏览器）与</a:t>
            </a:r>
            <a:r>
              <a:rPr lang="en-US" altLang="zh-CN" sz="1800" dirty="0" smtClean="0">
                <a:solidFill>
                  <a:srgbClr val="00B0F0"/>
                </a:solidFill>
              </a:rPr>
              <a:t>Web</a:t>
            </a:r>
            <a:r>
              <a:rPr lang="zh-CN" altLang="en-US" sz="1800" dirty="0" smtClean="0">
                <a:solidFill>
                  <a:srgbClr val="00B0F0"/>
                </a:solidFill>
              </a:rPr>
              <a:t>服务器之间连续发生的一系列请求和响应过程</a:t>
            </a:r>
            <a:r>
              <a:rPr lang="zh-CN" altLang="en-US" sz="1800" dirty="0" smtClean="0"/>
              <a:t>。</a:t>
            </a:r>
            <a:endParaRPr lang="en-US" altLang="zh-CN" sz="1800" dirty="0" smtClean="0"/>
          </a:p>
          <a:p>
            <a:pPr lvl="1">
              <a:lnSpc>
                <a:spcPts val="2500"/>
              </a:lnSpc>
              <a:buFont typeface="Arial" panose="020B0604020202020204" pitchFamily="34" charset="0"/>
              <a:buChar char="•"/>
            </a:pPr>
            <a:r>
              <a:rPr lang="zh-CN" altLang="en-US" sz="1800" dirty="0" smtClean="0"/>
              <a:t>在</a:t>
            </a:r>
            <a:r>
              <a:rPr lang="en-US" altLang="zh-CN" sz="1800" dirty="0" smtClean="0"/>
              <a:t>Servlet</a:t>
            </a:r>
            <a:r>
              <a:rPr lang="zh-CN" altLang="en-US" sz="1800" dirty="0" smtClean="0"/>
              <a:t>技术中，提供了两个用于保存会话数据的对象，分别是</a:t>
            </a:r>
            <a:r>
              <a:rPr lang="en-US" altLang="zh-CN" sz="1800" dirty="0" smtClean="0">
                <a:solidFill>
                  <a:srgbClr val="00B0F0"/>
                </a:solidFill>
              </a:rPr>
              <a:t>Cookie</a:t>
            </a:r>
            <a:r>
              <a:rPr lang="zh-CN" altLang="en-US" sz="1800" dirty="0" smtClean="0">
                <a:solidFill>
                  <a:srgbClr val="00B0F0"/>
                </a:solidFill>
              </a:rPr>
              <a:t>和</a:t>
            </a:r>
            <a:r>
              <a:rPr lang="en-US" altLang="zh-CN" sz="1800" dirty="0" smtClean="0">
                <a:solidFill>
                  <a:srgbClr val="00B0F0"/>
                </a:solidFill>
              </a:rPr>
              <a:t>Session</a:t>
            </a:r>
            <a:r>
              <a:rPr lang="zh-CN" altLang="en-US" sz="1800" dirty="0" smtClean="0"/>
              <a:t>。</a:t>
            </a:r>
            <a:endParaRPr lang="en-US" altLang="zh-CN" sz="1800" dirty="0" smtClean="0"/>
          </a:p>
        </p:txBody>
      </p:sp>
      <p:sp>
        <p:nvSpPr>
          <p:cNvPr id="12"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会话概述</a:t>
            </a:r>
            <a:endParaRPr lang="zh-CN" altLang="en-US" sz="3200" b="1" dirty="0">
              <a:solidFill>
                <a:srgbClr val="006BA9"/>
              </a:solidFill>
              <a:latin typeface="微软雅黑" pitchFamily="34" charset="-122"/>
              <a:ea typeface="微软雅黑" pitchFamily="34" charset="-122"/>
              <a:sym typeface="宋体" charset="-122"/>
            </a:endParaRPr>
          </a:p>
        </p:txBody>
      </p:sp>
      <mc:AlternateContent xmlns:mc="http://schemas.openxmlformats.org/markup-compatibility/2006">
        <mc:Choice xmlns:p14="http://schemas.microsoft.com/office/powerpoint/2010/main" Requires="p14">
          <p:contentPart p14:bwMode="auto" r:id="rId7">
            <p14:nvContentPartPr>
              <p14:cNvPr id="5" name="墨迹 4"/>
              <p14:cNvContentPartPr/>
              <p14:nvPr/>
            </p14:nvContentPartPr>
            <p14:xfrm>
              <a:off x="1130400" y="2921040"/>
              <a:ext cx="2921400" cy="1378440"/>
            </p14:xfrm>
          </p:contentPart>
        </mc:Choice>
        <mc:Fallback>
          <p:pic>
            <p:nvPicPr>
              <p:cNvPr id="5" name="墨迹 4"/>
              <p:cNvPicPr/>
              <p:nvPr/>
            </p:nvPicPr>
            <p:blipFill>
              <a:blip r:embed="rId8"/>
              <a:stretch>
                <a:fillRect/>
              </a:stretch>
            </p:blipFill>
            <p:spPr>
              <a:xfrm>
                <a:off x="1121040" y="2911680"/>
                <a:ext cx="2940120" cy="1397160"/>
              </a:xfrm>
              <a:prstGeom prst="rect">
                <a:avLst/>
              </a:prstGeom>
            </p:spPr>
          </p:pic>
        </mc:Fallback>
      </mc:AlternateContent>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2564904"/>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1979548"/>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5.1    </a:t>
            </a:r>
            <a:r>
              <a:rPr lang="zh-CN" altLang="en-US" sz="2400">
                <a:solidFill>
                  <a:srgbClr val="7F7F7F"/>
                </a:solidFill>
                <a:latin typeface="Impact" pitchFamily="34" charset="0"/>
                <a:ea typeface="微软雅黑" pitchFamily="34" charset="-122"/>
              </a:rPr>
              <a:t>会话概述 </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097740" y="2723631"/>
            <a:ext cx="3834300" cy="369332"/>
          </a:xfrm>
          <a:prstGeom prst="rect">
            <a:avLst/>
          </a:prstGeom>
          <a:noFill/>
        </p:spPr>
        <p:txBody>
          <a:bodyPr vert="horz" wrap="square" lIns="0" tIns="0" rIns="0" bIns="0" rtlCol="0" anchor="ctr">
            <a:spAutoFit/>
          </a:bodyPr>
          <a:lstStyle/>
          <a:p>
            <a:r>
              <a:rPr lang="en-US" altLang="zh-CN" sz="2400">
                <a:solidFill>
                  <a:schemeClr val="bg1"/>
                </a:solidFill>
                <a:latin typeface="Impact" pitchFamily="34" charset="0"/>
                <a:ea typeface="微软雅黑" pitchFamily="34" charset="-122"/>
              </a:rPr>
              <a:t>5</a:t>
            </a:r>
            <a:r>
              <a:rPr lang="en-US" altLang="zh-CN" sz="2400" smtClean="0">
                <a:solidFill>
                  <a:schemeClr val="bg1"/>
                </a:solidFill>
                <a:latin typeface="Impact" pitchFamily="34" charset="0"/>
                <a:ea typeface="微软雅黑" pitchFamily="34" charset="-122"/>
              </a:rPr>
              <a:t>.2    </a:t>
            </a:r>
            <a:r>
              <a:rPr lang="en-US" altLang="zh-CN" sz="2400">
                <a:solidFill>
                  <a:schemeClr val="bg1"/>
                </a:solidFill>
                <a:latin typeface="Impact" pitchFamily="34" charset="0"/>
                <a:ea typeface="微软雅黑" pitchFamily="34" charset="-122"/>
              </a:rPr>
              <a:t>Cookie</a:t>
            </a:r>
            <a:r>
              <a:rPr lang="zh-CN" altLang="en-US" sz="2400">
                <a:solidFill>
                  <a:schemeClr val="bg1"/>
                </a:solidFill>
                <a:latin typeface="Impact" pitchFamily="34" charset="0"/>
                <a:ea typeface="微软雅黑" pitchFamily="34" charset="-122"/>
              </a:rPr>
              <a:t>对象</a:t>
            </a:r>
            <a:endParaRPr lang="zh-CN" altLang="en-US" sz="2400" dirty="0">
              <a:solidFill>
                <a:schemeClr val="bg1"/>
              </a:solidFill>
              <a:latin typeface="Impact" pitchFamily="34" charset="0"/>
              <a:ea typeface="微软雅黑" pitchFamily="34" charset="-122"/>
            </a:endParaRPr>
          </a:p>
        </p:txBody>
      </p:sp>
      <p:sp>
        <p:nvSpPr>
          <p:cNvPr id="6" name="TextBox 11"/>
          <p:cNvSpPr txBox="1"/>
          <p:nvPr/>
        </p:nvSpPr>
        <p:spPr>
          <a:xfrm>
            <a:off x="1097740" y="3467714"/>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.3    Session</a:t>
            </a:r>
            <a:r>
              <a:rPr lang="zh-CN" altLang="en-US" sz="2400" smtClean="0">
                <a:solidFill>
                  <a:srgbClr val="7F7F7F"/>
                </a:solidFill>
                <a:latin typeface="Impact" pitchFamily="34" charset="0"/>
                <a:ea typeface="微软雅黑" pitchFamily="34" charset="-122"/>
              </a:rPr>
              <a:t>对象</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5220072" y="1484784"/>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5182106" y="2264870"/>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8" name="TextBox 11"/>
          <p:cNvSpPr txBox="1"/>
          <p:nvPr/>
        </p:nvSpPr>
        <p:spPr>
          <a:xfrm>
            <a:off x="1097740" y="4139788"/>
            <a:ext cx="5346468"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.4    </a:t>
            </a:r>
            <a:r>
              <a:rPr lang="zh-CN" altLang="en-US" sz="2400" smtClean="0">
                <a:solidFill>
                  <a:srgbClr val="7F7F7F"/>
                </a:solidFill>
                <a:latin typeface="Impact" pitchFamily="34" charset="0"/>
                <a:ea typeface="微软雅黑" pitchFamily="34" charset="-122"/>
              </a:rPr>
              <a:t>阶段案例</a:t>
            </a:r>
            <a:endParaRPr lang="zh-CN" altLang="en-US" sz="2400" dirty="0">
              <a:solidFill>
                <a:srgbClr val="7F7F7F"/>
              </a:solidFill>
              <a:latin typeface="Impact" pitchFamily="34" charset="0"/>
              <a:ea typeface="微软雅黑"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853588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grpSp>
        <p:nvGrpSpPr>
          <p:cNvPr id="7" name="组合 6"/>
          <p:cNvGrpSpPr>
            <a:grpSpLocks/>
          </p:cNvGrpSpPr>
          <p:nvPr/>
        </p:nvGrpSpPr>
        <p:grpSpPr bwMode="auto">
          <a:xfrm>
            <a:off x="629201" y="692696"/>
            <a:ext cx="5794895" cy="3744416"/>
            <a:chOff x="2312388" y="534744"/>
            <a:chExt cx="7170737" cy="4635500"/>
          </a:xfrm>
        </p:grpSpPr>
        <p:pic>
          <p:nvPicPr>
            <p:cNvPr id="8" name="Picture 6" descr="云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2388" y="534744"/>
              <a:ext cx="7170737"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4341813" y="2081897"/>
              <a:ext cx="4043362" cy="49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buFont typeface="Arial" pitchFamily="34" charset="0"/>
                <a:buNone/>
              </a:pPr>
              <a:r>
                <a:rPr lang="zh-CN" altLang="en-US" sz="2000" b="1">
                  <a:solidFill>
                    <a:schemeClr val="bg1"/>
                  </a:solidFill>
                  <a:ea typeface="黑体" pitchFamily="49" charset="-122"/>
                </a:rPr>
                <a:t>什么</a:t>
              </a:r>
              <a:r>
                <a:rPr lang="zh-CN" altLang="en-US" sz="2000" b="1" smtClean="0">
                  <a:solidFill>
                    <a:schemeClr val="bg1"/>
                  </a:solidFill>
                  <a:ea typeface="黑体" pitchFamily="49" charset="-122"/>
                </a:rPr>
                <a:t>是</a:t>
              </a:r>
              <a:r>
                <a:rPr lang="en-US" altLang="zh-CN" sz="2000" b="1">
                  <a:solidFill>
                    <a:schemeClr val="bg1"/>
                  </a:solidFill>
                  <a:ea typeface="黑体" pitchFamily="49" charset="-122"/>
                </a:rPr>
                <a:t>Cookie</a:t>
              </a:r>
              <a:r>
                <a:rPr lang="zh-CN" altLang="en-US" sz="2000" b="1" smtClean="0">
                  <a:solidFill>
                    <a:schemeClr val="bg1"/>
                  </a:solidFill>
                  <a:ea typeface="黑体" pitchFamily="49" charset="-122"/>
                </a:rPr>
                <a:t>？</a:t>
              </a:r>
              <a:endParaRPr lang="zh-CN" altLang="en-US" sz="2000" b="1">
                <a:solidFill>
                  <a:schemeClr val="bg1"/>
                </a:solidFill>
                <a:ea typeface="黑体" pitchFamily="49" charset="-122"/>
              </a:endParaRPr>
            </a:p>
          </p:txBody>
        </p:sp>
      </p:grpSp>
      <p:pic>
        <p:nvPicPr>
          <p:cNvPr id="12"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7571" y="2534518"/>
            <a:ext cx="2502911" cy="255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组合 12"/>
          <p:cNvGrpSpPr>
            <a:grpSpLocks/>
          </p:cNvGrpSpPr>
          <p:nvPr/>
        </p:nvGrpSpPr>
        <p:grpSpPr bwMode="auto">
          <a:xfrm>
            <a:off x="3839021" y="3687043"/>
            <a:ext cx="2433638" cy="363538"/>
            <a:chOff x="3063609" y="3463307"/>
            <a:chExt cx="2433677" cy="362625"/>
          </a:xfrm>
        </p:grpSpPr>
        <p:cxnSp>
          <p:nvCxnSpPr>
            <p:cNvPr id="14" name="直接箭头连接符 13"/>
            <p:cNvCxnSpPr/>
            <p:nvPr/>
          </p:nvCxnSpPr>
          <p:spPr bwMode="auto">
            <a:xfrm>
              <a:off x="3173149" y="3825932"/>
              <a:ext cx="2214597" cy="0"/>
            </a:xfrm>
            <a:prstGeom prst="straightConnector1">
              <a:avLst/>
            </a:prstGeom>
            <a:noFill/>
            <a:ln w="28575" cap="flat" cmpd="sng" algn="ctr">
              <a:solidFill>
                <a:schemeClr val="bg1">
                  <a:lumMod val="65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8"/>
            <p:cNvSpPr txBox="1">
              <a:spLocks noChangeArrowheads="1"/>
            </p:cNvSpPr>
            <p:nvPr/>
          </p:nvSpPr>
          <p:spPr bwMode="auto">
            <a:xfrm>
              <a:off x="3063609" y="3463307"/>
              <a:ext cx="24336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通过会员卡可以看到用户的信息</a:t>
              </a:r>
            </a:p>
          </p:txBody>
        </p:sp>
      </p:grpSp>
      <p:grpSp>
        <p:nvGrpSpPr>
          <p:cNvPr id="16" name="组合 15"/>
          <p:cNvGrpSpPr>
            <a:grpSpLocks/>
          </p:cNvGrpSpPr>
          <p:nvPr/>
        </p:nvGrpSpPr>
        <p:grpSpPr bwMode="auto">
          <a:xfrm>
            <a:off x="3883471" y="4310931"/>
            <a:ext cx="2503488" cy="393700"/>
            <a:chOff x="3107153" y="4087190"/>
            <a:chExt cx="2503715" cy="393550"/>
          </a:xfrm>
        </p:grpSpPr>
        <p:cxnSp>
          <p:nvCxnSpPr>
            <p:cNvPr id="17" name="直接箭头连接符 16"/>
            <p:cNvCxnSpPr/>
            <p:nvPr/>
          </p:nvCxnSpPr>
          <p:spPr bwMode="auto">
            <a:xfrm flipH="1">
              <a:off x="3172247" y="4087190"/>
              <a:ext cx="2216351" cy="0"/>
            </a:xfrm>
            <a:prstGeom prst="straightConnector1">
              <a:avLst/>
            </a:prstGeom>
            <a:noFill/>
            <a:ln w="28575" cap="flat" cmpd="sng" algn="ctr">
              <a:solidFill>
                <a:schemeClr val="bg1">
                  <a:lumMod val="65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24"/>
            <p:cNvSpPr txBox="1">
              <a:spLocks noChangeArrowheads="1"/>
            </p:cNvSpPr>
            <p:nvPr/>
          </p:nvSpPr>
          <p:spPr bwMode="auto">
            <a:xfrm>
              <a:off x="3107153" y="4203741"/>
              <a:ext cx="25037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t>用户的消费积分会累计到会员卡</a:t>
              </a:r>
              <a:endParaRPr lang="zh-CN" altLang="en-US" sz="1200">
                <a:latin typeface="微软雅黑" pitchFamily="34" charset="-122"/>
                <a:ea typeface="微软雅黑" pitchFamily="34" charset="-122"/>
              </a:endParaRPr>
            </a:p>
          </p:txBody>
        </p:sp>
      </p:grpSp>
      <p:sp>
        <p:nvSpPr>
          <p:cNvPr id="19" name="TextBox 18"/>
          <p:cNvSpPr txBox="1">
            <a:spLocks noChangeArrowheads="1"/>
          </p:cNvSpPr>
          <p:nvPr/>
        </p:nvSpPr>
        <p:spPr bwMode="auto">
          <a:xfrm>
            <a:off x="2051720" y="4941168"/>
            <a:ext cx="1376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latin typeface="方正姚体" pitchFamily="2" charset="-122"/>
                <a:ea typeface="方正姚体" pitchFamily="2" charset="-122"/>
              </a:rPr>
              <a:t>会员卡</a:t>
            </a:r>
          </a:p>
        </p:txBody>
      </p:sp>
      <p:sp>
        <p:nvSpPr>
          <p:cNvPr id="20" name="TextBox 19"/>
          <p:cNvSpPr txBox="1">
            <a:spLocks noChangeArrowheads="1"/>
          </p:cNvSpPr>
          <p:nvPr/>
        </p:nvSpPr>
        <p:spPr bwMode="auto">
          <a:xfrm>
            <a:off x="6588224" y="5157192"/>
            <a:ext cx="13763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latin typeface="方正姚体" pitchFamily="2" charset="-122"/>
                <a:ea typeface="方正姚体" pitchFamily="2" charset="-122"/>
              </a:rPr>
              <a:t>用户</a:t>
            </a:r>
          </a:p>
        </p:txBody>
      </p:sp>
      <p:sp>
        <p:nvSpPr>
          <p:cNvPr id="21" name="矩形标注 20"/>
          <p:cNvSpPr/>
          <p:nvPr/>
        </p:nvSpPr>
        <p:spPr bwMode="auto">
          <a:xfrm>
            <a:off x="2952750" y="5171213"/>
            <a:ext cx="2622550" cy="993775"/>
          </a:xfrm>
          <a:prstGeom prst="wedgeRectCallout">
            <a:avLst>
              <a:gd name="adj1" fmla="val -44643"/>
              <a:gd name="adj2" fmla="val -84977"/>
            </a:avLst>
          </a:prstGeom>
          <a:noFill/>
          <a:ln w="9525" cap="flat" cmpd="sng" algn="ctr">
            <a:solidFill>
              <a:srgbClr val="0070C0"/>
            </a:solidFill>
            <a:prstDash val="solid"/>
            <a:round/>
            <a:headEnd type="none" w="med" len="med"/>
            <a:tailEnd type="none" w="med" len="med"/>
          </a:ln>
          <a:effectLst/>
          <a:extLst/>
        </p:spPr>
        <p:txBody>
          <a:bodyPr/>
          <a:lstStyle/>
          <a:p>
            <a:pPr>
              <a:buFont typeface="Arial" pitchFamily="34" charset="0"/>
              <a:buNone/>
              <a:defRPr/>
            </a:pPr>
            <a:endParaRPr lang="zh-CN" altLang="en-US">
              <a:solidFill>
                <a:schemeClr val="accent1">
                  <a:lumMod val="25000"/>
                </a:schemeClr>
              </a:solidFill>
            </a:endParaRPr>
          </a:p>
        </p:txBody>
      </p:sp>
      <p:sp>
        <p:nvSpPr>
          <p:cNvPr id="22" name="TextBox 21"/>
          <p:cNvSpPr txBox="1">
            <a:spLocks noChangeArrowheads="1"/>
          </p:cNvSpPr>
          <p:nvPr/>
        </p:nvSpPr>
        <p:spPr bwMode="auto">
          <a:xfrm>
            <a:off x="3001962" y="5277763"/>
            <a:ext cx="2573338" cy="869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pPr>
            <a:r>
              <a:rPr lang="en-US" altLang="zh-CN">
                <a:solidFill>
                  <a:srgbClr val="0066A1"/>
                </a:solidFill>
              </a:rPr>
              <a:t>Cookie</a:t>
            </a:r>
            <a:r>
              <a:rPr lang="zh-CN" altLang="en-US">
                <a:solidFill>
                  <a:srgbClr val="0066A1"/>
                </a:solidFill>
              </a:rPr>
              <a:t>的功能类似于这张会员卡。</a:t>
            </a:r>
          </a:p>
        </p:txBody>
      </p:sp>
      <p:pic>
        <p:nvPicPr>
          <p:cNvPr id="11"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0698" y="3316907"/>
            <a:ext cx="1624099" cy="147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descr="问小人"/>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003" y="2492896"/>
            <a:ext cx="2165305" cy="223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5.2.1  </a:t>
            </a:r>
            <a:r>
              <a:rPr lang="zh-CN" altLang="en-US" sz="3200" b="1" dirty="0">
                <a:solidFill>
                  <a:srgbClr val="006BA9"/>
                </a:solidFill>
                <a:latin typeface="微软雅黑" pitchFamily="34" charset="-122"/>
                <a:ea typeface="微软雅黑" pitchFamily="34" charset="-122"/>
                <a:sym typeface="宋体" charset="-122"/>
              </a:rPr>
              <a:t>什么是</a:t>
            </a:r>
            <a:r>
              <a:rPr lang="en-US" altLang="zh-CN" sz="3200" b="1" dirty="0">
                <a:solidFill>
                  <a:srgbClr val="006BA9"/>
                </a:solidFill>
                <a:latin typeface="微软雅黑" pitchFamily="34" charset="-122"/>
                <a:ea typeface="微软雅黑" pitchFamily="34" charset="-122"/>
                <a:sym typeface="宋体" charset="-122"/>
              </a:rPr>
              <a:t>Cookie</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6230571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childTnLst>
                          </p:cTn>
                        </p:par>
                        <p:par>
                          <p:cTn id="12" fill="hold">
                            <p:stCondLst>
                              <p:cond delay="1500"/>
                            </p:stCondLst>
                            <p:childTnLst>
                              <p:par>
                                <p:cTn id="13" presetID="32" presetClass="emph" presetSubtype="0" fill="hold" nodeType="afterEffect">
                                  <p:stCondLst>
                                    <p:cond delay="0"/>
                                  </p:stCondLst>
                                  <p:childTnLst>
                                    <p:animRot by="120000">
                                      <p:cBhvr>
                                        <p:cTn id="14" dur="50" fill="hold">
                                          <p:stCondLst>
                                            <p:cond delay="0"/>
                                          </p:stCondLst>
                                        </p:cTn>
                                        <p:tgtEl>
                                          <p:spTgt spid="7"/>
                                        </p:tgtEl>
                                        <p:attrNameLst>
                                          <p:attrName>r</p:attrName>
                                        </p:attrNameLst>
                                      </p:cBhvr>
                                    </p:animRot>
                                    <p:animRot by="-240000">
                                      <p:cBhvr>
                                        <p:cTn id="15" dur="100" fill="hold">
                                          <p:stCondLst>
                                            <p:cond delay="100"/>
                                          </p:stCondLst>
                                        </p:cTn>
                                        <p:tgtEl>
                                          <p:spTgt spid="7"/>
                                        </p:tgtEl>
                                        <p:attrNameLst>
                                          <p:attrName>r</p:attrName>
                                        </p:attrNameLst>
                                      </p:cBhvr>
                                    </p:animRot>
                                    <p:animRot by="240000">
                                      <p:cBhvr>
                                        <p:cTn id="16" dur="100" fill="hold">
                                          <p:stCondLst>
                                            <p:cond delay="200"/>
                                          </p:stCondLst>
                                        </p:cTn>
                                        <p:tgtEl>
                                          <p:spTgt spid="7"/>
                                        </p:tgtEl>
                                        <p:attrNameLst>
                                          <p:attrName>r</p:attrName>
                                        </p:attrNameLst>
                                      </p:cBhvr>
                                    </p:animRot>
                                    <p:animRot by="-240000">
                                      <p:cBhvr>
                                        <p:cTn id="17" dur="100" fill="hold">
                                          <p:stCondLst>
                                            <p:cond delay="300"/>
                                          </p:stCondLst>
                                        </p:cTn>
                                        <p:tgtEl>
                                          <p:spTgt spid="7"/>
                                        </p:tgtEl>
                                        <p:attrNameLst>
                                          <p:attrName>r</p:attrName>
                                        </p:attrNameLst>
                                      </p:cBhvr>
                                    </p:animRot>
                                    <p:animRot by="120000">
                                      <p:cBhvr>
                                        <p:cTn id="18" dur="100" fill="hold">
                                          <p:stCondLst>
                                            <p:cond delay="400"/>
                                          </p:stCondLst>
                                        </p:cTn>
                                        <p:tgtEl>
                                          <p:spTgt spid="7"/>
                                        </p:tgtEl>
                                        <p:attrNameLst>
                                          <p:attrName>r</p:attrName>
                                        </p:attrNameLst>
                                      </p:cBhvr>
                                    </p:animRot>
                                  </p:childTnLst>
                                </p:cTn>
                              </p:par>
                            </p:childTnLst>
                          </p:cTn>
                        </p:par>
                        <p:par>
                          <p:cTn id="19" fill="hold">
                            <p:stCondLst>
                              <p:cond delay="2000"/>
                            </p:stCondLst>
                            <p:childTnLst>
                              <p:par>
                                <p:cTn id="20" presetID="10" presetClass="entr" presetSubtype="0"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par>
                          <p:cTn id="27" fill="hold">
                            <p:stCondLst>
                              <p:cond delay="3000"/>
                            </p:stCondLst>
                            <p:childTnLst>
                              <p:par>
                                <p:cTn id="28" presetID="10" presetClass="entr" presetSubtype="0"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par>
                          <p:cTn id="31" fill="hold">
                            <p:stCondLst>
                              <p:cond delay="3500"/>
                            </p:stCondLst>
                            <p:childTnLst>
                              <p:par>
                                <p:cTn id="32"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par>
                          <p:cTn id="35" fill="hold">
                            <p:stCondLst>
                              <p:cond delay="4000"/>
                            </p:stCondLst>
                            <p:childTnLst>
                              <p:par>
                                <p:cTn id="36" presetID="22" presetClass="entr" presetSubtype="8"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par>
                          <p:cTn id="39" fill="hold">
                            <p:stCondLst>
                              <p:cond delay="4500"/>
                            </p:stCondLst>
                            <p:childTnLst>
                              <p:par>
                                <p:cTn id="40" presetID="22" presetClass="entr" presetSubtype="2" fill="hold"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right)">
                                      <p:cBhvr>
                                        <p:cTn id="42" dur="500"/>
                                        <p:tgtEl>
                                          <p:spTgt spid="16"/>
                                        </p:tgtEl>
                                      </p:cBhvr>
                                    </p:animEffect>
                                  </p:childTnLst>
                                </p:cTn>
                              </p:par>
                            </p:childTnLst>
                          </p:cTn>
                        </p:par>
                        <p:par>
                          <p:cTn id="43" fill="hold">
                            <p:stCondLst>
                              <p:cond delay="5000"/>
                            </p:stCondLst>
                            <p:childTnLst>
                              <p:par>
                                <p:cTn id="44" presetID="53" presetClass="entr" presetSubtype="16" fill="hold" grpId="0" nodeType="afterEffect">
                                  <p:stCondLst>
                                    <p:cond delay="0"/>
                                  </p:stCondLst>
                                  <p:childTnLst>
                                    <p:set>
                                      <p:cBhvr>
                                        <p:cTn id="45" dur="1" fill="hold">
                                          <p:stCondLst>
                                            <p:cond delay="0"/>
                                          </p:stCondLst>
                                        </p:cTn>
                                        <p:tgtEl>
                                          <p:spTgt spid="22"/>
                                        </p:tgtEl>
                                        <p:attrNameLst>
                                          <p:attrName>style.visibility</p:attrName>
                                        </p:attrNameLst>
                                      </p:cBhvr>
                                      <p:to>
                                        <p:strVal val="visible"/>
                                      </p:to>
                                    </p:set>
                                    <p:anim calcmode="lin" valueType="num">
                                      <p:cBhvr>
                                        <p:cTn id="46" dur="500" fill="hold"/>
                                        <p:tgtEl>
                                          <p:spTgt spid="22"/>
                                        </p:tgtEl>
                                        <p:attrNameLst>
                                          <p:attrName>ppt_w</p:attrName>
                                        </p:attrNameLst>
                                      </p:cBhvr>
                                      <p:tavLst>
                                        <p:tav tm="0">
                                          <p:val>
                                            <p:fltVal val="0"/>
                                          </p:val>
                                        </p:tav>
                                        <p:tav tm="100000">
                                          <p:val>
                                            <p:strVal val="#ppt_w"/>
                                          </p:val>
                                        </p:tav>
                                      </p:tavLst>
                                    </p:anim>
                                    <p:anim calcmode="lin" valueType="num">
                                      <p:cBhvr>
                                        <p:cTn id="47" dur="500" fill="hold"/>
                                        <p:tgtEl>
                                          <p:spTgt spid="22"/>
                                        </p:tgtEl>
                                        <p:attrNameLst>
                                          <p:attrName>ppt_h</p:attrName>
                                        </p:attrNameLst>
                                      </p:cBhvr>
                                      <p:tavLst>
                                        <p:tav tm="0">
                                          <p:val>
                                            <p:fltVal val="0"/>
                                          </p:val>
                                        </p:tav>
                                        <p:tav tm="100000">
                                          <p:val>
                                            <p:strVal val="#ppt_h"/>
                                          </p:val>
                                        </p:tav>
                                      </p:tavLst>
                                    </p:anim>
                                    <p:animEffect transition="in" filter="fade">
                                      <p:cBhvr>
                                        <p:cTn id="48" dur="500"/>
                                        <p:tgtEl>
                                          <p:spTgt spid="22"/>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500" fill="hold"/>
                                        <p:tgtEl>
                                          <p:spTgt spid="21"/>
                                        </p:tgtEl>
                                        <p:attrNameLst>
                                          <p:attrName>ppt_w</p:attrName>
                                        </p:attrNameLst>
                                      </p:cBhvr>
                                      <p:tavLst>
                                        <p:tav tm="0">
                                          <p:val>
                                            <p:fltVal val="0"/>
                                          </p:val>
                                        </p:tav>
                                        <p:tav tm="100000">
                                          <p:val>
                                            <p:strVal val="#ppt_w"/>
                                          </p:val>
                                        </p:tav>
                                      </p:tavLst>
                                    </p:anim>
                                    <p:anim calcmode="lin" valueType="num">
                                      <p:cBhvr>
                                        <p:cTn id="52" dur="500" fill="hold"/>
                                        <p:tgtEl>
                                          <p:spTgt spid="21"/>
                                        </p:tgtEl>
                                        <p:attrNameLst>
                                          <p:attrName>ppt_h</p:attrName>
                                        </p:attrNameLst>
                                      </p:cBhvr>
                                      <p:tavLst>
                                        <p:tav tm="0">
                                          <p:val>
                                            <p:fltVal val="0"/>
                                          </p:val>
                                        </p:tav>
                                        <p:tav tm="100000">
                                          <p:val>
                                            <p:strVal val="#ppt_h"/>
                                          </p:val>
                                        </p:tav>
                                      </p:tavLst>
                                    </p:anim>
                                    <p:animEffect transition="in" filter="fade">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txBox="1">
            <a:spLocks/>
          </p:cNvSpPr>
          <p:nvPr/>
        </p:nvSpPr>
        <p:spPr bwMode="auto">
          <a:xfrm>
            <a:off x="347663" y="1556792"/>
            <a:ext cx="8229600" cy="456937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Calibri" panose="020F0502020204030204" pitchFamily="34" charset="0"/>
              <a:buChar char="–"/>
            </a:pPr>
            <a:r>
              <a:rPr lang="zh-CN" altLang="en-US" sz="2000" dirty="0" smtClean="0">
                <a:solidFill>
                  <a:srgbClr val="0066A1"/>
                </a:solidFill>
              </a:rPr>
              <a:t>看一下</a:t>
            </a:r>
            <a:r>
              <a:rPr lang="en-US" altLang="zh-CN" sz="2000" dirty="0" smtClean="0">
                <a:solidFill>
                  <a:srgbClr val="0066A1"/>
                </a:solidFill>
              </a:rPr>
              <a:t>Cookie</a:t>
            </a:r>
            <a:r>
              <a:rPr lang="zh-CN" altLang="en-US" sz="2000" dirty="0" smtClean="0">
                <a:solidFill>
                  <a:srgbClr val="0066A1"/>
                </a:solidFill>
              </a:rPr>
              <a:t>在浏览器和服务器之间的传输</a:t>
            </a:r>
          </a:p>
        </p:txBody>
      </p:sp>
      <p:cxnSp>
        <p:nvCxnSpPr>
          <p:cNvPr id="5" name="直接箭头连接符 4"/>
          <p:cNvCxnSpPr/>
          <p:nvPr/>
        </p:nvCxnSpPr>
        <p:spPr bwMode="auto">
          <a:xfrm>
            <a:off x="2921000" y="3087688"/>
            <a:ext cx="2811463" cy="0"/>
          </a:xfrm>
          <a:prstGeom prst="straightConnector1">
            <a:avLst/>
          </a:prstGeom>
          <a:noFill/>
          <a:ln w="28575" cap="flat" cmpd="sng" algn="ctr">
            <a:solidFill>
              <a:schemeClr val="tx1">
                <a:lumMod val="50000"/>
                <a:lumOff val="50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p:cNvGrpSpPr>
            <a:grpSpLocks/>
          </p:cNvGrpSpPr>
          <p:nvPr/>
        </p:nvGrpSpPr>
        <p:grpSpPr bwMode="auto">
          <a:xfrm>
            <a:off x="5732463" y="1925638"/>
            <a:ext cx="1104900" cy="1939925"/>
            <a:chOff x="5733216" y="1925684"/>
            <a:chExt cx="1104900" cy="1939566"/>
          </a:xfrm>
        </p:grpSpPr>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3216" y="2361358"/>
              <a:ext cx="1104900" cy="1503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32"/>
            <p:cNvSpPr txBox="1">
              <a:spLocks noChangeArrowheads="1"/>
            </p:cNvSpPr>
            <p:nvPr/>
          </p:nvSpPr>
          <p:spPr bwMode="auto">
            <a:xfrm>
              <a:off x="5880173" y="1925684"/>
              <a:ext cx="9579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latin typeface="方正姚体" pitchFamily="2" charset="-122"/>
                  <a:ea typeface="方正姚体" pitchFamily="2" charset="-122"/>
                </a:rPr>
                <a:t>服务器</a:t>
              </a:r>
            </a:p>
          </p:txBody>
        </p:sp>
      </p:grpSp>
      <p:sp>
        <p:nvSpPr>
          <p:cNvPr id="9" name="TextBox 8"/>
          <p:cNvSpPr txBox="1">
            <a:spLocks noChangeArrowheads="1"/>
          </p:cNvSpPr>
          <p:nvPr/>
        </p:nvSpPr>
        <p:spPr bwMode="auto">
          <a:xfrm>
            <a:off x="933450" y="4183063"/>
            <a:ext cx="1189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第一次访问</a:t>
            </a:r>
            <a:r>
              <a:rPr lang="en-US" altLang="zh-CN" sz="1200">
                <a:latin typeface="微软雅黑" pitchFamily="34" charset="-122"/>
                <a:ea typeface="微软雅黑" pitchFamily="34" charset="-122"/>
              </a:rPr>
              <a:t>Server1</a:t>
            </a:r>
            <a:r>
              <a:rPr lang="zh-CN" altLang="en-US" sz="1200">
                <a:latin typeface="微软雅黑" pitchFamily="34" charset="-122"/>
                <a:ea typeface="微软雅黑" pitchFamily="34" charset="-122"/>
              </a:rPr>
              <a:t>，不存在</a:t>
            </a:r>
            <a:r>
              <a:rPr lang="en-US" altLang="zh-CN" sz="1200">
                <a:latin typeface="微软雅黑" pitchFamily="34" charset="-122"/>
                <a:ea typeface="微软雅黑" pitchFamily="34" charset="-122"/>
              </a:rPr>
              <a:t>Cookie</a:t>
            </a:r>
            <a:endParaRPr lang="zh-CN" altLang="en-US" sz="1200">
              <a:latin typeface="微软雅黑" pitchFamily="34" charset="-122"/>
              <a:ea typeface="微软雅黑" pitchFamily="34" charset="-122"/>
            </a:endParaRPr>
          </a:p>
        </p:txBody>
      </p:sp>
      <p:grpSp>
        <p:nvGrpSpPr>
          <p:cNvPr id="10" name="组合 9"/>
          <p:cNvGrpSpPr>
            <a:grpSpLocks/>
          </p:cNvGrpSpPr>
          <p:nvPr/>
        </p:nvGrpSpPr>
        <p:grpSpPr bwMode="auto">
          <a:xfrm>
            <a:off x="1528763" y="1992313"/>
            <a:ext cx="1392237" cy="3916362"/>
            <a:chOff x="1528071" y="1992026"/>
            <a:chExt cx="1393279" cy="3916877"/>
          </a:xfrm>
        </p:grpSpPr>
        <p:pic>
          <p:nvPicPr>
            <p:cNvPr id="1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8071" y="2589418"/>
              <a:ext cx="1393279" cy="1393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9"/>
            <p:cNvSpPr txBox="1">
              <a:spLocks noChangeArrowheads="1"/>
            </p:cNvSpPr>
            <p:nvPr/>
          </p:nvSpPr>
          <p:spPr bwMode="auto">
            <a:xfrm>
              <a:off x="1778397" y="1992026"/>
              <a:ext cx="9579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latin typeface="方正姚体" pitchFamily="2" charset="-122"/>
                  <a:ea typeface="方正姚体" pitchFamily="2" charset="-122"/>
                </a:rPr>
                <a:t>浏览器</a:t>
              </a:r>
            </a:p>
          </p:txBody>
        </p:sp>
        <p:grpSp>
          <p:nvGrpSpPr>
            <p:cNvPr id="13" name="组合 38"/>
            <p:cNvGrpSpPr>
              <a:grpSpLocks/>
            </p:cNvGrpSpPr>
            <p:nvPr/>
          </p:nvGrpSpPr>
          <p:grpSpPr bwMode="auto">
            <a:xfrm>
              <a:off x="1704385" y="4889728"/>
              <a:ext cx="1019175" cy="1019175"/>
              <a:chOff x="1704385" y="4889728"/>
              <a:chExt cx="1019175" cy="1019175"/>
            </a:xfrm>
          </p:grpSpPr>
          <p:pic>
            <p:nvPicPr>
              <p:cNvPr id="14"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4385" y="4889728"/>
                <a:ext cx="10191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355"/>
              <p:cNvSpPr txBox="1">
                <a:spLocks noChangeArrowheads="1"/>
              </p:cNvSpPr>
              <p:nvPr/>
            </p:nvSpPr>
            <p:spPr bwMode="auto">
              <a:xfrm>
                <a:off x="1764138" y="5039139"/>
                <a:ext cx="8996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1600"/>
                  <a:t>Cookie</a:t>
                </a:r>
              </a:p>
              <a:p>
                <a:r>
                  <a:rPr lang="zh-CN" altLang="en-US" sz="1600"/>
                  <a:t>存放区</a:t>
                </a:r>
              </a:p>
            </p:txBody>
          </p:sp>
        </p:grpSp>
      </p:grpSp>
      <p:cxnSp>
        <p:nvCxnSpPr>
          <p:cNvPr id="16" name="直接箭头连接符 15"/>
          <p:cNvCxnSpPr/>
          <p:nvPr/>
        </p:nvCxnSpPr>
        <p:spPr bwMode="auto">
          <a:xfrm flipV="1">
            <a:off x="1935163" y="3983038"/>
            <a:ext cx="11112" cy="906462"/>
          </a:xfrm>
          <a:prstGeom prst="straightConnector1">
            <a:avLst/>
          </a:prstGeom>
          <a:noFill/>
          <a:ln w="28575" cap="flat" cmpd="sng" algn="ctr">
            <a:solidFill>
              <a:schemeClr val="tx1">
                <a:lumMod val="50000"/>
                <a:lumOff val="50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p:cNvSpPr txBox="1">
            <a:spLocks noChangeArrowheads="1"/>
          </p:cNvSpPr>
          <p:nvPr/>
        </p:nvSpPr>
        <p:spPr bwMode="auto">
          <a:xfrm>
            <a:off x="3348038" y="2724150"/>
            <a:ext cx="21383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第一次访问</a:t>
            </a:r>
            <a:r>
              <a:rPr lang="en-US" altLang="zh-CN" sz="1200">
                <a:latin typeface="微软雅黑" pitchFamily="34" charset="-122"/>
                <a:ea typeface="微软雅黑" pitchFamily="34" charset="-122"/>
              </a:rPr>
              <a:t>Server1</a:t>
            </a:r>
            <a:endParaRPr lang="zh-CN" altLang="en-US" sz="1200">
              <a:latin typeface="微软雅黑" pitchFamily="34" charset="-122"/>
              <a:ea typeface="微软雅黑" pitchFamily="34" charset="-122"/>
            </a:endParaRPr>
          </a:p>
        </p:txBody>
      </p:sp>
      <p:cxnSp>
        <p:nvCxnSpPr>
          <p:cNvPr id="18" name="直接箭头连接符 17"/>
          <p:cNvCxnSpPr/>
          <p:nvPr/>
        </p:nvCxnSpPr>
        <p:spPr bwMode="auto">
          <a:xfrm flipH="1">
            <a:off x="2921000" y="3286125"/>
            <a:ext cx="2811463" cy="0"/>
          </a:xfrm>
          <a:prstGeom prst="straightConnector1">
            <a:avLst/>
          </a:prstGeom>
          <a:noFill/>
          <a:ln w="28575" cap="flat" cmpd="sng" algn="ctr">
            <a:solidFill>
              <a:schemeClr val="tx1">
                <a:lumMod val="50000"/>
                <a:lumOff val="50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p:cNvSpPr txBox="1">
            <a:spLocks noChangeArrowheads="1"/>
          </p:cNvSpPr>
          <p:nvPr/>
        </p:nvSpPr>
        <p:spPr bwMode="auto">
          <a:xfrm>
            <a:off x="2963863" y="3408363"/>
            <a:ext cx="3216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第</a:t>
            </a:r>
            <a:r>
              <a:rPr lang="en-US" altLang="zh-CN" sz="1200">
                <a:latin typeface="微软雅黑" pitchFamily="34" charset="-122"/>
                <a:ea typeface="微软雅黑" pitchFamily="34" charset="-122"/>
              </a:rPr>
              <a:t>1</a:t>
            </a:r>
            <a:r>
              <a:rPr lang="zh-CN" altLang="en-US" sz="1200">
                <a:latin typeface="微软雅黑" pitchFamily="34" charset="-122"/>
                <a:ea typeface="微软雅黑" pitchFamily="34" charset="-122"/>
              </a:rPr>
              <a:t>次响应，</a:t>
            </a:r>
            <a:r>
              <a:rPr lang="en-US" altLang="zh-CN" sz="1200">
                <a:latin typeface="微软雅黑" pitchFamily="34" charset="-122"/>
                <a:ea typeface="微软雅黑" pitchFamily="34" charset="-122"/>
              </a:rPr>
              <a:t>setCookie</a:t>
            </a:r>
            <a:r>
              <a:rPr lang="zh-CN" altLang="en-US" sz="1200">
                <a:latin typeface="微软雅黑" pitchFamily="34" charset="-122"/>
                <a:ea typeface="微软雅黑" pitchFamily="34" charset="-122"/>
              </a:rPr>
              <a:t>：</a:t>
            </a:r>
            <a:r>
              <a:rPr lang="en-US" altLang="zh-CN" sz="1200">
                <a:latin typeface="微软雅黑" pitchFamily="34" charset="-122"/>
                <a:ea typeface="微软雅黑" pitchFamily="34" charset="-122"/>
              </a:rPr>
              <a:t>name=value</a:t>
            </a:r>
            <a:endParaRPr lang="zh-CN" altLang="en-US" sz="1200">
              <a:latin typeface="微软雅黑" pitchFamily="34" charset="-122"/>
              <a:ea typeface="微软雅黑" pitchFamily="34" charset="-122"/>
            </a:endParaRPr>
          </a:p>
        </p:txBody>
      </p:sp>
      <p:cxnSp>
        <p:nvCxnSpPr>
          <p:cNvPr id="20" name="直接箭头连接符 19"/>
          <p:cNvCxnSpPr/>
          <p:nvPr/>
        </p:nvCxnSpPr>
        <p:spPr bwMode="auto">
          <a:xfrm>
            <a:off x="2122488" y="4029075"/>
            <a:ext cx="0" cy="814388"/>
          </a:xfrm>
          <a:prstGeom prst="straightConnector1">
            <a:avLst/>
          </a:prstGeom>
          <a:noFill/>
          <a:ln w="28575" cap="flat" cmpd="sng" algn="ctr">
            <a:solidFill>
              <a:schemeClr val="tx1">
                <a:lumMod val="50000"/>
                <a:lumOff val="50000"/>
              </a:schemeClr>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p:cNvSpPr txBox="1">
            <a:spLocks noChangeArrowheads="1"/>
          </p:cNvSpPr>
          <p:nvPr/>
        </p:nvSpPr>
        <p:spPr bwMode="auto">
          <a:xfrm>
            <a:off x="2203450" y="4110038"/>
            <a:ext cx="10398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将</a:t>
            </a:r>
            <a:r>
              <a:rPr lang="en-US" altLang="zh-CN" sz="1200">
                <a:latin typeface="微软雅黑" pitchFamily="34" charset="-122"/>
                <a:ea typeface="微软雅黑" pitchFamily="34" charset="-122"/>
              </a:rPr>
              <a:t>Server1</a:t>
            </a:r>
            <a:r>
              <a:rPr lang="zh-CN" altLang="en-US" sz="1200">
                <a:latin typeface="微软雅黑" pitchFamily="34" charset="-122"/>
                <a:ea typeface="微软雅黑" pitchFamily="34" charset="-122"/>
              </a:rPr>
              <a:t>的</a:t>
            </a:r>
            <a:r>
              <a:rPr lang="en-US" altLang="zh-CN" sz="1200">
                <a:latin typeface="微软雅黑" pitchFamily="34" charset="-122"/>
                <a:ea typeface="微软雅黑" pitchFamily="34" charset="-122"/>
              </a:rPr>
              <a:t>Cookie</a:t>
            </a:r>
            <a:r>
              <a:rPr lang="zh-CN" altLang="en-US" sz="1200">
                <a:latin typeface="微软雅黑" pitchFamily="34" charset="-122"/>
                <a:ea typeface="微软雅黑" pitchFamily="34" charset="-122"/>
              </a:rPr>
              <a:t>保存起来</a:t>
            </a:r>
          </a:p>
        </p:txBody>
      </p:sp>
      <p:sp>
        <p:nvSpPr>
          <p:cNvPr id="22" name="TextBox 21"/>
          <p:cNvSpPr txBox="1">
            <a:spLocks noChangeArrowheads="1"/>
          </p:cNvSpPr>
          <p:nvPr/>
        </p:nvSpPr>
        <p:spPr bwMode="auto">
          <a:xfrm>
            <a:off x="3081338" y="2533650"/>
            <a:ext cx="2138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后续访问</a:t>
            </a:r>
            <a:r>
              <a:rPr lang="en-US" altLang="zh-CN" sz="1200">
                <a:latin typeface="微软雅黑" pitchFamily="34" charset="-122"/>
                <a:ea typeface="微软雅黑" pitchFamily="34" charset="-122"/>
              </a:rPr>
              <a:t>Server1</a:t>
            </a:r>
            <a:r>
              <a:rPr lang="zh-CN" altLang="en-US" sz="1200">
                <a:latin typeface="微软雅黑" pitchFamily="34" charset="-122"/>
                <a:ea typeface="微软雅黑" pitchFamily="34" charset="-122"/>
              </a:rPr>
              <a:t>：</a:t>
            </a:r>
            <a:endParaRPr lang="en-US" altLang="zh-CN" sz="1200">
              <a:latin typeface="微软雅黑" pitchFamily="34" charset="-122"/>
              <a:ea typeface="微软雅黑" pitchFamily="34" charset="-122"/>
            </a:endParaRPr>
          </a:p>
          <a:p>
            <a:r>
              <a:rPr lang="en-US" altLang="zh-CN" sz="1200">
                <a:latin typeface="微软雅黑" pitchFamily="34" charset="-122"/>
                <a:ea typeface="微软雅黑" pitchFamily="34" charset="-122"/>
              </a:rPr>
              <a:t>Cookie</a:t>
            </a:r>
            <a:r>
              <a:rPr lang="zh-CN" altLang="en-US" sz="1200">
                <a:latin typeface="微软雅黑" pitchFamily="34" charset="-122"/>
                <a:ea typeface="微软雅黑" pitchFamily="34" charset="-122"/>
              </a:rPr>
              <a:t>：</a:t>
            </a:r>
            <a:r>
              <a:rPr lang="en-US" altLang="zh-CN" sz="1200">
                <a:latin typeface="微软雅黑" pitchFamily="34" charset="-122"/>
                <a:ea typeface="微软雅黑" pitchFamily="34" charset="-122"/>
              </a:rPr>
              <a:t>name=value</a:t>
            </a:r>
            <a:endParaRPr lang="zh-CN" altLang="en-US" sz="1200">
              <a:latin typeface="微软雅黑" pitchFamily="34" charset="-122"/>
              <a:ea typeface="微软雅黑" pitchFamily="34" charset="-122"/>
            </a:endParaRPr>
          </a:p>
        </p:txBody>
      </p:sp>
      <p:sp>
        <p:nvSpPr>
          <p:cNvPr id="23" name="TextBox 22"/>
          <p:cNvSpPr txBox="1">
            <a:spLocks noChangeArrowheads="1"/>
          </p:cNvSpPr>
          <p:nvPr/>
        </p:nvSpPr>
        <p:spPr bwMode="auto">
          <a:xfrm>
            <a:off x="442913" y="4275138"/>
            <a:ext cx="1492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latin typeface="微软雅黑" pitchFamily="34" charset="-122"/>
                <a:ea typeface="微软雅黑" pitchFamily="34" charset="-122"/>
              </a:rPr>
              <a:t>后续访问</a:t>
            </a:r>
            <a:r>
              <a:rPr lang="en-US" altLang="zh-CN" sz="1200">
                <a:latin typeface="微软雅黑" pitchFamily="34" charset="-122"/>
                <a:ea typeface="微软雅黑" pitchFamily="34" charset="-122"/>
              </a:rPr>
              <a:t>Server1</a:t>
            </a:r>
            <a:r>
              <a:rPr lang="zh-CN" altLang="en-US" sz="1200">
                <a:latin typeface="微软雅黑" pitchFamily="34" charset="-122"/>
                <a:ea typeface="微软雅黑" pitchFamily="34" charset="-122"/>
              </a:rPr>
              <a:t>，直接获取</a:t>
            </a:r>
            <a:r>
              <a:rPr lang="en-US" altLang="zh-CN" sz="1200">
                <a:latin typeface="微软雅黑" pitchFamily="34" charset="-122"/>
                <a:ea typeface="微软雅黑" pitchFamily="34" charset="-122"/>
              </a:rPr>
              <a:t>Cookie</a:t>
            </a:r>
            <a:endParaRPr lang="zh-CN" altLang="en-US" sz="1200">
              <a:latin typeface="微软雅黑" pitchFamily="34" charset="-122"/>
              <a:ea typeface="微软雅黑" pitchFamily="34" charset="-122"/>
            </a:endParaRPr>
          </a:p>
        </p:txBody>
      </p:sp>
      <p:cxnSp>
        <p:nvCxnSpPr>
          <p:cNvPr id="24" name="直接连接符 23"/>
          <p:cNvCxnSpPr/>
          <p:nvPr/>
        </p:nvCxnSpPr>
        <p:spPr>
          <a:xfrm>
            <a:off x="4149725" y="4327525"/>
            <a:ext cx="4168775" cy="7938"/>
          </a:xfrm>
          <a:prstGeom prst="line">
            <a:avLst/>
          </a:prstGeom>
          <a:ln>
            <a:solidFill>
              <a:srgbClr val="01598B"/>
            </a:solidFill>
          </a:ln>
        </p:spPr>
        <p:style>
          <a:lnRef idx="1">
            <a:schemeClr val="accent6"/>
          </a:lnRef>
          <a:fillRef idx="0">
            <a:schemeClr val="accent6"/>
          </a:fillRef>
          <a:effectRef idx="0">
            <a:schemeClr val="accent6"/>
          </a:effectRef>
          <a:fontRef idx="minor">
            <a:schemeClr val="tx1"/>
          </a:fontRef>
        </p:style>
      </p:cxnSp>
      <p:cxnSp>
        <p:nvCxnSpPr>
          <p:cNvPr id="25" name="直接连接符 24"/>
          <p:cNvCxnSpPr/>
          <p:nvPr/>
        </p:nvCxnSpPr>
        <p:spPr>
          <a:xfrm>
            <a:off x="4139952" y="6237312"/>
            <a:ext cx="4089400" cy="0"/>
          </a:xfrm>
          <a:prstGeom prst="line">
            <a:avLst/>
          </a:prstGeom>
          <a:ln>
            <a:solidFill>
              <a:srgbClr val="01598B"/>
            </a:solidFill>
          </a:ln>
        </p:spPr>
        <p:style>
          <a:lnRef idx="1">
            <a:schemeClr val="accent6"/>
          </a:lnRef>
          <a:fillRef idx="0">
            <a:schemeClr val="accent6"/>
          </a:fillRef>
          <a:effectRef idx="0">
            <a:schemeClr val="accent6"/>
          </a:effectRef>
          <a:fontRef idx="minor">
            <a:schemeClr val="tx1"/>
          </a:fontRef>
        </p:style>
      </p:cxnSp>
      <p:sp>
        <p:nvSpPr>
          <p:cNvPr id="26" name="TextBox 25"/>
          <p:cNvSpPr txBox="1">
            <a:spLocks noChangeArrowheads="1"/>
          </p:cNvSpPr>
          <p:nvPr/>
        </p:nvSpPr>
        <p:spPr bwMode="auto">
          <a:xfrm>
            <a:off x="3878460" y="4509120"/>
            <a:ext cx="472598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ts val="2400"/>
              </a:lnSpc>
              <a:buFont typeface="宋体" pitchFamily="2" charset="-122"/>
              <a:buAutoNum type="circleNumDbPlain"/>
            </a:pPr>
            <a:r>
              <a:rPr lang="zh-CN" altLang="en-US" sz="1400">
                <a:solidFill>
                  <a:srgbClr val="0066A1"/>
                </a:solidFill>
              </a:rPr>
              <a:t>第一次访问服务器，服务器会增加</a:t>
            </a:r>
            <a:r>
              <a:rPr lang="en-US" altLang="zh-CN" sz="1400">
                <a:solidFill>
                  <a:srgbClr val="0066A1"/>
                </a:solidFill>
              </a:rPr>
              <a:t>Set-Cookie</a:t>
            </a:r>
            <a:r>
              <a:rPr lang="zh-CN" altLang="zh-CN" sz="1400">
                <a:solidFill>
                  <a:srgbClr val="0066A1"/>
                </a:solidFill>
              </a:rPr>
              <a:t>头字段</a:t>
            </a:r>
            <a:r>
              <a:rPr lang="zh-CN" altLang="en-US" sz="1400">
                <a:solidFill>
                  <a:srgbClr val="0066A1"/>
                </a:solidFill>
              </a:rPr>
              <a:t>，将</a:t>
            </a:r>
            <a:r>
              <a:rPr lang="en-US" altLang="zh-CN" sz="1400">
                <a:solidFill>
                  <a:srgbClr val="0066A1"/>
                </a:solidFill>
              </a:rPr>
              <a:t>Cookie</a:t>
            </a:r>
            <a:r>
              <a:rPr lang="zh-CN" altLang="en-US" sz="1400">
                <a:solidFill>
                  <a:srgbClr val="0066A1"/>
                </a:solidFill>
              </a:rPr>
              <a:t>信息发送给浏览器，并保存在客户端。</a:t>
            </a:r>
            <a:endParaRPr lang="en-US" altLang="zh-CN" sz="1400">
              <a:solidFill>
                <a:srgbClr val="0066A1"/>
              </a:solidFill>
            </a:endParaRPr>
          </a:p>
          <a:p>
            <a:pPr>
              <a:lnSpc>
                <a:spcPts val="2400"/>
              </a:lnSpc>
              <a:buFont typeface="宋体" pitchFamily="2" charset="-122"/>
              <a:buAutoNum type="circleNumDbPlain"/>
            </a:pPr>
            <a:r>
              <a:rPr lang="zh-CN" altLang="en-US" sz="1400">
                <a:solidFill>
                  <a:srgbClr val="0066A1"/>
                </a:solidFill>
              </a:rPr>
              <a:t>当后续访问服务器时，会在请求消息中将用户信息以</a:t>
            </a:r>
            <a:r>
              <a:rPr lang="en-US" altLang="zh-CN" sz="1400">
                <a:solidFill>
                  <a:srgbClr val="0066A1"/>
                </a:solidFill>
              </a:rPr>
              <a:t>Cookie</a:t>
            </a:r>
            <a:r>
              <a:rPr lang="zh-CN" altLang="en-US" sz="1400">
                <a:solidFill>
                  <a:srgbClr val="0066A1"/>
                </a:solidFill>
              </a:rPr>
              <a:t>的形式发送给服务器</a:t>
            </a:r>
            <a:r>
              <a:rPr lang="zh-CN" altLang="en-US" sz="1400" smtClean="0">
                <a:solidFill>
                  <a:srgbClr val="0066A1"/>
                </a:solidFill>
              </a:rPr>
              <a:t>，从而使</a:t>
            </a:r>
            <a:r>
              <a:rPr lang="zh-CN" altLang="en-US" sz="1400">
                <a:solidFill>
                  <a:srgbClr val="0066A1"/>
                </a:solidFill>
              </a:rPr>
              <a:t>服务器端分辨出当前请求是由哪个用户发出</a:t>
            </a:r>
            <a:r>
              <a:rPr lang="zh-CN" altLang="en-US" sz="1400" smtClean="0">
                <a:solidFill>
                  <a:srgbClr val="0066A1"/>
                </a:solidFill>
              </a:rPr>
              <a:t>的。</a:t>
            </a:r>
            <a:endParaRPr lang="en-US" altLang="zh-CN" sz="1400">
              <a:solidFill>
                <a:srgbClr val="0066A1"/>
              </a:solidFill>
            </a:endParaRPr>
          </a:p>
        </p:txBody>
      </p:sp>
      <p:sp>
        <p:nvSpPr>
          <p:cNvPr id="27" name="矩形 26"/>
          <p:cNvSpPr>
            <a:spLocks noChangeArrowheads="1"/>
          </p:cNvSpPr>
          <p:nvPr/>
        </p:nvSpPr>
        <p:spPr bwMode="auto">
          <a:xfrm>
            <a:off x="5403850" y="4178300"/>
            <a:ext cx="1230313" cy="369888"/>
          </a:xfrm>
          <a:prstGeom prst="rect">
            <a:avLst/>
          </a:prstGeom>
          <a:solidFill>
            <a:schemeClr val="bg1"/>
          </a:solidFill>
          <a:ln w="9525">
            <a:solidFill>
              <a:srgbClr val="01598B"/>
            </a:solidFill>
            <a:miter lim="800000"/>
            <a:headEnd/>
            <a:tailEnd/>
          </a:ln>
        </p:spPr>
        <p:txBody>
          <a:bodyPr>
            <a:spAutoFit/>
          </a:bodyPr>
          <a:lstStyle/>
          <a:p>
            <a:pPr algn="ctr" eaLnBrk="0" hangingPunct="0"/>
            <a:r>
              <a:rPr lang="en-US" altLang="zh-CN">
                <a:solidFill>
                  <a:srgbClr val="FF0000"/>
                </a:solidFill>
                <a:latin typeface="微软雅黑" pitchFamily="34" charset="-122"/>
                <a:ea typeface="微软雅黑" pitchFamily="34" charset="-122"/>
              </a:rPr>
              <a:t>【</a:t>
            </a:r>
            <a:r>
              <a:rPr lang="zh-CN" altLang="en-US">
                <a:solidFill>
                  <a:srgbClr val="FF0000"/>
                </a:solidFill>
                <a:latin typeface="微软雅黑" pitchFamily="34" charset="-122"/>
                <a:ea typeface="微软雅黑" pitchFamily="34" charset="-122"/>
              </a:rPr>
              <a:t>结论</a:t>
            </a:r>
            <a:r>
              <a:rPr lang="en-US" altLang="zh-CN">
                <a:solidFill>
                  <a:srgbClr val="FF0000"/>
                </a:solidFill>
                <a:latin typeface="微软雅黑" pitchFamily="34" charset="-122"/>
                <a:ea typeface="微软雅黑" pitchFamily="34" charset="-122"/>
              </a:rPr>
              <a:t>】</a:t>
            </a:r>
            <a:endParaRPr lang="zh-CN" altLang="en-US">
              <a:solidFill>
                <a:srgbClr val="FF0000"/>
              </a:solidFill>
            </a:endParaRPr>
          </a:p>
        </p:txBody>
      </p:sp>
      <p:sp>
        <p:nvSpPr>
          <p:cNvPr id="2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5.2.1  </a:t>
            </a:r>
            <a:r>
              <a:rPr lang="zh-CN" altLang="en-US" sz="3200" b="1" dirty="0">
                <a:solidFill>
                  <a:srgbClr val="006BA9"/>
                </a:solidFill>
                <a:latin typeface="微软雅黑" pitchFamily="34" charset="-122"/>
                <a:ea typeface="微软雅黑" pitchFamily="34" charset="-122"/>
                <a:sym typeface="宋体" charset="-122"/>
              </a:rPr>
              <a:t>什么是</a:t>
            </a:r>
            <a:r>
              <a:rPr lang="en-US" altLang="zh-CN" sz="3200" b="1" dirty="0">
                <a:solidFill>
                  <a:srgbClr val="006BA9"/>
                </a:solidFill>
                <a:latin typeface="微软雅黑" pitchFamily="34" charset="-122"/>
                <a:ea typeface="微软雅黑" pitchFamily="34" charset="-122"/>
                <a:sym typeface="宋体" charset="-122"/>
              </a:rPr>
              <a:t>Cookie</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590919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8"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right)">
                                      <p:cBhvr>
                                        <p:cTn id="27" dur="500"/>
                                        <p:tgtEl>
                                          <p:spTgt spid="19"/>
                                        </p:tgtEl>
                                      </p:cBhvr>
                                    </p:animEffect>
                                  </p:childTnLst>
                                </p:cTn>
                              </p:par>
                              <p:par>
                                <p:cTn id="28" presetID="22" presetClass="entr" presetSubtype="2"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right)">
                                      <p:cBhvr>
                                        <p:cTn id="30" dur="500"/>
                                        <p:tgtEl>
                                          <p:spTgt spid="18"/>
                                        </p:tgtEl>
                                      </p:cBhvr>
                                    </p:animEffect>
                                  </p:childTnLst>
                                </p:cTn>
                              </p:par>
                              <p:par>
                                <p:cTn id="31" presetID="22" presetClass="entr" presetSubtype="1"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up)">
                                      <p:cBhvr>
                                        <p:cTn id="33" dur="500"/>
                                        <p:tgtEl>
                                          <p:spTgt spid="20"/>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up)">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9"/>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2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7" grpId="0"/>
      <p:bldP spid="17" grpId="1"/>
      <p:bldP spid="19" grpId="0"/>
      <p:bldP spid="19" grpId="1"/>
      <p:bldP spid="21" grpId="0"/>
      <p:bldP spid="21" grpId="1"/>
      <p:bldP spid="22" grpId="0"/>
      <p:bldP spid="23" grpId="0"/>
      <p:bldP spid="26" grpId="0"/>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TextBox 14"/>
          <p:cNvSpPr txBox="1">
            <a:spLocks noChangeArrowheads="1"/>
          </p:cNvSpPr>
          <p:nvPr/>
        </p:nvSpPr>
        <p:spPr bwMode="auto">
          <a:xfrm>
            <a:off x="611560" y="1412776"/>
            <a:ext cx="772167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342900" indent="-342900">
              <a:lnSpc>
                <a:spcPct val="150000"/>
              </a:lnSpc>
              <a:buFont typeface="Calibri" panose="020F0502020204030204" pitchFamily="34" charset="0"/>
              <a:buChar char="–"/>
            </a:pPr>
            <a:r>
              <a:rPr lang="zh-CN" altLang="zh-CN" sz="2000" dirty="0" smtClean="0">
                <a:solidFill>
                  <a:srgbClr val="0066A1"/>
                </a:solidFill>
                <a:latin typeface="Times New Roman" panose="02020603050405020304" pitchFamily="18" charset="0"/>
                <a:cs typeface="Times New Roman" panose="02020603050405020304" pitchFamily="18" charset="0"/>
              </a:rPr>
              <a:t>在</a:t>
            </a:r>
            <a:r>
              <a:rPr lang="en-US" altLang="zh-CN" sz="2000" dirty="0">
                <a:solidFill>
                  <a:srgbClr val="0066A1"/>
                </a:solidFill>
                <a:latin typeface="Times New Roman" panose="02020603050405020304" pitchFamily="18" charset="0"/>
                <a:cs typeface="Times New Roman" panose="02020603050405020304" pitchFamily="18" charset="0"/>
              </a:rPr>
              <a:t>Servlet API</a:t>
            </a:r>
            <a:r>
              <a:rPr lang="zh-CN" altLang="zh-CN" sz="2000" dirty="0">
                <a:solidFill>
                  <a:srgbClr val="0066A1"/>
                </a:solidFill>
                <a:latin typeface="Times New Roman" panose="02020603050405020304" pitchFamily="18" charset="0"/>
                <a:cs typeface="Times New Roman" panose="02020603050405020304" pitchFamily="18" charset="0"/>
              </a:rPr>
              <a:t>中提供了</a:t>
            </a:r>
            <a:r>
              <a:rPr lang="en-US" altLang="zh-CN" sz="2000" dirty="0" err="1">
                <a:solidFill>
                  <a:srgbClr val="FF0000"/>
                </a:solidFill>
                <a:latin typeface="Times New Roman" panose="02020603050405020304" pitchFamily="18" charset="0"/>
                <a:cs typeface="Times New Roman" panose="02020603050405020304" pitchFamily="18" charset="0"/>
              </a:rPr>
              <a:t>javax.servlet.http.Cookie</a:t>
            </a:r>
            <a:r>
              <a:rPr lang="zh-CN" altLang="zh-CN" sz="2000" dirty="0">
                <a:solidFill>
                  <a:srgbClr val="0066A1"/>
                </a:solidFill>
                <a:latin typeface="Times New Roman" panose="02020603050405020304" pitchFamily="18" charset="0"/>
                <a:cs typeface="Times New Roman" panose="02020603050405020304" pitchFamily="18" charset="0"/>
              </a:rPr>
              <a:t>类</a:t>
            </a:r>
            <a:r>
              <a:rPr lang="zh-CN" altLang="en-US" sz="2000" dirty="0">
                <a:solidFill>
                  <a:srgbClr val="0066A1"/>
                </a:solidFill>
                <a:latin typeface="Times New Roman" panose="02020603050405020304" pitchFamily="18" charset="0"/>
                <a:cs typeface="Times New Roman" panose="02020603050405020304" pitchFamily="18" charset="0"/>
              </a:rPr>
              <a:t>，它包含了</a:t>
            </a:r>
            <a:r>
              <a:rPr lang="zh-CN" altLang="zh-CN" sz="2000" dirty="0">
                <a:solidFill>
                  <a:srgbClr val="0066A1"/>
                </a:solidFill>
                <a:latin typeface="Times New Roman" panose="02020603050405020304" pitchFamily="18" charset="0"/>
                <a:cs typeface="Times New Roman" panose="02020603050405020304" pitchFamily="18" charset="0"/>
              </a:rPr>
              <a:t>生成</a:t>
            </a:r>
            <a:r>
              <a:rPr lang="en-US" altLang="zh-CN" sz="2000" dirty="0">
                <a:solidFill>
                  <a:srgbClr val="0066A1"/>
                </a:solidFill>
                <a:latin typeface="Times New Roman" panose="02020603050405020304" pitchFamily="18" charset="0"/>
                <a:cs typeface="Times New Roman" panose="02020603050405020304" pitchFamily="18" charset="0"/>
              </a:rPr>
              <a:t>Cookie</a:t>
            </a:r>
            <a:r>
              <a:rPr lang="zh-CN" altLang="zh-CN" sz="2000" dirty="0">
                <a:solidFill>
                  <a:srgbClr val="0066A1"/>
                </a:solidFill>
                <a:latin typeface="Times New Roman" panose="02020603050405020304" pitchFamily="18" charset="0"/>
                <a:cs typeface="Times New Roman" panose="02020603050405020304" pitchFamily="18" charset="0"/>
              </a:rPr>
              <a:t>信息和提取</a:t>
            </a:r>
            <a:r>
              <a:rPr lang="en-US" altLang="zh-CN" sz="2000" dirty="0">
                <a:solidFill>
                  <a:srgbClr val="0066A1"/>
                </a:solidFill>
                <a:latin typeface="Times New Roman" panose="02020603050405020304" pitchFamily="18" charset="0"/>
                <a:cs typeface="Times New Roman" panose="02020603050405020304" pitchFamily="18" charset="0"/>
              </a:rPr>
              <a:t>Cookie</a:t>
            </a:r>
            <a:r>
              <a:rPr lang="zh-CN" altLang="zh-CN" sz="2000" dirty="0">
                <a:solidFill>
                  <a:srgbClr val="0066A1"/>
                </a:solidFill>
                <a:latin typeface="Times New Roman" panose="02020603050405020304" pitchFamily="18" charset="0"/>
                <a:cs typeface="Times New Roman" panose="02020603050405020304" pitchFamily="18" charset="0"/>
              </a:rPr>
              <a:t>信息各个属性的方法</a:t>
            </a:r>
            <a:r>
              <a:rPr lang="zh-CN" altLang="en-US" sz="2000" dirty="0">
                <a:solidFill>
                  <a:srgbClr val="0066A1"/>
                </a:solidFill>
                <a:latin typeface="Times New Roman" panose="02020603050405020304" pitchFamily="18" charset="0"/>
                <a:cs typeface="Times New Roman" panose="02020603050405020304" pitchFamily="18" charset="0"/>
              </a:rPr>
              <a:t>。</a:t>
            </a:r>
            <a:endParaRPr lang="en-US" altLang="zh-CN" sz="2000" dirty="0">
              <a:solidFill>
                <a:srgbClr val="0066A1"/>
              </a:solidFill>
              <a:latin typeface="Times New Roman" panose="02020603050405020304" pitchFamily="18" charset="0"/>
              <a:cs typeface="Times New Roman" panose="02020603050405020304" pitchFamily="18" charset="0"/>
            </a:endParaRPr>
          </a:p>
        </p:txBody>
      </p:sp>
      <p:sp>
        <p:nvSpPr>
          <p:cNvPr id="4" name="TextBox 3"/>
          <p:cNvSpPr txBox="1">
            <a:spLocks noChangeArrowheads="1"/>
          </p:cNvSpPr>
          <p:nvPr/>
        </p:nvSpPr>
        <p:spPr bwMode="auto">
          <a:xfrm>
            <a:off x="611560" y="2451000"/>
            <a:ext cx="8467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en-US" altLang="zh-CN" sz="2000" b="1" dirty="0">
                <a:solidFill>
                  <a:srgbClr val="0066A1"/>
                </a:solidFill>
              </a:rPr>
              <a:t>1</a:t>
            </a:r>
            <a:r>
              <a:rPr lang="zh-CN" altLang="en-US" sz="2000" b="1" dirty="0">
                <a:solidFill>
                  <a:srgbClr val="0066A1"/>
                </a:solidFill>
              </a:rPr>
              <a:t>、构造方法</a:t>
            </a:r>
          </a:p>
        </p:txBody>
      </p:sp>
      <p:sp>
        <p:nvSpPr>
          <p:cNvPr id="5" name="TextBox 4"/>
          <p:cNvSpPr txBox="1"/>
          <p:nvPr/>
        </p:nvSpPr>
        <p:spPr>
          <a:xfrm>
            <a:off x="797297" y="3244750"/>
            <a:ext cx="7524750" cy="554038"/>
          </a:xfrm>
          <a:prstGeom prst="rect">
            <a:avLst/>
          </a:prstGeom>
          <a:solidFill>
            <a:schemeClr val="bg1">
              <a:lumMod val="85000"/>
            </a:schemeClr>
          </a:solidFill>
        </p:spPr>
        <p:txBody>
          <a:bodyPr>
            <a:spAutoFit/>
          </a:bodyPr>
          <a:lstStyle/>
          <a:p>
            <a:pPr eaLnBrk="0" hangingPunct="0">
              <a:defRPr/>
            </a:pPr>
            <a:endParaRPr lang="en-US" altLang="zh-CN" sz="400">
              <a:latin typeface="Arial" charset="0"/>
            </a:endParaRPr>
          </a:p>
          <a:p>
            <a:pPr eaLnBrk="0" hangingPunct="0">
              <a:defRPr/>
            </a:pPr>
            <a:r>
              <a:rPr lang="en-US" altLang="zh-CN" sz="2000">
                <a:latin typeface="Arial" charset="0"/>
              </a:rPr>
              <a:t>public Cookie(java.lang.String name,java.lang.String value)</a:t>
            </a:r>
          </a:p>
          <a:p>
            <a:pPr eaLnBrk="0" hangingPunct="0">
              <a:defRPr/>
            </a:pPr>
            <a:endParaRPr lang="zh-CN" altLang="en-US" sz="600">
              <a:latin typeface="Arial" charset="0"/>
            </a:endParaRPr>
          </a:p>
        </p:txBody>
      </p:sp>
      <p:sp>
        <p:nvSpPr>
          <p:cNvPr id="6" name="矩形 5"/>
          <p:cNvSpPr>
            <a:spLocks noChangeArrowheads="1"/>
          </p:cNvSpPr>
          <p:nvPr/>
        </p:nvSpPr>
        <p:spPr bwMode="auto">
          <a:xfrm>
            <a:off x="4286622" y="3325713"/>
            <a:ext cx="706438" cy="366712"/>
          </a:xfrm>
          <a:prstGeom prst="rect">
            <a:avLst/>
          </a:prstGeom>
          <a:noFill/>
          <a:ln w="2857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7" name="矩形 6"/>
          <p:cNvSpPr>
            <a:spLocks noChangeArrowheads="1"/>
          </p:cNvSpPr>
          <p:nvPr/>
        </p:nvSpPr>
        <p:spPr bwMode="auto">
          <a:xfrm>
            <a:off x="6804397" y="3340000"/>
            <a:ext cx="706438" cy="368300"/>
          </a:xfrm>
          <a:prstGeom prst="rect">
            <a:avLst/>
          </a:prstGeom>
          <a:noFill/>
          <a:ln w="2857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cxnSp>
        <p:nvCxnSpPr>
          <p:cNvPr id="8" name="直接箭头连接符 7"/>
          <p:cNvCxnSpPr>
            <a:cxnSpLocks noChangeShapeType="1"/>
          </p:cNvCxnSpPr>
          <p:nvPr/>
        </p:nvCxnSpPr>
        <p:spPr bwMode="auto">
          <a:xfrm>
            <a:off x="4639047" y="3708300"/>
            <a:ext cx="0" cy="468313"/>
          </a:xfrm>
          <a:prstGeom prst="straightConnector1">
            <a:avLst/>
          </a:prstGeom>
          <a:noFill/>
          <a:ln w="28575"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a:cxnSpLocks noChangeShapeType="1"/>
          </p:cNvCxnSpPr>
          <p:nvPr/>
        </p:nvCxnSpPr>
        <p:spPr bwMode="auto">
          <a:xfrm>
            <a:off x="7163172" y="3711475"/>
            <a:ext cx="0" cy="568325"/>
          </a:xfrm>
          <a:prstGeom prst="straightConnector1">
            <a:avLst/>
          </a:prstGeom>
          <a:noFill/>
          <a:ln w="28575"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a:spLocks noChangeArrowheads="1"/>
          </p:cNvSpPr>
          <p:nvPr/>
        </p:nvSpPr>
        <p:spPr bwMode="auto">
          <a:xfrm>
            <a:off x="3881810" y="4279800"/>
            <a:ext cx="1636712" cy="3683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a:latin typeface="Times New Roman" panose="02020603050405020304" pitchFamily="18" charset="0"/>
                <a:cs typeface="Times New Roman" panose="02020603050405020304" pitchFamily="18" charset="0"/>
              </a:rPr>
              <a:t>Cookie</a:t>
            </a:r>
            <a:r>
              <a:rPr lang="zh-CN" altLang="en-US"/>
              <a:t>的名称</a:t>
            </a:r>
          </a:p>
        </p:txBody>
      </p:sp>
      <p:sp>
        <p:nvSpPr>
          <p:cNvPr id="11" name="TextBox 10"/>
          <p:cNvSpPr txBox="1">
            <a:spLocks noChangeArrowheads="1"/>
          </p:cNvSpPr>
          <p:nvPr/>
        </p:nvSpPr>
        <p:spPr bwMode="auto">
          <a:xfrm>
            <a:off x="6428160" y="4292500"/>
            <a:ext cx="1436687"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a:latin typeface="Times New Roman" panose="02020603050405020304" pitchFamily="18" charset="0"/>
                <a:cs typeface="Times New Roman" panose="02020603050405020304" pitchFamily="18" charset="0"/>
              </a:rPr>
              <a:t>Cookie</a:t>
            </a:r>
            <a:r>
              <a:rPr lang="zh-CN" altLang="en-US"/>
              <a:t>的值</a:t>
            </a:r>
          </a:p>
        </p:txBody>
      </p:sp>
      <p:sp>
        <p:nvSpPr>
          <p:cNvPr id="12" name="矩形 11"/>
          <p:cNvSpPr/>
          <p:nvPr/>
        </p:nvSpPr>
        <p:spPr>
          <a:xfrm>
            <a:off x="1095747" y="5050582"/>
            <a:ext cx="6769100" cy="6254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eaLnBrk="0" hangingPunct="0">
              <a:lnSpc>
                <a:spcPct val="90000"/>
              </a:lnSpc>
              <a:defRPr/>
            </a:pPr>
            <a:r>
              <a:rPr lang="zh-CN" altLang="en-US" sz="2800" b="1">
                <a:solidFill>
                  <a:srgbClr val="FF0000"/>
                </a:solidFill>
                <a:latin typeface="微软雅黑" panose="020B0503020204020204" pitchFamily="34" charset="-122"/>
                <a:ea typeface="微软雅黑" panose="020B0503020204020204" pitchFamily="34" charset="-122"/>
              </a:rPr>
              <a:t>注意</a:t>
            </a:r>
            <a:r>
              <a:rPr lang="zh-CN" altLang="en-US" sz="2800">
                <a:solidFill>
                  <a:schemeClr val="tx1"/>
                </a:solidFill>
              </a:rPr>
              <a:t> ：</a:t>
            </a:r>
            <a:r>
              <a:rPr lang="en-US" altLang="zh-CN" sz="1600">
                <a:solidFill>
                  <a:schemeClr val="tx1"/>
                </a:solidFill>
                <a:latin typeface="Times New Roman" panose="02020603050405020304" pitchFamily="18" charset="0"/>
                <a:cs typeface="Times New Roman" panose="02020603050405020304" pitchFamily="18" charset="0"/>
              </a:rPr>
              <a:t>Cookie</a:t>
            </a:r>
            <a:r>
              <a:rPr lang="zh-CN" altLang="en-US" sz="1600">
                <a:solidFill>
                  <a:schemeClr val="tx1"/>
                </a:solidFill>
              </a:rPr>
              <a:t>一旦被创建，</a:t>
            </a:r>
            <a:r>
              <a:rPr lang="zh-CN" altLang="zh-CN" sz="1600">
                <a:solidFill>
                  <a:schemeClr val="tx1"/>
                </a:solidFill>
              </a:rPr>
              <a:t>它的名称就不能更改</a:t>
            </a:r>
            <a:r>
              <a:rPr lang="zh-CN" altLang="en-US" sz="1600">
                <a:solidFill>
                  <a:schemeClr val="tx1"/>
                </a:solidFill>
              </a:rPr>
              <a:t>。</a:t>
            </a:r>
            <a:endParaRPr lang="zh-CN" altLang="en-US" sz="1600" dirty="0">
              <a:solidFill>
                <a:schemeClr val="tx1"/>
              </a:solidFill>
            </a:endParaRPr>
          </a:p>
        </p:txBody>
      </p:sp>
      <p:pic>
        <p:nvPicPr>
          <p:cNvPr id="13" name="Picture 2" descr="E:\白沙\设计文档\素材\灯泡.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135" y="4725144"/>
            <a:ext cx="763587"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5.2.2  Cookie API</a:t>
            </a:r>
            <a:endParaRPr lang="zh-CN" altLang="en-US" sz="3200" b="1" dirty="0">
              <a:solidFill>
                <a:srgbClr val="006BA9"/>
              </a:solidFill>
              <a:latin typeface="微软雅黑" pitchFamily="34" charset="-122"/>
              <a:ea typeface="微软雅黑" pitchFamily="34" charset="-122"/>
              <a:sym typeface="宋体" charset="-122"/>
            </a:endParaRPr>
          </a:p>
        </p:txBody>
      </p:sp>
      <mc:AlternateContent xmlns:mc="http://schemas.openxmlformats.org/markup-compatibility/2006">
        <mc:Choice xmlns:p14="http://schemas.microsoft.com/office/powerpoint/2010/main" Requires="p14">
          <p:contentPart p14:bwMode="auto" r:id="rId5">
            <p14:nvContentPartPr>
              <p14:cNvPr id="15" name="墨迹 14"/>
              <p14:cNvContentPartPr/>
              <p14:nvPr/>
            </p14:nvContentPartPr>
            <p14:xfrm>
              <a:off x="965160" y="1359000"/>
              <a:ext cx="5461560" cy="1028880"/>
            </p14:xfrm>
          </p:contentPart>
        </mc:Choice>
        <mc:Fallback>
          <p:pic>
            <p:nvPicPr>
              <p:cNvPr id="15" name="墨迹 14"/>
              <p:cNvPicPr/>
              <p:nvPr/>
            </p:nvPicPr>
            <p:blipFill>
              <a:blip r:embed="rId6"/>
              <a:stretch>
                <a:fillRect/>
              </a:stretch>
            </p:blipFill>
            <p:spPr>
              <a:xfrm>
                <a:off x="955800" y="1349640"/>
                <a:ext cx="5480280" cy="1047600"/>
              </a:xfrm>
              <a:prstGeom prst="rect">
                <a:avLst/>
              </a:prstGeom>
            </p:spPr>
          </p:pic>
        </mc:Fallback>
      </mc:AlternateContent>
    </p:spTree>
    <p:custDataLst>
      <p:tags r:id="rId1"/>
    </p:custDataLst>
    <p:extLst>
      <p:ext uri="{BB962C8B-B14F-4D97-AF65-F5344CB8AC3E}">
        <p14:creationId xmlns:p14="http://schemas.microsoft.com/office/powerpoint/2010/main" val="31127757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par>
                                <p:cTn id="22" presetID="22" presetClass="entr" presetSubtype="1"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500"/>
                                        <p:tgtEl>
                                          <p:spTgt spid="8"/>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par>
                          <p:cTn id="36" fill="hold">
                            <p:stCondLst>
                              <p:cond delay="1500"/>
                            </p:stCondLst>
                            <p:childTnLst>
                              <p:par>
                                <p:cTn id="37" presetID="22" presetClass="entr" presetSubtype="1"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1000"/>
                                        <p:tgtEl>
                                          <p:spTgt spid="12"/>
                                        </p:tgtEl>
                                      </p:cBhvr>
                                    </p:animEffect>
                                    <p:anim calcmode="lin" valueType="num">
                                      <p:cBhvr>
                                        <p:cTn id="45" dur="1000" fill="hold"/>
                                        <p:tgtEl>
                                          <p:spTgt spid="12"/>
                                        </p:tgtEl>
                                        <p:attrNameLst>
                                          <p:attrName>ppt_x</p:attrName>
                                        </p:attrNameLst>
                                      </p:cBhvr>
                                      <p:tavLst>
                                        <p:tav tm="0">
                                          <p:val>
                                            <p:strVal val="#ppt_x"/>
                                          </p:val>
                                        </p:tav>
                                        <p:tav tm="100000">
                                          <p:val>
                                            <p:strVal val="#ppt_x"/>
                                          </p:val>
                                        </p:tav>
                                      </p:tavLst>
                                    </p:anim>
                                    <p:anim calcmode="lin" valueType="num">
                                      <p:cBhvr>
                                        <p:cTn id="46" dur="10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animBg="1"/>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516716829"/>
              </p:ext>
            </p:extLst>
          </p:nvPr>
        </p:nvGraphicFramePr>
        <p:xfrm>
          <a:off x="386408" y="1978271"/>
          <a:ext cx="8290048" cy="4331049"/>
        </p:xfrm>
        <a:graphic>
          <a:graphicData uri="http://schemas.openxmlformats.org/drawingml/2006/table">
            <a:tbl>
              <a:tblPr firstRow="1" bandRow="1">
                <a:tableStyleId>{B301B821-A1FF-4177-AEE7-76D212191A09}</a:tableStyleId>
              </a:tblPr>
              <a:tblGrid>
                <a:gridCol w="2072512"/>
                <a:gridCol w="6217536"/>
              </a:tblGrid>
              <a:tr h="292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t>方法声明</a:t>
                      </a:r>
                      <a:endParaRPr lang="en-US" altLang="zh-CN"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ctr"/>
                      <a:r>
                        <a:rPr lang="zh-CN" altLang="en-US" sz="1600" dirty="0" smtClean="0"/>
                        <a:t>功能描述</a:t>
                      </a:r>
                      <a:endParaRPr lang="en-US" altLang="zh-CN"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238985">
                <a:tc>
                  <a:txBody>
                    <a:bodyPr/>
                    <a:lstStyle/>
                    <a:p>
                      <a:pPr indent="266700" algn="just">
                        <a:spcAft>
                          <a:spcPts val="0"/>
                        </a:spcAft>
                      </a:pPr>
                      <a:r>
                        <a:rPr lang="en-US" sz="1000" kern="0">
                          <a:effectLst/>
                          <a:latin typeface="Times New Roman"/>
                          <a:ea typeface="宋体"/>
                          <a:cs typeface="宋体"/>
                        </a:rPr>
                        <a:t>String getName()</a:t>
                      </a:r>
                      <a:endParaRPr lang="zh-CN" sz="10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spcAft>
                          <a:spcPts val="0"/>
                        </a:spcAft>
                      </a:pPr>
                      <a:r>
                        <a:rPr lang="zh-CN" sz="1050" kern="0">
                          <a:effectLst/>
                          <a:latin typeface="Times New Roman"/>
                          <a:ea typeface="宋体"/>
                          <a:cs typeface="宋体"/>
                        </a:rPr>
                        <a:t>用于返回</a:t>
                      </a:r>
                      <a:r>
                        <a:rPr lang="en-US" sz="1050" kern="0">
                          <a:effectLst/>
                          <a:latin typeface="Times New Roman"/>
                          <a:ea typeface="宋体"/>
                          <a:cs typeface="宋体"/>
                        </a:rPr>
                        <a:t>Cookie</a:t>
                      </a:r>
                      <a:r>
                        <a:rPr lang="zh-CN" sz="1050" kern="0">
                          <a:effectLst/>
                          <a:latin typeface="Times New Roman"/>
                          <a:ea typeface="宋体"/>
                          <a:cs typeface="宋体"/>
                        </a:rPr>
                        <a:t>的名称</a:t>
                      </a:r>
                      <a:endParaRPr lang="zh-CN" sz="105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kern="0" dirty="0" err="1">
                          <a:effectLst/>
                          <a:latin typeface="Times New Roman"/>
                          <a:ea typeface="宋体"/>
                          <a:cs typeface="宋体"/>
                        </a:rPr>
                        <a:t>setValue</a:t>
                      </a:r>
                      <a:r>
                        <a:rPr lang="en-US" sz="1000" kern="0" dirty="0">
                          <a:effectLst/>
                          <a:latin typeface="Times New Roman"/>
                          <a:ea typeface="宋体"/>
                          <a:cs typeface="宋体"/>
                        </a:rPr>
                        <a:t>(String </a:t>
                      </a:r>
                      <a:r>
                        <a:rPr lang="en-US" sz="1000" kern="0" dirty="0" err="1">
                          <a:effectLst/>
                          <a:latin typeface="Times New Roman"/>
                          <a:ea typeface="宋体"/>
                          <a:cs typeface="宋体"/>
                        </a:rPr>
                        <a:t>newValue</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dirty="0">
                          <a:effectLst/>
                          <a:latin typeface="Times New Roman"/>
                          <a:ea typeface="宋体"/>
                          <a:cs typeface="宋体"/>
                        </a:rPr>
                        <a:t>用于为</a:t>
                      </a:r>
                      <a:r>
                        <a:rPr lang="en-US" sz="1050" kern="0" dirty="0">
                          <a:effectLst/>
                          <a:latin typeface="Times New Roman"/>
                          <a:ea typeface="宋体"/>
                          <a:cs typeface="宋体"/>
                        </a:rPr>
                        <a:t>Cookie</a:t>
                      </a:r>
                      <a:r>
                        <a:rPr lang="zh-CN" sz="1050" kern="0" dirty="0">
                          <a:effectLst/>
                          <a:latin typeface="Times New Roman"/>
                          <a:ea typeface="宋体"/>
                          <a:cs typeface="宋体"/>
                        </a:rPr>
                        <a:t>设置一个新的值</a:t>
                      </a:r>
                      <a:endParaRPr lang="zh-CN" sz="105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String </a:t>
                      </a:r>
                      <a:r>
                        <a:rPr lang="en-US" sz="1000" kern="0" dirty="0" err="1">
                          <a:effectLst/>
                          <a:latin typeface="Times New Roman"/>
                          <a:ea typeface="宋体"/>
                          <a:cs typeface="宋体"/>
                        </a:rPr>
                        <a:t>getValue</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a:effectLst/>
                          <a:latin typeface="Times New Roman"/>
                          <a:ea typeface="宋体"/>
                          <a:cs typeface="宋体"/>
                        </a:rPr>
                        <a:t>用于返回</a:t>
                      </a:r>
                      <a:r>
                        <a:rPr lang="en-US" sz="1050" kern="0">
                          <a:effectLst/>
                          <a:latin typeface="Times New Roman"/>
                          <a:ea typeface="宋体"/>
                          <a:cs typeface="宋体"/>
                        </a:rPr>
                        <a:t>Cookie</a:t>
                      </a:r>
                      <a:r>
                        <a:rPr lang="zh-CN" sz="1050" kern="0">
                          <a:effectLst/>
                          <a:latin typeface="Times New Roman"/>
                          <a:ea typeface="宋体"/>
                          <a:cs typeface="宋体"/>
                        </a:rPr>
                        <a:t>的值</a:t>
                      </a:r>
                      <a:endParaRPr lang="zh-CN" sz="105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a:effectLst/>
                          <a:latin typeface="Times New Roman"/>
                          <a:ea typeface="宋体"/>
                          <a:cs typeface="宋体"/>
                        </a:rPr>
                        <a:t>void setMaxAge(int expiry)</a:t>
                      </a:r>
                      <a:endParaRPr lang="zh-CN" sz="10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dirty="0">
                          <a:effectLst/>
                          <a:latin typeface="Times New Roman"/>
                          <a:ea typeface="宋体"/>
                          <a:cs typeface="宋体"/>
                        </a:rPr>
                        <a:t>用于设置</a:t>
                      </a:r>
                      <a:r>
                        <a:rPr lang="en-US" sz="1050" kern="0" dirty="0">
                          <a:effectLst/>
                          <a:latin typeface="Times New Roman"/>
                          <a:ea typeface="宋体"/>
                          <a:cs typeface="宋体"/>
                        </a:rPr>
                        <a:t>Cookie</a:t>
                      </a:r>
                      <a:r>
                        <a:rPr lang="zh-CN" sz="1050" kern="0" dirty="0">
                          <a:effectLst/>
                          <a:latin typeface="Times New Roman"/>
                          <a:ea typeface="宋体"/>
                          <a:cs typeface="宋体"/>
                        </a:rPr>
                        <a:t>在浏览器客户机上保持有效的秒数</a:t>
                      </a:r>
                      <a:endParaRPr lang="zh-CN" sz="105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a:effectLst/>
                          <a:latin typeface="Times New Roman"/>
                          <a:ea typeface="宋体"/>
                          <a:cs typeface="宋体"/>
                        </a:rPr>
                        <a:t>int getMaxAge()</a:t>
                      </a:r>
                      <a:endParaRPr lang="zh-CN" sz="10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dirty="0">
                          <a:effectLst/>
                          <a:latin typeface="Times New Roman"/>
                          <a:ea typeface="宋体"/>
                          <a:cs typeface="宋体"/>
                        </a:rPr>
                        <a:t>用于返回</a:t>
                      </a:r>
                      <a:r>
                        <a:rPr lang="en-US" sz="1050" kern="0" dirty="0">
                          <a:effectLst/>
                          <a:latin typeface="Times New Roman"/>
                          <a:ea typeface="宋体"/>
                          <a:cs typeface="宋体"/>
                        </a:rPr>
                        <a:t>Cookie</a:t>
                      </a:r>
                      <a:r>
                        <a:rPr lang="zh-CN" sz="1050" kern="0" dirty="0">
                          <a:effectLst/>
                          <a:latin typeface="Times New Roman"/>
                          <a:ea typeface="宋体"/>
                          <a:cs typeface="宋体"/>
                        </a:rPr>
                        <a:t>在浏览器客户机上保持有效的秒数</a:t>
                      </a:r>
                      <a:endParaRPr lang="zh-CN" sz="105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u="none" strike="noStrike" kern="0" dirty="0" err="1">
                          <a:effectLst/>
                          <a:latin typeface="Times New Roman"/>
                          <a:ea typeface="宋体"/>
                          <a:cs typeface="宋体"/>
                        </a:rPr>
                        <a:t>setPath</a:t>
                      </a:r>
                      <a:r>
                        <a:rPr lang="en-US" sz="1000" kern="0" dirty="0">
                          <a:effectLst/>
                          <a:latin typeface="Times New Roman"/>
                          <a:ea typeface="宋体"/>
                          <a:cs typeface="宋体"/>
                        </a:rPr>
                        <a:t>(String </a:t>
                      </a:r>
                      <a:r>
                        <a:rPr lang="en-US" sz="1000" kern="0" dirty="0" err="1">
                          <a:effectLst/>
                          <a:latin typeface="Times New Roman"/>
                          <a:ea typeface="宋体"/>
                          <a:cs typeface="宋体"/>
                        </a:rPr>
                        <a:t>uri</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a:effectLst/>
                          <a:latin typeface="Times New Roman"/>
                          <a:ea typeface="宋体"/>
                          <a:cs typeface="宋体"/>
                        </a:rPr>
                        <a:t>用于设置该</a:t>
                      </a:r>
                      <a:r>
                        <a:rPr lang="en-US" sz="1050" kern="0">
                          <a:effectLst/>
                          <a:latin typeface="Times New Roman"/>
                          <a:ea typeface="宋体"/>
                          <a:cs typeface="宋体"/>
                        </a:rPr>
                        <a:t>Cookie</a:t>
                      </a:r>
                      <a:r>
                        <a:rPr lang="zh-CN" sz="1050" kern="0">
                          <a:effectLst/>
                          <a:latin typeface="Times New Roman"/>
                          <a:ea typeface="宋体"/>
                          <a:cs typeface="宋体"/>
                        </a:rPr>
                        <a:t>项的有效目录路径</a:t>
                      </a:r>
                      <a:endParaRPr lang="zh-CN" sz="1050" kern="10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String </a:t>
                      </a:r>
                      <a:r>
                        <a:rPr lang="en-US" sz="1000" kern="0" dirty="0" err="1">
                          <a:effectLst/>
                          <a:latin typeface="Times New Roman"/>
                          <a:ea typeface="宋体"/>
                          <a:cs typeface="宋体"/>
                        </a:rPr>
                        <a:t>getPath</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a:effectLst/>
                          <a:latin typeface="Times New Roman"/>
                          <a:ea typeface="宋体"/>
                          <a:cs typeface="宋体"/>
                        </a:rPr>
                        <a:t>用于返回该</a:t>
                      </a:r>
                      <a:r>
                        <a:rPr lang="en-US" sz="1050" kern="0">
                          <a:effectLst/>
                          <a:latin typeface="Times New Roman"/>
                          <a:ea typeface="宋体"/>
                          <a:cs typeface="宋体"/>
                        </a:rPr>
                        <a:t>Cookie</a:t>
                      </a:r>
                      <a:r>
                        <a:rPr lang="zh-CN" sz="1050" kern="0">
                          <a:effectLst/>
                          <a:latin typeface="Times New Roman"/>
                          <a:ea typeface="宋体"/>
                          <a:cs typeface="宋体"/>
                        </a:rPr>
                        <a:t>项的有效目录路径</a:t>
                      </a:r>
                      <a:endParaRPr lang="zh-CN" sz="105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u="none" strike="noStrike" kern="0" dirty="0" err="1">
                          <a:effectLst/>
                          <a:latin typeface="Times New Roman"/>
                          <a:ea typeface="宋体"/>
                          <a:cs typeface="宋体"/>
                        </a:rPr>
                        <a:t>setDomain</a:t>
                      </a:r>
                      <a:r>
                        <a:rPr lang="en-US" sz="1000" kern="0" dirty="0">
                          <a:effectLst/>
                          <a:latin typeface="Times New Roman"/>
                          <a:ea typeface="宋体"/>
                          <a:cs typeface="宋体"/>
                        </a:rPr>
                        <a:t>(String pattern)</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dirty="0">
                          <a:effectLst/>
                          <a:latin typeface="Times New Roman"/>
                          <a:ea typeface="宋体"/>
                          <a:cs typeface="宋体"/>
                        </a:rPr>
                        <a:t>用于设置该</a:t>
                      </a:r>
                      <a:r>
                        <a:rPr lang="en-US" sz="1050" kern="0" dirty="0">
                          <a:effectLst/>
                          <a:latin typeface="Times New Roman"/>
                          <a:ea typeface="宋体"/>
                          <a:cs typeface="宋体"/>
                        </a:rPr>
                        <a:t>Cookie</a:t>
                      </a:r>
                      <a:r>
                        <a:rPr lang="zh-CN" sz="1050" kern="0" dirty="0">
                          <a:effectLst/>
                          <a:latin typeface="Times New Roman"/>
                          <a:ea typeface="宋体"/>
                          <a:cs typeface="宋体"/>
                        </a:rPr>
                        <a:t>项的有效域</a:t>
                      </a:r>
                      <a:endParaRPr lang="zh-CN" sz="1050" kern="100" dirty="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String </a:t>
                      </a:r>
                      <a:r>
                        <a:rPr lang="en-US" sz="1000" kern="0" dirty="0" err="1">
                          <a:effectLst/>
                          <a:latin typeface="Times New Roman"/>
                          <a:ea typeface="宋体"/>
                          <a:cs typeface="宋体"/>
                        </a:rPr>
                        <a:t>getDomain</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dirty="0">
                          <a:effectLst/>
                          <a:latin typeface="Times New Roman"/>
                          <a:ea typeface="宋体"/>
                          <a:cs typeface="宋体"/>
                        </a:rPr>
                        <a:t>用于返回该</a:t>
                      </a:r>
                      <a:r>
                        <a:rPr lang="en-US" sz="1050" kern="0" dirty="0">
                          <a:effectLst/>
                          <a:latin typeface="Times New Roman"/>
                          <a:ea typeface="宋体"/>
                          <a:cs typeface="宋体"/>
                        </a:rPr>
                        <a:t>Cookie</a:t>
                      </a:r>
                      <a:r>
                        <a:rPr lang="zh-CN" sz="1050" kern="0" dirty="0">
                          <a:effectLst/>
                          <a:latin typeface="Times New Roman"/>
                          <a:ea typeface="宋体"/>
                          <a:cs typeface="宋体"/>
                        </a:rPr>
                        <a:t>项的有效域</a:t>
                      </a:r>
                      <a:endParaRPr lang="zh-CN" sz="105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u="none" strike="noStrike" kern="0" dirty="0" err="1">
                          <a:effectLst/>
                          <a:latin typeface="Times New Roman"/>
                          <a:ea typeface="宋体"/>
                          <a:cs typeface="宋体"/>
                        </a:rPr>
                        <a:t>setVersion</a:t>
                      </a:r>
                      <a:r>
                        <a:rPr lang="en-US" sz="1000" kern="0" dirty="0">
                          <a:effectLst/>
                          <a:latin typeface="Times New Roman"/>
                          <a:ea typeface="宋体"/>
                          <a:cs typeface="宋体"/>
                        </a:rPr>
                        <a:t>(</a:t>
                      </a:r>
                      <a:r>
                        <a:rPr lang="en-US" sz="1000" kern="0" dirty="0" err="1">
                          <a:effectLst/>
                          <a:latin typeface="Times New Roman"/>
                          <a:ea typeface="宋体"/>
                          <a:cs typeface="宋体"/>
                        </a:rPr>
                        <a:t>int</a:t>
                      </a:r>
                      <a:r>
                        <a:rPr lang="en-US" sz="1000" kern="0" dirty="0">
                          <a:effectLst/>
                          <a:latin typeface="Times New Roman"/>
                          <a:ea typeface="宋体"/>
                          <a:cs typeface="宋体"/>
                        </a:rPr>
                        <a:t> v)</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a:effectLst/>
                          <a:latin typeface="Times New Roman"/>
                          <a:ea typeface="宋体"/>
                          <a:cs typeface="宋体"/>
                        </a:rPr>
                        <a:t>用于设置该</a:t>
                      </a:r>
                      <a:r>
                        <a:rPr lang="en-US" sz="1050" kern="0">
                          <a:effectLst/>
                          <a:latin typeface="Times New Roman"/>
                          <a:ea typeface="宋体"/>
                          <a:cs typeface="宋体"/>
                        </a:rPr>
                        <a:t>Cookie</a:t>
                      </a:r>
                      <a:r>
                        <a:rPr lang="zh-CN" sz="1050" kern="0">
                          <a:effectLst/>
                          <a:latin typeface="Times New Roman"/>
                          <a:ea typeface="宋体"/>
                          <a:cs typeface="宋体"/>
                        </a:rPr>
                        <a:t>项采用的协议版本</a:t>
                      </a:r>
                      <a:endParaRPr lang="zh-CN" sz="1050" kern="10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err="1">
                          <a:effectLst/>
                          <a:latin typeface="Times New Roman"/>
                          <a:ea typeface="宋体"/>
                          <a:cs typeface="宋体"/>
                        </a:rPr>
                        <a:t>int</a:t>
                      </a:r>
                      <a:r>
                        <a:rPr lang="en-US" sz="1000" kern="0" dirty="0">
                          <a:effectLst/>
                          <a:latin typeface="Times New Roman"/>
                          <a:ea typeface="宋体"/>
                          <a:cs typeface="宋体"/>
                        </a:rPr>
                        <a:t> </a:t>
                      </a:r>
                      <a:r>
                        <a:rPr lang="en-US" sz="1000" kern="0" dirty="0" err="1">
                          <a:effectLst/>
                          <a:latin typeface="Times New Roman"/>
                          <a:ea typeface="宋体"/>
                          <a:cs typeface="宋体"/>
                        </a:rPr>
                        <a:t>getVersion</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a:effectLst/>
                          <a:latin typeface="Times New Roman"/>
                          <a:ea typeface="宋体"/>
                          <a:cs typeface="宋体"/>
                        </a:rPr>
                        <a:t>用于返回该</a:t>
                      </a:r>
                      <a:r>
                        <a:rPr lang="en-US" sz="1050" kern="0">
                          <a:effectLst/>
                          <a:latin typeface="Times New Roman"/>
                          <a:ea typeface="宋体"/>
                          <a:cs typeface="宋体"/>
                        </a:rPr>
                        <a:t>Cookie</a:t>
                      </a:r>
                      <a:r>
                        <a:rPr lang="zh-CN" sz="1050" kern="0">
                          <a:effectLst/>
                          <a:latin typeface="Times New Roman"/>
                          <a:ea typeface="宋体"/>
                          <a:cs typeface="宋体"/>
                        </a:rPr>
                        <a:t>项采用的协议版本</a:t>
                      </a:r>
                      <a:endParaRPr lang="zh-CN" sz="105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u="none" strike="noStrike" kern="0" dirty="0" err="1">
                          <a:effectLst/>
                          <a:latin typeface="Times New Roman"/>
                          <a:ea typeface="宋体"/>
                          <a:cs typeface="宋体"/>
                        </a:rPr>
                        <a:t>setComment</a:t>
                      </a:r>
                      <a:r>
                        <a:rPr lang="en-US" sz="1000" kern="0" dirty="0">
                          <a:effectLst/>
                          <a:latin typeface="Times New Roman"/>
                          <a:ea typeface="宋体"/>
                          <a:cs typeface="宋体"/>
                        </a:rPr>
                        <a:t>(String purpose)</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a:effectLst/>
                          <a:latin typeface="Times New Roman"/>
                          <a:ea typeface="宋体"/>
                          <a:cs typeface="宋体"/>
                        </a:rPr>
                        <a:t>用于设置该</a:t>
                      </a:r>
                      <a:r>
                        <a:rPr lang="en-US" sz="1050" kern="0">
                          <a:effectLst/>
                          <a:latin typeface="Times New Roman"/>
                          <a:ea typeface="宋体"/>
                          <a:cs typeface="宋体"/>
                        </a:rPr>
                        <a:t>Cookie</a:t>
                      </a:r>
                      <a:r>
                        <a:rPr lang="zh-CN" sz="1050" kern="0">
                          <a:effectLst/>
                          <a:latin typeface="Times New Roman"/>
                          <a:ea typeface="宋体"/>
                          <a:cs typeface="宋体"/>
                        </a:rPr>
                        <a:t>项的注解部分</a:t>
                      </a:r>
                      <a:endParaRPr lang="zh-CN" sz="1050" kern="10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String </a:t>
                      </a:r>
                      <a:r>
                        <a:rPr lang="en-US" sz="1000" kern="0" dirty="0" err="1">
                          <a:effectLst/>
                          <a:latin typeface="Times New Roman"/>
                          <a:ea typeface="宋体"/>
                          <a:cs typeface="宋体"/>
                        </a:rPr>
                        <a:t>getComment</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just">
                        <a:spcAft>
                          <a:spcPts val="0"/>
                        </a:spcAft>
                      </a:pPr>
                      <a:r>
                        <a:rPr lang="zh-CN" sz="1050" kern="0">
                          <a:effectLst/>
                          <a:latin typeface="Times New Roman"/>
                          <a:ea typeface="宋体"/>
                          <a:cs typeface="宋体"/>
                        </a:rPr>
                        <a:t>用于返回该</a:t>
                      </a:r>
                      <a:r>
                        <a:rPr lang="en-US" sz="1050" kern="0">
                          <a:effectLst/>
                          <a:latin typeface="Times New Roman"/>
                          <a:ea typeface="宋体"/>
                          <a:cs typeface="宋体"/>
                        </a:rPr>
                        <a:t>Cookie</a:t>
                      </a:r>
                      <a:r>
                        <a:rPr lang="zh-CN" sz="1050" kern="0">
                          <a:effectLst/>
                          <a:latin typeface="Times New Roman"/>
                          <a:ea typeface="宋体"/>
                          <a:cs typeface="宋体"/>
                        </a:rPr>
                        <a:t>项的注解部分</a:t>
                      </a:r>
                      <a:endParaRPr lang="zh-CN" sz="105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a:effectLst/>
                          <a:latin typeface="Times New Roman"/>
                          <a:ea typeface="宋体"/>
                          <a:cs typeface="宋体"/>
                        </a:rPr>
                        <a:t>void </a:t>
                      </a:r>
                      <a:r>
                        <a:rPr lang="en-US" sz="1000" u="none" strike="noStrike" kern="0" dirty="0" err="1" smtClean="0">
                          <a:effectLst/>
                          <a:latin typeface="Times New Roman"/>
                          <a:ea typeface="宋体"/>
                          <a:cs typeface="宋体"/>
                        </a:rPr>
                        <a:t>setSecure</a:t>
                      </a:r>
                      <a:r>
                        <a:rPr lang="en-US" sz="1000" kern="0" dirty="0" smtClean="0">
                          <a:effectLst/>
                          <a:latin typeface="Times New Roman"/>
                          <a:ea typeface="宋体"/>
                          <a:cs typeface="宋体"/>
                        </a:rPr>
                        <a:t>(</a:t>
                      </a:r>
                      <a:r>
                        <a:rPr lang="en-US" sz="1000" kern="0" dirty="0" err="1" smtClean="0">
                          <a:effectLst/>
                          <a:latin typeface="Times New Roman"/>
                          <a:ea typeface="宋体"/>
                          <a:cs typeface="宋体"/>
                        </a:rPr>
                        <a:t>boolean</a:t>
                      </a:r>
                      <a:r>
                        <a:rPr lang="en-US" sz="1000" kern="0" dirty="0">
                          <a:effectLst/>
                          <a:latin typeface="Times New Roman"/>
                          <a:ea typeface="宋体"/>
                          <a:cs typeface="宋体"/>
                        </a:rPr>
                        <a:t> flag)</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a:effectLst/>
                          <a:latin typeface="Times New Roman"/>
                          <a:ea typeface="宋体"/>
                          <a:cs typeface="宋体"/>
                        </a:rPr>
                        <a:t>用于设置该</a:t>
                      </a:r>
                      <a:r>
                        <a:rPr lang="en-US" sz="1050" kern="0">
                          <a:effectLst/>
                          <a:latin typeface="Times New Roman"/>
                          <a:ea typeface="宋体"/>
                          <a:cs typeface="宋体"/>
                        </a:rPr>
                        <a:t>Cookie</a:t>
                      </a:r>
                      <a:r>
                        <a:rPr lang="zh-CN" sz="1050" kern="0">
                          <a:effectLst/>
                          <a:latin typeface="Times New Roman"/>
                          <a:ea typeface="宋体"/>
                          <a:cs typeface="宋体"/>
                        </a:rPr>
                        <a:t>项是否只能使用安全的协议传送</a:t>
                      </a:r>
                      <a:endParaRPr lang="zh-CN" sz="1050" kern="10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just">
                        <a:spcAft>
                          <a:spcPts val="0"/>
                        </a:spcAft>
                      </a:pPr>
                      <a:r>
                        <a:rPr lang="en-US" sz="1000" kern="0" dirty="0" err="1">
                          <a:effectLst/>
                          <a:latin typeface="Times New Roman"/>
                          <a:ea typeface="宋体"/>
                          <a:cs typeface="宋体"/>
                        </a:rPr>
                        <a:t>boolean</a:t>
                      </a:r>
                      <a:r>
                        <a:rPr lang="en-US" sz="1000" kern="0" dirty="0">
                          <a:effectLst/>
                          <a:latin typeface="Times New Roman"/>
                          <a:ea typeface="宋体"/>
                          <a:cs typeface="宋体"/>
                        </a:rPr>
                        <a:t> </a:t>
                      </a:r>
                      <a:r>
                        <a:rPr lang="en-US" sz="1000" kern="0" dirty="0" err="1">
                          <a:effectLst/>
                          <a:latin typeface="Times New Roman"/>
                          <a:ea typeface="宋体"/>
                          <a:cs typeface="宋体"/>
                        </a:rPr>
                        <a:t>getSecure</a:t>
                      </a:r>
                      <a:r>
                        <a:rPr lang="en-US" sz="1000" kern="0" dirty="0">
                          <a:effectLst/>
                          <a:latin typeface="Times New Roman"/>
                          <a:ea typeface="宋体"/>
                          <a:cs typeface="宋体"/>
                        </a:rPr>
                        <a:t>()</a:t>
                      </a:r>
                      <a:endParaRPr lang="zh-CN" sz="10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050" kern="0" dirty="0">
                          <a:effectLst/>
                          <a:latin typeface="Times New Roman"/>
                          <a:ea typeface="宋体"/>
                          <a:cs typeface="宋体"/>
                        </a:rPr>
                        <a:t>用于返回该</a:t>
                      </a:r>
                      <a:r>
                        <a:rPr lang="en-US" sz="1050" kern="0" dirty="0">
                          <a:effectLst/>
                          <a:latin typeface="Times New Roman"/>
                          <a:ea typeface="宋体"/>
                          <a:cs typeface="宋体"/>
                        </a:rPr>
                        <a:t>Cookie</a:t>
                      </a:r>
                      <a:r>
                        <a:rPr lang="zh-CN" sz="1050" kern="0" dirty="0">
                          <a:effectLst/>
                          <a:latin typeface="Times New Roman"/>
                          <a:ea typeface="宋体"/>
                          <a:cs typeface="宋体"/>
                        </a:rPr>
                        <a:t>项是否只能使用安全的协议传送</a:t>
                      </a:r>
                      <a:endParaRPr lang="zh-CN" sz="1050" kern="100" dirty="0">
                        <a:effectLst/>
                        <a:latin typeface="Times New Roman"/>
                        <a:ea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3" name="矩形 2"/>
          <p:cNvSpPr>
            <a:spLocks noChangeArrowheads="1"/>
          </p:cNvSpPr>
          <p:nvPr/>
        </p:nvSpPr>
        <p:spPr bwMode="auto">
          <a:xfrm>
            <a:off x="611560" y="3015702"/>
            <a:ext cx="6091237" cy="546745"/>
          </a:xfrm>
          <a:prstGeom prst="rect">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4" name="矩形 3"/>
          <p:cNvSpPr>
            <a:spLocks noChangeArrowheads="1"/>
          </p:cNvSpPr>
          <p:nvPr/>
        </p:nvSpPr>
        <p:spPr bwMode="auto">
          <a:xfrm>
            <a:off x="611560" y="3562447"/>
            <a:ext cx="6091237" cy="504056"/>
          </a:xfrm>
          <a:prstGeom prst="rect">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5" name="矩形 4"/>
          <p:cNvSpPr>
            <a:spLocks noChangeArrowheads="1"/>
          </p:cNvSpPr>
          <p:nvPr/>
        </p:nvSpPr>
        <p:spPr bwMode="auto">
          <a:xfrm>
            <a:off x="611560" y="4066503"/>
            <a:ext cx="6091237" cy="576064"/>
          </a:xfrm>
          <a:prstGeom prst="rect">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9" name="云形标注 8"/>
          <p:cNvSpPr>
            <a:spLocks noChangeArrowheads="1"/>
          </p:cNvSpPr>
          <p:nvPr/>
        </p:nvSpPr>
        <p:spPr bwMode="auto">
          <a:xfrm>
            <a:off x="5436096" y="619571"/>
            <a:ext cx="3600450" cy="2032000"/>
          </a:xfrm>
          <a:prstGeom prst="cloudCallout">
            <a:avLst>
              <a:gd name="adj1" fmla="val -39125"/>
              <a:gd name="adj2" fmla="val 73824"/>
            </a:avLst>
          </a:prstGeom>
          <a:noFill/>
          <a:ln w="9525" algn="ctr">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10" name="TextBox 9"/>
          <p:cNvSpPr txBox="1">
            <a:spLocks noChangeArrowheads="1"/>
          </p:cNvSpPr>
          <p:nvPr/>
        </p:nvSpPr>
        <p:spPr bwMode="auto">
          <a:xfrm>
            <a:off x="5844083" y="973583"/>
            <a:ext cx="27844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000" dirty="0" smtClean="0"/>
              <a:t>这两个方法用</a:t>
            </a:r>
            <a:r>
              <a:rPr lang="zh-CN" altLang="zh-CN" sz="1000" dirty="0" smtClean="0"/>
              <a:t>于</a:t>
            </a:r>
            <a:r>
              <a:rPr lang="zh-CN" altLang="zh-CN" sz="1000" dirty="0"/>
              <a:t>设置和返回</a:t>
            </a:r>
            <a:r>
              <a:rPr lang="en-US" altLang="zh-CN" sz="1000" dirty="0"/>
              <a:t>Cookie</a:t>
            </a:r>
            <a:r>
              <a:rPr lang="zh-CN" altLang="zh-CN" sz="1000" dirty="0"/>
              <a:t>在浏览器上保持有效的秒数。如果设置的值为一个正整数时，浏览器会将</a:t>
            </a:r>
            <a:r>
              <a:rPr lang="en-US" altLang="zh-CN" sz="1000" dirty="0"/>
              <a:t>Cookie</a:t>
            </a:r>
            <a:r>
              <a:rPr lang="zh-CN" altLang="zh-CN" sz="1000" dirty="0"/>
              <a:t>信息保存在本地硬盘中。如果设置值为负整数时，浏览器会将</a:t>
            </a:r>
            <a:r>
              <a:rPr lang="en-US" altLang="zh-CN" sz="1000" dirty="0"/>
              <a:t>Cookie</a:t>
            </a:r>
            <a:r>
              <a:rPr lang="zh-CN" altLang="zh-CN" sz="1000" dirty="0"/>
              <a:t>信息保存在的缓存中，当浏览器关闭时，</a:t>
            </a:r>
            <a:r>
              <a:rPr lang="en-US" altLang="zh-CN" sz="1000" dirty="0"/>
              <a:t>Cookie</a:t>
            </a:r>
            <a:r>
              <a:rPr lang="zh-CN" altLang="zh-CN" sz="1000" dirty="0"/>
              <a:t>信息会被删除。如果设置值为</a:t>
            </a:r>
            <a:r>
              <a:rPr lang="en-US" altLang="zh-CN" sz="1000" dirty="0"/>
              <a:t>0</a:t>
            </a:r>
            <a:r>
              <a:rPr lang="zh-CN" altLang="zh-CN" sz="1000" dirty="0"/>
              <a:t>时，则表示通知浏览器立即删除这个</a:t>
            </a:r>
            <a:r>
              <a:rPr lang="en-US" altLang="zh-CN" sz="1000" dirty="0"/>
              <a:t>Cookie</a:t>
            </a:r>
            <a:r>
              <a:rPr lang="zh-CN" altLang="zh-CN" sz="1000" dirty="0"/>
              <a:t>信息。默认情况下，</a:t>
            </a:r>
            <a:r>
              <a:rPr lang="en-US" altLang="zh-CN" sz="1000" dirty="0"/>
              <a:t>Max-Age</a:t>
            </a:r>
            <a:r>
              <a:rPr lang="zh-CN" altLang="zh-CN" sz="1000" dirty="0"/>
              <a:t>属性的值是</a:t>
            </a:r>
            <a:r>
              <a:rPr lang="en-US" altLang="zh-CN" sz="1000" dirty="0"/>
              <a:t>-1</a:t>
            </a:r>
            <a:r>
              <a:rPr lang="zh-CN" altLang="zh-CN" sz="1000" dirty="0"/>
              <a:t>。</a:t>
            </a:r>
            <a:endParaRPr lang="zh-CN" altLang="en-US" sz="1000" dirty="0"/>
          </a:p>
        </p:txBody>
      </p:sp>
      <p:sp>
        <p:nvSpPr>
          <p:cNvPr id="11" name="TextBox 10"/>
          <p:cNvSpPr txBox="1">
            <a:spLocks noChangeArrowheads="1"/>
          </p:cNvSpPr>
          <p:nvPr/>
        </p:nvSpPr>
        <p:spPr bwMode="auto">
          <a:xfrm>
            <a:off x="611560" y="1556792"/>
            <a:ext cx="84677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en-US" altLang="zh-CN" sz="2000" b="1" dirty="0">
                <a:solidFill>
                  <a:srgbClr val="0066A1"/>
                </a:solidFill>
              </a:rPr>
              <a:t>2</a:t>
            </a:r>
            <a:r>
              <a:rPr lang="zh-CN" altLang="en-US" sz="2000" b="1" dirty="0">
                <a:solidFill>
                  <a:srgbClr val="0066A1"/>
                </a:solidFill>
              </a:rPr>
              <a:t>、</a:t>
            </a:r>
            <a:r>
              <a:rPr lang="en-US" altLang="zh-CN" sz="2000" b="1" dirty="0" smtClean="0">
                <a:solidFill>
                  <a:srgbClr val="0066A1"/>
                </a:solidFill>
              </a:rPr>
              <a:t>Cookie</a:t>
            </a:r>
            <a:r>
              <a:rPr lang="zh-CN" altLang="en-US" sz="2000" b="1" dirty="0" smtClean="0">
                <a:solidFill>
                  <a:srgbClr val="0066A1"/>
                </a:solidFill>
              </a:rPr>
              <a:t>类的常用方法</a:t>
            </a:r>
            <a:endParaRPr lang="zh-CN" altLang="en-US" sz="2000" b="1" dirty="0">
              <a:solidFill>
                <a:srgbClr val="0066A1"/>
              </a:solidFill>
            </a:endParaRPr>
          </a:p>
        </p:txBody>
      </p:sp>
      <p:sp>
        <p:nvSpPr>
          <p:cNvPr id="13" name="TextBox 12"/>
          <p:cNvSpPr txBox="1">
            <a:spLocks noChangeArrowheads="1"/>
          </p:cNvSpPr>
          <p:nvPr/>
        </p:nvSpPr>
        <p:spPr bwMode="auto">
          <a:xfrm>
            <a:off x="5963989" y="1709033"/>
            <a:ext cx="2784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zh-CN" sz="1000" dirty="0" smtClean="0"/>
              <a:t>这</a:t>
            </a:r>
            <a:r>
              <a:rPr lang="zh-CN" altLang="zh-CN" sz="1000" dirty="0"/>
              <a:t>两个方法是针对</a:t>
            </a:r>
            <a:r>
              <a:rPr lang="en-US" altLang="zh-CN" sz="1000" dirty="0"/>
              <a:t>Cookie</a:t>
            </a:r>
            <a:r>
              <a:rPr lang="zh-CN" altLang="zh-CN" sz="1000" dirty="0"/>
              <a:t>的</a:t>
            </a:r>
            <a:r>
              <a:rPr lang="en-US" altLang="zh-CN" sz="1000" dirty="0"/>
              <a:t>Path</a:t>
            </a:r>
            <a:r>
              <a:rPr lang="zh-CN" altLang="zh-CN" sz="1000" dirty="0"/>
              <a:t>属性。如果创建的某个</a:t>
            </a:r>
            <a:r>
              <a:rPr lang="en-US" altLang="zh-CN" sz="1000" dirty="0"/>
              <a:t>Cookie</a:t>
            </a:r>
            <a:r>
              <a:rPr lang="zh-CN" altLang="zh-CN" sz="1000" dirty="0"/>
              <a:t>对象没有设置</a:t>
            </a:r>
            <a:r>
              <a:rPr lang="en-US" altLang="zh-CN" sz="1000" dirty="0"/>
              <a:t>Path</a:t>
            </a:r>
            <a:r>
              <a:rPr lang="zh-CN" altLang="zh-CN" sz="1000" dirty="0"/>
              <a:t>属性，那么该</a:t>
            </a:r>
            <a:r>
              <a:rPr lang="en-US" altLang="zh-CN" sz="1000" dirty="0"/>
              <a:t>Cookie</a:t>
            </a:r>
            <a:r>
              <a:rPr lang="zh-CN" altLang="zh-CN" sz="1000" dirty="0"/>
              <a:t>只对当前访问路径所属的目录及其子目录有效。如果想让某个</a:t>
            </a:r>
            <a:r>
              <a:rPr lang="en-US" altLang="zh-CN" sz="1000" dirty="0"/>
              <a:t>Cookie</a:t>
            </a:r>
            <a:r>
              <a:rPr lang="zh-CN" altLang="zh-CN" sz="1000" dirty="0"/>
              <a:t>项对站点的所有目录下的访问路径都有效，应调用</a:t>
            </a:r>
            <a:r>
              <a:rPr lang="en-US" altLang="zh-CN" sz="1000" dirty="0"/>
              <a:t>Cookie</a:t>
            </a:r>
            <a:r>
              <a:rPr lang="zh-CN" altLang="zh-CN" sz="1000" dirty="0"/>
              <a:t>对象的</a:t>
            </a:r>
            <a:r>
              <a:rPr lang="en-US" altLang="zh-CN" sz="1000" dirty="0" err="1"/>
              <a:t>setPath</a:t>
            </a:r>
            <a:r>
              <a:rPr lang="en-US" altLang="zh-CN" sz="1000" dirty="0"/>
              <a:t>()</a:t>
            </a:r>
            <a:r>
              <a:rPr lang="zh-CN" altLang="zh-CN" sz="1000" dirty="0"/>
              <a:t>方法将其</a:t>
            </a:r>
            <a:r>
              <a:rPr lang="en-US" altLang="zh-CN" sz="1000" dirty="0"/>
              <a:t>Path</a:t>
            </a:r>
            <a:r>
              <a:rPr lang="zh-CN" altLang="zh-CN" sz="1000" dirty="0"/>
              <a:t>属性设置为“</a:t>
            </a:r>
            <a:r>
              <a:rPr lang="en-US" altLang="zh-CN" sz="1000" dirty="0"/>
              <a:t>/</a:t>
            </a:r>
            <a:r>
              <a:rPr lang="zh-CN" altLang="zh-CN" sz="1000" dirty="0"/>
              <a:t>”。</a:t>
            </a:r>
          </a:p>
        </p:txBody>
      </p:sp>
      <p:sp>
        <p:nvSpPr>
          <p:cNvPr id="14" name="云形标注 13"/>
          <p:cNvSpPr>
            <a:spLocks noChangeArrowheads="1"/>
          </p:cNvSpPr>
          <p:nvPr/>
        </p:nvSpPr>
        <p:spPr bwMode="auto">
          <a:xfrm>
            <a:off x="5508104" y="1196752"/>
            <a:ext cx="3600450" cy="2032000"/>
          </a:xfrm>
          <a:prstGeom prst="cloudCallout">
            <a:avLst>
              <a:gd name="adj1" fmla="val -39125"/>
              <a:gd name="adj2" fmla="val 73824"/>
            </a:avLst>
          </a:prstGeom>
          <a:noFill/>
          <a:ln w="9525" algn="ctr">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15" name="云形标注 14"/>
          <p:cNvSpPr>
            <a:spLocks noChangeArrowheads="1"/>
          </p:cNvSpPr>
          <p:nvPr/>
        </p:nvSpPr>
        <p:spPr bwMode="auto">
          <a:xfrm>
            <a:off x="5508054" y="1628800"/>
            <a:ext cx="3600450" cy="2032000"/>
          </a:xfrm>
          <a:prstGeom prst="cloudCallout">
            <a:avLst>
              <a:gd name="adj1" fmla="val -39125"/>
              <a:gd name="adj2" fmla="val 73824"/>
            </a:avLst>
          </a:prstGeom>
          <a:noFill/>
          <a:ln w="9525" algn="ctr">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16" name="TextBox 15"/>
          <p:cNvSpPr txBox="1">
            <a:spLocks noChangeArrowheads="1"/>
          </p:cNvSpPr>
          <p:nvPr/>
        </p:nvSpPr>
        <p:spPr bwMode="auto">
          <a:xfrm>
            <a:off x="5987479" y="1909788"/>
            <a:ext cx="27844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zh-CN" sz="1000" dirty="0" smtClean="0"/>
              <a:t>这</a:t>
            </a:r>
            <a:r>
              <a:rPr lang="zh-CN" altLang="zh-CN" sz="1000" dirty="0"/>
              <a:t>两个方法是针对</a:t>
            </a:r>
            <a:r>
              <a:rPr lang="en-US" altLang="zh-CN" sz="1000" dirty="0"/>
              <a:t>Cookie</a:t>
            </a:r>
            <a:r>
              <a:rPr lang="zh-CN" altLang="zh-CN" sz="1000" dirty="0"/>
              <a:t>的</a:t>
            </a:r>
            <a:r>
              <a:rPr lang="en-US" altLang="zh-CN" sz="1000" dirty="0"/>
              <a:t>Domain</a:t>
            </a:r>
            <a:r>
              <a:rPr lang="zh-CN" altLang="zh-CN" sz="1000" dirty="0"/>
              <a:t>属性的。</a:t>
            </a:r>
            <a:r>
              <a:rPr lang="en-US" altLang="zh-CN" sz="1000" dirty="0"/>
              <a:t>Domain</a:t>
            </a:r>
            <a:r>
              <a:rPr lang="zh-CN" altLang="zh-CN" sz="1000" dirty="0"/>
              <a:t>属性是用来指定浏览器访问的域。例如，传智播客的域为“</a:t>
            </a:r>
            <a:r>
              <a:rPr lang="en-US" altLang="zh-CN" sz="1000" dirty="0"/>
              <a:t>itcast.cn</a:t>
            </a:r>
            <a:r>
              <a:rPr lang="zh-CN" altLang="zh-CN" sz="1000" dirty="0"/>
              <a:t>”。那么，当设置</a:t>
            </a:r>
            <a:r>
              <a:rPr lang="en-US" altLang="zh-CN" sz="1000" dirty="0"/>
              <a:t>Domain</a:t>
            </a:r>
            <a:r>
              <a:rPr lang="zh-CN" altLang="zh-CN" sz="1000" dirty="0"/>
              <a:t>属性时，其值必须以“</a:t>
            </a:r>
            <a:r>
              <a:rPr lang="en-US" altLang="zh-CN" sz="1000" dirty="0"/>
              <a:t>.</a:t>
            </a:r>
            <a:r>
              <a:rPr lang="zh-CN" altLang="zh-CN" sz="1000" dirty="0"/>
              <a:t>”开头，如</a:t>
            </a:r>
            <a:r>
              <a:rPr lang="en-US" altLang="zh-CN" sz="1000" dirty="0"/>
              <a:t>Domain=.itcast.cn</a:t>
            </a:r>
            <a:r>
              <a:rPr lang="zh-CN" altLang="zh-CN" sz="1000" dirty="0"/>
              <a:t>。默认情况下，</a:t>
            </a:r>
            <a:r>
              <a:rPr lang="en-US" altLang="zh-CN" sz="1000" dirty="0"/>
              <a:t>Domain</a:t>
            </a:r>
            <a:r>
              <a:rPr lang="zh-CN" altLang="zh-CN" sz="1000" dirty="0"/>
              <a:t>属性的值为当前主机名，浏览器在访问当前主机下的资源时，都会将</a:t>
            </a:r>
            <a:r>
              <a:rPr lang="en-US" altLang="zh-CN" sz="1000" dirty="0"/>
              <a:t>Cookie</a:t>
            </a:r>
            <a:r>
              <a:rPr lang="zh-CN" altLang="zh-CN" sz="1000" dirty="0"/>
              <a:t>信息回送给服务器。需要注意的是，</a:t>
            </a:r>
            <a:r>
              <a:rPr lang="en-US" altLang="zh-CN" sz="1000" dirty="0"/>
              <a:t>Domain</a:t>
            </a:r>
            <a:r>
              <a:rPr lang="zh-CN" altLang="zh-CN" sz="1000" dirty="0"/>
              <a:t>属性的值是不区分大小写的。</a:t>
            </a:r>
          </a:p>
        </p:txBody>
      </p:sp>
      <p:sp>
        <p:nvSpPr>
          <p:cNvPr id="1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5.2.2  Cookie API</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773904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9"/>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10"/>
                                        </p:tgtEl>
                                        <p:attrNameLst>
                                          <p:attrName>style.visibility</p:attrName>
                                        </p:attrNameLst>
                                      </p:cBhvr>
                                      <p:to>
                                        <p:strVal val="hidden"/>
                                      </p:to>
                                    </p:set>
                                  </p:childTnLst>
                                </p:cTn>
                              </p:par>
                              <p:par>
                                <p:cTn id="30" presetID="1" presetClass="exit" presetSubtype="0" fill="hold" grpId="1" nodeType="with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par>
                          <p:cTn id="32" fill="hold">
                            <p:stCondLst>
                              <p:cond delay="0"/>
                            </p:stCondLst>
                            <p:childTnLst>
                              <p:par>
                                <p:cTn id="33" presetID="22" presetClass="entr" presetSubtype="8"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00"/>
                                        <p:tgtEl>
                                          <p:spTgt spid="13"/>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4"/>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childTnLst>
                          </p:cTn>
                        </p:par>
                        <p:par>
                          <p:cTn id="51" fill="hold">
                            <p:stCondLst>
                              <p:cond delay="0"/>
                            </p:stCondLst>
                            <p:childTnLst>
                              <p:par>
                                <p:cTn id="52" presetID="22" presetClass="entr" presetSubtype="8" fill="hold" grpId="0" nodeType="after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par>
                          <p:cTn id="55" fill="hold">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down)">
                                      <p:cBhvr>
                                        <p:cTn id="58" dur="500"/>
                                        <p:tgtEl>
                                          <p:spTgt spid="15"/>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down)">
                                      <p:cBhvr>
                                        <p:cTn id="6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9" grpId="0" animBg="1"/>
      <p:bldP spid="9" grpId="1" animBg="1"/>
      <p:bldP spid="10" grpId="0"/>
      <p:bldP spid="10" grpId="1"/>
      <p:bldP spid="11" grpId="0"/>
      <p:bldP spid="13" grpId="0"/>
      <p:bldP spid="13" grpId="1"/>
      <p:bldP spid="14" grpId="0" animBg="1"/>
      <p:bldP spid="14" grpId="1" animBg="1"/>
      <p:bldP spid="15" grpId="0" animBg="1"/>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smtClean="0">
                <a:solidFill>
                  <a:sysClr val="window" lastClr="FFFFFF"/>
                </a:solidFill>
                <a:latin typeface="Arial"/>
              </a:rPr>
              <a:t>具体实现步骤（</a:t>
            </a:r>
            <a:r>
              <a:rPr lang="zh-CN" altLang="en-US" b="1" kern="0" dirty="0">
                <a:solidFill>
                  <a:sysClr val="window" lastClr="FFFFFF"/>
                </a:solidFill>
                <a:latin typeface="Arial"/>
              </a:rPr>
              <a:t>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a:solidFill>
                  <a:sysClr val="window" lastClr="FFFFFF"/>
                </a:solidFill>
                <a:latin typeface="Arial"/>
              </a:rPr>
              <a:t>5</a:t>
            </a:r>
            <a:r>
              <a:rPr lang="en-US" altLang="zh-CN" b="1" kern="0" smtClean="0">
                <a:solidFill>
                  <a:sysClr val="window" lastClr="FFFFFF"/>
                </a:solidFill>
                <a:latin typeface="Arial"/>
              </a:rPr>
              <a:t>-1】</a:t>
            </a:r>
            <a:r>
              <a:rPr lang="zh-CN" altLang="en-US" b="1" kern="0" smtClean="0">
                <a:solidFill>
                  <a:sysClr val="window" lastClr="FFFFFF"/>
                </a:solidFill>
                <a:latin typeface="Arial"/>
              </a:rPr>
              <a:t>）</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705563"/>
            <a:ext cx="3671887" cy="587533"/>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配置映射信息，查看运行效果</a:t>
            </a:r>
            <a:endParaRPr lang="en-US" altLang="zh-CN" sz="1200" dirty="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627784" y="2470759"/>
            <a:ext cx="4387740" cy="308995"/>
          </a:xfrm>
          <a:prstGeom prst="rect">
            <a:avLst/>
          </a:prstGeom>
        </p:spPr>
        <p:txBody>
          <a:bodyPr wrap="none">
            <a:spAutoFit/>
          </a:bodyPr>
          <a:lstStyle/>
          <a:p>
            <a:pPr>
              <a:lnSpc>
                <a:spcPct val="130000"/>
              </a:lnSpc>
              <a:spcAft>
                <a:spcPts val="300"/>
              </a:spcAft>
              <a:defRPr/>
            </a:pPr>
            <a:r>
              <a:rPr lang="zh-CN" altLang="en-US" sz="1200" dirty="0">
                <a:solidFill>
                  <a:prstClr val="black">
                    <a:lumMod val="65000"/>
                    <a:lumOff val="35000"/>
                  </a:prstClr>
                </a:solidFill>
                <a:latin typeface="微软雅黑" pitchFamily="34" charset="-122"/>
                <a:ea typeface="微软雅黑" pitchFamily="34" charset="-122"/>
              </a:rPr>
              <a:t>学会如何使用</a:t>
            </a:r>
            <a:r>
              <a:rPr lang="en-US" altLang="zh-CN" sz="1200" dirty="0">
                <a:solidFill>
                  <a:prstClr val="black">
                    <a:lumMod val="65000"/>
                    <a:lumOff val="35000"/>
                  </a:prstClr>
                </a:solidFill>
                <a:latin typeface="微软雅黑" pitchFamily="34" charset="-122"/>
                <a:ea typeface="微软雅黑" pitchFamily="34" charset="-122"/>
              </a:rPr>
              <a:t>Cookie</a:t>
            </a:r>
            <a:r>
              <a:rPr lang="zh-CN" altLang="en-US" sz="1200" dirty="0">
                <a:solidFill>
                  <a:prstClr val="black">
                    <a:lumMod val="65000"/>
                    <a:lumOff val="35000"/>
                  </a:prstClr>
                </a:solidFill>
                <a:latin typeface="微软雅黑" pitchFamily="34" charset="-122"/>
                <a:ea typeface="微软雅黑" pitchFamily="34" charset="-122"/>
              </a:rPr>
              <a:t>技术实现显示用户上次的访问时间的功能</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5-1】  </a:t>
            </a:r>
            <a:r>
              <a:rPr lang="zh-CN" altLang="en-US" sz="3200" b="1" dirty="0">
                <a:solidFill>
                  <a:srgbClr val="006BA9"/>
                </a:solidFill>
                <a:latin typeface="微软雅黑" pitchFamily="34" charset="-122"/>
                <a:ea typeface="微软雅黑" pitchFamily="34" charset="-122"/>
                <a:sym typeface="宋体" charset="-122"/>
              </a:rPr>
              <a:t>显示用户上次访问时间</a:t>
            </a:r>
          </a:p>
        </p:txBody>
      </p:sp>
    </p:spTree>
    <p:custDataLst>
      <p:tags r:id="rId1"/>
    </p:custDataLst>
    <p:extLst>
      <p:ext uri="{BB962C8B-B14F-4D97-AF65-F5344CB8AC3E}">
        <p14:creationId xmlns:p14="http://schemas.microsoft.com/office/powerpoint/2010/main" val="1004750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827584" y="2132856"/>
            <a:ext cx="864096" cy="25202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浏览器</a:t>
            </a:r>
            <a:endParaRPr lang="zh-CN" altLang="en-US" dirty="0">
              <a:solidFill>
                <a:schemeClr val="tx1"/>
              </a:solidFill>
            </a:endParaRPr>
          </a:p>
        </p:txBody>
      </p:sp>
      <p:sp>
        <p:nvSpPr>
          <p:cNvPr id="3" name="矩形 2"/>
          <p:cNvSpPr/>
          <p:nvPr/>
        </p:nvSpPr>
        <p:spPr>
          <a:xfrm>
            <a:off x="4427984" y="1700808"/>
            <a:ext cx="4248472" cy="43924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flipV="1">
            <a:off x="1547664" y="1988840"/>
            <a:ext cx="2808312"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835696" y="1988840"/>
            <a:ext cx="1338828" cy="369332"/>
          </a:xfrm>
          <a:prstGeom prst="rect">
            <a:avLst/>
          </a:prstGeom>
          <a:noFill/>
        </p:spPr>
        <p:txBody>
          <a:bodyPr wrap="none" rtlCol="0">
            <a:spAutoFit/>
          </a:bodyPr>
          <a:lstStyle/>
          <a:p>
            <a:r>
              <a:rPr lang="zh-CN" altLang="en-US" dirty="0" smtClean="0"/>
              <a:t>第一次访问</a:t>
            </a:r>
            <a:endParaRPr lang="zh-CN" altLang="en-US" dirty="0"/>
          </a:p>
        </p:txBody>
      </p:sp>
      <p:sp>
        <p:nvSpPr>
          <p:cNvPr id="7" name="矩形 6"/>
          <p:cNvSpPr/>
          <p:nvPr/>
        </p:nvSpPr>
        <p:spPr>
          <a:xfrm>
            <a:off x="4572000" y="1916832"/>
            <a:ext cx="4248472" cy="1368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1</a:t>
            </a:r>
            <a:r>
              <a:rPr lang="zh-CN" altLang="en-US" dirty="0" smtClean="0"/>
              <a:t>、创建一个</a:t>
            </a:r>
            <a:r>
              <a:rPr lang="en-US" altLang="zh-CN" dirty="0" smtClean="0"/>
              <a:t>cookie </a:t>
            </a:r>
            <a:r>
              <a:rPr lang="zh-CN" altLang="en-US" dirty="0" smtClean="0"/>
              <a:t>保存当前访问的时间</a:t>
            </a:r>
            <a:endParaRPr lang="en-US" altLang="zh-CN" dirty="0" smtClean="0"/>
          </a:p>
          <a:p>
            <a:r>
              <a:rPr lang="en-US" altLang="zh-CN" dirty="0" smtClean="0"/>
              <a:t>Cookie </a:t>
            </a:r>
            <a:r>
              <a:rPr lang="en-US" altLang="zh-CN" dirty="0" err="1" smtClean="0"/>
              <a:t>cookie</a:t>
            </a:r>
            <a:r>
              <a:rPr lang="en-US" altLang="zh-CN" dirty="0" smtClean="0"/>
              <a:t> =New cookie</a:t>
            </a:r>
            <a:r>
              <a:rPr lang="zh-CN" altLang="en-US" dirty="0" smtClean="0"/>
              <a:t>（“</a:t>
            </a:r>
            <a:r>
              <a:rPr lang="en-US" altLang="zh-CN" dirty="0" err="1" smtClean="0"/>
              <a:t>lastAccess</a:t>
            </a:r>
            <a:r>
              <a:rPr lang="zh-CN" altLang="en-US" dirty="0" smtClean="0"/>
              <a:t>”，</a:t>
            </a:r>
            <a:r>
              <a:rPr lang="en-US" altLang="zh-CN" dirty="0" smtClean="0"/>
              <a:t>time</a:t>
            </a:r>
            <a:r>
              <a:rPr lang="zh-CN" altLang="en-US" dirty="0" smtClean="0"/>
              <a:t>）</a:t>
            </a:r>
            <a:endParaRPr lang="en-US" altLang="zh-CN" dirty="0" smtClean="0"/>
          </a:p>
          <a:p>
            <a:r>
              <a:rPr lang="en-US" altLang="zh-CN" dirty="0" smtClean="0"/>
              <a:t>2</a:t>
            </a:r>
            <a:r>
              <a:rPr lang="zh-CN" altLang="en-US" dirty="0" smtClean="0"/>
              <a:t>、把</a:t>
            </a:r>
            <a:r>
              <a:rPr lang="en-US" altLang="zh-CN" dirty="0" smtClean="0"/>
              <a:t>cookie</a:t>
            </a:r>
            <a:r>
              <a:rPr lang="zh-CN" altLang="en-US" dirty="0" smtClean="0"/>
              <a:t>写回浏览器</a:t>
            </a:r>
            <a:r>
              <a:rPr lang="en-US" altLang="zh-CN" dirty="0" err="1" smtClean="0"/>
              <a:t>response.addcookie</a:t>
            </a:r>
            <a:r>
              <a:rPr lang="en-US" altLang="zh-CN" dirty="0" smtClean="0"/>
              <a:t>(</a:t>
            </a:r>
            <a:r>
              <a:rPr lang="en-US" altLang="zh-CN" dirty="0"/>
              <a:t>cookie </a:t>
            </a:r>
            <a:r>
              <a:rPr lang="en-US" altLang="zh-CN" dirty="0" smtClean="0"/>
              <a:t>)</a:t>
            </a:r>
            <a:endParaRPr lang="zh-CN" altLang="en-US" dirty="0"/>
          </a:p>
        </p:txBody>
      </p:sp>
      <p:cxnSp>
        <p:nvCxnSpPr>
          <p:cNvPr id="9" name="直接箭头连接符 8"/>
          <p:cNvCxnSpPr/>
          <p:nvPr/>
        </p:nvCxnSpPr>
        <p:spPr>
          <a:xfrm flipH="1">
            <a:off x="1691680" y="2996952"/>
            <a:ext cx="26642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endCxn id="3" idx="1"/>
          </p:cNvCxnSpPr>
          <p:nvPr/>
        </p:nvCxnSpPr>
        <p:spPr>
          <a:xfrm>
            <a:off x="1691680" y="3645024"/>
            <a:ext cx="2736304"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572000" y="3573016"/>
            <a:ext cx="4032448" cy="2376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r>
              <a:rPr lang="zh-CN" altLang="en-US" dirty="0" smtClean="0"/>
              <a:t>、获取</a:t>
            </a:r>
            <a:r>
              <a:rPr lang="en-US" altLang="zh-CN" dirty="0" smtClean="0"/>
              <a:t>cookie</a:t>
            </a:r>
          </a:p>
          <a:p>
            <a:pPr algn="ctr"/>
            <a:r>
              <a:rPr lang="en-US" altLang="zh-CN" dirty="0" smtClean="0"/>
              <a:t>Cookie[] cookies = </a:t>
            </a:r>
            <a:r>
              <a:rPr lang="en-US" altLang="zh-CN" dirty="0" err="1" smtClean="0"/>
              <a:t>Request.getcookie</a:t>
            </a:r>
            <a:r>
              <a:rPr lang="en-US" altLang="zh-CN" dirty="0" smtClean="0"/>
              <a:t>()</a:t>
            </a:r>
          </a:p>
          <a:p>
            <a:pPr algn="ctr"/>
            <a:r>
              <a:rPr lang="en-US" altLang="zh-CN" dirty="0" smtClean="0"/>
              <a:t>2</a:t>
            </a:r>
            <a:r>
              <a:rPr lang="zh-CN" altLang="en-US" dirty="0" smtClean="0"/>
              <a:t>、获取名为</a:t>
            </a:r>
            <a:r>
              <a:rPr lang="en-US" altLang="zh-CN" dirty="0" err="1" smtClean="0"/>
              <a:t>lastAccess</a:t>
            </a:r>
            <a:r>
              <a:rPr lang="zh-CN" altLang="en-US" dirty="0" smtClean="0"/>
              <a:t>的</a:t>
            </a:r>
            <a:r>
              <a:rPr lang="en-US" altLang="zh-CN" dirty="0" smtClean="0"/>
              <a:t>cookie</a:t>
            </a:r>
          </a:p>
          <a:p>
            <a:pPr algn="ctr"/>
            <a:r>
              <a:rPr lang="en-US" altLang="zh-CN" dirty="0" smtClean="0"/>
              <a:t>3</a:t>
            </a:r>
            <a:r>
              <a:rPr lang="zh-CN" altLang="en-US" dirty="0" smtClean="0"/>
              <a:t>、使用这个</a:t>
            </a:r>
            <a:r>
              <a:rPr lang="en-US" altLang="zh-CN" dirty="0" smtClean="0"/>
              <a:t>cookie</a:t>
            </a:r>
            <a:r>
              <a:rPr lang="zh-CN" altLang="en-US" dirty="0" smtClean="0"/>
              <a:t>，得到时间</a:t>
            </a:r>
            <a:endParaRPr lang="en-US" altLang="zh-CN" dirty="0" smtClean="0"/>
          </a:p>
          <a:p>
            <a:pPr algn="ctr"/>
            <a:r>
              <a:rPr lang="en-US" altLang="zh-CN" dirty="0" smtClean="0"/>
              <a:t>4</a:t>
            </a:r>
            <a:r>
              <a:rPr lang="zh-CN" altLang="en-US" dirty="0" smtClean="0"/>
              <a:t>、把这个时间写回到浏览器</a:t>
            </a:r>
            <a:endParaRPr lang="zh-CN" altLang="en-US" dirty="0"/>
          </a:p>
        </p:txBody>
      </p:sp>
      <p:sp>
        <p:nvSpPr>
          <p:cNvPr id="13" name="TextBox 12"/>
          <p:cNvSpPr txBox="1"/>
          <p:nvPr/>
        </p:nvSpPr>
        <p:spPr>
          <a:xfrm>
            <a:off x="2123728" y="3573016"/>
            <a:ext cx="1338828" cy="369332"/>
          </a:xfrm>
          <a:prstGeom prst="rect">
            <a:avLst/>
          </a:prstGeom>
          <a:noFill/>
        </p:spPr>
        <p:txBody>
          <a:bodyPr wrap="none" rtlCol="0">
            <a:spAutoFit/>
          </a:bodyPr>
          <a:lstStyle/>
          <a:p>
            <a:r>
              <a:rPr lang="zh-CN" altLang="en-US" dirty="0" smtClean="0"/>
              <a:t>第二次访问</a:t>
            </a:r>
            <a:endParaRPr lang="zh-CN" altLang="en-US" dirty="0"/>
          </a:p>
        </p:txBody>
      </p:sp>
      <p:sp>
        <p:nvSpPr>
          <p:cNvPr id="14" name="矩形 13"/>
          <p:cNvSpPr/>
          <p:nvPr/>
        </p:nvSpPr>
        <p:spPr>
          <a:xfrm>
            <a:off x="539552" y="4761148"/>
            <a:ext cx="3240360" cy="1548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问题：怎么样知道是非首次访问？</a:t>
            </a:r>
            <a:endParaRPr lang="en-US" altLang="zh-CN" dirty="0" smtClean="0"/>
          </a:p>
          <a:p>
            <a:pPr algn="ctr"/>
            <a:r>
              <a:rPr lang="en-US" altLang="zh-CN" dirty="0" smtClean="0"/>
              <a:t>1</a:t>
            </a:r>
            <a:r>
              <a:rPr lang="zh-CN" altLang="en-US" dirty="0" smtClean="0"/>
              <a:t>、看一次</a:t>
            </a:r>
            <a:r>
              <a:rPr lang="en-US" altLang="zh-CN" dirty="0" smtClean="0"/>
              <a:t>cookie</a:t>
            </a:r>
            <a:r>
              <a:rPr lang="zh-CN" altLang="en-US" dirty="0" smtClean="0"/>
              <a:t>中有没有时间</a:t>
            </a:r>
            <a:endParaRPr lang="en-US" altLang="zh-CN" dirty="0" smtClean="0"/>
          </a:p>
          <a:p>
            <a:pPr algn="ctr"/>
            <a:r>
              <a:rPr lang="en-US" altLang="zh-CN" dirty="0" smtClean="0"/>
              <a:t>2</a:t>
            </a:r>
            <a:r>
              <a:rPr lang="zh-CN" altLang="en-US" dirty="0" smtClean="0"/>
              <a:t>、判断下</a:t>
            </a:r>
            <a:r>
              <a:rPr lang="en-US" altLang="zh-CN" dirty="0" smtClean="0"/>
              <a:t>cookie</a:t>
            </a:r>
            <a:r>
              <a:rPr lang="zh-CN" altLang="en-US" dirty="0" smtClean="0"/>
              <a:t>数组中有没有一个名为</a:t>
            </a:r>
            <a:r>
              <a:rPr lang="en-US" altLang="zh-CN" dirty="0" err="1" smtClean="0"/>
              <a:t>lastaccess</a:t>
            </a:r>
            <a:r>
              <a:rPr lang="zh-CN" altLang="en-US" dirty="0" smtClean="0"/>
              <a:t>的</a:t>
            </a:r>
            <a:r>
              <a:rPr lang="en-US" altLang="zh-CN" dirty="0" smtClean="0"/>
              <a:t>cookie</a:t>
            </a:r>
            <a:endParaRPr lang="zh-CN" altLang="en-US" dirty="0"/>
          </a:p>
        </p:txBody>
      </p:sp>
    </p:spTree>
    <p:extLst>
      <p:ext uri="{BB962C8B-B14F-4D97-AF65-F5344CB8AC3E}">
        <p14:creationId xmlns:p14="http://schemas.microsoft.com/office/powerpoint/2010/main" val="39261742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3284984"/>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1979548"/>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5.1    </a:t>
            </a:r>
            <a:r>
              <a:rPr lang="zh-CN" altLang="en-US" sz="2400">
                <a:solidFill>
                  <a:srgbClr val="7F7F7F"/>
                </a:solidFill>
                <a:latin typeface="Impact" pitchFamily="34" charset="0"/>
                <a:ea typeface="微软雅黑" pitchFamily="34" charset="-122"/>
              </a:rPr>
              <a:t>会话概述 </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097740" y="2723631"/>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.2</a:t>
            </a:r>
            <a:r>
              <a:rPr lang="en-US" altLang="zh-CN" sz="2400" smtClean="0">
                <a:solidFill>
                  <a:srgbClr val="CD1F06"/>
                </a:solidFill>
                <a:latin typeface="Impact" pitchFamily="34" charset="0"/>
                <a:ea typeface="微软雅黑" pitchFamily="34" charset="-122"/>
              </a:rPr>
              <a:t>    </a:t>
            </a:r>
            <a:r>
              <a:rPr lang="en-US" altLang="zh-CN" sz="2400">
                <a:solidFill>
                  <a:srgbClr val="7F7F7F"/>
                </a:solidFill>
                <a:latin typeface="Impact" pitchFamily="34" charset="0"/>
                <a:ea typeface="微软雅黑" pitchFamily="34" charset="-122"/>
              </a:rPr>
              <a:t>Cookie</a:t>
            </a:r>
            <a:r>
              <a:rPr lang="zh-CN" altLang="en-US" sz="2400">
                <a:solidFill>
                  <a:srgbClr val="7F7F7F"/>
                </a:solidFill>
                <a:latin typeface="Impact" pitchFamily="34" charset="0"/>
                <a:ea typeface="微软雅黑" pitchFamily="34" charset="-122"/>
              </a:rPr>
              <a:t>对象</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097740" y="3467714"/>
            <a:ext cx="3834300" cy="369332"/>
          </a:xfrm>
          <a:prstGeom prst="rect">
            <a:avLst/>
          </a:prstGeom>
          <a:noFill/>
        </p:spPr>
        <p:txBody>
          <a:bodyPr vert="horz" wrap="square" lIns="0" tIns="0" rIns="0" bIns="0" rtlCol="0" anchor="ctr">
            <a:spAutoFit/>
          </a:bodyPr>
          <a:lstStyle/>
          <a:p>
            <a:r>
              <a:rPr lang="en-US" altLang="zh-CN" sz="2400">
                <a:solidFill>
                  <a:schemeClr val="bg1"/>
                </a:solidFill>
                <a:latin typeface="Impact" pitchFamily="34" charset="0"/>
                <a:ea typeface="微软雅黑" pitchFamily="34" charset="-122"/>
              </a:rPr>
              <a:t>5</a:t>
            </a:r>
            <a:r>
              <a:rPr lang="en-US" altLang="zh-CN" sz="2400" smtClean="0">
                <a:solidFill>
                  <a:schemeClr val="bg1"/>
                </a:solidFill>
                <a:latin typeface="Impact" pitchFamily="34" charset="0"/>
                <a:ea typeface="微软雅黑" pitchFamily="34" charset="-122"/>
              </a:rPr>
              <a:t>.3    Session</a:t>
            </a:r>
            <a:r>
              <a:rPr lang="zh-CN" altLang="en-US" sz="2400" smtClean="0">
                <a:solidFill>
                  <a:schemeClr val="bg1"/>
                </a:solidFill>
                <a:latin typeface="Impact" pitchFamily="34" charset="0"/>
                <a:ea typeface="微软雅黑" pitchFamily="34" charset="-122"/>
              </a:rPr>
              <a:t>对象</a:t>
            </a:r>
            <a:endParaRPr lang="zh-CN" altLang="en-US" sz="2400" dirty="0">
              <a:solidFill>
                <a:schemeClr val="bg1"/>
              </a:solidFill>
              <a:latin typeface="Impact" pitchFamily="34" charset="0"/>
              <a:ea typeface="微软雅黑" pitchFamily="34" charset="-122"/>
            </a:endParaRPr>
          </a:p>
        </p:txBody>
      </p:sp>
      <p:sp>
        <p:nvSpPr>
          <p:cNvPr id="9" name="椭圆 8"/>
          <p:cNvSpPr/>
          <p:nvPr/>
        </p:nvSpPr>
        <p:spPr>
          <a:xfrm>
            <a:off x="5220072" y="1484784"/>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5182106" y="2264870"/>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8" name="TextBox 11"/>
          <p:cNvSpPr txBox="1"/>
          <p:nvPr/>
        </p:nvSpPr>
        <p:spPr>
          <a:xfrm>
            <a:off x="1097740" y="4139788"/>
            <a:ext cx="5346468"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.4    </a:t>
            </a:r>
            <a:r>
              <a:rPr lang="zh-CN" altLang="en-US" sz="2400" smtClean="0">
                <a:solidFill>
                  <a:srgbClr val="7F7F7F"/>
                </a:solidFill>
                <a:latin typeface="Impact" pitchFamily="34" charset="0"/>
                <a:ea typeface="微软雅黑" pitchFamily="34" charset="-122"/>
              </a:rPr>
              <a:t>阶段案例</a:t>
            </a:r>
            <a:endParaRPr lang="zh-CN" altLang="en-US" sz="2400" dirty="0">
              <a:solidFill>
                <a:srgbClr val="7F7F7F"/>
              </a:solidFill>
              <a:latin typeface="Impact" pitchFamily="34" charset="0"/>
              <a:ea typeface="微软雅黑"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853588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629201" y="692696"/>
            <a:ext cx="5794895" cy="3744416"/>
            <a:chOff x="2312388" y="534744"/>
            <a:chExt cx="7170737" cy="4635500"/>
          </a:xfrm>
        </p:grpSpPr>
        <p:pic>
          <p:nvPicPr>
            <p:cNvPr id="3" name="Picture 6" descr="云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2388" y="534744"/>
              <a:ext cx="7170737"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7"/>
            <p:cNvSpPr txBox="1">
              <a:spLocks noChangeArrowheads="1"/>
            </p:cNvSpPr>
            <p:nvPr/>
          </p:nvSpPr>
          <p:spPr bwMode="auto">
            <a:xfrm>
              <a:off x="4341813" y="2081897"/>
              <a:ext cx="4043362" cy="49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buFont typeface="Arial" pitchFamily="34" charset="0"/>
                <a:buNone/>
              </a:pPr>
              <a:r>
                <a:rPr lang="zh-CN" altLang="en-US" sz="2000" b="1">
                  <a:solidFill>
                    <a:schemeClr val="bg1"/>
                  </a:solidFill>
                  <a:ea typeface="黑体" pitchFamily="49" charset="-122"/>
                </a:rPr>
                <a:t>什么是</a:t>
              </a:r>
              <a:r>
                <a:rPr lang="en-US" altLang="zh-CN" sz="2000" b="1">
                  <a:solidFill>
                    <a:schemeClr val="bg1"/>
                  </a:solidFill>
                  <a:ea typeface="黑体" pitchFamily="49" charset="-122"/>
                </a:rPr>
                <a:t>Session</a:t>
              </a:r>
              <a:r>
                <a:rPr lang="zh-CN" altLang="en-US" sz="2000" b="1">
                  <a:solidFill>
                    <a:schemeClr val="bg1"/>
                  </a:solidFill>
                  <a:ea typeface="黑体" pitchFamily="49" charset="-122"/>
                </a:rPr>
                <a:t>？</a:t>
              </a:r>
            </a:p>
          </p:txBody>
        </p:sp>
      </p:grpSp>
      <p:pic>
        <p:nvPicPr>
          <p:cNvPr id="5" name="Picture 8" descr="问小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003" y="2492896"/>
            <a:ext cx="2165305" cy="223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pic>
        <p:nvPicPr>
          <p:cNvPr id="7" name="Picture 8" descr="http://i3.hexunimg.cn/2013-03-28/152570860.jpg"/>
          <p:cNvPicPr>
            <a:picLocks noChangeAspect="1" noChangeArrowheads="1"/>
          </p:cNvPicPr>
          <p:nvPr/>
        </p:nvPicPr>
        <p:blipFill rotWithShape="1">
          <a:blip r:embed="rId6">
            <a:extLst>
              <a:ext uri="{28A0092B-C50C-407E-A947-70E740481C1C}">
                <a14:useLocalDpi xmlns:a14="http://schemas.microsoft.com/office/drawing/2010/main" val="0"/>
              </a:ext>
            </a:extLst>
          </a:blip>
          <a:srcRect l="5847" t="11356" r="5280" b="9577"/>
          <a:stretch/>
        </p:blipFill>
        <p:spPr bwMode="auto">
          <a:xfrm>
            <a:off x="3800474" y="3228975"/>
            <a:ext cx="2476501"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标注 7"/>
          <p:cNvSpPr>
            <a:spLocks noChangeArrowheads="1"/>
          </p:cNvSpPr>
          <p:nvPr/>
        </p:nvSpPr>
        <p:spPr bwMode="auto">
          <a:xfrm>
            <a:off x="1475656" y="5085184"/>
            <a:ext cx="2571750" cy="1196975"/>
          </a:xfrm>
          <a:prstGeom prst="wedgeRectCallout">
            <a:avLst>
              <a:gd name="adj1" fmla="val 47227"/>
              <a:gd name="adj2" fmla="val -83875"/>
            </a:avLst>
          </a:prstGeom>
          <a:noFill/>
          <a:ln w="9525" algn="ctr">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9" name="TextBox 8"/>
          <p:cNvSpPr txBox="1">
            <a:spLocks noChangeArrowheads="1"/>
          </p:cNvSpPr>
          <p:nvPr/>
        </p:nvSpPr>
        <p:spPr bwMode="auto">
          <a:xfrm>
            <a:off x="1475656" y="5085184"/>
            <a:ext cx="25717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t>病人去医院看病，只需要出示就医卡，医生根据卡号可以查到病人的就诊信息</a:t>
            </a:r>
          </a:p>
          <a:p>
            <a:endParaRPr lang="zh-CN" altLang="en-US"/>
          </a:p>
        </p:txBody>
      </p:sp>
      <p:sp>
        <p:nvSpPr>
          <p:cNvPr id="10" name="矩形标注 9"/>
          <p:cNvSpPr>
            <a:spLocks noChangeArrowheads="1"/>
          </p:cNvSpPr>
          <p:nvPr/>
        </p:nvSpPr>
        <p:spPr bwMode="auto">
          <a:xfrm>
            <a:off x="6372200" y="2060848"/>
            <a:ext cx="2649537" cy="1438275"/>
          </a:xfrm>
          <a:prstGeom prst="wedgeRectCallout">
            <a:avLst>
              <a:gd name="adj1" fmla="val -65375"/>
              <a:gd name="adj2" fmla="val 31245"/>
            </a:avLst>
          </a:prstGeom>
          <a:noFill/>
          <a:ln w="9525" algn="ctr">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sp>
        <p:nvSpPr>
          <p:cNvPr id="11" name="TextBox 10"/>
          <p:cNvSpPr txBox="1">
            <a:spLocks noChangeArrowheads="1"/>
          </p:cNvSpPr>
          <p:nvPr/>
        </p:nvSpPr>
        <p:spPr bwMode="auto">
          <a:xfrm>
            <a:off x="6496025" y="2179911"/>
            <a:ext cx="25257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a:solidFill>
                  <a:srgbClr val="FF0000"/>
                </a:solidFill>
              </a:rPr>
              <a:t>Session</a:t>
            </a:r>
            <a:r>
              <a:rPr lang="zh-CN" altLang="zh-CN">
                <a:solidFill>
                  <a:srgbClr val="FF0000"/>
                </a:solidFill>
              </a:rPr>
              <a:t>技术</a:t>
            </a:r>
            <a:r>
              <a:rPr lang="zh-CN" altLang="zh-CN"/>
              <a:t>就好比医院发放给病人的就医卡和医院为每个病人保留病例档案的过程</a:t>
            </a:r>
            <a:endParaRPr lang="zh-CN" altLang="en-US"/>
          </a:p>
        </p:txBody>
      </p:sp>
      <p:sp>
        <p:nvSpPr>
          <p:cNvPr id="12"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5.3.1  </a:t>
            </a:r>
            <a:r>
              <a:rPr lang="zh-CN" altLang="en-US" sz="3200" b="1" dirty="0">
                <a:solidFill>
                  <a:srgbClr val="006BA9"/>
                </a:solidFill>
                <a:latin typeface="微软雅黑" pitchFamily="34" charset="-122"/>
                <a:ea typeface="微软雅黑" pitchFamily="34" charset="-122"/>
                <a:sym typeface="宋体" charset="-122"/>
              </a:rPr>
              <a:t>什么是</a:t>
            </a:r>
            <a:r>
              <a:rPr lang="en-US" altLang="zh-CN" sz="3200" b="1" dirty="0">
                <a:solidFill>
                  <a:srgbClr val="006BA9"/>
                </a:solidFill>
                <a:latin typeface="微软雅黑" pitchFamily="34" charset="-122"/>
                <a:ea typeface="微软雅黑" pitchFamily="34" charset="-122"/>
                <a:sym typeface="宋体" charset="-122"/>
              </a:rPr>
              <a:t>Session</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063570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32" presetClass="emph" presetSubtype="0" fill="hold" nodeType="afterEffect">
                                  <p:stCondLst>
                                    <p:cond delay="0"/>
                                  </p:stCondLst>
                                  <p:childTnLst>
                                    <p:animRot by="120000">
                                      <p:cBhvr>
                                        <p:cTn id="14" dur="50" fill="hold">
                                          <p:stCondLst>
                                            <p:cond delay="0"/>
                                          </p:stCondLst>
                                        </p:cTn>
                                        <p:tgtEl>
                                          <p:spTgt spid="2"/>
                                        </p:tgtEl>
                                        <p:attrNameLst>
                                          <p:attrName>r</p:attrName>
                                        </p:attrNameLst>
                                      </p:cBhvr>
                                    </p:animRot>
                                    <p:animRot by="-240000">
                                      <p:cBhvr>
                                        <p:cTn id="15" dur="100" fill="hold">
                                          <p:stCondLst>
                                            <p:cond delay="100"/>
                                          </p:stCondLst>
                                        </p:cTn>
                                        <p:tgtEl>
                                          <p:spTgt spid="2"/>
                                        </p:tgtEl>
                                        <p:attrNameLst>
                                          <p:attrName>r</p:attrName>
                                        </p:attrNameLst>
                                      </p:cBhvr>
                                    </p:animRot>
                                    <p:animRot by="240000">
                                      <p:cBhvr>
                                        <p:cTn id="16" dur="100" fill="hold">
                                          <p:stCondLst>
                                            <p:cond delay="200"/>
                                          </p:stCondLst>
                                        </p:cTn>
                                        <p:tgtEl>
                                          <p:spTgt spid="2"/>
                                        </p:tgtEl>
                                        <p:attrNameLst>
                                          <p:attrName>r</p:attrName>
                                        </p:attrNameLst>
                                      </p:cBhvr>
                                    </p:animRot>
                                    <p:animRot by="-240000">
                                      <p:cBhvr>
                                        <p:cTn id="17" dur="100" fill="hold">
                                          <p:stCondLst>
                                            <p:cond delay="300"/>
                                          </p:stCondLst>
                                        </p:cTn>
                                        <p:tgtEl>
                                          <p:spTgt spid="2"/>
                                        </p:tgtEl>
                                        <p:attrNameLst>
                                          <p:attrName>r</p:attrName>
                                        </p:attrNameLst>
                                      </p:cBhvr>
                                    </p:animRot>
                                    <p:animRot by="120000">
                                      <p:cBhvr>
                                        <p:cTn id="18" dur="100" fill="hold">
                                          <p:stCondLst>
                                            <p:cond delay="400"/>
                                          </p:stCondLst>
                                        </p:cTn>
                                        <p:tgtEl>
                                          <p:spTgt spid="2"/>
                                        </p:tgtEl>
                                        <p:attrNameLst>
                                          <p:attrName>r</p:attrName>
                                        </p:attrNameLst>
                                      </p:cBhvr>
                                    </p:animRo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25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3000"/>
                            </p:stCondLst>
                            <p:childTnLst>
                              <p:par>
                                <p:cTn id="31" presetID="22" presetClass="entr" presetSubtype="1"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343646"/>
            <a:ext cx="2123728" cy="2842212"/>
          </a:xfrm>
          <a:prstGeom prst="ellipse">
            <a:avLst/>
          </a:prstGeom>
          <a:ln>
            <a:noFill/>
          </a:ln>
          <a:effectLst>
            <a:softEdge rad="112500"/>
          </a:effectLst>
        </p:spPr>
      </p:pic>
      <p:sp>
        <p:nvSpPr>
          <p:cNvPr id="3" name="内容占位符 2"/>
          <p:cNvSpPr txBox="1">
            <a:spLocks/>
          </p:cNvSpPr>
          <p:nvPr/>
        </p:nvSpPr>
        <p:spPr bwMode="auto">
          <a:xfrm>
            <a:off x="2036763" y="2114575"/>
            <a:ext cx="6769100" cy="36186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buFont typeface="Arial" panose="020B0604020202020204" pitchFamily="34" charset="0"/>
              <a:buChar char="•"/>
            </a:pPr>
            <a:r>
              <a:rPr lang="zh-CN" altLang="zh-CN" sz="2000" dirty="0" smtClean="0"/>
              <a:t>当浏览器访问</a:t>
            </a:r>
            <a:r>
              <a:rPr lang="en-US" altLang="zh-CN" sz="2000" dirty="0" smtClean="0"/>
              <a:t>Web</a:t>
            </a:r>
            <a:r>
              <a:rPr lang="zh-CN" altLang="zh-CN" sz="2000" dirty="0" smtClean="0"/>
              <a:t>服务器时，</a:t>
            </a:r>
            <a:r>
              <a:rPr lang="en-US" altLang="zh-CN" sz="2000" dirty="0" smtClean="0"/>
              <a:t>Servlet</a:t>
            </a:r>
            <a:r>
              <a:rPr lang="zh-CN" altLang="zh-CN" sz="2000" dirty="0" smtClean="0"/>
              <a:t>容器就会创建一个</a:t>
            </a:r>
            <a:r>
              <a:rPr lang="en-US" altLang="zh-CN" sz="2000" dirty="0" smtClean="0"/>
              <a:t>Session</a:t>
            </a:r>
            <a:r>
              <a:rPr lang="zh-CN" altLang="zh-CN" sz="2000" dirty="0" smtClean="0"/>
              <a:t>对象和</a:t>
            </a:r>
            <a:r>
              <a:rPr lang="en-US" altLang="zh-CN" sz="2000" dirty="0" smtClean="0">
                <a:solidFill>
                  <a:srgbClr val="009ED6"/>
                </a:solidFill>
              </a:rPr>
              <a:t>ID</a:t>
            </a:r>
            <a:r>
              <a:rPr lang="zh-CN" altLang="zh-CN" sz="2000" dirty="0" smtClean="0">
                <a:solidFill>
                  <a:srgbClr val="009ED6"/>
                </a:solidFill>
              </a:rPr>
              <a:t>属性</a:t>
            </a:r>
            <a:r>
              <a:rPr lang="zh-CN" altLang="zh-CN" sz="2000" dirty="0" smtClean="0"/>
              <a:t>，其中，</a:t>
            </a:r>
            <a:r>
              <a:rPr lang="en-US" altLang="zh-CN" sz="2000" dirty="0" smtClean="0">
                <a:solidFill>
                  <a:srgbClr val="009ED6"/>
                </a:solidFill>
              </a:rPr>
              <a:t>Session</a:t>
            </a:r>
            <a:r>
              <a:rPr lang="zh-CN" altLang="zh-CN" sz="2000" dirty="0" smtClean="0">
                <a:solidFill>
                  <a:srgbClr val="009ED6"/>
                </a:solidFill>
              </a:rPr>
              <a:t>对象就相当于病历档案，</a:t>
            </a:r>
            <a:r>
              <a:rPr lang="en-US" altLang="zh-CN" sz="2000" dirty="0" smtClean="0">
                <a:solidFill>
                  <a:srgbClr val="009ED6"/>
                </a:solidFill>
              </a:rPr>
              <a:t>ID</a:t>
            </a:r>
            <a:r>
              <a:rPr lang="zh-CN" altLang="zh-CN" sz="2000" dirty="0" smtClean="0">
                <a:solidFill>
                  <a:srgbClr val="009ED6"/>
                </a:solidFill>
              </a:rPr>
              <a:t>就相当于就医卡号</a:t>
            </a:r>
            <a:r>
              <a:rPr lang="zh-CN" altLang="zh-CN" sz="2000" dirty="0" smtClean="0"/>
              <a:t>。</a:t>
            </a:r>
            <a:endParaRPr lang="en-US" altLang="zh-CN" sz="2000" dirty="0" smtClean="0"/>
          </a:p>
          <a:p>
            <a:pPr lvl="1">
              <a:buFont typeface="Arial" panose="020B0604020202020204" pitchFamily="34" charset="0"/>
              <a:buChar char="•"/>
            </a:pPr>
            <a:endParaRPr lang="en-US" altLang="zh-CN" sz="2000" dirty="0" smtClean="0"/>
          </a:p>
          <a:p>
            <a:pPr lvl="1">
              <a:buFont typeface="Arial" panose="020B0604020202020204" pitchFamily="34" charset="0"/>
              <a:buChar char="•"/>
            </a:pPr>
            <a:r>
              <a:rPr lang="zh-CN" altLang="zh-CN" sz="2000" dirty="0" smtClean="0"/>
              <a:t>当客户端后续访问服务器时，只要将</a:t>
            </a:r>
            <a:r>
              <a:rPr lang="zh-CN" altLang="zh-CN" sz="2000" dirty="0" smtClean="0">
                <a:solidFill>
                  <a:srgbClr val="009ED6"/>
                </a:solidFill>
              </a:rPr>
              <a:t>标识号</a:t>
            </a:r>
            <a:r>
              <a:rPr lang="zh-CN" altLang="zh-CN" sz="2000" dirty="0" smtClean="0"/>
              <a:t>传递给服务器，服务器就能判断出该请求是哪个客户端发送的，从而选择与之对应的</a:t>
            </a:r>
            <a:r>
              <a:rPr lang="en-US" altLang="zh-CN" sz="2000" dirty="0" smtClean="0"/>
              <a:t>Session</a:t>
            </a:r>
            <a:r>
              <a:rPr lang="zh-CN" altLang="zh-CN" sz="2000" dirty="0" smtClean="0"/>
              <a:t>对象为其服务。</a:t>
            </a:r>
            <a:endParaRPr lang="en-US" altLang="zh-CN" sz="2000" dirty="0" smtClean="0"/>
          </a:p>
          <a:p>
            <a:pPr lvl="1">
              <a:buFont typeface="Arial" panose="020B0604020202020204" pitchFamily="34" charset="0"/>
              <a:buChar char="•"/>
            </a:pPr>
            <a:endParaRPr lang="en-US" altLang="zh-CN" sz="2000" dirty="0" smtClean="0"/>
          </a:p>
          <a:p>
            <a:pPr lvl="1">
              <a:buFont typeface="Arial" panose="020B0604020202020204" pitchFamily="34" charset="0"/>
              <a:buChar char="•"/>
            </a:pPr>
            <a:r>
              <a:rPr lang="zh-CN" altLang="zh-CN" sz="2000" dirty="0" smtClean="0"/>
              <a:t>通常情况下，</a:t>
            </a:r>
            <a:r>
              <a:rPr lang="en-US" altLang="zh-CN" sz="2000" dirty="0" smtClean="0">
                <a:solidFill>
                  <a:srgbClr val="009ED6"/>
                </a:solidFill>
              </a:rPr>
              <a:t>Session</a:t>
            </a:r>
            <a:r>
              <a:rPr lang="zh-CN" altLang="zh-CN" sz="2000" dirty="0" smtClean="0">
                <a:solidFill>
                  <a:srgbClr val="009ED6"/>
                </a:solidFill>
              </a:rPr>
              <a:t>是借助</a:t>
            </a:r>
            <a:r>
              <a:rPr lang="en-US" altLang="zh-CN" sz="2000" dirty="0" smtClean="0">
                <a:solidFill>
                  <a:srgbClr val="009ED6"/>
                </a:solidFill>
              </a:rPr>
              <a:t>Cookie</a:t>
            </a:r>
            <a:r>
              <a:rPr lang="zh-CN" altLang="zh-CN" sz="2000" dirty="0" smtClean="0">
                <a:solidFill>
                  <a:srgbClr val="009ED6"/>
                </a:solidFill>
              </a:rPr>
              <a:t>技术来传递</a:t>
            </a:r>
            <a:r>
              <a:rPr lang="en-US" altLang="zh-CN" sz="2000" dirty="0" smtClean="0">
                <a:solidFill>
                  <a:srgbClr val="009ED6"/>
                </a:solidFill>
              </a:rPr>
              <a:t>ID</a:t>
            </a:r>
            <a:r>
              <a:rPr lang="zh-CN" altLang="zh-CN" sz="2000" dirty="0" smtClean="0">
                <a:solidFill>
                  <a:srgbClr val="009ED6"/>
                </a:solidFill>
              </a:rPr>
              <a:t>属性的。</a:t>
            </a:r>
          </a:p>
          <a:p>
            <a:pPr lvl="1">
              <a:lnSpc>
                <a:spcPct val="200000"/>
              </a:lnSpc>
              <a:buFont typeface="Wingdings" pitchFamily="2" charset="2"/>
              <a:buChar char="l"/>
            </a:pPr>
            <a:endParaRPr lang="en-US" altLang="zh-CN" dirty="0" smtClean="0"/>
          </a:p>
        </p:txBody>
      </p:sp>
      <p:sp>
        <p:nvSpPr>
          <p:cNvPr id="11"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5.3.1  </a:t>
            </a:r>
            <a:r>
              <a:rPr lang="zh-CN" altLang="en-US" sz="3200" b="1" dirty="0">
                <a:solidFill>
                  <a:srgbClr val="006BA9"/>
                </a:solidFill>
                <a:latin typeface="微软雅黑" pitchFamily="34" charset="-122"/>
                <a:ea typeface="微软雅黑" pitchFamily="34" charset="-122"/>
                <a:sym typeface="宋体" charset="-122"/>
              </a:rPr>
              <a:t>什么是</a:t>
            </a:r>
            <a:r>
              <a:rPr lang="en-US" altLang="zh-CN" sz="3200" b="1" dirty="0">
                <a:solidFill>
                  <a:srgbClr val="006BA9"/>
                </a:solidFill>
                <a:latin typeface="微软雅黑" pitchFamily="34" charset="-122"/>
                <a:ea typeface="微软雅黑" pitchFamily="34" charset="-122"/>
                <a:sym typeface="宋体" charset="-122"/>
              </a:rPr>
              <a:t>Session</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791882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83568" y="2288306"/>
            <a:ext cx="7704856" cy="3732982"/>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1" name="任意多边形 10"/>
          <p:cNvSpPr/>
          <p:nvPr/>
        </p:nvSpPr>
        <p:spPr bwMode="auto">
          <a:xfrm>
            <a:off x="5940152" y="1988840"/>
            <a:ext cx="1970312" cy="371475"/>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70C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2" name="矩形 75"/>
          <p:cNvSpPr>
            <a:spLocks noChangeArrowheads="1"/>
          </p:cNvSpPr>
          <p:nvPr/>
        </p:nvSpPr>
        <p:spPr bwMode="auto">
          <a:xfrm>
            <a:off x="5868144" y="2023616"/>
            <a:ext cx="204232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a:spAutoFit/>
          </a:bodyPr>
          <a:lstStyle/>
          <a:p>
            <a:pPr algn="ctr" eaLnBrk="1" hangingPunct="1"/>
            <a:r>
              <a:rPr lang="zh-CN" altLang="en-US">
                <a:solidFill>
                  <a:schemeClr val="bg1"/>
                </a:solidFill>
                <a:latin typeface="微软雅黑" pitchFamily="34" charset="-122"/>
                <a:ea typeface="微软雅黑" pitchFamily="34" charset="-122"/>
              </a:rPr>
              <a:t> </a:t>
            </a:r>
            <a:r>
              <a:rPr lang="zh-CN" altLang="en-US" smtClean="0">
                <a:solidFill>
                  <a:schemeClr val="bg1"/>
                </a:solidFill>
                <a:latin typeface="微软雅黑" pitchFamily="34" charset="-122"/>
                <a:ea typeface="微软雅黑" pitchFamily="34" charset="-122"/>
              </a:rPr>
              <a:t>获取</a:t>
            </a:r>
            <a:r>
              <a:rPr lang="en-US" altLang="zh-CN" smtClean="0">
                <a:solidFill>
                  <a:schemeClr val="bg1"/>
                </a:solidFill>
                <a:latin typeface="微软雅黑" pitchFamily="34" charset="-122"/>
                <a:ea typeface="微软雅黑" pitchFamily="34" charset="-122"/>
              </a:rPr>
              <a:t>Session</a:t>
            </a:r>
            <a:endParaRPr lang="zh-CN" altLang="en-US" dirty="0">
              <a:solidFill>
                <a:schemeClr val="bg1"/>
              </a:solidFill>
              <a:latin typeface="微软雅黑" pitchFamily="34" charset="-122"/>
              <a:ea typeface="微软雅黑" pitchFamily="34" charset="-122"/>
            </a:endParaRPr>
          </a:p>
        </p:txBody>
      </p:sp>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pic>
        <p:nvPicPr>
          <p:cNvPr id="3" name="Picture 3" descr="C:\Documents and Settings\Administrator\Local Settings\Temporary Internet Files\Content.IE5\R8MOIW68\MC900437797[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038" y="1652935"/>
            <a:ext cx="6508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9"/>
          <p:cNvSpPr txBox="1">
            <a:spLocks noChangeArrowheads="1"/>
          </p:cNvSpPr>
          <p:nvPr/>
        </p:nvSpPr>
        <p:spPr bwMode="auto">
          <a:xfrm>
            <a:off x="1168400" y="1681510"/>
            <a:ext cx="41767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200" b="1">
                <a:solidFill>
                  <a:srgbClr val="0066A1"/>
                </a:solidFill>
                <a:latin typeface="宋体" panose="02010600030101010101" pitchFamily="2" charset="-122"/>
              </a:rPr>
              <a:t>如何获取</a:t>
            </a:r>
            <a:r>
              <a:rPr lang="en-US" altLang="zh-CN" sz="2200" b="1">
                <a:solidFill>
                  <a:srgbClr val="0066A1"/>
                </a:solidFill>
                <a:latin typeface="宋体" panose="02010600030101010101" pitchFamily="2" charset="-122"/>
              </a:rPr>
              <a:t>Session</a:t>
            </a:r>
            <a:r>
              <a:rPr lang="zh-CN" altLang="en-US" sz="2200" b="1">
                <a:solidFill>
                  <a:srgbClr val="0066A1"/>
                </a:solidFill>
                <a:latin typeface="宋体" panose="02010600030101010101" pitchFamily="2" charset="-122"/>
              </a:rPr>
              <a:t>对象？</a:t>
            </a:r>
          </a:p>
        </p:txBody>
      </p:sp>
      <p:sp>
        <p:nvSpPr>
          <p:cNvPr id="9" name="TextBox 8"/>
          <p:cNvSpPr txBox="1"/>
          <p:nvPr/>
        </p:nvSpPr>
        <p:spPr bwMode="auto">
          <a:xfrm>
            <a:off x="876878" y="2564904"/>
            <a:ext cx="7439537" cy="707886"/>
          </a:xfrm>
          <a:prstGeom prst="rect">
            <a:avLst/>
          </a:prstGeom>
          <a:noFill/>
        </p:spPr>
        <p:txBody>
          <a:bodyPr>
            <a:spAutoFit/>
          </a:bodyPr>
          <a:lstStyle/>
          <a:p>
            <a:pPr eaLnBrk="0" hangingPunct="0">
              <a:lnSpc>
                <a:spcPct val="200000"/>
              </a:lnSpc>
              <a:defRPr/>
            </a:pPr>
            <a:r>
              <a:rPr lang="en-US" altLang="zh-CN" sz="2000" dirty="0" err="1">
                <a:latin typeface="Times New Roman" panose="02020603050405020304" pitchFamily="18" charset="0"/>
                <a:cs typeface="Times New Roman" panose="02020603050405020304" pitchFamily="18" charset="0"/>
              </a:rPr>
              <a:t>HttpServletRequest</a:t>
            </a:r>
            <a:r>
              <a:rPr lang="zh-CN" altLang="zh-CN" sz="2000" dirty="0">
                <a:latin typeface="Times New Roman" panose="02020603050405020304" pitchFamily="18" charset="0"/>
                <a:cs typeface="Times New Roman" panose="02020603050405020304" pitchFamily="18" charset="0"/>
              </a:rPr>
              <a:t>定义了用于获取</a:t>
            </a:r>
            <a:r>
              <a:rPr lang="en-US" altLang="zh-CN" sz="2000" dirty="0">
                <a:latin typeface="Times New Roman" panose="02020603050405020304" pitchFamily="18" charset="0"/>
                <a:cs typeface="Times New Roman" panose="02020603050405020304" pitchFamily="18" charset="0"/>
              </a:rPr>
              <a:t>Session</a:t>
            </a:r>
            <a:r>
              <a:rPr lang="zh-CN" altLang="zh-CN" sz="2000" dirty="0">
                <a:latin typeface="Times New Roman" panose="02020603050405020304" pitchFamily="18" charset="0"/>
                <a:cs typeface="Times New Roman" panose="02020603050405020304" pitchFamily="18" charset="0"/>
              </a:rPr>
              <a:t>对象的</a:t>
            </a:r>
            <a:r>
              <a:rPr lang="en-US" altLang="zh-CN" sz="2000" dirty="0" err="1">
                <a:solidFill>
                  <a:srgbClr val="FF0000"/>
                </a:solidFill>
                <a:latin typeface="Times New Roman" panose="02020603050405020304" pitchFamily="18" charset="0"/>
                <a:cs typeface="Times New Roman" panose="02020603050405020304" pitchFamily="18" charset="0"/>
              </a:rPr>
              <a:t>getSession</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zh-CN" sz="2000" dirty="0" smtClean="0">
                <a:latin typeface="Times New Roman" panose="02020603050405020304" pitchFamily="18" charset="0"/>
                <a:cs typeface="Times New Roman" panose="02020603050405020304" pitchFamily="18" charset="0"/>
              </a:rPr>
              <a:t>方法</a:t>
            </a:r>
            <a:endParaRPr lang="en-US" altLang="zh-CN" sz="2000" dirty="0">
              <a:latin typeface="Times New Roman" panose="02020603050405020304" pitchFamily="18" charset="0"/>
              <a:cs typeface="Times New Roman" panose="02020603050405020304" pitchFamily="18" charset="0"/>
            </a:endParaRPr>
          </a:p>
        </p:txBody>
      </p:sp>
      <p:grpSp>
        <p:nvGrpSpPr>
          <p:cNvPr id="13" name="组合 12"/>
          <p:cNvGrpSpPr>
            <a:grpSpLocks/>
          </p:cNvGrpSpPr>
          <p:nvPr/>
        </p:nvGrpSpPr>
        <p:grpSpPr bwMode="auto">
          <a:xfrm>
            <a:off x="1043608" y="3356992"/>
            <a:ext cx="6984776" cy="1009269"/>
            <a:chOff x="2048782" y="2254824"/>
            <a:chExt cx="10798980" cy="865187"/>
          </a:xfrm>
          <a:solidFill>
            <a:srgbClr val="E7F4FF"/>
          </a:solidFill>
        </p:grpSpPr>
        <p:sp>
          <p:nvSpPr>
            <p:cNvPr id="14" name="Rectangle 5"/>
            <p:cNvSpPr>
              <a:spLocks noChangeArrowheads="1"/>
            </p:cNvSpPr>
            <p:nvPr/>
          </p:nvSpPr>
          <p:spPr bwMode="auto">
            <a:xfrm>
              <a:off x="2048782" y="2254824"/>
              <a:ext cx="10798980" cy="865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solidFill>
                  <a:srgbClr val="000000"/>
                </a:solidFill>
                <a:latin typeface="Calibri" pitchFamily="34" charset="0"/>
                <a:sym typeface="Calibri" pitchFamily="34" charset="0"/>
              </a:endParaRPr>
            </a:p>
          </p:txBody>
        </p:sp>
        <p:sp>
          <p:nvSpPr>
            <p:cNvPr id="15" name="矩形 3"/>
            <p:cNvSpPr>
              <a:spLocks noChangeArrowheads="1"/>
            </p:cNvSpPr>
            <p:nvPr/>
          </p:nvSpPr>
          <p:spPr bwMode="auto">
            <a:xfrm>
              <a:off x="2114566" y="2380875"/>
              <a:ext cx="10621866" cy="5540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0" hangingPunct="0">
                <a:lnSpc>
                  <a:spcPct val="200000"/>
                </a:lnSpc>
                <a:buFont typeface="Arial" pitchFamily="34" charset="0"/>
                <a:buChar char="•"/>
                <a:defRPr/>
              </a:pPr>
              <a:r>
                <a:rPr lang="en-US" altLang="zh-CN" dirty="0">
                  <a:latin typeface="Times New Roman" panose="02020603050405020304" pitchFamily="18" charset="0"/>
                  <a:cs typeface="Times New Roman" panose="02020603050405020304" pitchFamily="18" charset="0"/>
                </a:rPr>
                <a:t>public </a:t>
              </a:r>
              <a:r>
                <a:rPr lang="en-US" altLang="zh-CN" dirty="0" err="1">
                  <a:latin typeface="Times New Roman" panose="02020603050405020304" pitchFamily="18" charset="0"/>
                  <a:cs typeface="Times New Roman" panose="02020603050405020304" pitchFamily="18" charset="0"/>
                </a:rPr>
                <a:t>HttpSession</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getSession</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boolean</a:t>
              </a:r>
              <a:r>
                <a:rPr lang="en-US" altLang="zh-CN" dirty="0">
                  <a:latin typeface="Times New Roman" panose="02020603050405020304" pitchFamily="18" charset="0"/>
                  <a:cs typeface="Times New Roman" panose="02020603050405020304" pitchFamily="18" charset="0"/>
                </a:rPr>
                <a:t> create)</a:t>
              </a:r>
            </a:p>
          </p:txBody>
        </p:sp>
      </p:grpSp>
      <p:grpSp>
        <p:nvGrpSpPr>
          <p:cNvPr id="16" name="组合 15"/>
          <p:cNvGrpSpPr>
            <a:grpSpLocks/>
          </p:cNvGrpSpPr>
          <p:nvPr/>
        </p:nvGrpSpPr>
        <p:grpSpPr bwMode="auto">
          <a:xfrm>
            <a:off x="1051992" y="4579971"/>
            <a:ext cx="6984776" cy="1009269"/>
            <a:chOff x="2048782" y="2254824"/>
            <a:chExt cx="10798980" cy="865187"/>
          </a:xfrm>
          <a:solidFill>
            <a:srgbClr val="E7F4FF"/>
          </a:solidFill>
        </p:grpSpPr>
        <p:sp>
          <p:nvSpPr>
            <p:cNvPr id="17" name="Rectangle 5"/>
            <p:cNvSpPr>
              <a:spLocks noChangeArrowheads="1"/>
            </p:cNvSpPr>
            <p:nvPr/>
          </p:nvSpPr>
          <p:spPr bwMode="auto">
            <a:xfrm>
              <a:off x="2048782" y="2254824"/>
              <a:ext cx="10798980" cy="865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solidFill>
                  <a:srgbClr val="000000"/>
                </a:solidFill>
                <a:latin typeface="Calibri" pitchFamily="34" charset="0"/>
                <a:sym typeface="Calibri" pitchFamily="34" charset="0"/>
              </a:endParaRPr>
            </a:p>
          </p:txBody>
        </p:sp>
        <p:sp>
          <p:nvSpPr>
            <p:cNvPr id="18" name="矩形 3"/>
            <p:cNvSpPr>
              <a:spLocks noChangeArrowheads="1"/>
            </p:cNvSpPr>
            <p:nvPr/>
          </p:nvSpPr>
          <p:spPr bwMode="auto">
            <a:xfrm>
              <a:off x="2114566" y="2380875"/>
              <a:ext cx="10621866" cy="5540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0" hangingPunct="0">
                <a:lnSpc>
                  <a:spcPct val="200000"/>
                </a:lnSpc>
                <a:buFont typeface="Arial" pitchFamily="34" charset="0"/>
                <a:buChar char="•"/>
                <a:defRPr/>
              </a:pPr>
              <a:r>
                <a:rPr lang="en-US" altLang="zh-CN">
                  <a:latin typeface="Times New Roman" panose="02020603050405020304" pitchFamily="18" charset="0"/>
                  <a:cs typeface="Times New Roman" panose="02020603050405020304" pitchFamily="18" charset="0"/>
                </a:rPr>
                <a:t>public HttpSession  getSession()</a:t>
              </a:r>
            </a:p>
          </p:txBody>
        </p:sp>
      </p:grpSp>
      <p:sp>
        <p:nvSpPr>
          <p:cNvPr id="19"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5.3.2  </a:t>
            </a:r>
            <a:r>
              <a:rPr lang="en-US" altLang="zh-CN" sz="3200" b="1" dirty="0" err="1">
                <a:solidFill>
                  <a:srgbClr val="006BA9"/>
                </a:solidFill>
                <a:latin typeface="微软雅黑" pitchFamily="34" charset="-122"/>
                <a:ea typeface="微软雅黑" pitchFamily="34" charset="-122"/>
                <a:sym typeface="宋体" charset="-122"/>
              </a:rPr>
              <a:t>HttpSession</a:t>
            </a:r>
            <a:r>
              <a:rPr lang="en-US" altLang="zh-CN" sz="3200" b="1" dirty="0">
                <a:solidFill>
                  <a:srgbClr val="006BA9"/>
                </a:solidFill>
                <a:latin typeface="微软雅黑" pitchFamily="34" charset="-122"/>
                <a:ea typeface="微软雅黑" pitchFamily="34" charset="-122"/>
                <a:sym typeface="宋体" charset="-122"/>
              </a:rPr>
              <a:t> API</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954999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4"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462941633"/>
              </p:ext>
            </p:extLst>
          </p:nvPr>
        </p:nvGraphicFramePr>
        <p:xfrm>
          <a:off x="386408" y="1772816"/>
          <a:ext cx="8290048" cy="3365049"/>
        </p:xfrm>
        <a:graphic>
          <a:graphicData uri="http://schemas.openxmlformats.org/drawingml/2006/table">
            <a:tbl>
              <a:tblPr firstRow="1" bandRow="1">
                <a:tableStyleId>{B301B821-A1FF-4177-AEE7-76D212191A09}</a:tableStyleId>
              </a:tblPr>
              <a:tblGrid>
                <a:gridCol w="2889448"/>
                <a:gridCol w="5400600"/>
              </a:tblGrid>
              <a:tr h="292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t>方法声明</a:t>
                      </a:r>
                      <a:endParaRPr lang="en-US" altLang="zh-CN"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ctr"/>
                      <a:r>
                        <a:rPr lang="zh-CN" altLang="en-US" sz="1600" dirty="0" smtClean="0"/>
                        <a:t>功能描述</a:t>
                      </a:r>
                      <a:endParaRPr lang="en-US" altLang="zh-CN"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238985">
                <a:tc>
                  <a:txBody>
                    <a:bodyPr/>
                    <a:lstStyle/>
                    <a:p>
                      <a:pPr indent="266700" algn="l">
                        <a:spcAft>
                          <a:spcPts val="0"/>
                        </a:spcAft>
                      </a:pPr>
                      <a:r>
                        <a:rPr lang="en-US" sz="1100" kern="100">
                          <a:effectLst/>
                          <a:latin typeface="Times New Roman"/>
                          <a:ea typeface="宋体"/>
                          <a:cs typeface="宋体"/>
                        </a:rPr>
                        <a:t>String getId()</a:t>
                      </a:r>
                      <a:endParaRPr lang="zh-CN" sz="11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用于返回与当前</a:t>
                      </a:r>
                      <a:r>
                        <a:rPr lang="en-US" sz="1200" kern="100">
                          <a:effectLst/>
                          <a:latin typeface="Times New Roman"/>
                          <a:ea typeface="宋体"/>
                          <a:cs typeface="宋体"/>
                        </a:rPr>
                        <a:t>HttpSession</a:t>
                      </a:r>
                      <a:r>
                        <a:rPr lang="zh-CN" sz="1200" kern="100">
                          <a:effectLst/>
                          <a:latin typeface="Times New Roman"/>
                          <a:ea typeface="宋体"/>
                          <a:cs typeface="宋体"/>
                        </a:rPr>
                        <a:t>对象关联的会话标识号</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long getCreationTime()</a:t>
                      </a:r>
                      <a:endParaRPr lang="zh-CN" sz="1100" kern="100">
                        <a:effectLst/>
                        <a:latin typeface="Times New Roman"/>
                        <a:ea typeface="宋体"/>
                        <a:cs typeface="宋体"/>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返回</a:t>
                      </a:r>
                      <a:r>
                        <a:rPr lang="en-US" sz="1200" kern="100">
                          <a:effectLst/>
                          <a:latin typeface="Times New Roman"/>
                          <a:ea typeface="宋体"/>
                          <a:cs typeface="宋体"/>
                        </a:rPr>
                        <a:t>Session</a:t>
                      </a:r>
                      <a:r>
                        <a:rPr lang="zh-CN" sz="1200" kern="100">
                          <a:effectLst/>
                          <a:latin typeface="Times New Roman"/>
                          <a:ea typeface="宋体"/>
                          <a:cs typeface="宋体"/>
                        </a:rPr>
                        <a:t>创建的时间，这个时间是创建</a:t>
                      </a:r>
                      <a:r>
                        <a:rPr lang="en-US" sz="1200" kern="100">
                          <a:effectLst/>
                          <a:latin typeface="Times New Roman"/>
                          <a:ea typeface="宋体"/>
                          <a:cs typeface="宋体"/>
                        </a:rPr>
                        <a:t>Session</a:t>
                      </a:r>
                      <a:r>
                        <a:rPr lang="zh-CN" sz="1200" kern="100">
                          <a:effectLst/>
                          <a:latin typeface="Times New Roman"/>
                          <a:ea typeface="宋体"/>
                          <a:cs typeface="宋体"/>
                        </a:rPr>
                        <a:t>的时间与</a:t>
                      </a:r>
                      <a:r>
                        <a:rPr lang="en-US" sz="1200" kern="100">
                          <a:effectLst/>
                          <a:latin typeface="Times New Roman"/>
                          <a:ea typeface="宋体"/>
                          <a:cs typeface="宋体"/>
                        </a:rPr>
                        <a:t>1970</a:t>
                      </a:r>
                      <a:r>
                        <a:rPr lang="zh-CN" sz="1200" kern="100">
                          <a:effectLst/>
                          <a:latin typeface="Times New Roman"/>
                          <a:ea typeface="宋体"/>
                          <a:cs typeface="宋体"/>
                        </a:rPr>
                        <a:t>年</a:t>
                      </a:r>
                      <a:r>
                        <a:rPr lang="en-US" sz="1200" kern="100">
                          <a:effectLst/>
                          <a:latin typeface="Times New Roman"/>
                          <a:ea typeface="宋体"/>
                          <a:cs typeface="宋体"/>
                        </a:rPr>
                        <a:t>1</a:t>
                      </a:r>
                      <a:r>
                        <a:rPr lang="zh-CN" sz="1200" kern="100">
                          <a:effectLst/>
                          <a:latin typeface="Times New Roman"/>
                          <a:ea typeface="宋体"/>
                          <a:cs typeface="宋体"/>
                        </a:rPr>
                        <a:t>月</a:t>
                      </a:r>
                      <a:r>
                        <a:rPr lang="en-US" sz="1200" kern="100">
                          <a:effectLst/>
                          <a:latin typeface="Times New Roman"/>
                          <a:ea typeface="宋体"/>
                          <a:cs typeface="宋体"/>
                        </a:rPr>
                        <a:t>1</a:t>
                      </a:r>
                      <a:r>
                        <a:rPr lang="zh-CN" sz="1200" kern="100">
                          <a:effectLst/>
                          <a:latin typeface="Times New Roman"/>
                          <a:ea typeface="宋体"/>
                          <a:cs typeface="宋体"/>
                        </a:rPr>
                        <a:t>日</a:t>
                      </a:r>
                      <a:r>
                        <a:rPr lang="en-US" sz="1200" kern="100">
                          <a:effectLst/>
                          <a:latin typeface="Times New Roman"/>
                          <a:ea typeface="宋体"/>
                          <a:cs typeface="宋体"/>
                        </a:rPr>
                        <a:t>00:00:00</a:t>
                      </a:r>
                      <a:r>
                        <a:rPr lang="zh-CN" sz="1200" kern="100">
                          <a:effectLst/>
                          <a:latin typeface="Times New Roman"/>
                          <a:ea typeface="宋体"/>
                          <a:cs typeface="宋体"/>
                        </a:rPr>
                        <a:t>之间时间差的毫秒表示形式</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long getLastAccessedTime()</a:t>
                      </a:r>
                      <a:endParaRPr lang="zh-CN" sz="1100" kern="100">
                        <a:effectLst/>
                        <a:latin typeface="Times New Roman"/>
                        <a:ea typeface="宋体"/>
                        <a:cs typeface="宋体"/>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dirty="0">
                          <a:effectLst/>
                          <a:latin typeface="Times New Roman"/>
                          <a:ea typeface="宋体"/>
                          <a:cs typeface="宋体"/>
                        </a:rPr>
                        <a:t>返回客户端最后一次发送与</a:t>
                      </a:r>
                      <a:r>
                        <a:rPr lang="en-US" sz="1200" kern="100" dirty="0">
                          <a:effectLst/>
                          <a:latin typeface="Times New Roman"/>
                          <a:ea typeface="宋体"/>
                          <a:cs typeface="宋体"/>
                        </a:rPr>
                        <a:t>Session</a:t>
                      </a:r>
                      <a:r>
                        <a:rPr lang="zh-CN" sz="1200" kern="100" dirty="0">
                          <a:effectLst/>
                          <a:latin typeface="Times New Roman"/>
                          <a:ea typeface="宋体"/>
                          <a:cs typeface="宋体"/>
                        </a:rPr>
                        <a:t>相关请求的时间，这个时间是发送请求的时间与</a:t>
                      </a:r>
                      <a:r>
                        <a:rPr lang="en-US" sz="1200" kern="100" dirty="0">
                          <a:effectLst/>
                          <a:latin typeface="Times New Roman"/>
                          <a:ea typeface="宋体"/>
                          <a:cs typeface="宋体"/>
                        </a:rPr>
                        <a:t>1970</a:t>
                      </a:r>
                      <a:r>
                        <a:rPr lang="zh-CN" sz="1200" kern="100" dirty="0">
                          <a:effectLst/>
                          <a:latin typeface="Times New Roman"/>
                          <a:ea typeface="宋体"/>
                          <a:cs typeface="宋体"/>
                        </a:rPr>
                        <a:t>年</a:t>
                      </a:r>
                      <a:r>
                        <a:rPr lang="en-US" sz="1200" kern="100" dirty="0">
                          <a:effectLst/>
                          <a:latin typeface="Times New Roman"/>
                          <a:ea typeface="宋体"/>
                          <a:cs typeface="宋体"/>
                        </a:rPr>
                        <a:t>1</a:t>
                      </a:r>
                      <a:r>
                        <a:rPr lang="zh-CN" sz="1200" kern="100" dirty="0">
                          <a:effectLst/>
                          <a:latin typeface="Times New Roman"/>
                          <a:ea typeface="宋体"/>
                          <a:cs typeface="宋体"/>
                        </a:rPr>
                        <a:t>月</a:t>
                      </a:r>
                      <a:r>
                        <a:rPr lang="en-US" sz="1200" kern="100" dirty="0">
                          <a:effectLst/>
                          <a:latin typeface="Times New Roman"/>
                          <a:ea typeface="宋体"/>
                          <a:cs typeface="宋体"/>
                        </a:rPr>
                        <a:t>1</a:t>
                      </a:r>
                      <a:r>
                        <a:rPr lang="zh-CN" sz="1200" kern="100" dirty="0">
                          <a:effectLst/>
                          <a:latin typeface="Times New Roman"/>
                          <a:ea typeface="宋体"/>
                          <a:cs typeface="宋体"/>
                        </a:rPr>
                        <a:t>日</a:t>
                      </a:r>
                      <a:r>
                        <a:rPr lang="en-US" sz="1200" kern="100" dirty="0">
                          <a:effectLst/>
                          <a:latin typeface="Times New Roman"/>
                          <a:ea typeface="宋体"/>
                          <a:cs typeface="宋体"/>
                        </a:rPr>
                        <a:t>00:00:00</a:t>
                      </a:r>
                      <a:r>
                        <a:rPr lang="zh-CN" sz="1200" kern="100" dirty="0">
                          <a:effectLst/>
                          <a:latin typeface="Times New Roman"/>
                          <a:ea typeface="宋体"/>
                          <a:cs typeface="宋体"/>
                        </a:rPr>
                        <a:t>之间时间差的毫秒表示形式</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void setMaxInactiveInterval(int interval)</a:t>
                      </a:r>
                      <a:endParaRPr lang="zh-CN" sz="1100" kern="100">
                        <a:effectLst/>
                        <a:latin typeface="Times New Roman"/>
                        <a:ea typeface="宋体"/>
                        <a:cs typeface="宋体"/>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用于设置当前</a:t>
                      </a:r>
                      <a:r>
                        <a:rPr lang="en-US" sz="1200" kern="100">
                          <a:effectLst/>
                          <a:latin typeface="Times New Roman"/>
                          <a:ea typeface="宋体"/>
                          <a:cs typeface="宋体"/>
                        </a:rPr>
                        <a:t>HttpSession</a:t>
                      </a:r>
                      <a:r>
                        <a:rPr lang="zh-CN" sz="1200" kern="100">
                          <a:effectLst/>
                          <a:latin typeface="Times New Roman"/>
                          <a:ea typeface="宋体"/>
                          <a:cs typeface="宋体"/>
                        </a:rPr>
                        <a:t>对象可空闲的以秒为单位的最长时间，也就是修改当前会话的默认超时间隔</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boolean isNew()</a:t>
                      </a:r>
                      <a:endParaRPr lang="zh-CN" sz="11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dirty="0">
                          <a:effectLst/>
                          <a:latin typeface="Times New Roman"/>
                          <a:ea typeface="宋体"/>
                          <a:cs typeface="宋体"/>
                        </a:rPr>
                        <a:t>判断当前</a:t>
                      </a:r>
                      <a:r>
                        <a:rPr lang="en-US" sz="1200" kern="100" dirty="0" err="1">
                          <a:effectLst/>
                          <a:latin typeface="Times New Roman"/>
                          <a:ea typeface="宋体"/>
                          <a:cs typeface="宋体"/>
                        </a:rPr>
                        <a:t>HttpSession</a:t>
                      </a:r>
                      <a:r>
                        <a:rPr lang="zh-CN" sz="1200" kern="100" dirty="0">
                          <a:effectLst/>
                          <a:latin typeface="Times New Roman"/>
                          <a:ea typeface="宋体"/>
                          <a:cs typeface="宋体"/>
                        </a:rPr>
                        <a:t>对象是否是新创建的</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void invalidate()</a:t>
                      </a:r>
                      <a:endParaRPr lang="zh-CN" sz="11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用于强制使</a:t>
                      </a:r>
                      <a:r>
                        <a:rPr lang="en-US" sz="1200" kern="100">
                          <a:effectLst/>
                          <a:latin typeface="Times New Roman"/>
                          <a:ea typeface="宋体"/>
                          <a:cs typeface="宋体"/>
                        </a:rPr>
                        <a:t>Session</a:t>
                      </a:r>
                      <a:r>
                        <a:rPr lang="zh-CN" sz="1200" kern="100">
                          <a:effectLst/>
                          <a:latin typeface="Times New Roman"/>
                          <a:ea typeface="宋体"/>
                          <a:cs typeface="宋体"/>
                        </a:rPr>
                        <a:t>对象无效</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ServletContext getServletContext()</a:t>
                      </a:r>
                      <a:endParaRPr lang="zh-CN" sz="1100" kern="100">
                        <a:effectLst/>
                        <a:latin typeface="Times New Roman"/>
                        <a:ea typeface="宋体"/>
                        <a:cs typeface="宋体"/>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用于返回当前</a:t>
                      </a:r>
                      <a:r>
                        <a:rPr lang="en-US" sz="1200" kern="100">
                          <a:effectLst/>
                          <a:latin typeface="Times New Roman"/>
                          <a:ea typeface="宋体"/>
                          <a:cs typeface="宋体"/>
                        </a:rPr>
                        <a:t>HttpSession</a:t>
                      </a:r>
                      <a:r>
                        <a:rPr lang="zh-CN" sz="1200" kern="100">
                          <a:effectLst/>
                          <a:latin typeface="Times New Roman"/>
                          <a:ea typeface="宋体"/>
                          <a:cs typeface="宋体"/>
                        </a:rPr>
                        <a:t>对象所属于的</a:t>
                      </a:r>
                      <a:r>
                        <a:rPr lang="en-US" sz="1200" kern="100">
                          <a:effectLst/>
                          <a:latin typeface="Times New Roman"/>
                          <a:ea typeface="宋体"/>
                          <a:cs typeface="宋体"/>
                        </a:rPr>
                        <a:t>WEB</a:t>
                      </a:r>
                      <a:r>
                        <a:rPr lang="zh-CN" sz="1200" kern="100">
                          <a:effectLst/>
                          <a:latin typeface="Times New Roman"/>
                          <a:ea typeface="宋体"/>
                          <a:cs typeface="宋体"/>
                        </a:rPr>
                        <a:t>应用程序对象，即代表当前</a:t>
                      </a:r>
                      <a:r>
                        <a:rPr lang="en-US" sz="1200" kern="100">
                          <a:effectLst/>
                          <a:latin typeface="Times New Roman"/>
                          <a:ea typeface="宋体"/>
                          <a:cs typeface="宋体"/>
                        </a:rPr>
                        <a:t>WEB</a:t>
                      </a:r>
                      <a:r>
                        <a:rPr lang="zh-CN" sz="1200" kern="100">
                          <a:effectLst/>
                          <a:latin typeface="Times New Roman"/>
                          <a:ea typeface="宋体"/>
                          <a:cs typeface="宋体"/>
                        </a:rPr>
                        <a:t>应用程序的</a:t>
                      </a:r>
                      <a:r>
                        <a:rPr lang="en-US" sz="1200" kern="100">
                          <a:effectLst/>
                          <a:latin typeface="Times New Roman"/>
                          <a:ea typeface="宋体"/>
                          <a:cs typeface="宋体"/>
                        </a:rPr>
                        <a:t>ServletContext</a:t>
                      </a:r>
                      <a:r>
                        <a:rPr lang="zh-CN" sz="1200" kern="100">
                          <a:effectLst/>
                          <a:latin typeface="Times New Roman"/>
                          <a:ea typeface="宋体"/>
                          <a:cs typeface="宋体"/>
                        </a:rPr>
                        <a:t>对象</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void setAttribite(String name,Object value)</a:t>
                      </a:r>
                      <a:endParaRPr lang="zh-CN" sz="1100" kern="100">
                        <a:effectLst/>
                        <a:latin typeface="Times New Roman"/>
                        <a:ea typeface="宋体"/>
                        <a:cs typeface="宋体"/>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用于将一个对象与一个名称关联后存储到当前的</a:t>
                      </a:r>
                      <a:r>
                        <a:rPr lang="en-US" sz="1200" kern="100">
                          <a:effectLst/>
                          <a:latin typeface="Times New Roman"/>
                          <a:ea typeface="宋体"/>
                          <a:cs typeface="宋体"/>
                        </a:rPr>
                        <a:t>HttpSession</a:t>
                      </a:r>
                      <a:r>
                        <a:rPr lang="zh-CN" sz="1200" kern="100">
                          <a:effectLst/>
                          <a:latin typeface="Times New Roman"/>
                          <a:ea typeface="宋体"/>
                          <a:cs typeface="宋体"/>
                        </a:rPr>
                        <a:t>对象中</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a:effectLst/>
                          <a:latin typeface="Times New Roman"/>
                          <a:ea typeface="宋体"/>
                          <a:cs typeface="宋体"/>
                        </a:rPr>
                        <a:t>String getAttribute()</a:t>
                      </a:r>
                      <a:endParaRPr lang="zh-CN" sz="1100" kern="10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a:effectLst/>
                          <a:latin typeface="Times New Roman"/>
                          <a:ea typeface="宋体"/>
                          <a:cs typeface="宋体"/>
                        </a:rPr>
                        <a:t>用于从当前</a:t>
                      </a:r>
                      <a:r>
                        <a:rPr lang="en-US" sz="1200" kern="100">
                          <a:effectLst/>
                          <a:latin typeface="Times New Roman"/>
                          <a:ea typeface="宋体"/>
                          <a:cs typeface="宋体"/>
                        </a:rPr>
                        <a:t>HttpSession</a:t>
                      </a:r>
                      <a:r>
                        <a:rPr lang="zh-CN" sz="1200" kern="100">
                          <a:effectLst/>
                          <a:latin typeface="Times New Roman"/>
                          <a:ea typeface="宋体"/>
                          <a:cs typeface="宋体"/>
                        </a:rPr>
                        <a:t>对象中返回指定名称的属性对象</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265530">
                <a:tc>
                  <a:txBody>
                    <a:bodyPr/>
                    <a:lstStyle/>
                    <a:p>
                      <a:pPr indent="266700" algn="l">
                        <a:spcAft>
                          <a:spcPts val="0"/>
                        </a:spcAft>
                      </a:pPr>
                      <a:r>
                        <a:rPr lang="en-US" sz="1100" kern="100" dirty="0">
                          <a:effectLst/>
                          <a:latin typeface="Times New Roman"/>
                          <a:ea typeface="宋体"/>
                          <a:cs typeface="宋体"/>
                        </a:rPr>
                        <a:t>void </a:t>
                      </a:r>
                      <a:r>
                        <a:rPr lang="en-US" sz="1100" kern="100" dirty="0" err="1">
                          <a:effectLst/>
                          <a:latin typeface="Times New Roman"/>
                          <a:ea typeface="宋体"/>
                          <a:cs typeface="宋体"/>
                        </a:rPr>
                        <a:t>removeAttribute</a:t>
                      </a:r>
                      <a:r>
                        <a:rPr lang="en-US" sz="1100" kern="100" dirty="0">
                          <a:effectLst/>
                          <a:latin typeface="Times New Roman"/>
                          <a:ea typeface="宋体"/>
                          <a:cs typeface="宋体"/>
                        </a:rPr>
                        <a:t>(String name)</a:t>
                      </a:r>
                      <a:endParaRPr lang="zh-CN" sz="1100" kern="100" dirty="0">
                        <a:effectLst/>
                        <a:latin typeface="Times New Roman"/>
                        <a:ea typeface="宋体"/>
                        <a:cs typeface="宋体"/>
                      </a:endParaRPr>
                    </a:p>
                  </a:txBody>
                  <a:tcPr marL="68580" marR="68580" marT="0" marB="0">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266700" algn="l">
                        <a:spcAft>
                          <a:spcPts val="0"/>
                        </a:spcAft>
                      </a:pPr>
                      <a:r>
                        <a:rPr lang="zh-CN" sz="1200" kern="100" dirty="0">
                          <a:effectLst/>
                          <a:latin typeface="Times New Roman"/>
                          <a:ea typeface="宋体"/>
                          <a:cs typeface="宋体"/>
                        </a:rPr>
                        <a:t>用于从当前</a:t>
                      </a:r>
                      <a:r>
                        <a:rPr lang="en-US" sz="1200" kern="100" dirty="0" err="1">
                          <a:effectLst/>
                          <a:latin typeface="Times New Roman"/>
                          <a:ea typeface="宋体"/>
                          <a:cs typeface="宋体"/>
                        </a:rPr>
                        <a:t>HttpSession</a:t>
                      </a:r>
                      <a:r>
                        <a:rPr lang="zh-CN" sz="1200" kern="100" dirty="0">
                          <a:effectLst/>
                          <a:latin typeface="Times New Roman"/>
                          <a:ea typeface="宋体"/>
                          <a:cs typeface="宋体"/>
                        </a:rPr>
                        <a:t>对象中删除指定名称的属性</a:t>
                      </a: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5"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5.3.2  </a:t>
            </a:r>
            <a:r>
              <a:rPr lang="en-US" altLang="zh-CN" sz="3200" b="1" dirty="0" err="1">
                <a:solidFill>
                  <a:srgbClr val="006BA9"/>
                </a:solidFill>
                <a:latin typeface="微软雅黑" pitchFamily="34" charset="-122"/>
                <a:ea typeface="微软雅黑" pitchFamily="34" charset="-122"/>
                <a:sym typeface="宋体" charset="-122"/>
              </a:rPr>
              <a:t>HttpSession</a:t>
            </a:r>
            <a:r>
              <a:rPr lang="en-US" altLang="zh-CN" sz="3200" b="1" dirty="0">
                <a:solidFill>
                  <a:srgbClr val="006BA9"/>
                </a:solidFill>
                <a:latin typeface="微软雅黑" pitchFamily="34" charset="-122"/>
                <a:ea typeface="微软雅黑" pitchFamily="34" charset="-122"/>
                <a:sym typeface="宋体" charset="-122"/>
              </a:rPr>
              <a:t> API</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270705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7"/>
          <p:cNvSpPr txBox="1">
            <a:spLocks noChangeArrowheads="1"/>
          </p:cNvSpPr>
          <p:nvPr/>
        </p:nvSpPr>
        <p:spPr bwMode="auto">
          <a:xfrm>
            <a:off x="2269242" y="1942439"/>
            <a:ext cx="32675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buFont typeface="Arial" pitchFamily="34" charset="0"/>
              <a:buNone/>
            </a:pPr>
            <a:r>
              <a:rPr lang="zh-CN" altLang="en-US" sz="2000" b="1">
                <a:solidFill>
                  <a:schemeClr val="bg1"/>
                </a:solidFill>
                <a:ea typeface="黑体" pitchFamily="49" charset="-122"/>
              </a:rPr>
              <a:t>什么是</a:t>
            </a:r>
            <a:r>
              <a:rPr lang="en-US" altLang="zh-CN" sz="2000" b="1">
                <a:solidFill>
                  <a:schemeClr val="bg1"/>
                </a:solidFill>
                <a:ea typeface="黑体" pitchFamily="49" charset="-122"/>
              </a:rPr>
              <a:t>Session</a:t>
            </a:r>
            <a:r>
              <a:rPr lang="zh-CN" altLang="en-US" sz="2000" b="1">
                <a:solidFill>
                  <a:schemeClr val="bg1"/>
                </a:solidFill>
                <a:ea typeface="黑体" pitchFamily="49" charset="-122"/>
              </a:rPr>
              <a:t>？</a:t>
            </a:r>
          </a:p>
        </p:txBody>
      </p:sp>
      <p:pic>
        <p:nvPicPr>
          <p:cNvPr id="20" name="Picture 8" descr="问小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003" y="2492896"/>
            <a:ext cx="2165305" cy="223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23" name="云形标注 22"/>
          <p:cNvSpPr/>
          <p:nvPr/>
        </p:nvSpPr>
        <p:spPr>
          <a:xfrm>
            <a:off x="2483768" y="1233669"/>
            <a:ext cx="4537314" cy="2555371"/>
          </a:xfrm>
          <a:prstGeom prst="cloudCallout">
            <a:avLst>
              <a:gd name="adj1" fmla="val -60309"/>
              <a:gd name="adj2" fmla="val 35990"/>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solidFill>
                <a:srgbClr val="00B0F0"/>
              </a:solidFill>
            </a:endParaRPr>
          </a:p>
        </p:txBody>
      </p:sp>
      <p:sp>
        <p:nvSpPr>
          <p:cNvPr id="24" name="TextBox 23"/>
          <p:cNvSpPr txBox="1"/>
          <p:nvPr/>
        </p:nvSpPr>
        <p:spPr>
          <a:xfrm>
            <a:off x="2904499" y="1671084"/>
            <a:ext cx="4027132" cy="1908215"/>
          </a:xfrm>
          <a:prstGeom prst="rect">
            <a:avLst/>
          </a:prstGeom>
          <a:noFill/>
          <a:ln>
            <a:noFill/>
          </a:ln>
        </p:spPr>
        <p:txBody>
          <a:bodyPr>
            <a:spAutoFit/>
          </a:bodyPr>
          <a:lstStyle/>
          <a:p>
            <a:pPr eaLnBrk="0" hangingPunct="0">
              <a:defRPr/>
            </a:pPr>
            <a:r>
              <a:rPr lang="zh-CN" altLang="en-US" b="1" dirty="0">
                <a:latin typeface="Times New Roman" panose="02020603050405020304" pitchFamily="18" charset="0"/>
                <a:ea typeface="+mj-ea"/>
                <a:cs typeface="Times New Roman" panose="02020603050405020304" pitchFamily="18" charset="0"/>
              </a:rPr>
              <a:t>在程序</a:t>
            </a:r>
            <a:r>
              <a:rPr lang="zh-CN" altLang="en-US" b="1">
                <a:latin typeface="Times New Roman" panose="02020603050405020304" pitchFamily="18" charset="0"/>
                <a:ea typeface="+mj-ea"/>
                <a:cs typeface="Times New Roman" panose="02020603050405020304" pitchFamily="18" charset="0"/>
              </a:rPr>
              <a:t>中，</a:t>
            </a:r>
            <a:r>
              <a:rPr lang="en-US" altLang="zh-CN" b="1">
                <a:latin typeface="Times New Roman" panose="02020603050405020304" pitchFamily="18" charset="0"/>
                <a:ea typeface="+mj-ea"/>
                <a:cs typeface="Times New Roman" panose="02020603050405020304" pitchFamily="18" charset="0"/>
              </a:rPr>
              <a:t>Web</a:t>
            </a:r>
            <a:r>
              <a:rPr lang="zh-CN" altLang="en-US" b="1">
                <a:latin typeface="Times New Roman" panose="02020603050405020304" pitchFamily="18" charset="0"/>
                <a:ea typeface="+mj-ea"/>
                <a:cs typeface="Times New Roman" panose="02020603050405020304" pitchFamily="18" charset="0"/>
              </a:rPr>
              <a:t>服务器无法判断当前客户端是否已经离开或关闭，还会保留与之对应的</a:t>
            </a:r>
            <a:r>
              <a:rPr lang="en-US" altLang="zh-CN" b="1">
                <a:latin typeface="Times New Roman" panose="02020603050405020304" pitchFamily="18" charset="0"/>
                <a:ea typeface="+mj-ea"/>
                <a:cs typeface="Times New Roman" panose="02020603050405020304" pitchFamily="18" charset="0"/>
              </a:rPr>
              <a:t>Session</a:t>
            </a:r>
            <a:r>
              <a:rPr lang="zh-CN" altLang="en-US" b="1">
                <a:latin typeface="Times New Roman" panose="02020603050405020304" pitchFamily="18" charset="0"/>
                <a:ea typeface="+mj-ea"/>
                <a:cs typeface="Times New Roman" panose="02020603050405020304" pitchFamily="18" charset="0"/>
              </a:rPr>
              <a:t>对象。</a:t>
            </a:r>
            <a:endParaRPr lang="en-US" altLang="zh-CN" b="1">
              <a:latin typeface="Times New Roman" panose="02020603050405020304" pitchFamily="18" charset="0"/>
              <a:ea typeface="+mj-ea"/>
              <a:cs typeface="Times New Roman" panose="02020603050405020304" pitchFamily="18" charset="0"/>
            </a:endParaRPr>
          </a:p>
          <a:p>
            <a:pPr eaLnBrk="0" hangingPunct="0">
              <a:defRPr/>
            </a:pPr>
            <a:r>
              <a:rPr lang="en-US" altLang="zh-CN" sz="2800" b="1">
                <a:solidFill>
                  <a:srgbClr val="FFFF00"/>
                </a:solidFill>
                <a:latin typeface="Times New Roman" panose="02020603050405020304" pitchFamily="18" charset="0"/>
                <a:ea typeface="+mj-ea"/>
                <a:cs typeface="Times New Roman" panose="02020603050405020304" pitchFamily="18" charset="0"/>
              </a:rPr>
              <a:t>But</a:t>
            </a:r>
            <a:r>
              <a:rPr lang="zh-CN" altLang="en-US" sz="2800" b="1">
                <a:solidFill>
                  <a:srgbClr val="FFFF00"/>
                </a:solidFill>
                <a:latin typeface="Times New Roman" panose="02020603050405020304" pitchFamily="18" charset="0"/>
                <a:ea typeface="+mj-ea"/>
                <a:cs typeface="Times New Roman" panose="02020603050405020304" pitchFamily="18" charset="0"/>
              </a:rPr>
              <a:t>，</a:t>
            </a:r>
            <a:r>
              <a:rPr lang="en-US" altLang="zh-CN" b="1">
                <a:latin typeface="Times New Roman" panose="02020603050405020304" pitchFamily="18" charset="0"/>
                <a:ea typeface="+mj-ea"/>
                <a:cs typeface="Times New Roman" panose="02020603050405020304" pitchFamily="18" charset="0"/>
              </a:rPr>
              <a:t>Session</a:t>
            </a:r>
            <a:r>
              <a:rPr lang="zh-CN" altLang="en-US" b="1">
                <a:latin typeface="Times New Roman" panose="02020603050405020304" pitchFamily="18" charset="0"/>
                <a:ea typeface="+mj-ea"/>
                <a:cs typeface="Times New Roman" panose="02020603050405020304" pitchFamily="18" charset="0"/>
              </a:rPr>
              <a:t>对象还会占用内存，导致</a:t>
            </a:r>
            <a:r>
              <a:rPr lang="en-US" altLang="zh-CN" b="1">
                <a:latin typeface="Times New Roman" panose="02020603050405020304" pitchFamily="18" charset="0"/>
                <a:ea typeface="+mj-ea"/>
                <a:cs typeface="Times New Roman" panose="02020603050405020304" pitchFamily="18" charset="0"/>
              </a:rPr>
              <a:t>Web</a:t>
            </a:r>
            <a:r>
              <a:rPr lang="zh-CN" altLang="en-US" b="1">
                <a:latin typeface="Times New Roman" panose="02020603050405020304" pitchFamily="18" charset="0"/>
                <a:ea typeface="+mj-ea"/>
                <a:cs typeface="Times New Roman" panose="02020603050405020304" pitchFamily="18" charset="0"/>
              </a:rPr>
              <a:t>服务器崩溃怎么办？</a:t>
            </a:r>
            <a:endParaRPr lang="en-US" altLang="zh-CN" b="1">
              <a:latin typeface="Times New Roman" panose="02020603050405020304" pitchFamily="18" charset="0"/>
              <a:ea typeface="+mj-ea"/>
              <a:cs typeface="Times New Roman" panose="02020603050405020304" pitchFamily="18" charset="0"/>
            </a:endParaRPr>
          </a:p>
          <a:p>
            <a:pPr eaLnBrk="0" hangingPunct="0">
              <a:defRPr/>
            </a:pPr>
            <a:endParaRPr lang="zh-CN" altLang="en-US" b="1" dirty="0">
              <a:solidFill>
                <a:schemeClr val="bg1"/>
              </a:solidFill>
              <a:latin typeface="+mj-ea"/>
              <a:ea typeface="+mj-ea"/>
            </a:endParaRPr>
          </a:p>
        </p:txBody>
      </p:sp>
      <p:sp>
        <p:nvSpPr>
          <p:cNvPr id="25" name="TextBox 24"/>
          <p:cNvSpPr txBox="1"/>
          <p:nvPr/>
        </p:nvSpPr>
        <p:spPr bwMode="auto">
          <a:xfrm>
            <a:off x="2195736" y="3645024"/>
            <a:ext cx="6515101" cy="2401888"/>
          </a:xfrm>
          <a:prstGeom prst="rect">
            <a:avLst/>
          </a:prstGeom>
          <a:noFill/>
        </p:spPr>
        <p:txBody>
          <a:bodyPr>
            <a:spAutoFit/>
          </a:bodyPr>
          <a:lstStyle/>
          <a:p>
            <a:pPr eaLnBrk="0" hangingPunct="0">
              <a:lnSpc>
                <a:spcPct val="150000"/>
              </a:lnSpc>
              <a:defRPr/>
            </a:pPr>
            <a:r>
              <a:rPr lang="en-US" altLang="zh-CN" sz="2000" b="1" dirty="0">
                <a:solidFill>
                  <a:srgbClr val="0066A1"/>
                </a:solidFill>
                <a:latin typeface="Times New Roman" panose="02020603050405020304" pitchFamily="18" charset="0"/>
                <a:cs typeface="Times New Roman" panose="02020603050405020304" pitchFamily="18" charset="0"/>
              </a:rPr>
              <a:t>Web</a:t>
            </a:r>
            <a:r>
              <a:rPr lang="zh-CN" altLang="en-US" sz="2000" b="1" dirty="0">
                <a:solidFill>
                  <a:srgbClr val="0066A1"/>
                </a:solidFill>
                <a:latin typeface="Times New Roman" panose="02020603050405020304" pitchFamily="18" charset="0"/>
                <a:cs typeface="Times New Roman" panose="02020603050405020304" pitchFamily="18" charset="0"/>
              </a:rPr>
              <a:t>服务器采用了</a:t>
            </a:r>
            <a:r>
              <a:rPr lang="zh-CN" altLang="en-US" sz="2800" b="1" dirty="0">
                <a:solidFill>
                  <a:srgbClr val="FF0000"/>
                </a:solidFill>
                <a:latin typeface="Times New Roman" panose="02020603050405020304" pitchFamily="18" charset="0"/>
                <a:cs typeface="Times New Roman" panose="02020603050405020304" pitchFamily="18" charset="0"/>
              </a:rPr>
              <a:t>超时管理</a:t>
            </a:r>
            <a:r>
              <a:rPr lang="zh-CN" altLang="en-US" sz="2000" b="1" dirty="0">
                <a:solidFill>
                  <a:srgbClr val="0066A1"/>
                </a:solidFill>
                <a:latin typeface="Times New Roman" panose="02020603050405020304" pitchFamily="18" charset="0"/>
                <a:cs typeface="Times New Roman" panose="02020603050405020304" pitchFamily="18" charset="0"/>
              </a:rPr>
              <a:t>来判断客户端是否存在！</a:t>
            </a:r>
            <a:endParaRPr lang="en-US" altLang="zh-CN" sz="2000" b="1" dirty="0">
              <a:solidFill>
                <a:srgbClr val="0066A1"/>
              </a:solidFill>
              <a:latin typeface="Times New Roman" panose="02020603050405020304" pitchFamily="18" charset="0"/>
              <a:cs typeface="Times New Roman" panose="02020603050405020304" pitchFamily="18" charset="0"/>
            </a:endParaRPr>
          </a:p>
          <a:p>
            <a:pPr eaLnBrk="0" hangingPunct="0">
              <a:lnSpc>
                <a:spcPct val="150000"/>
              </a:lnSpc>
              <a:defRPr/>
            </a:pPr>
            <a:r>
              <a:rPr lang="zh-CN" altLang="en-US" dirty="0">
                <a:latin typeface="Times New Roman" panose="02020603050405020304" pitchFamily="18" charset="0"/>
                <a:cs typeface="Times New Roman" panose="02020603050405020304" pitchFamily="18" charset="0"/>
              </a:rPr>
              <a:t>在一定时间内，如果某个客户端一直没有请求访问，那么，</a:t>
            </a:r>
            <a:r>
              <a:rPr lang="en-US" altLang="zh-CN" dirty="0">
                <a:latin typeface="Times New Roman" panose="02020603050405020304" pitchFamily="18" charset="0"/>
                <a:cs typeface="Times New Roman" panose="02020603050405020304" pitchFamily="18" charset="0"/>
              </a:rPr>
              <a:t>Web</a:t>
            </a:r>
            <a:r>
              <a:rPr lang="zh-CN" altLang="en-US" dirty="0">
                <a:latin typeface="Times New Roman" panose="02020603050405020304" pitchFamily="18" charset="0"/>
                <a:cs typeface="Times New Roman" panose="02020603050405020304" pitchFamily="18" charset="0"/>
              </a:rPr>
              <a:t>服务器会认为客户端已经结束请求，将对应的</a:t>
            </a:r>
            <a:r>
              <a:rPr lang="en-US" altLang="zh-CN" dirty="0">
                <a:latin typeface="Times New Roman" panose="02020603050405020304" pitchFamily="18" charset="0"/>
                <a:cs typeface="Times New Roman" panose="02020603050405020304" pitchFamily="18" charset="0"/>
              </a:rPr>
              <a:t>Session</a:t>
            </a:r>
            <a:r>
              <a:rPr lang="zh-CN" altLang="en-US" dirty="0">
                <a:latin typeface="Times New Roman" panose="02020603050405020304" pitchFamily="18" charset="0"/>
                <a:cs typeface="Times New Roman" panose="02020603050405020304" pitchFamily="18" charset="0"/>
              </a:rPr>
              <a:t>对象变成垃圾对象，并进行清除。反之，</a:t>
            </a:r>
            <a:r>
              <a:rPr lang="en-US" altLang="zh-CN" dirty="0">
                <a:latin typeface="Times New Roman" panose="02020603050405020304" pitchFamily="18" charset="0"/>
                <a:cs typeface="Times New Roman" panose="02020603050405020304" pitchFamily="18" charset="0"/>
              </a:rPr>
              <a:t>Web</a:t>
            </a:r>
            <a:r>
              <a:rPr lang="zh-CN" altLang="en-US" dirty="0">
                <a:latin typeface="Times New Roman" panose="02020603050405020304" pitchFamily="18" charset="0"/>
                <a:cs typeface="Times New Roman" panose="02020603050405020304" pitchFamily="18" charset="0"/>
              </a:rPr>
              <a:t>服务器会创建一个新的</a:t>
            </a:r>
            <a:r>
              <a:rPr lang="en-US" altLang="zh-CN" dirty="0">
                <a:latin typeface="Times New Roman" panose="02020603050405020304" pitchFamily="18" charset="0"/>
                <a:cs typeface="Times New Roman" panose="02020603050405020304" pitchFamily="18" charset="0"/>
              </a:rPr>
              <a:t>Session</a:t>
            </a:r>
            <a:r>
              <a:rPr lang="zh-CN" altLang="en-US" dirty="0">
                <a:latin typeface="Times New Roman" panose="02020603050405020304" pitchFamily="18" charset="0"/>
                <a:cs typeface="Times New Roman" panose="02020603050405020304" pitchFamily="18" charset="0"/>
              </a:rPr>
              <a:t>对象，并分配一个新的</a:t>
            </a: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属性。</a:t>
            </a:r>
            <a:endParaRPr lang="en-US" altLang="zh-CN" dirty="0">
              <a:latin typeface="Times New Roman" panose="02020603050405020304" pitchFamily="18" charset="0"/>
              <a:cs typeface="Times New Roman" panose="02020603050405020304" pitchFamily="18" charset="0"/>
            </a:endParaRPr>
          </a:p>
        </p:txBody>
      </p:sp>
      <p:sp>
        <p:nvSpPr>
          <p:cNvPr id="8"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5.3.3  Session</a:t>
            </a:r>
            <a:r>
              <a:rPr lang="zh-CN" altLang="en-US" sz="3200" b="1" dirty="0">
                <a:solidFill>
                  <a:srgbClr val="006BA9"/>
                </a:solidFill>
                <a:latin typeface="微软雅黑" pitchFamily="34" charset="-122"/>
                <a:ea typeface="微软雅黑" pitchFamily="34" charset="-122"/>
                <a:sym typeface="宋体" charset="-122"/>
              </a:rPr>
              <a:t>超时管理</a:t>
            </a:r>
          </a:p>
        </p:txBody>
      </p:sp>
    </p:spTree>
    <p:custDataLst>
      <p:tags r:id="rId1"/>
    </p:custDataLst>
    <p:extLst>
      <p:ext uri="{BB962C8B-B14F-4D97-AF65-F5344CB8AC3E}">
        <p14:creationId xmlns:p14="http://schemas.microsoft.com/office/powerpoint/2010/main" val="18401194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0"/>
                                        </p:tgtEl>
                                      </p:cBhvr>
                                    </p:animEffect>
                                    <p:animScale>
                                      <p:cBhvr>
                                        <p:cTn id="7" dur="250" autoRev="1" fill="hold"/>
                                        <p:tgtEl>
                                          <p:spTgt spid="20"/>
                                        </p:tgtEl>
                                      </p:cBhvr>
                                      <p:by x="105000" y="105000"/>
                                    </p:animScale>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left)">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6"/>
          <p:cNvSpPr>
            <a:spLocks noChangeArrowheads="1"/>
          </p:cNvSpPr>
          <p:nvPr/>
        </p:nvSpPr>
        <p:spPr bwMode="auto">
          <a:xfrm>
            <a:off x="563563" y="3140968"/>
            <a:ext cx="8042275" cy="98315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p>
            <a:pPr marL="742950" lvl="1" indent="-285750"/>
            <a:r>
              <a:rPr lang="en-US" altLang="zh-CN" dirty="0" smtClean="0"/>
              <a:t>&lt;session-</a:t>
            </a:r>
            <a:r>
              <a:rPr lang="en-US" altLang="zh-CN" dirty="0" err="1" smtClean="0"/>
              <a:t>config</a:t>
            </a:r>
            <a:r>
              <a:rPr lang="en-US" altLang="zh-CN" dirty="0" smtClean="0"/>
              <a:t>&gt;</a:t>
            </a:r>
          </a:p>
          <a:p>
            <a:pPr marL="742950" lvl="1" indent="-285750"/>
            <a:r>
              <a:rPr lang="en-US" altLang="zh-CN" dirty="0" smtClean="0"/>
              <a:t>	&lt;session-timeout&gt;30&lt;/session-timeout&gt;</a:t>
            </a:r>
            <a:endParaRPr lang="en-US" altLang="zh-CN" dirty="0"/>
          </a:p>
          <a:p>
            <a:pPr marL="742950" lvl="1" indent="-285750"/>
            <a:r>
              <a:rPr lang="en-US" altLang="zh-CN" dirty="0" smtClean="0"/>
              <a:t>&lt;/session-</a:t>
            </a:r>
            <a:r>
              <a:rPr lang="en-US" altLang="zh-CN" dirty="0" err="1" smtClean="0"/>
              <a:t>config</a:t>
            </a:r>
            <a:r>
              <a:rPr lang="en-US" altLang="zh-CN" dirty="0" smtClean="0"/>
              <a:t>&gt;</a:t>
            </a:r>
          </a:p>
          <a:p>
            <a:pPr marL="742950" lvl="1" indent="-285750"/>
            <a:endParaRPr lang="zh-CN" altLang="zh-CN" dirty="0"/>
          </a:p>
        </p:txBody>
      </p:sp>
      <p:sp>
        <p:nvSpPr>
          <p:cNvPr id="33" name="矩形 1"/>
          <p:cNvSpPr>
            <a:spLocks noChangeArrowheads="1"/>
          </p:cNvSpPr>
          <p:nvPr/>
        </p:nvSpPr>
        <p:spPr bwMode="auto">
          <a:xfrm>
            <a:off x="576263" y="1637754"/>
            <a:ext cx="8001000"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eaLnBrk="0" hangingPunct="0">
              <a:lnSpc>
                <a:spcPct val="150000"/>
              </a:lnSpc>
              <a:buFont typeface="Arial" pitchFamily="34" charset="0"/>
              <a:buChar char="−"/>
            </a:pPr>
            <a:r>
              <a:rPr lang="zh-CN" altLang="zh-CN" dirty="0">
                <a:latin typeface="Times New Roman" panose="02020603050405020304" pitchFamily="18" charset="0"/>
                <a:cs typeface="Times New Roman" panose="02020603050405020304" pitchFamily="18" charset="0"/>
              </a:rPr>
              <a:t>在会话过程中，会话的有效时间可以在</a:t>
            </a:r>
            <a:r>
              <a:rPr lang="en-US" altLang="zh-CN" dirty="0">
                <a:solidFill>
                  <a:srgbClr val="0066A1"/>
                </a:solidFill>
                <a:latin typeface="Times New Roman" panose="02020603050405020304" pitchFamily="18" charset="0"/>
                <a:cs typeface="Times New Roman" panose="02020603050405020304" pitchFamily="18" charset="0"/>
              </a:rPr>
              <a:t>web.xml</a:t>
            </a:r>
            <a:r>
              <a:rPr lang="zh-CN" altLang="zh-CN" dirty="0">
                <a:solidFill>
                  <a:srgbClr val="0066A1"/>
                </a:solidFill>
                <a:latin typeface="Times New Roman" panose="02020603050405020304" pitchFamily="18" charset="0"/>
                <a:cs typeface="Times New Roman" panose="02020603050405020304" pitchFamily="18" charset="0"/>
              </a:rPr>
              <a:t>文件中设置</a:t>
            </a:r>
            <a:r>
              <a:rPr lang="zh-CN" altLang="zh-CN" dirty="0">
                <a:latin typeface="Times New Roman" panose="02020603050405020304" pitchFamily="18" charset="0"/>
                <a:cs typeface="Times New Roman" panose="02020603050405020304" pitchFamily="18" charset="0"/>
              </a:rPr>
              <a:t>，其默认值由</a:t>
            </a:r>
            <a:r>
              <a:rPr lang="en-US" altLang="zh-CN" dirty="0">
                <a:latin typeface="Times New Roman" panose="02020603050405020304" pitchFamily="18" charset="0"/>
                <a:cs typeface="Times New Roman" panose="02020603050405020304" pitchFamily="18" charset="0"/>
              </a:rPr>
              <a:t>Servlet</a:t>
            </a:r>
            <a:r>
              <a:rPr lang="zh-CN" altLang="zh-CN" dirty="0">
                <a:latin typeface="Times New Roman" panose="02020603050405020304" pitchFamily="18" charset="0"/>
                <a:cs typeface="Times New Roman" panose="02020603050405020304" pitchFamily="18" charset="0"/>
              </a:rPr>
              <a:t>容器定义。在</a:t>
            </a:r>
            <a:r>
              <a:rPr lang="en-US" altLang="zh-CN" dirty="0">
                <a:latin typeface="Times New Roman" panose="02020603050405020304" pitchFamily="18" charset="0"/>
                <a:cs typeface="Times New Roman" panose="02020603050405020304" pitchFamily="18" charset="0"/>
              </a:rPr>
              <a:t>&lt;tomcat</a:t>
            </a:r>
            <a:r>
              <a:rPr lang="zh-CN" altLang="zh-CN" dirty="0">
                <a:latin typeface="Times New Roman" panose="02020603050405020304" pitchFamily="18" charset="0"/>
                <a:cs typeface="Times New Roman" panose="02020603050405020304" pitchFamily="18" charset="0"/>
              </a:rPr>
              <a:t>安装目录</a:t>
            </a:r>
            <a:r>
              <a:rPr lang="en-US" altLang="zh-CN" dirty="0">
                <a:latin typeface="Times New Roman" panose="02020603050405020304" pitchFamily="18" charset="0"/>
                <a:cs typeface="Times New Roman" panose="02020603050405020304" pitchFamily="18" charset="0"/>
              </a:rPr>
              <a:t>&gt;\</a:t>
            </a:r>
            <a:r>
              <a:rPr lang="en-US" altLang="zh-CN" dirty="0" err="1">
                <a:latin typeface="Times New Roman" panose="02020603050405020304" pitchFamily="18" charset="0"/>
                <a:cs typeface="Times New Roman" panose="02020603050405020304" pitchFamily="18" charset="0"/>
              </a:rPr>
              <a:t>conf</a:t>
            </a:r>
            <a:r>
              <a:rPr lang="en-US" altLang="zh-CN" dirty="0">
                <a:latin typeface="Times New Roman" panose="02020603050405020304" pitchFamily="18" charset="0"/>
                <a:cs typeface="Times New Roman" panose="02020603050405020304" pitchFamily="18" charset="0"/>
              </a:rPr>
              <a:t>\web.xml</a:t>
            </a:r>
            <a:r>
              <a:rPr lang="zh-CN" altLang="zh-CN" dirty="0">
                <a:latin typeface="Times New Roman" panose="02020603050405020304" pitchFamily="18" charset="0"/>
                <a:cs typeface="Times New Roman" panose="02020603050405020304" pitchFamily="18" charset="0"/>
              </a:rPr>
              <a:t>文件中，可以找到如下一段配置信息：</a:t>
            </a:r>
            <a:endParaRPr lang="en-US" altLang="zh-CN" dirty="0">
              <a:latin typeface="Times New Roman" panose="02020603050405020304" pitchFamily="18" charset="0"/>
              <a:cs typeface="Times New Roman" panose="02020603050405020304" pitchFamily="18" charset="0"/>
            </a:endParaRPr>
          </a:p>
          <a:p>
            <a:pPr marL="285750" indent="-285750" eaLnBrk="0" hangingPunct="0">
              <a:lnSpc>
                <a:spcPct val="200000"/>
              </a:lnSpc>
              <a:buFont typeface="Arial" pitchFamily="34" charset="0"/>
              <a:buChar char="−"/>
            </a:pPr>
            <a:endParaRPr lang="en-US" altLang="zh-CN" dirty="0"/>
          </a:p>
          <a:p>
            <a:pPr marL="285750" indent="-285750" eaLnBrk="0" hangingPunct="0">
              <a:lnSpc>
                <a:spcPct val="200000"/>
              </a:lnSpc>
              <a:buFont typeface="Arial" pitchFamily="34" charset="0"/>
              <a:buChar char="−"/>
            </a:pPr>
            <a:endParaRPr lang="en-US" altLang="zh-CN" dirty="0"/>
          </a:p>
          <a:p>
            <a:pPr marL="285750" indent="-285750" eaLnBrk="0" hangingPunct="0">
              <a:lnSpc>
                <a:spcPct val="200000"/>
              </a:lnSpc>
              <a:buFont typeface="Arial" pitchFamily="34" charset="0"/>
              <a:buChar char="−"/>
            </a:pPr>
            <a:endParaRPr lang="zh-CN" altLang="en-US" dirty="0"/>
          </a:p>
        </p:txBody>
      </p:sp>
      <p:sp>
        <p:nvSpPr>
          <p:cNvPr id="35" name="TextBox 34"/>
          <p:cNvSpPr txBox="1">
            <a:spLocks noChangeArrowheads="1"/>
          </p:cNvSpPr>
          <p:nvPr/>
        </p:nvSpPr>
        <p:spPr bwMode="auto">
          <a:xfrm>
            <a:off x="2422524" y="4577085"/>
            <a:ext cx="36616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b="1">
                <a:solidFill>
                  <a:srgbClr val="FF0000"/>
                </a:solidFill>
              </a:rPr>
              <a:t>超时的时间值，单位为</a:t>
            </a:r>
            <a:r>
              <a:rPr lang="zh-CN" altLang="en-US" b="1" smtClean="0">
                <a:solidFill>
                  <a:srgbClr val="FF0000"/>
                </a:solidFill>
              </a:rPr>
              <a:t>分钟，</a:t>
            </a:r>
            <a:r>
              <a:rPr lang="en-US" altLang="zh-CN" b="1" smtClean="0">
                <a:solidFill>
                  <a:srgbClr val="FF0000"/>
                </a:solidFill>
                <a:latin typeface="Times New Roman" panose="02020603050405020304" pitchFamily="18" charset="0"/>
                <a:cs typeface="Times New Roman" panose="02020603050405020304" pitchFamily="18" charset="0"/>
              </a:rPr>
              <a:t>Tomcat</a:t>
            </a:r>
            <a:r>
              <a:rPr lang="zh-CN" altLang="en-US" b="1" smtClean="0">
                <a:solidFill>
                  <a:srgbClr val="FF0000"/>
                </a:solidFill>
              </a:rPr>
              <a:t>的默认超时间隔为</a:t>
            </a:r>
            <a:r>
              <a:rPr lang="en-US" altLang="zh-CN" b="1" smtClean="0">
                <a:solidFill>
                  <a:srgbClr val="FF0000"/>
                </a:solidFill>
              </a:rPr>
              <a:t>30</a:t>
            </a:r>
            <a:r>
              <a:rPr lang="zh-CN" altLang="en-US" b="1" smtClean="0">
                <a:solidFill>
                  <a:srgbClr val="FF0000"/>
                </a:solidFill>
              </a:rPr>
              <a:t>分钟</a:t>
            </a:r>
            <a:endParaRPr lang="en-US" altLang="zh-CN" b="1">
              <a:solidFill>
                <a:srgbClr val="FF0000"/>
              </a:solidFill>
            </a:endParaRPr>
          </a:p>
        </p:txBody>
      </p:sp>
      <p:sp>
        <p:nvSpPr>
          <p:cNvPr id="38" name="椭圆 37"/>
          <p:cNvSpPr>
            <a:spLocks noChangeArrowheads="1"/>
          </p:cNvSpPr>
          <p:nvPr/>
        </p:nvSpPr>
        <p:spPr bwMode="auto">
          <a:xfrm>
            <a:off x="3059832" y="3429000"/>
            <a:ext cx="360040" cy="372416"/>
          </a:xfrm>
          <a:prstGeom prst="ellipse">
            <a:avLst/>
          </a:prstGeom>
          <a:noFill/>
          <a:ln w="2857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pPr>
            <a:endParaRPr lang="zh-CN" altLang="en-US"/>
          </a:p>
        </p:txBody>
      </p:sp>
      <p:cxnSp>
        <p:nvCxnSpPr>
          <p:cNvPr id="39" name="直接箭头连接符 38"/>
          <p:cNvCxnSpPr>
            <a:cxnSpLocks noChangeShapeType="1"/>
            <a:stCxn id="38" idx="4"/>
          </p:cNvCxnSpPr>
          <p:nvPr/>
        </p:nvCxnSpPr>
        <p:spPr bwMode="auto">
          <a:xfrm>
            <a:off x="3239852" y="3801416"/>
            <a:ext cx="0" cy="749946"/>
          </a:xfrm>
          <a:prstGeom prst="straightConnector1">
            <a:avLst/>
          </a:prstGeom>
          <a:noFill/>
          <a:ln w="28575"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a:xfrm>
            <a:off x="1095746" y="5395813"/>
            <a:ext cx="7580709" cy="6254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eaLnBrk="0" hangingPunct="0">
              <a:lnSpc>
                <a:spcPct val="90000"/>
              </a:lnSpc>
              <a:defRPr/>
            </a:pPr>
            <a:r>
              <a:rPr lang="zh-CN" altLang="en-US" sz="2200" b="1" smtClean="0">
                <a:solidFill>
                  <a:srgbClr val="FF0000"/>
                </a:solidFill>
                <a:latin typeface="微软雅黑" panose="020B0503020204020204" pitchFamily="34" charset="-122"/>
                <a:ea typeface="微软雅黑" panose="020B0503020204020204" pitchFamily="34" charset="-122"/>
              </a:rPr>
              <a:t>注意</a:t>
            </a:r>
            <a:r>
              <a:rPr lang="zh-CN" altLang="en-US" sz="2200">
                <a:solidFill>
                  <a:schemeClr val="tx1"/>
                </a:solidFill>
              </a:rPr>
              <a:t>：</a:t>
            </a:r>
            <a:r>
              <a:rPr lang="zh-CN" altLang="zh-CN" sz="1600" smtClean="0">
                <a:solidFill>
                  <a:schemeClr val="tx1"/>
                </a:solidFill>
                <a:latin typeface="Times New Roman" panose="02020603050405020304" pitchFamily="18" charset="0"/>
                <a:cs typeface="Times New Roman" panose="02020603050405020304" pitchFamily="18" charset="0"/>
              </a:rPr>
              <a:t>如果</a:t>
            </a:r>
            <a:r>
              <a:rPr lang="zh-CN" altLang="zh-CN" sz="1600">
                <a:solidFill>
                  <a:schemeClr val="tx1"/>
                </a:solidFill>
                <a:latin typeface="Times New Roman" panose="02020603050405020304" pitchFamily="18" charset="0"/>
                <a:cs typeface="Times New Roman" panose="02020603050405020304" pitchFamily="18" charset="0"/>
              </a:rPr>
              <a:t>将</a:t>
            </a:r>
            <a:r>
              <a:rPr lang="en-US" altLang="zh-CN" sz="1600">
                <a:solidFill>
                  <a:schemeClr val="tx1"/>
                </a:solidFill>
                <a:latin typeface="Times New Roman" panose="02020603050405020304" pitchFamily="18" charset="0"/>
                <a:cs typeface="Times New Roman" panose="02020603050405020304" pitchFamily="18" charset="0"/>
              </a:rPr>
              <a:t>&lt;session-timeout&gt;</a:t>
            </a:r>
            <a:r>
              <a:rPr lang="zh-CN" altLang="zh-CN" sz="1600">
                <a:solidFill>
                  <a:schemeClr val="tx1"/>
                </a:solidFill>
                <a:latin typeface="Times New Roman" panose="02020603050405020304" pitchFamily="18" charset="0"/>
                <a:cs typeface="Times New Roman" panose="02020603050405020304" pitchFamily="18" charset="0"/>
              </a:rPr>
              <a:t>元素中的时间值设置成</a:t>
            </a:r>
            <a:r>
              <a:rPr lang="en-US" altLang="zh-CN" sz="1600">
                <a:solidFill>
                  <a:schemeClr val="tx1"/>
                </a:solidFill>
                <a:latin typeface="Times New Roman" panose="02020603050405020304" pitchFamily="18" charset="0"/>
                <a:cs typeface="Times New Roman" panose="02020603050405020304" pitchFamily="18" charset="0"/>
              </a:rPr>
              <a:t>0</a:t>
            </a:r>
            <a:r>
              <a:rPr lang="zh-CN" altLang="zh-CN" sz="1600">
                <a:solidFill>
                  <a:schemeClr val="tx1"/>
                </a:solidFill>
                <a:latin typeface="Times New Roman" panose="02020603050405020304" pitchFamily="18" charset="0"/>
                <a:cs typeface="Times New Roman" panose="02020603050405020304" pitchFamily="18" charset="0"/>
              </a:rPr>
              <a:t>或负数，则表示会话永不超时</a:t>
            </a:r>
            <a:r>
              <a:rPr lang="zh-CN" altLang="en-US" sz="1600">
                <a:solidFill>
                  <a:schemeClr val="tx1"/>
                </a:solidFill>
                <a:latin typeface="Times New Roman" panose="02020603050405020304" pitchFamily="18" charset="0"/>
                <a:cs typeface="Times New Roman" panose="02020603050405020304" pitchFamily="18" charset="0"/>
              </a:rPr>
              <a:t>！</a:t>
            </a:r>
            <a:endPar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Picture 2" descr="E:\白沙\设计文档\素材\灯泡.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135" y="5070375"/>
            <a:ext cx="763587"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5.3.3  Session</a:t>
            </a:r>
            <a:r>
              <a:rPr lang="zh-CN" altLang="en-US" sz="3200" b="1" dirty="0">
                <a:solidFill>
                  <a:srgbClr val="006BA9"/>
                </a:solidFill>
                <a:latin typeface="微软雅黑" pitchFamily="34" charset="-122"/>
                <a:ea typeface="微软雅黑" pitchFamily="34" charset="-122"/>
                <a:sym typeface="宋体" charset="-122"/>
              </a:rPr>
              <a:t>超时管理</a:t>
            </a:r>
          </a:p>
        </p:txBody>
      </p:sp>
    </p:spTree>
    <p:custDataLst>
      <p:tags r:id="rId1"/>
    </p:custDataLst>
    <p:extLst>
      <p:ext uri="{BB962C8B-B14F-4D97-AF65-F5344CB8AC3E}">
        <p14:creationId xmlns:p14="http://schemas.microsoft.com/office/powerpoint/2010/main" val="34266391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up)">
                                      <p:cBhvr>
                                        <p:cTn id="15" dur="500"/>
                                        <p:tgtEl>
                                          <p:spTgt spid="38"/>
                                        </p:tgtEl>
                                      </p:cBhvr>
                                    </p:animEffect>
                                  </p:childTnLst>
                                </p:cTn>
                              </p:par>
                              <p:par>
                                <p:cTn id="16" presetID="22" presetClass="entr" presetSubtype="1"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up)">
                                      <p:cBhvr>
                                        <p:cTn id="18" dur="500"/>
                                        <p:tgtEl>
                                          <p:spTgt spid="39"/>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up)">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3" grpId="0"/>
      <p:bldP spid="35" grpId="0"/>
      <p:bldP spid="38"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4005064"/>
            <a:ext cx="5472608"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1979548"/>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5.1    </a:t>
            </a:r>
            <a:r>
              <a:rPr lang="zh-CN" altLang="en-US" sz="2400">
                <a:solidFill>
                  <a:srgbClr val="7F7F7F"/>
                </a:solidFill>
                <a:latin typeface="Impact" pitchFamily="34" charset="0"/>
                <a:ea typeface="微软雅黑" pitchFamily="34" charset="-122"/>
              </a:rPr>
              <a:t>会话概述 </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097740" y="2723631"/>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5</a:t>
            </a:r>
            <a:r>
              <a:rPr lang="en-US" altLang="zh-CN" sz="2400" smtClean="0">
                <a:solidFill>
                  <a:srgbClr val="7F7F7F"/>
                </a:solidFill>
                <a:latin typeface="Impact" pitchFamily="34" charset="0"/>
                <a:ea typeface="微软雅黑" pitchFamily="34" charset="-122"/>
              </a:rPr>
              <a:t>.2</a:t>
            </a:r>
            <a:r>
              <a:rPr lang="en-US" altLang="zh-CN" sz="2400" smtClean="0">
                <a:solidFill>
                  <a:srgbClr val="CD1F06"/>
                </a:solidFill>
                <a:latin typeface="Impact" pitchFamily="34" charset="0"/>
                <a:ea typeface="微软雅黑" pitchFamily="34" charset="-122"/>
              </a:rPr>
              <a:t>    </a:t>
            </a:r>
            <a:r>
              <a:rPr lang="en-US" altLang="zh-CN" sz="2400">
                <a:solidFill>
                  <a:srgbClr val="7F7F7F"/>
                </a:solidFill>
                <a:latin typeface="Impact" pitchFamily="34" charset="0"/>
                <a:ea typeface="微软雅黑" pitchFamily="34" charset="-122"/>
              </a:rPr>
              <a:t>Cookie</a:t>
            </a:r>
            <a:r>
              <a:rPr lang="zh-CN" altLang="en-US" sz="2400">
                <a:solidFill>
                  <a:srgbClr val="7F7F7F"/>
                </a:solidFill>
                <a:latin typeface="Impact" pitchFamily="34" charset="0"/>
                <a:ea typeface="微软雅黑" pitchFamily="34" charset="-122"/>
              </a:rPr>
              <a:t>对象</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097740" y="3467714"/>
            <a:ext cx="3834300"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itchFamily="34" charset="0"/>
                <a:ea typeface="微软雅黑" pitchFamily="34" charset="-122"/>
              </a:rPr>
              <a:t>5.3    Session</a:t>
            </a:r>
            <a:r>
              <a:rPr lang="zh-CN" altLang="en-US" sz="2400" dirty="0">
                <a:solidFill>
                  <a:srgbClr val="7F7F7F"/>
                </a:solidFill>
                <a:latin typeface="Impact" pitchFamily="34" charset="0"/>
                <a:ea typeface="微软雅黑" pitchFamily="34" charset="-122"/>
              </a:rPr>
              <a:t>对象</a:t>
            </a:r>
          </a:p>
        </p:txBody>
      </p:sp>
      <p:sp>
        <p:nvSpPr>
          <p:cNvPr id="9" name="椭圆 8"/>
          <p:cNvSpPr/>
          <p:nvPr/>
        </p:nvSpPr>
        <p:spPr>
          <a:xfrm>
            <a:off x="5220072" y="1484784"/>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5182106" y="2264870"/>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8" name="TextBox 11"/>
          <p:cNvSpPr txBox="1"/>
          <p:nvPr/>
        </p:nvSpPr>
        <p:spPr>
          <a:xfrm>
            <a:off x="1097740" y="4139788"/>
            <a:ext cx="5346468" cy="369332"/>
          </a:xfrm>
          <a:prstGeom prst="rect">
            <a:avLst/>
          </a:prstGeom>
          <a:noFill/>
        </p:spPr>
        <p:txBody>
          <a:bodyPr vert="horz" wrap="square" lIns="0" tIns="0" rIns="0" bIns="0" rtlCol="0" anchor="ctr">
            <a:spAutoFit/>
          </a:bodyPr>
          <a:lstStyle/>
          <a:p>
            <a:r>
              <a:rPr lang="en-US" altLang="zh-CN" sz="2400" dirty="0">
                <a:solidFill>
                  <a:schemeClr val="bg1"/>
                </a:solidFill>
                <a:latin typeface="Impact" pitchFamily="34" charset="0"/>
                <a:ea typeface="微软雅黑" pitchFamily="34" charset="-122"/>
              </a:rPr>
              <a:t>5</a:t>
            </a:r>
            <a:r>
              <a:rPr lang="en-US" altLang="zh-CN" sz="2400" dirty="0" smtClean="0">
                <a:solidFill>
                  <a:schemeClr val="bg1"/>
                </a:solidFill>
                <a:latin typeface="Impact" pitchFamily="34" charset="0"/>
                <a:ea typeface="微软雅黑" pitchFamily="34" charset="-122"/>
              </a:rPr>
              <a:t>.4    </a:t>
            </a:r>
            <a:r>
              <a:rPr lang="zh-CN" altLang="en-US" sz="2400" dirty="0" smtClean="0">
                <a:solidFill>
                  <a:schemeClr val="bg1"/>
                </a:solidFill>
                <a:latin typeface="Impact" pitchFamily="34" charset="0"/>
                <a:ea typeface="微软雅黑" pitchFamily="34" charset="-122"/>
              </a:rPr>
              <a:t>阶段案例</a:t>
            </a:r>
            <a:endParaRPr lang="zh-CN" altLang="en-US" sz="2400" dirty="0">
              <a:solidFill>
                <a:schemeClr val="bg1"/>
              </a:solidFill>
              <a:latin typeface="Impact" pitchFamily="34" charset="0"/>
              <a:ea typeface="微软雅黑"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657532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smtClean="0">
                <a:solidFill>
                  <a:sysClr val="window" lastClr="FFFFFF"/>
                </a:solidFill>
                <a:latin typeface="Arial"/>
              </a:rPr>
              <a:t>具体实现步骤（</a:t>
            </a:r>
            <a:r>
              <a:rPr lang="zh-CN" altLang="en-US" b="1" kern="0" dirty="0">
                <a:solidFill>
                  <a:sysClr val="window" lastClr="FFFFFF"/>
                </a:solidFill>
                <a:latin typeface="Arial"/>
              </a:rPr>
              <a:t>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5-2】</a:t>
            </a:r>
            <a:r>
              <a:rPr lang="zh-CN" altLang="en-US" b="1" kern="0" smtClean="0">
                <a:solidFill>
                  <a:sysClr val="window" lastClr="FFFFFF"/>
                </a:solidFill>
                <a:latin typeface="Arial"/>
              </a:rPr>
              <a:t>）</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06896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创建封装图书信息类</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创建数据库模拟类</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r>
              <a:rPr lang="zh-CN" altLang="en-US" sz="1200" smtClean="0">
                <a:solidFill>
                  <a:prstClr val="black">
                    <a:lumMod val="65000"/>
                    <a:lumOff val="35000"/>
                  </a:prstClr>
                </a:solidFill>
                <a:latin typeface="微软雅黑" pitchFamily="34" charset="-122"/>
                <a:ea typeface="微软雅黑" pitchFamily="34" charset="-122"/>
              </a:rPr>
              <a:t>程序</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运行项目，查看结果</a:t>
            </a:r>
            <a:endParaRPr lang="en-US" altLang="zh-CN" sz="1200" dirty="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990652" y="2470759"/>
            <a:ext cx="2427268" cy="332399"/>
          </a:xfrm>
          <a:prstGeom prst="rect">
            <a:avLst/>
          </a:prstGeom>
        </p:spPr>
        <p:txBody>
          <a:bodyPr wrap="none">
            <a:spAutoFit/>
          </a:bodyPr>
          <a:lstStyle/>
          <a:p>
            <a:pPr>
              <a:lnSpc>
                <a:spcPct val="130000"/>
              </a:lnSpc>
              <a:spcAft>
                <a:spcPts val="300"/>
              </a:spcAft>
              <a:defRPr/>
            </a:pPr>
            <a:r>
              <a:rPr lang="zh-CN" altLang="en-US" sz="1200" smtClean="0">
                <a:solidFill>
                  <a:prstClr val="black">
                    <a:lumMod val="65000"/>
                    <a:lumOff val="35000"/>
                  </a:prstClr>
                </a:solidFill>
                <a:latin typeface="微软雅黑" pitchFamily="34" charset="-122"/>
                <a:ea typeface="微软雅黑" pitchFamily="34" charset="-122"/>
              </a:rPr>
              <a:t>学会使用</a:t>
            </a:r>
            <a:r>
              <a:rPr lang="en-US" altLang="zh-CN" sz="1200" smtClean="0">
                <a:solidFill>
                  <a:prstClr val="black">
                    <a:lumMod val="65000"/>
                    <a:lumOff val="35000"/>
                  </a:prstClr>
                </a:solidFill>
                <a:latin typeface="微软雅黑" pitchFamily="34" charset="-122"/>
                <a:ea typeface="微软雅黑" pitchFamily="34" charset="-122"/>
              </a:rPr>
              <a:t>Session</a:t>
            </a:r>
            <a:r>
              <a:rPr lang="zh-CN" altLang="en-US" sz="1200" smtClean="0">
                <a:solidFill>
                  <a:prstClr val="black">
                    <a:lumMod val="65000"/>
                    <a:lumOff val="35000"/>
                  </a:prstClr>
                </a:solidFill>
                <a:latin typeface="微软雅黑" pitchFamily="34" charset="-122"/>
                <a:ea typeface="微软雅黑" pitchFamily="34" charset="-122"/>
              </a:rPr>
              <a:t>对象实现购物车</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5-2】  </a:t>
            </a:r>
            <a:r>
              <a:rPr lang="zh-CN" altLang="en-US" sz="3200" b="1" dirty="0">
                <a:solidFill>
                  <a:srgbClr val="006BA9"/>
                </a:solidFill>
                <a:latin typeface="微软雅黑" pitchFamily="34" charset="-122"/>
                <a:ea typeface="微软雅黑" pitchFamily="34" charset="-122"/>
                <a:sym typeface="宋体" charset="-122"/>
              </a:rPr>
              <a:t>实现购物车</a:t>
            </a:r>
          </a:p>
        </p:txBody>
      </p:sp>
    </p:spTree>
    <p:custDataLst>
      <p:tags r:id="rId1"/>
    </p:custDataLst>
    <p:extLst>
      <p:ext uri="{BB962C8B-B14F-4D97-AF65-F5344CB8AC3E}">
        <p14:creationId xmlns:p14="http://schemas.microsoft.com/office/powerpoint/2010/main" val="3555458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395535" y="1772815"/>
            <a:ext cx="8280921" cy="45311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2" indent="-342900">
              <a:lnSpc>
                <a:spcPct val="150000"/>
              </a:lnSpc>
              <a:buFont typeface="Arial" pitchFamily="34" charset="0"/>
              <a:buChar char="−"/>
              <a:defRPr/>
            </a:pPr>
            <a:r>
              <a:rPr lang="zh-CN" altLang="en-US" sz="1800" dirty="0">
                <a:latin typeface="Times New Roman" panose="02020603050405020304" pitchFamily="18" charset="0"/>
                <a:cs typeface="Times New Roman" panose="02020603050405020304" pitchFamily="18" charset="0"/>
              </a:rPr>
              <a:t>服务器在传递</a:t>
            </a:r>
            <a:r>
              <a:rPr lang="en-US" altLang="zh-CN" sz="1800" dirty="0">
                <a:latin typeface="Times New Roman" panose="02020603050405020304" pitchFamily="18" charset="0"/>
                <a:cs typeface="Times New Roman" panose="02020603050405020304" pitchFamily="18" charset="0"/>
              </a:rPr>
              <a:t>Session</a:t>
            </a:r>
            <a:r>
              <a:rPr lang="zh-CN" altLang="en-US" sz="1800" dirty="0">
                <a:latin typeface="Times New Roman" panose="02020603050405020304" pitchFamily="18" charset="0"/>
                <a:cs typeface="Times New Roman" panose="02020603050405020304" pitchFamily="18" charset="0"/>
              </a:rPr>
              <a:t>对象的</a:t>
            </a:r>
            <a:r>
              <a:rPr lang="en-US" altLang="zh-CN" sz="1800" dirty="0">
                <a:latin typeface="Times New Roman" panose="02020603050405020304" pitchFamily="18" charset="0"/>
                <a:cs typeface="Times New Roman" panose="02020603050405020304" pitchFamily="18" charset="0"/>
              </a:rPr>
              <a:t>ID</a:t>
            </a:r>
            <a:r>
              <a:rPr lang="zh-CN" altLang="en-US" sz="1800" dirty="0">
                <a:latin typeface="Times New Roman" panose="02020603050405020304" pitchFamily="18" charset="0"/>
                <a:cs typeface="Times New Roman" panose="02020603050405020304" pitchFamily="18" charset="0"/>
              </a:rPr>
              <a:t>属性时，是以</a:t>
            </a:r>
            <a:r>
              <a:rPr lang="en-US" altLang="zh-CN" sz="1800" dirty="0">
                <a:latin typeface="Times New Roman" panose="02020603050405020304" pitchFamily="18" charset="0"/>
                <a:cs typeface="Times New Roman" panose="02020603050405020304" pitchFamily="18" charset="0"/>
              </a:rPr>
              <a:t>Cookie</a:t>
            </a:r>
            <a:r>
              <a:rPr lang="zh-CN" altLang="en-US" sz="1800" dirty="0">
                <a:latin typeface="Times New Roman" panose="02020603050405020304" pitchFamily="18" charset="0"/>
                <a:cs typeface="Times New Roman" panose="02020603050405020304" pitchFamily="18" charset="0"/>
              </a:rPr>
              <a:t>的形式传递给浏览器的。但是，如果浏览器的</a:t>
            </a:r>
            <a:r>
              <a:rPr lang="en-US" altLang="zh-CN" sz="1800" dirty="0">
                <a:latin typeface="Times New Roman" panose="02020603050405020304" pitchFamily="18" charset="0"/>
                <a:cs typeface="Times New Roman" panose="02020603050405020304" pitchFamily="18" charset="0"/>
              </a:rPr>
              <a:t>Cookie</a:t>
            </a:r>
            <a:r>
              <a:rPr lang="zh-CN" altLang="en-US" sz="1800" dirty="0">
                <a:latin typeface="Times New Roman" panose="02020603050405020304" pitchFamily="18" charset="0"/>
                <a:cs typeface="Times New Roman" panose="02020603050405020304" pitchFamily="18" charset="0"/>
              </a:rPr>
              <a:t>功能被禁止，那么服务器端是无法通过</a:t>
            </a:r>
            <a:r>
              <a:rPr lang="en-US" altLang="zh-CN" sz="1800" dirty="0">
                <a:latin typeface="Times New Roman" panose="02020603050405020304" pitchFamily="18" charset="0"/>
                <a:cs typeface="Times New Roman" panose="02020603050405020304" pitchFamily="18" charset="0"/>
              </a:rPr>
              <a:t>Session</a:t>
            </a:r>
            <a:r>
              <a:rPr lang="zh-CN" altLang="en-US" sz="1800" dirty="0">
                <a:latin typeface="Times New Roman" panose="02020603050405020304" pitchFamily="18" charset="0"/>
                <a:cs typeface="Times New Roman" panose="02020603050405020304" pitchFamily="18" charset="0"/>
              </a:rPr>
              <a:t>保存用户会话信息的。考虑到浏览器可能不支持</a:t>
            </a:r>
            <a:r>
              <a:rPr lang="en-US" altLang="zh-CN" sz="1800" dirty="0">
                <a:latin typeface="Times New Roman" panose="02020603050405020304" pitchFamily="18" charset="0"/>
                <a:cs typeface="Times New Roman" panose="02020603050405020304" pitchFamily="18" charset="0"/>
              </a:rPr>
              <a:t>Cookie</a:t>
            </a:r>
            <a:r>
              <a:rPr lang="zh-CN" altLang="en-US" sz="1800" dirty="0">
                <a:latin typeface="Times New Roman" panose="02020603050405020304" pitchFamily="18" charset="0"/>
                <a:cs typeface="Times New Roman" panose="02020603050405020304" pitchFamily="18" charset="0"/>
              </a:rPr>
              <a:t>的情况，</a:t>
            </a:r>
            <a:r>
              <a:rPr lang="en-US" altLang="zh-CN" sz="1800" dirty="0">
                <a:latin typeface="Times New Roman" panose="02020603050405020304" pitchFamily="18" charset="0"/>
                <a:cs typeface="Times New Roman" panose="02020603050405020304" pitchFamily="18" charset="0"/>
              </a:rPr>
              <a:t>Servlet</a:t>
            </a:r>
            <a:r>
              <a:rPr lang="zh-CN" altLang="en-US" sz="1800" dirty="0">
                <a:latin typeface="Times New Roman" panose="02020603050405020304" pitchFamily="18" charset="0"/>
                <a:cs typeface="Times New Roman" panose="02020603050405020304" pitchFamily="18" charset="0"/>
              </a:rPr>
              <a:t>规范</a:t>
            </a:r>
            <a:r>
              <a:rPr lang="zh-CN" altLang="en-US" sz="1800" dirty="0" smtClean="0">
                <a:latin typeface="Times New Roman" panose="02020603050405020304" pitchFamily="18" charset="0"/>
                <a:cs typeface="Times New Roman" panose="02020603050405020304" pitchFamily="18" charset="0"/>
              </a:rPr>
              <a:t>中引入</a:t>
            </a:r>
            <a:r>
              <a:rPr lang="zh-CN" altLang="en-US" sz="1800" dirty="0">
                <a:latin typeface="Times New Roman" panose="02020603050405020304" pitchFamily="18" charset="0"/>
                <a:cs typeface="Times New Roman" panose="02020603050405020304" pitchFamily="18" charset="0"/>
              </a:rPr>
              <a:t>了</a:t>
            </a:r>
            <a:r>
              <a:rPr lang="en-US" altLang="zh-CN" sz="1800" dirty="0">
                <a:latin typeface="Times New Roman" panose="02020603050405020304" pitchFamily="18" charset="0"/>
                <a:cs typeface="Times New Roman" panose="02020603050405020304" pitchFamily="18" charset="0"/>
              </a:rPr>
              <a:t>URL</a:t>
            </a:r>
            <a:r>
              <a:rPr lang="zh-CN" altLang="en-US" sz="1800" dirty="0">
                <a:latin typeface="Times New Roman" panose="02020603050405020304" pitchFamily="18" charset="0"/>
                <a:cs typeface="Times New Roman" panose="02020603050405020304" pitchFamily="18" charset="0"/>
              </a:rPr>
              <a:t>重写机制来保存用户的会话信息。当浏览器不支持</a:t>
            </a:r>
            <a:r>
              <a:rPr lang="en-US" altLang="zh-CN" sz="1800" dirty="0">
                <a:latin typeface="Times New Roman" panose="02020603050405020304" pitchFamily="18" charset="0"/>
                <a:cs typeface="Times New Roman" panose="02020603050405020304" pitchFamily="18" charset="0"/>
              </a:rPr>
              <a:t>Cookie</a:t>
            </a:r>
            <a:r>
              <a:rPr lang="zh-CN" altLang="en-US" sz="1800" dirty="0">
                <a:latin typeface="Times New Roman" panose="02020603050405020304" pitchFamily="18" charset="0"/>
                <a:cs typeface="Times New Roman" panose="02020603050405020304" pitchFamily="18" charset="0"/>
              </a:rPr>
              <a:t>或者关闭了</a:t>
            </a:r>
            <a:r>
              <a:rPr lang="en-US" altLang="zh-CN" sz="1800" dirty="0">
                <a:latin typeface="Times New Roman" panose="02020603050405020304" pitchFamily="18" charset="0"/>
                <a:cs typeface="Times New Roman" panose="02020603050405020304" pitchFamily="18" charset="0"/>
              </a:rPr>
              <a:t>Cookie</a:t>
            </a:r>
            <a:r>
              <a:rPr lang="zh-CN" altLang="en-US" sz="1800" dirty="0">
                <a:latin typeface="Times New Roman" panose="02020603050405020304" pitchFamily="18" charset="0"/>
                <a:cs typeface="Times New Roman" panose="02020603050405020304" pitchFamily="18" charset="0"/>
              </a:rPr>
              <a:t>功能，这时，在会话过程中，如果想让</a:t>
            </a:r>
            <a:r>
              <a:rPr lang="en-US" altLang="zh-CN" sz="1800" dirty="0">
                <a:latin typeface="Times New Roman" panose="02020603050405020304" pitchFamily="18" charset="0"/>
                <a:cs typeface="Times New Roman" panose="02020603050405020304" pitchFamily="18" charset="0"/>
              </a:rPr>
              <a:t>Web</a:t>
            </a:r>
            <a:r>
              <a:rPr lang="zh-CN" altLang="en-US" sz="1800" dirty="0">
                <a:latin typeface="Times New Roman" panose="02020603050405020304" pitchFamily="18" charset="0"/>
                <a:cs typeface="Times New Roman" panose="02020603050405020304" pitchFamily="18" charset="0"/>
              </a:rPr>
              <a:t>服务器可以保存用户的信息，必须对所有可能被客户端访问的请求路径进行</a:t>
            </a:r>
            <a:r>
              <a:rPr lang="en-US" altLang="zh-CN" sz="1800" dirty="0">
                <a:latin typeface="Times New Roman" panose="02020603050405020304" pitchFamily="18" charset="0"/>
                <a:cs typeface="Times New Roman" panose="02020603050405020304" pitchFamily="18" charset="0"/>
              </a:rPr>
              <a:t>URL</a:t>
            </a:r>
            <a:r>
              <a:rPr lang="zh-CN" altLang="en-US" sz="1800" dirty="0" smtClean="0">
                <a:latin typeface="Times New Roman" panose="02020603050405020304" pitchFamily="18" charset="0"/>
                <a:cs typeface="Times New Roman" panose="02020603050405020304" pitchFamily="18" charset="0"/>
              </a:rPr>
              <a:t>重写。</a:t>
            </a:r>
            <a:endParaRPr lang="en-US" altLang="zh-CN" sz="1800" dirty="0" smtClean="0">
              <a:latin typeface="Times New Roman" panose="02020603050405020304" pitchFamily="18" charset="0"/>
              <a:cs typeface="Times New Roman" panose="02020603050405020304" pitchFamily="18" charset="0"/>
            </a:endParaRPr>
          </a:p>
          <a:p>
            <a:pPr marL="0" lvl="2" indent="0">
              <a:lnSpc>
                <a:spcPct val="150000"/>
              </a:lnSpc>
              <a:buNone/>
              <a:defRPr/>
            </a:pPr>
            <a:endParaRPr lang="en-US" altLang="zh-CN" sz="1800" dirty="0" smtClean="0"/>
          </a:p>
          <a:p>
            <a:pPr marL="342900" lvl="2" indent="-342900">
              <a:lnSpc>
                <a:spcPct val="150000"/>
              </a:lnSpc>
              <a:buFont typeface="Arial" pitchFamily="34" charset="0"/>
              <a:buChar char="−"/>
              <a:defRPr/>
            </a:pPr>
            <a:r>
              <a:rPr lang="zh-CN" altLang="en-US" sz="1800" dirty="0" smtClean="0"/>
              <a:t>接下来，以</a:t>
            </a:r>
            <a:r>
              <a:rPr lang="en-US" altLang="zh-CN" sz="1800" dirty="0" smtClean="0"/>
              <a:t>【</a:t>
            </a:r>
            <a:r>
              <a:rPr lang="zh-CN" altLang="en-US" sz="1800" dirty="0" smtClean="0"/>
              <a:t>任务</a:t>
            </a:r>
            <a:r>
              <a:rPr lang="en-US" altLang="zh-CN" sz="1800" dirty="0" smtClean="0"/>
              <a:t>5-2】</a:t>
            </a:r>
            <a:r>
              <a:rPr lang="zh-CN" altLang="en-US" sz="1800" dirty="0" smtClean="0"/>
              <a:t>的程序为例，分步骤的讲解如何实现</a:t>
            </a:r>
            <a:r>
              <a:rPr lang="en-US" altLang="zh-CN" sz="1800" dirty="0" smtClean="0"/>
              <a:t>URL</a:t>
            </a:r>
            <a:r>
              <a:rPr lang="zh-CN" altLang="en-US" sz="1800" dirty="0" smtClean="0"/>
              <a:t>重写。案例具体实现代码请参见教材</a:t>
            </a:r>
            <a:r>
              <a:rPr lang="en-US" altLang="zh-CN" sz="1800" dirty="0" smtClean="0"/>
              <a:t>【</a:t>
            </a:r>
            <a:r>
              <a:rPr lang="zh-CN" altLang="en-US" sz="1800" dirty="0" smtClean="0"/>
              <a:t>任务</a:t>
            </a:r>
            <a:r>
              <a:rPr lang="en-US" altLang="zh-CN" sz="1800" dirty="0" smtClean="0"/>
              <a:t>5-2】</a:t>
            </a:r>
            <a:r>
              <a:rPr lang="zh-CN" altLang="en-US" sz="1800" dirty="0" smtClean="0"/>
              <a:t>后的多学一招。 </a:t>
            </a:r>
            <a:endParaRPr lang="en-US" altLang="zh-CN" sz="1800" dirty="0"/>
          </a:p>
        </p:txBody>
      </p:sp>
      <p:sp>
        <p:nvSpPr>
          <p:cNvPr id="4"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2800" dirty="0">
                <a:solidFill>
                  <a:srgbClr val="0066A1"/>
                </a:solidFill>
                <a:sym typeface="Wingdings"/>
              </a:rPr>
              <a:t></a:t>
            </a:r>
            <a:r>
              <a:rPr lang="en-US" altLang="zh-CN" sz="2800" dirty="0">
                <a:sym typeface="Wingdings"/>
              </a:rPr>
              <a:t> </a:t>
            </a:r>
            <a:r>
              <a:rPr lang="zh-CN" altLang="en-US" sz="2800" b="1" dirty="0">
                <a:solidFill>
                  <a:srgbClr val="006BA9"/>
                </a:solidFill>
                <a:latin typeface="微软雅黑" pitchFamily="34" charset="-122"/>
                <a:ea typeface="微软雅黑" pitchFamily="34" charset="-122"/>
                <a:sym typeface="宋体" charset="-122"/>
              </a:rPr>
              <a:t>多学一招</a:t>
            </a:r>
            <a:r>
              <a:rPr lang="en-US" altLang="zh-CN" sz="2800" b="1" dirty="0">
                <a:solidFill>
                  <a:srgbClr val="006BA9"/>
                </a:solidFill>
                <a:latin typeface="微软雅黑" pitchFamily="34" charset="-122"/>
                <a:ea typeface="微软雅黑" pitchFamily="34" charset="-122"/>
                <a:sym typeface="宋体" charset="-122"/>
              </a:rPr>
              <a:t>  </a:t>
            </a:r>
            <a:r>
              <a:rPr lang="zh-CN" altLang="en-US" sz="2800" b="1" dirty="0">
                <a:solidFill>
                  <a:srgbClr val="006BA9"/>
                </a:solidFill>
                <a:latin typeface="微软雅黑" pitchFamily="34" charset="-122"/>
                <a:ea typeface="微软雅黑" pitchFamily="34" charset="-122"/>
                <a:sym typeface="宋体" charset="-122"/>
              </a:rPr>
              <a:t>利用</a:t>
            </a:r>
            <a:r>
              <a:rPr lang="en-US" altLang="zh-CN" sz="2800" b="1" dirty="0">
                <a:solidFill>
                  <a:srgbClr val="006BA9"/>
                </a:solidFill>
                <a:latin typeface="微软雅黑" pitchFamily="34" charset="-122"/>
                <a:ea typeface="微软雅黑" pitchFamily="34" charset="-122"/>
                <a:sym typeface="宋体" charset="-122"/>
              </a:rPr>
              <a:t>URL</a:t>
            </a:r>
            <a:r>
              <a:rPr lang="zh-CN" altLang="en-US" sz="2800" b="1" dirty="0">
                <a:solidFill>
                  <a:srgbClr val="006BA9"/>
                </a:solidFill>
                <a:latin typeface="微软雅黑" pitchFamily="34" charset="-122"/>
                <a:ea typeface="微软雅黑" pitchFamily="34" charset="-122"/>
                <a:sym typeface="宋体" charset="-122"/>
              </a:rPr>
              <a:t>重写实现</a:t>
            </a:r>
            <a:r>
              <a:rPr lang="en-US" altLang="zh-CN" sz="2800" b="1" dirty="0">
                <a:solidFill>
                  <a:srgbClr val="006BA9"/>
                </a:solidFill>
                <a:latin typeface="微软雅黑" pitchFamily="34" charset="-122"/>
                <a:ea typeface="微软雅黑" pitchFamily="34" charset="-122"/>
                <a:sym typeface="宋体" charset="-122"/>
              </a:rPr>
              <a:t>Session</a:t>
            </a:r>
            <a:r>
              <a:rPr lang="zh-CN" altLang="en-US" sz="2800" b="1" dirty="0">
                <a:solidFill>
                  <a:srgbClr val="006BA9"/>
                </a:solidFill>
                <a:latin typeface="微软雅黑" pitchFamily="34" charset="-122"/>
                <a:ea typeface="微软雅黑" pitchFamily="34" charset="-122"/>
                <a:sym typeface="宋体" charset="-122"/>
              </a:rPr>
              <a:t>跟踪</a:t>
            </a:r>
          </a:p>
        </p:txBody>
      </p:sp>
    </p:spTree>
    <p:custDataLst>
      <p:tags r:id="rId1"/>
    </p:custDataLst>
    <p:extLst>
      <p:ext uri="{BB962C8B-B14F-4D97-AF65-F5344CB8AC3E}">
        <p14:creationId xmlns:p14="http://schemas.microsoft.com/office/powerpoint/2010/main" val="4029834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smtClean="0">
                <a:solidFill>
                  <a:sysClr val="window" lastClr="FFFFFF"/>
                </a:solidFill>
                <a:latin typeface="Arial"/>
              </a:rPr>
              <a:t>具体实现步骤（</a:t>
            </a:r>
            <a:r>
              <a:rPr lang="zh-CN" altLang="en-US" b="1" kern="0" dirty="0">
                <a:solidFill>
                  <a:sysClr val="window" lastClr="FFFFFF"/>
                </a:solidFill>
                <a:latin typeface="Arial"/>
              </a:rPr>
              <a:t>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5-3】</a:t>
            </a:r>
            <a:r>
              <a:rPr lang="zh-CN" altLang="en-US" b="1" kern="0" smtClean="0">
                <a:solidFill>
                  <a:sysClr val="window" lastClr="FFFFFF"/>
                </a:solidFill>
                <a:latin typeface="Arial"/>
              </a:rPr>
              <a:t>）</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06896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创建封装用户信息类</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r>
              <a:rPr lang="zh-CN" altLang="en-US" sz="1200" smtClean="0">
                <a:solidFill>
                  <a:prstClr val="black">
                    <a:lumMod val="65000"/>
                    <a:lumOff val="35000"/>
                  </a:prstClr>
                </a:solidFill>
                <a:latin typeface="微软雅黑" pitchFamily="34" charset="-122"/>
                <a:ea typeface="微软雅黑" pitchFamily="34" charset="-122"/>
              </a:rPr>
              <a:t>程序</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创建登录页面</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a:solidFill>
                  <a:prstClr val="black">
                    <a:lumMod val="65000"/>
                    <a:lumOff val="35000"/>
                  </a:prstClr>
                </a:solidFill>
                <a:latin typeface="微软雅黑" pitchFamily="34" charset="-122"/>
                <a:ea typeface="微软雅黑" pitchFamily="34" charset="-122"/>
              </a:rPr>
              <a:t>启动</a:t>
            </a:r>
            <a:r>
              <a:rPr lang="zh-CN" altLang="en-US" sz="1200" smtClean="0">
                <a:solidFill>
                  <a:prstClr val="black">
                    <a:lumMod val="65000"/>
                    <a:lumOff val="35000"/>
                  </a:prstClr>
                </a:solidFill>
                <a:latin typeface="微软雅黑" pitchFamily="34" charset="-122"/>
                <a:ea typeface="微软雅黑" pitchFamily="34" charset="-122"/>
              </a:rPr>
              <a:t>项目，查看结果</a:t>
            </a:r>
            <a:endParaRPr lang="en-US" altLang="zh-CN" sz="1200" dirty="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990652" y="2470759"/>
            <a:ext cx="2888932" cy="332399"/>
          </a:xfrm>
          <a:prstGeom prst="rect">
            <a:avLst/>
          </a:prstGeom>
        </p:spPr>
        <p:txBody>
          <a:bodyPr wrap="none">
            <a:spAutoFit/>
          </a:bodyPr>
          <a:lstStyle/>
          <a:p>
            <a:pPr>
              <a:lnSpc>
                <a:spcPct val="130000"/>
              </a:lnSpc>
              <a:spcAft>
                <a:spcPts val="300"/>
              </a:spcAft>
              <a:defRPr/>
            </a:pPr>
            <a:r>
              <a:rPr lang="zh-CN" altLang="en-US" sz="1200" smtClean="0">
                <a:solidFill>
                  <a:prstClr val="black">
                    <a:lumMod val="65000"/>
                    <a:lumOff val="35000"/>
                  </a:prstClr>
                </a:solidFill>
                <a:latin typeface="微软雅黑" pitchFamily="34" charset="-122"/>
                <a:ea typeface="微软雅黑" pitchFamily="34" charset="-122"/>
              </a:rPr>
              <a:t>学会使用</a:t>
            </a:r>
            <a:r>
              <a:rPr lang="en-US" altLang="zh-CN" sz="1200" smtClean="0">
                <a:solidFill>
                  <a:prstClr val="black">
                    <a:lumMod val="65000"/>
                    <a:lumOff val="35000"/>
                  </a:prstClr>
                </a:solidFill>
                <a:latin typeface="微软雅黑" pitchFamily="34" charset="-122"/>
                <a:ea typeface="微软雅黑" pitchFamily="34" charset="-122"/>
              </a:rPr>
              <a:t>Session</a:t>
            </a:r>
            <a:r>
              <a:rPr lang="zh-CN" altLang="en-US" sz="1200" smtClean="0">
                <a:solidFill>
                  <a:prstClr val="black">
                    <a:lumMod val="65000"/>
                    <a:lumOff val="35000"/>
                  </a:prstClr>
                </a:solidFill>
                <a:latin typeface="微软雅黑" pitchFamily="34" charset="-122"/>
                <a:ea typeface="微软雅黑" pitchFamily="34" charset="-122"/>
              </a:rPr>
              <a:t>对象实现用户登录功能</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5-3】  </a:t>
            </a:r>
            <a:r>
              <a:rPr lang="zh-CN" altLang="en-US" sz="3200" b="1" dirty="0">
                <a:solidFill>
                  <a:srgbClr val="006BA9"/>
                </a:solidFill>
                <a:latin typeface="微软雅黑" pitchFamily="34" charset="-122"/>
                <a:ea typeface="微软雅黑" pitchFamily="34" charset="-122"/>
                <a:sym typeface="宋体" charset="-122"/>
              </a:rPr>
              <a:t>实现用户登录</a:t>
            </a:r>
          </a:p>
        </p:txBody>
      </p:sp>
    </p:spTree>
    <p:custDataLst>
      <p:tags r:id="rId1"/>
    </p:custDataLst>
    <p:extLst>
      <p:ext uri="{BB962C8B-B14F-4D97-AF65-F5344CB8AC3E}">
        <p14:creationId xmlns:p14="http://schemas.microsoft.com/office/powerpoint/2010/main" val="860847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467543" y="1772815"/>
            <a:ext cx="8208913" cy="45311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2" indent="-342900">
              <a:lnSpc>
                <a:spcPct val="150000"/>
              </a:lnSpc>
              <a:buFont typeface="Arial" pitchFamily="34" charset="0"/>
              <a:buChar char="−"/>
              <a:defRPr/>
            </a:pPr>
            <a:r>
              <a:rPr lang="zh-CN" altLang="en-US" sz="2000" dirty="0" smtClean="0"/>
              <a:t>在实际开发中，为了保证用户信息的安全，都会在网站登录的界面中添加一次性验证码，从而限制人们使用软件来暴力猜测密码。一次性验证码的功能同样可以使用</a:t>
            </a:r>
            <a:r>
              <a:rPr lang="en-US" altLang="zh-CN" sz="2000" dirty="0" smtClean="0"/>
              <a:t>Session</a:t>
            </a:r>
            <a:r>
              <a:rPr lang="zh-CN" altLang="en-US" sz="2000" dirty="0" smtClean="0"/>
              <a:t>来实现。</a:t>
            </a:r>
            <a:endParaRPr lang="en-US" altLang="zh-CN" sz="2000" dirty="0" smtClean="0"/>
          </a:p>
          <a:p>
            <a:pPr marL="0" lvl="2" indent="0">
              <a:lnSpc>
                <a:spcPct val="150000"/>
              </a:lnSpc>
              <a:buNone/>
              <a:defRPr/>
            </a:pPr>
            <a:endParaRPr lang="en-US" altLang="zh-CN" sz="2000" dirty="0" smtClean="0"/>
          </a:p>
          <a:p>
            <a:pPr marL="0" lvl="2" indent="0">
              <a:lnSpc>
                <a:spcPct val="150000"/>
              </a:lnSpc>
              <a:buNone/>
              <a:defRPr/>
            </a:pPr>
            <a:endParaRPr lang="en-US" altLang="zh-CN" sz="2000" dirty="0"/>
          </a:p>
          <a:p>
            <a:pPr marL="0" lvl="2" indent="0">
              <a:lnSpc>
                <a:spcPct val="150000"/>
              </a:lnSpc>
              <a:buNone/>
              <a:defRPr/>
            </a:pPr>
            <a:endParaRPr lang="en-US" altLang="zh-CN" sz="2000" dirty="0" smtClean="0"/>
          </a:p>
          <a:p>
            <a:pPr marL="342900" lvl="2" indent="-342900">
              <a:lnSpc>
                <a:spcPct val="150000"/>
              </a:lnSpc>
              <a:buFont typeface="Arial" pitchFamily="34" charset="0"/>
              <a:buChar char="−"/>
              <a:defRPr/>
            </a:pPr>
            <a:r>
              <a:rPr lang="zh-CN" altLang="en-US" sz="2000" dirty="0" smtClean="0"/>
              <a:t>接下来，对</a:t>
            </a:r>
            <a:r>
              <a:rPr lang="en-US" altLang="zh-CN" sz="2000" dirty="0" smtClean="0"/>
              <a:t>【</a:t>
            </a:r>
            <a:r>
              <a:rPr lang="zh-CN" altLang="en-US" sz="2000" dirty="0" smtClean="0"/>
              <a:t>任务</a:t>
            </a:r>
            <a:r>
              <a:rPr lang="en-US" altLang="zh-CN" sz="2000" dirty="0" smtClean="0"/>
              <a:t>5-3】</a:t>
            </a:r>
            <a:r>
              <a:rPr lang="zh-CN" altLang="en-US" sz="2000" dirty="0" smtClean="0"/>
              <a:t>进行修改，在用户登录时，增加一次性验证码的实现。案例具体实现代码请参见教材</a:t>
            </a:r>
            <a:r>
              <a:rPr lang="en-US" altLang="zh-CN" sz="2000" dirty="0" smtClean="0"/>
              <a:t>【</a:t>
            </a:r>
            <a:r>
              <a:rPr lang="zh-CN" altLang="en-US" sz="2000" dirty="0" smtClean="0"/>
              <a:t>任务</a:t>
            </a:r>
            <a:r>
              <a:rPr lang="en-US" altLang="zh-CN" sz="2000" dirty="0" smtClean="0"/>
              <a:t>5-3】</a:t>
            </a:r>
            <a:r>
              <a:rPr lang="zh-CN" altLang="en-US" sz="2000" dirty="0" smtClean="0"/>
              <a:t>后的多学一招。 </a:t>
            </a:r>
            <a:endParaRPr lang="en-US" altLang="zh-CN" sz="2000"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3429000"/>
            <a:ext cx="475297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051720" y="4113096"/>
            <a:ext cx="2088232" cy="180000"/>
          </a:xfrm>
          <a:prstGeom prst="rect">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 name="直接箭头连接符 6"/>
          <p:cNvCxnSpPr>
            <a:stCxn id="5" idx="3"/>
          </p:cNvCxnSpPr>
          <p:nvPr/>
        </p:nvCxnSpPr>
        <p:spPr>
          <a:xfrm>
            <a:off x="4139952" y="4203096"/>
            <a:ext cx="430461"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570413" y="4005064"/>
            <a:ext cx="1569660" cy="369332"/>
          </a:xfrm>
          <a:prstGeom prst="rect">
            <a:avLst/>
          </a:prstGeom>
          <a:noFill/>
        </p:spPr>
        <p:txBody>
          <a:bodyPr wrap="none" rtlCol="0">
            <a:spAutoFit/>
          </a:bodyPr>
          <a:lstStyle/>
          <a:p>
            <a:r>
              <a:rPr lang="zh-CN" altLang="en-US" smtClean="0">
                <a:solidFill>
                  <a:srgbClr val="FF0000"/>
                </a:solidFill>
              </a:rPr>
              <a:t>一次性验证码</a:t>
            </a:r>
            <a:endParaRPr lang="zh-CN" altLang="en-US">
              <a:solidFill>
                <a:srgbClr val="FF0000"/>
              </a:solidFill>
            </a:endParaRPr>
          </a:p>
        </p:txBody>
      </p:sp>
      <p:sp>
        <p:nvSpPr>
          <p:cNvPr id="9"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2800" dirty="0">
                <a:solidFill>
                  <a:srgbClr val="0066A1"/>
                </a:solidFill>
                <a:sym typeface="Wingdings"/>
              </a:rPr>
              <a:t></a:t>
            </a:r>
            <a:r>
              <a:rPr lang="en-US" altLang="zh-CN" sz="2800" dirty="0">
                <a:sym typeface="Wingdings"/>
              </a:rPr>
              <a:t> </a:t>
            </a:r>
            <a:r>
              <a:rPr lang="zh-CN" altLang="en-US" sz="2800" b="1" dirty="0">
                <a:solidFill>
                  <a:srgbClr val="006BA9"/>
                </a:solidFill>
                <a:latin typeface="微软雅黑" pitchFamily="34" charset="-122"/>
                <a:ea typeface="微软雅黑" pitchFamily="34" charset="-122"/>
                <a:sym typeface="宋体" charset="-122"/>
              </a:rPr>
              <a:t>多学一招</a:t>
            </a:r>
            <a:r>
              <a:rPr lang="en-US" altLang="zh-CN" sz="2800" b="1" dirty="0">
                <a:solidFill>
                  <a:srgbClr val="006BA9"/>
                </a:solidFill>
                <a:latin typeface="微软雅黑" pitchFamily="34" charset="-122"/>
                <a:ea typeface="微软雅黑" pitchFamily="34" charset="-122"/>
                <a:sym typeface="宋体" charset="-122"/>
              </a:rPr>
              <a:t>  </a:t>
            </a:r>
            <a:r>
              <a:rPr lang="zh-CN" altLang="en-US" sz="2800" b="1" dirty="0">
                <a:solidFill>
                  <a:srgbClr val="006BA9"/>
                </a:solidFill>
                <a:latin typeface="微软雅黑" pitchFamily="34" charset="-122"/>
                <a:ea typeface="微软雅黑" pitchFamily="34" charset="-122"/>
                <a:sym typeface="宋体" charset="-122"/>
              </a:rPr>
              <a:t>利用</a:t>
            </a:r>
            <a:r>
              <a:rPr lang="en-US" altLang="zh-CN" sz="2800" b="1" dirty="0">
                <a:solidFill>
                  <a:srgbClr val="006BA9"/>
                </a:solidFill>
                <a:latin typeface="微软雅黑" pitchFamily="34" charset="-122"/>
                <a:ea typeface="微软雅黑" pitchFamily="34" charset="-122"/>
                <a:sym typeface="宋体" charset="-122"/>
              </a:rPr>
              <a:t>Session</a:t>
            </a:r>
            <a:r>
              <a:rPr lang="zh-CN" altLang="en-US" sz="2800" b="1" dirty="0">
                <a:solidFill>
                  <a:srgbClr val="006BA9"/>
                </a:solidFill>
                <a:latin typeface="微软雅黑" pitchFamily="34" charset="-122"/>
                <a:ea typeface="微软雅黑" pitchFamily="34" charset="-122"/>
                <a:sym typeface="宋体" charset="-122"/>
              </a:rPr>
              <a:t>实现一次性验证码</a:t>
            </a:r>
          </a:p>
        </p:txBody>
      </p:sp>
    </p:spTree>
    <p:custDataLst>
      <p:tags r:id="rId1"/>
    </p:custDataLst>
    <p:extLst>
      <p:ext uri="{BB962C8B-B14F-4D97-AF65-F5344CB8AC3E}">
        <p14:creationId xmlns:p14="http://schemas.microsoft.com/office/powerpoint/2010/main" val="693315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wipe(left)">
                                      <p:cBhvr>
                                        <p:cTn id="11" dur="500"/>
                                        <p:tgtEl>
                                          <p:spTgt spid="10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wipe(left)">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513" y="2388493"/>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圆角矩形 1"/>
          <p:cNvSpPr>
            <a:spLocks noChangeArrowheads="1"/>
          </p:cNvSpPr>
          <p:nvPr/>
        </p:nvSpPr>
        <p:spPr bwMode="auto">
          <a:xfrm>
            <a:off x="2627784" y="1412776"/>
            <a:ext cx="5328592" cy="4433292"/>
          </a:xfrm>
          <a:prstGeom prst="roundRect">
            <a:avLst>
              <a:gd name="adj" fmla="val 16667"/>
            </a:avLst>
          </a:prstGeom>
          <a:noFill/>
          <a:ln w="31750">
            <a:solidFill>
              <a:srgbClr val="006BA9"/>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1" name="矩形 10"/>
          <p:cNvSpPr/>
          <p:nvPr/>
        </p:nvSpPr>
        <p:spPr>
          <a:xfrm>
            <a:off x="2771800" y="1473687"/>
            <a:ext cx="5143276" cy="4247317"/>
          </a:xfrm>
          <a:prstGeom prst="rect">
            <a:avLst/>
          </a:prstGeom>
        </p:spPr>
        <p:txBody>
          <a:bodyPr wrap="square">
            <a:spAutoFit/>
          </a:bodyPr>
          <a:lstStyle/>
          <a:p>
            <a:pPr>
              <a:lnSpc>
                <a:spcPct val="150000"/>
              </a:lnSpc>
            </a:pPr>
            <a:r>
              <a:rPr lang="en-US" altLang="zh-CN" dirty="0" smtClean="0"/>
              <a:t>        </a:t>
            </a:r>
            <a:r>
              <a:rPr lang="zh-CN" altLang="zh-CN" dirty="0">
                <a:latin typeface="Times New Roman" panose="02020603050405020304" pitchFamily="18" charset="0"/>
                <a:cs typeface="Times New Roman" panose="02020603050405020304" pitchFamily="18" charset="0"/>
              </a:rPr>
              <a:t>本章主要讲解了</a:t>
            </a:r>
            <a:r>
              <a:rPr lang="en-US" altLang="zh-CN" dirty="0">
                <a:solidFill>
                  <a:srgbClr val="00B0F0"/>
                </a:solidFill>
                <a:latin typeface="Times New Roman" panose="02020603050405020304" pitchFamily="18" charset="0"/>
                <a:cs typeface="Times New Roman" panose="02020603050405020304" pitchFamily="18" charset="0"/>
              </a:rPr>
              <a:t>Cookie</a:t>
            </a:r>
            <a:r>
              <a:rPr lang="zh-CN" altLang="zh-CN" dirty="0">
                <a:solidFill>
                  <a:srgbClr val="00B0F0"/>
                </a:solidFill>
                <a:latin typeface="Times New Roman" panose="02020603050405020304" pitchFamily="18" charset="0"/>
                <a:cs typeface="Times New Roman" panose="02020603050405020304" pitchFamily="18" charset="0"/>
              </a:rPr>
              <a:t>对象</a:t>
            </a:r>
            <a:r>
              <a:rPr lang="zh-CN" altLang="zh-CN" dirty="0">
                <a:latin typeface="Times New Roman" panose="02020603050405020304" pitchFamily="18" charset="0"/>
                <a:cs typeface="Times New Roman" panose="02020603050405020304" pitchFamily="18" charset="0"/>
              </a:rPr>
              <a:t>和</a:t>
            </a:r>
            <a:r>
              <a:rPr lang="en-US" altLang="zh-CN" dirty="0">
                <a:solidFill>
                  <a:srgbClr val="00B0F0"/>
                </a:solidFill>
                <a:latin typeface="Times New Roman" panose="02020603050405020304" pitchFamily="18" charset="0"/>
                <a:cs typeface="Times New Roman" panose="02020603050405020304" pitchFamily="18" charset="0"/>
              </a:rPr>
              <a:t>Session</a:t>
            </a:r>
            <a:r>
              <a:rPr lang="zh-CN" altLang="zh-CN" dirty="0">
                <a:solidFill>
                  <a:srgbClr val="00B0F0"/>
                </a:solidFill>
                <a:latin typeface="Times New Roman" panose="02020603050405020304" pitchFamily="18" charset="0"/>
                <a:cs typeface="Times New Roman" panose="02020603050405020304" pitchFamily="18" charset="0"/>
              </a:rPr>
              <a:t>对象</a:t>
            </a:r>
            <a:r>
              <a:rPr lang="zh-CN" altLang="zh-CN" dirty="0">
                <a:latin typeface="Times New Roman" panose="02020603050405020304" pitchFamily="18" charset="0"/>
                <a:cs typeface="Times New Roman" panose="02020603050405020304" pitchFamily="18" charset="0"/>
              </a:rPr>
              <a:t>的相关知识，其中</a:t>
            </a:r>
            <a:r>
              <a:rPr lang="en-US" altLang="zh-CN" dirty="0">
                <a:latin typeface="Times New Roman" panose="02020603050405020304" pitchFamily="18" charset="0"/>
                <a:cs typeface="Times New Roman" panose="02020603050405020304" pitchFamily="18" charset="0"/>
              </a:rPr>
              <a:t>Cookie</a:t>
            </a:r>
            <a:r>
              <a:rPr lang="zh-CN" altLang="zh-CN" dirty="0">
                <a:latin typeface="Times New Roman" panose="02020603050405020304" pitchFamily="18" charset="0"/>
                <a:cs typeface="Times New Roman" panose="02020603050405020304" pitchFamily="18" charset="0"/>
              </a:rPr>
              <a:t>是</a:t>
            </a:r>
            <a:r>
              <a:rPr lang="zh-CN" altLang="zh-CN" dirty="0">
                <a:solidFill>
                  <a:srgbClr val="00B0F0"/>
                </a:solidFill>
                <a:latin typeface="Times New Roman" panose="02020603050405020304" pitchFamily="18" charset="0"/>
                <a:cs typeface="Times New Roman" panose="02020603050405020304" pitchFamily="18" charset="0"/>
              </a:rPr>
              <a:t>早期的会话跟踪技术</a:t>
            </a:r>
            <a:r>
              <a:rPr lang="zh-CN" altLang="zh-CN" dirty="0">
                <a:latin typeface="Times New Roman" panose="02020603050405020304" pitchFamily="18" charset="0"/>
                <a:cs typeface="Times New Roman" panose="02020603050405020304" pitchFamily="18" charset="0"/>
              </a:rPr>
              <a:t>，它将信息保存到客户端的浏览器中。浏览器访问网站时会携带这些</a:t>
            </a:r>
            <a:r>
              <a:rPr lang="en-US" altLang="zh-CN" dirty="0">
                <a:latin typeface="Times New Roman" panose="02020603050405020304" pitchFamily="18" charset="0"/>
                <a:cs typeface="Times New Roman" panose="02020603050405020304" pitchFamily="18" charset="0"/>
              </a:rPr>
              <a:t>Cookie</a:t>
            </a:r>
            <a:r>
              <a:rPr lang="zh-CN" altLang="zh-CN" dirty="0">
                <a:latin typeface="Times New Roman" panose="02020603050405020304" pitchFamily="18" charset="0"/>
                <a:cs typeface="Times New Roman" panose="02020603050405020304" pitchFamily="18" charset="0"/>
              </a:rPr>
              <a:t>信息，达到鉴别身份的目的。</a:t>
            </a:r>
            <a:r>
              <a:rPr lang="en-US" altLang="zh-CN" dirty="0">
                <a:latin typeface="Times New Roman" panose="02020603050405020304" pitchFamily="18" charset="0"/>
                <a:cs typeface="Times New Roman" panose="02020603050405020304" pitchFamily="18" charset="0"/>
              </a:rPr>
              <a:t>Session</a:t>
            </a:r>
            <a:r>
              <a:rPr lang="zh-CN" altLang="zh-CN" dirty="0">
                <a:latin typeface="Times New Roman" panose="02020603050405020304" pitchFamily="18" charset="0"/>
                <a:cs typeface="Times New Roman" panose="02020603050405020304" pitchFamily="18" charset="0"/>
              </a:rPr>
              <a:t>是</a:t>
            </a:r>
            <a:r>
              <a:rPr lang="zh-CN" altLang="zh-CN" dirty="0">
                <a:solidFill>
                  <a:srgbClr val="00B0F0"/>
                </a:solidFill>
                <a:latin typeface="Times New Roman" panose="02020603050405020304" pitchFamily="18" charset="0"/>
                <a:cs typeface="Times New Roman" panose="02020603050405020304" pitchFamily="18" charset="0"/>
              </a:rPr>
              <a:t>通过</a:t>
            </a:r>
            <a:r>
              <a:rPr lang="en-US" altLang="zh-CN" dirty="0">
                <a:solidFill>
                  <a:srgbClr val="00B0F0"/>
                </a:solidFill>
                <a:latin typeface="Times New Roman" panose="02020603050405020304" pitchFamily="18" charset="0"/>
                <a:cs typeface="Times New Roman" panose="02020603050405020304" pitchFamily="18" charset="0"/>
              </a:rPr>
              <a:t>Cookie</a:t>
            </a:r>
            <a:r>
              <a:rPr lang="zh-CN" altLang="zh-CN" dirty="0">
                <a:solidFill>
                  <a:srgbClr val="00B0F0"/>
                </a:solidFill>
                <a:latin typeface="Times New Roman" panose="02020603050405020304" pitchFamily="18" charset="0"/>
                <a:cs typeface="Times New Roman" panose="02020603050405020304" pitchFamily="18" charset="0"/>
              </a:rPr>
              <a:t>技术实现的</a:t>
            </a:r>
            <a:r>
              <a:rPr lang="zh-CN" altLang="zh-CN" dirty="0">
                <a:latin typeface="Times New Roman" panose="02020603050405020304" pitchFamily="18" charset="0"/>
                <a:cs typeface="Times New Roman" panose="02020603050405020304" pitchFamily="18" charset="0"/>
              </a:rPr>
              <a:t>，依赖于名为</a:t>
            </a:r>
            <a:r>
              <a:rPr lang="en-US" altLang="zh-CN" dirty="0">
                <a:solidFill>
                  <a:srgbClr val="00B0F0"/>
                </a:solidFill>
                <a:latin typeface="Times New Roman" panose="02020603050405020304" pitchFamily="18" charset="0"/>
                <a:cs typeface="Times New Roman" panose="02020603050405020304" pitchFamily="18" charset="0"/>
              </a:rPr>
              <a:t>JSESSIONID</a:t>
            </a:r>
            <a:r>
              <a:rPr lang="zh-CN" altLang="zh-CN" dirty="0">
                <a:latin typeface="Times New Roman" panose="02020603050405020304" pitchFamily="18" charset="0"/>
                <a:cs typeface="Times New Roman" panose="02020603050405020304" pitchFamily="18" charset="0"/>
              </a:rPr>
              <a:t>的</a:t>
            </a:r>
            <a:r>
              <a:rPr lang="en-US" altLang="zh-CN" dirty="0">
                <a:latin typeface="Times New Roman" panose="02020603050405020304" pitchFamily="18" charset="0"/>
                <a:cs typeface="Times New Roman" panose="02020603050405020304" pitchFamily="18" charset="0"/>
              </a:rPr>
              <a:t>Cookie</a:t>
            </a:r>
            <a:r>
              <a:rPr lang="zh-CN" altLang="zh-CN" dirty="0">
                <a:latin typeface="Times New Roman" panose="02020603050405020304" pitchFamily="18" charset="0"/>
                <a:cs typeface="Times New Roman" panose="02020603050405020304" pitchFamily="18" charset="0"/>
              </a:rPr>
              <a:t>，它将信息保存在服务器端。</a:t>
            </a:r>
            <a:r>
              <a:rPr lang="en-US" altLang="zh-CN" dirty="0">
                <a:latin typeface="Times New Roman" panose="02020603050405020304" pitchFamily="18" charset="0"/>
                <a:cs typeface="Times New Roman" panose="02020603050405020304" pitchFamily="18" charset="0"/>
              </a:rPr>
              <a:t>Session</a:t>
            </a:r>
            <a:r>
              <a:rPr lang="zh-CN" altLang="zh-CN" dirty="0">
                <a:latin typeface="Times New Roman" panose="02020603050405020304" pitchFamily="18" charset="0"/>
                <a:cs typeface="Times New Roman" panose="02020603050405020304" pitchFamily="18" charset="0"/>
              </a:rPr>
              <a:t>中能够存储复杂的</a:t>
            </a:r>
            <a:r>
              <a:rPr lang="en-US" altLang="zh-CN" dirty="0">
                <a:latin typeface="Times New Roman" panose="02020603050405020304" pitchFamily="18" charset="0"/>
                <a:cs typeface="Times New Roman" panose="02020603050405020304" pitchFamily="18" charset="0"/>
              </a:rPr>
              <a:t>Java</a:t>
            </a:r>
            <a:r>
              <a:rPr lang="zh-CN" altLang="zh-CN" dirty="0">
                <a:latin typeface="Times New Roman" panose="02020603050405020304" pitchFamily="18" charset="0"/>
                <a:cs typeface="Times New Roman" panose="02020603050405020304" pitchFamily="18" charset="0"/>
              </a:rPr>
              <a:t>对象，因此使用更加方便。如果客户端不支持</a:t>
            </a:r>
            <a:r>
              <a:rPr lang="en-US" altLang="zh-CN" dirty="0">
                <a:latin typeface="Times New Roman" panose="02020603050405020304" pitchFamily="18" charset="0"/>
                <a:cs typeface="Times New Roman" panose="02020603050405020304" pitchFamily="18" charset="0"/>
              </a:rPr>
              <a:t>Cookie</a:t>
            </a:r>
            <a:r>
              <a:rPr lang="zh-CN" altLang="zh-CN" dirty="0">
                <a:latin typeface="Times New Roman" panose="02020603050405020304" pitchFamily="18" charset="0"/>
                <a:cs typeface="Times New Roman" panose="02020603050405020304" pitchFamily="18" charset="0"/>
              </a:rPr>
              <a:t>，或者禁用了</a:t>
            </a:r>
            <a:r>
              <a:rPr lang="en-US" altLang="zh-CN" dirty="0">
                <a:latin typeface="Times New Roman" panose="02020603050405020304" pitchFamily="18" charset="0"/>
                <a:cs typeface="Times New Roman" panose="02020603050405020304" pitchFamily="18" charset="0"/>
              </a:rPr>
              <a:t>Cookie</a:t>
            </a:r>
            <a:r>
              <a:rPr lang="zh-CN" altLang="zh-CN" dirty="0">
                <a:latin typeface="Times New Roman" panose="02020603050405020304" pitchFamily="18" charset="0"/>
                <a:cs typeface="Times New Roman" panose="02020603050405020304" pitchFamily="18" charset="0"/>
              </a:rPr>
              <a:t>，仍然可以通过使用</a:t>
            </a:r>
            <a:r>
              <a:rPr lang="en-US" altLang="zh-CN" dirty="0">
                <a:latin typeface="Times New Roman" panose="02020603050405020304" pitchFamily="18" charset="0"/>
                <a:cs typeface="Times New Roman" panose="02020603050405020304" pitchFamily="18" charset="0"/>
              </a:rPr>
              <a:t>URL</a:t>
            </a:r>
            <a:r>
              <a:rPr lang="zh-CN" altLang="zh-CN" dirty="0">
                <a:latin typeface="Times New Roman" panose="02020603050405020304" pitchFamily="18" charset="0"/>
                <a:cs typeface="Times New Roman" panose="02020603050405020304" pitchFamily="18" charset="0"/>
              </a:rPr>
              <a:t>重写来使用</a:t>
            </a:r>
            <a:r>
              <a:rPr lang="en-US" altLang="zh-CN" dirty="0">
                <a:latin typeface="Times New Roman" panose="02020603050405020304" pitchFamily="18" charset="0"/>
                <a:cs typeface="Times New Roman" panose="02020603050405020304" pitchFamily="18" charset="0"/>
              </a:rPr>
              <a:t>Session</a:t>
            </a:r>
            <a:r>
              <a:rPr lang="zh-CN" altLang="zh-CN" dirty="0">
                <a:latin typeface="Times New Roman" panose="02020603050405020304" pitchFamily="18" charset="0"/>
                <a:cs typeface="Times New Roman" panose="02020603050405020304" pitchFamily="18" charset="0"/>
              </a:rPr>
              <a:t>。</a:t>
            </a:r>
            <a:endParaRPr lang="zh-CN" altLang="zh-CN" dirty="0">
              <a:latin typeface="微软雅黑" panose="020B0503020204020204" pitchFamily="34" charset="-122"/>
              <a:ea typeface="微软雅黑" panose="020B0503020204020204" pitchFamily="34" charset="-122"/>
            </a:endParaRPr>
          </a:p>
        </p:txBody>
      </p:sp>
      <p:sp>
        <p:nvSpPr>
          <p:cNvPr id="5"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本章小</a:t>
            </a:r>
            <a:r>
              <a:rPr lang="zh-CN" altLang="en-US" sz="3200" b="1">
                <a:solidFill>
                  <a:srgbClr val="006BA9"/>
                </a:solidFill>
                <a:latin typeface="微软雅黑" pitchFamily="34" charset="-122"/>
                <a:ea typeface="微软雅黑" pitchFamily="34" charset="-122"/>
                <a:sym typeface="宋体" charset="-122"/>
              </a:rPr>
              <a:t>结</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508598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481013" y="1300163"/>
            <a:ext cx="7975600" cy="4721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571500" indent="-571500" eaLnBrk="1" hangingPunct="1">
              <a:buFont typeface="Wingdings" pitchFamily="2" charset="2"/>
              <a:buNone/>
            </a:pPr>
            <a:r>
              <a:rPr lang="zh-CN" altLang="en-US" sz="2400" b="1">
                <a:solidFill>
                  <a:srgbClr val="006BA9"/>
                </a:solidFill>
                <a:latin typeface="微软雅黑" pitchFamily="34" charset="-122"/>
                <a:ea typeface="微软雅黑" pitchFamily="34" charset="-122"/>
                <a:sym typeface="宋体" charset="-122"/>
              </a:rPr>
              <a:t>✎ </a:t>
            </a:r>
            <a:r>
              <a:rPr lang="zh-CN" altLang="en-US" sz="2400" b="1" smtClean="0">
                <a:solidFill>
                  <a:srgbClr val="006BA9"/>
                </a:solidFill>
                <a:latin typeface="微软雅黑" pitchFamily="34" charset="-122"/>
                <a:ea typeface="微软雅黑" pitchFamily="34" charset="-122"/>
                <a:sym typeface="宋体" charset="-122"/>
              </a:rPr>
              <a:t>本章作业 </a:t>
            </a:r>
          </a:p>
          <a:p>
            <a:pPr lvl="1">
              <a:lnSpc>
                <a:spcPct val="150000"/>
              </a:lnSpc>
              <a:defRPr/>
            </a:pPr>
            <a:r>
              <a:rPr lang="zh-CN" altLang="en-US" sz="2400" smtClean="0">
                <a:solidFill>
                  <a:prstClr val="black"/>
                </a:solidFill>
              </a:rPr>
              <a:t>简述什么是会话技术？</a:t>
            </a:r>
            <a:endParaRPr lang="zh-CN" altLang="en-US" sz="2400">
              <a:solidFill>
                <a:prstClr val="black"/>
              </a:solidFill>
            </a:endParaRPr>
          </a:p>
          <a:p>
            <a:pPr lvl="1">
              <a:lnSpc>
                <a:spcPct val="150000"/>
              </a:lnSpc>
              <a:defRPr/>
            </a:pPr>
            <a:r>
              <a:rPr lang="zh-CN" altLang="en-US" sz="2400">
                <a:solidFill>
                  <a:prstClr val="black"/>
                </a:solidFill>
              </a:rPr>
              <a:t>简述</a:t>
            </a:r>
            <a:r>
              <a:rPr lang="en-US" altLang="zh-CN" sz="2400">
                <a:solidFill>
                  <a:prstClr val="black"/>
                </a:solidFill>
              </a:rPr>
              <a:t>Cookie</a:t>
            </a:r>
            <a:r>
              <a:rPr lang="zh-CN" altLang="en-US" sz="2400">
                <a:solidFill>
                  <a:prstClr val="black"/>
                </a:solidFill>
              </a:rPr>
              <a:t>与</a:t>
            </a:r>
            <a:r>
              <a:rPr lang="en-US" altLang="zh-CN" sz="2400">
                <a:solidFill>
                  <a:prstClr val="black"/>
                </a:solidFill>
              </a:rPr>
              <a:t>Session</a:t>
            </a:r>
            <a:r>
              <a:rPr lang="zh-CN" altLang="en-US" sz="2400">
                <a:solidFill>
                  <a:prstClr val="black"/>
                </a:solidFill>
              </a:rPr>
              <a:t>的区别</a:t>
            </a:r>
            <a:r>
              <a:rPr lang="en-US" altLang="zh-CN" sz="2400">
                <a:solidFill>
                  <a:prstClr val="black"/>
                </a:solidFill>
              </a:rPr>
              <a:t>?</a:t>
            </a:r>
            <a:r>
              <a:rPr lang="zh-CN" altLang="en-US" sz="2400">
                <a:solidFill>
                  <a:prstClr val="black"/>
                </a:solidFill>
              </a:rPr>
              <a:t>（至少写出</a:t>
            </a:r>
            <a:r>
              <a:rPr lang="en-US" altLang="zh-CN" sz="2400">
                <a:solidFill>
                  <a:prstClr val="black"/>
                </a:solidFill>
              </a:rPr>
              <a:t>3</a:t>
            </a:r>
            <a:r>
              <a:rPr lang="zh-CN" altLang="en-US" sz="2400">
                <a:solidFill>
                  <a:prstClr val="black"/>
                </a:solidFill>
              </a:rPr>
              <a:t>点）。</a:t>
            </a:r>
            <a:endParaRPr lang="en-US" altLang="zh-CN" sz="2400" smtClean="0">
              <a:solidFill>
                <a:prstClr val="black"/>
              </a:solidFill>
            </a:endParaRPr>
          </a:p>
          <a:p>
            <a:pPr marL="571500" lvl="1" indent="-571500" eaLnBrk="1" hangingPunct="1">
              <a:lnSpc>
                <a:spcPct val="150000"/>
              </a:lnSpc>
              <a:buFontTx/>
              <a:buNone/>
              <a:defRPr/>
            </a:pPr>
            <a:r>
              <a:rPr lang="zh-CN" altLang="en-US" sz="2400" b="1" smtClean="0">
                <a:solidFill>
                  <a:srgbClr val="006BA9"/>
                </a:solidFill>
                <a:latin typeface="微软雅黑" pitchFamily="34" charset="-122"/>
                <a:ea typeface="微软雅黑" pitchFamily="34" charset="-122"/>
                <a:sym typeface="宋体" charset="-122"/>
              </a:rPr>
              <a:t>✎ </a:t>
            </a:r>
            <a:r>
              <a:rPr lang="zh-CN" altLang="en-US" sz="2400" b="1" smtClean="0">
                <a:solidFill>
                  <a:srgbClr val="006BA9"/>
                </a:solidFill>
                <a:latin typeface="微软雅黑" pitchFamily="34" charset="-122"/>
                <a:ea typeface="微软雅黑" pitchFamily="34" charset="-122"/>
              </a:rPr>
              <a:t>预习作业</a:t>
            </a:r>
            <a:endParaRPr lang="en-US" altLang="zh-CN" sz="2400" b="1" smtClean="0">
              <a:solidFill>
                <a:srgbClr val="006BA9"/>
              </a:solidFill>
              <a:latin typeface="微软雅黑" pitchFamily="34" charset="-122"/>
              <a:ea typeface="微软雅黑" pitchFamily="34" charset="-122"/>
            </a:endParaRPr>
          </a:p>
          <a:p>
            <a:pPr lvl="1">
              <a:lnSpc>
                <a:spcPct val="150000"/>
              </a:lnSpc>
              <a:defRPr/>
            </a:pPr>
            <a:r>
              <a:rPr lang="en-US" altLang="zh-CN" sz="2400" smtClean="0">
                <a:solidFill>
                  <a:prstClr val="black"/>
                </a:solidFill>
              </a:rPr>
              <a:t>JSP</a:t>
            </a:r>
            <a:r>
              <a:rPr lang="zh-CN" altLang="en-US" sz="2400" smtClean="0">
                <a:solidFill>
                  <a:prstClr val="black"/>
                </a:solidFill>
              </a:rPr>
              <a:t>文件的概念和作用是什么？</a:t>
            </a:r>
            <a:endParaRPr lang="zh-CN" altLang="en-US" sz="2400">
              <a:solidFill>
                <a:prstClr val="black"/>
              </a:solidFill>
            </a:endParaRPr>
          </a:p>
          <a:p>
            <a:pPr lvl="1">
              <a:lnSpc>
                <a:spcPct val="150000"/>
              </a:lnSpc>
              <a:defRPr/>
            </a:pPr>
            <a:r>
              <a:rPr lang="zh-CN" altLang="en-US" sz="2400" smtClean="0">
                <a:solidFill>
                  <a:prstClr val="black"/>
                </a:solidFill>
              </a:rPr>
              <a:t>如何编写</a:t>
            </a:r>
            <a:r>
              <a:rPr lang="en-US" altLang="zh-CN" sz="2400" smtClean="0">
                <a:solidFill>
                  <a:prstClr val="black"/>
                </a:solidFill>
              </a:rPr>
              <a:t>JSP</a:t>
            </a:r>
            <a:r>
              <a:rPr lang="zh-CN" altLang="en-US" sz="2400" smtClean="0">
                <a:solidFill>
                  <a:prstClr val="black"/>
                </a:solidFill>
              </a:rPr>
              <a:t>文件？</a:t>
            </a:r>
          </a:p>
        </p:txBody>
      </p:sp>
    </p:spTree>
    <p:custDataLst>
      <p:tags r:id="rId1"/>
    </p:custDataLst>
    <p:extLst>
      <p:ext uri="{BB962C8B-B14F-4D97-AF65-F5344CB8AC3E}">
        <p14:creationId xmlns:p14="http://schemas.microsoft.com/office/powerpoint/2010/main" val="1781149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643279877"/>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4749B263-D223-4B92-8A1E-380CBD590726"/>
  <p:tag name="ISPRING_SCORM_RATE_SLIDES" val="1"/>
  <p:tag name="ISPRING_SCORM_RATE_QUIZZES" val="0"/>
  <p:tag name="ISPRING_SCORM_PASSING_SCORE" val="100.0000000000"/>
  <p:tag name="ISPRINGONLINEFOLDERID" val="0"/>
  <p:tag name="ISPRINGONLINEFOLDERPATH" val="Content List"/>
  <p:tag name="ISPRINGCLOUDFOLDERID" val="0"/>
  <p:tag name="ISPRINGCLOUDFOLDERPATH" val="Content List"/>
  <p:tag name="ISPRING_PLAYERS_CUSTOMIZATION" val="UEsDBBQAAgAIAMWLWEkYJkPyLgQAAH8OAAAdAAAAdW5pdmVyc2FsL2NvbW1vbl9tZXNzYWdlcy5sbmetl19v21QUwN8n7TtcWRqCB7INadMk0kw38W1izbEz+6Z/QMi6je8ya45vsZ2w8jQQTBQJbdIGGmNQFZUWiRHQJNBYYZ+mcbonvgLHdrIlGRC73YOlXCvnd/4fn1u8eL3joh73A0d4C9LZwhkJca8lbMdrL0hNuvjmBQkFIfNs5gqPL0iekNDF0skTRZd57S5rc/h98gRCxQ4PAjgGpfj04owce0FqlK2KXm9gbdVS9apulZWqVKqIzjrzNpAq2uL1t85fuH723Pk3iqdHclkwZh2r6jQIJaRzZzKANGroqgU0oloaWaFS6bV2+Pbsk4+jN6mqaEQqDXb2hk8eHe7dHHzzNB+iYZAlMMUF9TPPXE7TMIhGLVNVZGIppqXpNAmYSiiRpVJ075fB7d3h/t5w/+eDx58fPL4RPdwe3v8k+u3W4d5nh/1fB399+fefW/PUyAZeVrSqRXVdNS2iyeM3Umm4fyf6dmt4d3/48G5OjIFNYoCNd3affb1zBFkrKYVUPNq8ET3YzAepKdWaCg+NrXj2072DJ/18gAbRIADz/a4T08RVYpX1FUgQVMrt3Twi+iXQst0f9O/nkVolZpL/eTIaXlKqmCq6FtePQUxqKJWkeFZFF7WYh4TnbiDWaoEcWvd5zxHdAN70HP4Bt1HgOjYP8mkxyeUmlK2C1VTLVdbjKBQJcgREjofCqxy1nR4HE3yb+/N0QBtViByn53JTecdaxIpKZAvyJevLFk3aPVbGfI48ESLmuiJ2APQyu8e8FkdrvMW6AUcb8DfbsZO/rTNwO7bk/a7zIWJhah86NWo5TSYrpwrHM02hKsyPZeZ7MIJzoqYa/mVnO90APA1D3lkP53kxEYnCK7HiuH41sGn+p1NZ8nJMj2b053XHhBInBnz5oOXLjsguQepQH1KJdJjjZpdStEVQ1PB5wL2Q+0jxruTQqekjgCbQURlLEPkpE5YgIznkl0nZVGgcY74WOCGfJ5kkKs33v9dIC9YEl4f8RZ2s8SsC+t/lrAdJhPdOkBZO4QjKchXEeLLGI3ByTo8oGhjUZiGsZAhMcp0O+G9nYDbrZBzBdLxOReIVff//T09qfvTR94OdL1LsPJpJsFGpWRWsVQiU+eDWV9HvWYWgTGNjVGpaKi7H4tGjbfjyRx//GG39EG0+BecGNz8d9P/ICEw3MJksYoCOo5aQCoVCRsasRakhsBh99yAXATownjvkOeldTYQ8eG8ehOLytFxyyCI1Wl7HcnlW2CTxo/BhSnGlVofagJ3D4IHo+q35O8EkoY6NSzABkr1KKtWZfw3GBxXCzUVJ/I5HWJhP+5F2+EnA8aZw7DVVGhaW5eSWA/cb12ldS79eNmLJHIuvOy5cd7LCKjWswYiZ4XHbCXMCk6k+bnfov/Q8rrR4aXtpyD8/BclVsXh64ub4D1BLAwQUAAIACADFi1hJCswVnxYEAAALEAAAJwAAAHVuaXZlcnNhbC9mbGFzaF9wdWJsaXNoaW5nX3NldHRpbmdzLnhtbNVXUW8bRRB+969YHSpv9SVtQtJwdhUltmrhOKE+RCuEovXdxLdkb/e43bPrPhVUKoqEqISQUKiogkrCAwRUCakQ6I9BtZ03/gJzPseJY6ecVQVSWSfrZr/5dmZ29ttb6+otn5MGhIpJkTOms1MGAeFIl4l6znjHLl6cN4jSVLiUSwE5Q0iDXM1nrCCqcaa8KmiNUEWQRqiFQOcMT+tgwTSbzWaWqSCMRyWPNPKrrCN9MwhBgdAQmgGnLfzTrQCUkc9kCLES04p0Iw6EuRiCYHF0lBc5VZ5hJrAadTbroYyEuyS5DElYr+WM1+YX498hJqFaZj6IODmVR2Ns1gvUdVkcD+VVdhuIB6zuYeBzMwZpMld7OePy1KWYBuHmKE2PPEmCxjRLErMRus/vg6Yu1TR5TSbUcEurQ0NicluC+syxcYTEBcgZy/Z6tVxaLqxXVu1Cdf2avVJOYpjAyS7csCdwskt2uTAJPi39tZtrhevlUuWtdXt1tWyX1o68sKJDBbHM4YpZWFkZhQ4MCmZpL/JrgjKO3XaijAo09iunYR1sWWS4ihuUKzDIBwHU344oZ7qFbT2Fbb0JECyqABx9PV62nKHDCIwjuoQQA8O1HPTE7JVBT8zND6VuJrMfpTU2SotqTR0PmwdtvdAs87jpELYhxVBq8TupSe4OEgK/Bm6F+nBsT1Q3mSgictogG7gIHFNdDBnlBmEaU3cGziqqKc10bxcWjyMJcuFuB7JSHSmF49FQDVV8UPW48Z38exWpQb2flCIxnQbtfP1z+8FOd3+3u//T86efPX96p/PjdnfrbufXLw52Pz3Y+6X951d///EoDdVNGRE/UpqgmAQcNBDtAfkwYrdJDTZkCIQDbaDsoJ0pojhzITsRcUCVOiKlOuEgF5JNUKosF25cIFoS6jaocCYkx9UHP9BnwU8xdyFxCs5lE9xjFFgZh0YKSAthLnN7sDRpZv+HxXWoIFLwFqEOqoAiqLUNJiOFlgaDOLFeoCotn0cbENcidu67EiZ6mddxI+FkoQthGrap6UuXZ2bfmJu/spA1/7qzc/GFTn1lXOM0ni2RxqVTpTed1wkB/henF8jwiG9Rhn7cm+7IpOOPlr4EjoqEZcbiNV7LepJ7HqWs8+j7zv1n3f0vO98+TNXyT7Y7D+93Pv6h77h1t33vk/beb2l82493u78/Odi91/7mWRp8r/5pgK9z/ebJJ5VfHbEnnpT7PlW+D3bSwLrbe+29rVTzfvRd+/Hnibqkwb9LQ4HnwSsBreDRVe99VhI8vDjzGW7JV0KbTpOJl5e1/0SaXuozK9G1s5SmbDZ7Zl1w7qX/LMt7niqWvA0uRkM3Icsce+eMR3wmmI91jD9tBhfV/OzMFN6txg5lMsg2fIHPZ/4BUEsDBBQAAgAIAMWLWEkE5wPRtgIAAFMKAAAhAAAAdW5pdmVyc2FsL2ZsYXNoX3NraW5fc2V0dGluZ3MueG1slVZtT9swEP6+X1F13wl7LZNMJSidhMQGGojvTnJNrDp2ZDtl/ffzK7HbpM16Qqrvnsd3vreC5Jaw5YfZDBWccvEMShFWSaMJuhkpr+d5pxRnFwVnCpi6YFw0mM6XH3/aD8os8hyL70BM5WxwAb2bhf1MoXgf3xZGxggFb1rM9g+84hc5LraV4B0rz4ZW71sQlLCtRl7+WKzWow4okepeQZPEtL4yMo3SCpASTEjf10bOsijOgQZPl/YzkdO7Ov36A9qOSKIs7eaTkTFaiytIk3x1Y2Qcz/TtaVUWRk4TFPxVGvrls5FRKMV7EOnld1+NjDJ427X/0yOt4JVJaMo5XcR3DuW41ONnoro0cpZgHmQcna2CT499610E8l/juUdmXAWnTyavBwvBFD2nsFSiA5SFk7PJmr89dkrPByw3mEoNiFU96EkH/YQ7Ga5JdT3uD7wRVkYgr+gRr5x2DaxcvLHT1NATVqtbuyti7LsuilDAziujEHtlj/yt83qEjJQ98pmSEh4Z3R/BDy2OE2p8i301T6dfW4FhfQwJC6dgNZ4ezOTKyLVXBEzDS1hKE84LacCUDWVW50LKjmJCDO9IhRXh7JfB5Xv7GImyA4NvteHGQoooCkP9ZmPUWzqulz2n7eitaT+6X4X+ce48U3qJX8+xUrioG/2rJOczz9NTohMzz4YZZk1qOIh7tuERx/oeIzVYbEG8cE6numFcgZx6PXezNQZHWZQDlA1nGflLhtLPuiYHsdZVIxDaJtU5XE2qmuo/9UrgDcqUMGJ0TFXr6xgm710ZKXwLABZFHXrWHZyl6agiFHZAvTVS2AePvQxJ3aNj7XajHmCj4obzmkkd6RdF3ykxLjUMEF51XMMMZzm/hBXOpX1ZMvdhB/eDn2zlsMtM68XencK3UnKzth+nUCvNP5P/AFBLAwQUAAIACADFi1hJagDFHuoDAAAcDwAAJgAAAHVuaXZlcnNhbC9odG1sX3B1Ymxpc2hpbmdfc2V0dGluZ3MueG1s1Vfvb9tEGP6ev+JkNL7NbveDdsXJVLWpGpGlZTViE0LVxXexj53vjO+cLPs00JgYEmISQkJlYioaLR+goElIg8L+GLQk/ca/wHtxmi5NWxyxH0yRFfn1+z73Ps+9fmy7F69HHDVpopgURWvanrIQFb4kTARF6x1v6fSshZTGgmAuBS1aQlroYqngxmmdMxWuUa0hVSGAEWou1kUr1Dqec5xWq2UzFSfmquSpBnxl+zJy4oQqKjRNnJjjNvzpdkyVVSoUEHKz0CVJUk4RI9CCYKY7zJd1xC0ny6pj/1qQyFSQBcllgpKgXrRem503v/2cDGmRRVQYbqoEQRPWc5gQZtrBfI3doCikLAih75lzFmoxosOidXbqjIGBdGccpg+eccAGZkECGaEH+BHVmGCNs9NsQU2va7UfyEKkLXDEfA+uIMO/aC1662vVymJ5vbbildfWl71L1ayHCYq88hVvgiKv4lXLk+TnhV++ulq+XK3U3lr3VlaqXmX1oAoUHRHEdUYVc0FZmSY+HQrm6jCN6gIzDsN2SEZFNYwrx0lAPbnEYBcbmCtqoQ9iGrydYs50G6Z6Cqb6GqXxvIqpry+bbStaOkmpdQCXAUJjsJfDmTh/YTgTM7Mj1J1s9QNaR3bpYq2xH8LwQKzfmus8HdpPa0gxQs2co7rkZEioASpz4DKfMMwtxDRw84dXtVFALzEO+pvaabsh9Bg5P8SJGtFwqKMZZb/0Xk1qqt7PyGWh41K7X//cubvV293u7f705NFnTx7d7P642du41f31i73tT/d2fun8+dXff9zPA3VVpihKlUbgDjGnmiIdUvRhym6gOm3IhCJOcRN8BOJMIcUZofZEwDFW6gAU6wwDncrGulJbLF85hbREmDSx8CcEh/2kUayfBz4G7kLCEpzLFiVPQYAyPk4VRW1II4z00/LQtF/C5vpYICl4G2Ef7muFwD2bTKYKIk1GDbF+oyovXoib1GhhigeliIk+8wCeFrBYQmiSB21q+szZc+ffmJm9MGc7f93cOn1i0cDrVjk2q2Vmt3CsmearOmSp/1J0grGO1S7JJDKzScYWPfphMTC1cZNwHWMpR7tT30RfjDl173/fvfO4t/tl99t7uYb44Wb33p3uxz8MCjdudW5/0tn5LU9t58F27/eHe9u3O988zpPfVzRP4utcv3n4yFUXQO6hI+ednIvv3a08ab3Nnc7ORq51P/qu8+DzzC/y5L+LEwEO/0qk1uBhFPRf/RA8jjiLGNxkr4TbHHfj/3ejeiFmc/KrUGZFz9RsbNt+bvv68u35mQr2f9IgOxt+YIx8UbjOkd9uBYiPftGWCv8AUEsDBBQAAgAIAMWLWEkP5FkgmQEAAB0GAAAfAAAAdW5pdmVyc2FsL2h0bWxfc2tpbl9zZXR0aW5ncy5qc42UTW/CMAyG7/wKlF0nxD677YYGkyZxmDRu0w5pMaUiTaIkdDDEf18dvprWHcSX5u3T17ErZ9PploslrPvS3fhnv/8I914D1JxZwnWoixY9R51ZkU1hkuUgMgmshhSHT4/y9kRQxkx603j9iba24scUvplxYau4JiwMoVlCKwjth0qyosTfoLR9WbuSKn2Ol84p2UuUdCBdTyqTc8+wqze/qhXWYFWAOYPOeAKBaeRXG3lyfIgwqlyics3leqxS1Yt5skiNWsppW/75WoMp//hiB/Sfo9dRYCcy694d5PXEoyeMdlIbsBb2eR9HGCQseAyi4tv36x80MG4WVKOLzGbuQA9uMKq05ik0uvQ0wAgxWXo1uhlhNDkHK7cj7m4xAkLwNZiG1fAeIwCVXuoLfqA2KsWONNBmz4+oUHyayXSfuo9BcnhYtG3r3qlQf/whC0ZI1UZoToxp3nZzXDD2jhxcW8s6pmZeUKKkREUk1hRYkKdx9WsE919dxp3jyTwvb4fyaizbwM0CzEQpUR7/+9xBi6O4y9XZ/gFQSwMEFAACAAgAxYtYS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MWLWEl0Pke4XQAAAGIAAAAcAAAAdW5pdmVyc2FsL2xvY2FsX3NldHRpbmdzLnhtbBXKOw5AQBAA0N4pJtP7dQpLp9TgABMmIpmdEbvxuT26V7y6vb3AyUfYTB2WWYHAOtuy6epwGru0QgiRdCExZYdqCG2T1GIzycAxfjHALvTwMbL/ELkn/0++MG+SF1BLAwQUAAIACAB2uMN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DFi1hJcYP8DhoIAADbHQAAKQAAAHVuaXZlcnNhbC9za2luX2N1c3RvbWl6YXRpb25fc2V0dGluZ3MueG1srVlbb+PGFX7vrxioSNG+WBfqZkQrgJeRTUSiFJG2d1sUAiWNZcIUqZIjex3oIS3aIBsgSICkRZqmXWyx3S3Q1C0CtEizbX7NWt485S/0DC8WScsyubsiCJhnzvedM2fOnLm44R4bljh3qT013tGpYVsqodSwJm7zBwg1RrZpOz2HuIS6+ZXkwLDG9qlsHdpMBlKX6tZYd8Yia3WbBdTyfqhe4+tSHb7KQrmEamVcwnUk4YoIbductM2J0CaVimIjn6DweR0yIhZdz9rIx1qvA2TLJQ6VrTG53+Ti2tGmeA92HH1sgJ7brJbZswitLqQye1C5WKlV8KLEcxxXRWJFKkqFRa22XeOLCBfKlQK3EOolrsShYqVS3K4uirVShYOv1nYVWMp4u4rKtXK5JC1KuARoxPOCVBIXNW67WOTBGq5vi4tWS6gVCqhYLHJlaVGpci2hgECbAw6eq7MAchIncNUFL/DFOodaYktolRdYwlWxguolXC0UFmVB4AqFVXBXvYuGayVN3Z0wnLcQrh2Cta0st/JrkqsxmjsOKGtkOjN1SpClT8mdnEVOc0FCeskbNod+xKW+EMQM3ARsI+/9FYo9u9HEj8qRMb6TG84pta2tkW1RcGbLsp2pbuaaP/RzI/A8DdI+IU4W3KE+IitzNe+XFhbYgnyFZxNoZE9nunXWtif21lAfHU8ce26NU7l5dDYjjmlYx6Bd2K6JeKMh03CpTMk05h+usyc9bAb1yCXMvSpmTyqkqQ+JGVoseL8MuJXJ2yOSgJ4YrkE9KF9kzyboTJ+Q+ADUefZsxlhgJT5qNfbcDqLkPgV1jk3v0kZ1Uz8jTtyIXw43ouzZfJY1n2aOPWHBjuNuH+grnGlDdbEmzMMCe1KBWAeZwVSjFITN67+UUAw+k7WkMQUrMLjR4hKIPMqeMBC7nR6v3Bu0uzvdgSDv5JqiPysRm5Y/LlXr94uV6k8a+QCXkknt8O12nAt5ZJVCOi5F63fbAyDE7YGC72q55o8m9M3km5mqu6e1ZQXnmhePn15+89WLp+9d/OHbzCy9Pt4Hh0xwIvGmodrr97GiDdS2LOGBrA6UruYFr401LOWay8/+cfHxk8tnTy+f/f351x88//rd5ZePLj//9fJfH714+v6L839e/O+33//3YQpLUp8/kJWdgdbtttUBVqRQkmtePvtk+ceHl58+u/zy0+xMfV7FffD0kyff/f7xy8EHXn74DMsH7y6/eJCZZ1fe2W3DqzFfvvvbZ8+/Oc/M0cMKBCNVDDpYVfkdPBC6d2HIIIM+fpIR1X0LbD06vzj/PCPwHla9vEgBU/h9eYfX5K7CUquPVa0vi15e3bPnaKRbyLbMM6SPRoBDsMCcGPbcBcmJQU7JGLmmMSZuZkMqfnsPklrm276hI/2EIGp7rAEnMixEjwiaGCcEvHDGxElhBqaaiCU2YG/vyT8dtHi5jaUBjKDUPRhoXmFg9nQHtmg2Rbpp2qwbYFofn+jWiKAhGelzl6AzUBsbY09tpkPnmTO/mBvvIJ36LqI3gjmpSPjuG1uv7J2staHSHOiOBUU5O1usLlzv8hT2muA6LPkzeltfIvHYel2OvIbe9XhVvbFracbo1fuVcOElOqVC3uM+rJ1QEwTDzgTCHciYXBNPdcPMBJSVFpjzjsiwwXcQO7dkIlC6AYdio1eg2YexiDmyD2OUjeIAC6qssaiTIduzpgB7o+fnwfrcYScLk8Cx7Sp/huTQhhphEv0ERhbkhusn1NbL2cuaKGElZvUyWtoDIgXcmngXIQgcM40p27yno93r4DCafjmOheT17SY2mfI7sfzlny8ef+gzpyBUMd8Xdwcir4gYJsHFR79b/jsDDjKYudTW1EGbFxjD8qtHsI9Y/uqvy4d/WT74Fnp58d5vLs7/k57T395JuMUDbxhBj2xrays9TdIv3x3Ycv3pi6wkMEtZncJXZD9TbErcn6fg0XghDvU+UgKDjXIIzbhd9hIiiCavaby424GcgU1Mn7j23Bml2mFESTp8/y2oFd6mLdfs6M4x1BrNts2sRF4MWNWjmX142bNDlOOVKziLgCb3BrwkeSctOGOZxujYXwjHSEfBpQoy4ciVgU/c5RUoSQlKMjZodk5vUQhrA0xT/ztMQrYpXLdGXAlWx1c4HttzGjsNW9SxzR67R7h+cQYK7NpjaJImdeawkIRfUQ33yD7tzqlpWKR5qJsuqEVFSdUe+NBj+8eAMi5LavfJqWGNI6qBIKm3b5vzKRH93kTdiDckYaIoePdsUcSV7JrnsLcPmiKur4RJfYXcp9f0I8KkvspWzy4cJq6Bki1RZHj3IehOVJ5m6ECHWDoIwwCHX3Ed5kGb3YG5EZcCQVxzao9J09sEaMaUsOGHHGSyqMP5GzxuWFdLdodhhmdqcHRKNKyyN785fRvUoCa5Obe9fsAMjI6+971uAgQ662aAf1ebDIYvRfRsRu7k4Fihj46m7LY8hwKOOzkWTv/6+ybcLCxnrJpFkJ43m6FTr6Z7JT2TSYtV8mymbH+ubwY18tfi1MhvGqFGQHvzAFrz6ZA4GHLAIGFyxmVR7SNjcmTCS/e9k3kcdkNjFE+PgNqCg0WIiQhiaUV0Z3QUzhX/I9o+nZvUMMkJMQOdiCASms29b7gwNzanNk/b5JBGkzuQZJ4DQaFbZWJUO95wI8w7x6zF+S3ZFh2qD12v92tqVbjyrIrVmrUorNEs2aNe+YJY2q6xBbo3hb+Rjy6yUKKu/QcrKQMo8N34/9v/A1BLAwQUAAIACADFi1hJM91K5mcaAADkRQAAFwAAAHVuaXZlcnNhbC91bml2ZXJzYWwucG5n7XwLVBPXvjc9nlbbqrTH26Ko5LT09OGDV0VUSFLrA6tVqqjIKxERUo0QlZd523KvtlVMrUqwlqS+eIdRkAQSkmhRUIPEB0kIIYkejJEMSYQwiZmQyU2gx6Keb63vrnXv/e5dH6ywZs1k//b+/V97//+Z2fP9V+tip7wR+Iafn9+UL1Yt3+Dn92qmn9+E3Emvea9EMQbmew+v5GyI/dyvtmNWn/fkz4Sla5f6+V1kvTmc9qr3/PXdqxJz/Pymtvj+X2kjVWz381tB/mL50o37cGZt6qHag4nIA9qH2P2ozx4f+fbdPbF1H/1FsODSD8D8HUu/n/95eFLge+fOFP88qXhr5LehlVsqDmz7fuGtlTPjibgLWdumzbV58Pfy2qILaps6ThKUlIgcbJv/VOXNZiCRWFvXgTnZU8A3FUXpFrlaoyR77A0A3dzDlg5n+Pn+pl7or2loUtqFFnOaXe9x6zUJPqn87sM7C1OXoDLxdEhhf/UV36VG6s5DaFSmnma7ZX91BNzo2nlMDEikSx1fjpxbJN3brVRLk7Gb8Cff+W6H4kMq3jF59MvZLfN8x8tHZ2SO9HekPezNkVbbDyT6jvuDP20fgc06mfau9/DXp6YEKcVuqgY4dIdIjz52Tvhq3jTTwtyo3ojJ9b6GhUwnm7mYarsVZW0P/2mIqciqmHlHe+TqSL9hTwEPDERPO/yBWCR8W2teNYqZ8MXqPEFw+MhIkz/4RPGs+Y/nNhZE/2WE4+XPftowDvgfBiisFOgoYH+DChdNhRQJcqQXi0zoOgl31wIDcBLXlB27rcTnltO/dBuZiFENAlKG/dEpko78wzn0JrwGisThwfgx3VGWl55zsyVKkebo9BGPfC3+QGLfgogRSrPUx9M2LykabRu7MKPkxLrgUU5H187IPH/v+gjZ3dtfhAiddCtVH021qwlypN/7yYpDQ53qHDm6wPi3vSOOvj/4VET76igRienSEFgY+LE6mBVzFz6GdR6LDl1MGBFiUd0nLTW5OdWxN5VPkib0B0ifXrMxcVVX+EGRyXIq3FdujYH+PoZcdnZk67oWkNJIH7gWYI1pkI+h98j+tJfFZc4shIIzBIq/Uk/G3gockffIrpthc7U9O3fzPLcTTBGhzw09Gos920Z64NM8XX3JM5qf/PamMdTmYHocBZy7zzUX3WQOgwY2XmLrxIzR0yltRLNSMGcLdi//QBfMKlTYVot7hq4n/aPJ7CXtylVDPTnyUk/za2dgo+FtqoZZnLsvko+BOuNJ/heO7fgl8nftdr7X0i+Qus22B9C1AHyMxxj4Nchl8z3z+mCF4yceUL2CTi2Ek6hDd2JDIzv+IaLpdmz7auEMRfA9Ve8udzP1knBkcrl/vWxy/V0zaQYhNDBj7v+NZf+jztBZDUgodhgE9M6PvqDWSFpBIr1KNPv7keG3hkHKZFIpHUzWL2EumH0h7gXv/J8esBtIzQOtajxiwHPciNWDqEnIIxLHfTfU/ZfdMoVqL32tSpVPLyoX/hFbodLhQXWhP2af/fIEf7/oTfheqAHzx7AllP6Lbd3vTexiPx/M5Evzfjnw/KW8CVMvxI2N5OzmV+w7xuhWURRliGUOxaqbLI5S+qmx0N61lQ8sJxJwaeUc2uAN+8tfh7dbTqXZF6z9Q9Yy4UDZ9EzHrTDqz2Vj5NHui59c78osQa99nsonB9T0T9s5ZZWW/A9G4/3Kxijdv7T0S2Zkxt37Q7dbq2aSfkjL10+uL3+B+7UwEemA+t6CMcoxtZ7aVqKNaunf8fM43XG6/wvpCsDJ9Sy0vavJQk725mUeOCQO6x7SyDUS2uAAi9lMh1eY6PShsyi0x7nCap0j5VzzThZP7ZpUKQIgJoCjwbjLSl6SV3O6pZ+AsZ20YaO8iz5Th2FWV4XnZc1YACypK66iwit2Hk7VyVdYAcZ8thuapwTqg9JVVuuPAirwsprMP6bZuR4nVy5BIIDr2ae+sgf+lB+0EDx6XuqgSgswO0NYK1MP3IKNlCbKySqqHoqAhik4camhT3M6l0wRyykw7J4nry5X2IpZGWT4DE6gswzyVTiG01AfSnvgXT3r6SKQnSwVp79sO413gRtcpTLfX1SpLNye2NpRxagpV/yauLO/Zr0NUuGxTBTEm2QyQpconk3iYZh+PHAZ+0pjay8kWLMFJ6lCge7QCTsri/Fx6PcbdXgxMsgvxjvO4JhkLeSXjAXYgGB9aH2MGFeO4VO4snsmo/bxP1XDEn16PnrRh4rBx3evReRuhtKnlCsiNiovJC57NLhQGF5Q3dppMIcEZ7ubZ2aC6XimVRW4hY2Pm1KmMZ4wcANA+RXYCDoEMWIMp4qRgmO6GEcyXnaTtlmZonK2gRy5XflrUwydvHxnEQ8agvY3NXdspru+pVwyDa7qyviz+YAauncTVt1rQLqEqkQPzc1nl6uwBfOBnC9f9l7RjZb+JDTwmirjl1Sc8f3I68rgbOKvPKblgDowW6U/mO8GE3EfJko7YGPAlPoAN3wk62VmBTklvPBct5x4j3vRQNY8qDtwLzCdzawlEb9KJ7qbkw7Irw3y/lR8sUFStBTdzWfoptTLBKu3BG1KDrYMDoTqy/OdytehPfP0QD4Pl0nenu2mkd0UptZRwmMRnE9NZAVlFqb45SBLJZTwYoFaqfizKacD0O/nUs49HmymuKGniS0ZU86sgfbKvkpq6YO5AdDAPMUkIY0G5av0pHyykwIP1kVeCAnFkwS6tg1RN4sDN4FmxSQRQut8KzkOMAJcHKplkJjEpLUt/KeR2YMbn7fG6Y7T/X9BN7K9Do8dmIa9g0jqSWO/m4iiXZi9ez+9EoDGyNKZzkIrjyy6LOlUwWOEMXmLL3tFYlcTHAiMbb/UBOI9sLoNiwzk334lWzBSL/9XlART+3y/t6gX70h91vb+jzsbqYYTCV2VH3Fpgx3WS0OFfyjk4HafPmv4Y3q44dN7Yhb4TMGzfhqxT7fyGZVFH4zYsYH3zGC7V43Ye2fymGFHFK3g/6G092b4DFKd9Yd2l0X4DLdZM07ofxUhX44UJXXeqpczERuBhUWeNhm5TKQjJ8RyksBZ7Lp9EJNr/8afdr8nmBWz17jYmgrtwRt6t0hp7n13ABGDLmh6fghfzoe4rFhUJpduV9vS7BHLHk7wj9mNyVSCx2HylAZrBrQnJWN5qpRWVKd3dhR0MCVm3288pVxtx/OqEVRPrY9chxl+0lKA9E08/15dUFpyaDy2Npl1JnJvyFmz/WgFRAlAk8gwnKXa0tzcMWg7D7k+8eYhEKM49s+hE/phA7EEJ9UazApZLRYFsujuwagX+Qr16fzXbspiTJeCwpNDE/R3tyYXnYQ+7qEwppwGY++FyKvDGzkOxCH1mPc0MCTedO/R9x9xFjFLA1eCbsU90NxpKzbRO8FOV4XKirEHfgWSZW0bsPjXlAYD2AYbq3DZZCYkKU7jt2ph52C4EpyH6l1b+7zxRB1hyS3pU45qYi/mK0qEk0siNyvB+S2ZRSJw4NLK25ST8EVcOUe6sSVbLA2MVsXhD3RXeXNh/d2I40pZJzg/dcEc1T4hsvBNiCKb3jOlXtuGU7i6JVJIput8QanLDqoztje3f6zZxFrOe6W+9VYgHjQmy94STv4VFJarwBpmShLSpItLTNIh/MA04lepQetFky+DbLyO6VhY7EiIA7gk7dCLvXrzwTlsptgToZAVeE4DBrxHP7UMLH4lt5KBIwEcCcKfFFlWiwoXZTuNlA92TfltjbZCyMOVYTooXG/fmFp4VqdNNd9Kcl3UF7/sBzJpFT6YUHTkkIGsvSw8XCYLjqsO3MTeU+Ca/7ZSnizhfeZurrpYr2uz90GTVBm54q9LvHXK4BII1oYlk4hovlI2X6ozhyUr2oSHr0LEFP8rIOsiRmL+jjrthWCrXdKu7Npy9uHmTS3GQVtW5Drlx4lnMyqv7HVnvVUczucI3O++Hnk8BBAwroJwH2Qvts4VuacrPSktO8RuQxZPr9sgLoXakgB8XDVrB9kJ73FOB9sMWdltusCjApKxTPV8KKcasch5+n9KfJuFLf31cgzVSLD2nykHH70w0uyIdsb9CahGW/0hJiJxiK0d8lyN6Xnpp87IDA1MVcVFtet0L5uBFTN43flYGLMkf8bWUAoFujot7hesmPZ4GWowa2r2vhfmljxU+CkGMmyTcz20GekgV+9BHFxPSlT9C6xx/vW+mUftduiZSO82dKfpkeIF5uklPFLahaBMmW+yshnBFxtowTS7jesZVrf4Y2mIzRStdx5Jsx94UQFL2vM9RwFLX+RVzJPLE4yeO0DgdtAJnt4cBbw0jfGRCTgIvY2Ym8oEug5xcOiBq9OMLbvQ326OEr3UeLOrdnzBGif030xIESZjuHuxSG+pfkffxPGbXuOAccA4YBwwDhgHjAPGAeOAccA4YBwwDhgHjAPGAeOAccA4YBwwDhgHjAP+vwU8tRRIqQTK0XMFCVFnnt1yeaIAGFC/S+9BSl9f+RMCCKfkBT+7sfOtkUO19BdF6Ro/vbbqrtq5tkJzW3tYFvbcDiu/+9dHR/aLzRy51eO3KOI/uEnrn3RR50JcUo9rZNfX/t7w/7wR1Utb+omAON/eJKdb+qdxn15VL/NH59rvF/rrFkF7FG0JKAK9WQtMGNnYdlHXJswyLazCr3H2E7DU82gejo8jkN2WLP1KiNjE1vz9xEE1G0fp609gGBK6/e1lVSwBxmJRjcATBn57M7Sna+Jc3fyGcgVQ74IAhayHz3tSZXLAEdxD1cLBMFdfHFPo9iMJ4UYRXp5Hf/Qpd7EKTQIDmAMBcom9ARCDfUxHAbPAHi21RRuD6EN3CtBcqlFN4NJdOZ7O+DhxLxnUsylNkE1pcuwiN5HoYLJ1n25wSIZIcEOEh9nNrKG9KOf12Fa8MY/n4V4VDWBxBzFzkDLaLN/unHXQfalowHFDcz+eC290Ld5Sze7DFZBMjuFs7BPbzZb+rNTLYK+FgVatn6Dyd9/2L2Wlam0Ci9SDFKB5K7UUStF+QyzjYWwHs0cyy7GSbiH+yJM75e4euRjdoXzaNIw7jvIMoKS7NwKqahSYBxqKjQruocBokCyTqwBNH3K4p8gRLk5xJ4FmFddAQWDIUkx1r3JRNOzFR6IMvT6b51dNfBgz/KTFrH/dUeWKqckD6hMgKjMKdTzPkMZ3/Zp9yKLKqQis2/nXahTxsQmXyVspzl5QHbuqtu0CJZlNpqbg6TpVMAGddKm1C3bmN9e8LWEAJmNkWaiUILsgak5xk7cELU1dZoTv8LDDLdieI6JDh5DDs2CMSXVhmEZpgiNDmRyrIox6OLYb/2j9wDNizOQ6l+g+J497sMGSZ69BJudyDy6bnul/aXiunj17A7ErmUUMGPhO3VupP2a2pk4pgXrzwwBuKCuTN5A7YyXxfgqubB4zaOdQDwZuQMiwWPxYfv209SwDx1x3TzZ/ghneUaAR046bzuhiHRJV9s02r5NfNsfr0y+5qPd1edxDo+PqmAKJvibN/nPx0RqqLgn9/h73d9fWFX0jOxvR5BDqRRkl2iPHIZu5MbGYjZ9Hqqc6F9B8HiK09taFsjES8LEkyPpvFjqQB+SE5lpneuNGU41AULxTUpesNabzqKXiatKO2/SQ2pth1LWyVUo0KSv6ME8xPUEedTMowUF14KbWazWhB9QyUOdIciwJgHxbaMwy/EqHxMu5UbzOgN2t6MOgiFrwl2/lDHu92dg7Z3K96tLh7VrbuxBQjh+KiLypdNj7JYKPHZvp0d9C0yVIUD00ZNC8cxxylKRWs/GSdz5LlHiI6Cxy8qE+avs65spaFybEtdcKhbkmMp9MJOCRQbacw0SchbF3RsS5l1e6nv+7RH0nCZwdHkvBHKH8hpdi+d/X4OENrsVNNY5dJdp8tTE11gE21com10cKQ/TH8qtbJQas8FLX1MyemRC59pu9TnGl/lAGjfegnoHfuQjfasuo4KHYr+S4l0D5ykJC0WlQpT5yltgnv/6e9SySgjOkk4EDaj1i1mOovo11tAbPr9Knh6Rf4xf2jShJM5WuJ2pdr3l9yU7uO88+Mqif23RDKJf52J1BdnVyj1pse2ccUBOrjhJnNIfUuVXXA2SCsK7VJJaoHKOCeH+6GXHV98xWLhmHXp1HhmEs0nCYL5PxmNbitxs4OOy6swS3pCAu9KCERTkl66KeZGUEHgSqXZR5eZdxdEgRje8jGLHWoHDXw2NxHCzAwbj9t3ldTahS21tnkn5hXdPKcJtHbUg3Ub/PZ1qj/6Y1Zng9In5vqTWKWPKqpckCXuycJFqA3tAguXZFGMoYOGTe1y22Nphl7POUU2siO3BGz9tmXZQ3aARr6P53LFaaar3/DyaOpITDLFXxpL1BsKPHklOvFHdULh5y3QrM/IZa66LUxEpDFB93i9v/foafnu1lpQwVVRTHPq7FlsH2Nxwm5iXfNmK1ZPAEcImpj+60IharxL3/V7PNZOXIpJ90o7/eQdFuYLJ50hZlIZcvr77IxwmC9m8kEVzDsscYrNcZvzSptvhfFj7uTcT4a/U37oFKm0mlKeqElkDkpIX7RTykPZfL9S6ajUYh0GZYfyFvd/krl5CzW0ET80vTWwWxfKqeqGGHagpTWFd5jj2l3jARk7y8sllxdFO8We+orULWiRDBCuL0FE4CE+BJ9Uo9thre4y7o7MtbI97lLqX0+TbA6Ri6iOshCpm2WtqbD3xayaI6I1Vtm84OUQIq8MYN7kBl8C6KFp41L0u6aZsbZssTxEUUdXbyoo3uk30Y7LSWebvleXjWGtDz4HGN5+C5bsT/TtKIKfs6L2KGmBdWj5oRLZSCqSuKvgffvoBkixDqI9gqlJ1dxP4mXJxddBTcs9d9/zy8B/1IWXhm5/1UnOMtrZHgNfc5Bg8i4lZ2GVRNMVKGGJLLgHpc9oyv74EhhY7BxTUoMIcfI8WgZIXXqmCnNvBrkVx+NSz6qYDpEtTHBpEfDkcReJzNchA3cZ/AAu6pPJLhGF6Blh7JdDd2ilNGI4KddyJY+7v6LFZKwsXh2fyVV7Knp1Yt9U5p8p9wBTNwxJIeJLWhVVbVenPIYZaZRsyYstndDeZcuERneDXzTZ4L/AJI5p7KaObJ1XYnZC9+UOCu6AEf+9S06+xKFXyLev+biR0Y+A6LQ+9PR1EP+jOfthCwtk+xOUjEa0nXvbY+P/Sd+hqMj33MwQsdYq9rZszzhGrt6y8FoKu8RvetoEH+6KGvXA6xrOpWBRIkmsyUnV3IfpsfNNDE2E50i3NmTPT6k4w38QYkrcOHxoeKDp+EFpqyFJoaI+qMa9i7lB1LMarCxNlNHUb7EpP8S4fz5PTMKBzZcKLet5UIi8ITT0ivf4R13rCxK9k8VZ/u3ScTtKrevR+Ak/Ll+iQEXwtfpDJGlffFbOv5JT2y6clYJZaEl/w+6/X2lXOzPZKCTZFPFV81Dpfyk7BMF9APoN75GSdY2UpxZlyukRIALt6lgPFqfOuNatPvgZFea1KlSO3mQk6xSZUqRaCvf8YViCM7ZbUT+yC91doq2NdVhf3U6x7bSrQVsVcZTwpRtLZJ0WOIps9WnYc8T3JNxKxKhFtjyVg94pBNh6G2pDYpQnaiblkMIscU36o2+H0c7Yw7Wn+6OJaSL08O+lsSU9/PwYqzK1Wix1al7OxyQfCjjDzuKe+a9yF0cR1rAw9vXBG81xcTKUOLa/CePBSadhSuv0vP/ktL/03fo4HI/Df4vcTBeCwUT2DC5UyKPc4zFNcTwRxuY9KQ+XMbt8yutYCGOV5z1w1LKYoVngkb8OmySUlYXC5tzSjXmiX9qVpZ/qg2DQ0q3EzPVIp3Dbnlm6XPIYc7uScsOcemZyaYsKZN+vj86Gbl1iGf1xtNRo3R00oablUD7m6goQUVhY9aObhOq5JtysWzzq/UZ+TyTPj4CuCi18+aKkwgjxp9aHQVfgcKzwJxtaNuhsE7byZ0Sx2lP1lsdV5H/MR5ly3pZOBCetEzM/VvagGCmcC0E+SoOeKgVPDBHc17AIfPOElpHIxDHsZJQEPjbOF7PxWYJLjaMy5KSqf08wsIY3FqpA43BITX5Fmp3vCWdR+5vuaZmH05XFeKq0Aaf4e+TilULX6HiwyVa+Q3MmZkJozkf5Nrz88cvGk3MPrbGDX0xdmS7O8elgoBdrU3k1CZ0jwQc1+NtGHpJg/thNVz17sWWPJCes+s55twklGZcP7Y4d0uhzT+Nh3jG+FVbyjdvqL/bWtaSWp4O6dsTH8vZibgeTZuidoapfkdGdr85HOXs/GNlv7VDt5kE3V19sFmSjecQZtbqOHNfJ9c7rPwEW/uC2G8gZwfj5nqm1+4MO6MVj/BUetK8aWUBfIY25eupsY5Xs9pw9gv2rEIlMCEEkisfd7EyQZ6T6/4M57MTkcJYqOWjxqx05HSJ/nQWiaj4dmnBvf4yo7o2b3WE1FrHeQtII4gtzzSu4CYdp3yYJY3b9yFf/pbQEdshfnJz8NDXj9Uo5AHKP5ZVJTGl3U2E//1YSnjQQDjtJvS9APVDdA6NbWOO17V/d41VSFdrHWX7maZXBX53MIGyklLnqOCYRXJr5yu9Q3iIdyvI9pDPYOhXPrTFlT2xK514l3idQ7+fk+8nmrADbMSxLeqx3Atves4JW7n5M9hvS8J8G/1FiXUmZ4nqYZpjiISrXeYeguBAQ8l+moIxnkjjiP9crQ3X4HTxaVs7dC1qWWWHeVhG1WAFRczHbzZsqspgbVIFDCV/C/JU3iQOxPEP6hFCc72k9xKUqlnrg6KOTtSt/Y1rXV1bUrNi7M1LWr31mWV++C+cjlm8CjrFy3T47Z+FVdtzButxH6c/n8q7ERWqt6Fc00e8/IQkCcY+/IQb3Fr9fDlfx4pHS3Va+2Seg839tZIgx5qw7XNxpZdENZjw5rfHAXRG66EiNHtm32P7sp1vleVnBh9VYmwO4VIdUs7OhDUciYh7YK7DPFd/2LFuuW1n2/99t8BUEsDBBQAAgAIAMWLWEmJd2BCSgAAAGsAAAAbAAAAdW5pdmVyc2FsL3VuaXZlcnNhbC5wbmcueG1ss7GvyM1RKEstKs7Mz7NVMtQzULK34+WyKShKLctMLVeoAIoBBSFASaESyDVCcMszU0oygEIGFgYIwYzUzPSMElslC0OEoD7QTABQSwECAAAUAAIACADFi1hJGCZD8i4EAAB/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R7hdAAAAYgAAABwAAAAAAAAAAQAAAAAAnxIAAHVuaXZlcnNhbC9sb2NhbF9zZXR0aW5ncy54bWxQSwECAAAUAAIACAB2uMNEzoIJN+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
  <p:tag name="ISPRING_PRESENTATION_TITLE" val="第5章 会话及会话技术"/>
  <p:tag name="ISPRING_SCORM_ENDPOINT" val="&lt;endpoint&gt;&lt;enable&gt;0&lt;/enable&gt;&lt;lrs&gt;http://&lt;/lrs&gt;&lt;auth&gt;0&lt;/auth&gt;&lt;login&gt;&lt;/login&gt;&lt;password&gt;&lt;/password&gt;&lt;key&gt;&lt;/key&gt;&lt;name&gt;&lt;/name&gt;&lt;email&gt;&lt;/email&gt;&lt;/endpoint&gt;&#10;"/>
  <p:tag name="ISPRING_RESOURCE_PATHS_HASH_PRESENTER" val="ddc822c3c2cc573ded2bf96ea5e292188ef43df"/>
</p:tagLst>
</file>

<file path=ppt/tags/tag2.xml><?xml version="1.0" encoding="utf-8"?>
<p:tagLst xmlns:a="http://schemas.openxmlformats.org/drawingml/2006/main" xmlns:r="http://schemas.openxmlformats.org/officeDocument/2006/relationships" xmlns:p="http://schemas.openxmlformats.org/presentationml/2006/main">
  <p:tag name="GENSWF_SLIDE_TITLE" val="第5章 会话及会话技术"/>
  <p:tag name="GENSWF_ADVANCE_TIME" val="0.00"/>
  <p:tag name="ISPRING_SLIDE_INDENT_LEVEL" val="0"/>
  <p:tag name="ISPRING_CUSTOM_TIMING_USED" val="0"/>
</p:tagLst>
</file>

<file path=ppt/tags/tag3.xml><?xml version="1.0" encoding="utf-8"?>
<p:tagLst xmlns:a="http://schemas.openxmlformats.org/drawingml/2006/main" xmlns:r="http://schemas.openxmlformats.org/officeDocument/2006/relationships" xmlns:p="http://schemas.openxmlformats.org/presentationml/2006/main">
  <p:tag name="GENSWF_SLIDE_TITLE" val="作业点评"/>
  <p:tag name="GENSWF_ADVANCE_TIME" val="0.00"/>
  <p:tag name="ISPRING_SLIDE_INDENT_LEVEL" val="0"/>
  <p:tag name="ISPRING_CUSTOM_TIMING_USED" val="0"/>
</p:tagLst>
</file>

<file path=ppt/tags/tag4.xml><?xml version="1.0" encoding="utf-8"?>
<p:tagLst xmlns:a="http://schemas.openxmlformats.org/drawingml/2006/main" xmlns:r="http://schemas.openxmlformats.org/officeDocument/2006/relationships" xmlns:p="http://schemas.openxmlformats.org/presentationml/2006/main">
  <p:tag name="GENSWF_SLIDE_TITLE" val="预习检查"/>
  <p:tag name="GENSWF_ADVANCE_TIME" val="0.00"/>
  <p:tag name="ISPRING_SLIDE_INDENT_LEVEL" val="0"/>
  <p:tag name="ISPRING_CUSTOM_TIMING_USED" val="0"/>
</p:tagLst>
</file>

<file path=ppt/tags/tag5.xml><?xml version="1.0" encoding="utf-8"?>
<p:tagLst xmlns:a="http://schemas.openxmlformats.org/drawingml/2006/main" xmlns:r="http://schemas.openxmlformats.org/officeDocument/2006/relationships" xmlns:p="http://schemas.openxmlformats.org/presentationml/2006/main">
  <p:tag name="GENSWF_SLIDE_TITLE" val="学习目标"/>
  <p:tag name="GENSWF_ADVANCE_TIME" val="0.00"/>
  <p:tag name="ISPRING_SLIDE_INDENT_LEVEL" val="0"/>
  <p:tag name="ISPRING_CUSTOM_TIMING_USED" val="0"/>
</p:tagLst>
</file>

<file path=ppt/tags/tag6.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7.xml><?xml version="1.0" encoding="utf-8"?>
<p:tagLst xmlns:a="http://schemas.openxmlformats.org/drawingml/2006/main" xmlns:r="http://schemas.openxmlformats.org/officeDocument/2006/relationships" xmlns:p="http://schemas.openxmlformats.org/presentationml/2006/main">
  <p:tag name="GENSWF_SLIDE_TITLE" val="会话概述"/>
  <p:tag name="GENSWF_ADVANCE_TIME" val="0.00"/>
  <p:tag name="ISPRING_SLIDE_INDENT_LEVEL" val="0"/>
  <p:tag name="ISPRING_CUSTOM_TIMING_USED" val="0"/>
</p:tagLst>
</file>

<file path=ppt/tags/tag8.xml><?xml version="1.0" encoding="utf-8"?>
<p:tagLst xmlns:a="http://schemas.openxmlformats.org/drawingml/2006/main" xmlns:r="http://schemas.openxmlformats.org/officeDocument/2006/relationships" xmlns:p="http://schemas.openxmlformats.org/presentationml/2006/main">
  <p:tag name="GENSWF_SLIDE_TITLE" val="会话概述"/>
  <p:tag name="GENSWF_ADVANCE_TIME" val="0.00"/>
  <p:tag name="ISPRING_SLIDE_INDENT_LEVEL" val="0"/>
  <p:tag name="ISPRING_CUSTOM_TIMING_USED" val="0"/>
</p:tagLst>
</file>

<file path=ppt/tags/tag9.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0.xml><?xml version="1.0" encoding="utf-8"?>
<p:tagLst xmlns:a="http://schemas.openxmlformats.org/drawingml/2006/main" xmlns:r="http://schemas.openxmlformats.org/officeDocument/2006/relationships" xmlns:p="http://schemas.openxmlformats.org/presentationml/2006/main">
  <p:tag name="GENSWF_SLIDE_TITLE" val="什么是Cookie"/>
  <p:tag name="GENSWF_ADVANCE_TIME" val="0.00"/>
  <p:tag name="ISPRING_SLIDE_INDENT_LEVEL" val="0"/>
  <p:tag name="ISPRING_CUSTOM_TIMING_USED" val="0"/>
</p:tagLst>
</file>

<file path=ppt/tags/tag11.xml><?xml version="1.0" encoding="utf-8"?>
<p:tagLst xmlns:a="http://schemas.openxmlformats.org/drawingml/2006/main" xmlns:r="http://schemas.openxmlformats.org/officeDocument/2006/relationships" xmlns:p="http://schemas.openxmlformats.org/presentationml/2006/main">
  <p:tag name="GENSWF_SLIDE_TITLE" val="什么是Cookie"/>
  <p:tag name="GENSWF_ADVANCE_TIME" val="0.00"/>
  <p:tag name="ISPRING_SLIDE_INDENT_LEVEL" val="0"/>
  <p:tag name="ISPRING_CUSTOM_TIMING_USED" val="0"/>
</p:tagLst>
</file>

<file path=ppt/tags/tag12.xml><?xml version="1.0" encoding="utf-8"?>
<p:tagLst xmlns:a="http://schemas.openxmlformats.org/drawingml/2006/main" xmlns:r="http://schemas.openxmlformats.org/officeDocument/2006/relationships" xmlns:p="http://schemas.openxmlformats.org/presentationml/2006/main">
  <p:tag name="GENSWF_SLIDE_TITLE" val="Cookie API"/>
  <p:tag name="GENSWF_ADVANCE_TIME" val="0.00"/>
  <p:tag name="ISPRING_SLIDE_INDENT_LEVEL" val="0"/>
  <p:tag name="ISPRING_CUSTOM_TIMING_USED" val="0"/>
</p:tagLst>
</file>

<file path=ppt/tags/tag13.xml><?xml version="1.0" encoding="utf-8"?>
<p:tagLst xmlns:a="http://schemas.openxmlformats.org/drawingml/2006/main" xmlns:r="http://schemas.openxmlformats.org/officeDocument/2006/relationships" xmlns:p="http://schemas.openxmlformats.org/presentationml/2006/main">
  <p:tag name="GENSWF_SLIDE_TITLE" val="Cookie API"/>
  <p:tag name="GENSWF_ADVANCE_TIME" val="0.00"/>
  <p:tag name="ISPRING_SLIDE_INDENT_LEVEL" val="0"/>
  <p:tag name="ISPRING_CUSTOM_TIMING_USED" val="0"/>
</p:tagLst>
</file>

<file path=ppt/tags/tag14.xml><?xml version="1.0" encoding="utf-8"?>
<p:tagLst xmlns:a="http://schemas.openxmlformats.org/drawingml/2006/main" xmlns:r="http://schemas.openxmlformats.org/officeDocument/2006/relationships" xmlns:p="http://schemas.openxmlformats.org/presentationml/2006/main">
  <p:tag name="GENSWF_SLIDE_TITLE" val="【任务5-1】显示用户上次访问时间"/>
  <p:tag name="GENSWF_ADVANCE_TIME" val="0.00"/>
  <p:tag name="ISPRING_SLIDE_INDENT_LEVEL" val="0"/>
  <p:tag name="ISPRING_CUSTOM_TIMING_USED" val="0"/>
</p:tagLst>
</file>

<file path=ppt/tags/tag15.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6.xml><?xml version="1.0" encoding="utf-8"?>
<p:tagLst xmlns:a="http://schemas.openxmlformats.org/drawingml/2006/main" xmlns:r="http://schemas.openxmlformats.org/officeDocument/2006/relationships" xmlns:p="http://schemas.openxmlformats.org/presentationml/2006/main">
  <p:tag name="GENSWF_SLIDE_TITLE" val="什么是Session"/>
  <p:tag name="GENSWF_ADVANCE_TIME" val="0.00"/>
  <p:tag name="ISPRING_SLIDE_INDENT_LEVEL" val="0"/>
  <p:tag name="ISPRING_CUSTOM_TIMING_USED" val="0"/>
</p:tagLst>
</file>

<file path=ppt/tags/tag17.xml><?xml version="1.0" encoding="utf-8"?>
<p:tagLst xmlns:a="http://schemas.openxmlformats.org/drawingml/2006/main" xmlns:r="http://schemas.openxmlformats.org/officeDocument/2006/relationships" xmlns:p="http://schemas.openxmlformats.org/presentationml/2006/main">
  <p:tag name="GENSWF_SLIDE_TITLE" val="什么是Session"/>
  <p:tag name="GENSWF_ADVANCE_TIME" val="0.00"/>
  <p:tag name="ISPRING_SLIDE_INDENT_LEVEL" val="0"/>
  <p:tag name="ISPRING_CUSTOM_TIMING_USED" val="0"/>
</p:tagLst>
</file>

<file path=ppt/tags/tag18.xml><?xml version="1.0" encoding="utf-8"?>
<p:tagLst xmlns:a="http://schemas.openxmlformats.org/drawingml/2006/main" xmlns:r="http://schemas.openxmlformats.org/officeDocument/2006/relationships" xmlns:p="http://schemas.openxmlformats.org/presentationml/2006/main">
  <p:tag name="GENSWF_SLIDE_TITLE" val="HttpSession API"/>
  <p:tag name="GENSWF_ADVANCE_TIME" val="0.00"/>
  <p:tag name="ISPRING_SLIDE_INDENT_LEVEL" val="0"/>
  <p:tag name="ISPRING_CUSTOM_TIMING_USED" val="0"/>
</p:tagLst>
</file>

<file path=ppt/tags/tag19.xml><?xml version="1.0" encoding="utf-8"?>
<p:tagLst xmlns:a="http://schemas.openxmlformats.org/drawingml/2006/main" xmlns:r="http://schemas.openxmlformats.org/officeDocument/2006/relationships" xmlns:p="http://schemas.openxmlformats.org/presentationml/2006/main">
  <p:tag name="GENSWF_SLIDE_TITLE" val="HttpSession API"/>
  <p:tag name="GENSWF_ADVANCE_TIME" val="0.00"/>
  <p:tag name="ISPRING_SLIDE_INDENT_LEVEL" val="0"/>
  <p:tag name="ISPRING_CUSTOM_TIMING_USED" val="0"/>
</p:tagLst>
</file>

<file path=ppt/tags/tag20.xml><?xml version="1.0" encoding="utf-8"?>
<p:tagLst xmlns:a="http://schemas.openxmlformats.org/drawingml/2006/main" xmlns:r="http://schemas.openxmlformats.org/officeDocument/2006/relationships" xmlns:p="http://schemas.openxmlformats.org/presentationml/2006/main">
  <p:tag name="GENSWF_SLIDE_TITLE" val="Session超时管理"/>
  <p:tag name="GENSWF_ADVANCE_TIME" val="0.00"/>
  <p:tag name="ISPRING_SLIDE_INDENT_LEVEL" val="0"/>
  <p:tag name="ISPRING_CUSTOM_TIMING_USED" val="0"/>
</p:tagLst>
</file>

<file path=ppt/tags/tag21.xml><?xml version="1.0" encoding="utf-8"?>
<p:tagLst xmlns:a="http://schemas.openxmlformats.org/drawingml/2006/main" xmlns:r="http://schemas.openxmlformats.org/officeDocument/2006/relationships" xmlns:p="http://schemas.openxmlformats.org/presentationml/2006/main">
  <p:tag name="GENSWF_SLIDE_TITLE" val="Session超时管理"/>
  <p:tag name="GENSWF_ADVANCE_TIME" val="0.00"/>
  <p:tag name="ISPRING_SLIDE_INDENT_LEVEL" val="0"/>
  <p:tag name="ISPRING_CUSTOM_TIMING_USED" val="0"/>
</p:tagLst>
</file>

<file path=ppt/tags/tag22.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23.xml><?xml version="1.0" encoding="utf-8"?>
<p:tagLst xmlns:a="http://schemas.openxmlformats.org/drawingml/2006/main" xmlns:r="http://schemas.openxmlformats.org/officeDocument/2006/relationships" xmlns:p="http://schemas.openxmlformats.org/presentationml/2006/main">
  <p:tag name="GENSWF_SLIDE_TITLE" val="【任务5-2】实现购物车"/>
  <p:tag name="GENSWF_ADVANCE_TIME" val="0.00"/>
  <p:tag name="ISPRING_SLIDE_INDENT_LEVEL" val="0"/>
  <p:tag name="ISPRING_CUSTOM_TIMING_USED" val="0"/>
</p:tagLst>
</file>

<file path=ppt/tags/tag24.xml><?xml version="1.0" encoding="utf-8"?>
<p:tagLst xmlns:a="http://schemas.openxmlformats.org/drawingml/2006/main" xmlns:r="http://schemas.openxmlformats.org/officeDocument/2006/relationships" xmlns:p="http://schemas.openxmlformats.org/presentationml/2006/main">
  <p:tag name="GENSWF_SLIDE_TITLE" val="多学一招"/>
  <p:tag name="GENSWF_ADVANCE_TIME" val="0.00"/>
  <p:tag name="ISPRING_SLIDE_INDENT_LEVEL" val="0"/>
  <p:tag name="ISPRING_CUSTOM_TIMING_USED" val="0"/>
</p:tagLst>
</file>

<file path=ppt/tags/tag25.xml><?xml version="1.0" encoding="utf-8"?>
<p:tagLst xmlns:a="http://schemas.openxmlformats.org/drawingml/2006/main" xmlns:r="http://schemas.openxmlformats.org/officeDocument/2006/relationships" xmlns:p="http://schemas.openxmlformats.org/presentationml/2006/main">
  <p:tag name="GENSWF_SLIDE_TITLE" val="【任务5-3】实现用户登录"/>
  <p:tag name="GENSWF_ADVANCE_TIME" val="0.00"/>
  <p:tag name="ISPRING_SLIDE_INDENT_LEVEL" val="0"/>
  <p:tag name="ISPRING_CUSTOM_TIMING_USED" val="0"/>
</p:tagLst>
</file>

<file path=ppt/tags/tag26.xml><?xml version="1.0" encoding="utf-8"?>
<p:tagLst xmlns:a="http://schemas.openxmlformats.org/drawingml/2006/main" xmlns:r="http://schemas.openxmlformats.org/officeDocument/2006/relationships" xmlns:p="http://schemas.openxmlformats.org/presentationml/2006/main">
  <p:tag name="GENSWF_SLIDE_TITLE" val="多学一招"/>
  <p:tag name="GENSWF_ADVANCE_TIME" val="0.00"/>
  <p:tag name="ISPRING_SLIDE_INDENT_LEVEL" val="0"/>
  <p:tag name="ISPRING_CUSTOM_TIMING_USED" val="0"/>
</p:tagLst>
</file>

<file path=ppt/tags/tag27.xml><?xml version="1.0" encoding="utf-8"?>
<p:tagLst xmlns:a="http://schemas.openxmlformats.org/drawingml/2006/main" xmlns:r="http://schemas.openxmlformats.org/officeDocument/2006/relationships" xmlns:p="http://schemas.openxmlformats.org/presentationml/2006/main">
  <p:tag name="GENSWF_SLIDE_TITLE" val="本章小结"/>
  <p:tag name="GENSWF_ADVANCE_TIME" val="0.00"/>
  <p:tag name="ISPRING_SLIDE_INDENT_LEVEL" val="0"/>
  <p:tag name="ISPRING_CUSTOM_TIMING_USED" val="0"/>
</p:tagLst>
</file>

<file path=ppt/tags/tag28.xml><?xml version="1.0" encoding="utf-8"?>
<p:tagLst xmlns:a="http://schemas.openxmlformats.org/drawingml/2006/main" xmlns:r="http://schemas.openxmlformats.org/officeDocument/2006/relationships" xmlns:p="http://schemas.openxmlformats.org/presentationml/2006/main">
  <p:tag name="GENSWF_SLIDE_TITLE" val="作业"/>
  <p:tag name="GENSWF_ADVANCE_TIME" val="0.00"/>
  <p:tag name="ISPRING_SLIDE_INDENT_LEVEL" val="0"/>
  <p:tag name="ISPRING_CUSTOM_TIMING_USED" val="0"/>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3159</TotalTime>
  <Words>2225</Words>
  <Application>Microsoft Office PowerPoint</Application>
  <PresentationFormat>全屏显示(4:3)</PresentationFormat>
  <Paragraphs>274</Paragraphs>
  <Slides>29</Slides>
  <Notes>28</Notes>
  <HiddenSlides>0</HiddenSlides>
  <MMClips>0</MMClip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Office 主题​​</vt:lpstr>
      <vt:lpstr>Java Web程序设计任务教程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会话及会话技术</dc:title>
  <dc:creator>admin</dc:creator>
  <cp:lastModifiedBy>ph</cp:lastModifiedBy>
  <cp:revision>263</cp:revision>
  <dcterms:created xsi:type="dcterms:W3CDTF">2015-06-29T07:19:00Z</dcterms:created>
  <dcterms:modified xsi:type="dcterms:W3CDTF">2021-04-02T02:02:48Z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
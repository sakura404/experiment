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charts/chart1.xml" ContentType="application/vnd.openxmlformats-officedocument.drawingml.chart+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15"/>
  </p:notesMasterIdLst>
  <p:sldIdLst>
    <p:sldId id="394" r:id="rId2"/>
    <p:sldId id="392" r:id="rId3"/>
    <p:sldId id="393" r:id="rId4"/>
    <p:sldId id="327" r:id="rId5"/>
    <p:sldId id="384" r:id="rId6"/>
    <p:sldId id="386" r:id="rId7"/>
    <p:sldId id="387" r:id="rId8"/>
    <p:sldId id="385" r:id="rId9"/>
    <p:sldId id="388" r:id="rId10"/>
    <p:sldId id="390" r:id="rId11"/>
    <p:sldId id="332" r:id="rId12"/>
    <p:sldId id="391" r:id="rId13"/>
    <p:sldId id="395" r:id="rId14"/>
  </p:sldIdLst>
  <p:sldSz cx="9144000" cy="6858000" type="screen4x3"/>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A1"/>
    <a:srgbClr val="009ED6"/>
    <a:srgbClr val="01598B"/>
    <a:srgbClr val="E7F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57" autoAdjust="0"/>
    <p:restoredTop sz="98129" autoAdjust="0"/>
  </p:normalViewPr>
  <p:slideViewPr>
    <p:cSldViewPr>
      <p:cViewPr>
        <p:scale>
          <a:sx n="100" d="100"/>
          <a:sy n="100" d="100"/>
        </p:scale>
        <p:origin x="-1944" y="-3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19"/>
    </mc:Choice>
    <mc:Fallback>
      <c:style val="19"/>
    </mc:Fallback>
  </mc:AlternateContent>
  <c:chart>
    <c:autoTitleDeleted val="1"/>
    <c:plotArea>
      <c:layout>
        <c:manualLayout>
          <c:layoutTarget val="inner"/>
          <c:xMode val="edge"/>
          <c:yMode val="edge"/>
          <c:x val="0.21259762883621849"/>
          <c:y val="6.8138576695007141E-2"/>
          <c:w val="0.61861102362204723"/>
          <c:h val="0.76592641554868568"/>
        </c:manualLayout>
      </c:layout>
      <c:doughnutChart>
        <c:varyColors val="1"/>
        <c:ser>
          <c:idx val="0"/>
          <c:order val="0"/>
          <c:tx>
            <c:strRef>
              <c:f>Sheet1!$B$1</c:f>
              <c:strCache>
                <c:ptCount val="1"/>
                <c:pt idx="0">
                  <c:v>销售额</c:v>
                </c:pt>
              </c:strCache>
            </c:strRef>
          </c:tx>
          <c:dPt>
            <c:idx val="0"/>
            <c:bubble3D val="0"/>
          </c:dPt>
          <c:dPt>
            <c:idx val="1"/>
            <c:bubble3D val="0"/>
          </c:dPt>
          <c:dPt>
            <c:idx val="2"/>
            <c:bubble3D val="0"/>
          </c:dPt>
          <c:cat>
            <c:strRef>
              <c:f>Sheet1!$A$2:$A$4</c:f>
              <c:strCache>
                <c:ptCount val="3"/>
                <c:pt idx="0">
                  <c:v>掌握知识</c:v>
                </c:pt>
                <c:pt idx="1">
                  <c:v>理解知识</c:v>
                </c:pt>
                <c:pt idx="2">
                  <c:v>了解知识</c:v>
                </c:pt>
              </c:strCache>
            </c:strRef>
          </c:cat>
          <c:val>
            <c:numRef>
              <c:f>Sheet1!$B$2:$B$4</c:f>
              <c:numCache>
                <c:formatCode>General</c:formatCode>
                <c:ptCount val="3"/>
                <c:pt idx="0">
                  <c:v>3.3333333330000001</c:v>
                </c:pt>
                <c:pt idx="1">
                  <c:v>3.3333333330000001</c:v>
                </c:pt>
                <c:pt idx="2">
                  <c:v>3.3333333330000001</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zh-CN"/>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C96B62-055F-4A71-B928-E111A0A1C14A}" type="datetimeFigureOut">
              <a:rPr lang="zh-CN" altLang="en-US" smtClean="0"/>
              <a:t>2018/1/9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D039CBA-04AC-4574-86C5-14A7F28EEDC7}" type="slidenum">
              <a:rPr lang="zh-CN" altLang="en-US" smtClean="0"/>
              <a:t>‹#›</a:t>
            </a:fld>
            <a:endParaRPr lang="zh-CN" altLang="en-US"/>
          </a:p>
        </p:txBody>
      </p:sp>
    </p:spTree>
    <p:extLst>
      <p:ext uri="{BB962C8B-B14F-4D97-AF65-F5344CB8AC3E}">
        <p14:creationId xmlns:p14="http://schemas.microsoft.com/office/powerpoint/2010/main" val="152473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1</a:t>
            </a:fld>
            <a:endParaRPr lang="zh-CN" altLang="en-US"/>
          </a:p>
        </p:txBody>
      </p:sp>
    </p:spTree>
    <p:extLst>
      <p:ext uri="{BB962C8B-B14F-4D97-AF65-F5344CB8AC3E}">
        <p14:creationId xmlns:p14="http://schemas.microsoft.com/office/powerpoint/2010/main" val="3672845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2</a:t>
            </a:fld>
            <a:endParaRPr lang="zh-CN" altLang="en-US"/>
          </a:p>
        </p:txBody>
      </p:sp>
    </p:spTree>
    <p:extLst>
      <p:ext uri="{BB962C8B-B14F-4D97-AF65-F5344CB8AC3E}">
        <p14:creationId xmlns:p14="http://schemas.microsoft.com/office/powerpoint/2010/main" val="1670330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3</a:t>
            </a:fld>
            <a:endParaRPr lang="zh-CN" altLang="en-US"/>
          </a:p>
        </p:txBody>
      </p:sp>
    </p:spTree>
    <p:extLst>
      <p:ext uri="{BB962C8B-B14F-4D97-AF65-F5344CB8AC3E}">
        <p14:creationId xmlns:p14="http://schemas.microsoft.com/office/powerpoint/2010/main" val="1541883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4</a:t>
            </a:fld>
            <a:endParaRPr lang="zh-CN" altLang="en-US"/>
          </a:p>
        </p:txBody>
      </p:sp>
    </p:spTree>
    <p:extLst>
      <p:ext uri="{BB962C8B-B14F-4D97-AF65-F5344CB8AC3E}">
        <p14:creationId xmlns:p14="http://schemas.microsoft.com/office/powerpoint/2010/main" val="3085760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5</a:t>
            </a:fld>
            <a:endParaRPr lang="zh-CN" altLang="en-US"/>
          </a:p>
        </p:txBody>
      </p:sp>
    </p:spTree>
    <p:extLst>
      <p:ext uri="{BB962C8B-B14F-4D97-AF65-F5344CB8AC3E}">
        <p14:creationId xmlns:p14="http://schemas.microsoft.com/office/powerpoint/2010/main" val="1426322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6</a:t>
            </a:fld>
            <a:endParaRPr lang="zh-CN" altLang="en-US"/>
          </a:p>
        </p:txBody>
      </p:sp>
    </p:spTree>
    <p:extLst>
      <p:ext uri="{BB962C8B-B14F-4D97-AF65-F5344CB8AC3E}">
        <p14:creationId xmlns:p14="http://schemas.microsoft.com/office/powerpoint/2010/main" val="3490960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7</a:t>
            </a:fld>
            <a:endParaRPr lang="zh-CN" altLang="en-US"/>
          </a:p>
        </p:txBody>
      </p:sp>
    </p:spTree>
    <p:extLst>
      <p:ext uri="{BB962C8B-B14F-4D97-AF65-F5344CB8AC3E}">
        <p14:creationId xmlns:p14="http://schemas.microsoft.com/office/powerpoint/2010/main" val="2382320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8</a:t>
            </a:fld>
            <a:endParaRPr lang="zh-CN" altLang="en-US"/>
          </a:p>
        </p:txBody>
      </p:sp>
    </p:spTree>
    <p:extLst>
      <p:ext uri="{BB962C8B-B14F-4D97-AF65-F5344CB8AC3E}">
        <p14:creationId xmlns:p14="http://schemas.microsoft.com/office/powerpoint/2010/main" val="160305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9</a:t>
            </a:fld>
            <a:endParaRPr lang="zh-CN" altLang="en-US"/>
          </a:p>
        </p:txBody>
      </p:sp>
    </p:spTree>
    <p:extLst>
      <p:ext uri="{BB962C8B-B14F-4D97-AF65-F5344CB8AC3E}">
        <p14:creationId xmlns:p14="http://schemas.microsoft.com/office/powerpoint/2010/main" val="41895684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10</a:t>
            </a:fld>
            <a:endParaRPr lang="zh-CN" altLang="en-US"/>
          </a:p>
        </p:txBody>
      </p:sp>
    </p:spTree>
    <p:extLst>
      <p:ext uri="{BB962C8B-B14F-4D97-AF65-F5344CB8AC3E}">
        <p14:creationId xmlns:p14="http://schemas.microsoft.com/office/powerpoint/2010/main" val="920024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11</a:t>
            </a:fld>
            <a:endParaRPr lang="zh-CN" altLang="en-US"/>
          </a:p>
        </p:txBody>
      </p:sp>
    </p:spTree>
    <p:extLst>
      <p:ext uri="{BB962C8B-B14F-4D97-AF65-F5344CB8AC3E}">
        <p14:creationId xmlns:p14="http://schemas.microsoft.com/office/powerpoint/2010/main" val="35891670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D039CBA-04AC-4574-86C5-14A7F28EEDC7}" type="slidenum">
              <a:rPr lang="zh-CN" altLang="en-US" smtClean="0"/>
              <a:t>12</a:t>
            </a:fld>
            <a:endParaRPr lang="zh-CN" altLang="en-US"/>
          </a:p>
        </p:txBody>
      </p:sp>
    </p:spTree>
    <p:extLst>
      <p:ext uri="{BB962C8B-B14F-4D97-AF65-F5344CB8AC3E}">
        <p14:creationId xmlns:p14="http://schemas.microsoft.com/office/powerpoint/2010/main" val="1043315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p:sp>
      <p:sp>
        <p:nvSpPr>
          <p:cNvPr id="7171" name="备注占位符 2"/>
          <p:cNvSpPr>
            <a:spLocks noGrp="1"/>
          </p:cNvSpPr>
          <p:nvPr>
            <p:ph type="body" idx="1"/>
          </p:nvPr>
        </p:nvSpPr>
        <p:spPr>
          <a:noFill/>
        </p:spPr>
        <p:txBody>
          <a:bodyPr/>
          <a:lstStyle/>
          <a:p>
            <a:endParaRPr lang="zh-CN" altLang="en-US" smtClean="0"/>
          </a:p>
        </p:txBody>
      </p:sp>
      <p:sp>
        <p:nvSpPr>
          <p:cNvPr id="7172"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None/>
            </a:pPr>
            <a:fld id="{A3DF5170-8A0D-43AE-A108-EB1D46CE06DD}" type="slidenum">
              <a:rPr lang="zh-CN" altLang="en-US"/>
              <a:pPr eaLnBrk="1" hangingPunct="1">
                <a:buFontTx/>
                <a:buNone/>
              </a:pPr>
              <a:t>13</a:t>
            </a:fld>
            <a:endParaRPr lang="en-US" altLang="zh-CN"/>
          </a:p>
        </p:txBody>
      </p:sp>
    </p:spTree>
    <p:extLst>
      <p:ext uri="{BB962C8B-B14F-4D97-AF65-F5344CB8AC3E}">
        <p14:creationId xmlns:p14="http://schemas.microsoft.com/office/powerpoint/2010/main" val="21216763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20" y="-1"/>
            <a:ext cx="9140780" cy="6858001"/>
          </a:xfrm>
          <a:prstGeom prst="rect">
            <a:avLst/>
          </a:prstGeom>
        </p:spPr>
      </p:pic>
      <p:sp>
        <p:nvSpPr>
          <p:cNvPr id="2" name="Title 1"/>
          <p:cNvSpPr>
            <a:spLocks noGrp="1"/>
          </p:cNvSpPr>
          <p:nvPr>
            <p:ph type="ctrTitle"/>
          </p:nvPr>
        </p:nvSpPr>
        <p:spPr>
          <a:xfrm>
            <a:off x="685800" y="1352281"/>
            <a:ext cx="7772400" cy="2157681"/>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8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单击以编辑母版副标题样式</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Tree>
    <p:extLst>
      <p:ext uri="{BB962C8B-B14F-4D97-AF65-F5344CB8AC3E}">
        <p14:creationId xmlns:p14="http://schemas.microsoft.com/office/powerpoint/2010/main" val="31611448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86285034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8"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9"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70847387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10"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11"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87371836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6"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33937749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564C423-1280-4737-888E-126E3DA98E05}" type="slidenum">
              <a:rPr lang="zh-CN" altLang="en-US" smtClean="0"/>
              <a:t>‹#›</a:t>
            </a:fld>
            <a:endParaRPr lang="zh-CN" altLang="en-US"/>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en-US" dirty="0"/>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26735919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52" y="0"/>
            <a:ext cx="9146352" cy="6858000"/>
          </a:xfrm>
          <a:prstGeom prst="rect">
            <a:avLst/>
          </a:prstGeom>
        </p:spPr>
      </p:pic>
    </p:spTree>
    <p:extLst>
      <p:ext uri="{BB962C8B-B14F-4D97-AF65-F5344CB8AC3E}">
        <p14:creationId xmlns:p14="http://schemas.microsoft.com/office/powerpoint/2010/main" val="41758522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010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7688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62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625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26252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782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66978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7090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9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250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100939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70019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16486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27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8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938104"/>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9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09377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0317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A88397-7984-4816-A3BC-987D45041CB5}" type="datetimeFigureOut">
              <a:rPr lang="zh-CN" altLang="en-US" smtClean="0"/>
              <a:t>2018/1/9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64C423-1280-4737-888E-126E3DA98E05}" type="slidenum">
              <a:rPr lang="zh-CN" altLang="en-US" smtClean="0"/>
              <a:t>‹#›</a:t>
            </a:fld>
            <a:endParaRPr lang="zh-CN" altLang="en-US"/>
          </a:p>
        </p:txBody>
      </p:sp>
      <p:sp>
        <p:nvSpPr>
          <p:cNvPr id="8" name="矩形 1"/>
          <p:cNvSpPr>
            <a:spLocks noChangeArrowheads="1"/>
          </p:cNvSpPr>
          <p:nvPr userDrawn="1"/>
        </p:nvSpPr>
        <p:spPr bwMode="auto">
          <a:xfrm>
            <a:off x="691076" y="221355"/>
            <a:ext cx="785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166236295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52" r:id="rId10"/>
    <p:sldLayoutId id="2147483651" r:id="rId11"/>
    <p:sldLayoutId id="2147483679" r:id="rId12"/>
    <p:sldLayoutId id="2147483680" r:id="rId13"/>
    <p:sldLayoutId id="2147483681" r:id="rId14"/>
    <p:sldLayoutId id="2147483664" r:id="rId15"/>
    <p:sldLayoutId id="2147483665" r:id="rId16"/>
    <p:sldLayoutId id="2147483667" r:id="rId17"/>
    <p:sldLayoutId id="2147483682" r:id="rId18"/>
    <p:sldLayoutId id="2147483683" r:id="rId19"/>
    <p:sldLayoutId id="2147483684" r:id="rId20"/>
    <p:sldLayoutId id="2147483685" r:id="rId21"/>
    <p:sldLayoutId id="2147483686" r:id="rId22"/>
    <p:sldLayoutId id="2147483659" r:id="rId23"/>
    <p:sldLayoutId id="2147483660" r:id="rId24"/>
    <p:sldLayoutId id="2147483662" r:id="rId25"/>
    <p:sldLayoutId id="2147483687" r:id="rId26"/>
    <p:sldLayoutId id="2147483654" r:id="rId27"/>
    <p:sldLayoutId id="2147483655" r:id="rId28"/>
    <p:sldLayoutId id="2147483657" r:id="rId2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5.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8" Type="http://schemas.openxmlformats.org/officeDocument/2006/relationships/image" Target="../media/image10.emf"/><Relationship Id="rId13" Type="http://schemas.openxmlformats.org/officeDocument/2006/relationships/image" Target="../media/image15.png"/><Relationship Id="rId3" Type="http://schemas.openxmlformats.org/officeDocument/2006/relationships/notesSlide" Target="../notesSlides/notesSlide6.xml"/><Relationship Id="rId7" Type="http://schemas.openxmlformats.org/officeDocument/2006/relationships/image" Target="../media/image9.emf"/><Relationship Id="rId12" Type="http://schemas.openxmlformats.org/officeDocument/2006/relationships/image" Target="../media/image14.png"/><Relationship Id="rId2" Type="http://schemas.openxmlformats.org/officeDocument/2006/relationships/slideLayout" Target="../slideLayouts/slideLayout19.xml"/><Relationship Id="rId1" Type="http://schemas.openxmlformats.org/officeDocument/2006/relationships/tags" Target="../tags/tag7.xml"/><Relationship Id="rId6" Type="http://schemas.openxmlformats.org/officeDocument/2006/relationships/image" Target="../media/image8.emf"/><Relationship Id="rId11" Type="http://schemas.openxmlformats.org/officeDocument/2006/relationships/image" Target="../media/image13.emf"/><Relationship Id="rId5" Type="http://schemas.openxmlformats.org/officeDocument/2006/relationships/image" Target="../media/image7.emf"/><Relationship Id="rId10" Type="http://schemas.openxmlformats.org/officeDocument/2006/relationships/image" Target="../media/image12.emf"/><Relationship Id="rId4" Type="http://schemas.openxmlformats.org/officeDocument/2006/relationships/image" Target="../media/image6.png"/><Relationship Id="rId9" Type="http://schemas.openxmlformats.org/officeDocument/2006/relationships/image" Target="../media/image11.em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8.xml"/><Relationship Id="rId1" Type="http://schemas.openxmlformats.org/officeDocument/2006/relationships/vmlDrawing" Target="../drawings/vmlDrawing1.vml"/><Relationship Id="rId6" Type="http://schemas.openxmlformats.org/officeDocument/2006/relationships/image" Target="../media/image16.emf"/><Relationship Id="rId5" Type="http://schemas.openxmlformats.org/officeDocument/2006/relationships/oleObject" Target="../embeddings/oleObject1.bin"/><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1.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2.xml"/><Relationship Id="rId1" Type="http://schemas.openxmlformats.org/officeDocument/2006/relationships/tags" Target="../tags/tag10.xml"/><Relationship Id="rId4" Type="http://schemas.openxmlformats.org/officeDocument/2006/relationships/image" Target="../media/image17.gi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11.xml"/><Relationship Id="rId1" Type="http://schemas.openxmlformats.org/officeDocument/2006/relationships/vmlDrawing" Target="../drawings/vmlDrawing2.vml"/><Relationship Id="rId6" Type="http://schemas.openxmlformats.org/officeDocument/2006/relationships/image" Target="../media/image18.emf"/><Relationship Id="rId5" Type="http://schemas.openxmlformats.org/officeDocument/2006/relationships/oleObject" Target="../embeddings/oleObject2.bin"/><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tags" Target="../tags/tag1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39552" y="1352281"/>
            <a:ext cx="8136904" cy="2157681"/>
          </a:xfrm>
        </p:spPr>
        <p:txBody>
          <a:bodyPr/>
          <a:lstStyle/>
          <a:p>
            <a:r>
              <a:rPr lang="en-US" altLang="zh-CN" b="1" dirty="0" smtClean="0"/>
              <a:t>Java Web</a:t>
            </a:r>
            <a:r>
              <a:rPr lang="zh-CN" altLang="en-US" b="1" smtClean="0"/>
              <a:t>程序设计任务教程</a:t>
            </a:r>
            <a:endParaRPr lang="zh-CN" altLang="en-US" b="1" dirty="0"/>
          </a:p>
        </p:txBody>
      </p:sp>
      <p:sp>
        <p:nvSpPr>
          <p:cNvPr id="3" name="副标题 2"/>
          <p:cNvSpPr>
            <a:spLocks noGrp="1"/>
          </p:cNvSpPr>
          <p:nvPr>
            <p:ph type="subTitle" idx="1"/>
          </p:nvPr>
        </p:nvSpPr>
        <p:spPr>
          <a:xfrm>
            <a:off x="1143000" y="3861470"/>
            <a:ext cx="6858000" cy="1655762"/>
          </a:xfrm>
        </p:spPr>
        <p:txBody>
          <a:bodyPr>
            <a:normAutofit/>
          </a:bodyPr>
          <a:lstStyle/>
          <a:p>
            <a:r>
              <a:rPr lang="zh-CN" altLang="en-US" sz="3200" b="1" dirty="0" smtClean="0"/>
              <a:t>第</a:t>
            </a:r>
            <a:r>
              <a:rPr lang="en-US" altLang="zh-CN" sz="3200" b="1" dirty="0" smtClean="0"/>
              <a:t>11</a:t>
            </a:r>
            <a:r>
              <a:rPr lang="zh-CN" altLang="en-US" sz="3200" b="1" dirty="0" smtClean="0"/>
              <a:t>章 </a:t>
            </a:r>
            <a:r>
              <a:rPr lang="en-US" altLang="zh-CN" sz="3200" b="1" dirty="0" smtClean="0"/>
              <a:t>JSP</a:t>
            </a:r>
            <a:r>
              <a:rPr lang="zh-CN" altLang="en-US" sz="3200" b="1" dirty="0" smtClean="0"/>
              <a:t>开发模型</a:t>
            </a:r>
            <a:endParaRPr lang="zh-CN" altLang="en-US" sz="3200" b="1" dirty="0"/>
          </a:p>
        </p:txBody>
      </p:sp>
      <p:sp>
        <p:nvSpPr>
          <p:cNvPr id="4" name="TextBox 13"/>
          <p:cNvSpPr>
            <a:spLocks noChangeArrowheads="1"/>
          </p:cNvSpPr>
          <p:nvPr/>
        </p:nvSpPr>
        <p:spPr bwMode="auto">
          <a:xfrm>
            <a:off x="5436096" y="5517232"/>
            <a:ext cx="3461642"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50000"/>
              </a:lnSpc>
              <a:defRPr/>
            </a:pPr>
            <a:r>
              <a:rPr lang="en-US" altLang="zh-CN" b="1" dirty="0">
                <a:solidFill>
                  <a:schemeClr val="accent1">
                    <a:lumMod val="75000"/>
                  </a:schemeClr>
                </a:solidFill>
                <a:latin typeface="微软雅黑" pitchFamily="34" charset="-122"/>
                <a:ea typeface="微软雅黑" pitchFamily="34" charset="-122"/>
                <a:sym typeface="微软雅黑" pitchFamily="34" charset="-122"/>
              </a:rPr>
              <a:t>·</a:t>
            </a:r>
            <a:r>
              <a:rPr lang="en-US" altLang="zh-CN" dirty="0">
                <a:solidFill>
                  <a:schemeClr val="accent1">
                    <a:lumMod val="75000"/>
                  </a:schemeClr>
                </a:solidFill>
                <a:latin typeface="微软雅黑" pitchFamily="34" charset="-122"/>
                <a:ea typeface="微软雅黑" pitchFamily="34" charset="-122"/>
                <a:sym typeface="微软雅黑" pitchFamily="34" charset="-122"/>
              </a:rPr>
              <a:t> </a:t>
            </a:r>
            <a:r>
              <a:rPr lang="en-US" altLang="zh-CN" dirty="0" smtClean="0">
                <a:solidFill>
                  <a:schemeClr val="accent1">
                    <a:lumMod val="75000"/>
                  </a:schemeClr>
                </a:solidFill>
                <a:latin typeface="微软雅黑" pitchFamily="34" charset="-122"/>
                <a:ea typeface="微软雅黑" pitchFamily="34" charset="-122"/>
                <a:sym typeface="微软雅黑" pitchFamily="34" charset="-122"/>
              </a:rPr>
              <a:t>MVC</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设计模式的原理</a:t>
            </a:r>
            <a:endParaRPr lang="zh-CN" altLang="en-US" dirty="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buFont typeface="Arial" pitchFamily="34" charset="0"/>
              <a:buNone/>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a:t>
            </a:r>
            <a:r>
              <a:rPr lang="en-US" altLang="zh-CN" dirty="0" smtClean="0">
                <a:solidFill>
                  <a:schemeClr val="accent1">
                    <a:lumMod val="75000"/>
                  </a:schemeClr>
                </a:solidFill>
                <a:latin typeface="微软雅黑" pitchFamily="34" charset="-122"/>
                <a:ea typeface="微软雅黑" pitchFamily="34" charset="-122"/>
                <a:sym typeface="微软雅黑" pitchFamily="34" charset="-122"/>
              </a:rPr>
              <a:t> JSP Model2</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模型的实际使用</a:t>
            </a:r>
            <a:endParaRPr lang="en-US" altLang="zh-CN" dirty="0" smtClean="0">
              <a:solidFill>
                <a:schemeClr val="accent1">
                  <a:lumMod val="75000"/>
                </a:schemeClr>
              </a:solidFill>
              <a:latin typeface="微软雅黑" pitchFamily="34" charset="-122"/>
              <a:ea typeface="微软雅黑" pitchFamily="34" charset="-122"/>
              <a:sym typeface="微软雅黑" pitchFamily="34" charset="-122"/>
            </a:endParaRPr>
          </a:p>
        </p:txBody>
      </p:sp>
      <p:sp>
        <p:nvSpPr>
          <p:cNvPr id="5" name="矩形 4"/>
          <p:cNvSpPr/>
          <p:nvPr/>
        </p:nvSpPr>
        <p:spPr>
          <a:xfrm>
            <a:off x="2555776" y="5538788"/>
            <a:ext cx="4572000" cy="923925"/>
          </a:xfrm>
          <a:prstGeom prst="rect">
            <a:avLst/>
          </a:prstGeom>
        </p:spPr>
        <p:txBody>
          <a:bodyPr>
            <a:spAutoFit/>
          </a:bodyPr>
          <a:lstStyle/>
          <a:p>
            <a:pPr>
              <a:lnSpc>
                <a:spcPct val="150000"/>
              </a:lnSpc>
              <a:buFont typeface="Arial" pitchFamily="34" charset="0"/>
              <a:buNone/>
              <a:defRPr/>
            </a:pPr>
            <a:r>
              <a:rPr lang="en-US" altLang="zh-CN" b="1" dirty="0">
                <a:solidFill>
                  <a:schemeClr val="accent1">
                    <a:lumMod val="75000"/>
                  </a:schemeClr>
                </a:solidFill>
                <a:latin typeface="微软雅黑" pitchFamily="34" charset="-122"/>
                <a:ea typeface="微软雅黑" pitchFamily="34" charset="-122"/>
                <a:sym typeface="微软雅黑" pitchFamily="34" charset="-122"/>
              </a:rPr>
              <a:t>· </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什么是</a:t>
            </a:r>
            <a:r>
              <a:rPr lang="en-US" altLang="zh-CN" dirty="0" smtClean="0">
                <a:solidFill>
                  <a:schemeClr val="accent1">
                    <a:lumMod val="75000"/>
                  </a:schemeClr>
                </a:solidFill>
                <a:latin typeface="微软雅黑" pitchFamily="34" charset="-122"/>
                <a:ea typeface="微软雅黑" pitchFamily="34" charset="-122"/>
                <a:sym typeface="微软雅黑" pitchFamily="34" charset="-122"/>
              </a:rPr>
              <a:t>JSP</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开发模型</a:t>
            </a:r>
            <a:endParaRPr lang="zh-CN" altLang="en-US" dirty="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buFont typeface="Arial" pitchFamily="34" charset="0"/>
              <a:buNone/>
              <a:defRPr/>
            </a:pPr>
            <a:r>
              <a:rPr lang="en-US" altLang="zh-CN" b="1" dirty="0">
                <a:solidFill>
                  <a:schemeClr val="accent1">
                    <a:lumMod val="75000"/>
                  </a:schemeClr>
                </a:solidFill>
                <a:latin typeface="微软雅黑" pitchFamily="34" charset="-122"/>
                <a:ea typeface="微软雅黑" pitchFamily="34" charset="-122"/>
                <a:sym typeface="微软雅黑" pitchFamily="34" charset="-122"/>
              </a:rPr>
              <a:t>·</a:t>
            </a:r>
            <a:r>
              <a:rPr lang="en-US" altLang="zh-CN" dirty="0">
                <a:solidFill>
                  <a:schemeClr val="accent1">
                    <a:lumMod val="75000"/>
                  </a:schemeClr>
                </a:solidFill>
                <a:latin typeface="微软雅黑" pitchFamily="34" charset="-122"/>
                <a:ea typeface="微软雅黑" pitchFamily="34" charset="-122"/>
                <a:sym typeface="微软雅黑" pitchFamily="34" charset="-122"/>
              </a:rPr>
              <a:t> </a:t>
            </a:r>
            <a:r>
              <a:rPr lang="en-US" altLang="zh-CN" dirty="0" smtClean="0">
                <a:solidFill>
                  <a:schemeClr val="accent1">
                    <a:lumMod val="75000"/>
                  </a:schemeClr>
                </a:solidFill>
                <a:latin typeface="微软雅黑" pitchFamily="34" charset="-122"/>
                <a:ea typeface="微软雅黑" pitchFamily="34" charset="-122"/>
                <a:sym typeface="微软雅黑" pitchFamily="34" charset="-122"/>
              </a:rPr>
              <a:t>JSP Model2</a:t>
            </a:r>
            <a:r>
              <a:rPr lang="zh-CN" altLang="en-US" dirty="0" smtClean="0">
                <a:solidFill>
                  <a:schemeClr val="accent1">
                    <a:lumMod val="75000"/>
                  </a:schemeClr>
                </a:solidFill>
                <a:latin typeface="微软雅黑" pitchFamily="34" charset="-122"/>
                <a:ea typeface="微软雅黑" pitchFamily="34" charset="-122"/>
                <a:sym typeface="微软雅黑" pitchFamily="34" charset="-122"/>
              </a:rPr>
              <a:t>模型的原理</a:t>
            </a:r>
            <a:endParaRPr lang="zh-CN" altLang="en-US" dirty="0">
              <a:solidFill>
                <a:schemeClr val="accent1">
                  <a:lumMod val="75000"/>
                </a:schemeClr>
              </a:solidFill>
              <a:latin typeface="微软雅黑" pitchFamily="34" charset="-122"/>
              <a:ea typeface="微软雅黑" pitchFamily="34" charset="-122"/>
              <a:sym typeface="微软雅黑" pitchFamily="34" charset="-122"/>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5301208"/>
            <a:ext cx="947906" cy="119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7003912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ChangeArrowheads="1"/>
          </p:cNvSpPr>
          <p:nvPr/>
        </p:nvSpPr>
        <p:spPr bwMode="auto">
          <a:xfrm>
            <a:off x="827584" y="1052736"/>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endParaRPr lang="zh-CN" altLang="en-US" sz="2400" b="1" dirty="0">
              <a:solidFill>
                <a:srgbClr val="006BA9"/>
              </a:solidFill>
              <a:latin typeface="微软雅黑" pitchFamily="34" charset="-122"/>
              <a:ea typeface="微软雅黑" pitchFamily="34" charset="-122"/>
              <a:sym typeface="宋体" charset="-122"/>
            </a:endParaRPr>
          </a:p>
        </p:txBody>
      </p:sp>
      <p:sp>
        <p:nvSpPr>
          <p:cNvPr id="5" name="内容占位符 2"/>
          <p:cNvSpPr txBox="1">
            <a:spLocks/>
          </p:cNvSpPr>
          <p:nvPr/>
        </p:nvSpPr>
        <p:spPr bwMode="auto">
          <a:xfrm>
            <a:off x="481013" y="2024807"/>
            <a:ext cx="797560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400">
                <a:solidFill>
                  <a:prstClr val="black"/>
                </a:solidFill>
              </a:rPr>
              <a:t>请思考数据库连接池的工作机制是什么</a:t>
            </a:r>
            <a:r>
              <a:rPr lang="zh-CN" altLang="en-US" sz="2400" smtClean="0">
                <a:solidFill>
                  <a:prstClr val="black"/>
                </a:solidFill>
              </a:rPr>
              <a:t>？</a:t>
            </a:r>
            <a:endParaRPr lang="en-US" altLang="zh-CN" sz="2400" smtClean="0">
              <a:solidFill>
                <a:prstClr val="black"/>
              </a:solidFill>
            </a:endParaRPr>
          </a:p>
          <a:p>
            <a:pPr lvl="1">
              <a:lnSpc>
                <a:spcPct val="150000"/>
              </a:lnSpc>
              <a:spcBef>
                <a:spcPct val="20000"/>
              </a:spcBef>
              <a:buFontTx/>
              <a:buChar char="–"/>
            </a:pPr>
            <a:r>
              <a:rPr lang="zh-CN" altLang="en-US" sz="2400">
                <a:solidFill>
                  <a:prstClr val="black"/>
                </a:solidFill>
              </a:rPr>
              <a:t>简述</a:t>
            </a:r>
            <a:r>
              <a:rPr lang="en-US" altLang="zh-CN" sz="2400">
                <a:solidFill>
                  <a:prstClr val="black"/>
                </a:solidFill>
              </a:rPr>
              <a:t>DriverManager</a:t>
            </a:r>
            <a:r>
              <a:rPr lang="zh-CN" altLang="en-US" sz="2400">
                <a:solidFill>
                  <a:prstClr val="black"/>
                </a:solidFill>
              </a:rPr>
              <a:t>和</a:t>
            </a:r>
            <a:r>
              <a:rPr lang="en-US" altLang="zh-CN" sz="2400">
                <a:solidFill>
                  <a:prstClr val="black"/>
                </a:solidFill>
              </a:rPr>
              <a:t>DataSource</a:t>
            </a:r>
            <a:r>
              <a:rPr lang="zh-CN" altLang="en-US" sz="2400" smtClean="0">
                <a:solidFill>
                  <a:prstClr val="black"/>
                </a:solidFill>
              </a:rPr>
              <a:t>中</a:t>
            </a:r>
            <a:r>
              <a:rPr lang="en-US" altLang="zh-CN" sz="2400" smtClean="0">
                <a:solidFill>
                  <a:prstClr val="black"/>
                </a:solidFill>
              </a:rPr>
              <a:t>getConnection</a:t>
            </a:r>
            <a:r>
              <a:rPr lang="en-US" altLang="zh-CN" sz="2400">
                <a:solidFill>
                  <a:prstClr val="black"/>
                </a:solidFill>
              </a:rPr>
              <a:t>()</a:t>
            </a:r>
            <a:r>
              <a:rPr lang="zh-CN" altLang="en-US" sz="2400">
                <a:solidFill>
                  <a:prstClr val="black"/>
                </a:solidFill>
              </a:rPr>
              <a:t>方法的区别</a:t>
            </a:r>
            <a:r>
              <a:rPr lang="zh-CN" altLang="en-US" sz="2400" smtClean="0">
                <a:solidFill>
                  <a:prstClr val="black"/>
                </a:solidFill>
              </a:rPr>
              <a:t>。</a:t>
            </a:r>
            <a:endParaRPr lang="en-US" altLang="zh-CN" sz="2400">
              <a:solidFill>
                <a:prstClr val="black"/>
              </a:solidFill>
            </a:endParaRPr>
          </a:p>
        </p:txBody>
      </p:sp>
      <p:sp>
        <p:nvSpPr>
          <p:cNvPr id="4"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zh-CN" altLang="en-US" sz="3200" b="1" smtClean="0">
                <a:solidFill>
                  <a:srgbClr val="006BA9"/>
                </a:solidFill>
                <a:latin typeface="微软雅黑" pitchFamily="34" charset="-122"/>
                <a:ea typeface="微软雅黑" pitchFamily="34" charset="-122"/>
                <a:sym typeface="宋体" charset="-122"/>
              </a:rPr>
              <a:t>作业</a:t>
            </a:r>
            <a:r>
              <a:rPr lang="zh-CN" altLang="en-US" sz="3200" b="1" dirty="0">
                <a:solidFill>
                  <a:srgbClr val="006BA9"/>
                </a:solidFill>
                <a:latin typeface="微软雅黑" pitchFamily="34" charset="-122"/>
                <a:ea typeface="微软雅黑" pitchFamily="34" charset="-122"/>
                <a:sym typeface="宋体" charset="-122"/>
              </a:rPr>
              <a:t>点评</a:t>
            </a:r>
          </a:p>
        </p:txBody>
      </p:sp>
    </p:spTree>
    <p:custDataLst>
      <p:tags r:id="rId1"/>
    </p:custDataLst>
    <p:extLst>
      <p:ext uri="{BB962C8B-B14F-4D97-AF65-F5344CB8AC3E}">
        <p14:creationId xmlns:p14="http://schemas.microsoft.com/office/powerpoint/2010/main" val="2738416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827584" y="1052736"/>
            <a:ext cx="5148263"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内容占位符 2"/>
          <p:cNvSpPr txBox="1">
            <a:spLocks/>
          </p:cNvSpPr>
          <p:nvPr/>
        </p:nvSpPr>
        <p:spPr bwMode="auto">
          <a:xfrm>
            <a:off x="481013" y="2024807"/>
            <a:ext cx="797560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lvl="1">
              <a:lnSpc>
                <a:spcPct val="150000"/>
              </a:lnSpc>
              <a:spcBef>
                <a:spcPct val="20000"/>
              </a:spcBef>
              <a:buFontTx/>
              <a:buChar char="–"/>
            </a:pPr>
            <a:r>
              <a:rPr lang="zh-CN" altLang="en-US" sz="2400"/>
              <a:t>什么是</a:t>
            </a:r>
            <a:r>
              <a:rPr lang="en-US" altLang="zh-CN" sz="2400"/>
              <a:t>JSP</a:t>
            </a:r>
            <a:r>
              <a:rPr lang="zh-CN" altLang="en-US" sz="2400"/>
              <a:t>开发</a:t>
            </a:r>
            <a:r>
              <a:rPr lang="zh-CN" altLang="en-US" sz="2400" smtClean="0"/>
              <a:t>模型？</a:t>
            </a:r>
            <a:endParaRPr lang="en-US" altLang="zh-CN" sz="2400" smtClean="0">
              <a:solidFill>
                <a:prstClr val="black"/>
              </a:solidFill>
            </a:endParaRPr>
          </a:p>
          <a:p>
            <a:pPr lvl="1">
              <a:lnSpc>
                <a:spcPct val="150000"/>
              </a:lnSpc>
              <a:spcBef>
                <a:spcPct val="20000"/>
              </a:spcBef>
              <a:buFontTx/>
              <a:buChar char="–"/>
            </a:pPr>
            <a:r>
              <a:rPr lang="en-US" altLang="zh-CN" sz="2400"/>
              <a:t>MVC</a:t>
            </a:r>
            <a:r>
              <a:rPr lang="zh-CN" altLang="en-US" sz="2400"/>
              <a:t>设计模型的原理</a:t>
            </a:r>
            <a:r>
              <a:rPr lang="zh-CN" altLang="en-US" sz="2400" smtClean="0">
                <a:solidFill>
                  <a:prstClr val="black"/>
                </a:solidFill>
              </a:rPr>
              <a:t>。</a:t>
            </a:r>
            <a:endParaRPr lang="en-US" altLang="zh-CN" sz="2400" dirty="0">
              <a:solidFill>
                <a:prstClr val="black"/>
              </a:solidFill>
            </a:endParaRPr>
          </a:p>
        </p:txBody>
      </p:sp>
      <p:sp>
        <p:nvSpPr>
          <p:cNvPr id="4"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zh-CN" altLang="en-US" sz="3200" b="1" smtClean="0">
                <a:solidFill>
                  <a:srgbClr val="006BA9"/>
                </a:solidFill>
                <a:latin typeface="微软雅黑" pitchFamily="34" charset="-122"/>
                <a:ea typeface="微软雅黑" pitchFamily="34" charset="-122"/>
                <a:sym typeface="宋体" charset="-122"/>
              </a:rPr>
              <a:t>预习</a:t>
            </a:r>
            <a:r>
              <a:rPr lang="zh-CN" altLang="en-US" sz="3200" b="1" dirty="0">
                <a:solidFill>
                  <a:srgbClr val="006BA9"/>
                </a:solidFill>
                <a:latin typeface="微软雅黑" pitchFamily="34" charset="-122"/>
                <a:ea typeface="微软雅黑" pitchFamily="34" charset="-122"/>
                <a:sym typeface="宋体" charset="-122"/>
              </a:rPr>
              <a:t>检查</a:t>
            </a:r>
          </a:p>
        </p:txBody>
      </p:sp>
    </p:spTree>
    <p:custDataLst>
      <p:tags r:id="rId1"/>
    </p:custDataLst>
    <p:extLst>
      <p:ext uri="{BB962C8B-B14F-4D97-AF65-F5344CB8AC3E}">
        <p14:creationId xmlns:p14="http://schemas.microsoft.com/office/powerpoint/2010/main" val="1439779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flipH="1" flipV="1">
            <a:off x="323528" y="2194584"/>
            <a:ext cx="2593588" cy="1139825"/>
            <a:chOff x="5464563" y="4225925"/>
            <a:chExt cx="3207450" cy="1209015"/>
          </a:xfrm>
        </p:grpSpPr>
        <p:grpSp>
          <p:nvGrpSpPr>
            <p:cNvPr id="3" name="组合 38"/>
            <p:cNvGrpSpPr>
              <a:grpSpLocks/>
            </p:cNvGrpSpPr>
            <p:nvPr/>
          </p:nvGrpSpPr>
          <p:grpSpPr bwMode="auto">
            <a:xfrm rot="10800000">
              <a:off x="5687902" y="4225925"/>
              <a:ext cx="2669052" cy="686411"/>
              <a:chOff x="934464" y="2318309"/>
              <a:chExt cx="2669329" cy="686148"/>
            </a:xfrm>
          </p:grpSpPr>
          <p:cxnSp>
            <p:nvCxnSpPr>
              <p:cNvPr id="8" name="直接连接符 39"/>
              <p:cNvCxnSpPr>
                <a:cxnSpLocks noChangeShapeType="1"/>
              </p:cNvCxnSpPr>
              <p:nvPr/>
            </p:nvCxnSpPr>
            <p:spPr bwMode="auto">
              <a:xfrm rot="10800000" flipH="1" flipV="1">
                <a:off x="934464" y="2318309"/>
                <a:ext cx="298001" cy="686148"/>
              </a:xfrm>
              <a:prstGeom prst="line">
                <a:avLst/>
              </a:prstGeom>
              <a:noFill/>
              <a:ln w="28575" algn="ctr">
                <a:solidFill>
                  <a:srgbClr val="006BA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40"/>
              <p:cNvCxnSpPr>
                <a:cxnSpLocks noChangeShapeType="1"/>
              </p:cNvCxnSpPr>
              <p:nvPr/>
            </p:nvCxnSpPr>
            <p:spPr bwMode="auto">
              <a:xfrm rot="10800000" flipH="1" flipV="1">
                <a:off x="1222939" y="3004457"/>
                <a:ext cx="2380854" cy="0"/>
              </a:xfrm>
              <a:prstGeom prst="line">
                <a:avLst/>
              </a:prstGeom>
              <a:noFill/>
              <a:ln w="28575" algn="ctr">
                <a:solidFill>
                  <a:srgbClr val="006BA9"/>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 name="组合 41"/>
            <p:cNvGrpSpPr>
              <a:grpSpLocks/>
            </p:cNvGrpSpPr>
            <p:nvPr/>
          </p:nvGrpSpPr>
          <p:grpSpPr bwMode="auto">
            <a:xfrm flipH="1">
              <a:off x="8082606" y="4880949"/>
              <a:ext cx="589407" cy="553991"/>
              <a:chOff x="1256847" y="3607535"/>
              <a:chExt cx="591076" cy="553298"/>
            </a:xfrm>
          </p:grpSpPr>
          <p:sp>
            <p:nvSpPr>
              <p:cNvPr id="6" name="椭圆 5"/>
              <p:cNvSpPr/>
              <p:nvPr/>
            </p:nvSpPr>
            <p:spPr bwMode="auto">
              <a:xfrm>
                <a:off x="1256847" y="3647898"/>
                <a:ext cx="591076" cy="474256"/>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7" name="TextBox 6"/>
              <p:cNvSpPr txBox="1"/>
              <p:nvPr/>
            </p:nvSpPr>
            <p:spPr>
              <a:xfrm rot="10800000">
                <a:off x="1327723" y="3607535"/>
                <a:ext cx="334694" cy="553298"/>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smtClean="0">
                    <a:solidFill>
                      <a:schemeClr val="bg1"/>
                    </a:solidFill>
                    <a:latin typeface="Times New Roman" panose="02020603050405020304" pitchFamily="18" charset="0"/>
                    <a:cs typeface="Times New Roman" panose="02020603050405020304" pitchFamily="18" charset="0"/>
                  </a:rPr>
                  <a:t>3</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sp>
          <p:nvSpPr>
            <p:cNvPr id="5" name="矩形 51"/>
            <p:cNvSpPr>
              <a:spLocks noChangeArrowheads="1"/>
            </p:cNvSpPr>
            <p:nvPr/>
          </p:nvSpPr>
          <p:spPr bwMode="auto">
            <a:xfrm rot="10800000">
              <a:off x="5464563" y="4365135"/>
              <a:ext cx="2762196" cy="587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lnSpc>
                  <a:spcPts val="3600"/>
                </a:lnSpc>
              </a:pPr>
              <a:r>
                <a:rPr lang="zh-CN" altLang="en-US" b="1" smtClean="0">
                  <a:solidFill>
                    <a:srgbClr val="006BA9"/>
                  </a:solidFill>
                  <a:latin typeface="微软雅黑" panose="020B0503020204020204" pitchFamily="34" charset="-122"/>
                  <a:ea typeface="微软雅黑" panose="020B0503020204020204" pitchFamily="34" charset="-122"/>
                </a:rPr>
                <a:t>什么是</a:t>
              </a:r>
              <a:r>
                <a:rPr lang="en-US" altLang="zh-CN" b="1" smtClean="0">
                  <a:solidFill>
                    <a:srgbClr val="006BA9"/>
                  </a:solidFill>
                  <a:latin typeface="微软雅黑" panose="020B0503020204020204" pitchFamily="34" charset="-122"/>
                  <a:ea typeface="微软雅黑" panose="020B0503020204020204" pitchFamily="34" charset="-122"/>
                </a:rPr>
                <a:t>JSP</a:t>
              </a:r>
              <a:r>
                <a:rPr lang="zh-CN" altLang="en-US" b="1" smtClean="0">
                  <a:solidFill>
                    <a:srgbClr val="006BA9"/>
                  </a:solidFill>
                  <a:latin typeface="微软雅黑" panose="020B0503020204020204" pitchFamily="34" charset="-122"/>
                  <a:ea typeface="微软雅黑" panose="020B0503020204020204" pitchFamily="34" charset="-122"/>
                </a:rPr>
                <a:t>开发模型</a:t>
              </a:r>
              <a:endParaRPr lang="en-US" altLang="zh-CN" b="1">
                <a:solidFill>
                  <a:srgbClr val="006BA9"/>
                </a:solidFill>
                <a:latin typeface="微软雅黑" panose="020B0503020204020204" pitchFamily="34" charset="-122"/>
                <a:ea typeface="微软雅黑" panose="020B0503020204020204" pitchFamily="34" charset="-122"/>
              </a:endParaRPr>
            </a:p>
          </p:txBody>
        </p:sp>
      </p:grpSp>
      <p:grpSp>
        <p:nvGrpSpPr>
          <p:cNvPr id="10" name="组合 9"/>
          <p:cNvGrpSpPr>
            <a:grpSpLocks/>
          </p:cNvGrpSpPr>
          <p:nvPr/>
        </p:nvGrpSpPr>
        <p:grpSpPr bwMode="auto">
          <a:xfrm>
            <a:off x="1570070" y="1316729"/>
            <a:ext cx="5245036" cy="4035361"/>
            <a:chOff x="1398367" y="1722062"/>
            <a:chExt cx="5245036" cy="4035172"/>
          </a:xfrm>
        </p:grpSpPr>
        <p:graphicFrame>
          <p:nvGraphicFramePr>
            <p:cNvPr id="11" name="图表 2"/>
            <p:cNvGraphicFramePr>
              <a:graphicFrameLocks/>
            </p:cNvGraphicFramePr>
            <p:nvPr>
              <p:extLst>
                <p:ext uri="{D42A27DB-BD31-4B8C-83A1-F6EECF244321}">
                  <p14:modId xmlns:p14="http://schemas.microsoft.com/office/powerpoint/2010/main" val="4192531024"/>
                </p:ext>
              </p:extLst>
            </p:nvPr>
          </p:nvGraphicFramePr>
          <p:xfrm>
            <a:off x="1398367" y="1722062"/>
            <a:ext cx="5245036" cy="4035172"/>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bwMode="auto">
            <a:xfrm rot="2719682">
              <a:off x="4600346" y="2872905"/>
              <a:ext cx="1042938" cy="369888"/>
            </a:xfrm>
            <a:prstGeom prst="rect">
              <a:avLst/>
            </a:prstGeom>
            <a:noFill/>
          </p:spPr>
          <p:txBody>
            <a:bodyPr>
              <a:spAutoFit/>
            </a:bodyPr>
            <a:lstStyle/>
            <a:p>
              <a:pPr>
                <a:defRPr/>
              </a:pPr>
              <a:r>
                <a:rPr lang="zh-CN" altLang="en-US" spc="300">
                  <a:latin typeface="微软雅黑" panose="020B0503020204020204" pitchFamily="34" charset="-122"/>
                  <a:ea typeface="微软雅黑" panose="020B0503020204020204" pitchFamily="34" charset="-122"/>
                </a:rPr>
                <a:t>掌握</a:t>
              </a:r>
            </a:p>
          </p:txBody>
        </p:sp>
        <p:sp>
          <p:nvSpPr>
            <p:cNvPr id="13" name="TextBox 12"/>
            <p:cNvSpPr txBox="1"/>
            <p:nvPr/>
          </p:nvSpPr>
          <p:spPr bwMode="auto">
            <a:xfrm rot="6997465" flipV="1">
              <a:off x="2748528" y="2675271"/>
              <a:ext cx="1041351" cy="369887"/>
            </a:xfrm>
            <a:prstGeom prst="rect">
              <a:avLst/>
            </a:prstGeom>
            <a:noFill/>
          </p:spPr>
          <p:txBody>
            <a:bodyPr>
              <a:spAutoFit/>
            </a:bodyPr>
            <a:lstStyle/>
            <a:p>
              <a:pPr>
                <a:defRPr/>
              </a:pPr>
              <a:r>
                <a:rPr lang="zh-CN" altLang="en-US" spc="300">
                  <a:latin typeface="微软雅黑" panose="020B0503020204020204" pitchFamily="34" charset="-122"/>
                  <a:ea typeface="微软雅黑" panose="020B0503020204020204" pitchFamily="34" charset="-122"/>
                </a:rPr>
                <a:t>了解</a:t>
              </a:r>
            </a:p>
          </p:txBody>
        </p:sp>
        <p:sp>
          <p:nvSpPr>
            <p:cNvPr id="14" name="TextBox 13"/>
            <p:cNvSpPr txBox="1"/>
            <p:nvPr/>
          </p:nvSpPr>
          <p:spPr bwMode="auto">
            <a:xfrm rot="10800000" flipH="1" flipV="1">
              <a:off x="3819272" y="4427003"/>
              <a:ext cx="1041400" cy="368283"/>
            </a:xfrm>
            <a:prstGeom prst="rect">
              <a:avLst/>
            </a:prstGeom>
            <a:noFill/>
          </p:spPr>
          <p:txBody>
            <a:bodyPr>
              <a:spAutoFit/>
            </a:bodyPr>
            <a:lstStyle/>
            <a:p>
              <a:pPr>
                <a:defRPr/>
              </a:pPr>
              <a:r>
                <a:rPr lang="zh-CN" altLang="en-US" spc="300">
                  <a:latin typeface="微软雅黑" panose="020B0503020204020204" pitchFamily="34" charset="-122"/>
                  <a:ea typeface="微软雅黑" panose="020B0503020204020204" pitchFamily="34" charset="-122"/>
                </a:rPr>
                <a:t>熟悉</a:t>
              </a:r>
            </a:p>
          </p:txBody>
        </p:sp>
      </p:grpSp>
      <p:grpSp>
        <p:nvGrpSpPr>
          <p:cNvPr id="15" name="组合 2"/>
          <p:cNvGrpSpPr>
            <a:grpSpLocks/>
          </p:cNvGrpSpPr>
          <p:nvPr/>
        </p:nvGrpSpPr>
        <p:grpSpPr bwMode="auto">
          <a:xfrm>
            <a:off x="3692525" y="2547010"/>
            <a:ext cx="1203325" cy="1201737"/>
            <a:chOff x="3692088" y="2878838"/>
            <a:chExt cx="1203191" cy="1201737"/>
          </a:xfrm>
        </p:grpSpPr>
        <p:sp>
          <p:nvSpPr>
            <p:cNvPr id="16" name="弧形 15"/>
            <p:cNvSpPr/>
            <p:nvPr/>
          </p:nvSpPr>
          <p:spPr bwMode="auto">
            <a:xfrm rot="5400000">
              <a:off x="3692815" y="2878111"/>
              <a:ext cx="1201737" cy="1203191"/>
            </a:xfrm>
            <a:prstGeom prst="arc">
              <a:avLst>
                <a:gd name="adj1" fmla="val 5382197"/>
                <a:gd name="adj2" fmla="val 0"/>
              </a:avLst>
            </a:prstGeom>
            <a:noFill/>
            <a:ln w="57150" cap="flat" cmpd="sng" algn="ctr">
              <a:solidFill>
                <a:srgbClr val="D5F4FF"/>
              </a:solidFill>
              <a:prstDash val="solid"/>
              <a:round/>
              <a:headEnd type="oval" w="sm" len="sm"/>
              <a:tailEnd type="oval"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sp>
          <p:nvSpPr>
            <p:cNvPr id="17" name="弧形 16"/>
            <p:cNvSpPr/>
            <p:nvPr/>
          </p:nvSpPr>
          <p:spPr bwMode="auto">
            <a:xfrm>
              <a:off x="3795265" y="2996313"/>
              <a:ext cx="990490" cy="992187"/>
            </a:xfrm>
            <a:prstGeom prst="arc">
              <a:avLst>
                <a:gd name="adj1" fmla="val 10763236"/>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sp>
          <p:nvSpPr>
            <p:cNvPr id="18" name="弧形 17"/>
            <p:cNvSpPr/>
            <p:nvPr/>
          </p:nvSpPr>
          <p:spPr bwMode="auto">
            <a:xfrm rot="16200000">
              <a:off x="3891251" y="3136849"/>
              <a:ext cx="822325" cy="753978"/>
            </a:xfrm>
            <a:prstGeom prst="arc">
              <a:avLst>
                <a:gd name="adj1" fmla="val 16251812"/>
                <a:gd name="adj2" fmla="val 0"/>
              </a:avLst>
            </a:prstGeom>
            <a:noFill/>
            <a:ln w="57150" cap="flat" cmpd="sng" algn="ctr">
              <a:solidFill>
                <a:srgbClr val="D5F4FF"/>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defRPr/>
              </a:pPr>
              <a:endParaRPr lang="zh-CN" altLang="en-US">
                <a:ea typeface="宋体" pitchFamily="2" charset="-122"/>
              </a:endParaRPr>
            </a:p>
          </p:txBody>
        </p:sp>
      </p:grpSp>
      <p:grpSp>
        <p:nvGrpSpPr>
          <p:cNvPr id="19" name="组合 18"/>
          <p:cNvGrpSpPr>
            <a:grpSpLocks/>
          </p:cNvGrpSpPr>
          <p:nvPr/>
        </p:nvGrpSpPr>
        <p:grpSpPr bwMode="auto">
          <a:xfrm>
            <a:off x="4604979" y="4221089"/>
            <a:ext cx="4014573" cy="1568005"/>
            <a:chOff x="4241882" y="4624151"/>
            <a:chExt cx="2034492" cy="1558276"/>
          </a:xfrm>
        </p:grpSpPr>
        <p:grpSp>
          <p:nvGrpSpPr>
            <p:cNvPr id="20" name="组合 38"/>
            <p:cNvGrpSpPr>
              <a:grpSpLocks/>
            </p:cNvGrpSpPr>
            <p:nvPr/>
          </p:nvGrpSpPr>
          <p:grpSpPr bwMode="auto">
            <a:xfrm rot="5400000" flipV="1">
              <a:off x="4703914" y="4644700"/>
              <a:ext cx="1075695" cy="1999759"/>
              <a:chOff x="6453791" y="4116789"/>
              <a:chExt cx="1526764" cy="915993"/>
            </a:xfrm>
          </p:grpSpPr>
          <p:grpSp>
            <p:nvGrpSpPr>
              <p:cNvPr id="22" name="组合 38"/>
              <p:cNvGrpSpPr>
                <a:grpSpLocks/>
              </p:cNvGrpSpPr>
              <p:nvPr/>
            </p:nvGrpSpPr>
            <p:grpSpPr bwMode="auto">
              <a:xfrm rot="10800000">
                <a:off x="6453791" y="4116789"/>
                <a:ext cx="1212473" cy="810510"/>
                <a:chOff x="1625229" y="2303341"/>
                <a:chExt cx="1212595" cy="810196"/>
              </a:xfrm>
            </p:grpSpPr>
            <p:cxnSp>
              <p:nvCxnSpPr>
                <p:cNvPr id="26" name="直接连接符 39"/>
                <p:cNvCxnSpPr>
                  <a:cxnSpLocks noChangeShapeType="1"/>
                </p:cNvCxnSpPr>
                <p:nvPr/>
              </p:nvCxnSpPr>
              <p:spPr bwMode="auto">
                <a:xfrm rot="16200000" flipH="1" flipV="1">
                  <a:off x="1232572" y="2695997"/>
                  <a:ext cx="785314" cy="1"/>
                </a:xfrm>
                <a:prstGeom prst="line">
                  <a:avLst/>
                </a:prstGeom>
                <a:noFill/>
                <a:ln w="28575" algn="ctr">
                  <a:solidFill>
                    <a:srgbClr val="01598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40"/>
                <p:cNvCxnSpPr>
                  <a:cxnSpLocks noChangeShapeType="1"/>
                </p:cNvCxnSpPr>
                <p:nvPr/>
              </p:nvCxnSpPr>
              <p:spPr bwMode="auto">
                <a:xfrm rot="16200000" flipH="1">
                  <a:off x="2219087" y="2494799"/>
                  <a:ext cx="24880" cy="1212595"/>
                </a:xfrm>
                <a:prstGeom prst="line">
                  <a:avLst/>
                </a:prstGeom>
                <a:noFill/>
                <a:ln w="28575" algn="ctr">
                  <a:solidFill>
                    <a:srgbClr val="01598B"/>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3" name="组合 41"/>
              <p:cNvGrpSpPr>
                <a:grpSpLocks/>
              </p:cNvGrpSpPr>
              <p:nvPr/>
            </p:nvGrpSpPr>
            <p:grpSpPr bwMode="auto">
              <a:xfrm flipH="1">
                <a:off x="7292384" y="4920843"/>
                <a:ext cx="688171" cy="111939"/>
                <a:chOff x="1950262" y="3647353"/>
                <a:chExt cx="690120" cy="111798"/>
              </a:xfrm>
            </p:grpSpPr>
            <p:sp>
              <p:nvSpPr>
                <p:cNvPr id="24" name="椭圆 23"/>
                <p:cNvSpPr/>
                <p:nvPr/>
              </p:nvSpPr>
              <p:spPr bwMode="auto">
                <a:xfrm rot="5400000">
                  <a:off x="2204742" y="3392873"/>
                  <a:ext cx="111798" cy="620757"/>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25" name="TextBox 24"/>
                <p:cNvSpPr txBox="1"/>
                <p:nvPr/>
              </p:nvSpPr>
              <p:spPr>
                <a:xfrm rot="5400000">
                  <a:off x="2258997" y="3373460"/>
                  <a:ext cx="93355" cy="669415"/>
                </a:xfrm>
                <a:prstGeom prst="rect">
                  <a:avLst/>
                </a:prstGeom>
                <a:noFill/>
                <a:effectLst>
                  <a:outerShdw blurRad="12700" dist="12700" dir="2700000" algn="tl" rotWithShape="0">
                    <a:prstClr val="black">
                      <a:alpha val="40000"/>
                    </a:prstClr>
                  </a:outerShdw>
                </a:effectLst>
              </p:spPr>
              <p:txBody>
                <a:bodyPr wrap="square">
                  <a:spAutoFit/>
                </a:bodyPr>
                <a:lstStyle/>
                <a:p>
                  <a:pPr>
                    <a:defRPr/>
                  </a:pPr>
                  <a:r>
                    <a:rPr lang="en-US" altLang="zh-CN" sz="2800" b="1">
                      <a:solidFill>
                        <a:schemeClr val="bg1"/>
                      </a:solidFill>
                      <a:latin typeface="Times New Roman" panose="02020603050405020304" pitchFamily="18" charset="0"/>
                      <a:cs typeface="Times New Roman" panose="02020603050405020304" pitchFamily="18" charset="0"/>
                    </a:rPr>
                    <a:t>2</a:t>
                  </a:r>
                  <a:endParaRPr lang="zh-CN" altLang="en-US" sz="2800" b="1">
                    <a:solidFill>
                      <a:schemeClr val="bg1"/>
                    </a:solidFill>
                    <a:latin typeface="Times New Roman" panose="02020603050405020304" pitchFamily="18" charset="0"/>
                    <a:cs typeface="Times New Roman" panose="02020603050405020304" pitchFamily="18" charset="0"/>
                  </a:endParaRPr>
                </a:p>
              </p:txBody>
            </p:sp>
          </p:grpSp>
        </p:grpSp>
        <p:sp>
          <p:nvSpPr>
            <p:cNvPr id="21" name="矩形 4"/>
            <p:cNvSpPr>
              <a:spLocks noChangeArrowheads="1"/>
            </p:cNvSpPr>
            <p:nvPr/>
          </p:nvSpPr>
          <p:spPr bwMode="auto">
            <a:xfrm>
              <a:off x="4296212" y="4624151"/>
              <a:ext cx="1980162" cy="146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a:lnSpc>
                  <a:spcPts val="3600"/>
                </a:lnSpc>
              </a:pPr>
              <a:r>
                <a:rPr lang="zh-CN" altLang="en-US" b="1" smtClean="0">
                  <a:solidFill>
                    <a:srgbClr val="006BA9"/>
                  </a:solidFill>
                  <a:ea typeface="微软雅黑" pitchFamily="34" charset="-122"/>
                  <a:sym typeface="宋体" charset="-122"/>
                </a:rPr>
                <a:t>   </a:t>
              </a:r>
              <a:r>
                <a:rPr lang="en-US" altLang="zh-CN" b="1" smtClean="0">
                  <a:solidFill>
                    <a:srgbClr val="006BA9"/>
                  </a:solidFill>
                  <a:ea typeface="微软雅黑" pitchFamily="34" charset="-122"/>
                  <a:sym typeface="宋体" charset="-122"/>
                </a:rPr>
                <a:t>MVC</a:t>
              </a:r>
              <a:r>
                <a:rPr lang="zh-CN" altLang="en-US" b="1" smtClean="0">
                  <a:solidFill>
                    <a:srgbClr val="006BA9"/>
                  </a:solidFill>
                  <a:ea typeface="微软雅黑" pitchFamily="34" charset="-122"/>
                  <a:sym typeface="宋体" charset="-122"/>
                </a:rPr>
                <a:t>设计模式的原理</a:t>
              </a:r>
              <a:endParaRPr lang="en-US" altLang="zh-CN" b="1" smtClean="0">
                <a:solidFill>
                  <a:srgbClr val="006BA9"/>
                </a:solidFill>
                <a:ea typeface="微软雅黑" pitchFamily="34" charset="-122"/>
                <a:sym typeface="宋体" charset="-122"/>
              </a:endParaRPr>
            </a:p>
            <a:p>
              <a:pPr marL="457200" indent="-457200">
                <a:lnSpc>
                  <a:spcPts val="3600"/>
                </a:lnSpc>
              </a:pPr>
              <a:r>
                <a:rPr lang="en-US" altLang="zh-CN" b="1" smtClean="0">
                  <a:solidFill>
                    <a:srgbClr val="006BA9"/>
                  </a:solidFill>
                  <a:ea typeface="微软雅黑" pitchFamily="34" charset="-122"/>
                  <a:sym typeface="宋体" charset="-122"/>
                </a:rPr>
                <a:t>JSP Model1</a:t>
              </a:r>
              <a:r>
                <a:rPr lang="zh-CN" altLang="en-US" b="1" smtClean="0">
                  <a:solidFill>
                    <a:srgbClr val="006BA9"/>
                  </a:solidFill>
                  <a:ea typeface="微软雅黑" pitchFamily="34" charset="-122"/>
                  <a:sym typeface="宋体" charset="-122"/>
                </a:rPr>
                <a:t>和</a:t>
              </a:r>
              <a:r>
                <a:rPr lang="en-US" altLang="zh-CN" b="1" smtClean="0">
                  <a:solidFill>
                    <a:srgbClr val="006BA9"/>
                  </a:solidFill>
                  <a:ea typeface="微软雅黑" pitchFamily="34" charset="-122"/>
                  <a:sym typeface="宋体" charset="-122"/>
                </a:rPr>
                <a:t>JSP Model2</a:t>
              </a:r>
              <a:r>
                <a:rPr lang="zh-CN" altLang="en-US" b="1" smtClean="0">
                  <a:solidFill>
                    <a:srgbClr val="006BA9"/>
                  </a:solidFill>
                  <a:ea typeface="微软雅黑" pitchFamily="34" charset="-122"/>
                  <a:sym typeface="宋体" charset="-122"/>
                </a:rPr>
                <a:t>模型的原理</a:t>
              </a:r>
              <a:endParaRPr lang="en-US" altLang="zh-CN" b="1" dirty="0">
                <a:solidFill>
                  <a:srgbClr val="006BA9"/>
                </a:solidFill>
                <a:ea typeface="微软雅黑" pitchFamily="34" charset="-122"/>
                <a:sym typeface="宋体" charset="-122"/>
              </a:endParaRPr>
            </a:p>
          </p:txBody>
        </p:sp>
      </p:grpSp>
      <p:grpSp>
        <p:nvGrpSpPr>
          <p:cNvPr id="28" name="组合 6"/>
          <p:cNvGrpSpPr>
            <a:grpSpLocks/>
          </p:cNvGrpSpPr>
          <p:nvPr/>
        </p:nvGrpSpPr>
        <p:grpSpPr bwMode="auto">
          <a:xfrm>
            <a:off x="5580112" y="1802813"/>
            <a:ext cx="3528391" cy="906105"/>
            <a:chOff x="5725558" y="1827378"/>
            <a:chExt cx="3531572" cy="906134"/>
          </a:xfrm>
        </p:grpSpPr>
        <p:sp>
          <p:nvSpPr>
            <p:cNvPr id="29" name="矩形 5"/>
            <p:cNvSpPr>
              <a:spLocks noChangeArrowheads="1"/>
            </p:cNvSpPr>
            <p:nvPr/>
          </p:nvSpPr>
          <p:spPr bwMode="auto">
            <a:xfrm flipH="1">
              <a:off x="5725558" y="2095945"/>
              <a:ext cx="3510626" cy="49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a:lnSpc>
                  <a:spcPts val="3600"/>
                </a:lnSpc>
              </a:pPr>
              <a:r>
                <a:rPr lang="en-US" altLang="zh-CN" b="1" smtClean="0">
                  <a:solidFill>
                    <a:srgbClr val="01598B"/>
                  </a:solidFill>
                  <a:latin typeface="微软雅黑" pitchFamily="34" charset="-122"/>
                  <a:ea typeface="微软雅黑" pitchFamily="34" charset="-122"/>
                </a:rPr>
                <a:t>JSP Model2</a:t>
              </a:r>
              <a:r>
                <a:rPr lang="zh-CN" altLang="en-US" b="1" smtClean="0">
                  <a:solidFill>
                    <a:srgbClr val="01598B"/>
                  </a:solidFill>
                  <a:latin typeface="微软雅黑" pitchFamily="34" charset="-122"/>
                  <a:ea typeface="微软雅黑" pitchFamily="34" charset="-122"/>
                </a:rPr>
                <a:t>模型的实际使用</a:t>
              </a:r>
              <a:endParaRPr lang="en-US" altLang="zh-CN" b="1" smtClean="0">
                <a:solidFill>
                  <a:srgbClr val="01598B"/>
                </a:solidFill>
                <a:latin typeface="微软雅黑" pitchFamily="34" charset="-122"/>
                <a:ea typeface="微软雅黑" pitchFamily="34" charset="-122"/>
              </a:endParaRPr>
            </a:p>
          </p:txBody>
        </p:sp>
        <p:grpSp>
          <p:nvGrpSpPr>
            <p:cNvPr id="30" name="组合 16"/>
            <p:cNvGrpSpPr>
              <a:grpSpLocks/>
            </p:cNvGrpSpPr>
            <p:nvPr/>
          </p:nvGrpSpPr>
          <p:grpSpPr bwMode="auto">
            <a:xfrm flipH="1">
              <a:off x="5947990" y="2286831"/>
              <a:ext cx="3039273" cy="446681"/>
              <a:chOff x="980659" y="2862509"/>
              <a:chExt cx="3177995" cy="446892"/>
            </a:xfrm>
          </p:grpSpPr>
          <p:cxnSp>
            <p:nvCxnSpPr>
              <p:cNvPr id="34" name="直接连接符 7"/>
              <p:cNvCxnSpPr>
                <a:cxnSpLocks noChangeShapeType="1"/>
              </p:cNvCxnSpPr>
              <p:nvPr/>
            </p:nvCxnSpPr>
            <p:spPr bwMode="auto">
              <a:xfrm>
                <a:off x="980659" y="2862509"/>
                <a:ext cx="255076" cy="446892"/>
              </a:xfrm>
              <a:prstGeom prst="line">
                <a:avLst/>
              </a:prstGeom>
              <a:noFill/>
              <a:ln w="28575" algn="ctr">
                <a:solidFill>
                  <a:srgbClr val="006BA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10"/>
              <p:cNvCxnSpPr>
                <a:cxnSpLocks noChangeShapeType="1"/>
              </p:cNvCxnSpPr>
              <p:nvPr/>
            </p:nvCxnSpPr>
            <p:spPr bwMode="auto">
              <a:xfrm>
                <a:off x="1235735" y="3294594"/>
                <a:ext cx="2922919" cy="14807"/>
              </a:xfrm>
              <a:prstGeom prst="line">
                <a:avLst/>
              </a:prstGeom>
              <a:noFill/>
              <a:ln w="28575" algn="ctr">
                <a:solidFill>
                  <a:srgbClr val="006BA9"/>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1" name="组合 15"/>
            <p:cNvGrpSpPr>
              <a:grpSpLocks/>
            </p:cNvGrpSpPr>
            <p:nvPr/>
          </p:nvGrpSpPr>
          <p:grpSpPr bwMode="auto">
            <a:xfrm flipH="1">
              <a:off x="8767739" y="1827378"/>
              <a:ext cx="489391" cy="520715"/>
              <a:chOff x="1383068" y="4069721"/>
              <a:chExt cx="511727" cy="520961"/>
            </a:xfrm>
          </p:grpSpPr>
          <p:sp>
            <p:nvSpPr>
              <p:cNvPr id="32" name="椭圆 31"/>
              <p:cNvSpPr/>
              <p:nvPr/>
            </p:nvSpPr>
            <p:spPr bwMode="auto">
              <a:xfrm>
                <a:off x="1383068" y="4085604"/>
                <a:ext cx="511727" cy="473312"/>
              </a:xfrm>
              <a:prstGeom prst="ellipse">
                <a:avLst/>
              </a:prstGeom>
              <a:solidFill>
                <a:srgbClr val="006BA9"/>
              </a:solidFill>
              <a:ln w="28575" cap="flat" cmpd="sng" algn="ctr">
                <a:solidFill>
                  <a:srgbClr val="006BA9"/>
                </a:solidFill>
                <a:prstDash val="solid"/>
                <a:round/>
                <a:headEnd type="none" w="med" len="med"/>
                <a:tailEnd type="none" w="med" len="med"/>
              </a:ln>
              <a:effectLst>
                <a:outerShdw blurRad="25400" dist="12700" dir="2700000" algn="tl" rotWithShape="0">
                  <a:prstClr val="black">
                    <a:alpha val="40000"/>
                  </a:prstClr>
                </a:outerShdw>
              </a:effectLst>
              <a:extLst/>
            </p:spPr>
            <p:txBody>
              <a:bodyPr/>
              <a:lstStyle/>
              <a:p>
                <a:pPr eaLnBrk="1" hangingPunct="1">
                  <a:buFont typeface="Arial" pitchFamily="34" charset="0"/>
                  <a:buNone/>
                  <a:defRPr/>
                </a:pPr>
                <a:endParaRPr lang="zh-CN" altLang="en-US">
                  <a:ea typeface="宋体" pitchFamily="2" charset="-122"/>
                </a:endParaRPr>
              </a:p>
            </p:txBody>
          </p:sp>
          <p:sp>
            <p:nvSpPr>
              <p:cNvPr id="33" name="TextBox 32"/>
              <p:cNvSpPr txBox="1"/>
              <p:nvPr/>
            </p:nvSpPr>
            <p:spPr>
              <a:xfrm>
                <a:off x="1491055" y="4069721"/>
                <a:ext cx="335613" cy="520961"/>
              </a:xfrm>
              <a:prstGeom prst="rect">
                <a:avLst/>
              </a:prstGeom>
              <a:noFill/>
              <a:effectLst>
                <a:outerShdw blurRad="12700" dist="12700" dir="2700000" algn="tl" rotWithShape="0">
                  <a:prstClr val="black">
                    <a:alpha val="40000"/>
                  </a:prstClr>
                </a:outerShdw>
              </a:effectLst>
            </p:spPr>
            <p:txBody>
              <a:bodyPr>
                <a:spAutoFit/>
              </a:bodyPr>
              <a:lstStyle/>
              <a:p>
                <a:pPr>
                  <a:defRPr/>
                </a:pPr>
                <a:r>
                  <a:rPr lang="en-US" altLang="zh-CN" sz="2800" b="1" dirty="0" smtClean="0">
                    <a:solidFill>
                      <a:schemeClr val="bg1"/>
                    </a:solidFill>
                    <a:latin typeface="Times New Roman" panose="02020603050405020304" pitchFamily="18" charset="0"/>
                    <a:cs typeface="Times New Roman" panose="02020603050405020304" pitchFamily="18" charset="0"/>
                  </a:rPr>
                  <a:t>1</a:t>
                </a:r>
                <a:endParaRPr lang="zh-CN" altLang="en-US" sz="2800" b="1" dirty="0">
                  <a:solidFill>
                    <a:schemeClr val="bg1"/>
                  </a:solidFill>
                  <a:latin typeface="Times New Roman" panose="02020603050405020304" pitchFamily="18" charset="0"/>
                  <a:cs typeface="Times New Roman" panose="02020603050405020304" pitchFamily="18" charset="0"/>
                </a:endParaRPr>
              </a:p>
            </p:txBody>
          </p:sp>
        </p:grpSp>
      </p:grpSp>
      <p:sp>
        <p:nvSpPr>
          <p:cNvPr id="36"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学习目标</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5058507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50"/>
                                        <p:tgtEl>
                                          <p:spTgt spid="10"/>
                                        </p:tgtEl>
                                      </p:cBhvr>
                                    </p:animEffect>
                                  </p:childTnLst>
                                </p:cTn>
                              </p:par>
                            </p:childTnLst>
                          </p:cTn>
                        </p:par>
                        <p:par>
                          <p:cTn id="8" fill="hold">
                            <p:stCondLst>
                              <p:cond delay="750"/>
                            </p:stCondLst>
                            <p:childTnLst>
                              <p:par>
                                <p:cTn id="9" presetID="2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500"/>
                                        <p:tgtEl>
                                          <p:spTgt spid="28"/>
                                        </p:tgtEl>
                                      </p:cBhvr>
                                    </p:animEffect>
                                  </p:childTnLst>
                                </p:cTn>
                              </p:par>
                            </p:childTnLst>
                          </p:cTn>
                        </p:par>
                        <p:par>
                          <p:cTn id="12" fill="hold">
                            <p:stCondLst>
                              <p:cond delay="1250"/>
                            </p:stCondLst>
                            <p:childTnLst>
                              <p:par>
                                <p:cTn id="13" presetID="22" presetClass="entr" presetSubtype="1"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up)">
                                      <p:cBhvr>
                                        <p:cTn id="15" dur="500"/>
                                        <p:tgtEl>
                                          <p:spTgt spid="19"/>
                                        </p:tgtEl>
                                      </p:cBhvr>
                                    </p:animEffect>
                                  </p:childTnLst>
                                </p:cTn>
                              </p:par>
                            </p:childTnLst>
                          </p:cTn>
                        </p:par>
                        <p:par>
                          <p:cTn id="16" fill="hold">
                            <p:stCondLst>
                              <p:cond delay="1750"/>
                            </p:stCondLst>
                            <p:childTnLst>
                              <p:par>
                                <p:cTn id="17" presetID="22" presetClass="entr" presetSubtype="4"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对角圆角矩形 1"/>
          <p:cNvSpPr/>
          <p:nvPr/>
        </p:nvSpPr>
        <p:spPr>
          <a:xfrm>
            <a:off x="755576" y="2492896"/>
            <a:ext cx="4896544"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TextBox 6"/>
          <p:cNvSpPr txBox="1"/>
          <p:nvPr/>
        </p:nvSpPr>
        <p:spPr>
          <a:xfrm>
            <a:off x="1097740" y="2627620"/>
            <a:ext cx="3834300" cy="369332"/>
          </a:xfrm>
          <a:prstGeom prst="rect">
            <a:avLst/>
          </a:prstGeom>
          <a:noFill/>
        </p:spPr>
        <p:txBody>
          <a:bodyPr vert="horz" wrap="square" lIns="0" tIns="0" rIns="0" bIns="0" rtlCol="0" anchor="ctr">
            <a:spAutoFit/>
          </a:bodyPr>
          <a:lstStyle/>
          <a:p>
            <a:r>
              <a:rPr lang="en-US" altLang="zh-CN" sz="2400" smtClean="0">
                <a:solidFill>
                  <a:prstClr val="white"/>
                </a:solidFill>
                <a:latin typeface="Impact" pitchFamily="34" charset="0"/>
                <a:ea typeface="微软雅黑" pitchFamily="34" charset="-122"/>
              </a:rPr>
              <a:t>11.1    JSP</a:t>
            </a:r>
            <a:r>
              <a:rPr lang="zh-CN" altLang="en-US" sz="2400" smtClean="0">
                <a:solidFill>
                  <a:prstClr val="white"/>
                </a:solidFill>
                <a:latin typeface="Impact" pitchFamily="34" charset="0"/>
                <a:ea typeface="微软雅黑" pitchFamily="34" charset="-122"/>
              </a:rPr>
              <a:t>开发模型</a:t>
            </a:r>
            <a:r>
              <a:rPr lang="zh-CN" altLang="en-US" sz="2400" smtClean="0">
                <a:solidFill>
                  <a:prstClr val="white"/>
                </a:solidFill>
                <a:latin typeface="微软雅黑" pitchFamily="34" charset="-122"/>
                <a:ea typeface="微软雅黑" pitchFamily="34" charset="-122"/>
              </a:rPr>
              <a:t> </a:t>
            </a:r>
            <a:endParaRPr lang="zh-CN" altLang="en-US" sz="2400" dirty="0">
              <a:solidFill>
                <a:prstClr val="white"/>
              </a:solidFill>
              <a:latin typeface="微软雅黑" pitchFamily="34" charset="-122"/>
              <a:ea typeface="微软雅黑" pitchFamily="34" charset="-122"/>
            </a:endParaRPr>
          </a:p>
        </p:txBody>
      </p:sp>
      <p:sp>
        <p:nvSpPr>
          <p:cNvPr id="5" name="TextBox 10"/>
          <p:cNvSpPr txBox="1"/>
          <p:nvPr/>
        </p:nvSpPr>
        <p:spPr>
          <a:xfrm>
            <a:off x="1097740" y="3635732"/>
            <a:ext cx="3834300" cy="369332"/>
          </a:xfrm>
          <a:prstGeom prst="rect">
            <a:avLst/>
          </a:prstGeom>
          <a:noFill/>
        </p:spPr>
        <p:txBody>
          <a:bodyPr vert="horz" wrap="square" lIns="0" tIns="0" rIns="0" bIns="0" rtlCol="0" anchor="ctr">
            <a:spAutoFit/>
          </a:bodyPr>
          <a:lstStyle/>
          <a:p>
            <a:r>
              <a:rPr lang="en-US" altLang="zh-CN" sz="2400" smtClean="0">
                <a:solidFill>
                  <a:srgbClr val="7F7F7F"/>
                </a:solidFill>
                <a:latin typeface="Impact" pitchFamily="34" charset="0"/>
                <a:ea typeface="微软雅黑" pitchFamily="34" charset="-122"/>
              </a:rPr>
              <a:t>11.2    MVC</a:t>
            </a:r>
            <a:r>
              <a:rPr lang="zh-CN" altLang="en-US" sz="2400" smtClean="0">
                <a:solidFill>
                  <a:srgbClr val="7F7F7F"/>
                </a:solidFill>
                <a:latin typeface="Impact" pitchFamily="34" charset="0"/>
                <a:ea typeface="微软雅黑" pitchFamily="34" charset="-122"/>
              </a:rPr>
              <a:t>设计模式</a:t>
            </a:r>
            <a:endParaRPr lang="zh-CN" altLang="en-US" sz="2400" dirty="0">
              <a:solidFill>
                <a:srgbClr val="7F7F7F"/>
              </a:solidFill>
              <a:latin typeface="Impact" pitchFamily="34" charset="0"/>
              <a:ea typeface="微软雅黑" pitchFamily="34" charset="-122"/>
            </a:endParaRPr>
          </a:p>
        </p:txBody>
      </p:sp>
      <p:sp>
        <p:nvSpPr>
          <p:cNvPr id="9" name="椭圆 8"/>
          <p:cNvSpPr/>
          <p:nvPr/>
        </p:nvSpPr>
        <p:spPr>
          <a:xfrm>
            <a:off x="4897998" y="1712810"/>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TextBox 1"/>
          <p:cNvSpPr txBox="1"/>
          <p:nvPr/>
        </p:nvSpPr>
        <p:spPr>
          <a:xfrm>
            <a:off x="4860032" y="2492896"/>
            <a:ext cx="3566358" cy="1831271"/>
          </a:xfrm>
          <a:prstGeom prst="rect">
            <a:avLst/>
          </a:prstGeom>
          <a:noFill/>
        </p:spPr>
        <p:txBody>
          <a:bodyPr wrap="square" rtlCol="0" anchor="ctr">
            <a:spAutoFit/>
          </a:bodyPr>
          <a:lstStyle/>
          <a:p>
            <a:pPr algn="ctr">
              <a:lnSpc>
                <a:spcPct val="150000"/>
              </a:lnSpc>
            </a:pPr>
            <a:r>
              <a:rPr lang="zh-CN" altLang="en-US" sz="5400" b="1"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endParaRPr>
          </a:p>
        </p:txBody>
      </p:sp>
      <p:sp>
        <p:nvSpPr>
          <p:cNvPr id="7"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817415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56"/>
          <p:cNvSpPr/>
          <p:nvPr/>
        </p:nvSpPr>
        <p:spPr bwMode="auto">
          <a:xfrm>
            <a:off x="659904" y="1340768"/>
            <a:ext cx="7728520" cy="936104"/>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 name="矩形 2"/>
          <p:cNvSpPr>
            <a:spLocks noChangeArrowheads="1"/>
          </p:cNvSpPr>
          <p:nvPr/>
        </p:nvSpPr>
        <p:spPr bwMode="auto">
          <a:xfrm>
            <a:off x="659905" y="1416058"/>
            <a:ext cx="7844334" cy="788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ct val="150000"/>
              </a:lnSpc>
              <a:buFont typeface="Calibri" panose="020F0502020204030204" pitchFamily="34" charset="0"/>
              <a:buChar char="–"/>
            </a:pPr>
            <a:r>
              <a:rPr lang="en-US" altLang="zh-CN" sz="1600" dirty="0" smtClean="0"/>
              <a:t>JSP</a:t>
            </a:r>
            <a:r>
              <a:rPr lang="zh-CN" altLang="zh-CN" sz="1600" dirty="0"/>
              <a:t>技术在</a:t>
            </a:r>
            <a:r>
              <a:rPr lang="en-US" altLang="zh-CN" sz="1600" dirty="0"/>
              <a:t>Web</a:t>
            </a:r>
            <a:r>
              <a:rPr lang="zh-CN" altLang="zh-CN" sz="1600" dirty="0"/>
              <a:t>应用程序的开发过程中运用十分广泛</a:t>
            </a:r>
            <a:r>
              <a:rPr lang="zh-CN" altLang="en-US" sz="1600" dirty="0"/>
              <a:t>，</a:t>
            </a:r>
            <a:r>
              <a:rPr lang="zh-CN" altLang="zh-CN" sz="1600" dirty="0"/>
              <a:t>为了更方便地使用</a:t>
            </a:r>
            <a:r>
              <a:rPr lang="en-US" altLang="zh-CN" sz="1600" dirty="0"/>
              <a:t>JSP</a:t>
            </a:r>
            <a:r>
              <a:rPr lang="zh-CN" altLang="zh-CN" sz="1600" dirty="0"/>
              <a:t>技术，</a:t>
            </a:r>
            <a:r>
              <a:rPr lang="en-US" altLang="zh-CN" sz="1600" dirty="0"/>
              <a:t>Sun</a:t>
            </a:r>
            <a:r>
              <a:rPr lang="zh-CN" altLang="zh-CN" sz="1600" dirty="0"/>
              <a:t>公司提供了</a:t>
            </a:r>
            <a:r>
              <a:rPr lang="en-US" altLang="zh-CN" sz="1600" dirty="0"/>
              <a:t>JSP</a:t>
            </a:r>
            <a:r>
              <a:rPr lang="zh-CN" altLang="zh-CN" sz="1600" dirty="0"/>
              <a:t>开发模型</a:t>
            </a:r>
            <a:r>
              <a:rPr lang="zh-CN" altLang="en-US" sz="1600" dirty="0"/>
              <a:t>。接下来讲解</a:t>
            </a:r>
            <a:r>
              <a:rPr lang="en-US" altLang="zh-CN" sz="1600" dirty="0"/>
              <a:t>JSP</a:t>
            </a:r>
            <a:r>
              <a:rPr lang="zh-CN" altLang="en-US" sz="1600" dirty="0"/>
              <a:t>模型的发展历史。</a:t>
            </a:r>
          </a:p>
        </p:txBody>
      </p:sp>
      <p:sp>
        <p:nvSpPr>
          <p:cNvPr id="58" name="任意多边形 57"/>
          <p:cNvSpPr/>
          <p:nvPr/>
        </p:nvSpPr>
        <p:spPr bwMode="auto">
          <a:xfrm>
            <a:off x="5733653" y="980728"/>
            <a:ext cx="219868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59" name="矩形 58"/>
          <p:cNvSpPr>
            <a:spLocks noChangeArrowheads="1"/>
          </p:cNvSpPr>
          <p:nvPr/>
        </p:nvSpPr>
        <p:spPr bwMode="auto">
          <a:xfrm>
            <a:off x="5724128" y="1037878"/>
            <a:ext cx="1811714" cy="369332"/>
          </a:xfrm>
          <a:prstGeom prst="rect">
            <a:avLst/>
          </a:prstGeom>
          <a:noFill/>
          <a:ln>
            <a:noFill/>
          </a:ln>
          <a:extLst/>
        </p:spPr>
        <p:txBody>
          <a:bodyPr wrap="none">
            <a:spAutoFit/>
          </a:bodyPr>
          <a:lstStyle/>
          <a:p>
            <a:pPr eaLnBrk="1" hangingPunct="1"/>
            <a:r>
              <a:rPr lang="en-US" altLang="zh-CN" dirty="0" smtClean="0">
                <a:solidFill>
                  <a:schemeClr val="bg1"/>
                </a:solidFill>
                <a:latin typeface="微软雅黑" pitchFamily="34" charset="-122"/>
                <a:ea typeface="微软雅黑" pitchFamily="34" charset="-122"/>
              </a:rPr>
              <a:t>     JSP Model1</a:t>
            </a:r>
            <a:endParaRPr lang="zh-CN" altLang="zh-CN" dirty="0">
              <a:solidFill>
                <a:schemeClr val="bg1"/>
              </a:solidFill>
              <a:latin typeface="微软雅黑" pitchFamily="34" charset="-122"/>
              <a:ea typeface="微软雅黑" pitchFamily="34" charset="-122"/>
            </a:endParaRPr>
          </a:p>
        </p:txBody>
      </p:sp>
      <p:pic>
        <p:nvPicPr>
          <p:cNvPr id="6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1013" y="4476651"/>
            <a:ext cx="1049337"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 name="矩形 60"/>
          <p:cNvSpPr>
            <a:spLocks noChangeArrowheads="1"/>
          </p:cNvSpPr>
          <p:nvPr/>
        </p:nvSpPr>
        <p:spPr bwMode="auto">
          <a:xfrm>
            <a:off x="454025" y="2339876"/>
            <a:ext cx="1530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t>JSP</a:t>
            </a:r>
            <a:r>
              <a:rPr lang="zh-CN" altLang="zh-CN"/>
              <a:t>早期模型</a:t>
            </a:r>
            <a:endParaRPr lang="zh-CN" altLang="en-US"/>
          </a:p>
        </p:txBody>
      </p:sp>
      <p:pic>
        <p:nvPicPr>
          <p:cNvPr id="62" name="图片 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0" y="2987576"/>
            <a:ext cx="1065213"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 name="图片 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8075" y="2820888"/>
            <a:ext cx="4603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 name="图片 6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8075" y="3395563"/>
            <a:ext cx="4603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图片 6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14825" y="3020913"/>
            <a:ext cx="966788"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图片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18125" y="2690713"/>
            <a:ext cx="6699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图片 6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76850" y="3417788"/>
            <a:ext cx="750888"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8" name="组合 67"/>
          <p:cNvGrpSpPr>
            <a:grpSpLocks/>
          </p:cNvGrpSpPr>
          <p:nvPr/>
        </p:nvGrpSpPr>
        <p:grpSpPr bwMode="auto">
          <a:xfrm>
            <a:off x="6108700" y="2832001"/>
            <a:ext cx="1143000" cy="800100"/>
            <a:chOff x="5258707" y="3213770"/>
            <a:chExt cx="1143000" cy="800100"/>
          </a:xfrm>
        </p:grpSpPr>
        <p:sp>
          <p:nvSpPr>
            <p:cNvPr id="69" name="椭圆 12"/>
            <p:cNvSpPr>
              <a:spLocks noChangeArrowheads="1"/>
            </p:cNvSpPr>
            <p:nvPr/>
          </p:nvSpPr>
          <p:spPr bwMode="auto">
            <a:xfrm>
              <a:off x="5279571" y="3213770"/>
              <a:ext cx="849086" cy="247887"/>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pPr>
              <a:endParaRPr lang="zh-CN" altLang="en-US"/>
            </a:p>
          </p:txBody>
        </p:sp>
        <p:sp>
          <p:nvSpPr>
            <p:cNvPr id="70" name="椭圆 13"/>
            <p:cNvSpPr>
              <a:spLocks noChangeArrowheads="1"/>
            </p:cNvSpPr>
            <p:nvPr/>
          </p:nvSpPr>
          <p:spPr bwMode="auto">
            <a:xfrm>
              <a:off x="5279571" y="3810055"/>
              <a:ext cx="849086" cy="203815"/>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pPr>
              <a:endParaRPr lang="zh-CN" altLang="en-US"/>
            </a:p>
          </p:txBody>
        </p:sp>
        <p:cxnSp>
          <p:nvCxnSpPr>
            <p:cNvPr id="71" name="直接连接符 15"/>
            <p:cNvCxnSpPr>
              <a:cxnSpLocks noChangeShapeType="1"/>
              <a:stCxn id="69" idx="2"/>
              <a:endCxn id="70" idx="2"/>
            </p:cNvCxnSpPr>
            <p:nvPr/>
          </p:nvCxnSpPr>
          <p:spPr bwMode="auto">
            <a:xfrm>
              <a:off x="5279571" y="3337714"/>
              <a:ext cx="0" cy="574249"/>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17"/>
            <p:cNvCxnSpPr>
              <a:cxnSpLocks noChangeShapeType="1"/>
              <a:stCxn id="69" idx="6"/>
              <a:endCxn id="70" idx="6"/>
            </p:cNvCxnSpPr>
            <p:nvPr/>
          </p:nvCxnSpPr>
          <p:spPr bwMode="auto">
            <a:xfrm>
              <a:off x="6128657" y="3337714"/>
              <a:ext cx="0" cy="574249"/>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TextBox 18"/>
            <p:cNvSpPr txBox="1">
              <a:spLocks noChangeArrowheads="1"/>
            </p:cNvSpPr>
            <p:nvPr/>
          </p:nvSpPr>
          <p:spPr bwMode="auto">
            <a:xfrm>
              <a:off x="5258707" y="3440723"/>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a:t>数据库</a:t>
              </a:r>
            </a:p>
          </p:txBody>
        </p:sp>
      </p:grpSp>
      <p:cxnSp>
        <p:nvCxnSpPr>
          <p:cNvPr id="74" name="直接箭头连接符 73"/>
          <p:cNvCxnSpPr>
            <a:cxnSpLocks noChangeShapeType="1"/>
          </p:cNvCxnSpPr>
          <p:nvPr/>
        </p:nvCxnSpPr>
        <p:spPr bwMode="auto">
          <a:xfrm>
            <a:off x="3451225" y="3151088"/>
            <a:ext cx="914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箭头连接符 74"/>
          <p:cNvCxnSpPr>
            <a:cxnSpLocks noChangeShapeType="1"/>
          </p:cNvCxnSpPr>
          <p:nvPr/>
        </p:nvCxnSpPr>
        <p:spPr bwMode="auto">
          <a:xfrm flipH="1">
            <a:off x="3451225" y="3341588"/>
            <a:ext cx="914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箭头连接符 75"/>
          <p:cNvCxnSpPr>
            <a:cxnSpLocks noChangeShapeType="1"/>
          </p:cNvCxnSpPr>
          <p:nvPr/>
        </p:nvCxnSpPr>
        <p:spPr bwMode="auto">
          <a:xfrm>
            <a:off x="5189538" y="3151088"/>
            <a:ext cx="914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箭头连接符 76"/>
          <p:cNvCxnSpPr>
            <a:cxnSpLocks noChangeShapeType="1"/>
          </p:cNvCxnSpPr>
          <p:nvPr/>
        </p:nvCxnSpPr>
        <p:spPr bwMode="auto">
          <a:xfrm flipH="1">
            <a:off x="5189538" y="3341588"/>
            <a:ext cx="914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矩形 77"/>
          <p:cNvSpPr>
            <a:spLocks noChangeArrowheads="1"/>
          </p:cNvSpPr>
          <p:nvPr/>
        </p:nvSpPr>
        <p:spPr bwMode="auto">
          <a:xfrm>
            <a:off x="454025" y="4006751"/>
            <a:ext cx="2578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t>JSP Model1</a:t>
            </a:r>
            <a:r>
              <a:rPr lang="zh-CN" altLang="zh-CN"/>
              <a:t>的工作原理</a:t>
            </a:r>
            <a:endParaRPr lang="zh-CN" altLang="en-US"/>
          </a:p>
        </p:txBody>
      </p:sp>
      <p:pic>
        <p:nvPicPr>
          <p:cNvPr id="79" name="图片 7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8888" y="4641751"/>
            <a:ext cx="1065212"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0" name="直接箭头连接符 79"/>
          <p:cNvCxnSpPr>
            <a:cxnSpLocks noChangeShapeType="1"/>
          </p:cNvCxnSpPr>
          <p:nvPr/>
        </p:nvCxnSpPr>
        <p:spPr bwMode="auto">
          <a:xfrm>
            <a:off x="3471863" y="4816376"/>
            <a:ext cx="914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箭头连接符 80"/>
          <p:cNvCxnSpPr>
            <a:cxnSpLocks noChangeShapeType="1"/>
          </p:cNvCxnSpPr>
          <p:nvPr/>
        </p:nvCxnSpPr>
        <p:spPr bwMode="auto">
          <a:xfrm flipH="1">
            <a:off x="3471863" y="5006876"/>
            <a:ext cx="914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2" name="图片 8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5225" y="4498876"/>
            <a:ext cx="4603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图片 8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5225" y="5073551"/>
            <a:ext cx="4587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图片 8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37050" y="4641751"/>
            <a:ext cx="966788"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图片 8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84663" y="5267226"/>
            <a:ext cx="1046162"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图片 8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40350" y="4943376"/>
            <a:ext cx="6699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图片 8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43525" y="5605363"/>
            <a:ext cx="750888"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8" name="直接箭头连接符 87"/>
          <p:cNvCxnSpPr>
            <a:cxnSpLocks noChangeShapeType="1"/>
          </p:cNvCxnSpPr>
          <p:nvPr/>
        </p:nvCxnSpPr>
        <p:spPr bwMode="auto">
          <a:xfrm>
            <a:off x="5211763" y="5403751"/>
            <a:ext cx="914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箭头连接符 88"/>
          <p:cNvCxnSpPr>
            <a:cxnSpLocks noChangeShapeType="1"/>
          </p:cNvCxnSpPr>
          <p:nvPr/>
        </p:nvCxnSpPr>
        <p:spPr bwMode="auto">
          <a:xfrm flipH="1">
            <a:off x="5210175" y="5570438"/>
            <a:ext cx="914400" cy="0"/>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0" name="组合 89"/>
          <p:cNvGrpSpPr>
            <a:grpSpLocks/>
          </p:cNvGrpSpPr>
          <p:nvPr/>
        </p:nvGrpSpPr>
        <p:grpSpPr bwMode="auto">
          <a:xfrm>
            <a:off x="6126163" y="5089426"/>
            <a:ext cx="1143000" cy="800100"/>
            <a:chOff x="5258707" y="3213770"/>
            <a:chExt cx="1143000" cy="800100"/>
          </a:xfrm>
        </p:grpSpPr>
        <p:sp>
          <p:nvSpPr>
            <p:cNvPr id="91" name="椭圆 54"/>
            <p:cNvSpPr>
              <a:spLocks noChangeArrowheads="1"/>
            </p:cNvSpPr>
            <p:nvPr/>
          </p:nvSpPr>
          <p:spPr bwMode="auto">
            <a:xfrm>
              <a:off x="5279571" y="3213770"/>
              <a:ext cx="849086" cy="247887"/>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pPr>
              <a:endParaRPr lang="zh-CN" altLang="en-US"/>
            </a:p>
          </p:txBody>
        </p:sp>
        <p:sp>
          <p:nvSpPr>
            <p:cNvPr id="92" name="椭圆 55"/>
            <p:cNvSpPr>
              <a:spLocks noChangeArrowheads="1"/>
            </p:cNvSpPr>
            <p:nvPr/>
          </p:nvSpPr>
          <p:spPr bwMode="auto">
            <a:xfrm>
              <a:off x="5279571" y="3810055"/>
              <a:ext cx="849086" cy="203815"/>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pPr>
              <a:endParaRPr lang="zh-CN" altLang="en-US"/>
            </a:p>
          </p:txBody>
        </p:sp>
        <p:cxnSp>
          <p:nvCxnSpPr>
            <p:cNvPr id="93" name="直接连接符 56"/>
            <p:cNvCxnSpPr>
              <a:cxnSpLocks noChangeShapeType="1"/>
              <a:stCxn id="91" idx="2"/>
              <a:endCxn id="92" idx="2"/>
            </p:cNvCxnSpPr>
            <p:nvPr/>
          </p:nvCxnSpPr>
          <p:spPr bwMode="auto">
            <a:xfrm>
              <a:off x="5279571" y="3337714"/>
              <a:ext cx="0" cy="574249"/>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接连接符 57"/>
            <p:cNvCxnSpPr>
              <a:cxnSpLocks noChangeShapeType="1"/>
              <a:stCxn id="91" idx="6"/>
              <a:endCxn id="92" idx="6"/>
            </p:cNvCxnSpPr>
            <p:nvPr/>
          </p:nvCxnSpPr>
          <p:spPr bwMode="auto">
            <a:xfrm>
              <a:off x="6128657" y="3337714"/>
              <a:ext cx="0" cy="574249"/>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TextBox 58"/>
            <p:cNvSpPr txBox="1">
              <a:spLocks noChangeArrowheads="1"/>
            </p:cNvSpPr>
            <p:nvPr/>
          </p:nvSpPr>
          <p:spPr bwMode="auto">
            <a:xfrm>
              <a:off x="5258707" y="3440723"/>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a:t>数据库</a:t>
              </a:r>
            </a:p>
          </p:txBody>
        </p:sp>
      </p:grpSp>
      <p:pic>
        <p:nvPicPr>
          <p:cNvPr id="96" name="Picture 3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2313" y="2684363"/>
            <a:ext cx="1262062"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5313" y="4459188"/>
            <a:ext cx="1516062"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ACE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8" name="直接箭头连接符 97"/>
          <p:cNvCxnSpPr>
            <a:cxnSpLocks noChangeShapeType="1"/>
          </p:cNvCxnSpPr>
          <p:nvPr/>
        </p:nvCxnSpPr>
        <p:spPr bwMode="auto">
          <a:xfrm>
            <a:off x="4845050" y="5089426"/>
            <a:ext cx="0" cy="227012"/>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箭头连接符 98"/>
          <p:cNvCxnSpPr>
            <a:cxnSpLocks noChangeShapeType="1"/>
          </p:cNvCxnSpPr>
          <p:nvPr/>
        </p:nvCxnSpPr>
        <p:spPr bwMode="auto">
          <a:xfrm flipV="1">
            <a:off x="4729163" y="5084663"/>
            <a:ext cx="0" cy="192088"/>
          </a:xfrm>
          <a:prstGeom prst="straightConnector1">
            <a:avLst/>
          </a:prstGeom>
          <a:noFill/>
          <a:ln w="952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en-US" altLang="zh-CN" sz="3200" b="1" dirty="0" smtClean="0">
                <a:solidFill>
                  <a:srgbClr val="006BA9"/>
                </a:solidFill>
                <a:latin typeface="微软雅黑" pitchFamily="34" charset="-122"/>
                <a:ea typeface="微软雅黑" pitchFamily="34" charset="-122"/>
                <a:sym typeface="宋体" charset="-122"/>
              </a:rPr>
              <a:t>JSP</a:t>
            </a:r>
            <a:r>
              <a:rPr lang="zh-CN" altLang="en-US" sz="3200" b="1" dirty="0" smtClean="0">
                <a:solidFill>
                  <a:srgbClr val="006BA9"/>
                </a:solidFill>
                <a:latin typeface="微软雅黑" pitchFamily="34" charset="-122"/>
                <a:ea typeface="微软雅黑" pitchFamily="34" charset="-122"/>
                <a:sym typeface="宋体" charset="-122"/>
              </a:rPr>
              <a:t>开发模型</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17498528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par>
                                <p:cTn id="8" presetID="22" presetClass="entr" presetSubtype="8"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wipe(left)">
                                      <p:cBhvr>
                                        <p:cTn id="10" dur="500"/>
                                        <p:tgtEl>
                                          <p:spTgt spid="5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wipe(left)">
                                      <p:cBhvr>
                                        <p:cTn id="13" dur="500"/>
                                        <p:tgtEl>
                                          <p:spTgt spid="59"/>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fade">
                                      <p:cBhvr>
                                        <p:cTn id="18" dur="1000"/>
                                        <p:tgtEl>
                                          <p:spTgt spid="61"/>
                                        </p:tgtEl>
                                      </p:cBhvr>
                                    </p:animEffect>
                                    <p:anim calcmode="lin" valueType="num">
                                      <p:cBhvr>
                                        <p:cTn id="19" dur="1000" fill="hold"/>
                                        <p:tgtEl>
                                          <p:spTgt spid="61"/>
                                        </p:tgtEl>
                                        <p:attrNameLst>
                                          <p:attrName>ppt_x</p:attrName>
                                        </p:attrNameLst>
                                      </p:cBhvr>
                                      <p:tavLst>
                                        <p:tav tm="0">
                                          <p:val>
                                            <p:strVal val="#ppt_x"/>
                                          </p:val>
                                        </p:tav>
                                        <p:tav tm="100000">
                                          <p:val>
                                            <p:strVal val="#ppt_x"/>
                                          </p:val>
                                        </p:tav>
                                      </p:tavLst>
                                    </p:anim>
                                    <p:anim calcmode="lin" valueType="num">
                                      <p:cBhvr>
                                        <p:cTn id="20" dur="1000" fill="hold"/>
                                        <p:tgtEl>
                                          <p:spTgt spid="61"/>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96"/>
                                        </p:tgtEl>
                                        <p:attrNameLst>
                                          <p:attrName>style.visibility</p:attrName>
                                        </p:attrNameLst>
                                      </p:cBhvr>
                                      <p:to>
                                        <p:strVal val="visible"/>
                                      </p:to>
                                    </p:set>
                                    <p:animEffect transition="in" filter="fade">
                                      <p:cBhvr>
                                        <p:cTn id="23" dur="1000"/>
                                        <p:tgtEl>
                                          <p:spTgt spid="96"/>
                                        </p:tgtEl>
                                      </p:cBhvr>
                                    </p:animEffect>
                                    <p:anim calcmode="lin" valueType="num">
                                      <p:cBhvr>
                                        <p:cTn id="24" dur="1000" fill="hold"/>
                                        <p:tgtEl>
                                          <p:spTgt spid="96"/>
                                        </p:tgtEl>
                                        <p:attrNameLst>
                                          <p:attrName>ppt_x</p:attrName>
                                        </p:attrNameLst>
                                      </p:cBhvr>
                                      <p:tavLst>
                                        <p:tav tm="0">
                                          <p:val>
                                            <p:strVal val="#ppt_x"/>
                                          </p:val>
                                        </p:tav>
                                        <p:tav tm="100000">
                                          <p:val>
                                            <p:strVal val="#ppt_x"/>
                                          </p:val>
                                        </p:tav>
                                      </p:tavLst>
                                    </p:anim>
                                    <p:anim calcmode="lin" valueType="num">
                                      <p:cBhvr>
                                        <p:cTn id="25" dur="1000" fill="hold"/>
                                        <p:tgtEl>
                                          <p:spTgt spid="96"/>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wipe(left)">
                                      <p:cBhvr>
                                        <p:cTn id="29" dur="500"/>
                                        <p:tgtEl>
                                          <p:spTgt spid="62"/>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wipe(left)">
                                      <p:cBhvr>
                                        <p:cTn id="33" dur="500"/>
                                        <p:tgtEl>
                                          <p:spTgt spid="63"/>
                                        </p:tgtEl>
                                      </p:cBhvr>
                                    </p:animEffect>
                                  </p:childTnLst>
                                </p:cTn>
                              </p:par>
                              <p:par>
                                <p:cTn id="34" presetID="10" presetClass="entr" presetSubtype="0" fill="hold" nodeType="withEffect">
                                  <p:stCondLst>
                                    <p:cond delay="0"/>
                                  </p:stCondLst>
                                  <p:childTnLst>
                                    <p:set>
                                      <p:cBhvr>
                                        <p:cTn id="35" dur="1" fill="hold">
                                          <p:stCondLst>
                                            <p:cond delay="0"/>
                                          </p:stCondLst>
                                        </p:cTn>
                                        <p:tgtEl>
                                          <p:spTgt spid="74"/>
                                        </p:tgtEl>
                                        <p:attrNameLst>
                                          <p:attrName>style.visibility</p:attrName>
                                        </p:attrNameLst>
                                      </p:cBhvr>
                                      <p:to>
                                        <p:strVal val="visible"/>
                                      </p:to>
                                    </p:set>
                                    <p:animEffect transition="in" filter="fade">
                                      <p:cBhvr>
                                        <p:cTn id="36" dur="500"/>
                                        <p:tgtEl>
                                          <p:spTgt spid="74"/>
                                        </p:tgtEl>
                                      </p:cBhvr>
                                    </p:animEffect>
                                  </p:childTnLst>
                                </p:cTn>
                              </p:par>
                            </p:childTnLst>
                          </p:cTn>
                        </p:par>
                        <p:par>
                          <p:cTn id="37" fill="hold">
                            <p:stCondLst>
                              <p:cond delay="2000"/>
                            </p:stCondLst>
                            <p:childTnLst>
                              <p:par>
                                <p:cTn id="38" presetID="22" presetClass="entr" presetSubtype="8" fill="hold" nodeType="after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wipe(left)">
                                      <p:cBhvr>
                                        <p:cTn id="40" dur="500"/>
                                        <p:tgtEl>
                                          <p:spTgt spid="65"/>
                                        </p:tgtEl>
                                      </p:cBhvr>
                                    </p:animEffect>
                                  </p:childTnLst>
                                </p:cTn>
                              </p:par>
                            </p:childTnLst>
                          </p:cTn>
                        </p:par>
                        <p:par>
                          <p:cTn id="41" fill="hold">
                            <p:stCondLst>
                              <p:cond delay="2500"/>
                            </p:stCondLst>
                            <p:childTnLst>
                              <p:par>
                                <p:cTn id="42" presetID="10" presetClass="entr" presetSubtype="0" fill="hold" nodeType="afterEffect">
                                  <p:stCondLst>
                                    <p:cond delay="0"/>
                                  </p:stCondLst>
                                  <p:childTnLst>
                                    <p:set>
                                      <p:cBhvr>
                                        <p:cTn id="43" dur="1" fill="hold">
                                          <p:stCondLst>
                                            <p:cond delay="0"/>
                                          </p:stCondLst>
                                        </p:cTn>
                                        <p:tgtEl>
                                          <p:spTgt spid="76"/>
                                        </p:tgtEl>
                                        <p:attrNameLst>
                                          <p:attrName>style.visibility</p:attrName>
                                        </p:attrNameLst>
                                      </p:cBhvr>
                                      <p:to>
                                        <p:strVal val="visible"/>
                                      </p:to>
                                    </p:set>
                                    <p:animEffect transition="in" filter="fade">
                                      <p:cBhvr>
                                        <p:cTn id="44" dur="500"/>
                                        <p:tgtEl>
                                          <p:spTgt spid="76"/>
                                        </p:tgtEl>
                                      </p:cBhvr>
                                    </p:animEffect>
                                  </p:childTnLst>
                                </p:cTn>
                              </p:par>
                              <p:par>
                                <p:cTn id="45" presetID="22" presetClass="entr" presetSubtype="8" fill="hold" nodeType="withEffect">
                                  <p:stCondLst>
                                    <p:cond delay="0"/>
                                  </p:stCondLst>
                                  <p:childTnLst>
                                    <p:set>
                                      <p:cBhvr>
                                        <p:cTn id="46" dur="1" fill="hold">
                                          <p:stCondLst>
                                            <p:cond delay="0"/>
                                          </p:stCondLst>
                                        </p:cTn>
                                        <p:tgtEl>
                                          <p:spTgt spid="66"/>
                                        </p:tgtEl>
                                        <p:attrNameLst>
                                          <p:attrName>style.visibility</p:attrName>
                                        </p:attrNameLst>
                                      </p:cBhvr>
                                      <p:to>
                                        <p:strVal val="visible"/>
                                      </p:to>
                                    </p:set>
                                    <p:animEffect transition="in" filter="wipe(left)">
                                      <p:cBhvr>
                                        <p:cTn id="47" dur="500"/>
                                        <p:tgtEl>
                                          <p:spTgt spid="66"/>
                                        </p:tgtEl>
                                      </p:cBhvr>
                                    </p:animEffect>
                                  </p:childTnLst>
                                </p:cTn>
                              </p:par>
                            </p:childTnLst>
                          </p:cTn>
                        </p:par>
                        <p:par>
                          <p:cTn id="48" fill="hold">
                            <p:stCondLst>
                              <p:cond delay="3000"/>
                            </p:stCondLst>
                            <p:childTnLst>
                              <p:par>
                                <p:cTn id="49" presetID="10" presetClass="entr" presetSubtype="0" fill="hold" nodeType="afterEffect">
                                  <p:stCondLst>
                                    <p:cond delay="0"/>
                                  </p:stCondLst>
                                  <p:childTnLst>
                                    <p:set>
                                      <p:cBhvr>
                                        <p:cTn id="50" dur="1" fill="hold">
                                          <p:stCondLst>
                                            <p:cond delay="0"/>
                                          </p:stCondLst>
                                        </p:cTn>
                                        <p:tgtEl>
                                          <p:spTgt spid="68"/>
                                        </p:tgtEl>
                                        <p:attrNameLst>
                                          <p:attrName>style.visibility</p:attrName>
                                        </p:attrNameLst>
                                      </p:cBhvr>
                                      <p:to>
                                        <p:strVal val="visible"/>
                                      </p:to>
                                    </p:set>
                                    <p:animEffect transition="in" filter="fade">
                                      <p:cBhvr>
                                        <p:cTn id="51" dur="500"/>
                                        <p:tgtEl>
                                          <p:spTgt spid="68"/>
                                        </p:tgtEl>
                                      </p:cBhvr>
                                    </p:animEffect>
                                  </p:childTnLst>
                                </p:cTn>
                              </p:par>
                            </p:childTnLst>
                          </p:cTn>
                        </p:par>
                        <p:par>
                          <p:cTn id="52" fill="hold">
                            <p:stCondLst>
                              <p:cond delay="3500"/>
                            </p:stCondLst>
                            <p:childTnLst>
                              <p:par>
                                <p:cTn id="53" presetID="10" presetClass="entr" presetSubtype="0" fill="hold" nodeType="afterEffect">
                                  <p:stCondLst>
                                    <p:cond delay="0"/>
                                  </p:stCondLst>
                                  <p:childTnLst>
                                    <p:set>
                                      <p:cBhvr>
                                        <p:cTn id="54" dur="1" fill="hold">
                                          <p:stCondLst>
                                            <p:cond delay="0"/>
                                          </p:stCondLst>
                                        </p:cTn>
                                        <p:tgtEl>
                                          <p:spTgt spid="77"/>
                                        </p:tgtEl>
                                        <p:attrNameLst>
                                          <p:attrName>style.visibility</p:attrName>
                                        </p:attrNameLst>
                                      </p:cBhvr>
                                      <p:to>
                                        <p:strVal val="visible"/>
                                      </p:to>
                                    </p:set>
                                    <p:animEffect transition="in" filter="fade">
                                      <p:cBhvr>
                                        <p:cTn id="55" dur="500"/>
                                        <p:tgtEl>
                                          <p:spTgt spid="77"/>
                                        </p:tgtEl>
                                      </p:cBhvr>
                                    </p:animEffect>
                                  </p:childTnLst>
                                </p:cTn>
                              </p:par>
                              <p:par>
                                <p:cTn id="56" presetID="22" presetClass="entr" presetSubtype="8" fill="hold" nodeType="withEffect">
                                  <p:stCondLst>
                                    <p:cond delay="0"/>
                                  </p:stCondLst>
                                  <p:childTnLst>
                                    <p:set>
                                      <p:cBhvr>
                                        <p:cTn id="57" dur="1" fill="hold">
                                          <p:stCondLst>
                                            <p:cond delay="0"/>
                                          </p:stCondLst>
                                        </p:cTn>
                                        <p:tgtEl>
                                          <p:spTgt spid="67"/>
                                        </p:tgtEl>
                                        <p:attrNameLst>
                                          <p:attrName>style.visibility</p:attrName>
                                        </p:attrNameLst>
                                      </p:cBhvr>
                                      <p:to>
                                        <p:strVal val="visible"/>
                                      </p:to>
                                    </p:set>
                                    <p:animEffect transition="in" filter="wipe(left)">
                                      <p:cBhvr>
                                        <p:cTn id="58" dur="500"/>
                                        <p:tgtEl>
                                          <p:spTgt spid="67"/>
                                        </p:tgtEl>
                                      </p:cBhvr>
                                    </p:animEffect>
                                  </p:childTnLst>
                                </p:cTn>
                              </p:par>
                            </p:childTnLst>
                          </p:cTn>
                        </p:par>
                        <p:par>
                          <p:cTn id="59" fill="hold">
                            <p:stCondLst>
                              <p:cond delay="4000"/>
                            </p:stCondLst>
                            <p:childTnLst>
                              <p:par>
                                <p:cTn id="60" presetID="10" presetClass="entr" presetSubtype="0" fill="hold" nodeType="afterEffect">
                                  <p:stCondLst>
                                    <p:cond delay="0"/>
                                  </p:stCondLst>
                                  <p:childTnLst>
                                    <p:set>
                                      <p:cBhvr>
                                        <p:cTn id="61" dur="1" fill="hold">
                                          <p:stCondLst>
                                            <p:cond delay="0"/>
                                          </p:stCondLst>
                                        </p:cTn>
                                        <p:tgtEl>
                                          <p:spTgt spid="75"/>
                                        </p:tgtEl>
                                        <p:attrNameLst>
                                          <p:attrName>style.visibility</p:attrName>
                                        </p:attrNameLst>
                                      </p:cBhvr>
                                      <p:to>
                                        <p:strVal val="visible"/>
                                      </p:to>
                                    </p:set>
                                    <p:animEffect transition="in" filter="fade">
                                      <p:cBhvr>
                                        <p:cTn id="62" dur="500"/>
                                        <p:tgtEl>
                                          <p:spTgt spid="75"/>
                                        </p:tgtEl>
                                      </p:cBhvr>
                                    </p:animEffect>
                                  </p:childTnLst>
                                </p:cTn>
                              </p:par>
                              <p:par>
                                <p:cTn id="63" presetID="22" presetClass="entr" presetSubtype="8" fill="hold" nodeType="withEffect">
                                  <p:stCondLst>
                                    <p:cond delay="0"/>
                                  </p:stCondLst>
                                  <p:childTnLst>
                                    <p:set>
                                      <p:cBhvr>
                                        <p:cTn id="64" dur="1" fill="hold">
                                          <p:stCondLst>
                                            <p:cond delay="0"/>
                                          </p:stCondLst>
                                        </p:cTn>
                                        <p:tgtEl>
                                          <p:spTgt spid="64"/>
                                        </p:tgtEl>
                                        <p:attrNameLst>
                                          <p:attrName>style.visibility</p:attrName>
                                        </p:attrNameLst>
                                      </p:cBhvr>
                                      <p:to>
                                        <p:strVal val="visible"/>
                                      </p:to>
                                    </p:set>
                                    <p:animEffect transition="in" filter="wipe(left)">
                                      <p:cBhvr>
                                        <p:cTn id="65" dur="500"/>
                                        <p:tgtEl>
                                          <p:spTgt spid="64"/>
                                        </p:tgtEl>
                                      </p:cBhvr>
                                    </p:animEffect>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8"/>
                                        </p:tgtEl>
                                        <p:attrNameLst>
                                          <p:attrName>style.visibility</p:attrName>
                                        </p:attrNameLst>
                                      </p:cBhvr>
                                      <p:to>
                                        <p:strVal val="visible"/>
                                      </p:to>
                                    </p:set>
                                    <p:animEffect transition="in" filter="fade">
                                      <p:cBhvr>
                                        <p:cTn id="70" dur="1000"/>
                                        <p:tgtEl>
                                          <p:spTgt spid="78"/>
                                        </p:tgtEl>
                                      </p:cBhvr>
                                    </p:animEffect>
                                    <p:anim calcmode="lin" valueType="num">
                                      <p:cBhvr>
                                        <p:cTn id="71" dur="1000" fill="hold"/>
                                        <p:tgtEl>
                                          <p:spTgt spid="78"/>
                                        </p:tgtEl>
                                        <p:attrNameLst>
                                          <p:attrName>ppt_x</p:attrName>
                                        </p:attrNameLst>
                                      </p:cBhvr>
                                      <p:tavLst>
                                        <p:tav tm="0">
                                          <p:val>
                                            <p:strVal val="#ppt_x"/>
                                          </p:val>
                                        </p:tav>
                                        <p:tav tm="100000">
                                          <p:val>
                                            <p:strVal val="#ppt_x"/>
                                          </p:val>
                                        </p:tav>
                                      </p:tavLst>
                                    </p:anim>
                                    <p:anim calcmode="lin" valueType="num">
                                      <p:cBhvr>
                                        <p:cTn id="72" dur="1000" fill="hold"/>
                                        <p:tgtEl>
                                          <p:spTgt spid="78"/>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97"/>
                                        </p:tgtEl>
                                        <p:attrNameLst>
                                          <p:attrName>style.visibility</p:attrName>
                                        </p:attrNameLst>
                                      </p:cBhvr>
                                      <p:to>
                                        <p:strVal val="visible"/>
                                      </p:to>
                                    </p:set>
                                    <p:animEffect transition="in" filter="fade">
                                      <p:cBhvr>
                                        <p:cTn id="75" dur="1000"/>
                                        <p:tgtEl>
                                          <p:spTgt spid="97"/>
                                        </p:tgtEl>
                                      </p:cBhvr>
                                    </p:animEffect>
                                    <p:anim calcmode="lin" valueType="num">
                                      <p:cBhvr>
                                        <p:cTn id="76" dur="1000" fill="hold"/>
                                        <p:tgtEl>
                                          <p:spTgt spid="97"/>
                                        </p:tgtEl>
                                        <p:attrNameLst>
                                          <p:attrName>ppt_x</p:attrName>
                                        </p:attrNameLst>
                                      </p:cBhvr>
                                      <p:tavLst>
                                        <p:tav tm="0">
                                          <p:val>
                                            <p:strVal val="#ppt_x"/>
                                          </p:val>
                                        </p:tav>
                                        <p:tav tm="100000">
                                          <p:val>
                                            <p:strVal val="#ppt_x"/>
                                          </p:val>
                                        </p:tav>
                                      </p:tavLst>
                                    </p:anim>
                                    <p:anim calcmode="lin" valueType="num">
                                      <p:cBhvr>
                                        <p:cTn id="77" dur="1000" fill="hold"/>
                                        <p:tgtEl>
                                          <p:spTgt spid="97"/>
                                        </p:tgtEl>
                                        <p:attrNameLst>
                                          <p:attrName>ppt_y</p:attrName>
                                        </p:attrNameLst>
                                      </p:cBhvr>
                                      <p:tavLst>
                                        <p:tav tm="0">
                                          <p:val>
                                            <p:strVal val="#ppt_y+.1"/>
                                          </p:val>
                                        </p:tav>
                                        <p:tav tm="100000">
                                          <p:val>
                                            <p:strVal val="#ppt_y"/>
                                          </p:val>
                                        </p:tav>
                                      </p:tavLst>
                                    </p:anim>
                                  </p:childTnLst>
                                </p:cTn>
                              </p:par>
                            </p:childTnLst>
                          </p:cTn>
                        </p:par>
                        <p:par>
                          <p:cTn id="78" fill="hold">
                            <p:stCondLst>
                              <p:cond delay="1000"/>
                            </p:stCondLst>
                            <p:childTnLst>
                              <p:par>
                                <p:cTn id="79" presetID="22" presetClass="entr" presetSubtype="8" fill="hold" nodeType="afterEffect">
                                  <p:stCondLst>
                                    <p:cond delay="0"/>
                                  </p:stCondLst>
                                  <p:childTnLst>
                                    <p:set>
                                      <p:cBhvr>
                                        <p:cTn id="80" dur="1" fill="hold">
                                          <p:stCondLst>
                                            <p:cond delay="0"/>
                                          </p:stCondLst>
                                        </p:cTn>
                                        <p:tgtEl>
                                          <p:spTgt spid="79"/>
                                        </p:tgtEl>
                                        <p:attrNameLst>
                                          <p:attrName>style.visibility</p:attrName>
                                        </p:attrNameLst>
                                      </p:cBhvr>
                                      <p:to>
                                        <p:strVal val="visible"/>
                                      </p:to>
                                    </p:set>
                                    <p:animEffect transition="in" filter="wipe(left)">
                                      <p:cBhvr>
                                        <p:cTn id="81" dur="500"/>
                                        <p:tgtEl>
                                          <p:spTgt spid="79"/>
                                        </p:tgtEl>
                                      </p:cBhvr>
                                    </p:animEffect>
                                  </p:childTnLst>
                                </p:cTn>
                              </p:par>
                              <p:par>
                                <p:cTn id="82" presetID="10" presetClass="entr" presetSubtype="0" fill="hold" nodeType="withEffect">
                                  <p:stCondLst>
                                    <p:cond delay="0"/>
                                  </p:stCondLst>
                                  <p:childTnLst>
                                    <p:set>
                                      <p:cBhvr>
                                        <p:cTn id="83" dur="1" fill="hold">
                                          <p:stCondLst>
                                            <p:cond delay="0"/>
                                          </p:stCondLst>
                                        </p:cTn>
                                        <p:tgtEl>
                                          <p:spTgt spid="80"/>
                                        </p:tgtEl>
                                        <p:attrNameLst>
                                          <p:attrName>style.visibility</p:attrName>
                                        </p:attrNameLst>
                                      </p:cBhvr>
                                      <p:to>
                                        <p:strVal val="visible"/>
                                      </p:to>
                                    </p:set>
                                    <p:animEffect transition="in" filter="fade">
                                      <p:cBhvr>
                                        <p:cTn id="84" dur="500"/>
                                        <p:tgtEl>
                                          <p:spTgt spid="80"/>
                                        </p:tgtEl>
                                      </p:cBhvr>
                                    </p:animEffect>
                                  </p:childTnLst>
                                </p:cTn>
                              </p:par>
                              <p:par>
                                <p:cTn id="85" presetID="22" presetClass="entr" presetSubtype="8" fill="hold" nodeType="withEffect">
                                  <p:stCondLst>
                                    <p:cond delay="0"/>
                                  </p:stCondLst>
                                  <p:childTnLst>
                                    <p:set>
                                      <p:cBhvr>
                                        <p:cTn id="86" dur="1" fill="hold">
                                          <p:stCondLst>
                                            <p:cond delay="0"/>
                                          </p:stCondLst>
                                        </p:cTn>
                                        <p:tgtEl>
                                          <p:spTgt spid="82"/>
                                        </p:tgtEl>
                                        <p:attrNameLst>
                                          <p:attrName>style.visibility</p:attrName>
                                        </p:attrNameLst>
                                      </p:cBhvr>
                                      <p:to>
                                        <p:strVal val="visible"/>
                                      </p:to>
                                    </p:set>
                                    <p:animEffect transition="in" filter="wipe(left)">
                                      <p:cBhvr>
                                        <p:cTn id="87" dur="500"/>
                                        <p:tgtEl>
                                          <p:spTgt spid="82"/>
                                        </p:tgtEl>
                                      </p:cBhvr>
                                    </p:animEffect>
                                  </p:childTnLst>
                                </p:cTn>
                              </p:par>
                            </p:childTnLst>
                          </p:cTn>
                        </p:par>
                        <p:par>
                          <p:cTn id="88" fill="hold">
                            <p:stCondLst>
                              <p:cond delay="1500"/>
                            </p:stCondLst>
                            <p:childTnLst>
                              <p:par>
                                <p:cTn id="89" presetID="10" presetClass="entr" presetSubtype="0" fill="hold" nodeType="afterEffect">
                                  <p:stCondLst>
                                    <p:cond delay="0"/>
                                  </p:stCondLst>
                                  <p:childTnLst>
                                    <p:set>
                                      <p:cBhvr>
                                        <p:cTn id="90" dur="1" fill="hold">
                                          <p:stCondLst>
                                            <p:cond delay="0"/>
                                          </p:stCondLst>
                                        </p:cTn>
                                        <p:tgtEl>
                                          <p:spTgt spid="60"/>
                                        </p:tgtEl>
                                        <p:attrNameLst>
                                          <p:attrName>style.visibility</p:attrName>
                                        </p:attrNameLst>
                                      </p:cBhvr>
                                      <p:to>
                                        <p:strVal val="visible"/>
                                      </p:to>
                                    </p:set>
                                    <p:animEffect transition="in" filter="fade">
                                      <p:cBhvr>
                                        <p:cTn id="91" dur="500"/>
                                        <p:tgtEl>
                                          <p:spTgt spid="60"/>
                                        </p:tgtEl>
                                      </p:cBhvr>
                                    </p:animEffect>
                                  </p:childTnLst>
                                </p:cTn>
                              </p:par>
                              <p:par>
                                <p:cTn id="92" presetID="22" presetClass="entr" presetSubtype="8" fill="hold" nodeType="withEffect">
                                  <p:stCondLst>
                                    <p:cond delay="0"/>
                                  </p:stCondLst>
                                  <p:childTnLst>
                                    <p:set>
                                      <p:cBhvr>
                                        <p:cTn id="93" dur="1" fill="hold">
                                          <p:stCondLst>
                                            <p:cond delay="0"/>
                                          </p:stCondLst>
                                        </p:cTn>
                                        <p:tgtEl>
                                          <p:spTgt spid="84"/>
                                        </p:tgtEl>
                                        <p:attrNameLst>
                                          <p:attrName>style.visibility</p:attrName>
                                        </p:attrNameLst>
                                      </p:cBhvr>
                                      <p:to>
                                        <p:strVal val="visible"/>
                                      </p:to>
                                    </p:set>
                                    <p:animEffect transition="in" filter="wipe(left)">
                                      <p:cBhvr>
                                        <p:cTn id="94" dur="500"/>
                                        <p:tgtEl>
                                          <p:spTgt spid="84"/>
                                        </p:tgtEl>
                                      </p:cBhvr>
                                    </p:animEffect>
                                  </p:childTnLst>
                                </p:cTn>
                              </p:par>
                              <p:par>
                                <p:cTn id="95" presetID="22" presetClass="entr" presetSubtype="8" fill="hold" nodeType="withEffect">
                                  <p:stCondLst>
                                    <p:cond delay="0"/>
                                  </p:stCondLst>
                                  <p:childTnLst>
                                    <p:set>
                                      <p:cBhvr>
                                        <p:cTn id="96" dur="1" fill="hold">
                                          <p:stCondLst>
                                            <p:cond delay="0"/>
                                          </p:stCondLst>
                                        </p:cTn>
                                        <p:tgtEl>
                                          <p:spTgt spid="85"/>
                                        </p:tgtEl>
                                        <p:attrNameLst>
                                          <p:attrName>style.visibility</p:attrName>
                                        </p:attrNameLst>
                                      </p:cBhvr>
                                      <p:to>
                                        <p:strVal val="visible"/>
                                      </p:to>
                                    </p:set>
                                    <p:animEffect transition="in" filter="wipe(left)">
                                      <p:cBhvr>
                                        <p:cTn id="97" dur="500"/>
                                        <p:tgtEl>
                                          <p:spTgt spid="85"/>
                                        </p:tgtEl>
                                      </p:cBhvr>
                                    </p:animEffect>
                                  </p:childTnLst>
                                </p:cTn>
                              </p:par>
                              <p:par>
                                <p:cTn id="98" presetID="10" presetClass="entr" presetSubtype="0" fill="hold" nodeType="withEffect">
                                  <p:stCondLst>
                                    <p:cond delay="0"/>
                                  </p:stCondLst>
                                  <p:childTnLst>
                                    <p:set>
                                      <p:cBhvr>
                                        <p:cTn id="99" dur="1" fill="hold">
                                          <p:stCondLst>
                                            <p:cond delay="0"/>
                                          </p:stCondLst>
                                        </p:cTn>
                                        <p:tgtEl>
                                          <p:spTgt spid="98"/>
                                        </p:tgtEl>
                                        <p:attrNameLst>
                                          <p:attrName>style.visibility</p:attrName>
                                        </p:attrNameLst>
                                      </p:cBhvr>
                                      <p:to>
                                        <p:strVal val="visible"/>
                                      </p:to>
                                    </p:set>
                                    <p:animEffect transition="in" filter="fade">
                                      <p:cBhvr>
                                        <p:cTn id="100" dur="500"/>
                                        <p:tgtEl>
                                          <p:spTgt spid="98"/>
                                        </p:tgtEl>
                                      </p:cBhvr>
                                    </p:animEffect>
                                  </p:childTnLst>
                                </p:cTn>
                              </p:par>
                            </p:childTnLst>
                          </p:cTn>
                        </p:par>
                        <p:par>
                          <p:cTn id="101" fill="hold">
                            <p:stCondLst>
                              <p:cond delay="2000"/>
                            </p:stCondLst>
                            <p:childTnLst>
                              <p:par>
                                <p:cTn id="102" presetID="10" presetClass="entr" presetSubtype="0" fill="hold" nodeType="afterEffect">
                                  <p:stCondLst>
                                    <p:cond delay="0"/>
                                  </p:stCondLst>
                                  <p:childTnLst>
                                    <p:set>
                                      <p:cBhvr>
                                        <p:cTn id="103" dur="1" fill="hold">
                                          <p:stCondLst>
                                            <p:cond delay="0"/>
                                          </p:stCondLst>
                                        </p:cTn>
                                        <p:tgtEl>
                                          <p:spTgt spid="88"/>
                                        </p:tgtEl>
                                        <p:attrNameLst>
                                          <p:attrName>style.visibility</p:attrName>
                                        </p:attrNameLst>
                                      </p:cBhvr>
                                      <p:to>
                                        <p:strVal val="visible"/>
                                      </p:to>
                                    </p:set>
                                    <p:animEffect transition="in" filter="fade">
                                      <p:cBhvr>
                                        <p:cTn id="104" dur="500"/>
                                        <p:tgtEl>
                                          <p:spTgt spid="88"/>
                                        </p:tgtEl>
                                      </p:cBhvr>
                                    </p:animEffect>
                                  </p:childTnLst>
                                </p:cTn>
                              </p:par>
                              <p:par>
                                <p:cTn id="105" presetID="22" presetClass="entr" presetSubtype="8" fill="hold" nodeType="withEffect">
                                  <p:stCondLst>
                                    <p:cond delay="0"/>
                                  </p:stCondLst>
                                  <p:childTnLst>
                                    <p:set>
                                      <p:cBhvr>
                                        <p:cTn id="106" dur="1" fill="hold">
                                          <p:stCondLst>
                                            <p:cond delay="0"/>
                                          </p:stCondLst>
                                        </p:cTn>
                                        <p:tgtEl>
                                          <p:spTgt spid="86"/>
                                        </p:tgtEl>
                                        <p:attrNameLst>
                                          <p:attrName>style.visibility</p:attrName>
                                        </p:attrNameLst>
                                      </p:cBhvr>
                                      <p:to>
                                        <p:strVal val="visible"/>
                                      </p:to>
                                    </p:set>
                                    <p:animEffect transition="in" filter="wipe(left)">
                                      <p:cBhvr>
                                        <p:cTn id="107" dur="500"/>
                                        <p:tgtEl>
                                          <p:spTgt spid="86"/>
                                        </p:tgtEl>
                                      </p:cBhvr>
                                    </p:animEffect>
                                  </p:childTnLst>
                                </p:cTn>
                              </p:par>
                            </p:childTnLst>
                          </p:cTn>
                        </p:par>
                        <p:par>
                          <p:cTn id="108" fill="hold">
                            <p:stCondLst>
                              <p:cond delay="2500"/>
                            </p:stCondLst>
                            <p:childTnLst>
                              <p:par>
                                <p:cTn id="109" presetID="10" presetClass="entr" presetSubtype="0" fill="hold" nodeType="afterEffect">
                                  <p:stCondLst>
                                    <p:cond delay="0"/>
                                  </p:stCondLst>
                                  <p:childTnLst>
                                    <p:set>
                                      <p:cBhvr>
                                        <p:cTn id="110" dur="1" fill="hold">
                                          <p:stCondLst>
                                            <p:cond delay="0"/>
                                          </p:stCondLst>
                                        </p:cTn>
                                        <p:tgtEl>
                                          <p:spTgt spid="90"/>
                                        </p:tgtEl>
                                        <p:attrNameLst>
                                          <p:attrName>style.visibility</p:attrName>
                                        </p:attrNameLst>
                                      </p:cBhvr>
                                      <p:to>
                                        <p:strVal val="visible"/>
                                      </p:to>
                                    </p:set>
                                    <p:animEffect transition="in" filter="fade">
                                      <p:cBhvr>
                                        <p:cTn id="111" dur="500"/>
                                        <p:tgtEl>
                                          <p:spTgt spid="90"/>
                                        </p:tgtEl>
                                      </p:cBhvr>
                                    </p:animEffect>
                                  </p:childTnLst>
                                </p:cTn>
                              </p:par>
                            </p:childTnLst>
                          </p:cTn>
                        </p:par>
                        <p:par>
                          <p:cTn id="112" fill="hold">
                            <p:stCondLst>
                              <p:cond delay="3000"/>
                            </p:stCondLst>
                            <p:childTnLst>
                              <p:par>
                                <p:cTn id="113" presetID="10" presetClass="entr" presetSubtype="0" fill="hold" nodeType="afterEffect">
                                  <p:stCondLst>
                                    <p:cond delay="0"/>
                                  </p:stCondLst>
                                  <p:childTnLst>
                                    <p:set>
                                      <p:cBhvr>
                                        <p:cTn id="114" dur="1" fill="hold">
                                          <p:stCondLst>
                                            <p:cond delay="0"/>
                                          </p:stCondLst>
                                        </p:cTn>
                                        <p:tgtEl>
                                          <p:spTgt spid="89"/>
                                        </p:tgtEl>
                                        <p:attrNameLst>
                                          <p:attrName>style.visibility</p:attrName>
                                        </p:attrNameLst>
                                      </p:cBhvr>
                                      <p:to>
                                        <p:strVal val="visible"/>
                                      </p:to>
                                    </p:set>
                                    <p:animEffect transition="in" filter="fade">
                                      <p:cBhvr>
                                        <p:cTn id="115" dur="500"/>
                                        <p:tgtEl>
                                          <p:spTgt spid="89"/>
                                        </p:tgtEl>
                                      </p:cBhvr>
                                    </p:animEffect>
                                  </p:childTnLst>
                                </p:cTn>
                              </p:par>
                              <p:par>
                                <p:cTn id="116" presetID="22" presetClass="entr" presetSubtype="8" fill="hold" nodeType="withEffect">
                                  <p:stCondLst>
                                    <p:cond delay="0"/>
                                  </p:stCondLst>
                                  <p:childTnLst>
                                    <p:set>
                                      <p:cBhvr>
                                        <p:cTn id="117" dur="1" fill="hold">
                                          <p:stCondLst>
                                            <p:cond delay="0"/>
                                          </p:stCondLst>
                                        </p:cTn>
                                        <p:tgtEl>
                                          <p:spTgt spid="87"/>
                                        </p:tgtEl>
                                        <p:attrNameLst>
                                          <p:attrName>style.visibility</p:attrName>
                                        </p:attrNameLst>
                                      </p:cBhvr>
                                      <p:to>
                                        <p:strVal val="visible"/>
                                      </p:to>
                                    </p:set>
                                    <p:animEffect transition="in" filter="wipe(left)">
                                      <p:cBhvr>
                                        <p:cTn id="118" dur="500"/>
                                        <p:tgtEl>
                                          <p:spTgt spid="87"/>
                                        </p:tgtEl>
                                      </p:cBhvr>
                                    </p:animEffect>
                                  </p:childTnLst>
                                </p:cTn>
                              </p:par>
                            </p:childTnLst>
                          </p:cTn>
                        </p:par>
                        <p:par>
                          <p:cTn id="119" fill="hold">
                            <p:stCondLst>
                              <p:cond delay="3500"/>
                            </p:stCondLst>
                            <p:childTnLst>
                              <p:par>
                                <p:cTn id="120" presetID="10" presetClass="entr" presetSubtype="0" fill="hold" nodeType="afterEffect">
                                  <p:stCondLst>
                                    <p:cond delay="0"/>
                                  </p:stCondLst>
                                  <p:childTnLst>
                                    <p:set>
                                      <p:cBhvr>
                                        <p:cTn id="121" dur="1" fill="hold">
                                          <p:stCondLst>
                                            <p:cond delay="0"/>
                                          </p:stCondLst>
                                        </p:cTn>
                                        <p:tgtEl>
                                          <p:spTgt spid="99"/>
                                        </p:tgtEl>
                                        <p:attrNameLst>
                                          <p:attrName>style.visibility</p:attrName>
                                        </p:attrNameLst>
                                      </p:cBhvr>
                                      <p:to>
                                        <p:strVal val="visible"/>
                                      </p:to>
                                    </p:set>
                                    <p:animEffect transition="in" filter="fade">
                                      <p:cBhvr>
                                        <p:cTn id="122" dur="500"/>
                                        <p:tgtEl>
                                          <p:spTgt spid="99"/>
                                        </p:tgtEl>
                                      </p:cBhvr>
                                    </p:animEffect>
                                  </p:childTnLst>
                                </p:cTn>
                              </p:par>
                            </p:childTnLst>
                          </p:cTn>
                        </p:par>
                        <p:par>
                          <p:cTn id="123" fill="hold">
                            <p:stCondLst>
                              <p:cond delay="4000"/>
                            </p:stCondLst>
                            <p:childTnLst>
                              <p:par>
                                <p:cTn id="124" presetID="10" presetClass="entr" presetSubtype="0" fill="hold" nodeType="afterEffect">
                                  <p:stCondLst>
                                    <p:cond delay="0"/>
                                  </p:stCondLst>
                                  <p:childTnLst>
                                    <p:set>
                                      <p:cBhvr>
                                        <p:cTn id="125" dur="1" fill="hold">
                                          <p:stCondLst>
                                            <p:cond delay="0"/>
                                          </p:stCondLst>
                                        </p:cTn>
                                        <p:tgtEl>
                                          <p:spTgt spid="81"/>
                                        </p:tgtEl>
                                        <p:attrNameLst>
                                          <p:attrName>style.visibility</p:attrName>
                                        </p:attrNameLst>
                                      </p:cBhvr>
                                      <p:to>
                                        <p:strVal val="visible"/>
                                      </p:to>
                                    </p:set>
                                    <p:animEffect transition="in" filter="fade">
                                      <p:cBhvr>
                                        <p:cTn id="126" dur="500"/>
                                        <p:tgtEl>
                                          <p:spTgt spid="81"/>
                                        </p:tgtEl>
                                      </p:cBhvr>
                                    </p:animEffect>
                                  </p:childTnLst>
                                </p:cTn>
                              </p:par>
                              <p:par>
                                <p:cTn id="127" presetID="22" presetClass="entr" presetSubtype="8" fill="hold" nodeType="withEffect">
                                  <p:stCondLst>
                                    <p:cond delay="0"/>
                                  </p:stCondLst>
                                  <p:childTnLst>
                                    <p:set>
                                      <p:cBhvr>
                                        <p:cTn id="128" dur="1" fill="hold">
                                          <p:stCondLst>
                                            <p:cond delay="0"/>
                                          </p:stCondLst>
                                        </p:cTn>
                                        <p:tgtEl>
                                          <p:spTgt spid="83"/>
                                        </p:tgtEl>
                                        <p:attrNameLst>
                                          <p:attrName>style.visibility</p:attrName>
                                        </p:attrNameLst>
                                      </p:cBhvr>
                                      <p:to>
                                        <p:strVal val="visible"/>
                                      </p:to>
                                    </p:set>
                                    <p:animEffect transition="in" filter="wipe(left)">
                                      <p:cBhvr>
                                        <p:cTn id="129"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1" grpId="0"/>
      <p:bldP spid="7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bwMode="auto">
          <a:xfrm>
            <a:off x="659904" y="1388382"/>
            <a:ext cx="7728520" cy="1176522"/>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aphicFrame>
        <p:nvGraphicFramePr>
          <p:cNvPr id="3" name="对象 2"/>
          <p:cNvGraphicFramePr>
            <a:graphicFrameLocks noChangeAspect="1"/>
          </p:cNvGraphicFramePr>
          <p:nvPr>
            <p:extLst>
              <p:ext uri="{D42A27DB-BD31-4B8C-83A1-F6EECF244321}">
                <p14:modId xmlns:p14="http://schemas.microsoft.com/office/powerpoint/2010/main" val="1511690207"/>
              </p:ext>
            </p:extLst>
          </p:nvPr>
        </p:nvGraphicFramePr>
        <p:xfrm>
          <a:off x="1541463" y="2827065"/>
          <a:ext cx="5794375" cy="1970087"/>
        </p:xfrm>
        <a:graphic>
          <a:graphicData uri="http://schemas.openxmlformats.org/presentationml/2006/ole">
            <mc:AlternateContent xmlns:mc="http://schemas.openxmlformats.org/markup-compatibility/2006">
              <mc:Choice xmlns:v="urn:schemas-microsoft-com:vml" Requires="v">
                <p:oleObj spid="_x0000_s2129" name="Visio" r:id="rId5" imgW="6200661" imgH="2105063" progId="Visio.Drawing.11">
                  <p:embed/>
                </p:oleObj>
              </mc:Choice>
              <mc:Fallback>
                <p:oleObj name="Visio" r:id="rId5" imgW="6200661" imgH="2105063"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1463" y="2827065"/>
                        <a:ext cx="5794375"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p:cNvSpPr>
            <a:spLocks noChangeArrowheads="1"/>
          </p:cNvSpPr>
          <p:nvPr/>
        </p:nvSpPr>
        <p:spPr bwMode="auto">
          <a:xfrm>
            <a:off x="755576" y="1364574"/>
            <a:ext cx="7552952" cy="1153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ct val="150000"/>
              </a:lnSpc>
              <a:buFont typeface="Calibri" panose="020F0502020204030204" pitchFamily="34" charset="0"/>
              <a:buChar char="–"/>
            </a:pPr>
            <a:r>
              <a:rPr lang="en-US" altLang="zh-CN" sz="1400" dirty="0"/>
              <a:t> </a:t>
            </a:r>
            <a:r>
              <a:rPr lang="en-US" altLang="zh-CN" sz="1400" dirty="0" smtClean="0"/>
              <a:t> </a:t>
            </a:r>
            <a:r>
              <a:rPr lang="en-US" altLang="zh-CN" sz="1600" dirty="0">
                <a:latin typeface="Times New Roman" panose="02020603050405020304" pitchFamily="18" charset="0"/>
                <a:cs typeface="Times New Roman" panose="02020603050405020304" pitchFamily="18" charset="0"/>
              </a:rPr>
              <a:t>JSP Model 2</a:t>
            </a:r>
            <a:r>
              <a:rPr lang="zh-CN" altLang="zh-CN" sz="1600" dirty="0">
                <a:latin typeface="Times New Roman" panose="02020603050405020304" pitchFamily="18" charset="0"/>
                <a:cs typeface="Times New Roman" panose="02020603050405020304" pitchFamily="18" charset="0"/>
              </a:rPr>
              <a:t>架构模型采用</a:t>
            </a:r>
            <a:r>
              <a:rPr lang="en-US" altLang="zh-CN" sz="1600" dirty="0" err="1">
                <a:latin typeface="Times New Roman" panose="02020603050405020304" pitchFamily="18" charset="0"/>
                <a:cs typeface="Times New Roman" panose="02020603050405020304" pitchFamily="18" charset="0"/>
              </a:rPr>
              <a:t>JSP+Servlet</a:t>
            </a:r>
            <a:r>
              <a:rPr lang="en-US" altLang="zh-CN" sz="1600" dirty="0">
                <a:latin typeface="Times New Roman" panose="02020603050405020304" pitchFamily="18" charset="0"/>
                <a:cs typeface="Times New Roman" panose="02020603050405020304" pitchFamily="18" charset="0"/>
              </a:rPr>
              <a:t>+ JavaBean</a:t>
            </a:r>
            <a:r>
              <a:rPr lang="zh-CN" altLang="zh-CN" sz="1600" dirty="0">
                <a:latin typeface="Times New Roman" panose="02020603050405020304" pitchFamily="18" charset="0"/>
                <a:cs typeface="Times New Roman" panose="02020603050405020304" pitchFamily="18" charset="0"/>
              </a:rPr>
              <a:t>的技术，此技术将原本</a:t>
            </a:r>
            <a:r>
              <a:rPr lang="en-US" altLang="zh-CN" sz="1600" dirty="0">
                <a:latin typeface="Times New Roman" panose="02020603050405020304" pitchFamily="18" charset="0"/>
                <a:cs typeface="Times New Roman" panose="02020603050405020304" pitchFamily="18" charset="0"/>
              </a:rPr>
              <a:t>JSP</a:t>
            </a:r>
            <a:r>
              <a:rPr lang="zh-CN" altLang="zh-CN" sz="1600" dirty="0">
                <a:latin typeface="Times New Roman" panose="02020603050405020304" pitchFamily="18" charset="0"/>
                <a:cs typeface="Times New Roman" panose="02020603050405020304" pitchFamily="18" charset="0"/>
              </a:rPr>
              <a:t>页面中的流程控制代码提取出来，封装到</a:t>
            </a:r>
            <a:r>
              <a:rPr lang="en-US" altLang="zh-CN" sz="1600" dirty="0">
                <a:latin typeface="Times New Roman" panose="02020603050405020304" pitchFamily="18" charset="0"/>
                <a:cs typeface="Times New Roman" panose="02020603050405020304" pitchFamily="18" charset="0"/>
              </a:rPr>
              <a:t>Servlet</a:t>
            </a:r>
            <a:r>
              <a:rPr lang="zh-CN" altLang="zh-CN" sz="1600" dirty="0">
                <a:latin typeface="Times New Roman" panose="02020603050405020304" pitchFamily="18" charset="0"/>
                <a:cs typeface="Times New Roman" panose="02020603050405020304" pitchFamily="18" charset="0"/>
              </a:rPr>
              <a:t>中，从而实现了整个程序页面显示、流程控制和业务逻辑的分离。</a:t>
            </a:r>
            <a:endParaRPr lang="zh-CN" altLang="en-US" sz="1600" dirty="0">
              <a:latin typeface="Times New Roman" panose="02020603050405020304" pitchFamily="18" charset="0"/>
              <a:cs typeface="Times New Roman" panose="02020603050405020304" pitchFamily="18" charset="0"/>
            </a:endParaRPr>
          </a:p>
        </p:txBody>
      </p:sp>
      <p:sp>
        <p:nvSpPr>
          <p:cNvPr id="6" name="矩形 5"/>
          <p:cNvSpPr/>
          <p:nvPr/>
        </p:nvSpPr>
        <p:spPr>
          <a:xfrm>
            <a:off x="827584" y="5022304"/>
            <a:ext cx="7488832" cy="1215008"/>
          </a:xfrm>
          <a:prstGeom prst="rect">
            <a:avLst/>
          </a:prstGeom>
          <a:ln w="19050">
            <a:solidFill>
              <a:srgbClr val="006BA9"/>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rtlCol="0" anchor="ctr"/>
          <a:lstStyle/>
          <a:p>
            <a:pPr algn="ctr"/>
            <a:endParaRPr lang="zh-CN" altLang="en-US"/>
          </a:p>
        </p:txBody>
      </p:sp>
      <p:sp>
        <p:nvSpPr>
          <p:cNvPr id="7" name="TextBox 6"/>
          <p:cNvSpPr txBox="1"/>
          <p:nvPr/>
        </p:nvSpPr>
        <p:spPr>
          <a:xfrm>
            <a:off x="940868" y="5013176"/>
            <a:ext cx="7231532" cy="1153586"/>
          </a:xfrm>
          <a:prstGeom prst="rect">
            <a:avLst/>
          </a:prstGeom>
          <a:noFill/>
        </p:spPr>
        <p:txBody>
          <a:bodyPr wrap="square" rtlCol="0">
            <a:spAutoFit/>
          </a:bodyPr>
          <a:lstStyle/>
          <a:p>
            <a:pPr marL="285750" indent="-285750">
              <a:lnSpc>
                <a:spcPct val="150000"/>
              </a:lnSpc>
              <a:buFont typeface="Calibri" panose="020F0502020204030204" pitchFamily="34" charset="0"/>
              <a:buChar char="–"/>
            </a:pPr>
            <a:r>
              <a:rPr lang="en-US" altLang="zh-CN" sz="1600" dirty="0">
                <a:latin typeface="Times New Roman" panose="02020603050405020304" pitchFamily="18" charset="0"/>
                <a:cs typeface="Times New Roman" panose="02020603050405020304" pitchFamily="18" charset="0"/>
              </a:rPr>
              <a:t>Servlet</a:t>
            </a:r>
            <a:r>
              <a:rPr lang="zh-CN" altLang="zh-CN" sz="1600" dirty="0">
                <a:latin typeface="Times New Roman" panose="02020603050405020304" pitchFamily="18" charset="0"/>
                <a:cs typeface="Times New Roman" panose="02020603050405020304" pitchFamily="18" charset="0"/>
              </a:rPr>
              <a:t>充当了控制器的角色，它首先接收浏览器发送的请求，然后根据请求信息实例化</a:t>
            </a:r>
            <a:r>
              <a:rPr lang="en-US" altLang="zh-CN" sz="1600" dirty="0">
                <a:latin typeface="Times New Roman" panose="02020603050405020304" pitchFamily="18" charset="0"/>
                <a:cs typeface="Times New Roman" panose="02020603050405020304" pitchFamily="18" charset="0"/>
              </a:rPr>
              <a:t>JavaBean</a:t>
            </a:r>
            <a:r>
              <a:rPr lang="zh-CN" altLang="zh-CN" sz="1600" dirty="0">
                <a:latin typeface="Times New Roman" panose="02020603050405020304" pitchFamily="18" charset="0"/>
                <a:cs typeface="Times New Roman" panose="02020603050405020304" pitchFamily="18" charset="0"/>
              </a:rPr>
              <a:t>对象用来封装操作数据库后返回的数据，最后选择相应的</a:t>
            </a:r>
            <a:r>
              <a:rPr lang="en-US" altLang="zh-CN" sz="1600" dirty="0">
                <a:latin typeface="Times New Roman" panose="02020603050405020304" pitchFamily="18" charset="0"/>
                <a:cs typeface="Times New Roman" panose="02020603050405020304" pitchFamily="18" charset="0"/>
              </a:rPr>
              <a:t>JSP</a:t>
            </a:r>
            <a:r>
              <a:rPr lang="zh-CN" altLang="zh-CN" sz="1600" dirty="0">
                <a:latin typeface="Times New Roman" panose="02020603050405020304" pitchFamily="18" charset="0"/>
                <a:cs typeface="Times New Roman" panose="02020603050405020304" pitchFamily="18" charset="0"/>
              </a:rPr>
              <a:t>页面将响应结果显示在浏览器中。</a:t>
            </a:r>
            <a:endParaRPr lang="zh-CN" altLang="en-US" sz="1600" dirty="0">
              <a:latin typeface="Times New Roman" panose="02020603050405020304" pitchFamily="18" charset="0"/>
              <a:cs typeface="Times New Roman" panose="02020603050405020304" pitchFamily="18" charset="0"/>
            </a:endParaRPr>
          </a:p>
        </p:txBody>
      </p:sp>
      <p:sp>
        <p:nvSpPr>
          <p:cNvPr id="9" name="任意多边形 8"/>
          <p:cNvSpPr/>
          <p:nvPr/>
        </p:nvSpPr>
        <p:spPr bwMode="auto">
          <a:xfrm>
            <a:off x="5733653" y="980728"/>
            <a:ext cx="2198687" cy="469900"/>
          </a:xfrm>
          <a:custGeom>
            <a:avLst/>
            <a:gdLst>
              <a:gd name="connsiteX0" fmla="*/ 0 w 4267200"/>
              <a:gd name="connsiteY0" fmla="*/ 201820 h 1210897"/>
              <a:gd name="connsiteX1" fmla="*/ 201820 w 4267200"/>
              <a:gd name="connsiteY1" fmla="*/ 0 h 1210897"/>
              <a:gd name="connsiteX2" fmla="*/ 4065380 w 4267200"/>
              <a:gd name="connsiteY2" fmla="*/ 0 h 1210897"/>
              <a:gd name="connsiteX3" fmla="*/ 4267200 w 4267200"/>
              <a:gd name="connsiteY3" fmla="*/ 201820 h 1210897"/>
              <a:gd name="connsiteX4" fmla="*/ 4267200 w 4267200"/>
              <a:gd name="connsiteY4" fmla="*/ 1009077 h 1210897"/>
              <a:gd name="connsiteX5" fmla="*/ 4065380 w 4267200"/>
              <a:gd name="connsiteY5" fmla="*/ 1210897 h 1210897"/>
              <a:gd name="connsiteX6" fmla="*/ 201820 w 4267200"/>
              <a:gd name="connsiteY6" fmla="*/ 1210897 h 1210897"/>
              <a:gd name="connsiteX7" fmla="*/ 0 w 4267200"/>
              <a:gd name="connsiteY7" fmla="*/ 1009077 h 1210897"/>
              <a:gd name="connsiteX8" fmla="*/ 0 w 4267200"/>
              <a:gd name="connsiteY8" fmla="*/ 201820 h 121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7200" h="1210897">
                <a:moveTo>
                  <a:pt x="0" y="201820"/>
                </a:moveTo>
                <a:cubicBezTo>
                  <a:pt x="0" y="90358"/>
                  <a:pt x="90358" y="0"/>
                  <a:pt x="201820" y="0"/>
                </a:cubicBezTo>
                <a:lnTo>
                  <a:pt x="4065380" y="0"/>
                </a:lnTo>
                <a:cubicBezTo>
                  <a:pt x="4176842" y="0"/>
                  <a:pt x="4267200" y="90358"/>
                  <a:pt x="4267200" y="201820"/>
                </a:cubicBezTo>
                <a:lnTo>
                  <a:pt x="4267200" y="1009077"/>
                </a:lnTo>
                <a:cubicBezTo>
                  <a:pt x="4267200" y="1120539"/>
                  <a:pt x="4176842" y="1210897"/>
                  <a:pt x="4065380" y="1210897"/>
                </a:cubicBezTo>
                <a:lnTo>
                  <a:pt x="201820" y="1210897"/>
                </a:lnTo>
                <a:cubicBezTo>
                  <a:pt x="90358" y="1210897"/>
                  <a:pt x="0" y="1120539"/>
                  <a:pt x="0" y="1009077"/>
                </a:cubicBezTo>
                <a:lnTo>
                  <a:pt x="0" y="201820"/>
                </a:lnTo>
                <a:close/>
              </a:path>
            </a:pathLst>
          </a:custGeom>
          <a:solidFill>
            <a:srgbClr val="006BA9"/>
          </a:solidFill>
        </p:spPr>
        <p:style>
          <a:lnRef idx="3">
            <a:schemeClr val="lt1">
              <a:hueOff val="0"/>
              <a:satOff val="0"/>
              <a:lumOff val="0"/>
              <a:alphaOff val="0"/>
            </a:schemeClr>
          </a:lnRef>
          <a:fillRef idx="1">
            <a:schemeClr val="accent4">
              <a:hueOff val="0"/>
              <a:satOff val="0"/>
              <a:lumOff val="0"/>
              <a:alphaOff val="0"/>
            </a:schemeClr>
          </a:fillRef>
          <a:effectRef idx="1">
            <a:schemeClr val="accent4">
              <a:hueOff val="0"/>
              <a:satOff val="0"/>
              <a:lumOff val="0"/>
              <a:alphaOff val="0"/>
            </a:schemeClr>
          </a:effectRef>
          <a:fontRef idx="minor">
            <a:schemeClr val="lt1"/>
          </a:fontRef>
        </p:style>
        <p:txBody>
          <a:bodyPr lIns="220401" tIns="59111" rIns="220401" bIns="59111" spcCol="1270" anchor="ctr"/>
          <a:lstStyle/>
          <a:p>
            <a:pPr defTabSz="2889250">
              <a:lnSpc>
                <a:spcPct val="90000"/>
              </a:lnSpc>
              <a:spcAft>
                <a:spcPct val="35000"/>
              </a:spcAft>
              <a:defRPr/>
            </a:pPr>
            <a:endParaRPr lang="zh-CN" altLang="en-US" sz="6500" dirty="0"/>
          </a:p>
        </p:txBody>
      </p:sp>
      <p:sp>
        <p:nvSpPr>
          <p:cNvPr id="10" name="矩形 9"/>
          <p:cNvSpPr>
            <a:spLocks noChangeArrowheads="1"/>
          </p:cNvSpPr>
          <p:nvPr/>
        </p:nvSpPr>
        <p:spPr bwMode="auto">
          <a:xfrm>
            <a:off x="5724128" y="1037878"/>
            <a:ext cx="1811714" cy="369332"/>
          </a:xfrm>
          <a:prstGeom prst="rect">
            <a:avLst/>
          </a:prstGeom>
          <a:noFill/>
          <a:ln>
            <a:noFill/>
          </a:ln>
          <a:extLst/>
        </p:spPr>
        <p:txBody>
          <a:bodyPr wrap="none">
            <a:spAutoFit/>
          </a:bodyPr>
          <a:lstStyle/>
          <a:p>
            <a:pPr eaLnBrk="1" hangingPunct="1"/>
            <a:r>
              <a:rPr lang="en-US" altLang="zh-CN" dirty="0" smtClean="0">
                <a:solidFill>
                  <a:schemeClr val="bg1"/>
                </a:solidFill>
                <a:latin typeface="微软雅黑" pitchFamily="34" charset="-122"/>
                <a:ea typeface="微软雅黑" pitchFamily="34" charset="-122"/>
              </a:rPr>
              <a:t>     JSP Model2</a:t>
            </a:r>
            <a:endParaRPr lang="zh-CN" altLang="zh-CN" dirty="0">
              <a:solidFill>
                <a:schemeClr val="bg1"/>
              </a:solidFill>
              <a:latin typeface="微软雅黑" pitchFamily="34" charset="-122"/>
              <a:ea typeface="微软雅黑" pitchFamily="34" charset="-122"/>
            </a:endParaRPr>
          </a:p>
        </p:txBody>
      </p:sp>
      <p:sp>
        <p:nvSpPr>
          <p:cNvPr id="11"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en-US" altLang="zh-CN" sz="3200" b="1" dirty="0" smtClean="0">
                <a:solidFill>
                  <a:srgbClr val="006BA9"/>
                </a:solidFill>
                <a:latin typeface="微软雅黑" pitchFamily="34" charset="-122"/>
                <a:ea typeface="微软雅黑" pitchFamily="34" charset="-122"/>
                <a:sym typeface="宋体" charset="-122"/>
              </a:rPr>
              <a:t>JSP</a:t>
            </a:r>
            <a:r>
              <a:rPr lang="zh-CN" altLang="en-US" sz="3200" b="1" dirty="0" smtClean="0">
                <a:solidFill>
                  <a:srgbClr val="006BA9"/>
                </a:solidFill>
                <a:latin typeface="微软雅黑" pitchFamily="34" charset="-122"/>
                <a:ea typeface="微软雅黑" pitchFamily="34" charset="-122"/>
                <a:sym typeface="宋体" charset="-122"/>
              </a:rPr>
              <a:t>开发模型</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2"/>
    </p:custDataLst>
    <p:extLst>
      <p:ext uri="{BB962C8B-B14F-4D97-AF65-F5344CB8AC3E}">
        <p14:creationId xmlns:p14="http://schemas.microsoft.com/office/powerpoint/2010/main" val="37568239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对角圆角矩形 1"/>
          <p:cNvSpPr/>
          <p:nvPr/>
        </p:nvSpPr>
        <p:spPr>
          <a:xfrm>
            <a:off x="755576" y="3501008"/>
            <a:ext cx="4896544" cy="648072"/>
          </a:xfrm>
          <a:prstGeom prst="round2DiagRect">
            <a:avLst>
              <a:gd name="adj1" fmla="val 20943"/>
              <a:gd name="adj2" fmla="val 0"/>
            </a:avLst>
          </a:prstGeom>
          <a:solidFill>
            <a:srgbClr val="006BA9"/>
          </a:solidFill>
          <a:ln>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TextBox 6"/>
          <p:cNvSpPr txBox="1"/>
          <p:nvPr/>
        </p:nvSpPr>
        <p:spPr>
          <a:xfrm>
            <a:off x="1097740" y="2627620"/>
            <a:ext cx="3834300" cy="369332"/>
          </a:xfrm>
          <a:prstGeom prst="rect">
            <a:avLst/>
          </a:prstGeom>
          <a:noFill/>
        </p:spPr>
        <p:txBody>
          <a:bodyPr vert="horz" wrap="square" lIns="0" tIns="0" rIns="0" bIns="0" rtlCol="0" anchor="ctr">
            <a:spAutoFit/>
          </a:bodyPr>
          <a:lstStyle/>
          <a:p>
            <a:r>
              <a:rPr lang="en-US" altLang="zh-CN" sz="2400">
                <a:solidFill>
                  <a:srgbClr val="7F7F7F"/>
                </a:solidFill>
                <a:latin typeface="Impact" pitchFamily="34" charset="0"/>
                <a:ea typeface="微软雅黑" pitchFamily="34" charset="-122"/>
              </a:rPr>
              <a:t>11.1    JSP</a:t>
            </a:r>
            <a:r>
              <a:rPr lang="zh-CN" altLang="en-US" sz="2400">
                <a:solidFill>
                  <a:srgbClr val="7F7F7F"/>
                </a:solidFill>
                <a:latin typeface="Impact" pitchFamily="34" charset="0"/>
                <a:ea typeface="微软雅黑" pitchFamily="34" charset="-122"/>
              </a:rPr>
              <a:t>开发模型 </a:t>
            </a:r>
            <a:endParaRPr lang="zh-CN" altLang="en-US" sz="2400" dirty="0">
              <a:solidFill>
                <a:srgbClr val="7F7F7F"/>
              </a:solidFill>
              <a:latin typeface="Impact" pitchFamily="34" charset="0"/>
              <a:ea typeface="微软雅黑" pitchFamily="34" charset="-122"/>
            </a:endParaRPr>
          </a:p>
        </p:txBody>
      </p:sp>
      <p:sp>
        <p:nvSpPr>
          <p:cNvPr id="5" name="TextBox 10"/>
          <p:cNvSpPr txBox="1"/>
          <p:nvPr/>
        </p:nvSpPr>
        <p:spPr>
          <a:xfrm>
            <a:off x="1097740" y="3635732"/>
            <a:ext cx="3834300" cy="369332"/>
          </a:xfrm>
          <a:prstGeom prst="rect">
            <a:avLst/>
          </a:prstGeom>
          <a:noFill/>
        </p:spPr>
        <p:txBody>
          <a:bodyPr vert="horz" wrap="square" lIns="0" tIns="0" rIns="0" bIns="0" rtlCol="0" anchor="ctr">
            <a:spAutoFit/>
          </a:bodyPr>
          <a:lstStyle/>
          <a:p>
            <a:r>
              <a:rPr lang="en-US" altLang="zh-CN" sz="2400" smtClean="0">
                <a:solidFill>
                  <a:schemeClr val="bg1"/>
                </a:solidFill>
                <a:latin typeface="Impact" pitchFamily="34" charset="0"/>
                <a:ea typeface="微软雅黑" pitchFamily="34" charset="-122"/>
              </a:rPr>
              <a:t>11.2    MVC</a:t>
            </a:r>
            <a:r>
              <a:rPr lang="zh-CN" altLang="en-US" sz="2400" smtClean="0">
                <a:solidFill>
                  <a:schemeClr val="bg1"/>
                </a:solidFill>
                <a:latin typeface="Impact" pitchFamily="34" charset="0"/>
                <a:ea typeface="微软雅黑" pitchFamily="34" charset="-122"/>
              </a:rPr>
              <a:t>设计模式</a:t>
            </a:r>
            <a:endParaRPr lang="zh-CN" altLang="en-US" sz="2400" dirty="0">
              <a:solidFill>
                <a:schemeClr val="bg1"/>
              </a:solidFill>
              <a:latin typeface="Impact" pitchFamily="34" charset="0"/>
              <a:ea typeface="微软雅黑" pitchFamily="34" charset="-122"/>
            </a:endParaRPr>
          </a:p>
        </p:txBody>
      </p:sp>
      <p:sp>
        <p:nvSpPr>
          <p:cNvPr id="9" name="椭圆 8"/>
          <p:cNvSpPr/>
          <p:nvPr/>
        </p:nvSpPr>
        <p:spPr>
          <a:xfrm>
            <a:off x="4897998" y="1712810"/>
            <a:ext cx="3444382" cy="3444382"/>
          </a:xfrm>
          <a:prstGeom prst="ellipse">
            <a:avLst/>
          </a:prstGeom>
          <a:solidFill>
            <a:schemeClr val="tx2">
              <a:lumMod val="40000"/>
              <a:lumOff val="60000"/>
            </a:schemeClr>
          </a:solidFill>
          <a:ln w="381000">
            <a:solidFill>
              <a:srgbClr val="006B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TextBox 1"/>
          <p:cNvSpPr txBox="1"/>
          <p:nvPr/>
        </p:nvSpPr>
        <p:spPr>
          <a:xfrm>
            <a:off x="4860032" y="2492896"/>
            <a:ext cx="3566358" cy="1831271"/>
          </a:xfrm>
          <a:prstGeom prst="rect">
            <a:avLst/>
          </a:prstGeom>
          <a:noFill/>
        </p:spPr>
        <p:txBody>
          <a:bodyPr wrap="square" rtlCol="0" anchor="ctr">
            <a:spAutoFit/>
          </a:bodyPr>
          <a:lstStyle/>
          <a:p>
            <a:pPr algn="ctr">
              <a:lnSpc>
                <a:spcPct val="150000"/>
              </a:lnSpc>
            </a:pPr>
            <a:r>
              <a:rPr lang="zh-CN" altLang="en-US" sz="5400" b="1" smtClean="0">
                <a:solidFill>
                  <a:srgbClr val="F2F2E6"/>
                </a:solidFill>
                <a:latin typeface="微软雅黑" pitchFamily="34" charset="-122"/>
                <a:ea typeface="微软雅黑" pitchFamily="34" charset="-122"/>
              </a:rPr>
              <a:t>主讲内容</a:t>
            </a:r>
            <a:endParaRPr lang="en-US" altLang="zh-CN" sz="5400" b="1" dirty="0" smtClean="0">
              <a:solidFill>
                <a:srgbClr val="F2F2E6"/>
              </a:solidFill>
              <a:latin typeface="微软雅黑" pitchFamily="34" charset="-122"/>
              <a:ea typeface="微软雅黑" pitchFamily="34" charset="-122"/>
            </a:endParaRPr>
          </a:p>
          <a:p>
            <a:pPr algn="ctr"/>
            <a:r>
              <a:rPr lang="en-US" altLang="zh-CN" sz="3200" smtClean="0">
                <a:solidFill>
                  <a:srgbClr val="F2F2E6"/>
                </a:solidFill>
                <a:latin typeface="Times New Roman" panose="02020603050405020304" pitchFamily="18" charset="0"/>
                <a:ea typeface="Adobe 宋体 Std L" pitchFamily="18" charset="-122"/>
                <a:cs typeface="Times New Roman" panose="02020603050405020304" pitchFamily="18" charset="0"/>
              </a:rPr>
              <a:t>Speech content</a:t>
            </a:r>
            <a:endParaRPr lang="en-US" altLang="zh-CN" sz="3200" dirty="0" smtClean="0">
              <a:solidFill>
                <a:srgbClr val="F2F2E6"/>
              </a:solidFill>
              <a:latin typeface="Times New Roman" panose="02020603050405020304" pitchFamily="18" charset="0"/>
              <a:ea typeface="Adobe 宋体 Std L" pitchFamily="18" charset="-122"/>
              <a:cs typeface="Times New Roman" panose="02020603050405020304" pitchFamily="18" charset="0"/>
            </a:endParaRPr>
          </a:p>
        </p:txBody>
      </p:sp>
      <p:sp>
        <p:nvSpPr>
          <p:cNvPr id="7"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dirty="0" smtClean="0">
                <a:solidFill>
                  <a:srgbClr val="006BA9"/>
                </a:solidFill>
                <a:latin typeface="微软雅黑" pitchFamily="34" charset="-122"/>
                <a:ea typeface="微软雅黑" pitchFamily="34" charset="-122"/>
                <a:sym typeface="宋体" charset="-122"/>
              </a:rPr>
              <a:t>主讲内容</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189119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49375" y="1844824"/>
            <a:ext cx="5497513"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3"/>
          <p:cNvSpPr>
            <a:spLocks noChangeArrowheads="1"/>
          </p:cNvSpPr>
          <p:nvPr/>
        </p:nvSpPr>
        <p:spPr bwMode="auto">
          <a:xfrm>
            <a:off x="304800" y="1043444"/>
            <a:ext cx="830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buFont typeface="Calibri" panose="020F0502020204030204" pitchFamily="34" charset="0"/>
              <a:buChar char="–"/>
            </a:pPr>
            <a:r>
              <a:rPr lang="en-US" altLang="zh-CN" b="1" dirty="0">
                <a:solidFill>
                  <a:srgbClr val="009ED6"/>
                </a:solidFill>
                <a:latin typeface="Times New Roman" panose="02020603050405020304" pitchFamily="18" charset="0"/>
                <a:cs typeface="Times New Roman" panose="02020603050405020304" pitchFamily="18" charset="0"/>
              </a:rPr>
              <a:t>MVC</a:t>
            </a:r>
            <a:r>
              <a:rPr lang="zh-CN" altLang="zh-CN" sz="1600" dirty="0">
                <a:latin typeface="Times New Roman" panose="02020603050405020304" pitchFamily="18" charset="0"/>
                <a:cs typeface="Times New Roman" panose="02020603050405020304" pitchFamily="18" charset="0"/>
              </a:rPr>
              <a:t>将程序分为</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个核心模块：模型</a:t>
            </a:r>
            <a:r>
              <a:rPr lang="en-US" altLang="zh-CN" sz="1600" dirty="0">
                <a:latin typeface="Times New Roman" panose="02020603050405020304" pitchFamily="18" charset="0"/>
                <a:cs typeface="Times New Roman" panose="02020603050405020304" pitchFamily="18" charset="0"/>
              </a:rPr>
              <a:t>(</a:t>
            </a:r>
            <a:r>
              <a:rPr lang="en-US" altLang="zh-CN" sz="1600" dirty="0">
                <a:solidFill>
                  <a:srgbClr val="009ED6"/>
                </a:solidFill>
                <a:latin typeface="Times New Roman" panose="02020603050405020304" pitchFamily="18" charset="0"/>
                <a:cs typeface="Times New Roman" panose="02020603050405020304" pitchFamily="18" charset="0"/>
              </a:rPr>
              <a:t>Model</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、视图</a:t>
            </a:r>
            <a:r>
              <a:rPr lang="en-US" altLang="zh-CN" sz="1600" dirty="0">
                <a:latin typeface="Times New Roman" panose="02020603050405020304" pitchFamily="18" charset="0"/>
                <a:cs typeface="Times New Roman" panose="02020603050405020304" pitchFamily="18" charset="0"/>
              </a:rPr>
              <a:t>(</a:t>
            </a:r>
            <a:r>
              <a:rPr lang="en-US" altLang="zh-CN" sz="1600" dirty="0">
                <a:solidFill>
                  <a:srgbClr val="009ED6"/>
                </a:solidFill>
                <a:latin typeface="Times New Roman" panose="02020603050405020304" pitchFamily="18" charset="0"/>
                <a:cs typeface="Times New Roman" panose="02020603050405020304" pitchFamily="18" charset="0"/>
              </a:rPr>
              <a:t>View</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和控制器</a:t>
            </a:r>
            <a:r>
              <a:rPr lang="en-US" altLang="zh-CN" sz="1600" dirty="0">
                <a:latin typeface="Times New Roman" panose="02020603050405020304" pitchFamily="18" charset="0"/>
                <a:cs typeface="Times New Roman" panose="02020603050405020304" pitchFamily="18" charset="0"/>
              </a:rPr>
              <a:t>(</a:t>
            </a:r>
            <a:r>
              <a:rPr lang="en-US" altLang="zh-CN" sz="1600" dirty="0">
                <a:solidFill>
                  <a:srgbClr val="009ED6"/>
                </a:solidFill>
                <a:latin typeface="Times New Roman" panose="02020603050405020304" pitchFamily="18" charset="0"/>
                <a:cs typeface="Times New Roman" panose="02020603050405020304" pitchFamily="18" charset="0"/>
              </a:rPr>
              <a:t>Controller</a:t>
            </a:r>
            <a:r>
              <a:rPr lang="en-US"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4" name="矩形 3"/>
          <p:cNvSpPr>
            <a:spLocks noChangeArrowheads="1"/>
          </p:cNvSpPr>
          <p:nvPr/>
        </p:nvSpPr>
        <p:spPr bwMode="auto">
          <a:xfrm>
            <a:off x="5167313" y="4674790"/>
            <a:ext cx="23987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1200"/>
              <a:t>模型负责管理应用程序的业务数据以及定义访问控制和修改这些数据的业务规则。当模型的状态发生改变时，它会通知视图发生改变，并为视图提供查询模型状态的方法。</a:t>
            </a:r>
            <a:endParaRPr lang="zh-CN" altLang="en-US" sz="1200"/>
          </a:p>
        </p:txBody>
      </p:sp>
      <p:sp>
        <p:nvSpPr>
          <p:cNvPr id="5" name="圆角矩形标注 4"/>
          <p:cNvSpPr>
            <a:spLocks noChangeArrowheads="1"/>
          </p:cNvSpPr>
          <p:nvPr/>
        </p:nvSpPr>
        <p:spPr bwMode="auto">
          <a:xfrm>
            <a:off x="5510213" y="1555403"/>
            <a:ext cx="2171700" cy="1025525"/>
          </a:xfrm>
          <a:prstGeom prst="wedgeRoundRectCallout">
            <a:avLst>
              <a:gd name="adj1" fmla="val -45579"/>
              <a:gd name="adj2" fmla="val 77630"/>
              <a:gd name="adj3" fmla="val 16667"/>
            </a:avLst>
          </a:prstGeom>
          <a:noFill/>
          <a:ln w="28575" algn="ctr">
            <a:solidFill>
              <a:srgbClr val="0066A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pPr>
            <a:endParaRPr lang="zh-CN" altLang="en-US"/>
          </a:p>
        </p:txBody>
      </p:sp>
      <p:sp>
        <p:nvSpPr>
          <p:cNvPr id="6" name="圆角矩形标注 5"/>
          <p:cNvSpPr>
            <a:spLocks noChangeArrowheads="1"/>
          </p:cNvSpPr>
          <p:nvPr/>
        </p:nvSpPr>
        <p:spPr bwMode="auto">
          <a:xfrm>
            <a:off x="5141913" y="4627165"/>
            <a:ext cx="2373312" cy="1250950"/>
          </a:xfrm>
          <a:prstGeom prst="wedgeRoundRectCallout">
            <a:avLst>
              <a:gd name="adj1" fmla="val -36352"/>
              <a:gd name="adj2" fmla="val -73685"/>
              <a:gd name="adj3" fmla="val 16667"/>
            </a:avLst>
          </a:prstGeom>
          <a:noFill/>
          <a:ln w="28575" algn="ctr">
            <a:solidFill>
              <a:srgbClr val="0066A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pPr>
            <a:endParaRPr lang="zh-CN" altLang="en-US"/>
          </a:p>
        </p:txBody>
      </p:sp>
      <p:sp>
        <p:nvSpPr>
          <p:cNvPr id="7" name="矩形 6"/>
          <p:cNvSpPr>
            <a:spLocks noChangeArrowheads="1"/>
          </p:cNvSpPr>
          <p:nvPr/>
        </p:nvSpPr>
        <p:spPr bwMode="auto">
          <a:xfrm>
            <a:off x="315913" y="4627165"/>
            <a:ext cx="2841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1200"/>
              <a:t>视图负责与用户进行交互，它从模型中获取数据向用户展示，同时也能将用户请求传递给控制器进行处理。当模型的状态发生改变时，视图会对用户界面进行同步更新，从而保持与模型数据的</a:t>
            </a:r>
            <a:r>
              <a:rPr lang="zh-CN" altLang="zh-CN" sz="1200" smtClean="0"/>
              <a:t>一致性</a:t>
            </a:r>
            <a:r>
              <a:rPr lang="zh-CN" altLang="en-US" sz="1200" smtClean="0"/>
              <a:t>。</a:t>
            </a:r>
            <a:endParaRPr lang="zh-CN" altLang="en-US" sz="1200"/>
          </a:p>
        </p:txBody>
      </p:sp>
      <p:sp>
        <p:nvSpPr>
          <p:cNvPr id="8" name="圆角矩形标注 7"/>
          <p:cNvSpPr>
            <a:spLocks noChangeArrowheads="1"/>
          </p:cNvSpPr>
          <p:nvPr/>
        </p:nvSpPr>
        <p:spPr bwMode="auto">
          <a:xfrm>
            <a:off x="330200" y="4581128"/>
            <a:ext cx="2805113" cy="1252537"/>
          </a:xfrm>
          <a:prstGeom prst="wedgeRoundRectCallout">
            <a:avLst>
              <a:gd name="adj1" fmla="val 43926"/>
              <a:gd name="adj2" fmla="val -71944"/>
              <a:gd name="adj3" fmla="val 16667"/>
            </a:avLst>
          </a:prstGeom>
          <a:noFill/>
          <a:ln w="28575" algn="ctr">
            <a:solidFill>
              <a:srgbClr val="0066A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buFont typeface="Arial" pitchFamily="34" charset="0"/>
              <a:buNone/>
            </a:pPr>
            <a:endParaRPr lang="zh-CN" altLang="en-US"/>
          </a:p>
        </p:txBody>
      </p:sp>
      <p:sp>
        <p:nvSpPr>
          <p:cNvPr id="9" name="矩形 8"/>
          <p:cNvSpPr>
            <a:spLocks noChangeArrowheads="1"/>
          </p:cNvSpPr>
          <p:nvPr/>
        </p:nvSpPr>
        <p:spPr bwMode="auto">
          <a:xfrm>
            <a:off x="5510213" y="1672878"/>
            <a:ext cx="21717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zh-CN" sz="1200"/>
              <a:t>控制器是负责应用程序中处理用户交互的部分，它负责从视图中读取数据，控制用户输入并向模型发送数据。</a:t>
            </a:r>
            <a:endParaRPr lang="zh-CN" altLang="en-US" sz="1200"/>
          </a:p>
        </p:txBody>
      </p:sp>
      <p:sp>
        <p:nvSpPr>
          <p:cNvPr id="10"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buFont typeface="Wingdings" pitchFamily="2" charset="2"/>
              <a:buNone/>
            </a:pPr>
            <a:r>
              <a:rPr lang="en-US" altLang="zh-CN" sz="3200" b="1" dirty="0" smtClean="0">
                <a:solidFill>
                  <a:srgbClr val="006BA9"/>
                </a:solidFill>
                <a:latin typeface="微软雅黑" pitchFamily="34" charset="-122"/>
                <a:ea typeface="微软雅黑" pitchFamily="34" charset="-122"/>
                <a:sym typeface="宋体" charset="-122"/>
              </a:rPr>
              <a:t>MVC</a:t>
            </a:r>
            <a:r>
              <a:rPr lang="zh-CN" altLang="en-US" sz="3200" b="1" dirty="0" smtClean="0">
                <a:solidFill>
                  <a:srgbClr val="006BA9"/>
                </a:solidFill>
                <a:latin typeface="微软雅黑" pitchFamily="34" charset="-122"/>
                <a:ea typeface="微软雅黑" pitchFamily="34" charset="-122"/>
                <a:sym typeface="宋体" charset="-122"/>
              </a:rPr>
              <a:t>设计模式</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29304426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down)">
                                      <p:cBhvr>
                                        <p:cTn id="14" dur="500"/>
                                        <p:tgtEl>
                                          <p:spTgt spid="8"/>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par>
                          <p:cTn id="18" fill="hold">
                            <p:stCondLst>
                              <p:cond delay="1000"/>
                            </p:stCondLst>
                            <p:childTnLst>
                              <p:par>
                                <p:cTn id="19" presetID="2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p:bldP spid="8" grpId="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ChangeArrowheads="1"/>
          </p:cNvSpPr>
          <p:nvPr/>
        </p:nvSpPr>
        <p:spPr bwMode="auto">
          <a:xfrm>
            <a:off x="251520" y="923156"/>
            <a:ext cx="8064896"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endParaRPr lang="zh-CN" altLang="en-US" sz="2400" b="1" dirty="0">
              <a:solidFill>
                <a:srgbClr val="006BA9"/>
              </a:solidFill>
              <a:latin typeface="微软雅黑" pitchFamily="34" charset="-122"/>
              <a:ea typeface="微软雅黑" pitchFamily="34" charset="-122"/>
              <a:sym typeface="宋体" charset="-122"/>
            </a:endParaRPr>
          </a:p>
        </p:txBody>
      </p:sp>
      <p:sp>
        <p:nvSpPr>
          <p:cNvPr id="3" name="椭圆 2"/>
          <p:cNvSpPr/>
          <p:nvPr/>
        </p:nvSpPr>
        <p:spPr bwMode="auto">
          <a:xfrm rot="574600">
            <a:off x="1327821" y="3950469"/>
            <a:ext cx="361950" cy="361950"/>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pPr>
            <a:endParaRPr lang="zh-CN" altLang="en-US" dirty="0">
              <a:solidFill>
                <a:prstClr val="white"/>
              </a:solidFill>
              <a:latin typeface="Arial" charset="0"/>
            </a:endParaRPr>
          </a:p>
        </p:txBody>
      </p:sp>
      <p:sp>
        <p:nvSpPr>
          <p:cNvPr id="4" name="TextBox 3"/>
          <p:cNvSpPr txBox="1">
            <a:spLocks noChangeArrowheads="1"/>
          </p:cNvSpPr>
          <p:nvPr/>
        </p:nvSpPr>
        <p:spPr bwMode="auto">
          <a:xfrm>
            <a:off x="1340124" y="3933056"/>
            <a:ext cx="349250" cy="369887"/>
          </a:xfrm>
          <a:prstGeom prst="rect">
            <a:avLst/>
          </a:prstGeom>
          <a:noFill/>
          <a:ln>
            <a:noFill/>
          </a:ln>
        </p:spPr>
        <p:txBody>
          <a:bodyPr wrap="non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defRPr/>
            </a:pPr>
            <a:r>
              <a:rPr lang="en-US" altLang="zh-CN" b="1" kern="0" dirty="0" smtClean="0">
                <a:solidFill>
                  <a:sysClr val="window" lastClr="FFFFFF"/>
                </a:solidFill>
                <a:latin typeface="Verdana" pitchFamily="34" charset="0"/>
              </a:rPr>
              <a:t>2</a:t>
            </a:r>
            <a:endParaRPr lang="zh-CN" altLang="en-US" b="1" kern="0" dirty="0" smtClean="0">
              <a:solidFill>
                <a:sysClr val="window" lastClr="FFFFFF"/>
              </a:solidFill>
              <a:latin typeface="Verdana" pitchFamily="34" charset="0"/>
            </a:endParaRPr>
          </a:p>
        </p:txBody>
      </p:sp>
      <p:sp>
        <p:nvSpPr>
          <p:cNvPr id="5" name="矩形 4"/>
          <p:cNvSpPr/>
          <p:nvPr/>
        </p:nvSpPr>
        <p:spPr>
          <a:xfrm>
            <a:off x="1719064" y="2415197"/>
            <a:ext cx="1152525" cy="345094"/>
          </a:xfrm>
          <a:prstGeom prst="rect">
            <a:avLst/>
          </a:prstGeom>
        </p:spPr>
        <p:txBody>
          <a:bodyPr>
            <a:spAutoFit/>
          </a:bodyPr>
          <a:lstStyle/>
          <a:p>
            <a:pPr>
              <a:lnSpc>
                <a:spcPct val="130000"/>
              </a:lnSpc>
              <a:spcAft>
                <a:spcPts val="300"/>
              </a:spcAft>
              <a:defRPr/>
            </a:pPr>
            <a:r>
              <a:rPr lang="zh-CN" altLang="en-US" sz="1400" b="1" kern="0" dirty="0" smtClean="0">
                <a:solidFill>
                  <a:srgbClr val="0070C0"/>
                </a:solidFill>
                <a:latin typeface="微软雅黑" pitchFamily="34" charset="-122"/>
                <a:ea typeface="微软雅黑" pitchFamily="34" charset="-122"/>
              </a:rPr>
              <a:t>任务目标：</a:t>
            </a:r>
            <a:endParaRPr lang="en-US" altLang="zh-CN" sz="1200" kern="0" dirty="0">
              <a:solidFill>
                <a:srgbClr val="0070C0"/>
              </a:solidFill>
              <a:latin typeface="微软雅黑" pitchFamily="34" charset="-122"/>
              <a:ea typeface="微软雅黑" pitchFamily="34" charset="-122"/>
            </a:endParaRPr>
          </a:p>
        </p:txBody>
      </p:sp>
      <p:sp>
        <p:nvSpPr>
          <p:cNvPr id="6" name="圆角矩形 5"/>
          <p:cNvSpPr/>
          <p:nvPr/>
        </p:nvSpPr>
        <p:spPr>
          <a:xfrm>
            <a:off x="1411958" y="4691514"/>
            <a:ext cx="5219700" cy="408623"/>
          </a:xfrm>
          <a:prstGeom prst="roundRect">
            <a:avLst/>
          </a:prstGeom>
          <a:solidFill>
            <a:srgbClr val="0070C0"/>
          </a:solidFill>
          <a:ln>
            <a:solidFill>
              <a:srgbClr val="D6ECFF">
                <a:lumMod val="75000"/>
              </a:srgbClr>
            </a:solidFill>
          </a:ln>
          <a:effectLst>
            <a:outerShdw blurRad="50800" dist="38100" dir="2700000" algn="tl" rotWithShape="0">
              <a:prstClr val="black">
                <a:alpha val="40000"/>
              </a:prstClr>
            </a:outerShdw>
          </a:effectLst>
        </p:spPr>
        <p:txBody>
          <a:bodyPr anchor="ctr">
            <a:spAutoFit/>
          </a:bodyPr>
          <a:lstStyle/>
          <a:p>
            <a:pPr algn="ctr">
              <a:defRPr/>
            </a:pPr>
            <a:r>
              <a:rPr lang="zh-CN" altLang="en-US" b="1" kern="0" dirty="0">
                <a:solidFill>
                  <a:sysClr val="window" lastClr="FFFFFF"/>
                </a:solidFill>
                <a:latin typeface="Arial"/>
              </a:rPr>
              <a:t>案例代码（详</a:t>
            </a:r>
            <a:r>
              <a:rPr lang="zh-CN" altLang="en-US" b="1" kern="0">
                <a:solidFill>
                  <a:sysClr val="window" lastClr="FFFFFF"/>
                </a:solidFill>
                <a:latin typeface="Arial"/>
              </a:rPr>
              <a:t>见</a:t>
            </a:r>
            <a:r>
              <a:rPr lang="zh-CN" altLang="en-US" b="1" kern="0" smtClean="0">
                <a:solidFill>
                  <a:sysClr val="window" lastClr="FFFFFF"/>
                </a:solidFill>
                <a:latin typeface="Arial"/>
              </a:rPr>
              <a:t>教材</a:t>
            </a:r>
            <a:r>
              <a:rPr lang="en-US" altLang="zh-CN" b="1" kern="0" smtClean="0">
                <a:solidFill>
                  <a:sysClr val="window" lastClr="FFFFFF"/>
                </a:solidFill>
                <a:latin typeface="Arial"/>
              </a:rPr>
              <a:t>【</a:t>
            </a:r>
            <a:r>
              <a:rPr lang="zh-CN" altLang="en-US" b="1" kern="0" smtClean="0">
                <a:solidFill>
                  <a:sysClr val="window" lastClr="FFFFFF"/>
                </a:solidFill>
                <a:latin typeface="Arial"/>
              </a:rPr>
              <a:t>任务</a:t>
            </a:r>
            <a:r>
              <a:rPr lang="en-US" altLang="zh-CN" b="1" kern="0" smtClean="0">
                <a:solidFill>
                  <a:sysClr val="window" lastClr="FFFFFF"/>
                </a:solidFill>
                <a:latin typeface="Arial"/>
              </a:rPr>
              <a:t>11-1】</a:t>
            </a:r>
            <a:r>
              <a:rPr lang="zh-CN" altLang="en-US" b="1" kern="0" smtClean="0">
                <a:solidFill>
                  <a:sysClr val="window" lastClr="FFFFFF"/>
                </a:solidFill>
                <a:latin typeface="Arial"/>
              </a:rPr>
              <a:t>中的实现步骤）</a:t>
            </a:r>
            <a:endParaRPr lang="en-US" altLang="zh-CN" b="1" kern="0" dirty="0">
              <a:solidFill>
                <a:sysClr val="window" lastClr="FFFFFF"/>
              </a:solidFill>
              <a:latin typeface="Arial"/>
            </a:endParaRPr>
          </a:p>
        </p:txBody>
      </p:sp>
      <p:sp>
        <p:nvSpPr>
          <p:cNvPr id="7" name="矩形 6"/>
          <p:cNvSpPr/>
          <p:nvPr/>
        </p:nvSpPr>
        <p:spPr>
          <a:xfrm>
            <a:off x="1716758" y="3936182"/>
            <a:ext cx="1152525" cy="369887"/>
          </a:xfrm>
          <a:prstGeom prst="rect">
            <a:avLst/>
          </a:prstGeom>
        </p:spPr>
        <p:txBody>
          <a:bodyPr wrap="none">
            <a:spAutoFit/>
          </a:bodyPr>
          <a:lstStyle/>
          <a:p>
            <a:pPr>
              <a:defRPr/>
            </a:pPr>
            <a:r>
              <a:rPr lang="zh-CN" altLang="en-US" sz="1400" b="1" kern="0" dirty="0" smtClean="0">
                <a:solidFill>
                  <a:srgbClr val="0070C0"/>
                </a:solidFill>
                <a:latin typeface="微软雅黑" pitchFamily="34" charset="-122"/>
                <a:ea typeface="微软雅黑" pitchFamily="34" charset="-122"/>
              </a:rPr>
              <a:t>实现步骤：</a:t>
            </a:r>
            <a:r>
              <a:rPr lang="zh-CN" altLang="en-US" b="1" kern="0" dirty="0" smtClean="0">
                <a:solidFill>
                  <a:srgbClr val="0070C0"/>
                </a:solidFill>
                <a:latin typeface="微软雅黑" pitchFamily="34" charset="-122"/>
                <a:ea typeface="微软雅黑" pitchFamily="34" charset="-122"/>
              </a:rPr>
              <a:t> </a:t>
            </a:r>
            <a:endParaRPr lang="zh-CN" altLang="en-US" kern="0" dirty="0">
              <a:solidFill>
                <a:srgbClr val="0070C0"/>
              </a:solidFill>
              <a:latin typeface="Arial" pitchFamily="34" charset="0"/>
            </a:endParaRPr>
          </a:p>
        </p:txBody>
      </p:sp>
      <p:cxnSp>
        <p:nvCxnSpPr>
          <p:cNvPr id="8" name="直接连接符 7"/>
          <p:cNvCxnSpPr/>
          <p:nvPr/>
        </p:nvCxnSpPr>
        <p:spPr>
          <a:xfrm>
            <a:off x="1539677" y="2802547"/>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9" name="直接连接符 8"/>
          <p:cNvCxnSpPr/>
          <p:nvPr/>
        </p:nvCxnSpPr>
        <p:spPr>
          <a:xfrm>
            <a:off x="1474664" y="4306069"/>
            <a:ext cx="509428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sp>
        <p:nvSpPr>
          <p:cNvPr id="10" name="椭圆 9"/>
          <p:cNvSpPr/>
          <p:nvPr/>
        </p:nvSpPr>
        <p:spPr bwMode="auto">
          <a:xfrm rot="574600">
            <a:off x="1305584" y="2461823"/>
            <a:ext cx="361950" cy="36353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a:buFont typeface="Arial" pitchFamily="34" charset="0"/>
              <a:buNone/>
              <a:defRPr/>
            </a:pPr>
            <a:endParaRPr lang="zh-CN" altLang="en-US" dirty="0">
              <a:solidFill>
                <a:prstClr val="white"/>
              </a:solidFill>
              <a:latin typeface="Arial" charset="0"/>
            </a:endParaRPr>
          </a:p>
        </p:txBody>
      </p:sp>
      <p:sp>
        <p:nvSpPr>
          <p:cNvPr id="11" name="TextBox 10"/>
          <p:cNvSpPr txBox="1">
            <a:spLocks noChangeArrowheads="1"/>
          </p:cNvSpPr>
          <p:nvPr/>
        </p:nvSpPr>
        <p:spPr bwMode="auto">
          <a:xfrm>
            <a:off x="1312728" y="2452503"/>
            <a:ext cx="3476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en-US" altLang="zh-CN" b="1">
                <a:solidFill>
                  <a:prstClr val="white"/>
                </a:solidFill>
                <a:latin typeface="Verdana" pitchFamily="34" charset="0"/>
              </a:rPr>
              <a:t>1</a:t>
            </a:r>
            <a:endParaRPr lang="zh-CN" altLang="en-US" b="1">
              <a:solidFill>
                <a:prstClr val="white"/>
              </a:solidFill>
              <a:latin typeface="Verdana" pitchFamily="34" charset="0"/>
            </a:endParaRPr>
          </a:p>
        </p:txBody>
      </p:sp>
      <p:sp>
        <p:nvSpPr>
          <p:cNvPr id="12" name="矩形 11"/>
          <p:cNvSpPr/>
          <p:nvPr/>
        </p:nvSpPr>
        <p:spPr>
          <a:xfrm>
            <a:off x="2988345" y="2852936"/>
            <a:ext cx="3671887" cy="1446550"/>
          </a:xfrm>
          <a:prstGeom prst="rect">
            <a:avLst/>
          </a:prstGeom>
        </p:spPr>
        <p:txBody>
          <a:bodyPr>
            <a:spAutoFit/>
          </a:bodyPr>
          <a:lstStyle/>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创建项目，编写</a:t>
            </a:r>
            <a:r>
              <a:rPr lang="en-US" altLang="zh-CN" sz="1200" smtClean="0">
                <a:solidFill>
                  <a:prstClr val="black">
                    <a:lumMod val="65000"/>
                    <a:lumOff val="35000"/>
                  </a:prstClr>
                </a:solidFill>
                <a:latin typeface="微软雅黑" pitchFamily="34" charset="-122"/>
                <a:ea typeface="微软雅黑" pitchFamily="34" charset="-122"/>
              </a:rPr>
              <a:t>JavaBean</a:t>
            </a:r>
            <a:endParaRPr lang="en-US" altLang="zh-CN" sz="1200" dirty="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创建工具类</a:t>
            </a:r>
            <a:endParaRPr lang="en-US" altLang="zh-CN" sz="1200" dirty="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a:t>
            </a:r>
            <a:r>
              <a:rPr lang="en-US" altLang="zh-CN" sz="1200" smtClean="0">
                <a:solidFill>
                  <a:prstClr val="black">
                    <a:lumMod val="65000"/>
                    <a:lumOff val="35000"/>
                  </a:prstClr>
                </a:solidFill>
                <a:latin typeface="微软雅黑" pitchFamily="34" charset="-122"/>
                <a:ea typeface="微软雅黑" pitchFamily="34" charset="-122"/>
              </a:rPr>
              <a:t>Servlet</a:t>
            </a: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创建</a:t>
            </a:r>
            <a:r>
              <a:rPr lang="en-US" altLang="zh-CN" sz="1200" smtClean="0">
                <a:solidFill>
                  <a:prstClr val="black">
                    <a:lumMod val="65000"/>
                    <a:lumOff val="35000"/>
                  </a:prstClr>
                </a:solidFill>
                <a:latin typeface="微软雅黑" pitchFamily="34" charset="-122"/>
                <a:ea typeface="微软雅黑" pitchFamily="34" charset="-122"/>
              </a:rPr>
              <a:t>JSP</a:t>
            </a:r>
            <a:r>
              <a:rPr lang="zh-CN" altLang="en-US" sz="1200" smtClean="0">
                <a:solidFill>
                  <a:prstClr val="black">
                    <a:lumMod val="65000"/>
                    <a:lumOff val="35000"/>
                  </a:prstClr>
                </a:solidFill>
                <a:latin typeface="微软雅黑" pitchFamily="34" charset="-122"/>
                <a:ea typeface="微软雅黑" pitchFamily="34" charset="-122"/>
              </a:rPr>
              <a:t>页面</a:t>
            </a:r>
            <a:endParaRPr lang="en-US" altLang="zh-CN" sz="1200" smtClean="0">
              <a:solidFill>
                <a:prstClr val="black">
                  <a:lumMod val="65000"/>
                  <a:lumOff val="35000"/>
                </a:prstClr>
              </a:solidFill>
              <a:latin typeface="微软雅黑" pitchFamily="34" charset="-122"/>
              <a:ea typeface="微软雅黑" pitchFamily="34" charset="-122"/>
            </a:endParaRPr>
          </a:p>
          <a:p>
            <a:pPr marL="228600" indent="-228600">
              <a:lnSpc>
                <a:spcPct val="130000"/>
              </a:lnSpc>
              <a:spcAft>
                <a:spcPts val="300"/>
              </a:spcAft>
              <a:buFont typeface="+mj-ea"/>
              <a:buAutoNum type="circleNumDbPlain"/>
            </a:pPr>
            <a:r>
              <a:rPr lang="zh-CN" altLang="en-US" sz="1200" smtClean="0">
                <a:solidFill>
                  <a:prstClr val="black">
                    <a:lumMod val="65000"/>
                    <a:lumOff val="35000"/>
                  </a:prstClr>
                </a:solidFill>
                <a:latin typeface="微软雅黑" pitchFamily="34" charset="-122"/>
                <a:ea typeface="微软雅黑" pitchFamily="34" charset="-122"/>
              </a:rPr>
              <a:t>运行程序，测试结果</a:t>
            </a:r>
            <a:endParaRPr lang="en-US" altLang="zh-CN" sz="1200" smtClean="0">
              <a:solidFill>
                <a:prstClr val="black">
                  <a:lumMod val="65000"/>
                  <a:lumOff val="35000"/>
                </a:prstClr>
              </a:solidFill>
              <a:latin typeface="微软雅黑" pitchFamily="34" charset="-122"/>
              <a:ea typeface="微软雅黑" pitchFamily="34" charset="-122"/>
            </a:endParaRPr>
          </a:p>
        </p:txBody>
      </p:sp>
      <p:sp>
        <p:nvSpPr>
          <p:cNvPr id="13" name="矩形 12"/>
          <p:cNvSpPr/>
          <p:nvPr/>
        </p:nvSpPr>
        <p:spPr>
          <a:xfrm>
            <a:off x="2699792" y="2470759"/>
            <a:ext cx="2621230" cy="332399"/>
          </a:xfrm>
          <a:prstGeom prst="rect">
            <a:avLst/>
          </a:prstGeom>
        </p:spPr>
        <p:txBody>
          <a:bodyPr wrap="none">
            <a:spAutoFit/>
          </a:bodyPr>
          <a:lstStyle/>
          <a:p>
            <a:pPr>
              <a:lnSpc>
                <a:spcPct val="130000"/>
              </a:lnSpc>
              <a:spcAft>
                <a:spcPts val="300"/>
              </a:spcAft>
              <a:defRPr/>
            </a:pPr>
            <a:r>
              <a:rPr lang="zh-CN" altLang="en-US" sz="1200" smtClean="0">
                <a:solidFill>
                  <a:prstClr val="black">
                    <a:lumMod val="65000"/>
                    <a:lumOff val="35000"/>
                  </a:prstClr>
                </a:solidFill>
                <a:latin typeface="微软雅黑" pitchFamily="34" charset="-122"/>
                <a:ea typeface="微软雅黑" pitchFamily="34" charset="-122"/>
              </a:rPr>
              <a:t>学会使用</a:t>
            </a:r>
            <a:r>
              <a:rPr lang="en-US" altLang="zh-CN" sz="1200" smtClean="0">
                <a:solidFill>
                  <a:prstClr val="black">
                    <a:lumMod val="65000"/>
                    <a:lumOff val="35000"/>
                  </a:prstClr>
                </a:solidFill>
                <a:latin typeface="微软雅黑" pitchFamily="34" charset="-122"/>
                <a:ea typeface="微软雅黑" pitchFamily="34" charset="-122"/>
              </a:rPr>
              <a:t>JSP Model2 </a:t>
            </a:r>
            <a:r>
              <a:rPr lang="zh-CN" altLang="en-US" sz="1200" smtClean="0">
                <a:solidFill>
                  <a:prstClr val="black">
                    <a:lumMod val="65000"/>
                    <a:lumOff val="35000"/>
                  </a:prstClr>
                </a:solidFill>
                <a:latin typeface="微软雅黑" pitchFamily="34" charset="-122"/>
                <a:ea typeface="微软雅黑" pitchFamily="34" charset="-122"/>
              </a:rPr>
              <a:t>模型开发程序</a:t>
            </a:r>
            <a:endParaRPr lang="en-US" altLang="zh-CN" sz="1200" dirty="0">
              <a:solidFill>
                <a:prstClr val="black">
                  <a:lumMod val="65000"/>
                  <a:lumOff val="35000"/>
                </a:prstClr>
              </a:solidFill>
              <a:latin typeface="微软雅黑" pitchFamily="34" charset="-122"/>
              <a:ea typeface="微软雅黑" pitchFamily="34" charset="-122"/>
            </a:endParaRPr>
          </a:p>
        </p:txBody>
      </p:sp>
      <p:sp>
        <p:nvSpPr>
          <p:cNvPr id="14" name="矩形 13"/>
          <p:cNvSpPr>
            <a:spLocks noChangeArrowheads="1"/>
          </p:cNvSpPr>
          <p:nvPr/>
        </p:nvSpPr>
        <p:spPr bwMode="auto">
          <a:xfrm>
            <a:off x="539552" y="1611089"/>
            <a:ext cx="7992888"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lnSpc>
                <a:spcPct val="150000"/>
              </a:lnSpc>
              <a:buFont typeface="Calibri" panose="020F0502020204030204" pitchFamily="34" charset="0"/>
              <a:buChar char="–"/>
            </a:pPr>
            <a:r>
              <a:rPr lang="en-US" altLang="zh-CN" dirty="0">
                <a:solidFill>
                  <a:srgbClr val="009ED6"/>
                </a:solidFill>
              </a:rPr>
              <a:t> </a:t>
            </a:r>
            <a:r>
              <a:rPr lang="en-US" altLang="zh-CN" dirty="0" smtClean="0">
                <a:solidFill>
                  <a:srgbClr val="009ED6"/>
                </a:solidFill>
              </a:rPr>
              <a:t>JSP </a:t>
            </a:r>
            <a:r>
              <a:rPr lang="en-US" altLang="zh-CN" dirty="0">
                <a:solidFill>
                  <a:srgbClr val="009ED6"/>
                </a:solidFill>
              </a:rPr>
              <a:t>Model 2</a:t>
            </a:r>
            <a:r>
              <a:rPr lang="zh-CN" altLang="zh-CN" dirty="0"/>
              <a:t>模型是一种</a:t>
            </a:r>
            <a:r>
              <a:rPr lang="en-US" altLang="zh-CN" dirty="0">
                <a:solidFill>
                  <a:srgbClr val="009ED6"/>
                </a:solidFill>
              </a:rPr>
              <a:t>MVC</a:t>
            </a:r>
            <a:r>
              <a:rPr lang="zh-CN" altLang="zh-CN" dirty="0"/>
              <a:t>模式。由于</a:t>
            </a:r>
            <a:r>
              <a:rPr lang="en-US" altLang="zh-CN" dirty="0">
                <a:solidFill>
                  <a:srgbClr val="009ED6"/>
                </a:solidFill>
              </a:rPr>
              <a:t>MVC</a:t>
            </a:r>
            <a:r>
              <a:rPr lang="zh-CN" altLang="zh-CN" dirty="0"/>
              <a:t>模式中的功能模块相互独立，并且使用该模式的软件具有极高的可维护性、可扩展性和可复用性，因此，使用</a:t>
            </a:r>
            <a:r>
              <a:rPr lang="en-US" altLang="zh-CN" dirty="0">
                <a:solidFill>
                  <a:srgbClr val="009ED6"/>
                </a:solidFill>
              </a:rPr>
              <a:t>MVC</a:t>
            </a:r>
            <a:r>
              <a:rPr lang="zh-CN" altLang="zh-CN" dirty="0"/>
              <a:t>开发模式的</a:t>
            </a:r>
            <a:r>
              <a:rPr lang="en-US" altLang="zh-CN" dirty="0">
                <a:solidFill>
                  <a:srgbClr val="009ED6"/>
                </a:solidFill>
              </a:rPr>
              <a:t>Web</a:t>
            </a:r>
            <a:r>
              <a:rPr lang="zh-CN" altLang="zh-CN" dirty="0"/>
              <a:t>应用越来越受到欢迎。</a:t>
            </a:r>
            <a:endParaRPr lang="en-US" altLang="zh-CN" dirty="0"/>
          </a:p>
          <a:p>
            <a:pPr marL="285750" indent="-285750">
              <a:lnSpc>
                <a:spcPct val="150000"/>
              </a:lnSpc>
              <a:buFont typeface="Calibri" panose="020F0502020204030204" pitchFamily="34" charset="0"/>
              <a:buChar char="–"/>
            </a:pPr>
            <a:r>
              <a:rPr lang="en-US" altLang="zh-CN" dirty="0"/>
              <a:t> </a:t>
            </a:r>
            <a:r>
              <a:rPr lang="zh-CN" altLang="zh-CN" dirty="0" smtClean="0"/>
              <a:t>接下来</a:t>
            </a:r>
            <a:r>
              <a:rPr lang="zh-CN" altLang="zh-CN" dirty="0"/>
              <a:t>按照</a:t>
            </a:r>
            <a:r>
              <a:rPr lang="en-US" altLang="zh-CN" dirty="0">
                <a:solidFill>
                  <a:srgbClr val="009ED6"/>
                </a:solidFill>
              </a:rPr>
              <a:t>JSP Model 2</a:t>
            </a:r>
            <a:r>
              <a:rPr lang="zh-CN" altLang="zh-CN" dirty="0"/>
              <a:t>的模型思想编写一个</a:t>
            </a:r>
            <a:r>
              <a:rPr lang="zh-CN" altLang="zh-CN" dirty="0">
                <a:solidFill>
                  <a:srgbClr val="009ED6"/>
                </a:solidFill>
              </a:rPr>
              <a:t>用户注册</a:t>
            </a:r>
            <a:r>
              <a:rPr lang="zh-CN" altLang="zh-CN" dirty="0"/>
              <a:t>的程序</a:t>
            </a:r>
            <a:r>
              <a:rPr lang="zh-CN" altLang="en-US" dirty="0"/>
              <a:t>，程序中各组件如下</a:t>
            </a:r>
          </a:p>
        </p:txBody>
      </p:sp>
      <p:graphicFrame>
        <p:nvGraphicFramePr>
          <p:cNvPr id="15" name="对象 14"/>
          <p:cNvGraphicFramePr>
            <a:graphicFrameLocks noChangeAspect="1"/>
          </p:cNvGraphicFramePr>
          <p:nvPr>
            <p:extLst>
              <p:ext uri="{D42A27DB-BD31-4B8C-83A1-F6EECF244321}">
                <p14:modId xmlns:p14="http://schemas.microsoft.com/office/powerpoint/2010/main" val="3269458799"/>
              </p:ext>
            </p:extLst>
          </p:nvPr>
        </p:nvGraphicFramePr>
        <p:xfrm>
          <a:off x="2007791" y="4244751"/>
          <a:ext cx="4876800" cy="1560513"/>
        </p:xfrm>
        <a:graphic>
          <a:graphicData uri="http://schemas.openxmlformats.org/presentationml/2006/ole">
            <mc:AlternateContent xmlns:mc="http://schemas.openxmlformats.org/markup-compatibility/2006">
              <mc:Choice xmlns:v="urn:schemas-microsoft-com:vml" Requires="v">
                <p:oleObj spid="_x0000_s3152" name="Visio" r:id="rId5" imgW="2357095" imgH="755752" progId="Visio.Drawing.11">
                  <p:embed/>
                </p:oleObj>
              </mc:Choice>
              <mc:Fallback>
                <p:oleObj name="Visio" r:id="rId5" imgW="2357095" imgH="755752"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7791" y="4244751"/>
                        <a:ext cx="4876800"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标题 1"/>
          <p:cNvSpPr>
            <a:spLocks noChangeArrowheads="1"/>
          </p:cNvSpPr>
          <p:nvPr/>
        </p:nvSpPr>
        <p:spPr bwMode="auto">
          <a:xfrm>
            <a:off x="1643733" y="389681"/>
            <a:ext cx="7392763"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en-US" altLang="zh-CN" sz="2400" b="1" dirty="0">
                <a:solidFill>
                  <a:srgbClr val="006BA9"/>
                </a:solidFill>
                <a:latin typeface="微软雅黑" pitchFamily="34" charset="-122"/>
                <a:ea typeface="微软雅黑" pitchFamily="34" charset="-122"/>
                <a:sym typeface="宋体" charset="-122"/>
              </a:rPr>
              <a:t>【</a:t>
            </a:r>
            <a:r>
              <a:rPr lang="zh-CN" altLang="en-US" sz="2400" b="1" dirty="0">
                <a:solidFill>
                  <a:srgbClr val="006BA9"/>
                </a:solidFill>
                <a:latin typeface="微软雅黑" pitchFamily="34" charset="-122"/>
                <a:ea typeface="微软雅黑" pitchFamily="34" charset="-122"/>
                <a:sym typeface="宋体" charset="-122"/>
              </a:rPr>
              <a:t>任务</a:t>
            </a:r>
            <a:r>
              <a:rPr lang="en-US" altLang="zh-CN" sz="2400" b="1" dirty="0">
                <a:solidFill>
                  <a:srgbClr val="006BA9"/>
                </a:solidFill>
                <a:latin typeface="微软雅黑" pitchFamily="34" charset="-122"/>
                <a:ea typeface="微软雅黑" pitchFamily="34" charset="-122"/>
                <a:sym typeface="宋体" charset="-122"/>
              </a:rPr>
              <a:t>11-1</a:t>
            </a:r>
            <a:r>
              <a:rPr lang="en-US" altLang="zh-CN" sz="2400" b="1" dirty="0" smtClean="0">
                <a:solidFill>
                  <a:srgbClr val="006BA9"/>
                </a:solidFill>
                <a:latin typeface="微软雅黑" pitchFamily="34" charset="-122"/>
                <a:ea typeface="微软雅黑" pitchFamily="34" charset="-122"/>
                <a:sym typeface="宋体" charset="-122"/>
              </a:rPr>
              <a:t>】</a:t>
            </a:r>
            <a:r>
              <a:rPr lang="zh-CN" altLang="en-US" sz="2400" b="1" dirty="0" smtClean="0">
                <a:solidFill>
                  <a:srgbClr val="006BA9"/>
                </a:solidFill>
                <a:latin typeface="微软雅黑" pitchFamily="34" charset="-122"/>
                <a:ea typeface="微软雅黑" pitchFamily="34" charset="-122"/>
                <a:sym typeface="宋体" charset="-122"/>
              </a:rPr>
              <a:t>按照</a:t>
            </a:r>
            <a:r>
              <a:rPr lang="en-US" altLang="zh-CN" sz="2400" b="1" dirty="0">
                <a:solidFill>
                  <a:srgbClr val="006BA9"/>
                </a:solidFill>
                <a:latin typeface="微软雅黑" pitchFamily="34" charset="-122"/>
                <a:ea typeface="微软雅黑" pitchFamily="34" charset="-122"/>
                <a:sym typeface="宋体" charset="-122"/>
              </a:rPr>
              <a:t>Model2</a:t>
            </a:r>
            <a:r>
              <a:rPr lang="zh-CN" altLang="en-US" sz="2400" b="1" dirty="0">
                <a:solidFill>
                  <a:srgbClr val="006BA9"/>
                </a:solidFill>
                <a:latin typeface="微软雅黑" pitchFamily="34" charset="-122"/>
                <a:ea typeface="微软雅黑" pitchFamily="34" charset="-122"/>
                <a:sym typeface="宋体" charset="-122"/>
              </a:rPr>
              <a:t>思想实现用户注册功能</a:t>
            </a:r>
          </a:p>
        </p:txBody>
      </p:sp>
    </p:spTree>
    <p:custDataLst>
      <p:tags r:id="rId2"/>
    </p:custDataLst>
    <p:extLst>
      <p:ext uri="{BB962C8B-B14F-4D97-AF65-F5344CB8AC3E}">
        <p14:creationId xmlns:p14="http://schemas.microsoft.com/office/powerpoint/2010/main" val="22857157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1" nodeType="clickEffect">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presetID="1" presetClass="exit" presetSubtype="0" fill="hold" nodeType="withEffect">
                                  <p:stCondLst>
                                    <p:cond delay="0"/>
                                  </p:stCondLst>
                                  <p:childTnLst>
                                    <p:set>
                                      <p:cBhvr>
                                        <p:cTn id="17" dur="1" fill="hold">
                                          <p:stCondLst>
                                            <p:cond delay="0"/>
                                          </p:stCondLst>
                                        </p:cTn>
                                        <p:tgtEl>
                                          <p:spTgt spid="15"/>
                                        </p:tgtEl>
                                        <p:attrNameLst>
                                          <p:attrName>style.visibility</p:attrName>
                                        </p:attrNameLst>
                                      </p:cBhvr>
                                      <p:to>
                                        <p:strVal val="hidden"/>
                                      </p:to>
                                    </p:set>
                                  </p:childTnLst>
                                </p:cTn>
                              </p:par>
                              <p:par>
                                <p:cTn id="18" presetID="22" presetClass="entr" presetSubtype="8" fill="hold" grpId="0" nodeType="with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par>
                                <p:cTn id="33" presetID="22" presetClass="entr" presetSubtype="8" fill="hold"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par>
                                <p:cTn id="36" presetID="22" presetClass="entr" presetSubtype="8"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left)">
                                      <p:cBhvr>
                                        <p:cTn id="5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p:bldP spid="10" grpId="0" animBg="1"/>
      <p:bldP spid="11" grpId="0"/>
      <p:bldP spid="12" grpId="0"/>
      <p:bldP spid="13" grpId="0"/>
      <p:bldP spid="14" grpId="0"/>
      <p:bldP spid="14"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0513" y="2676525"/>
            <a:ext cx="2447925"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a:grpSpLocks/>
          </p:cNvGrpSpPr>
          <p:nvPr/>
        </p:nvGrpSpPr>
        <p:grpSpPr bwMode="auto">
          <a:xfrm>
            <a:off x="2504492" y="1115770"/>
            <a:ext cx="5379876" cy="4401462"/>
            <a:chOff x="2488655" y="2668586"/>
            <a:chExt cx="5056972" cy="4670669"/>
          </a:xfrm>
        </p:grpSpPr>
        <p:sp>
          <p:nvSpPr>
            <p:cNvPr id="4" name="圆角矩形 1"/>
            <p:cNvSpPr>
              <a:spLocks noChangeArrowheads="1"/>
            </p:cNvSpPr>
            <p:nvPr/>
          </p:nvSpPr>
          <p:spPr bwMode="auto">
            <a:xfrm>
              <a:off x="2488655" y="2668586"/>
              <a:ext cx="5056972" cy="4670669"/>
            </a:xfrm>
            <a:prstGeom prst="roundRect">
              <a:avLst>
                <a:gd name="adj" fmla="val 16667"/>
              </a:avLst>
            </a:prstGeom>
            <a:noFill/>
            <a:ln w="31750">
              <a:solidFill>
                <a:srgbClr val="006BA9"/>
              </a:solidFill>
              <a:prstDash val="dash"/>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pPr algn="ctr"/>
              <a:endParaRPr lang="zh-CN" altLang="en-US"/>
            </a:p>
          </p:txBody>
        </p:sp>
        <p:sp>
          <p:nvSpPr>
            <p:cNvPr id="5" name="矩形 2"/>
            <p:cNvSpPr>
              <a:spLocks noChangeArrowheads="1"/>
            </p:cNvSpPr>
            <p:nvPr/>
          </p:nvSpPr>
          <p:spPr bwMode="auto">
            <a:xfrm>
              <a:off x="2604547" y="2832159"/>
              <a:ext cx="4805708" cy="412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457200">
                <a:lnSpc>
                  <a:spcPct val="20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本章本章首先讲解了</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JSP</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的两种开发模型</a:t>
              </a:r>
              <a:r>
                <a:rPr lang="en-US" altLang="zh-CN"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JSP Model1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JSP Model2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，然后介绍了</a:t>
              </a:r>
              <a:r>
                <a:rPr lang="en-US" altLang="zh-CN"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MVC</a:t>
              </a:r>
              <a:r>
                <a:rPr lang="zh-CN" altLang="en-US"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设计模式</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的思想，最后通过用户注册案例帮助大家掌握</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JSP</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开发模型中</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JSP Model2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的应用</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smtClean="0">
                <a:latin typeface="微软雅黑" panose="020B0503020204020204" pitchFamily="34" charset="-122"/>
                <a:ea typeface="微软雅黑" panose="020B0503020204020204" pitchFamily="34" charset="-122"/>
                <a:cs typeface="Times New Roman" panose="02020603050405020304" pitchFamily="18" charset="0"/>
              </a:endParaRPr>
            </a:p>
            <a:p>
              <a:pPr indent="457200">
                <a:lnSpc>
                  <a:spcPct val="200000"/>
                </a:lnSpc>
              </a:pP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通过</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本章的学习，大家应该对</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JSP</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开发模型的工作原理有所了解，学会使用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JSP Model2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的思想开发程序，并对</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MVC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设计模式的思想有所了解。</a:t>
              </a:r>
              <a:endParaRPr lang="en-US" altLang="zh-CN" dirty="0">
                <a:ea typeface="微软雅黑" pitchFamily="34" charset="-122"/>
              </a:endParaRPr>
            </a:p>
          </p:txBody>
        </p:sp>
      </p:grpSp>
      <p:sp>
        <p:nvSpPr>
          <p:cNvPr id="6" name="标题 1"/>
          <p:cNvSpPr>
            <a:spLocks noChangeArrowheads="1"/>
          </p:cNvSpPr>
          <p:nvPr/>
        </p:nvSpPr>
        <p:spPr bwMode="auto">
          <a:xfrm>
            <a:off x="1643733" y="389681"/>
            <a:ext cx="4944491" cy="561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marL="571500" indent="-571500"/>
            <a:r>
              <a:rPr lang="zh-CN" altLang="en-US" sz="3200" b="1" smtClean="0">
                <a:solidFill>
                  <a:srgbClr val="006BA9"/>
                </a:solidFill>
                <a:latin typeface="微软雅黑" pitchFamily="34" charset="-122"/>
                <a:ea typeface="微软雅黑" pitchFamily="34" charset="-122"/>
                <a:sym typeface="宋体" charset="-122"/>
              </a:rPr>
              <a:t>本章小</a:t>
            </a:r>
            <a:r>
              <a:rPr lang="zh-CN" altLang="en-US" sz="3200" b="1">
                <a:solidFill>
                  <a:srgbClr val="006BA9"/>
                </a:solidFill>
                <a:latin typeface="微软雅黑" pitchFamily="34" charset="-122"/>
                <a:ea typeface="微软雅黑" pitchFamily="34" charset="-122"/>
                <a:sym typeface="宋体" charset="-122"/>
              </a:rPr>
              <a:t>结</a:t>
            </a:r>
            <a:endParaRPr lang="zh-CN" altLang="en-US" sz="3200" b="1" dirty="0">
              <a:solidFill>
                <a:srgbClr val="006BA9"/>
              </a:solidFill>
              <a:latin typeface="微软雅黑" pitchFamily="34" charset="-122"/>
              <a:ea typeface="微软雅黑" pitchFamily="34" charset="-122"/>
              <a:sym typeface="宋体" charset="-122"/>
            </a:endParaRPr>
          </a:p>
        </p:txBody>
      </p:sp>
    </p:spTree>
    <p:custDataLst>
      <p:tags r:id="rId1"/>
    </p:custDataLst>
    <p:extLst>
      <p:ext uri="{BB962C8B-B14F-4D97-AF65-F5344CB8AC3E}">
        <p14:creationId xmlns:p14="http://schemas.microsoft.com/office/powerpoint/2010/main" val="6064520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bwMode="auto">
          <a:xfrm>
            <a:off x="481013" y="1300163"/>
            <a:ext cx="7975600" cy="4721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571500" indent="-571500" eaLnBrk="1" hangingPunct="1">
              <a:buFont typeface="Wingdings" pitchFamily="2" charset="2"/>
              <a:buNone/>
            </a:pPr>
            <a:r>
              <a:rPr lang="zh-CN" altLang="en-US" sz="2400" b="1" dirty="0">
                <a:solidFill>
                  <a:srgbClr val="006BA9"/>
                </a:solidFill>
                <a:latin typeface="微软雅黑" pitchFamily="34" charset="-122"/>
                <a:ea typeface="微软雅黑" pitchFamily="34" charset="-122"/>
                <a:sym typeface="宋体" charset="-122"/>
              </a:rPr>
              <a:t>✎ </a:t>
            </a:r>
            <a:r>
              <a:rPr lang="zh-CN" altLang="en-US" sz="2400" b="1" dirty="0" smtClean="0">
                <a:solidFill>
                  <a:srgbClr val="006BA9"/>
                </a:solidFill>
                <a:latin typeface="微软雅黑" pitchFamily="34" charset="-122"/>
                <a:ea typeface="微软雅黑" pitchFamily="34" charset="-122"/>
                <a:sym typeface="宋体" charset="-122"/>
              </a:rPr>
              <a:t>本章作业 </a:t>
            </a:r>
          </a:p>
          <a:p>
            <a:pPr lvl="1">
              <a:lnSpc>
                <a:spcPct val="150000"/>
              </a:lnSpc>
              <a:defRPr/>
            </a:pPr>
            <a:r>
              <a:rPr lang="zh-CN" altLang="en-US" sz="2400" dirty="0">
                <a:solidFill>
                  <a:prstClr val="black"/>
                </a:solidFill>
              </a:rPr>
              <a:t>简述什么是</a:t>
            </a:r>
            <a:r>
              <a:rPr lang="en-US" altLang="zh-CN" sz="2400" dirty="0">
                <a:solidFill>
                  <a:prstClr val="black"/>
                </a:solidFill>
              </a:rPr>
              <a:t>MVC</a:t>
            </a:r>
            <a:r>
              <a:rPr lang="zh-CN" altLang="en-US" sz="2400" dirty="0">
                <a:solidFill>
                  <a:prstClr val="black"/>
                </a:solidFill>
              </a:rPr>
              <a:t>设计</a:t>
            </a:r>
            <a:r>
              <a:rPr lang="zh-CN" altLang="en-US" sz="2400" dirty="0" smtClean="0">
                <a:solidFill>
                  <a:prstClr val="black"/>
                </a:solidFill>
              </a:rPr>
              <a:t>模式。</a:t>
            </a:r>
            <a:endParaRPr lang="zh-CN" altLang="en-US" sz="2400" dirty="0">
              <a:solidFill>
                <a:prstClr val="black"/>
              </a:solidFill>
            </a:endParaRPr>
          </a:p>
          <a:p>
            <a:pPr lvl="1">
              <a:lnSpc>
                <a:spcPct val="150000"/>
              </a:lnSpc>
              <a:defRPr/>
            </a:pPr>
            <a:r>
              <a:rPr lang="zh-CN" altLang="en-US" sz="2400" dirty="0">
                <a:solidFill>
                  <a:prstClr val="black"/>
                </a:solidFill>
              </a:rPr>
              <a:t>简述</a:t>
            </a:r>
            <a:r>
              <a:rPr lang="en-US" altLang="zh-CN" sz="2400" dirty="0">
                <a:solidFill>
                  <a:prstClr val="black"/>
                </a:solidFill>
              </a:rPr>
              <a:t>MVC</a:t>
            </a:r>
            <a:r>
              <a:rPr lang="zh-CN" altLang="en-US" sz="2400" dirty="0">
                <a:solidFill>
                  <a:prstClr val="black"/>
                </a:solidFill>
              </a:rPr>
              <a:t>设计模式中模型</a:t>
            </a:r>
            <a:r>
              <a:rPr lang="en-US" altLang="zh-CN" sz="2400" dirty="0">
                <a:solidFill>
                  <a:prstClr val="black"/>
                </a:solidFill>
              </a:rPr>
              <a:t>(Model)</a:t>
            </a:r>
            <a:r>
              <a:rPr lang="zh-CN" altLang="en-US" sz="2400" dirty="0">
                <a:solidFill>
                  <a:prstClr val="black"/>
                </a:solidFill>
              </a:rPr>
              <a:t>模块的</a:t>
            </a:r>
            <a:r>
              <a:rPr lang="zh-CN" altLang="en-US" sz="2400" dirty="0" smtClean="0">
                <a:solidFill>
                  <a:prstClr val="black"/>
                </a:solidFill>
              </a:rPr>
              <a:t>作用。</a:t>
            </a:r>
            <a:endParaRPr lang="en-US" altLang="zh-CN" sz="2400" dirty="0" smtClean="0">
              <a:solidFill>
                <a:prstClr val="black"/>
              </a:solidFill>
            </a:endParaRPr>
          </a:p>
          <a:p>
            <a:pPr marL="571500" lvl="1" indent="-571500" eaLnBrk="1" hangingPunct="1">
              <a:lnSpc>
                <a:spcPct val="150000"/>
              </a:lnSpc>
              <a:buFontTx/>
              <a:buNone/>
              <a:defRPr/>
            </a:pPr>
            <a:r>
              <a:rPr lang="zh-CN" altLang="en-US" sz="2400" b="1" dirty="0" smtClean="0">
                <a:solidFill>
                  <a:srgbClr val="006BA9"/>
                </a:solidFill>
                <a:latin typeface="微软雅黑" pitchFamily="34" charset="-122"/>
                <a:ea typeface="微软雅黑" pitchFamily="34" charset="-122"/>
                <a:sym typeface="宋体" charset="-122"/>
              </a:rPr>
              <a:t>✎ </a:t>
            </a:r>
            <a:r>
              <a:rPr lang="zh-CN" altLang="en-US" sz="2400" b="1" dirty="0" smtClean="0">
                <a:solidFill>
                  <a:srgbClr val="006BA9"/>
                </a:solidFill>
                <a:latin typeface="微软雅黑" pitchFamily="34" charset="-122"/>
                <a:ea typeface="微软雅黑" pitchFamily="34" charset="-122"/>
              </a:rPr>
              <a:t>预习作业</a:t>
            </a:r>
            <a:endParaRPr lang="en-US" altLang="zh-CN" sz="2400" b="1" dirty="0" smtClean="0">
              <a:solidFill>
                <a:srgbClr val="006BA9"/>
              </a:solidFill>
              <a:latin typeface="微软雅黑" pitchFamily="34" charset="-122"/>
              <a:ea typeface="微软雅黑" pitchFamily="34" charset="-122"/>
            </a:endParaRPr>
          </a:p>
          <a:p>
            <a:pPr lvl="1">
              <a:lnSpc>
                <a:spcPct val="150000"/>
              </a:lnSpc>
              <a:defRPr/>
            </a:pPr>
            <a:r>
              <a:rPr lang="zh-CN" altLang="en-US" sz="2400" dirty="0" smtClean="0">
                <a:solidFill>
                  <a:prstClr val="black"/>
                </a:solidFill>
              </a:rPr>
              <a:t>要实现文件上传，通常需要完成哪两项操作？</a:t>
            </a:r>
            <a:endParaRPr lang="zh-CN" altLang="en-US" sz="2400" dirty="0">
              <a:solidFill>
                <a:prstClr val="black"/>
              </a:solidFill>
            </a:endParaRPr>
          </a:p>
          <a:p>
            <a:pPr lvl="1">
              <a:lnSpc>
                <a:spcPct val="150000"/>
              </a:lnSpc>
              <a:defRPr/>
            </a:pPr>
            <a:r>
              <a:rPr lang="zh-CN" altLang="en-US" sz="2400" dirty="0" smtClean="0">
                <a:solidFill>
                  <a:prstClr val="black"/>
                </a:solidFill>
              </a:rPr>
              <a:t>文件下载的原理。</a:t>
            </a:r>
            <a:endParaRPr lang="zh-CN" altLang="en-US" sz="2400" dirty="0">
              <a:solidFill>
                <a:prstClr val="black"/>
              </a:solidFill>
            </a:endParaRPr>
          </a:p>
        </p:txBody>
      </p:sp>
    </p:spTree>
    <p:custDataLst>
      <p:tags r:id="rId1"/>
    </p:custDataLst>
    <p:extLst>
      <p:ext uri="{BB962C8B-B14F-4D97-AF65-F5344CB8AC3E}">
        <p14:creationId xmlns:p14="http://schemas.microsoft.com/office/powerpoint/2010/main" val="35128252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8988405"/>
      </p:ext>
    </p:extLst>
  </p:cSld>
  <p:clrMapOvr>
    <a:masterClrMapping/>
  </p:clrMapOvr>
  <p:transition spd="slow"/>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5CBE7349-0046-4B89-870E-40D5B074CB55"/>
  <p:tag name="ISPRING_SCORM_RATE_SLIDES" val="1"/>
  <p:tag name="ISPRING_SCORM_RATE_QUIZZES" val="0"/>
  <p:tag name="ISPRING_SCORM_PASSING_SCORE" val="100.0000000000"/>
  <p:tag name="ISPRINGONLINEFOLDERID" val="0"/>
  <p:tag name="ISPRINGONLINEFOLDERPATH" val="Content List"/>
  <p:tag name="ISPRINGCLOUDFOLDERID" val="0"/>
  <p:tag name="ISPRINGCLOUDFOLDERPATH" val="Content List"/>
  <p:tag name="ISPRING_PLAYERS_CUSTOMIZATION" val="UEsDBBQAAgAIAMWLWEkYJkPyLgQAAH8OAAAdAAAAdW5pdmVyc2FsL2NvbW1vbl9tZXNzYWdlcy5sbmetl19v21QUwN8n7TtcWRqCB7INadMk0kw38W1izbEz+6Z/QMi6je8ya45vsZ2w8jQQTBQJbdIGGmNQFZUWiRHQJNBYYZ+mcbonvgLHdrIlGRC73YOlXCvnd/4fn1u8eL3joh73A0d4C9LZwhkJca8lbMdrL0hNuvjmBQkFIfNs5gqPL0iekNDF0skTRZd57S5rc/h98gRCxQ4PAjgGpfj04owce0FqlK2KXm9gbdVS9apulZWqVKqIzjrzNpAq2uL1t85fuH723Pk3iqdHclkwZh2r6jQIJaRzZzKANGroqgU0oloaWaFS6bV2+Pbsk4+jN6mqaEQqDXb2hk8eHe7dHHzzNB+iYZAlMMUF9TPPXE7TMIhGLVNVZGIppqXpNAmYSiiRpVJ075fB7d3h/t5w/+eDx58fPL4RPdwe3v8k+u3W4d5nh/1fB399+fefW/PUyAZeVrSqRXVdNS2iyeM3Umm4fyf6dmt4d3/48G5OjIFNYoCNd3affb1zBFkrKYVUPNq8ET3YzAepKdWaCg+NrXj2072DJ/18gAbRIADz/a4T08RVYpX1FUgQVMrt3Twi+iXQst0f9O/nkVolZpL/eTIaXlKqmCq6FtePQUxqKJWkeFZFF7WYh4TnbiDWaoEcWvd5zxHdAN70HP4Bt1HgOjYP8mkxyeUmlK2C1VTLVdbjKBQJcgREjofCqxy1nR4HE3yb+/N0QBtViByn53JTecdaxIpKZAvyJevLFk3aPVbGfI48ESLmuiJ2APQyu8e8FkdrvMW6AUcb8DfbsZO/rTNwO7bk/a7zIWJhah86NWo5TSYrpwrHM02hKsyPZeZ7MIJzoqYa/mVnO90APA1D3lkP53kxEYnCK7HiuH41sGn+p1NZ8nJMj2b053XHhBInBnz5oOXLjsguQepQH1KJdJjjZpdStEVQ1PB5wL2Q+0jxruTQqekjgCbQURlLEPkpE5YgIznkl0nZVGgcY74WOCGfJ5kkKs33v9dIC9YEl4f8RZ2s8SsC+t/lrAdJhPdOkBZO4QjKchXEeLLGI3ByTo8oGhjUZiGsZAhMcp0O+G9nYDbrZBzBdLxOReIVff//T09qfvTR94OdL1LsPJpJsFGpWRWsVQiU+eDWV9HvWYWgTGNjVGpaKi7H4tGjbfjyRx//GG39EG0+BecGNz8d9P/ICEw3MJksYoCOo5aQCoVCRsasRakhsBh99yAXATownjvkOeldTYQ8eG8ehOLytFxyyCI1Wl7HcnlW2CTxo/BhSnGlVofagJ3D4IHo+q35O8EkoY6NSzABkr1KKtWZfw3GBxXCzUVJ/I5HWJhP+5F2+EnA8aZw7DVVGhaW5eSWA/cb12ldS79eNmLJHIuvOy5cd7LCKjWswYiZ4XHbCXMCk6k+bnfov/Q8rrR4aXtpyD8/BclVsXh64ub4D1BLAwQUAAIACADFi1hJCswVnxYEAAALEAAAJwAAAHVuaXZlcnNhbC9mbGFzaF9wdWJsaXNoaW5nX3NldHRpbmdzLnhtbNVXUW8bRRB+969YHSpv9SVtQtJwdhUltmrhOKE+RCuEovXdxLdkb/e43bPrPhVUKoqEqISQUKiogkrCAwRUCakQ6I9BtZ03/gJzPseJY6ecVQVSWSfrZr/5dmZ29ttb6+otn5MGhIpJkTOms1MGAeFIl4l6znjHLl6cN4jSVLiUSwE5Q0iDXM1nrCCqcaa8KmiNUEWQRqiFQOcMT+tgwTSbzWaWqSCMRyWPNPKrrCN9MwhBgdAQmgGnLfzTrQCUkc9kCLES04p0Iw6EuRiCYHF0lBc5VZ5hJrAadTbroYyEuyS5DElYr+WM1+YX498hJqFaZj6IODmVR2Ns1gvUdVkcD+VVdhuIB6zuYeBzMwZpMld7OePy1KWYBuHmKE2PPEmCxjRLErMRus/vg6Yu1TR5TSbUcEurQ0NicluC+syxcYTEBcgZy/Z6tVxaLqxXVu1Cdf2avVJOYpjAyS7csCdwskt2uTAJPi39tZtrhevlUuWtdXt1tWyX1o68sKJDBbHM4YpZWFkZhQ4MCmZpL/JrgjKO3XaijAo09iunYR1sWWS4ihuUKzDIBwHU344oZ7qFbT2Fbb0JECyqABx9PV62nKHDCIwjuoQQA8O1HPTE7JVBT8zND6VuJrMfpTU2SotqTR0PmwdtvdAs87jpELYhxVBq8TupSe4OEgK/Bm6F+nBsT1Q3mSgictogG7gIHFNdDBnlBmEaU3cGziqqKc10bxcWjyMJcuFuB7JSHSmF49FQDVV8UPW48Z38exWpQb2flCIxnQbtfP1z+8FOd3+3u//T86efPX96p/PjdnfrbufXLw52Pz3Y+6X951d///EoDdVNGRE/UpqgmAQcNBDtAfkwYrdJDTZkCIQDbaDsoJ0pojhzITsRcUCVOiKlOuEgF5JNUKosF25cIFoS6jaocCYkx9UHP9BnwU8xdyFxCs5lE9xjFFgZh0YKSAthLnN7sDRpZv+HxXWoIFLwFqEOqoAiqLUNJiOFlgaDOLFeoCotn0cbENcidu67EiZ6mddxI+FkoQthGrap6UuXZ2bfmJu/spA1/7qzc/GFTn1lXOM0ni2RxqVTpTed1wkB/henF8jwiG9Rhn7cm+7IpOOPlr4EjoqEZcbiNV7LepJ7HqWs8+j7zv1n3f0vO98+TNXyT7Y7D+93Pv6h77h1t33vk/beb2l82493u78/Odi91/7mWRp8r/5pgK9z/ebJJ5VfHbEnnpT7PlW+D3bSwLrbe+29rVTzfvRd+/Hnibqkwb9LQ4HnwSsBreDRVe99VhI8vDjzGW7JV0KbTpOJl5e1/0SaXuozK9G1s5SmbDZ7Zl1w7qX/LMt7niqWvA0uRkM3Icsce+eMR3wmmI91jD9tBhfV/OzMFN6txg5lMsg2fIHPZ/4BUEsDBBQAAgAIAMWLWEkE5wPRtgIAAFMKAAAhAAAAdW5pdmVyc2FsL2ZsYXNoX3NraW5fc2V0dGluZ3MueG1slVZtT9swEP6+X1F13wl7LZNMJSidhMQGGojvTnJNrDp2ZDtl/ffzK7HbpM16Qqrvnsd3vreC5Jaw5YfZDBWccvEMShFWSaMJuhkpr+d5pxRnFwVnCpi6YFw0mM6XH3/aD8os8hyL70BM5WxwAb2bhf1MoXgf3xZGxggFb1rM9g+84hc5LraV4B0rz4ZW71sQlLCtRl7+WKzWow4okepeQZPEtL4yMo3SCpASTEjf10bOsijOgQZPl/YzkdO7Ov36A9qOSKIs7eaTkTFaiytIk3x1Y2Qcz/TtaVUWRk4TFPxVGvrls5FRKMV7EOnld1+NjDJ427X/0yOt4JVJaMo5XcR3DuW41ONnoro0cpZgHmQcna2CT499610E8l/juUdmXAWnTyavBwvBFD2nsFSiA5SFk7PJmr89dkrPByw3mEoNiFU96EkH/YQ7Ga5JdT3uD7wRVkYgr+gRr5x2DaxcvLHT1NATVqtbuyti7LsuilDAziujEHtlj/yt83qEjJQ98pmSEh4Z3R/BDy2OE2p8i301T6dfW4FhfQwJC6dgNZ4ezOTKyLVXBEzDS1hKE84LacCUDWVW50LKjmJCDO9IhRXh7JfB5Xv7GImyA4NvteHGQoooCkP9ZmPUWzqulz2n7eitaT+6X4X+ce48U3qJX8+xUrioG/2rJOczz9NTohMzz4YZZk1qOIh7tuERx/oeIzVYbEG8cE6numFcgZx6PXezNQZHWZQDlA1nGflLhtLPuiYHsdZVIxDaJtU5XE2qmuo/9UrgDcqUMGJ0TFXr6xgm710ZKXwLABZFHXrWHZyl6agiFHZAvTVS2AePvQxJ3aNj7XajHmCj4obzmkkd6RdF3ykxLjUMEF51XMMMZzm/hBXOpX1ZMvdhB/eDn2zlsMtM68XencK3UnKzth+nUCvNP5P/AFBLAwQUAAIACADFi1hJagDFHuoDAAAcDwAAJgAAAHVuaXZlcnNhbC9odG1sX3B1Ymxpc2hpbmdfc2V0dGluZ3MueG1s1Vfvb9tEGP6ev+JkNL7NbveDdsXJVLWpGpGlZTViE0LVxXexj53vjO+cLPs00JgYEmISQkJlYioaLR+goElIg8L+GLQk/ca/wHtxmi5NWxyxH0yRFfn1+z73Ps+9fmy7F69HHDVpopgURWvanrIQFb4kTARF6x1v6fSshZTGgmAuBS1aQlroYqngxmmdMxWuUa0hVSGAEWou1kUr1Dqec5xWq2UzFSfmquSpBnxl+zJy4oQqKjRNnJjjNvzpdkyVVSoUEHKz0CVJUk4RI9CCYKY7zJd1xC0ny6pj/1qQyFSQBcllgpKgXrRem503v/2cDGmRRVQYbqoEQRPWc5gQZtrBfI3doCikLAih75lzFmoxosOidXbqjIGBdGccpg+eccAGZkECGaEH+BHVmGCNs9NsQU2va7UfyEKkLXDEfA+uIMO/aC1662vVymJ5vbbildfWl71L1ayHCYq88hVvgiKv4lXLk+TnhV++ulq+XK3U3lr3VlaqXmX1oAoUHRHEdUYVc0FZmSY+HQrm6jCN6gIzDsN2SEZFNYwrx0lAPbnEYBcbmCtqoQ9iGrydYs50G6Z6Cqb6GqXxvIqpry+bbStaOkmpdQCXAUJjsJfDmTh/YTgTM7Mj1J1s9QNaR3bpYq2xH8LwQKzfmus8HdpPa0gxQs2co7rkZEioASpz4DKfMMwtxDRw84dXtVFALzEO+pvaabsh9Bg5P8SJGtFwqKMZZb/0Xk1qqt7PyGWh41K7X//cubvV293u7f705NFnTx7d7P642du41f31i73tT/d2fun8+dXff9zPA3VVpihKlUbgDjGnmiIdUvRhym6gOm3IhCJOcRN8BOJMIcUZofZEwDFW6gAU6wwDncrGulJbLF85hbREmDSx8CcEh/2kUayfBz4G7kLCEpzLFiVPQYAyPk4VRW1II4z00/LQtF/C5vpYICl4G2Ef7muFwD2bTKYKIk1GDbF+oyovXoib1GhhigeliIk+8wCeFrBYQmiSB21q+szZc+ffmJm9MGc7f93cOn1i0cDrVjk2q2Vmt3CsmearOmSp/1J0grGO1S7JJDKzScYWPfphMTC1cZNwHWMpR7tT30RfjDl173/fvfO4t/tl99t7uYb44Wb33p3uxz8MCjdudW5/0tn5LU9t58F27/eHe9u3O988zpPfVzRP4utcv3n4yFUXQO6hI+ednIvv3a08ab3Nnc7ORq51P/qu8+DzzC/y5L+LEwEO/0qk1uBhFPRf/RA8jjiLGNxkr4TbHHfj/3ejeiFmc/KrUGZFz9RsbNt+bvv68u35mQr2f9IgOxt+YIx8UbjOkd9uBYiPftGWCv8AUEsDBBQAAgAIAMWLWEkP5FkgmQEAAB0GAAAfAAAAdW5pdmVyc2FsL2h0bWxfc2tpbl9zZXR0aW5ncy5qc42UTW/CMAyG7/wKlF0nxD677YYGkyZxmDRu0w5pMaUiTaIkdDDEf18dvprWHcSX5u3T17ErZ9PploslrPvS3fhnv/8I914D1JxZwnWoixY9R51ZkU1hkuUgMgmshhSHT4/y9kRQxkx603j9iba24scUvplxYau4JiwMoVlCKwjth0qyosTfoLR9WbuSKn2Ol84p2UuUdCBdTyqTc8+wqze/qhXWYFWAOYPOeAKBaeRXG3lyfIgwqlyics3leqxS1Yt5skiNWsppW/75WoMp//hiB/Sfo9dRYCcy694d5PXEoyeMdlIbsBb2eR9HGCQseAyi4tv36x80MG4WVKOLzGbuQA9uMKq05ik0uvQ0wAgxWXo1uhlhNDkHK7cj7m4xAkLwNZiG1fAeIwCVXuoLfqA2KsWONNBmz4+oUHyayXSfuo9BcnhYtG3r3qlQf/whC0ZI1UZoToxp3nZzXDD2jhxcW8s6pmZeUKKkREUk1hRYkKdx9WsE919dxp3jyTwvb4fyaizbwM0CzEQpUR7/+9xBi6O4y9XZ/gFQSwMEFAACAAgAxYtYSRra6juqAAAAHwEAABoAAAB1bml2ZXJzYWwvaTE4bl9wcmVzZXRzLnhtbJ2PMQ/CIBCFd34FuV2wW9MA3UzcHHQ2FVFJ6NFw1PrzhdQYZ4dL7l3e915O9a8x8KdL5CNqaMQWuEMbrx7vGk7H3aYFTnnA6xAiOg0YgfeGKd+0eEiOXCZeIpA0PHKeOimXZRGeplQSKIY5l2ASNo6yzBhRVlJOKwor2/m/6M8NDGOcq8vsQ96jKXtRq4VTshoqc3YoPN4iyGpQ8uuuys6US0URSv48ZtgbUEsDBBQAAgAIAMWLWEl0Pke4XQAAAGIAAAAcAAAAdW5pdmVyc2FsL2xvY2FsX3NldHRpbmdzLnhtbBXKOw5AQBAA0N4pJtP7dQpLp9TgABMmIpmdEbvxuT26V7y6vb3AyUfYTB2WWYHAOtuy6epwGru0QgiRdCExZYdqCG2T1GIzycAxfjHALvTwMbL/ELkn/0++MG+SF1BLAwQUAAIACAB2uMNEzoIJN+wCAACICAAAFAAAAHVuaXZlcnNhbC9wbGF5ZXIueG1srVVNb9swDD2nwP6DoXutpF3XNJBbdAWKHdahQNZtt0C1GVuLbXmSXDf99aP8bc/pVmAHAzbF90jxkTS7ek5i5wmUFjL1yMKdEwdSXwYiDT3y8PX2eEmuLt8dsSzme1COCDySp8ICeEycALSvRGYQfM9N5JGewUVm4mRKSCXMHrnPkLuLtCTvjmbokmqPRMZkK0qLonCFRkQaahnnlkS7vkxopkBDakDRKg3iNNiV+Tsan0Sm1Owz0D1kZt4euCZpOZ61GJAUp65UIT2Zzxf0x93ntR9Bwo9Fqg1PfSAOVnJWlvKR+7s7GeQxaGubsSrJNRhjkyhtM2ZWYrFMHa18j1QOmwS05iFoN05DQissnQCzbcx1VPPoAa3l1TtR85Z+G/u9adxK5WjnnOWPsdARHvUhnXUSyOgwKkvK65Yd9NB00K1lIo6CX7lQEJSf39oWmS9IFbDtuDJPVxc+HuDbLfeNVPsbhGEX1Qq6rWhuJZpbgloOt42+7ihIc9stcJMraEo1Y08iAPmFK8VtW1walQOjI2ONpUMwo9WVa5E6QVhkkvjsH7SxfiNpfurXlCkB/0OYT0jU1kSkATzfCvQxkGBNDWCxrc01WezamF1OOn9Men09MFU51qLgRRzDVQg4hgE3nHZ2eggKimt08XM1wvYODoIjEUYxPmaSYXx6kCbhajfJ0Ds4CI6lv5uAtua2jHRcx1EztR3E6MQ6YX6ujUzES9megz1jVmUfvjZyzdF1JtqD8/kfoziI0QzmlkysLvvW21fN4b2dU6M7n01WWQbdivMAJs8qr2YW8mzkE8CW57G56efU7MMedJTz1HRMc33HfpfFWryAU4jA/ukWp7YmEdie8ciH5WmPAfXE7TIIX5qmIjJaS1KpeUg5hrV5ElBUmGpWPqLqoZJ5Goy0cbPu56Bj3FXXCrgTwxYzXZxg88nMI+/xpb7LxdlFd5XzxUWDLfO6rwJXubxhVdcJd51B635tL8LqmcfX31BLAwQUAAIACADFi1hJcYP8DhoIAADbHQAAKQAAAHVuaXZlcnNhbC9za2luX2N1c3RvbWl6YXRpb25fc2V0dGluZ3MueG1srVlbb+PGFX7vrxioSNG+WBfqZkQrgJeRTUSiFJG2d1sUAiWNZcIUqZIjex3oIS3aIBsgSICkRZqmXWyx3S3Q1C0CtEizbX7NWt485S/0DC8WScsyubsiCJhnzvedM2fOnLm44R4bljh3qT013tGpYVsqodSwJm7zBwg1RrZpOz2HuIS6+ZXkwLDG9qlsHdpMBlKX6tZYd8Yia3WbBdTyfqhe4+tSHb7KQrmEamVcwnUk4YoIbductM2J0CaVimIjn6DweR0yIhZdz9rIx1qvA2TLJQ6VrTG53+Ti2tGmeA92HH1sgJ7brJbZswitLqQye1C5WKlV8KLEcxxXRWJFKkqFRa22XeOLCBfKlQK3EOolrsShYqVS3K4uirVShYOv1nYVWMp4u4rKtXK5JC1KuARoxPOCVBIXNW67WOTBGq5vi4tWS6gVCqhYLHJlaVGpci2hgECbAw6eq7MAchIncNUFL/DFOodaYktolRdYwlWxguolXC0UFmVB4AqFVXBXvYuGayVN3Z0wnLcQrh2Cta0st/JrkqsxmjsOKGtkOjN1SpClT8mdnEVOc0FCeskbNod+xKW+EMQM3ARsI+/9FYo9u9HEj8qRMb6TG84pta2tkW1RcGbLsp2pbuaaP/RzI/A8DdI+IU4W3KE+IitzNe+XFhbYgnyFZxNoZE9nunXWtif21lAfHU8ce26NU7l5dDYjjmlYx6Bd2K6JeKMh03CpTMk05h+usyc9bAb1yCXMvSpmTyqkqQ+JGVoseL8MuJXJ2yOSgJ4YrkE9KF9kzyboTJ+Q+ADUefZsxlhgJT5qNfbcDqLkPgV1jk3v0kZ1Uz8jTtyIXw43ouzZfJY1n2aOPWHBjuNuH+grnGlDdbEmzMMCe1KBWAeZwVSjFITN67+UUAw+k7WkMQUrMLjR4hKIPMqeMBC7nR6v3Bu0uzvdgSDv5JqiPysRm5Y/LlXr94uV6k8a+QCXkknt8O12nAt5ZJVCOi5F63fbAyDE7YGC72q55o8m9M3km5mqu6e1ZQXnmhePn15+89WLp+9d/OHbzCy9Pt4Hh0xwIvGmodrr97GiDdS2LOGBrA6UruYFr401LOWay8/+cfHxk8tnTy+f/f351x88//rd5ZePLj//9fJfH714+v6L839e/O+33//3YQpLUp8/kJWdgdbtttUBVqRQkmtePvtk+ceHl58+u/zy0+xMfV7FffD0kyff/f7xy8EHXn74DMsH7y6/eJCZZ1fe2W3DqzFfvvvbZ8+/Oc/M0cMKBCNVDDpYVfkdPBC6d2HIIIM+fpIR1X0LbD06vzj/PCPwHla9vEgBU/h9eYfX5K7CUquPVa0vi15e3bPnaKRbyLbMM6SPRoBDsMCcGPbcBcmJQU7JGLmmMSZuZkMqfnsPklrm276hI/2EIGp7rAEnMixEjwiaGCcEvHDGxElhBqaaiCU2YG/vyT8dtHi5jaUBjKDUPRhoXmFg9nQHtmg2Rbpp2qwbYFofn+jWiKAhGelzl6AzUBsbY09tpkPnmTO/mBvvIJ36LqI3gjmpSPjuG1uv7J2staHSHOiOBUU5O1usLlzv8hT2muA6LPkzeltfIvHYel2OvIbe9XhVvbFracbo1fuVcOElOqVC3uM+rJ1QEwTDzgTCHciYXBNPdcPMBJSVFpjzjsiwwXcQO7dkIlC6AYdio1eg2YexiDmyD2OUjeIAC6qssaiTIduzpgB7o+fnwfrcYScLk8Cx7Sp/huTQhhphEv0ERhbkhusn1NbL2cuaKGElZvUyWtoDIgXcmngXIQgcM40p27yno93r4DCafjmOheT17SY2mfI7sfzlny8ef+gzpyBUMd8Xdwcir4gYJsHFR79b/jsDDjKYudTW1EGbFxjD8qtHsI9Y/uqvy4d/WT74Fnp58d5vLs7/k57T395JuMUDbxhBj2xrays9TdIv3x3Ycv3pi6wkMEtZncJXZD9TbErcn6fg0XghDvU+UgKDjXIIzbhd9hIiiCavaby424GcgU1Mn7j23Bml2mFESTp8/y2oFd6mLdfs6M4x1BrNts2sRF4MWNWjmX142bNDlOOVKziLgCb3BrwkeSctOGOZxujYXwjHSEfBpQoy4ciVgU/c5RUoSQlKMjZodk5vUQhrA0xT/ztMQrYpXLdGXAlWx1c4HttzGjsNW9SxzR67R7h+cQYK7NpjaJImdeawkIRfUQ33yD7tzqlpWKR5qJsuqEVFSdUe+NBj+8eAMi5LavfJqWGNI6qBIKm3b5vzKRH93kTdiDckYaIoePdsUcSV7JrnsLcPmiKur4RJfYXcp9f0I8KkvspWzy4cJq6Bki1RZHj3IehOVJ5m6ECHWDoIwwCHX3Ed5kGb3YG5EZcCQVxzao9J09sEaMaUsOGHHGSyqMP5GzxuWFdLdodhhmdqcHRKNKyyN785fRvUoCa5Obe9fsAMjI6+971uAgQ662aAf1ebDIYvRfRsRu7k4Fihj46m7LY8hwKOOzkWTv/6+ybcLCxnrJpFkJ43m6FTr6Z7JT2TSYtV8mymbH+ubwY18tfi1MhvGqFGQHvzAFrz6ZA4GHLAIGFyxmVR7SNjcmTCS/e9k3kcdkNjFE+PgNqCg0WIiQhiaUV0Z3QUzhX/I9o+nZvUMMkJMQOdiCASms29b7gwNzanNk/b5JBGkzuQZJ4DQaFbZWJUO95wI8w7x6zF+S3ZFh2qD12v92tqVbjyrIrVmrUorNEs2aNe+YJY2q6xBbo3hb+Rjy6yUKKu/QcrKQMo8N34/9v/A1BLAwQUAAIACADFi1hJM91K5mcaAADkRQAAFwAAAHVuaXZlcnNhbC91bml2ZXJzYWwucG5n7XwLVBPXvjc9nlbbqrTH26Ko5LT09OGDV0VUSFLrA6tVqqjIKxERUo0QlZd523KvtlVMrUqwlqS+eIdRkAQSkmhRUIPEB0kIIYkejJEMSYQwiZmQyU2gx6Keb63vrnXv/e5dH6ywZs1k//b+/V97//+Z2fP9V+tip7wR+Iafn9+UL1Yt3+Dn92qmn9+E3Emvea9EMQbmew+v5GyI/dyvtmNWn/fkz4Sla5f6+V1kvTmc9qr3/PXdqxJz/Pymtvj+X2kjVWz381tB/mL50o37cGZt6qHag4nIA9qH2P2ozx4f+fbdPbF1H/1FsODSD8D8HUu/n/95eFLge+fOFP88qXhr5LehlVsqDmz7fuGtlTPjibgLWdumzbV58Pfy2qILaps6ThKUlIgcbJv/VOXNZiCRWFvXgTnZU8A3FUXpFrlaoyR77A0A3dzDlg5n+Pn+pl7or2loUtqFFnOaXe9x6zUJPqn87sM7C1OXoDLxdEhhf/UV36VG6s5DaFSmnma7ZX91BNzo2nlMDEikSx1fjpxbJN3brVRLk7Gb8Cff+W6H4kMq3jF59MvZLfN8x8tHZ2SO9HekPezNkVbbDyT6jvuDP20fgc06mfau9/DXp6YEKcVuqgY4dIdIjz52Tvhq3jTTwtyo3ojJ9b6GhUwnm7mYarsVZW0P/2mIqciqmHlHe+TqSL9hTwEPDERPO/yBWCR8W2teNYqZ8MXqPEFw+MhIkz/4RPGs+Y/nNhZE/2WE4+XPftowDvgfBiisFOgoYH+DChdNhRQJcqQXi0zoOgl31wIDcBLXlB27rcTnltO/dBuZiFENAlKG/dEpko78wzn0JrwGisThwfgx3VGWl55zsyVKkebo9BGPfC3+QGLfgogRSrPUx9M2LykabRu7MKPkxLrgUU5H187IPH/v+gjZ3dtfhAiddCtVH021qwlypN/7yYpDQ53qHDm6wPi3vSOOvj/4VET76igRienSEFgY+LE6mBVzFz6GdR6LDl1MGBFiUd0nLTW5OdWxN5VPkib0B0ifXrMxcVVX+EGRyXIq3FdujYH+PoZcdnZk67oWkNJIH7gWYI1pkI+h98j+tJfFZc4shIIzBIq/Uk/G3gockffIrpthc7U9O3fzPLcTTBGhzw09Gos920Z64NM8XX3JM5qf/PamMdTmYHocBZy7zzUX3WQOgwY2XmLrxIzR0yltRLNSMGcLdi//QBfMKlTYVot7hq4n/aPJ7CXtylVDPTnyUk/za2dgo+FtqoZZnLsvko+BOuNJ/heO7fgl8nftdr7X0i+Qus22B9C1AHyMxxj4Nchl8z3z+mCF4yceUL2CTi2Ek6hDd2JDIzv+IaLpdmz7auEMRfA9Ve8udzP1knBkcrl/vWxy/V0zaQYhNDBj7v+NZf+jztBZDUgodhgE9M6PvqDWSFpBIr1KNPv7keG3hkHKZFIpHUzWL2EumH0h7gXv/J8esBtIzQOtajxiwHPciNWDqEnIIxLHfTfU/ZfdMoVqL32tSpVPLyoX/hFbodLhQXWhP2af/fIEf7/oTfheqAHzx7AllP6Lbd3vTexiPx/M5Evzfjnw/KW8CVMvxI2N5OzmV+w7xuhWURRliGUOxaqbLI5S+qmx0N61lQ8sJxJwaeUc2uAN+8tfh7dbTqXZF6z9Q9Yy4UDZ9EzHrTDqz2Vj5NHui59c78osQa99nsonB9T0T9s5ZZWW/A9G4/3Kxijdv7T0S2Zkxt37Q7dbq2aSfkjL10+uL3+B+7UwEemA+t6CMcoxtZ7aVqKNaunf8fM43XG6/wvpCsDJ9Sy0vavJQk725mUeOCQO6x7SyDUS2uAAi9lMh1eY6PShsyi0x7nCap0j5VzzThZP7ZpUKQIgJoCjwbjLSl6SV3O6pZ+AsZ20YaO8iz5Th2FWV4XnZc1YACypK66iwit2Hk7VyVdYAcZ8thuapwTqg9JVVuuPAirwsprMP6bZuR4nVy5BIIDr2ae+sgf+lB+0EDx6XuqgSgswO0NYK1MP3IKNlCbKySqqHoqAhik4camhT3M6l0wRyykw7J4nry5X2IpZGWT4DE6gswzyVTiG01AfSnvgXT3r6SKQnSwVp79sO413gRtcpTLfX1SpLNye2NpRxagpV/yauLO/Zr0NUuGxTBTEm2QyQpconk3iYZh+PHAZ+0pjay8kWLMFJ6lCge7QCTsri/Fx6PcbdXgxMsgvxjvO4JhkLeSXjAXYgGB9aH2MGFeO4VO4snsmo/bxP1XDEn16PnrRh4rBx3evReRuhtKnlCsiNiovJC57NLhQGF5Q3dppMIcEZ7ubZ2aC6XimVRW4hY2Pm1KmMZ4wcANA+RXYCDoEMWIMp4qRgmO6GEcyXnaTtlmZonK2gRy5XflrUwydvHxnEQ8agvY3NXdspru+pVwyDa7qyviz+YAauncTVt1rQLqEqkQPzc1nl6uwBfOBnC9f9l7RjZb+JDTwmirjl1Sc8f3I68rgbOKvPKblgDowW6U/mO8GE3EfJko7YGPAlPoAN3wk62VmBTklvPBct5x4j3vRQNY8qDtwLzCdzawlEb9KJ7qbkw7Irw3y/lR8sUFStBTdzWfoptTLBKu3BG1KDrYMDoTqy/OdytehPfP0QD4Pl0nenu2mkd0UptZRwmMRnE9NZAVlFqb45SBLJZTwYoFaqfizKacD0O/nUs49HmymuKGniS0ZU86sgfbKvkpq6YO5AdDAPMUkIY0G5av0pHyykwIP1kVeCAnFkwS6tg1RN4sDN4FmxSQRQut8KzkOMAJcHKplkJjEpLUt/KeR2YMbn7fG6Y7T/X9BN7K9Do8dmIa9g0jqSWO/m4iiXZi9ez+9EoDGyNKZzkIrjyy6LOlUwWOEMXmLL3tFYlcTHAiMbb/UBOI9sLoNiwzk334lWzBSL/9XlART+3y/t6gX70h91vb+jzsbqYYTCV2VH3Fpgx3WS0OFfyjk4HafPmv4Y3q44dN7Yhb4TMGzfhqxT7fyGZVFH4zYsYH3zGC7V43Ye2fymGFHFK3g/6G092b4DFKd9Yd2l0X4DLdZM07ofxUhX44UJXXeqpczERuBhUWeNhm5TKQjJ8RyksBZ7Lp9EJNr/8afdr8nmBWz17jYmgrtwRt6t0hp7n13ABGDLmh6fghfzoe4rFhUJpduV9vS7BHLHk7wj9mNyVSCx2HylAZrBrQnJWN5qpRWVKd3dhR0MCVm3288pVxtx/OqEVRPrY9chxl+0lKA9E08/15dUFpyaDy2Npl1JnJvyFmz/WgFRAlAk8gwnKXa0tzcMWg7D7k+8eYhEKM49s+hE/phA7EEJ9UazApZLRYFsujuwagX+Qr16fzXbspiTJeCwpNDE/R3tyYXnYQ+7qEwppwGY++FyKvDGzkOxCH1mPc0MCTedO/R9x9xFjFLA1eCbsU90NxpKzbRO8FOV4XKirEHfgWSZW0bsPjXlAYD2AYbq3DZZCYkKU7jt2ph52C4EpyH6l1b+7zxRB1hyS3pU45qYi/mK0qEk0siNyvB+S2ZRSJw4NLK25ST8EVcOUe6sSVbLA2MVsXhD3RXeXNh/d2I40pZJzg/dcEc1T4hsvBNiCKb3jOlXtuGU7i6JVJIput8QanLDqoztje3f6zZxFrOe6W+9VYgHjQmy94STv4VFJarwBpmShLSpItLTNIh/MA04lepQetFky+DbLyO6VhY7EiIA7gk7dCLvXrzwTlsptgToZAVeE4DBrxHP7UMLH4lt5KBIwEcCcKfFFlWiwoXZTuNlA92TfltjbZCyMOVYTooXG/fmFp4VqdNNd9Kcl3UF7/sBzJpFT6YUHTkkIGsvSw8XCYLjqsO3MTeU+Ca/7ZSnizhfeZurrpYr2uz90GTVBm54q9LvHXK4BII1oYlk4hovlI2X6ozhyUr2oSHr0LEFP8rIOsiRmL+jjrthWCrXdKu7Npy9uHmTS3GQVtW5Drlx4lnMyqv7HVnvVUczucI3O++Hnk8BBAwroJwH2Qvts4VuacrPSktO8RuQxZPr9sgLoXakgB8XDVrB9kJ73FOB9sMWdltusCjApKxTPV8KKcasch5+n9KfJuFLf31cgzVSLD2nykHH70w0uyIdsb9CahGW/0hJiJxiK0d8lyN6Xnpp87IDA1MVcVFtet0L5uBFTN43flYGLMkf8bWUAoFujot7hesmPZ4GWowa2r2vhfmljxU+CkGMmyTcz20GekgV+9BHFxPSlT9C6xx/vW+mUftduiZSO82dKfpkeIF5uklPFLahaBMmW+yshnBFxtowTS7jesZVrf4Y2mIzRStdx5Jsx94UQFL2vM9RwFLX+RVzJPLE4yeO0DgdtAJnt4cBbw0jfGRCTgIvY2Ym8oEug5xcOiBq9OMLbvQ326OEr3UeLOrdnzBGif030xIESZjuHuxSG+pfkffxPGbXuOAccA4YBwwDhgHjAPGAeOAccA4YBwwDhgHjAPGAeOAccA4YBwwDhgHjAP+vwU8tRRIqQTK0XMFCVFnnt1yeaIAGFC/S+9BSl9f+RMCCKfkBT+7sfOtkUO19BdF6Ro/vbbqrtq5tkJzW3tYFvbcDiu/+9dHR/aLzRy51eO3KOI/uEnrn3RR50JcUo9rZNfX/t7w/7wR1Utb+omAON/eJKdb+qdxn15VL/NH59rvF/rrFkF7FG0JKAK9WQtMGNnYdlHXJswyLazCr3H2E7DU82gejo8jkN2WLP1KiNjE1vz9xEE1G0fp609gGBK6/e1lVSwBxmJRjcATBn57M7Sna+Jc3fyGcgVQ74IAhayHz3tSZXLAEdxD1cLBMFdfHFPo9iMJ4UYRXp5Hf/Qpd7EKTQIDmAMBcom9ARCDfUxHAbPAHi21RRuD6EN3CtBcqlFN4NJdOZ7O+DhxLxnUsylNkE1pcuwiN5HoYLJ1n25wSIZIcEOEh9nNrKG9KOf12Fa8MY/n4V4VDWBxBzFzkDLaLN/unHXQfalowHFDcz+eC290Ld5Sze7DFZBMjuFs7BPbzZb+rNTLYK+FgVatn6Dyd9/2L2Wlam0Ci9SDFKB5K7UUStF+QyzjYWwHs0cyy7GSbiH+yJM75e4euRjdoXzaNIw7jvIMoKS7NwKqahSYBxqKjQruocBokCyTqwBNH3K4p8gRLk5xJ4FmFddAQWDIUkx1r3JRNOzFR6IMvT6b51dNfBgz/KTFrH/dUeWKqckD6hMgKjMKdTzPkMZ3/Zp9yKLKqQis2/nXahTxsQmXyVspzl5QHbuqtu0CJZlNpqbg6TpVMAGddKm1C3bmN9e8LWEAJmNkWaiUILsgak5xk7cELU1dZoTv8LDDLdieI6JDh5DDs2CMSXVhmEZpgiNDmRyrIox6OLYb/2j9wDNizOQ6l+g+J497sMGSZ69BJudyDy6bnul/aXiunj17A7ErmUUMGPhO3VupP2a2pk4pgXrzwwBuKCuTN5A7YyXxfgqubB4zaOdQDwZuQMiwWPxYfv209SwDx1x3TzZ/ghneUaAR046bzuhiHRJV9s02r5NfNsfr0y+5qPd1edxDo+PqmAKJvibN/nPx0RqqLgn9/h73d9fWFX0jOxvR5BDqRRkl2iPHIZu5MbGYjZ9Hqqc6F9B8HiK09taFsjES8LEkyPpvFjqQB+SE5lpneuNGU41AULxTUpesNabzqKXiatKO2/SQ2pth1LWyVUo0KSv6ME8xPUEedTMowUF14KbWazWhB9QyUOdIciwJgHxbaMwy/EqHxMu5UbzOgN2t6MOgiFrwl2/lDHu92dg7Z3K96tLh7VrbuxBQjh+KiLypdNj7JYKPHZvp0d9C0yVIUD00ZNC8cxxylKRWs/GSdz5LlHiI6Cxy8qE+avs65spaFybEtdcKhbkmMp9MJOCRQbacw0SchbF3RsS5l1e6nv+7RH0nCZwdHkvBHKH8hpdi+d/X4OENrsVNNY5dJdp8tTE11gE21com10cKQ/TH8qtbJQas8FLX1MyemRC59pu9TnGl/lAGjfegnoHfuQjfasuo4KHYr+S4l0D5ykJC0WlQpT5yltgnv/6e9SySgjOkk4EDaj1i1mOovo11tAbPr9Knh6Rf4xf2jShJM5WuJ2pdr3l9yU7uO88+Mqif23RDKJf52J1BdnVyj1pse2ccUBOrjhJnNIfUuVXXA2SCsK7VJJaoHKOCeH+6GXHV98xWLhmHXp1HhmEs0nCYL5PxmNbitxs4OOy6swS3pCAu9KCERTkl66KeZGUEHgSqXZR5eZdxdEgRje8jGLHWoHDXw2NxHCzAwbj9t3ldTahS21tnkn5hXdPKcJtHbUg3Ub/PZ1qj/6Y1Zng9In5vqTWKWPKqpckCXuycJFqA3tAguXZFGMoYOGTe1y22Nphl7POUU2siO3BGz9tmXZQ3aARr6P53LFaaar3/DyaOpITDLFXxpL1BsKPHklOvFHdULh5y3QrM/IZa66LUxEpDFB93i9v/foafnu1lpQwVVRTHPq7FlsH2Nxwm5iXfNmK1ZPAEcImpj+60IharxL3/V7PNZOXIpJ90o7/eQdFuYLJ50hZlIZcvr77IxwmC9m8kEVzDsscYrNcZvzSptvhfFj7uTcT4a/U37oFKm0mlKeqElkDkpIX7RTykPZfL9S6ajUYh0GZYfyFvd/krl5CzW0ET80vTWwWxfKqeqGGHagpTWFd5jj2l3jARk7y8sllxdFO8We+orULWiRDBCuL0FE4CE+BJ9Uo9thre4y7o7MtbI97lLqX0+TbA6Ri6iOshCpm2WtqbD3xayaI6I1Vtm84OUQIq8MYN7kBl8C6KFp41L0u6aZsbZssTxEUUdXbyoo3uk30Y7LSWebvleXjWGtDz4HGN5+C5bsT/TtKIKfs6L2KGmBdWj5oRLZSCqSuKvgffvoBkixDqI9gqlJ1dxP4mXJxddBTcs9d9/zy8B/1IWXhm5/1UnOMtrZHgNfc5Bg8i4lZ2GVRNMVKGGJLLgHpc9oyv74EhhY7BxTUoMIcfI8WgZIXXqmCnNvBrkVx+NSz6qYDpEtTHBpEfDkcReJzNchA3cZ/AAu6pPJLhGF6Blh7JdDd2ilNGI4KddyJY+7v6LFZKwsXh2fyVV7Knp1Yt9U5p8p9wBTNwxJIeJLWhVVbVenPIYZaZRsyYstndDeZcuERneDXzTZ4L/AJI5p7KaObJ1XYnZC9+UOCu6AEf+9S06+xKFXyLev+biR0Y+A6LQ+9PR1EP+jOfthCwtk+xOUjEa0nXvbY+P/Sd+hqMj33MwQsdYq9rZszzhGrt6y8FoKu8RvetoEH+6KGvXA6xrOpWBRIkmsyUnV3IfpsfNNDE2E50i3NmTPT6k4w38QYkrcOHxoeKDp+EFpqyFJoaI+qMa9i7lB1LMarCxNlNHUb7EpP8S4fz5PTMKBzZcKLet5UIi8ITT0ivf4R13rCxK9k8VZ/u3ScTtKrevR+Ak/Ll+iQEXwtfpDJGlffFbOv5JT2y6clYJZaEl/w+6/X2lXOzPZKCTZFPFV81Dpfyk7BMF9APoN75GSdY2UpxZlyukRIALt6lgPFqfOuNatPvgZFea1KlSO3mQk6xSZUqRaCvf8YViCM7ZbUT+yC91doq2NdVhf3U6x7bSrQVsVcZTwpRtLZJ0WOIps9WnYc8T3JNxKxKhFtjyVg94pBNh6G2pDYpQnaiblkMIscU36o2+H0c7Yw7Wn+6OJaSL08O+lsSU9/PwYqzK1Wix1al7OxyQfCjjDzuKe+a9yF0cR1rAw9vXBG81xcTKUOLa/CePBSadhSuv0vP/ktL/03fo4HI/Df4vcTBeCwUT2DC5UyKPc4zFNcTwRxuY9KQ+XMbt8yutYCGOV5z1w1LKYoVngkb8OmySUlYXC5tzSjXmiX9qVpZ/qg2DQ0q3EzPVIp3Dbnlm6XPIYc7uScsOcemZyaYsKZN+vj86Gbl1iGf1xtNRo3R00oablUD7m6goQUVhY9aObhOq5JtysWzzq/UZ+TyTPj4CuCi18+aKkwgjxp9aHQVfgcKzwJxtaNuhsE7byZ0Sx2lP1lsdV5H/MR5ly3pZOBCetEzM/VvagGCmcC0E+SoOeKgVPDBHc17AIfPOElpHIxDHsZJQEPjbOF7PxWYJLjaMy5KSqf08wsIY3FqpA43BITX5Fmp3vCWdR+5vuaZmH05XFeKq0Aaf4e+TilULX6HiwyVa+Q3MmZkJozkf5Nrz88cvGk3MPrbGDX0xdmS7O8elgoBdrU3k1CZ0jwQc1+NtGHpJg/thNVz17sWWPJCes+s55twklGZcP7Y4d0uhzT+Nh3jG+FVbyjdvqL/bWtaSWp4O6dsTH8vZibgeTZuidoapfkdGdr85HOXs/GNlv7VDt5kE3V19sFmSjecQZtbqOHNfJ9c7rPwEW/uC2G8gZwfj5nqm1+4MO6MVj/BUetK8aWUBfIY25eupsY5Xs9pw9gv2rEIlMCEEkisfd7EyQZ6T6/4M57MTkcJYqOWjxqx05HSJ/nQWiaj4dmnBvf4yo7o2b3WE1FrHeQtII4gtzzSu4CYdp3yYJY3b9yFf/pbQEdshfnJz8NDXj9Uo5AHKP5ZVJTGl3U2E//1YSnjQQDjtJvS9APVDdA6NbWOO17V/d41VSFdrHWX7maZXBX53MIGyklLnqOCYRXJr5yu9Q3iIdyvI9pDPYOhXPrTFlT2xK514l3idQ7+fk+8nmrADbMSxLeqx3Atves4JW7n5M9hvS8J8G/1FiXUmZ4nqYZpjiISrXeYeguBAQ8l+moIxnkjjiP9crQ3X4HTxaVs7dC1qWWWHeVhG1WAFRczHbzZsqspgbVIFDCV/C/JU3iQOxPEP6hFCc72k9xKUqlnrg6KOTtSt/Y1rXV1bUrNi7M1LWr31mWV++C+cjlm8CjrFy3T47Z+FVdtzButxH6c/n8q7ERWqt6Fc00e8/IQkCcY+/IQb3Fr9fDlfx4pHS3Va+2Seg839tZIgx5qw7XNxpZdENZjw5rfHAXRG66EiNHtm32P7sp1vleVnBh9VYmwO4VIdUs7OhDUciYh7YK7DPFd/2LFuuW1n2/99t8BUEsDBBQAAgAIAMWLWEmJd2BCSgAAAGsAAAAbAAAAdW5pdmVyc2FsL3VuaXZlcnNhbC5wbmcueG1ss7GvyM1RKEstKs7Mz7NVMtQzULK34+WyKShKLctMLVeoAIoBBSFASaESyDVCcMszU0oygEIGFgYIwYzUzPSMElslC0OEoD7QTABQSwECAAAUAAIACADFi1hJGCZD8i4EAAB/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R7hdAAAAYgAAABwAAAAAAAAAAQAAAAAAnxIAAHVuaXZlcnNhbC9sb2NhbF9zZXR0aW5ncy54bWxQSwECAAAUAAIACAB2uMNEzoIJN+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
  <p:tag name="ISPRING_PRESENTATION_TITLE" val="第11章 JSP开发模型"/>
  <p:tag name="ISPRING_SCORM_ENDPOINT" val="&lt;endpoint&gt;&lt;enable&gt;0&lt;/enable&gt;&lt;lrs&gt;http://&lt;/lrs&gt;&lt;auth&gt;0&lt;/auth&gt;&lt;login&gt;&lt;/login&gt;&lt;password&gt;&lt;/password&gt;&lt;key&gt;&lt;/key&gt;&lt;name&gt;&lt;/name&gt;&lt;email&gt;&lt;/email&gt;&lt;/endpoint&gt;&#10;"/>
  <p:tag name="ISPRING_RESOURCE_PATHS_HASH_PRESENTER" val="c8bd98b4bb2cefbcaeec3ebf8b2d4f0c26baefc"/>
</p:tagLst>
</file>

<file path=ppt/tags/tag2.xml><?xml version="1.0" encoding="utf-8"?>
<p:tagLst xmlns:a="http://schemas.openxmlformats.org/drawingml/2006/main" xmlns:r="http://schemas.openxmlformats.org/officeDocument/2006/relationships" xmlns:p="http://schemas.openxmlformats.org/presentationml/2006/main">
  <p:tag name="GENSWF_SLIDE_TITLE" val="第11章 JSP开发模型"/>
  <p:tag name="GENSWF_ADVANCE_TIME" val="0.00"/>
  <p:tag name="ISPRING_SLIDE_INDENT_LEVEL" val="0"/>
  <p:tag name="ISPRING_CUSTOM_TIMING_USED" val="0"/>
</p:tagLst>
</file>

<file path=ppt/tags/tag3.xml><?xml version="1.0" encoding="utf-8"?>
<p:tagLst xmlns:a="http://schemas.openxmlformats.org/drawingml/2006/main" xmlns:r="http://schemas.openxmlformats.org/officeDocument/2006/relationships" xmlns:p="http://schemas.openxmlformats.org/presentationml/2006/main">
  <p:tag name="GENSWF_SLIDE_TITLE" val="作业点评"/>
  <p:tag name="GENSWF_ADVANCE_TIME" val="0.00"/>
  <p:tag name="ISPRING_SLIDE_INDENT_LEVEL" val="0"/>
  <p:tag name="ISPRING_CUSTOM_TIMING_USED" val="0"/>
</p:tagLst>
</file>

<file path=ppt/tags/tag4.xml><?xml version="1.0" encoding="utf-8"?>
<p:tagLst xmlns:a="http://schemas.openxmlformats.org/drawingml/2006/main" xmlns:r="http://schemas.openxmlformats.org/officeDocument/2006/relationships" xmlns:p="http://schemas.openxmlformats.org/presentationml/2006/main">
  <p:tag name="GENSWF_SLIDE_TITLE" val="预习检查"/>
  <p:tag name="GENSWF_ADVANCE_TIME" val="0.00"/>
  <p:tag name="ISPRING_SLIDE_INDENT_LEVEL" val="0"/>
  <p:tag name="ISPRING_CUSTOM_TIMING_USED" val="0"/>
</p:tagLst>
</file>

<file path=ppt/tags/tag5.xml><?xml version="1.0" encoding="utf-8"?>
<p:tagLst xmlns:a="http://schemas.openxmlformats.org/drawingml/2006/main" xmlns:r="http://schemas.openxmlformats.org/officeDocument/2006/relationships" xmlns:p="http://schemas.openxmlformats.org/presentationml/2006/main">
  <p:tag name="GENSWF_SLIDE_TITLE" val="学习目标"/>
  <p:tag name="GENSWF_ADVANCE_TIME" val="0.00"/>
  <p:tag name="ISPRING_SLIDE_INDENT_LEVEL" val="0"/>
  <p:tag name="ISPRING_CUSTOM_TIMING_USED" val="0"/>
</p:tagLst>
</file>

<file path=ppt/tags/tag6.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7.xml><?xml version="1.0" encoding="utf-8"?>
<p:tagLst xmlns:a="http://schemas.openxmlformats.org/drawingml/2006/main" xmlns:r="http://schemas.openxmlformats.org/officeDocument/2006/relationships" xmlns:p="http://schemas.openxmlformats.org/presentationml/2006/main">
  <p:tag name="GENSWF_SLIDE_TITLE" val="JSP开发模型"/>
  <p:tag name="GENSWF_ADVANCE_TIME" val="0.00"/>
  <p:tag name="ISPRING_SLIDE_INDENT_LEVEL" val="0"/>
  <p:tag name="ISPRING_CUSTOM_TIMING_USED" val="0"/>
</p:tagLst>
</file>

<file path=ppt/tags/tag8.xml><?xml version="1.0" encoding="utf-8"?>
<p:tagLst xmlns:a="http://schemas.openxmlformats.org/drawingml/2006/main" xmlns:r="http://schemas.openxmlformats.org/officeDocument/2006/relationships" xmlns:p="http://schemas.openxmlformats.org/presentationml/2006/main">
  <p:tag name="GENSWF_SLIDE_TITLE" val="JSP开发模型"/>
  <p:tag name="GENSWF_ADVANCE_TIME" val="0.00"/>
  <p:tag name="ISPRING_SLIDE_INDENT_LEVEL" val="0"/>
  <p:tag name="ISPRING_CUSTOM_TIMING_USED" val="0"/>
</p:tagLst>
</file>

<file path=ppt/tags/tag9.xml><?xml version="1.0" encoding="utf-8"?>
<p:tagLst xmlns:a="http://schemas.openxmlformats.org/drawingml/2006/main" xmlns:r="http://schemas.openxmlformats.org/officeDocument/2006/relationships" xmlns:p="http://schemas.openxmlformats.org/presentationml/2006/main">
  <p:tag name="GENSWF_SLIDE_TITLE" val="主讲内容"/>
  <p:tag name="GENSWF_ADVANCE_TIME" val="0.00"/>
  <p:tag name="ISPRING_SLIDE_INDENT_LEVEL" val="0"/>
  <p:tag name="ISPRING_CUSTOM_TIMING_USED" val="0"/>
</p:tagLst>
</file>

<file path=ppt/tags/tag10.xml><?xml version="1.0" encoding="utf-8"?>
<p:tagLst xmlns:a="http://schemas.openxmlformats.org/drawingml/2006/main" xmlns:r="http://schemas.openxmlformats.org/officeDocument/2006/relationships" xmlns:p="http://schemas.openxmlformats.org/presentationml/2006/main">
  <p:tag name="GENSWF_SLIDE_TITLE" val="MVC设计模式"/>
  <p:tag name="GENSWF_ADVANCE_TIME" val="0.00"/>
  <p:tag name="ISPRING_SLIDE_INDENT_LEVEL" val="0"/>
  <p:tag name="ISPRING_CUSTOM_TIMING_USED" val="0"/>
</p:tagLst>
</file>

<file path=ppt/tags/tag11.xml><?xml version="1.0" encoding="utf-8"?>
<p:tagLst xmlns:a="http://schemas.openxmlformats.org/drawingml/2006/main" xmlns:r="http://schemas.openxmlformats.org/officeDocument/2006/relationships" xmlns:p="http://schemas.openxmlformats.org/presentationml/2006/main">
  <p:tag name="GENSWF_SLIDE_TITLE" val="【任务11-1】按照Model2思想实现用户注册功能"/>
  <p:tag name="GENSWF_ADVANCE_TIME" val="0.00"/>
  <p:tag name="ISPRING_SLIDE_INDENT_LEVEL" val="0"/>
  <p:tag name="ISPRING_CUSTOM_TIMING_USED" val="0"/>
</p:tagLst>
</file>

<file path=ppt/tags/tag12.xml><?xml version="1.0" encoding="utf-8"?>
<p:tagLst xmlns:a="http://schemas.openxmlformats.org/drawingml/2006/main" xmlns:r="http://schemas.openxmlformats.org/officeDocument/2006/relationships" xmlns:p="http://schemas.openxmlformats.org/presentationml/2006/main">
  <p:tag name="GENSWF_SLIDE_TITLE" val="本章小结"/>
  <p:tag name="GENSWF_ADVANCE_TIME" val="0.00"/>
  <p:tag name="ISPRING_SLIDE_INDENT_LEVEL" val="0"/>
  <p:tag name="ISPRING_CUSTOM_TIMING_USED" val="0"/>
</p:tagLst>
</file>

<file path=ppt/tags/tag13.xml><?xml version="1.0" encoding="utf-8"?>
<p:tagLst xmlns:a="http://schemas.openxmlformats.org/drawingml/2006/main" xmlns:r="http://schemas.openxmlformats.org/officeDocument/2006/relationships" xmlns:p="http://schemas.openxmlformats.org/presentationml/2006/main">
  <p:tag name="GENSWF_SLIDE_TITLE" val="作业"/>
  <p:tag name="GENSWF_ADVANCE_TIME" val="0.00"/>
  <p:tag name="ISPRING_SLIDE_INDENT_LEVEL" val="0"/>
  <p:tag name="ISPRING_CUSTOM_TIMING_USED" val="0"/>
</p:tagLst>
</file>

<file path=ppt/tags/tag1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3497</TotalTime>
  <Words>1111</Words>
  <Application>Microsoft Office PowerPoint</Application>
  <PresentationFormat>全屏显示(4:3)</PresentationFormat>
  <Paragraphs>85</Paragraphs>
  <Slides>13</Slides>
  <Notes>13</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13</vt:i4>
      </vt:variant>
    </vt:vector>
  </HeadingPairs>
  <TitlesOfParts>
    <vt:vector size="15" baseType="lpstr">
      <vt:lpstr>Office 主题​​</vt:lpstr>
      <vt:lpstr>Visio</vt:lpstr>
      <vt:lpstr>Java Web程序设计任务教程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第11章 JSP开发模型</dc:title>
  <dc:creator>admin</dc:creator>
  <cp:lastModifiedBy>石荣新</cp:lastModifiedBy>
  <cp:revision>295</cp:revision>
  <dcterms:created xsi:type="dcterms:W3CDTF">2015-06-29T07:19:00Z</dcterms:created>
  <dcterms:modified xsi:type="dcterms:W3CDTF">2018-01-09T09:39:14Z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2052-10.1.0.5777</vt:lpwstr>
  </property>
</Properties>
</file>
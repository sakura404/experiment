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13.xml" ContentType="application/vnd.openxmlformats-officedocument.presentationml.notesSlide+xml"/>
  <Override PartName="/ppt/tags/tag15.xml" ContentType="application/vnd.openxmlformats-officedocument.presentationml.tags+xml"/>
  <Override PartName="/ppt/notesSlides/notesSlide14.xml" ContentType="application/vnd.openxmlformats-officedocument.presentationml.notesSlide+xml"/>
  <Override PartName="/ppt/tags/tag16.xml" ContentType="application/vnd.openxmlformats-officedocument.presentationml.tags+xml"/>
  <Override PartName="/ppt/notesSlides/notesSlide15.xml" ContentType="application/vnd.openxmlformats-officedocument.presentationml.notesSlide+xml"/>
  <Override PartName="/ppt/tags/tag17.xml" ContentType="application/vnd.openxmlformats-officedocument.presentationml.tags+xml"/>
  <Override PartName="/ppt/notesSlides/notesSlide16.xml" ContentType="application/vnd.openxmlformats-officedocument.presentationml.notesSlide+xml"/>
  <Override PartName="/ppt/tags/tag18.xml" ContentType="application/vnd.openxmlformats-officedocument.presentationml.tags+xml"/>
  <Override PartName="/ppt/notesSlides/notesSlide17.xml" ContentType="application/vnd.openxmlformats-officedocument.presentationml.notesSlide+xml"/>
  <Override PartName="/ppt/tags/tag19.xml" ContentType="application/vnd.openxmlformats-officedocument.presentationml.tags+xml"/>
  <Override PartName="/ppt/notesSlides/notesSlide18.xml" ContentType="application/vnd.openxmlformats-officedocument.presentationml.notesSlide+xml"/>
  <Override PartName="/ppt/tags/tag20.xml" ContentType="application/vnd.openxmlformats-officedocument.presentationml.tags+xml"/>
  <Override PartName="/ppt/notesSlides/notesSlide19.xml" ContentType="application/vnd.openxmlformats-officedocument.presentationml.notesSlide+xml"/>
  <Override PartName="/ppt/tags/tag21.xml" ContentType="application/vnd.openxmlformats-officedocument.presentationml.tags+xml"/>
  <Override PartName="/ppt/notesSlides/notesSlide20.xml" ContentType="application/vnd.openxmlformats-officedocument.presentationml.notesSlide+xml"/>
  <Override PartName="/ppt/tags/tag22.xml" ContentType="application/vnd.openxmlformats-officedocument.presentationml.tags+xml"/>
  <Override PartName="/ppt/notesSlides/notesSlide21.xml" ContentType="application/vnd.openxmlformats-officedocument.presentationml.notesSlide+xml"/>
  <Override PartName="/ppt/tags/tag23.xml" ContentType="application/vnd.openxmlformats-officedocument.presentationml.tags+xml"/>
  <Override PartName="/ppt/notesSlides/notesSlide22.xml" ContentType="application/vnd.openxmlformats-officedocument.presentationml.notesSlide+xml"/>
  <Override PartName="/ppt/tags/tag24.xml" ContentType="application/vnd.openxmlformats-officedocument.presentationml.tags+xml"/>
  <Override PartName="/ppt/notesSlides/notesSlide23.xml" ContentType="application/vnd.openxmlformats-officedocument.presentationml.notesSlide+xml"/>
  <Override PartName="/ppt/tags/tag25.xml" ContentType="application/vnd.openxmlformats-officedocument.presentationml.tags+xml"/>
  <Override PartName="/ppt/notesSlides/notesSlide24.xml" ContentType="application/vnd.openxmlformats-officedocument.presentationml.notesSlide+xml"/>
  <Override PartName="/ppt/tags/tag26.xml" ContentType="application/vnd.openxmlformats-officedocument.presentationml.tags+xml"/>
  <Override PartName="/ppt/notesSlides/notesSlide25.xml" ContentType="application/vnd.openxmlformats-officedocument.presentationml.notesSlide+xml"/>
  <Override PartName="/ppt/tags/tag27.xml" ContentType="application/vnd.openxmlformats-officedocument.presentationml.tags+xml"/>
  <Override PartName="/ppt/notesSlides/notesSlide26.xml" ContentType="application/vnd.openxmlformats-officedocument.presentationml.notesSlide+xml"/>
  <Override PartName="/ppt/tags/tag28.xml" ContentType="application/vnd.openxmlformats-officedocument.presentationml.tags+xml"/>
  <Override PartName="/ppt/notesSlides/notesSlide27.xml" ContentType="application/vnd.openxmlformats-officedocument.presentationml.notesSlide+xml"/>
  <Override PartName="/ppt/tags/tag29.xml" ContentType="application/vnd.openxmlformats-officedocument.presentationml.tags+xml"/>
  <Override PartName="/ppt/notesSlides/notesSlide28.xml" ContentType="application/vnd.openxmlformats-officedocument.presentationml.notesSlide+xml"/>
  <Override PartName="/ppt/tags/tag30.xml" ContentType="application/vnd.openxmlformats-officedocument.presentationml.tags+xml"/>
  <Override PartName="/ppt/notesSlides/notesSlide29.xml" ContentType="application/vnd.openxmlformats-officedocument.presentationml.notesSlide+xml"/>
  <Override PartName="/ppt/tags/tag31.xml" ContentType="application/vnd.openxmlformats-officedocument.presentationml.tags+xml"/>
  <Override PartName="/ppt/notesSlides/notesSlide30.xml" ContentType="application/vnd.openxmlformats-officedocument.presentationml.notesSlide+xml"/>
  <Override PartName="/ppt/tags/tag32.xml" ContentType="application/vnd.openxmlformats-officedocument.presentationml.tags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33"/>
  </p:notesMasterIdLst>
  <p:sldIdLst>
    <p:sldId id="336" r:id="rId2"/>
    <p:sldId id="274" r:id="rId3"/>
    <p:sldId id="275" r:id="rId4"/>
    <p:sldId id="273" r:id="rId5"/>
    <p:sldId id="314" r:id="rId6"/>
    <p:sldId id="279" r:id="rId7"/>
    <p:sldId id="316" r:id="rId8"/>
    <p:sldId id="317" r:id="rId9"/>
    <p:sldId id="318" r:id="rId10"/>
    <p:sldId id="320" r:id="rId11"/>
    <p:sldId id="310" r:id="rId12"/>
    <p:sldId id="319" r:id="rId13"/>
    <p:sldId id="322" r:id="rId14"/>
    <p:sldId id="323" r:id="rId15"/>
    <p:sldId id="311" r:id="rId16"/>
    <p:sldId id="325" r:id="rId17"/>
    <p:sldId id="326" r:id="rId18"/>
    <p:sldId id="327" r:id="rId19"/>
    <p:sldId id="328" r:id="rId20"/>
    <p:sldId id="312" r:id="rId21"/>
    <p:sldId id="329" r:id="rId22"/>
    <p:sldId id="330" r:id="rId23"/>
    <p:sldId id="331" r:id="rId24"/>
    <p:sldId id="332" r:id="rId25"/>
    <p:sldId id="313" r:id="rId26"/>
    <p:sldId id="333" r:id="rId27"/>
    <p:sldId id="334" r:id="rId28"/>
    <p:sldId id="335" r:id="rId29"/>
    <p:sldId id="308" r:id="rId30"/>
    <p:sldId id="309" r:id="rId31"/>
    <p:sldId id="337" r:id="rId32"/>
  </p:sldIdLst>
  <p:sldSz cx="9144000" cy="6858000" type="screen4x3"/>
  <p:notesSz cx="6858000" cy="9144000"/>
  <p:custDataLst>
    <p:tags r:id="rId3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EDF4"/>
    <a:srgbClr val="8064A2"/>
    <a:srgbClr val="4BACC6"/>
    <a:srgbClr val="5185BD"/>
    <a:srgbClr val="5767B4"/>
    <a:srgbClr val="685DAB"/>
    <a:srgbClr val="006BA9"/>
    <a:srgbClr val="0070C0"/>
    <a:srgbClr val="006BC0"/>
    <a:srgbClr val="0011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1944" y="-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19"/>
    </mc:Choice>
    <mc:Fallback>
      <c:style val="19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1259762883621849"/>
          <c:y val="6.8138576695007141E-2"/>
          <c:w val="0.61861102362204723"/>
          <c:h val="0.76592641554868568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</c:dPt>
          <c:dPt>
            <c:idx val="1"/>
            <c:bubble3D val="0"/>
            <c:spPr>
              <a:solidFill>
                <a:srgbClr val="0070C0"/>
              </a:solidFill>
            </c:spPr>
          </c:dPt>
          <c:dPt>
            <c:idx val="2"/>
            <c:bubble3D val="0"/>
          </c:dPt>
          <c:cat>
            <c:strRef>
              <c:f>Sheet1!$A$2:$A$4</c:f>
              <c:strCache>
                <c:ptCount val="3"/>
                <c:pt idx="0">
                  <c:v>掌握知识</c:v>
                </c:pt>
                <c:pt idx="1">
                  <c:v>理解知识</c:v>
                </c:pt>
                <c:pt idx="2">
                  <c:v>了解知识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3.3333333330000001</c:v>
                </c:pt>
                <c:pt idx="1">
                  <c:v>3.3333333330000001</c:v>
                </c:pt>
                <c:pt idx="2">
                  <c:v>3.3333333330000001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A888FC-2E25-44A1-940A-39007781DB0A}" type="datetimeFigureOut">
              <a:rPr lang="zh-CN" altLang="en-US" smtClean="0"/>
              <a:t>2018/1/9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B75326-E7E9-42A1-9F92-9786E95415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2811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B75326-E7E9-42A1-9F92-9786E954150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92550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B75326-E7E9-42A1-9F92-9786E954150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23214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B75326-E7E9-42A1-9F92-9786E954150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91785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B75326-E7E9-42A1-9F92-9786E954150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48974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B75326-E7E9-42A1-9F92-9786E954150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38630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B75326-E7E9-42A1-9F92-9786E954150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10901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B75326-E7E9-42A1-9F92-9786E954150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20516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B75326-E7E9-42A1-9F92-9786E954150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45526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B75326-E7E9-42A1-9F92-9786E954150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6764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B75326-E7E9-42A1-9F92-9786E954150F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75056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B75326-E7E9-42A1-9F92-9786E954150F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59207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B75326-E7E9-42A1-9F92-9786E954150F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28753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B75326-E7E9-42A1-9F92-9786E954150F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13438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B75326-E7E9-42A1-9F92-9786E954150F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43718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B75326-E7E9-42A1-9F92-9786E954150F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26253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B75326-E7E9-42A1-9F92-9786E954150F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52030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B75326-E7E9-42A1-9F92-9786E954150F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87225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B75326-E7E9-42A1-9F92-9786E954150F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69029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B75326-E7E9-42A1-9F92-9786E954150F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23373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B75326-E7E9-42A1-9F92-9786E954150F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27160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B75326-E7E9-42A1-9F92-9786E954150F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76028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B75326-E7E9-42A1-9F92-9786E954150F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209600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B75326-E7E9-42A1-9F92-9786E954150F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161109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B75326-E7E9-42A1-9F92-9786E954150F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61005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B75326-E7E9-42A1-9F92-9786E954150F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912853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B75326-E7E9-42A1-9F92-9786E954150F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963692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B75326-E7E9-42A1-9F92-9786E954150F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204820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B75326-E7E9-42A1-9F92-9786E954150F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126313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B75326-E7E9-42A1-9F92-9786E954150F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256883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B75326-E7E9-42A1-9F92-9786E954150F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37607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  <p:sp>
        <p:nvSpPr>
          <p:cNvPr id="717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fld id="{A3DF5170-8A0D-43AE-A108-EB1D46CE06DD}" type="slidenum">
              <a:rPr lang="zh-CN" altLang="en-US"/>
              <a:pPr eaLnBrk="1" hangingPunct="1">
                <a:buFontTx/>
                <a:buNone/>
              </a:pPr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16763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0" y="-1"/>
            <a:ext cx="9140780" cy="68580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52281"/>
            <a:ext cx="7772400" cy="2157681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88397-7984-4816-A3BC-987D45041CB5}" type="datetimeFigureOut">
              <a:rPr lang="zh-CN" altLang="en-US" smtClean="0"/>
              <a:t>2018/1/9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4C423-1280-4737-888E-126E3DA98E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25213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88397-7984-4816-A3BC-987D45041CB5}" type="datetimeFigureOut">
              <a:rPr lang="zh-CN" altLang="en-US" smtClean="0"/>
              <a:t>2018/1/9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4C423-1280-4737-888E-126E3DA98E0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657350" y="154546"/>
            <a:ext cx="4716082" cy="776289"/>
          </a:xfrm>
        </p:spPr>
        <p:txBody>
          <a:bodyPr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8" name="矩形 1"/>
          <p:cNvSpPr>
            <a:spLocks noChangeArrowheads="1"/>
          </p:cNvSpPr>
          <p:nvPr userDrawn="1"/>
        </p:nvSpPr>
        <p:spPr bwMode="auto">
          <a:xfrm>
            <a:off x="691076" y="221355"/>
            <a:ext cx="785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✎ 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6971028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88397-7984-4816-A3BC-987D45041CB5}" type="datetimeFigureOut">
              <a:rPr lang="zh-CN" altLang="en-US" smtClean="0"/>
              <a:t>2018/1/9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4C423-1280-4737-888E-126E3DA98E0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657350" y="154546"/>
            <a:ext cx="4716082" cy="776289"/>
          </a:xfrm>
        </p:spPr>
        <p:txBody>
          <a:bodyPr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9" name="矩形 1"/>
          <p:cNvSpPr>
            <a:spLocks noChangeArrowheads="1"/>
          </p:cNvSpPr>
          <p:nvPr userDrawn="1"/>
        </p:nvSpPr>
        <p:spPr bwMode="auto">
          <a:xfrm>
            <a:off x="691076" y="221355"/>
            <a:ext cx="785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✎ 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6561732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88397-7984-4816-A3BC-987D45041CB5}" type="datetimeFigureOut">
              <a:rPr lang="zh-CN" altLang="en-US" smtClean="0"/>
              <a:t>2018/1/9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4C423-1280-4737-888E-126E3DA98E0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657350" y="154546"/>
            <a:ext cx="4716082" cy="776289"/>
          </a:xfrm>
        </p:spPr>
        <p:txBody>
          <a:bodyPr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1" name="矩形 1"/>
          <p:cNvSpPr>
            <a:spLocks noChangeArrowheads="1"/>
          </p:cNvSpPr>
          <p:nvPr userDrawn="1"/>
        </p:nvSpPr>
        <p:spPr bwMode="auto">
          <a:xfrm>
            <a:off x="691076" y="221355"/>
            <a:ext cx="785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✎ 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6064610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7350" y="154546"/>
            <a:ext cx="4716082" cy="776289"/>
          </a:xfrm>
        </p:spPr>
        <p:txBody>
          <a:bodyPr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88397-7984-4816-A3BC-987D45041CB5}" type="datetimeFigureOut">
              <a:rPr lang="zh-CN" altLang="en-US" smtClean="0"/>
              <a:t>2018/1/9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4C423-1280-4737-888E-126E3DA98E0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矩形 1"/>
          <p:cNvSpPr>
            <a:spLocks noChangeArrowheads="1"/>
          </p:cNvSpPr>
          <p:nvPr userDrawn="1"/>
        </p:nvSpPr>
        <p:spPr bwMode="auto">
          <a:xfrm>
            <a:off x="691076" y="221355"/>
            <a:ext cx="785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✎ 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5014308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88397-7984-4816-A3BC-987D45041CB5}" type="datetimeFigureOut">
              <a:rPr lang="zh-CN" altLang="en-US" smtClean="0"/>
              <a:t>2018/1/9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4C423-1280-4737-888E-126E3DA98E0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657350" y="154546"/>
            <a:ext cx="4716082" cy="776289"/>
          </a:xfrm>
        </p:spPr>
        <p:txBody>
          <a:bodyPr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8" name="矩形 1"/>
          <p:cNvSpPr>
            <a:spLocks noChangeArrowheads="1"/>
          </p:cNvSpPr>
          <p:nvPr userDrawn="1"/>
        </p:nvSpPr>
        <p:spPr bwMode="auto">
          <a:xfrm>
            <a:off x="691076" y="221355"/>
            <a:ext cx="785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✎ 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4127533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52" y="0"/>
            <a:ext cx="91463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4634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901030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7768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88397-7984-4816-A3BC-987D45041CB5}" type="datetimeFigureOut">
              <a:rPr lang="zh-CN" altLang="en-US" smtClean="0"/>
              <a:t>2018/1/9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64C423-1280-4737-888E-126E3DA98E0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1"/>
          <p:cNvSpPr>
            <a:spLocks noChangeArrowheads="1"/>
          </p:cNvSpPr>
          <p:nvPr userDrawn="1"/>
        </p:nvSpPr>
        <p:spPr bwMode="auto">
          <a:xfrm>
            <a:off x="691076" y="221355"/>
            <a:ext cx="785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✎ 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562697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  <p:sldLayoutId id="2147483674" r:id="rId20"/>
    <p:sldLayoutId id="2147483675" r:id="rId21"/>
    <p:sldLayoutId id="2147483676" r:id="rId22"/>
    <p:sldLayoutId id="2147483677" r:id="rId23"/>
    <p:sldLayoutId id="2147483678" r:id="rId24"/>
    <p:sldLayoutId id="2147483679" r:id="rId25"/>
    <p:sldLayoutId id="2147483680" r:id="rId26"/>
    <p:sldLayoutId id="2147483681" r:id="rId27"/>
    <p:sldLayoutId id="2147483682" r:id="rId28"/>
    <p:sldLayoutId id="2147483683" r:id="rId29"/>
    <p:sldLayoutId id="2147483684" r:id="rId30"/>
    <p:sldLayoutId id="2147483685" r:id="rId31"/>
    <p:sldLayoutId id="2147483686" r:id="rId32"/>
    <p:sldLayoutId id="2147483687" r:id="rId33"/>
    <p:sldLayoutId id="2147483688" r:id="rId34"/>
    <p:sldLayoutId id="2147483689" r:id="rId35"/>
    <p:sldLayoutId id="2147483690" r:id="rId36"/>
    <p:sldLayoutId id="2147483652" r:id="rId37"/>
    <p:sldLayoutId id="2147483651" r:id="rId38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9.emf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6.xml"/><Relationship Id="rId6" Type="http://schemas.openxmlformats.org/officeDocument/2006/relationships/image" Target="../media/image8.emf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14.png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14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19.emf"/><Relationship Id="rId12" Type="http://schemas.openxmlformats.org/officeDocument/2006/relationships/image" Target="../media/image24.emf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15.xml"/><Relationship Id="rId6" Type="http://schemas.openxmlformats.org/officeDocument/2006/relationships/image" Target="../media/image18.emf"/><Relationship Id="rId11" Type="http://schemas.openxmlformats.org/officeDocument/2006/relationships/image" Target="../media/image23.emf"/><Relationship Id="rId5" Type="http://schemas.openxmlformats.org/officeDocument/2006/relationships/image" Target="../media/image17.emf"/><Relationship Id="rId10" Type="http://schemas.openxmlformats.org/officeDocument/2006/relationships/image" Target="../media/image22.emf"/><Relationship Id="rId4" Type="http://schemas.openxmlformats.org/officeDocument/2006/relationships/image" Target="../media/image16.emf"/><Relationship Id="rId9" Type="http://schemas.openxmlformats.org/officeDocument/2006/relationships/image" Target="../media/image21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1.xml"/><Relationship Id="rId1" Type="http://schemas.openxmlformats.org/officeDocument/2006/relationships/tags" Target="../tags/tag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3.xml"/><Relationship Id="rId1" Type="http://schemas.openxmlformats.org/officeDocument/2006/relationships/tags" Target="../tags/tag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5.xml"/><Relationship Id="rId1" Type="http://schemas.openxmlformats.org/officeDocument/2006/relationships/tags" Target="../tags/tag20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6.xml"/><Relationship Id="rId1" Type="http://schemas.openxmlformats.org/officeDocument/2006/relationships/tags" Target="../tags/tag2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7.xml"/><Relationship Id="rId1" Type="http://schemas.openxmlformats.org/officeDocument/2006/relationships/tags" Target="../tags/tag22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2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24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30.xml"/><Relationship Id="rId1" Type="http://schemas.openxmlformats.org/officeDocument/2006/relationships/tags" Target="../tags/tag2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31.xml"/><Relationship Id="rId1" Type="http://schemas.openxmlformats.org/officeDocument/2006/relationships/tags" Target="../tags/tag2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32.xml"/><Relationship Id="rId1" Type="http://schemas.openxmlformats.org/officeDocument/2006/relationships/tags" Target="../tags/tag27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3" Type="http://schemas.openxmlformats.org/officeDocument/2006/relationships/notesSlide" Target="../notesSlides/notesSlide27.xml"/><Relationship Id="rId7" Type="http://schemas.openxmlformats.org/officeDocument/2006/relationships/image" Target="../media/image30.emf"/><Relationship Id="rId2" Type="http://schemas.openxmlformats.org/officeDocument/2006/relationships/slideLayout" Target="../slideLayouts/slideLayout33.xml"/><Relationship Id="rId1" Type="http://schemas.openxmlformats.org/officeDocument/2006/relationships/tags" Target="../tags/tag28.xml"/><Relationship Id="rId6" Type="http://schemas.openxmlformats.org/officeDocument/2006/relationships/image" Target="../media/image29.emf"/><Relationship Id="rId11" Type="http://schemas.openxmlformats.org/officeDocument/2006/relationships/image" Target="../media/image34.emf"/><Relationship Id="rId5" Type="http://schemas.openxmlformats.org/officeDocument/2006/relationships/image" Target="../media/image22.emf"/><Relationship Id="rId10" Type="http://schemas.openxmlformats.org/officeDocument/2006/relationships/image" Target="../media/image33.emf"/><Relationship Id="rId4" Type="http://schemas.openxmlformats.org/officeDocument/2006/relationships/image" Target="../media/image16.emf"/><Relationship Id="rId9" Type="http://schemas.openxmlformats.org/officeDocument/2006/relationships/image" Target="../media/image32.e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3" Type="http://schemas.openxmlformats.org/officeDocument/2006/relationships/notesSlide" Target="../notesSlides/notesSlide28.xml"/><Relationship Id="rId7" Type="http://schemas.openxmlformats.org/officeDocument/2006/relationships/image" Target="../media/image30.emf"/><Relationship Id="rId2" Type="http://schemas.openxmlformats.org/officeDocument/2006/relationships/slideLayout" Target="../slideLayouts/slideLayout34.xml"/><Relationship Id="rId1" Type="http://schemas.openxmlformats.org/officeDocument/2006/relationships/tags" Target="../tags/tag29.xml"/><Relationship Id="rId6" Type="http://schemas.openxmlformats.org/officeDocument/2006/relationships/image" Target="../media/image29.emf"/><Relationship Id="rId11" Type="http://schemas.openxmlformats.org/officeDocument/2006/relationships/image" Target="../media/image35.emf"/><Relationship Id="rId5" Type="http://schemas.openxmlformats.org/officeDocument/2006/relationships/image" Target="../media/image22.emf"/><Relationship Id="rId10" Type="http://schemas.openxmlformats.org/officeDocument/2006/relationships/image" Target="../media/image33.emf"/><Relationship Id="rId4" Type="http://schemas.openxmlformats.org/officeDocument/2006/relationships/image" Target="../media/image16.emf"/><Relationship Id="rId9" Type="http://schemas.openxmlformats.org/officeDocument/2006/relationships/image" Target="../media/image32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35.xml"/><Relationship Id="rId1" Type="http://schemas.openxmlformats.org/officeDocument/2006/relationships/tags" Target="../tags/tag30.xml"/><Relationship Id="rId4" Type="http://schemas.openxmlformats.org/officeDocument/2006/relationships/image" Target="../media/image3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36.xml"/><Relationship Id="rId1" Type="http://schemas.openxmlformats.org/officeDocument/2006/relationships/tags" Target="../tags/tag3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ctrTitle"/>
          </p:nvPr>
        </p:nvSpPr>
        <p:spPr>
          <a:xfrm>
            <a:off x="539552" y="1352281"/>
            <a:ext cx="8136904" cy="2157681"/>
          </a:xfrm>
        </p:spPr>
        <p:txBody>
          <a:bodyPr/>
          <a:lstStyle/>
          <a:p>
            <a:r>
              <a:rPr lang="en-US" altLang="zh-CN" b="1" dirty="0" smtClean="0"/>
              <a:t>Java Web</a:t>
            </a:r>
            <a:r>
              <a:rPr lang="zh-CN" altLang="en-US" b="1" dirty="0" smtClean="0"/>
              <a:t>程序设计任务教程</a:t>
            </a:r>
            <a:endParaRPr lang="zh-CN" altLang="en-US" b="1" dirty="0"/>
          </a:p>
        </p:txBody>
      </p:sp>
      <p:sp>
        <p:nvSpPr>
          <p:cNvPr id="10" name="副标题 2"/>
          <p:cNvSpPr>
            <a:spLocks noGrp="1"/>
          </p:cNvSpPr>
          <p:nvPr>
            <p:ph type="subTitle" idx="1"/>
          </p:nvPr>
        </p:nvSpPr>
        <p:spPr>
          <a:xfrm>
            <a:off x="1143000" y="3861470"/>
            <a:ext cx="6858000" cy="1655762"/>
          </a:xfrm>
        </p:spPr>
        <p:txBody>
          <a:bodyPr>
            <a:normAutofit/>
          </a:bodyPr>
          <a:lstStyle/>
          <a:p>
            <a:r>
              <a:rPr lang="zh-CN" altLang="en-US" sz="3200" b="1" dirty="0" smtClean="0"/>
              <a:t>第</a:t>
            </a:r>
            <a:r>
              <a:rPr lang="en-US" altLang="zh-CN" sz="3200" b="1" dirty="0" smtClean="0"/>
              <a:t>4</a:t>
            </a:r>
            <a:r>
              <a:rPr lang="zh-CN" altLang="en-US" sz="3200" b="1" dirty="0" smtClean="0"/>
              <a:t>章 请求和响应</a:t>
            </a:r>
            <a:endParaRPr lang="zh-CN" altLang="en-US" sz="3200" b="1" dirty="0"/>
          </a:p>
        </p:txBody>
      </p:sp>
      <p:sp>
        <p:nvSpPr>
          <p:cNvPr id="11" name="TextBox 13"/>
          <p:cNvSpPr>
            <a:spLocks noChangeArrowheads="1"/>
          </p:cNvSpPr>
          <p:nvPr/>
        </p:nvSpPr>
        <p:spPr bwMode="auto">
          <a:xfrm>
            <a:off x="6222926" y="5517232"/>
            <a:ext cx="346164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 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请求重定向    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 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请求包含</a:t>
            </a:r>
            <a:endParaRPr lang="en-US" altLang="zh-CN" dirty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752725" y="5538788"/>
            <a:ext cx="4572000" cy="87440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b="1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</a:t>
            </a:r>
            <a:r>
              <a:rPr lang="en-US" altLang="zh-CN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H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请求参数中的中文乱码问题</a:t>
            </a:r>
            <a:endParaRPr lang="en-US" altLang="zh-CN" dirty="0" smtClean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b="1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</a:t>
            </a:r>
            <a:r>
              <a:rPr lang="en-US" altLang="zh-CN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 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请求转发       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5301208"/>
            <a:ext cx="947906" cy="1199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85471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ChangeArrowheads="1"/>
          </p:cNvSpPr>
          <p:nvPr/>
        </p:nvSpPr>
        <p:spPr bwMode="auto">
          <a:xfrm>
            <a:off x="827584" y="1052736"/>
            <a:ext cx="51482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 eaLnBrk="1" hangingPunct="1">
              <a:buFont typeface="Wingdings" pitchFamily="2" charset="2"/>
              <a:buNone/>
            </a:pPr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481013" y="2024807"/>
            <a:ext cx="7975600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1">
              <a:lnSpc>
                <a:spcPct val="150000"/>
              </a:lnSpc>
              <a:spcBef>
                <a:spcPct val="20000"/>
              </a:spcBef>
              <a:buFontTx/>
              <a:buChar char="–"/>
            </a:pP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请列举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Servlet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接口中的方法，并分别说明这些方法的特点及其</a:t>
            </a:r>
            <a:r>
              <a:rPr lang="zh-CN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作用。</a:t>
            </a:r>
            <a:endParaRPr lang="en-US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ct val="20000"/>
              </a:spcBef>
              <a:buFontTx/>
              <a:buChar char="–"/>
            </a:pP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简述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ServletContext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接口的三个主要</a:t>
            </a:r>
            <a:r>
              <a:rPr lang="zh-CN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作用。</a:t>
            </a:r>
            <a:endParaRPr lang="en-US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sz="3200" b="1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作业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点评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51813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827584" y="1052736"/>
            <a:ext cx="51482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 eaLnBrk="1" hangingPunct="1">
              <a:buFont typeface="Wingdings" pitchFamily="2" charset="2"/>
              <a:buNone/>
            </a:pPr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3" name="内容占位符 2"/>
          <p:cNvSpPr txBox="1">
            <a:spLocks/>
          </p:cNvSpPr>
          <p:nvPr/>
        </p:nvSpPr>
        <p:spPr bwMode="auto">
          <a:xfrm>
            <a:off x="481013" y="2024807"/>
            <a:ext cx="7975600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1">
              <a:lnSpc>
                <a:spcPct val="150000"/>
              </a:lnSpc>
              <a:spcBef>
                <a:spcPct val="20000"/>
              </a:spcBef>
              <a:buFontTx/>
              <a:buChar char="–"/>
            </a:pP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HttpServletRequest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HttpServletResponse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对象的作用是什么</a:t>
            </a:r>
            <a:r>
              <a:rPr lang="zh-CN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ct val="20000"/>
              </a:spcBef>
              <a:buFontTx/>
              <a:buChar char="–"/>
            </a:pP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请求重定向和请求转发的工作原理是什么</a:t>
            </a:r>
            <a:r>
              <a:rPr lang="zh-CN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sz="3200" b="1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预习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检查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9354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>
            <a:grpSpLocks/>
          </p:cNvGrpSpPr>
          <p:nvPr/>
        </p:nvGrpSpPr>
        <p:grpSpPr bwMode="auto">
          <a:xfrm flipH="1" flipV="1">
            <a:off x="322863" y="2194586"/>
            <a:ext cx="2808977" cy="1139825"/>
            <a:chOff x="5198195" y="4225925"/>
            <a:chExt cx="3473818" cy="1209015"/>
          </a:xfrm>
        </p:grpSpPr>
        <p:grpSp>
          <p:nvGrpSpPr>
            <p:cNvPr id="3" name="组合 38"/>
            <p:cNvGrpSpPr>
              <a:grpSpLocks/>
            </p:cNvGrpSpPr>
            <p:nvPr/>
          </p:nvGrpSpPr>
          <p:grpSpPr bwMode="auto">
            <a:xfrm rot="10800000">
              <a:off x="5687902" y="4225925"/>
              <a:ext cx="2669052" cy="686411"/>
              <a:chOff x="934464" y="2318309"/>
              <a:chExt cx="2669329" cy="686148"/>
            </a:xfrm>
          </p:grpSpPr>
          <p:cxnSp>
            <p:nvCxnSpPr>
              <p:cNvPr id="8" name="直接连接符 39"/>
              <p:cNvCxnSpPr>
                <a:cxnSpLocks noChangeShapeType="1"/>
              </p:cNvCxnSpPr>
              <p:nvPr/>
            </p:nvCxnSpPr>
            <p:spPr bwMode="auto">
              <a:xfrm rot="10800000" flipH="1" flipV="1">
                <a:off x="934464" y="2318309"/>
                <a:ext cx="298001" cy="686148"/>
              </a:xfrm>
              <a:prstGeom prst="line">
                <a:avLst/>
              </a:prstGeom>
              <a:noFill/>
              <a:ln w="28575" algn="ctr">
                <a:solidFill>
                  <a:srgbClr val="006BA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9" name="直接连接符 40"/>
              <p:cNvCxnSpPr>
                <a:cxnSpLocks noChangeShapeType="1"/>
              </p:cNvCxnSpPr>
              <p:nvPr/>
            </p:nvCxnSpPr>
            <p:spPr bwMode="auto">
              <a:xfrm rot="10800000" flipH="1" flipV="1">
                <a:off x="1222939" y="3004457"/>
                <a:ext cx="2380854" cy="0"/>
              </a:xfrm>
              <a:prstGeom prst="line">
                <a:avLst/>
              </a:prstGeom>
              <a:noFill/>
              <a:ln w="28575" algn="ctr">
                <a:solidFill>
                  <a:srgbClr val="006BA9"/>
                </a:solidFill>
                <a:round/>
                <a:headEnd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4" name="组合 41"/>
            <p:cNvGrpSpPr>
              <a:grpSpLocks/>
            </p:cNvGrpSpPr>
            <p:nvPr/>
          </p:nvGrpSpPr>
          <p:grpSpPr bwMode="auto">
            <a:xfrm flipH="1">
              <a:off x="8082606" y="4880949"/>
              <a:ext cx="589407" cy="553991"/>
              <a:chOff x="1256847" y="3607535"/>
              <a:chExt cx="591076" cy="553298"/>
            </a:xfrm>
          </p:grpSpPr>
          <p:sp>
            <p:nvSpPr>
              <p:cNvPr id="6" name="椭圆 5"/>
              <p:cNvSpPr/>
              <p:nvPr/>
            </p:nvSpPr>
            <p:spPr bwMode="auto">
              <a:xfrm>
                <a:off x="1256847" y="3647898"/>
                <a:ext cx="591076" cy="474256"/>
              </a:xfrm>
              <a:prstGeom prst="ellipse">
                <a:avLst/>
              </a:prstGeom>
              <a:solidFill>
                <a:srgbClr val="006BA9"/>
              </a:solidFill>
              <a:ln w="28575" cap="flat" cmpd="sng" algn="ctr">
                <a:solidFill>
                  <a:srgbClr val="006BA9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25400" dist="12700" dir="2700000" algn="tl" rotWithShape="0">
                  <a:prstClr val="black">
                    <a:alpha val="40000"/>
                  </a:prstClr>
                </a:outerShdw>
              </a:effectLst>
              <a:extLst/>
            </p:spPr>
            <p:txBody>
              <a:bodyPr/>
              <a:lstStyle/>
              <a:p>
                <a:pPr eaLnBrk="1" hangingPunct="1">
                  <a:buFont typeface="Arial" pitchFamily="34" charset="0"/>
                  <a:buNone/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 rot="10800000">
                <a:off x="1327723" y="3607535"/>
                <a:ext cx="334694" cy="553298"/>
              </a:xfrm>
              <a:prstGeom prst="rect">
                <a:avLst/>
              </a:prstGeom>
              <a:noFill/>
              <a:effectLst>
                <a:outerShdw blurRad="127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zh-CN" alt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5" name="矩形 51"/>
            <p:cNvSpPr>
              <a:spLocks noChangeArrowheads="1"/>
            </p:cNvSpPr>
            <p:nvPr/>
          </p:nvSpPr>
          <p:spPr bwMode="auto">
            <a:xfrm rot="10800000">
              <a:off x="5198195" y="4299928"/>
              <a:ext cx="2762196" cy="1077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pPr marL="457200" indent="-457200" eaLnBrk="1" hangingPunct="1">
                <a:lnSpc>
                  <a:spcPts val="3600"/>
                </a:lnSpc>
              </a:pPr>
              <a:r>
                <a:rPr lang="en-US" altLang="zh-CN" b="1" dirty="0" err="1" smtClean="0">
                  <a:solidFill>
                    <a:srgbClr val="006BA9"/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anose="02020603050405020304" pitchFamily="18" charset="0"/>
                  <a:sym typeface="宋体" pitchFamily="2" charset="-122"/>
                </a:rPr>
                <a:t>RequestDispatcher</a:t>
              </a:r>
              <a:endParaRPr lang="en-US" altLang="zh-CN" b="1" dirty="0" smtClean="0">
                <a:solidFill>
                  <a:srgbClr val="006BA9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  <a:sym typeface="宋体" pitchFamily="2" charset="-122"/>
              </a:endParaRPr>
            </a:p>
            <a:p>
              <a:pPr marL="457200" indent="-457200" eaLnBrk="1" hangingPunct="1">
                <a:lnSpc>
                  <a:spcPts val="3600"/>
                </a:lnSpc>
              </a:pPr>
              <a:r>
                <a:rPr lang="zh-CN" altLang="en-US" b="1" dirty="0" smtClean="0">
                  <a:solidFill>
                    <a:srgbClr val="006BA9"/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anose="02020603050405020304" pitchFamily="18" charset="0"/>
                  <a:sym typeface="宋体" pitchFamily="2" charset="-122"/>
                </a:rPr>
                <a:t>接口</a:t>
              </a:r>
              <a:endParaRPr lang="en-US" altLang="zh-CN" b="1" dirty="0">
                <a:solidFill>
                  <a:srgbClr val="006BA9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  <a:sym typeface="宋体" pitchFamily="2" charset="-122"/>
              </a:endParaRPr>
            </a:p>
          </p:txBody>
        </p:sp>
      </p:grpSp>
      <p:grpSp>
        <p:nvGrpSpPr>
          <p:cNvPr id="10" name="组合 9"/>
          <p:cNvGrpSpPr>
            <a:grpSpLocks/>
          </p:cNvGrpSpPr>
          <p:nvPr/>
        </p:nvGrpSpPr>
        <p:grpSpPr bwMode="auto">
          <a:xfrm>
            <a:off x="1570070" y="1316729"/>
            <a:ext cx="5245036" cy="4035361"/>
            <a:chOff x="1398367" y="1722062"/>
            <a:chExt cx="5245036" cy="4035172"/>
          </a:xfrm>
        </p:grpSpPr>
        <p:graphicFrame>
          <p:nvGraphicFramePr>
            <p:cNvPr id="36" name="图表 2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22434982"/>
                </p:ext>
              </p:extLst>
            </p:nvPr>
          </p:nvGraphicFramePr>
          <p:xfrm>
            <a:off x="1398367" y="1722062"/>
            <a:ext cx="5245036" cy="403517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12" name="TextBox 11"/>
            <p:cNvSpPr txBox="1"/>
            <p:nvPr/>
          </p:nvSpPr>
          <p:spPr bwMode="auto">
            <a:xfrm rot="3586674">
              <a:off x="4661170" y="3033606"/>
              <a:ext cx="1042938" cy="369888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pc="3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掌握</a:t>
              </a:r>
              <a:endParaRPr lang="zh-CN" altLang="en-US" spc="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TextBox 12"/>
            <p:cNvSpPr txBox="1"/>
            <p:nvPr/>
          </p:nvSpPr>
          <p:spPr bwMode="auto">
            <a:xfrm rot="6997465" flipV="1">
              <a:off x="2748528" y="2675271"/>
              <a:ext cx="1041351" cy="36988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pc="3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了解</a:t>
              </a:r>
              <a:endParaRPr lang="zh-CN" altLang="en-US" spc="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TextBox 13"/>
            <p:cNvSpPr txBox="1"/>
            <p:nvPr/>
          </p:nvSpPr>
          <p:spPr bwMode="auto">
            <a:xfrm rot="10800000" flipH="1" flipV="1">
              <a:off x="3790945" y="4474016"/>
              <a:ext cx="1041400" cy="368283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pc="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熟悉</a:t>
              </a:r>
            </a:p>
          </p:txBody>
        </p:sp>
      </p:grpSp>
      <p:grpSp>
        <p:nvGrpSpPr>
          <p:cNvPr id="15" name="组合 2"/>
          <p:cNvGrpSpPr>
            <a:grpSpLocks/>
          </p:cNvGrpSpPr>
          <p:nvPr/>
        </p:nvGrpSpPr>
        <p:grpSpPr bwMode="auto">
          <a:xfrm>
            <a:off x="3692525" y="2547010"/>
            <a:ext cx="1203325" cy="1201737"/>
            <a:chOff x="3692088" y="2878838"/>
            <a:chExt cx="1203191" cy="1201737"/>
          </a:xfrm>
        </p:grpSpPr>
        <p:sp>
          <p:nvSpPr>
            <p:cNvPr id="16" name="弧形 15"/>
            <p:cNvSpPr/>
            <p:nvPr/>
          </p:nvSpPr>
          <p:spPr bwMode="auto">
            <a:xfrm rot="5400000">
              <a:off x="3692815" y="2878111"/>
              <a:ext cx="1201737" cy="1203191"/>
            </a:xfrm>
            <a:prstGeom prst="arc">
              <a:avLst>
                <a:gd name="adj1" fmla="val 5382197"/>
                <a:gd name="adj2" fmla="val 0"/>
              </a:avLst>
            </a:prstGeom>
            <a:noFill/>
            <a:ln w="57150" cap="flat" cmpd="sng" algn="ctr">
              <a:solidFill>
                <a:srgbClr val="D5F4FF"/>
              </a:solidFill>
              <a:prstDash val="solid"/>
              <a:round/>
              <a:headEnd type="oval" w="sm" len="sm"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itchFamily="34" charset="0"/>
                <a:buNone/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7" name="弧形 16"/>
            <p:cNvSpPr/>
            <p:nvPr/>
          </p:nvSpPr>
          <p:spPr bwMode="auto">
            <a:xfrm>
              <a:off x="3795265" y="2996313"/>
              <a:ext cx="990490" cy="992187"/>
            </a:xfrm>
            <a:prstGeom prst="arc">
              <a:avLst>
                <a:gd name="adj1" fmla="val 10763236"/>
                <a:gd name="adj2" fmla="val 0"/>
              </a:avLst>
            </a:prstGeom>
            <a:noFill/>
            <a:ln w="57150" cap="flat" cmpd="sng" algn="ctr">
              <a:solidFill>
                <a:srgbClr val="D5F4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itchFamily="34" charset="0"/>
                <a:buNone/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8" name="弧形 17"/>
            <p:cNvSpPr/>
            <p:nvPr/>
          </p:nvSpPr>
          <p:spPr bwMode="auto">
            <a:xfrm rot="16200000">
              <a:off x="3891251" y="3136849"/>
              <a:ext cx="822325" cy="753978"/>
            </a:xfrm>
            <a:prstGeom prst="arc">
              <a:avLst>
                <a:gd name="adj1" fmla="val 16251812"/>
                <a:gd name="adj2" fmla="val 0"/>
              </a:avLst>
            </a:prstGeom>
            <a:noFill/>
            <a:ln w="57150" cap="flat" cmpd="sng" algn="ctr">
              <a:solidFill>
                <a:srgbClr val="D5F4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itchFamily="34" charset="0"/>
                <a:buNone/>
                <a:defRPr/>
              </a:pPr>
              <a:endParaRPr lang="zh-CN" altLang="en-US">
                <a:ea typeface="宋体" pitchFamily="2" charset="-122"/>
              </a:endParaRPr>
            </a:p>
          </p:txBody>
        </p:sp>
      </p:grpSp>
      <p:grpSp>
        <p:nvGrpSpPr>
          <p:cNvPr id="19" name="组合 18"/>
          <p:cNvGrpSpPr>
            <a:grpSpLocks/>
          </p:cNvGrpSpPr>
          <p:nvPr/>
        </p:nvGrpSpPr>
        <p:grpSpPr bwMode="auto">
          <a:xfrm>
            <a:off x="4604961" y="4509120"/>
            <a:ext cx="3351414" cy="1368148"/>
            <a:chOff x="4241870" y="4901246"/>
            <a:chExt cx="2206444" cy="1147755"/>
          </a:xfrm>
        </p:grpSpPr>
        <p:grpSp>
          <p:nvGrpSpPr>
            <p:cNvPr id="20" name="组合 38"/>
            <p:cNvGrpSpPr>
              <a:grpSpLocks/>
            </p:cNvGrpSpPr>
            <p:nvPr/>
          </p:nvGrpSpPr>
          <p:grpSpPr bwMode="auto">
            <a:xfrm rot="5400000" flipV="1">
              <a:off x="4838005" y="4510588"/>
              <a:ext cx="942278" cy="2134547"/>
              <a:chOff x="6453786" y="4116787"/>
              <a:chExt cx="1337402" cy="977733"/>
            </a:xfrm>
          </p:grpSpPr>
          <p:grpSp>
            <p:nvGrpSpPr>
              <p:cNvPr id="22" name="组合 38"/>
              <p:cNvGrpSpPr>
                <a:grpSpLocks/>
              </p:cNvGrpSpPr>
              <p:nvPr/>
            </p:nvGrpSpPr>
            <p:grpSpPr bwMode="auto">
              <a:xfrm rot="10800000">
                <a:off x="6453786" y="4116787"/>
                <a:ext cx="1070796" cy="815236"/>
                <a:chOff x="1766924" y="2298618"/>
                <a:chExt cx="1070903" cy="814920"/>
              </a:xfrm>
            </p:grpSpPr>
            <p:cxnSp>
              <p:nvCxnSpPr>
                <p:cNvPr id="26" name="直接连接符 39"/>
                <p:cNvCxnSpPr>
                  <a:cxnSpLocks noChangeShapeType="1"/>
                </p:cNvCxnSpPr>
                <p:nvPr/>
              </p:nvCxnSpPr>
              <p:spPr bwMode="auto">
                <a:xfrm rot="16200000" flipH="1" flipV="1">
                  <a:off x="1425516" y="2646176"/>
                  <a:ext cx="695116" cy="0"/>
                </a:xfrm>
                <a:prstGeom prst="line">
                  <a:avLst/>
                </a:prstGeom>
                <a:noFill/>
                <a:ln w="28575" algn="ctr">
                  <a:solidFill>
                    <a:srgbClr val="01598B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27" name="直接连接符 40"/>
                <p:cNvCxnSpPr>
                  <a:cxnSpLocks noChangeShapeType="1"/>
                </p:cNvCxnSpPr>
                <p:nvPr/>
              </p:nvCxnSpPr>
              <p:spPr bwMode="auto">
                <a:xfrm rot="16200000" flipH="1">
                  <a:off x="2244643" y="2520354"/>
                  <a:ext cx="115465" cy="1070903"/>
                </a:xfrm>
                <a:prstGeom prst="line">
                  <a:avLst/>
                </a:prstGeom>
                <a:noFill/>
                <a:ln w="28575" algn="ctr">
                  <a:solidFill>
                    <a:srgbClr val="01598B"/>
                  </a:solidFill>
                  <a:round/>
                  <a:headEnd/>
                  <a:tailEnd type="oval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grpSp>
            <p:nvGrpSpPr>
              <p:cNvPr id="23" name="组合 41"/>
              <p:cNvGrpSpPr>
                <a:grpSpLocks/>
              </p:cNvGrpSpPr>
              <p:nvPr/>
            </p:nvGrpSpPr>
            <p:grpSpPr bwMode="auto">
              <a:xfrm flipH="1">
                <a:off x="7169302" y="4932018"/>
                <a:ext cx="621886" cy="162502"/>
                <a:chOff x="2140164" y="3658530"/>
                <a:chExt cx="623648" cy="162298"/>
              </a:xfrm>
            </p:grpSpPr>
            <p:sp>
              <p:nvSpPr>
                <p:cNvPr id="24" name="椭圆 23"/>
                <p:cNvSpPr/>
                <p:nvPr/>
              </p:nvSpPr>
              <p:spPr bwMode="auto">
                <a:xfrm rot="5400000">
                  <a:off x="2374843" y="3423851"/>
                  <a:ext cx="151397" cy="620755"/>
                </a:xfrm>
                <a:prstGeom prst="ellipse">
                  <a:avLst/>
                </a:prstGeom>
                <a:solidFill>
                  <a:srgbClr val="006BA9"/>
                </a:solidFill>
                <a:ln w="28575" cap="flat" cmpd="sng" algn="ctr">
                  <a:solidFill>
                    <a:srgbClr val="006BA9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25400" dist="12700" dir="2700000" algn="tl" rotWithShape="0">
                    <a:prstClr val="black">
                      <a:alpha val="40000"/>
                    </a:prstClr>
                  </a:outerShdw>
                </a:effectLst>
                <a:extLst/>
              </p:spPr>
              <p:txBody>
                <a:bodyPr/>
                <a:lstStyle/>
                <a:p>
                  <a:pPr eaLnBrk="1" hangingPunct="1">
                    <a:buFont typeface="Arial" pitchFamily="34" charset="0"/>
                    <a:buNone/>
                    <a:defRPr/>
                  </a:pPr>
                  <a:endParaRPr lang="zh-CN" altLang="en-US">
                    <a:ea typeface="宋体" pitchFamily="2" charset="-122"/>
                  </a:endParaRPr>
                </a:p>
              </p:txBody>
            </p:sp>
            <p:sp>
              <p:nvSpPr>
                <p:cNvPr id="25" name="TextBox 24"/>
                <p:cNvSpPr txBox="1"/>
                <p:nvPr/>
              </p:nvSpPr>
              <p:spPr>
                <a:xfrm rot="5400000">
                  <a:off x="2381465" y="3438481"/>
                  <a:ext cx="141050" cy="623644"/>
                </a:xfrm>
                <a:prstGeom prst="rect">
                  <a:avLst/>
                </a:prstGeom>
                <a:noFill/>
                <a:effectLst>
                  <a:outerShdw blurRad="12700" dist="127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>
                  <a:spAutoFit/>
                </a:bodyPr>
                <a:lstStyle/>
                <a:p>
                  <a:pPr>
                    <a:defRPr/>
                  </a:pPr>
                  <a:r>
                    <a:rPr lang="en-US" altLang="zh-CN" sz="2800" b="1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endParaRPr lang="zh-CN" altLang="en-US" sz="2800" b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21" name="矩形 4"/>
            <p:cNvSpPr>
              <a:spLocks noChangeArrowheads="1"/>
            </p:cNvSpPr>
            <p:nvPr/>
          </p:nvSpPr>
          <p:spPr bwMode="auto">
            <a:xfrm>
              <a:off x="4468473" y="4901246"/>
              <a:ext cx="1979841" cy="8520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pPr marL="457200" indent="-457200">
                <a:lnSpc>
                  <a:spcPts val="3600"/>
                </a:lnSpc>
              </a:pPr>
              <a:r>
                <a:rPr lang="zh-CN" altLang="en-US" b="1" dirty="0" smtClean="0">
                  <a:solidFill>
                    <a:srgbClr val="006BA9"/>
                  </a:solidFill>
                  <a:ea typeface="微软雅黑" pitchFamily="34" charset="-122"/>
                  <a:sym typeface="宋体" charset="-122"/>
                </a:rPr>
                <a:t>如何解决请求和响应</a:t>
              </a:r>
              <a:endParaRPr lang="en-US" altLang="zh-CN" b="1" dirty="0" smtClean="0">
                <a:solidFill>
                  <a:srgbClr val="006BA9"/>
                </a:solidFill>
                <a:ea typeface="微软雅黑" pitchFamily="34" charset="-122"/>
                <a:sym typeface="宋体" charset="-122"/>
              </a:endParaRPr>
            </a:p>
            <a:p>
              <a:pPr marL="457200" indent="-457200">
                <a:lnSpc>
                  <a:spcPts val="3600"/>
                </a:lnSpc>
              </a:pPr>
              <a:r>
                <a:rPr lang="zh-CN" altLang="en-US" b="1" dirty="0" smtClean="0">
                  <a:solidFill>
                    <a:srgbClr val="006BA9"/>
                  </a:solidFill>
                  <a:ea typeface="微软雅黑" pitchFamily="34" charset="-122"/>
                  <a:sym typeface="宋体" charset="-122"/>
                </a:rPr>
                <a:t>过程中的中文乱码问题</a:t>
              </a:r>
              <a:endParaRPr lang="en-US" altLang="zh-CN" b="1" dirty="0">
                <a:solidFill>
                  <a:srgbClr val="006BA9"/>
                </a:solidFill>
                <a:ea typeface="微软雅黑" pitchFamily="34" charset="-122"/>
                <a:sym typeface="宋体" charset="-122"/>
              </a:endParaRPr>
            </a:p>
          </p:txBody>
        </p:sp>
      </p:grpSp>
      <p:grpSp>
        <p:nvGrpSpPr>
          <p:cNvPr id="28" name="组合 6"/>
          <p:cNvGrpSpPr>
            <a:grpSpLocks/>
          </p:cNvGrpSpPr>
          <p:nvPr/>
        </p:nvGrpSpPr>
        <p:grpSpPr bwMode="auto">
          <a:xfrm>
            <a:off x="5895977" y="1556792"/>
            <a:ext cx="3398415" cy="1537535"/>
            <a:chOff x="5947984" y="1195930"/>
            <a:chExt cx="3401478" cy="1537582"/>
          </a:xfrm>
        </p:grpSpPr>
        <p:sp>
          <p:nvSpPr>
            <p:cNvPr id="29" name="矩形 5"/>
            <p:cNvSpPr>
              <a:spLocks noChangeArrowheads="1"/>
            </p:cNvSpPr>
            <p:nvPr/>
          </p:nvSpPr>
          <p:spPr bwMode="auto">
            <a:xfrm flipH="1">
              <a:off x="6023830" y="1195930"/>
              <a:ext cx="3325632" cy="1477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pPr marL="457200" indent="-457200">
                <a:lnSpc>
                  <a:spcPts val="3600"/>
                </a:lnSpc>
              </a:pPr>
              <a:r>
                <a:rPr lang="en-US" altLang="zh-CN" b="1" dirty="0" err="1" smtClean="0">
                  <a:solidFill>
                    <a:srgbClr val="006BA9"/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anose="02020603050405020304" pitchFamily="18" charset="0"/>
                  <a:sym typeface="微软雅黑" pitchFamily="34" charset="-122"/>
                </a:rPr>
                <a:t>HttpServletRequest</a:t>
              </a:r>
              <a:r>
                <a:rPr lang="zh-CN" altLang="en-US" b="1" dirty="0" smtClean="0">
                  <a:solidFill>
                    <a:srgbClr val="006BA9"/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anose="02020603050405020304" pitchFamily="18" charset="0"/>
                  <a:sym typeface="微软雅黑" pitchFamily="34" charset="-122"/>
                </a:rPr>
                <a:t>和</a:t>
              </a:r>
              <a:endParaRPr lang="en-US" altLang="zh-CN" b="1" dirty="0" smtClean="0">
                <a:solidFill>
                  <a:srgbClr val="006BA9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  <a:sym typeface="微软雅黑" pitchFamily="34" charset="-122"/>
              </a:endParaRPr>
            </a:p>
            <a:p>
              <a:pPr marL="457200" indent="-457200">
                <a:lnSpc>
                  <a:spcPts val="3600"/>
                </a:lnSpc>
              </a:pPr>
              <a:r>
                <a:rPr lang="en-US" altLang="zh-CN" b="1" dirty="0" err="1" smtClean="0">
                  <a:solidFill>
                    <a:srgbClr val="006BA9"/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anose="02020603050405020304" pitchFamily="18" charset="0"/>
                  <a:sym typeface="微软雅黑" pitchFamily="34" charset="-122"/>
                </a:rPr>
                <a:t>HttpServletResponse</a:t>
              </a:r>
              <a:endParaRPr lang="en-US" altLang="zh-CN" b="1" dirty="0" smtClean="0">
                <a:solidFill>
                  <a:srgbClr val="006BA9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  <a:sym typeface="微软雅黑" pitchFamily="34" charset="-122"/>
              </a:endParaRPr>
            </a:p>
            <a:p>
              <a:pPr marL="457200" indent="-457200">
                <a:lnSpc>
                  <a:spcPts val="3600"/>
                </a:lnSpc>
              </a:pPr>
              <a:r>
                <a:rPr lang="zh-CN" altLang="en-US" b="1" dirty="0" smtClean="0">
                  <a:solidFill>
                    <a:srgbClr val="006BA9"/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anose="02020603050405020304" pitchFamily="18" charset="0"/>
                  <a:sym typeface="微软雅黑" pitchFamily="34" charset="-122"/>
                </a:rPr>
                <a:t>对象的使用</a:t>
              </a:r>
              <a:endParaRPr lang="zh-CN" altLang="en-US" b="1" dirty="0">
                <a:solidFill>
                  <a:srgbClr val="006BA9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  <a:sym typeface="微软雅黑" pitchFamily="34" charset="-122"/>
              </a:endParaRPr>
            </a:p>
          </p:txBody>
        </p:sp>
        <p:grpSp>
          <p:nvGrpSpPr>
            <p:cNvPr id="30" name="组合 16"/>
            <p:cNvGrpSpPr>
              <a:grpSpLocks/>
            </p:cNvGrpSpPr>
            <p:nvPr/>
          </p:nvGrpSpPr>
          <p:grpSpPr bwMode="auto">
            <a:xfrm flipH="1">
              <a:off x="5947984" y="2286831"/>
              <a:ext cx="2585191" cy="446681"/>
              <a:chOff x="1455470" y="2862509"/>
              <a:chExt cx="2703185" cy="446892"/>
            </a:xfrm>
          </p:grpSpPr>
          <p:cxnSp>
            <p:nvCxnSpPr>
              <p:cNvPr id="34" name="直接连接符 7"/>
              <p:cNvCxnSpPr>
                <a:cxnSpLocks noChangeShapeType="1"/>
              </p:cNvCxnSpPr>
              <p:nvPr/>
            </p:nvCxnSpPr>
            <p:spPr bwMode="auto">
              <a:xfrm>
                <a:off x="1455470" y="2862509"/>
                <a:ext cx="255076" cy="446892"/>
              </a:xfrm>
              <a:prstGeom prst="line">
                <a:avLst/>
              </a:prstGeom>
              <a:noFill/>
              <a:ln w="28575" algn="ctr">
                <a:solidFill>
                  <a:srgbClr val="006BA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5" name="直接连接符 10"/>
              <p:cNvCxnSpPr>
                <a:cxnSpLocks noChangeShapeType="1"/>
              </p:cNvCxnSpPr>
              <p:nvPr/>
            </p:nvCxnSpPr>
            <p:spPr bwMode="auto">
              <a:xfrm>
                <a:off x="1714278" y="3309401"/>
                <a:ext cx="2444377" cy="0"/>
              </a:xfrm>
              <a:prstGeom prst="line">
                <a:avLst/>
              </a:prstGeom>
              <a:noFill/>
              <a:ln w="28575" algn="ctr">
                <a:solidFill>
                  <a:srgbClr val="006BA9"/>
                </a:solidFill>
                <a:round/>
                <a:headEnd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31" name="组合 15"/>
            <p:cNvGrpSpPr>
              <a:grpSpLocks/>
            </p:cNvGrpSpPr>
            <p:nvPr/>
          </p:nvGrpSpPr>
          <p:grpSpPr bwMode="auto">
            <a:xfrm flipH="1">
              <a:off x="8313653" y="1827379"/>
              <a:ext cx="489391" cy="520715"/>
              <a:chOff x="1857876" y="4069722"/>
              <a:chExt cx="511727" cy="520961"/>
            </a:xfrm>
          </p:grpSpPr>
          <p:sp>
            <p:nvSpPr>
              <p:cNvPr id="32" name="椭圆 31"/>
              <p:cNvSpPr/>
              <p:nvPr/>
            </p:nvSpPr>
            <p:spPr bwMode="auto">
              <a:xfrm>
                <a:off x="1857876" y="4085605"/>
                <a:ext cx="511727" cy="473312"/>
              </a:xfrm>
              <a:prstGeom prst="ellipse">
                <a:avLst/>
              </a:prstGeom>
              <a:solidFill>
                <a:srgbClr val="006BA9"/>
              </a:solidFill>
              <a:ln w="28575" cap="flat" cmpd="sng" algn="ctr">
                <a:solidFill>
                  <a:srgbClr val="006BA9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25400" dist="12700" dir="2700000" algn="tl" rotWithShape="0">
                  <a:prstClr val="black">
                    <a:alpha val="40000"/>
                  </a:prstClr>
                </a:outerShdw>
              </a:effectLst>
              <a:extLst/>
            </p:spPr>
            <p:txBody>
              <a:bodyPr/>
              <a:lstStyle/>
              <a:p>
                <a:pPr eaLnBrk="1" hangingPunct="1">
                  <a:buFont typeface="Arial" pitchFamily="34" charset="0"/>
                  <a:buNone/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1965869" y="4069722"/>
                <a:ext cx="335613" cy="520961"/>
              </a:xfrm>
              <a:prstGeom prst="rect">
                <a:avLst/>
              </a:prstGeom>
              <a:noFill/>
              <a:effectLst>
                <a:outerShdw blurRad="127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CN" alt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37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学习目标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36320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75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 txBox="1">
            <a:spLocks/>
          </p:cNvSpPr>
          <p:nvPr/>
        </p:nvSpPr>
        <p:spPr bwMode="auto">
          <a:xfrm>
            <a:off x="542925" y="1352203"/>
            <a:ext cx="8102600" cy="121270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Servlet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最主要的作用就是处理客户端请求，并向客户端做出响应。为此，针对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Servlet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的每次请求，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服务器在调用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service()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之前，都会创建两个对象，分别是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HttpServletRequest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HttpServletResponse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marL="457200" lvl="1" indent="0">
              <a:lnSpc>
                <a:spcPct val="150000"/>
              </a:lnSpc>
              <a:buNone/>
              <a:defRPr/>
            </a:pPr>
            <a:endParaRPr lang="en-US" altLang="zh-CN" sz="2000" dirty="0"/>
          </a:p>
        </p:txBody>
      </p:sp>
      <p:sp>
        <p:nvSpPr>
          <p:cNvPr id="4" name="矩形 24"/>
          <p:cNvSpPr>
            <a:spLocks noChangeArrowheads="1"/>
          </p:cNvSpPr>
          <p:nvPr/>
        </p:nvSpPr>
        <p:spPr bwMode="auto">
          <a:xfrm>
            <a:off x="542925" y="1269787"/>
            <a:ext cx="8102600" cy="1295117"/>
          </a:xfrm>
          <a:prstGeom prst="rect">
            <a:avLst/>
          </a:prstGeom>
          <a:noFill/>
          <a:ln w="19050" algn="ctr">
            <a:solidFill>
              <a:srgbClr val="006B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5" name="任意多边形 4"/>
          <p:cNvSpPr/>
          <p:nvPr/>
        </p:nvSpPr>
        <p:spPr bwMode="auto">
          <a:xfrm>
            <a:off x="5757688" y="980728"/>
            <a:ext cx="2198688" cy="371475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6BA9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简介</a:t>
            </a:r>
            <a:endParaRPr lang="zh-CN" altLang="en-US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27" name="直接箭头连接符 26"/>
          <p:cNvCxnSpPr/>
          <p:nvPr/>
        </p:nvCxnSpPr>
        <p:spPr>
          <a:xfrm>
            <a:off x="2123728" y="4444404"/>
            <a:ext cx="864096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 flipH="1">
            <a:off x="2123728" y="4589581"/>
            <a:ext cx="864096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195736" y="4015824"/>
            <a:ext cx="74892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100" dirty="0" smtClean="0"/>
              <a:t>HTTP</a:t>
            </a:r>
          </a:p>
          <a:p>
            <a:pPr algn="ctr"/>
            <a:r>
              <a:rPr lang="zh-CN" altLang="en-US" sz="1100" dirty="0" smtClean="0"/>
              <a:t>请求消息</a:t>
            </a:r>
            <a:endParaRPr lang="zh-CN" altLang="en-US" sz="1100" dirty="0"/>
          </a:p>
        </p:txBody>
      </p:sp>
      <p:sp>
        <p:nvSpPr>
          <p:cNvPr id="30" name="TextBox 29"/>
          <p:cNvSpPr txBox="1"/>
          <p:nvPr/>
        </p:nvSpPr>
        <p:spPr>
          <a:xfrm>
            <a:off x="2238901" y="4590727"/>
            <a:ext cx="74892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100" dirty="0" smtClean="0"/>
              <a:t>HTTP</a:t>
            </a:r>
          </a:p>
          <a:p>
            <a:pPr algn="ctr"/>
            <a:r>
              <a:rPr lang="zh-CN" altLang="en-US" sz="1100" dirty="0" smtClean="0"/>
              <a:t>请求消息</a:t>
            </a:r>
            <a:endParaRPr lang="zh-CN" altLang="en-US" sz="1100" dirty="0"/>
          </a:p>
        </p:txBody>
      </p:sp>
      <p:cxnSp>
        <p:nvCxnSpPr>
          <p:cNvPr id="31" name="直接箭头连接符 30"/>
          <p:cNvCxnSpPr/>
          <p:nvPr/>
        </p:nvCxnSpPr>
        <p:spPr>
          <a:xfrm>
            <a:off x="4427984" y="4446711"/>
            <a:ext cx="1391791" cy="2282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>
          <a:xfrm flipV="1">
            <a:off x="4427984" y="3294583"/>
            <a:ext cx="1440160" cy="936104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/>
        </p:nvCxnSpPr>
        <p:spPr>
          <a:xfrm>
            <a:off x="6660232" y="3438599"/>
            <a:ext cx="0" cy="433207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/>
        </p:nvCxnSpPr>
        <p:spPr>
          <a:xfrm>
            <a:off x="6668244" y="5021614"/>
            <a:ext cx="0" cy="566038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/>
          <p:nvPr/>
        </p:nvCxnSpPr>
        <p:spPr>
          <a:xfrm flipH="1" flipV="1">
            <a:off x="4211960" y="4878759"/>
            <a:ext cx="1535806" cy="1008112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120934" y="3726631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 smtClean="0"/>
              <a:t>创建</a:t>
            </a:r>
            <a:endParaRPr lang="zh-CN" altLang="en-US" sz="1100" dirty="0"/>
          </a:p>
        </p:txBody>
      </p:sp>
      <p:sp>
        <p:nvSpPr>
          <p:cNvPr id="37" name="TextBox 36"/>
          <p:cNvSpPr txBox="1"/>
          <p:nvPr/>
        </p:nvSpPr>
        <p:spPr>
          <a:xfrm>
            <a:off x="5113318" y="4977189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 smtClean="0"/>
              <a:t>创建</a:t>
            </a:r>
            <a:endParaRPr lang="zh-CN" altLang="en-US" sz="1100" dirty="0"/>
          </a:p>
        </p:txBody>
      </p:sp>
      <p:sp>
        <p:nvSpPr>
          <p:cNvPr id="38" name="TextBox 37"/>
          <p:cNvSpPr txBox="1"/>
          <p:nvPr/>
        </p:nvSpPr>
        <p:spPr>
          <a:xfrm>
            <a:off x="4085317" y="5409237"/>
            <a:ext cx="12067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 smtClean="0"/>
              <a:t>读取响应数据</a:t>
            </a:r>
            <a:endParaRPr lang="zh-CN" altLang="en-US" sz="1100" dirty="0"/>
          </a:p>
        </p:txBody>
      </p:sp>
      <p:sp>
        <p:nvSpPr>
          <p:cNvPr id="39" name="TextBox 38"/>
          <p:cNvSpPr txBox="1"/>
          <p:nvPr/>
        </p:nvSpPr>
        <p:spPr>
          <a:xfrm>
            <a:off x="4661381" y="4185101"/>
            <a:ext cx="12067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 smtClean="0"/>
              <a:t>调用</a:t>
            </a:r>
            <a:r>
              <a:rPr lang="en-US" altLang="zh-CN" sz="1100" dirty="0" smtClean="0"/>
              <a:t>Servlet</a:t>
            </a:r>
            <a:endParaRPr lang="zh-CN" altLang="en-US" sz="1100" dirty="0"/>
          </a:p>
        </p:txBody>
      </p:sp>
      <p:sp>
        <p:nvSpPr>
          <p:cNvPr id="40" name="TextBox 39"/>
          <p:cNvSpPr txBox="1"/>
          <p:nvPr/>
        </p:nvSpPr>
        <p:spPr>
          <a:xfrm>
            <a:off x="6677605" y="3439760"/>
            <a:ext cx="149479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 smtClean="0"/>
              <a:t>从</a:t>
            </a:r>
            <a:r>
              <a:rPr lang="en-US" altLang="zh-CN" sz="1100" dirty="0" err="1" smtClean="0"/>
              <a:t>HttpServletRequest</a:t>
            </a:r>
            <a:r>
              <a:rPr lang="zh-CN" altLang="en-US" sz="1100" dirty="0" smtClean="0"/>
              <a:t>对象读取数据</a:t>
            </a:r>
            <a:endParaRPr lang="zh-CN" altLang="en-US" sz="1100" dirty="0"/>
          </a:p>
        </p:txBody>
      </p:sp>
      <p:sp>
        <p:nvSpPr>
          <p:cNvPr id="41" name="TextBox 40"/>
          <p:cNvSpPr txBox="1"/>
          <p:nvPr/>
        </p:nvSpPr>
        <p:spPr>
          <a:xfrm>
            <a:off x="6677605" y="5095944"/>
            <a:ext cx="17828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 smtClean="0"/>
              <a:t>将响应数据写入</a:t>
            </a:r>
            <a:endParaRPr lang="en-US" altLang="zh-CN" sz="1100" dirty="0" smtClean="0"/>
          </a:p>
          <a:p>
            <a:r>
              <a:rPr lang="en-US" altLang="zh-CN" sz="1100" dirty="0" err="1" smtClean="0"/>
              <a:t>HttpServletResponse</a:t>
            </a:r>
            <a:r>
              <a:rPr lang="zh-CN" altLang="en-US" sz="1100" dirty="0" smtClean="0"/>
              <a:t>对象</a:t>
            </a:r>
            <a:endParaRPr lang="zh-CN" altLang="en-US" sz="1100" dirty="0"/>
          </a:p>
        </p:txBody>
      </p:sp>
      <p:pic>
        <p:nvPicPr>
          <p:cNvPr id="6" name="图片 5"/>
          <p:cNvPicPr/>
          <p:nvPr>
            <p:extLst>
              <p:ext uri="{D42A27DB-BD31-4B8C-83A1-F6EECF244321}">
                <p14:modId xmlns:p14="http://schemas.microsoft.com/office/powerpoint/2010/main" val="1009815364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059832" y="4031039"/>
            <a:ext cx="1316037" cy="946150"/>
          </a:xfrm>
          <a:prstGeom prst="rect">
            <a:avLst/>
          </a:prstGeom>
        </p:spPr>
      </p:pic>
      <p:pic>
        <p:nvPicPr>
          <p:cNvPr id="2" name="图片 1"/>
          <p:cNvPicPr/>
          <p:nvPr>
            <p:extLst>
              <p:ext uri="{D42A27DB-BD31-4B8C-83A1-F6EECF244321}">
                <p14:modId xmlns:p14="http://schemas.microsoft.com/office/powerpoint/2010/main" val="23693775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55576" y="4044756"/>
            <a:ext cx="1316037" cy="946150"/>
          </a:xfrm>
          <a:prstGeom prst="rect">
            <a:avLst/>
          </a:prstGeom>
        </p:spPr>
      </p:pic>
      <p:cxnSp>
        <p:nvCxnSpPr>
          <p:cNvPr id="44" name="直接箭头连接符 43"/>
          <p:cNvCxnSpPr/>
          <p:nvPr/>
        </p:nvCxnSpPr>
        <p:spPr>
          <a:xfrm>
            <a:off x="4427984" y="4734743"/>
            <a:ext cx="1500733" cy="976881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内容占位符 2"/>
          <p:cNvSpPr txBox="1">
            <a:spLocks/>
          </p:cNvSpPr>
          <p:nvPr/>
        </p:nvSpPr>
        <p:spPr bwMode="auto">
          <a:xfrm>
            <a:off x="395536" y="2600871"/>
            <a:ext cx="7975600" cy="68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1">
              <a:lnSpc>
                <a:spcPct val="150000"/>
              </a:lnSpc>
              <a:spcBef>
                <a:spcPct val="20000"/>
              </a:spcBef>
              <a:buFontTx/>
              <a:buChar char="–"/>
            </a:pPr>
            <a:r>
              <a:rPr lang="zh-CN" altLang="en-US" sz="2000" b="1" kern="0" dirty="0" smtClean="0">
                <a:solidFill>
                  <a:srgbClr val="0070C0"/>
                </a:solidFill>
                <a:latin typeface="Arial"/>
                <a:ea typeface="宋体"/>
              </a:rPr>
              <a:t>浏览器访问</a:t>
            </a:r>
            <a:r>
              <a:rPr lang="en-US" altLang="zh-CN" sz="2000" b="1" kern="0" dirty="0" smtClean="0">
                <a:solidFill>
                  <a:srgbClr val="0070C0"/>
                </a:solidFill>
                <a:latin typeface="Arial"/>
                <a:ea typeface="宋体"/>
              </a:rPr>
              <a:t>Servlet</a:t>
            </a:r>
            <a:r>
              <a:rPr lang="zh-CN" altLang="en-US" sz="2000" b="1" kern="0" dirty="0" smtClean="0">
                <a:solidFill>
                  <a:srgbClr val="0070C0"/>
                </a:solidFill>
                <a:latin typeface="Arial"/>
                <a:ea typeface="宋体"/>
              </a:rPr>
              <a:t>过程</a:t>
            </a:r>
            <a:endParaRPr lang="en-US" altLang="zh-CN" sz="2000" b="1" kern="0" dirty="0">
              <a:solidFill>
                <a:srgbClr val="0070C0"/>
              </a:solidFill>
              <a:latin typeface="Arial"/>
              <a:ea typeface="宋体"/>
            </a:endParaRPr>
          </a:p>
        </p:txBody>
      </p:sp>
      <p:pic>
        <p:nvPicPr>
          <p:cNvPr id="8" name="图片 7"/>
          <p:cNvPicPr>
            <a:picLocks noChangeAspect="1" noChangeArrowheads="1"/>
          </p:cNvPicPr>
          <p:nvPr>
            <p:extLst>
              <p:ext uri="{D42A27DB-BD31-4B8C-83A1-F6EECF244321}">
                <p14:modId xmlns:p14="http://schemas.microsoft.com/office/powerpoint/2010/main" val="338246710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8717" y="5589875"/>
            <a:ext cx="1549400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6"/>
          <p:cNvPicPr>
            <a:picLocks noChangeAspect="1" noChangeArrowheads="1"/>
          </p:cNvPicPr>
          <p:nvPr>
            <p:extLst>
              <p:ext uri="{D42A27DB-BD31-4B8C-83A1-F6EECF244321}">
                <p14:modId xmlns:p14="http://schemas.microsoft.com/office/powerpoint/2010/main" val="1600689880"/>
              </p:ext>
            </p:ext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2920" y="2670175"/>
            <a:ext cx="1549400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图片 8"/>
          <p:cNvPicPr>
            <a:picLocks noChangeAspect="1" noChangeArrowheads="1"/>
          </p:cNvPicPr>
          <p:nvPr>
            <p:extLst>
              <p:ext uri="{D42A27DB-BD31-4B8C-83A1-F6EECF244321}">
                <p14:modId xmlns:p14="http://schemas.microsoft.com/office/powerpoint/2010/main" val="796079362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3878113"/>
            <a:ext cx="1622425" cy="1135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2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请求和响应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45089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 animBg="1"/>
      <p:bldP spid="29" grpId="0"/>
      <p:bldP spid="30" grpId="0"/>
      <p:bldP spid="36" grpId="0"/>
      <p:bldP spid="37" grpId="0"/>
      <p:bldP spid="38" grpId="0"/>
      <p:bldP spid="39" grpId="0"/>
      <p:bldP spid="40" grpId="0"/>
      <p:bldP spid="41" grpId="0"/>
      <p:bldP spid="4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对角圆角矩形 10"/>
          <p:cNvSpPr/>
          <p:nvPr/>
        </p:nvSpPr>
        <p:spPr>
          <a:xfrm>
            <a:off x="508645" y="1700808"/>
            <a:ext cx="5719539" cy="648072"/>
          </a:xfrm>
          <a:prstGeom prst="round2DiagRect">
            <a:avLst>
              <a:gd name="adj1" fmla="val 20943"/>
              <a:gd name="adj2" fmla="val 0"/>
            </a:avLst>
          </a:prstGeom>
          <a:solidFill>
            <a:srgbClr val="006BA9"/>
          </a:solidFill>
          <a:ln>
            <a:solidFill>
              <a:srgbClr val="006B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Box 5"/>
          <p:cNvSpPr txBox="1"/>
          <p:nvPr/>
        </p:nvSpPr>
        <p:spPr>
          <a:xfrm>
            <a:off x="683568" y="4072426"/>
            <a:ext cx="3791036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dirty="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4.4</a:t>
            </a:r>
            <a:r>
              <a:rPr lang="en-US" altLang="zh-CN" sz="2400" dirty="0" smtClean="0">
                <a:solidFill>
                  <a:srgbClr val="CD1F06"/>
                </a:solidFill>
                <a:latin typeface="Impact" pitchFamily="34" charset="0"/>
                <a:ea typeface="微软雅黑" pitchFamily="34" charset="-122"/>
              </a:rPr>
              <a:t>    </a:t>
            </a:r>
            <a:r>
              <a:rPr lang="en-US" altLang="zh-CN" sz="2400" dirty="0" err="1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HttpServletRequest</a:t>
            </a:r>
            <a:r>
              <a:rPr lang="zh-CN" altLang="en-US" sz="2400" dirty="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应用</a:t>
            </a:r>
            <a:endParaRPr lang="zh-CN" altLang="en-US" sz="2400" dirty="0">
              <a:solidFill>
                <a:srgbClr val="7F7F7F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5" name="TextBox 10"/>
          <p:cNvSpPr txBox="1"/>
          <p:nvPr/>
        </p:nvSpPr>
        <p:spPr>
          <a:xfrm>
            <a:off x="683568" y="2584261"/>
            <a:ext cx="4223084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dirty="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4.2</a:t>
            </a:r>
            <a:r>
              <a:rPr lang="en-US" altLang="zh-CN" sz="2400" dirty="0" smtClean="0">
                <a:solidFill>
                  <a:srgbClr val="CD1F06"/>
                </a:solidFill>
                <a:latin typeface="Impact" pitchFamily="34" charset="0"/>
                <a:ea typeface="微软雅黑" pitchFamily="34" charset="-122"/>
              </a:rPr>
              <a:t>    </a:t>
            </a:r>
            <a:r>
              <a:rPr lang="en-US" altLang="zh-CN" sz="2400" dirty="0" err="1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HttpServletResponse</a:t>
            </a:r>
            <a:r>
              <a:rPr lang="zh-CN" altLang="en-US" sz="2400" dirty="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应用</a:t>
            </a:r>
            <a:endParaRPr lang="zh-CN" altLang="en-US" sz="2400" dirty="0">
              <a:solidFill>
                <a:srgbClr val="7F7F7F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6" name="TextBox 11"/>
          <p:cNvSpPr txBox="1"/>
          <p:nvPr/>
        </p:nvSpPr>
        <p:spPr>
          <a:xfrm>
            <a:off x="683568" y="3328344"/>
            <a:ext cx="3791036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dirty="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4.3    </a:t>
            </a:r>
            <a:r>
              <a:rPr lang="en-US" altLang="zh-CN" sz="2400" dirty="0" err="1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HttpServletRequest</a:t>
            </a:r>
            <a:r>
              <a:rPr lang="zh-CN" altLang="en-US" sz="2400" dirty="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对象</a:t>
            </a:r>
            <a:endParaRPr lang="zh-CN" altLang="en-US" sz="2400" dirty="0">
              <a:solidFill>
                <a:srgbClr val="7F7F7F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4897998" y="1756903"/>
            <a:ext cx="3444382" cy="344438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381000">
            <a:solidFill>
              <a:srgbClr val="006B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0" name="TextBox 1"/>
          <p:cNvSpPr txBox="1"/>
          <p:nvPr/>
        </p:nvSpPr>
        <p:spPr>
          <a:xfrm>
            <a:off x="4860032" y="2749857"/>
            <a:ext cx="3566358" cy="183127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5400" b="1" dirty="0" smtClean="0">
                <a:solidFill>
                  <a:srgbClr val="F2F2E6"/>
                </a:solidFill>
                <a:latin typeface="微软雅黑" pitchFamily="34" charset="-122"/>
                <a:ea typeface="微软雅黑" pitchFamily="34" charset="-122"/>
              </a:rPr>
              <a:t>主讲内容</a:t>
            </a:r>
            <a:endParaRPr lang="en-US" altLang="zh-CN" sz="5400" b="1" dirty="0" smtClean="0">
              <a:solidFill>
                <a:srgbClr val="F2F2E6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3200" dirty="0" smtClean="0">
                <a:solidFill>
                  <a:srgbClr val="F2F2E6"/>
                </a:solidFill>
                <a:latin typeface="Times New Roman" panose="02020603050405020304" pitchFamily="18" charset="0"/>
                <a:ea typeface="Adobe 宋体 Std L" pitchFamily="18" charset="-122"/>
                <a:cs typeface="Times New Roman" panose="02020603050405020304" pitchFamily="18" charset="0"/>
              </a:rPr>
              <a:t>Speech content</a:t>
            </a:r>
          </a:p>
        </p:txBody>
      </p:sp>
      <p:sp>
        <p:nvSpPr>
          <p:cNvPr id="12" name="TextBox 6"/>
          <p:cNvSpPr txBox="1"/>
          <p:nvPr/>
        </p:nvSpPr>
        <p:spPr>
          <a:xfrm>
            <a:off x="683568" y="1840178"/>
            <a:ext cx="434996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l"/>
            <a:r>
              <a:rPr lang="en-US" altLang="zh-CN" sz="2400" dirty="0" smtClean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4.1    </a:t>
            </a:r>
            <a:r>
              <a:rPr lang="en-US" altLang="zh-CN" sz="2400" dirty="0" err="1" smtClean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HttpServletResponse</a:t>
            </a:r>
            <a:r>
              <a:rPr lang="zh-CN" altLang="en-US" sz="2400" dirty="0" smtClean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对象</a:t>
            </a:r>
            <a:endParaRPr lang="zh-CN" altLang="en-US" sz="2400" dirty="0">
              <a:solidFill>
                <a:schemeClr val="bg1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13" name="TextBox 5"/>
          <p:cNvSpPr txBox="1"/>
          <p:nvPr/>
        </p:nvSpPr>
        <p:spPr>
          <a:xfrm>
            <a:off x="683568" y="4792506"/>
            <a:ext cx="4752528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dirty="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4.5</a:t>
            </a:r>
            <a:r>
              <a:rPr lang="en-US" altLang="zh-CN" sz="2400" dirty="0" smtClean="0">
                <a:solidFill>
                  <a:srgbClr val="CD1F06"/>
                </a:solidFill>
                <a:latin typeface="Impact" pitchFamily="34" charset="0"/>
                <a:ea typeface="微软雅黑" pitchFamily="34" charset="-122"/>
              </a:rPr>
              <a:t>    </a:t>
            </a:r>
            <a:r>
              <a:rPr lang="en-US" altLang="zh-CN" sz="2400" dirty="0" err="1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RequestDispatcher</a:t>
            </a:r>
            <a:r>
              <a:rPr lang="zh-CN" altLang="en-US" sz="2400" dirty="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对象的应用</a:t>
            </a:r>
            <a:endParaRPr lang="zh-CN" altLang="en-US" sz="2400" dirty="0">
              <a:solidFill>
                <a:srgbClr val="7F7F7F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14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主讲内容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70288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5"/>
          <p:cNvSpPr>
            <a:spLocks noEditPoints="1"/>
          </p:cNvSpPr>
          <p:nvPr/>
        </p:nvSpPr>
        <p:spPr bwMode="auto">
          <a:xfrm>
            <a:off x="1834134" y="4135525"/>
            <a:ext cx="2328867" cy="1859719"/>
          </a:xfrm>
          <a:custGeom>
            <a:avLst/>
            <a:gdLst>
              <a:gd name="T0" fmla="*/ 3055 w 3055"/>
              <a:gd name="T1" fmla="*/ 1674 h 2735"/>
              <a:gd name="T2" fmla="*/ 2121 w 3055"/>
              <a:gd name="T3" fmla="*/ 1674 h 2735"/>
              <a:gd name="T4" fmla="*/ 1060 w 3055"/>
              <a:gd name="T5" fmla="*/ 2735 h 2735"/>
              <a:gd name="T6" fmla="*/ 0 w 3055"/>
              <a:gd name="T7" fmla="*/ 1674 h 2735"/>
              <a:gd name="T8" fmla="*/ 1060 w 3055"/>
              <a:gd name="T9" fmla="*/ 613 h 2735"/>
              <a:gd name="T10" fmla="*/ 1632 w 3055"/>
              <a:gd name="T11" fmla="*/ 780 h 2735"/>
              <a:gd name="T12" fmla="*/ 2089 w 3055"/>
              <a:gd name="T13" fmla="*/ 68 h 2735"/>
              <a:gd name="T14" fmla="*/ 2133 w 3055"/>
              <a:gd name="T15" fmla="*/ 0 h 2735"/>
              <a:gd name="T16" fmla="*/ 3055 w 3055"/>
              <a:gd name="T17" fmla="*/ 532 h 2735"/>
              <a:gd name="T18" fmla="*/ 3055 w 3055"/>
              <a:gd name="T19" fmla="*/ 1674 h 2735"/>
              <a:gd name="T20" fmla="*/ 1909 w 3055"/>
              <a:gd name="T21" fmla="*/ 1674 h 2735"/>
              <a:gd name="T22" fmla="*/ 1058 w 3055"/>
              <a:gd name="T23" fmla="*/ 1674 h 2735"/>
              <a:gd name="T24" fmla="*/ 1518 w 3055"/>
              <a:gd name="T25" fmla="*/ 958 h 2735"/>
              <a:gd name="T26" fmla="*/ 1060 w 3055"/>
              <a:gd name="T27" fmla="*/ 824 h 2735"/>
              <a:gd name="T28" fmla="*/ 212 w 3055"/>
              <a:gd name="T29" fmla="*/ 1674 h 2735"/>
              <a:gd name="T30" fmla="*/ 1060 w 3055"/>
              <a:gd name="T31" fmla="*/ 2523 h 2735"/>
              <a:gd name="T32" fmla="*/ 1909 w 3055"/>
              <a:gd name="T33" fmla="*/ 1674 h 27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3055" h="2735">
                <a:moveTo>
                  <a:pt x="3055" y="1674"/>
                </a:moveTo>
                <a:cubicBezTo>
                  <a:pt x="2121" y="1674"/>
                  <a:pt x="2121" y="1674"/>
                  <a:pt x="2121" y="1674"/>
                </a:cubicBezTo>
                <a:cubicBezTo>
                  <a:pt x="2121" y="2260"/>
                  <a:pt x="1646" y="2735"/>
                  <a:pt x="1060" y="2735"/>
                </a:cubicBezTo>
                <a:cubicBezTo>
                  <a:pt x="475" y="2735"/>
                  <a:pt x="0" y="2260"/>
                  <a:pt x="0" y="1674"/>
                </a:cubicBezTo>
                <a:cubicBezTo>
                  <a:pt x="0" y="1088"/>
                  <a:pt x="475" y="613"/>
                  <a:pt x="1060" y="613"/>
                </a:cubicBezTo>
                <a:cubicBezTo>
                  <a:pt x="1271" y="613"/>
                  <a:pt x="1467" y="674"/>
                  <a:pt x="1632" y="780"/>
                </a:cubicBezTo>
                <a:cubicBezTo>
                  <a:pt x="2089" y="68"/>
                  <a:pt x="2089" y="68"/>
                  <a:pt x="2089" y="68"/>
                </a:cubicBezTo>
                <a:cubicBezTo>
                  <a:pt x="2133" y="0"/>
                  <a:pt x="2133" y="0"/>
                  <a:pt x="2133" y="0"/>
                </a:cubicBezTo>
                <a:cubicBezTo>
                  <a:pt x="3055" y="532"/>
                  <a:pt x="3055" y="532"/>
                  <a:pt x="3055" y="532"/>
                </a:cubicBezTo>
                <a:lnTo>
                  <a:pt x="3055" y="1674"/>
                </a:lnTo>
                <a:close/>
                <a:moveTo>
                  <a:pt x="1909" y="1674"/>
                </a:moveTo>
                <a:cubicBezTo>
                  <a:pt x="1058" y="1674"/>
                  <a:pt x="1058" y="1674"/>
                  <a:pt x="1058" y="1674"/>
                </a:cubicBezTo>
                <a:cubicBezTo>
                  <a:pt x="1518" y="958"/>
                  <a:pt x="1518" y="958"/>
                  <a:pt x="1518" y="958"/>
                </a:cubicBezTo>
                <a:cubicBezTo>
                  <a:pt x="1386" y="873"/>
                  <a:pt x="1229" y="824"/>
                  <a:pt x="1060" y="824"/>
                </a:cubicBezTo>
                <a:cubicBezTo>
                  <a:pt x="592" y="824"/>
                  <a:pt x="212" y="1205"/>
                  <a:pt x="212" y="1674"/>
                </a:cubicBezTo>
                <a:cubicBezTo>
                  <a:pt x="212" y="2143"/>
                  <a:pt x="592" y="2523"/>
                  <a:pt x="1060" y="2523"/>
                </a:cubicBezTo>
                <a:cubicBezTo>
                  <a:pt x="1529" y="2523"/>
                  <a:pt x="1909" y="2143"/>
                  <a:pt x="1909" y="1674"/>
                </a:cubicBezTo>
                <a:close/>
              </a:path>
            </a:pathLst>
          </a:custGeom>
          <a:solidFill>
            <a:schemeClr val="accent4">
              <a:hueOff val="-4464770"/>
              <a:satOff val="26899"/>
              <a:lumOff val="2156"/>
            </a:schemeClr>
          </a:solidFill>
          <a:ln>
            <a:noFill/>
          </a:ln>
        </p:spPr>
        <p:txBody>
          <a:bodyPr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 kern="0">
              <a:solidFill>
                <a:prstClr val="black"/>
              </a:solidFill>
              <a:latin typeface="Calibri"/>
              <a:ea typeface="宋体"/>
            </a:endParaRPr>
          </a:p>
        </p:txBody>
      </p:sp>
      <p:sp>
        <p:nvSpPr>
          <p:cNvPr id="4" name="Freeform 6"/>
          <p:cNvSpPr>
            <a:spLocks noEditPoints="1"/>
          </p:cNvSpPr>
          <p:nvPr/>
        </p:nvSpPr>
        <p:spPr bwMode="auto">
          <a:xfrm>
            <a:off x="4251439" y="4130596"/>
            <a:ext cx="2343607" cy="1864647"/>
          </a:xfrm>
          <a:custGeom>
            <a:avLst/>
            <a:gdLst>
              <a:gd name="T0" fmla="*/ 933 w 3073"/>
              <a:gd name="T1" fmla="*/ 0 h 2742"/>
              <a:gd name="T2" fmla="*/ 981 w 3073"/>
              <a:gd name="T3" fmla="*/ 75 h 2742"/>
              <a:gd name="T4" fmla="*/ 1439 w 3073"/>
              <a:gd name="T5" fmla="*/ 788 h 2742"/>
              <a:gd name="T6" fmla="*/ 2012 w 3073"/>
              <a:gd name="T7" fmla="*/ 620 h 2742"/>
              <a:gd name="T8" fmla="*/ 3073 w 3073"/>
              <a:gd name="T9" fmla="*/ 1681 h 2742"/>
              <a:gd name="T10" fmla="*/ 2012 w 3073"/>
              <a:gd name="T11" fmla="*/ 2742 h 2742"/>
              <a:gd name="T12" fmla="*/ 952 w 3073"/>
              <a:gd name="T13" fmla="*/ 1681 h 2742"/>
              <a:gd name="T14" fmla="*/ 0 w 3073"/>
              <a:gd name="T15" fmla="*/ 1681 h 2742"/>
              <a:gd name="T16" fmla="*/ 0 w 3073"/>
              <a:gd name="T17" fmla="*/ 539 h 2742"/>
              <a:gd name="T18" fmla="*/ 933 w 3073"/>
              <a:gd name="T19" fmla="*/ 0 h 2742"/>
              <a:gd name="T20" fmla="*/ 1553 w 3073"/>
              <a:gd name="T21" fmla="*/ 966 h 2742"/>
              <a:gd name="T22" fmla="*/ 2012 w 3073"/>
              <a:gd name="T23" fmla="*/ 1681 h 2742"/>
              <a:gd name="T24" fmla="*/ 1163 w 3073"/>
              <a:gd name="T25" fmla="*/ 1681 h 2742"/>
              <a:gd name="T26" fmla="*/ 2012 w 3073"/>
              <a:gd name="T27" fmla="*/ 2530 h 2742"/>
              <a:gd name="T28" fmla="*/ 2861 w 3073"/>
              <a:gd name="T29" fmla="*/ 1681 h 2742"/>
              <a:gd name="T30" fmla="*/ 2012 w 3073"/>
              <a:gd name="T31" fmla="*/ 831 h 2742"/>
              <a:gd name="T32" fmla="*/ 1553 w 3073"/>
              <a:gd name="T33" fmla="*/ 966 h 27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3073" h="2742">
                <a:moveTo>
                  <a:pt x="933" y="0"/>
                </a:moveTo>
                <a:cubicBezTo>
                  <a:pt x="981" y="75"/>
                  <a:pt x="981" y="75"/>
                  <a:pt x="981" y="75"/>
                </a:cubicBezTo>
                <a:cubicBezTo>
                  <a:pt x="1439" y="788"/>
                  <a:pt x="1439" y="788"/>
                  <a:pt x="1439" y="788"/>
                </a:cubicBezTo>
                <a:cubicBezTo>
                  <a:pt x="1604" y="681"/>
                  <a:pt x="1801" y="620"/>
                  <a:pt x="2012" y="620"/>
                </a:cubicBezTo>
                <a:cubicBezTo>
                  <a:pt x="2598" y="620"/>
                  <a:pt x="3073" y="1095"/>
                  <a:pt x="3073" y="1681"/>
                </a:cubicBezTo>
                <a:cubicBezTo>
                  <a:pt x="3073" y="2267"/>
                  <a:pt x="2598" y="2742"/>
                  <a:pt x="2012" y="2742"/>
                </a:cubicBezTo>
                <a:cubicBezTo>
                  <a:pt x="1427" y="2742"/>
                  <a:pt x="952" y="2267"/>
                  <a:pt x="952" y="1681"/>
                </a:cubicBezTo>
                <a:cubicBezTo>
                  <a:pt x="0" y="1681"/>
                  <a:pt x="0" y="1681"/>
                  <a:pt x="0" y="1681"/>
                </a:cubicBezTo>
                <a:cubicBezTo>
                  <a:pt x="0" y="539"/>
                  <a:pt x="0" y="539"/>
                  <a:pt x="0" y="539"/>
                </a:cubicBezTo>
                <a:lnTo>
                  <a:pt x="933" y="0"/>
                </a:lnTo>
                <a:close/>
                <a:moveTo>
                  <a:pt x="1553" y="966"/>
                </a:moveTo>
                <a:cubicBezTo>
                  <a:pt x="2012" y="1681"/>
                  <a:pt x="2012" y="1681"/>
                  <a:pt x="2012" y="1681"/>
                </a:cubicBezTo>
                <a:cubicBezTo>
                  <a:pt x="1163" y="1681"/>
                  <a:pt x="1163" y="1681"/>
                  <a:pt x="1163" y="1681"/>
                </a:cubicBezTo>
                <a:cubicBezTo>
                  <a:pt x="1163" y="2150"/>
                  <a:pt x="1543" y="2530"/>
                  <a:pt x="2012" y="2530"/>
                </a:cubicBezTo>
                <a:cubicBezTo>
                  <a:pt x="2481" y="2530"/>
                  <a:pt x="2861" y="2150"/>
                  <a:pt x="2861" y="1681"/>
                </a:cubicBezTo>
                <a:cubicBezTo>
                  <a:pt x="2861" y="1212"/>
                  <a:pt x="2481" y="831"/>
                  <a:pt x="2012" y="831"/>
                </a:cubicBezTo>
                <a:cubicBezTo>
                  <a:pt x="1843" y="831"/>
                  <a:pt x="1686" y="881"/>
                  <a:pt x="1553" y="966"/>
                </a:cubicBezTo>
                <a:close/>
              </a:path>
            </a:pathLst>
          </a:custGeom>
          <a:solidFill>
            <a:schemeClr val="accent4">
              <a:hueOff val="-2232385"/>
              <a:satOff val="13449"/>
              <a:lumOff val="1078"/>
            </a:schemeClr>
          </a:solidFill>
          <a:ln>
            <a:solidFill>
              <a:schemeClr val="lt1">
                <a:hueOff val="0"/>
                <a:satOff val="0"/>
                <a:lumOff val="0"/>
              </a:schemeClr>
            </a:solidFill>
          </a:ln>
        </p:spPr>
        <p:txBody>
          <a:bodyPr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 kern="0">
              <a:solidFill>
                <a:prstClr val="black"/>
              </a:solidFill>
              <a:latin typeface="Calibri"/>
              <a:ea typeface="宋体"/>
            </a:endParaRPr>
          </a:p>
        </p:txBody>
      </p:sp>
      <p:sp>
        <p:nvSpPr>
          <p:cNvPr id="5" name="Freeform 7"/>
          <p:cNvSpPr>
            <a:spLocks noEditPoints="1"/>
          </p:cNvSpPr>
          <p:nvPr/>
        </p:nvSpPr>
        <p:spPr bwMode="auto">
          <a:xfrm>
            <a:off x="3403908" y="2367806"/>
            <a:ext cx="1617678" cy="2061791"/>
          </a:xfrm>
          <a:custGeom>
            <a:avLst/>
            <a:gdLst>
              <a:gd name="T0" fmla="*/ 1061 w 2121"/>
              <a:gd name="T1" fmla="*/ 1061 h 3032"/>
              <a:gd name="T2" fmla="*/ 1520 w 2121"/>
              <a:gd name="T3" fmla="*/ 1776 h 3032"/>
              <a:gd name="T4" fmla="*/ 1910 w 2121"/>
              <a:gd name="T5" fmla="*/ 1061 h 3032"/>
              <a:gd name="T6" fmla="*/ 1061 w 2121"/>
              <a:gd name="T7" fmla="*/ 212 h 3032"/>
              <a:gd name="T8" fmla="*/ 212 w 2121"/>
              <a:gd name="T9" fmla="*/ 1061 h 3032"/>
              <a:gd name="T10" fmla="*/ 602 w 2121"/>
              <a:gd name="T11" fmla="*/ 1776 h 3032"/>
              <a:gd name="T12" fmla="*/ 1061 w 2121"/>
              <a:gd name="T13" fmla="*/ 1061 h 3032"/>
              <a:gd name="T14" fmla="*/ 1634 w 2121"/>
              <a:gd name="T15" fmla="*/ 1954 h 3032"/>
              <a:gd name="T16" fmla="*/ 1981 w 2121"/>
              <a:gd name="T17" fmla="*/ 2494 h 3032"/>
              <a:gd name="T18" fmla="*/ 1055 w 2121"/>
              <a:gd name="T19" fmla="*/ 3029 h 3032"/>
              <a:gd name="T20" fmla="*/ 1055 w 2121"/>
              <a:gd name="T21" fmla="*/ 3032 h 3032"/>
              <a:gd name="T22" fmla="*/ 136 w 2121"/>
              <a:gd name="T23" fmla="*/ 2501 h 3032"/>
              <a:gd name="T24" fmla="*/ 487 w 2121"/>
              <a:gd name="T25" fmla="*/ 1954 h 3032"/>
              <a:gd name="T26" fmla="*/ 0 w 2121"/>
              <a:gd name="T27" fmla="*/ 1061 h 3032"/>
              <a:gd name="T28" fmla="*/ 1061 w 2121"/>
              <a:gd name="T29" fmla="*/ 0 h 3032"/>
              <a:gd name="T30" fmla="*/ 2121 w 2121"/>
              <a:gd name="T31" fmla="*/ 1061 h 3032"/>
              <a:gd name="T32" fmla="*/ 1634 w 2121"/>
              <a:gd name="T33" fmla="*/ 1954 h 30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121" h="3032">
                <a:moveTo>
                  <a:pt x="1061" y="1061"/>
                </a:moveTo>
                <a:cubicBezTo>
                  <a:pt x="1520" y="1776"/>
                  <a:pt x="1520" y="1776"/>
                  <a:pt x="1520" y="1776"/>
                </a:cubicBezTo>
                <a:cubicBezTo>
                  <a:pt x="1754" y="1625"/>
                  <a:pt x="1910" y="1361"/>
                  <a:pt x="1910" y="1061"/>
                </a:cubicBezTo>
                <a:cubicBezTo>
                  <a:pt x="1910" y="592"/>
                  <a:pt x="1530" y="212"/>
                  <a:pt x="1061" y="212"/>
                </a:cubicBezTo>
                <a:cubicBezTo>
                  <a:pt x="592" y="212"/>
                  <a:pt x="212" y="592"/>
                  <a:pt x="212" y="1061"/>
                </a:cubicBezTo>
                <a:cubicBezTo>
                  <a:pt x="212" y="1361"/>
                  <a:pt x="367" y="1625"/>
                  <a:pt x="602" y="1776"/>
                </a:cubicBezTo>
                <a:lnTo>
                  <a:pt x="1061" y="1061"/>
                </a:lnTo>
                <a:close/>
                <a:moveTo>
                  <a:pt x="1634" y="1954"/>
                </a:moveTo>
                <a:cubicBezTo>
                  <a:pt x="1981" y="2494"/>
                  <a:pt x="1981" y="2494"/>
                  <a:pt x="1981" y="2494"/>
                </a:cubicBezTo>
                <a:cubicBezTo>
                  <a:pt x="1055" y="3029"/>
                  <a:pt x="1055" y="3029"/>
                  <a:pt x="1055" y="3029"/>
                </a:cubicBezTo>
                <a:cubicBezTo>
                  <a:pt x="1055" y="3032"/>
                  <a:pt x="1055" y="3032"/>
                  <a:pt x="1055" y="3032"/>
                </a:cubicBezTo>
                <a:cubicBezTo>
                  <a:pt x="136" y="2501"/>
                  <a:pt x="136" y="2501"/>
                  <a:pt x="136" y="2501"/>
                </a:cubicBezTo>
                <a:cubicBezTo>
                  <a:pt x="487" y="1954"/>
                  <a:pt x="487" y="1954"/>
                  <a:pt x="487" y="1954"/>
                </a:cubicBezTo>
                <a:cubicBezTo>
                  <a:pt x="194" y="1765"/>
                  <a:pt x="0" y="1436"/>
                  <a:pt x="0" y="1061"/>
                </a:cubicBezTo>
                <a:cubicBezTo>
                  <a:pt x="0" y="475"/>
                  <a:pt x="475" y="0"/>
                  <a:pt x="1061" y="0"/>
                </a:cubicBezTo>
                <a:cubicBezTo>
                  <a:pt x="1646" y="0"/>
                  <a:pt x="2121" y="475"/>
                  <a:pt x="2121" y="1061"/>
                </a:cubicBezTo>
                <a:cubicBezTo>
                  <a:pt x="2121" y="1436"/>
                  <a:pt x="1927" y="1765"/>
                  <a:pt x="1634" y="1954"/>
                </a:cubicBezTo>
                <a:close/>
              </a:path>
            </a:pathLst>
          </a:custGeom>
          <a:solidFill>
            <a:srgbClr val="8064A2"/>
          </a:solidFill>
          <a:ln>
            <a:noFill/>
          </a:ln>
        </p:spPr>
        <p:txBody>
          <a:bodyPr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 kern="0">
              <a:solidFill>
                <a:prstClr val="black"/>
              </a:solidFill>
              <a:latin typeface="Calibri"/>
              <a:ea typeface="宋体"/>
            </a:endParaRPr>
          </a:p>
        </p:txBody>
      </p:sp>
      <p:sp>
        <p:nvSpPr>
          <p:cNvPr id="6" name="Oval 8"/>
          <p:cNvSpPr>
            <a:spLocks noChangeArrowheads="1"/>
          </p:cNvSpPr>
          <p:nvPr/>
        </p:nvSpPr>
        <p:spPr bwMode="auto">
          <a:xfrm>
            <a:off x="1988551" y="4692106"/>
            <a:ext cx="1295249" cy="1154931"/>
          </a:xfrm>
          <a:prstGeom prst="ellipse">
            <a:avLst/>
          </a:prstGeom>
          <a:solidFill>
            <a:sysClr val="window" lastClr="FFFFFF"/>
          </a:solidFill>
          <a:ln>
            <a:noFill/>
          </a:ln>
          <a:effectLst>
            <a:innerShdw blurRad="203200">
              <a:prstClr val="black">
                <a:alpha val="79000"/>
              </a:prstClr>
            </a:innerShdw>
          </a:effectLst>
        </p:spPr>
        <p:txBody>
          <a:bodyPr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 kern="0">
              <a:solidFill>
                <a:prstClr val="black"/>
              </a:solidFill>
              <a:latin typeface="Calibri"/>
              <a:ea typeface="宋体"/>
            </a:endParaRPr>
          </a:p>
        </p:txBody>
      </p:sp>
      <p:sp>
        <p:nvSpPr>
          <p:cNvPr id="7" name="Oval 8"/>
          <p:cNvSpPr>
            <a:spLocks noChangeArrowheads="1"/>
          </p:cNvSpPr>
          <p:nvPr/>
        </p:nvSpPr>
        <p:spPr bwMode="auto">
          <a:xfrm>
            <a:off x="5137265" y="4692106"/>
            <a:ext cx="1295249" cy="1154931"/>
          </a:xfrm>
          <a:prstGeom prst="ellipse">
            <a:avLst/>
          </a:prstGeom>
          <a:solidFill>
            <a:sysClr val="window" lastClr="FFFFFF"/>
          </a:solidFill>
          <a:ln>
            <a:noFill/>
          </a:ln>
          <a:effectLst>
            <a:innerShdw blurRad="203200">
              <a:prstClr val="black">
                <a:alpha val="79000"/>
              </a:prstClr>
            </a:innerShdw>
          </a:effectLst>
        </p:spPr>
        <p:txBody>
          <a:bodyPr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 kern="0">
              <a:solidFill>
                <a:prstClr val="black"/>
              </a:solidFill>
              <a:latin typeface="Calibri"/>
              <a:ea typeface="宋体"/>
            </a:endParaRPr>
          </a:p>
        </p:txBody>
      </p:sp>
      <p:sp>
        <p:nvSpPr>
          <p:cNvPr id="8" name="Oval 8"/>
          <p:cNvSpPr>
            <a:spLocks noChangeArrowheads="1"/>
          </p:cNvSpPr>
          <p:nvPr/>
        </p:nvSpPr>
        <p:spPr bwMode="auto">
          <a:xfrm>
            <a:off x="3565123" y="2511207"/>
            <a:ext cx="1295249" cy="1154931"/>
          </a:xfrm>
          <a:prstGeom prst="ellipse">
            <a:avLst/>
          </a:prstGeom>
          <a:solidFill>
            <a:sysClr val="window" lastClr="FFFFFF"/>
          </a:solidFill>
          <a:ln>
            <a:noFill/>
          </a:ln>
          <a:effectLst>
            <a:innerShdw blurRad="203200">
              <a:prstClr val="black">
                <a:alpha val="79000"/>
              </a:prstClr>
            </a:innerShdw>
          </a:effectLst>
        </p:spPr>
        <p:txBody>
          <a:bodyPr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 kern="0">
              <a:solidFill>
                <a:prstClr val="black"/>
              </a:solidFill>
              <a:latin typeface="Calibri"/>
              <a:ea typeface="宋体"/>
            </a:endParaRPr>
          </a:p>
        </p:txBody>
      </p:sp>
      <p:sp>
        <p:nvSpPr>
          <p:cNvPr id="9" name="矩形 5"/>
          <p:cNvSpPr>
            <a:spLocks noChangeArrowheads="1"/>
          </p:cNvSpPr>
          <p:nvPr/>
        </p:nvSpPr>
        <p:spPr bwMode="auto">
          <a:xfrm>
            <a:off x="3543871" y="2904381"/>
            <a:ext cx="13382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zh-CN" dirty="0">
                <a:solidFill>
                  <a:srgbClr val="009ED6"/>
                </a:solidFill>
                <a:latin typeface="微软雅黑" pitchFamily="34" charset="-122"/>
                <a:ea typeface="微软雅黑" pitchFamily="34" charset="-122"/>
              </a:rPr>
              <a:t>响应状态码</a:t>
            </a:r>
            <a:endParaRPr lang="zh-CN" altLang="en-US" dirty="0"/>
          </a:p>
        </p:txBody>
      </p:sp>
      <p:sp>
        <p:nvSpPr>
          <p:cNvPr id="10" name="矩形 6"/>
          <p:cNvSpPr>
            <a:spLocks noChangeArrowheads="1"/>
          </p:cNvSpPr>
          <p:nvPr/>
        </p:nvSpPr>
        <p:spPr bwMode="auto">
          <a:xfrm>
            <a:off x="1945259" y="5107831"/>
            <a:ext cx="13398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zh-CN" dirty="0">
                <a:solidFill>
                  <a:srgbClr val="009ED6"/>
                </a:solidFill>
                <a:latin typeface="微软雅黑" pitchFamily="34" charset="-122"/>
                <a:ea typeface="微软雅黑" pitchFamily="34" charset="-122"/>
              </a:rPr>
              <a:t>响应消息头</a:t>
            </a:r>
            <a:endParaRPr lang="zh-CN" altLang="en-US" dirty="0"/>
          </a:p>
        </p:txBody>
      </p:sp>
      <p:sp>
        <p:nvSpPr>
          <p:cNvPr id="11" name="矩形 7"/>
          <p:cNvSpPr>
            <a:spLocks noChangeArrowheads="1"/>
          </p:cNvSpPr>
          <p:nvPr/>
        </p:nvSpPr>
        <p:spPr bwMode="auto">
          <a:xfrm>
            <a:off x="5115496" y="5107831"/>
            <a:ext cx="13398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zh-CN" dirty="0">
                <a:solidFill>
                  <a:srgbClr val="009ED6"/>
                </a:solidFill>
                <a:latin typeface="微软雅黑" pitchFamily="34" charset="-122"/>
                <a:ea typeface="微软雅黑" pitchFamily="34" charset="-122"/>
              </a:rPr>
              <a:t>响应消息体</a:t>
            </a:r>
            <a:endParaRPr lang="zh-CN" altLang="en-US" dirty="0"/>
          </a:p>
        </p:txBody>
      </p:sp>
      <p:grpSp>
        <p:nvGrpSpPr>
          <p:cNvPr id="12" name="组合 11"/>
          <p:cNvGrpSpPr>
            <a:grpSpLocks/>
          </p:cNvGrpSpPr>
          <p:nvPr/>
        </p:nvGrpSpPr>
        <p:grpSpPr bwMode="auto">
          <a:xfrm>
            <a:off x="4861496" y="2132856"/>
            <a:ext cx="3513138" cy="757238"/>
            <a:chOff x="5062327" y="2018905"/>
            <a:chExt cx="3513803" cy="756919"/>
          </a:xfrm>
        </p:grpSpPr>
        <p:sp>
          <p:nvSpPr>
            <p:cNvPr id="13" name="任意多边形 12"/>
            <p:cNvSpPr/>
            <p:nvPr/>
          </p:nvSpPr>
          <p:spPr>
            <a:xfrm>
              <a:off x="5062327" y="2369595"/>
              <a:ext cx="3361374" cy="406229"/>
            </a:xfrm>
            <a:custGeom>
              <a:avLst/>
              <a:gdLst>
                <a:gd name="connsiteX0" fmla="*/ 0 w 2286000"/>
                <a:gd name="connsiteY0" fmla="*/ 472440 h 472440"/>
                <a:gd name="connsiteX1" fmla="*/ 472440 w 2286000"/>
                <a:gd name="connsiteY1" fmla="*/ 0 h 472440"/>
                <a:gd name="connsiteX2" fmla="*/ 2286000 w 2286000"/>
                <a:gd name="connsiteY2" fmla="*/ 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86000" h="472440">
                  <a:moveTo>
                    <a:pt x="0" y="472440"/>
                  </a:moveTo>
                  <a:lnTo>
                    <a:pt x="472440" y="0"/>
                  </a:lnTo>
                  <a:lnTo>
                    <a:pt x="2286000" y="0"/>
                  </a:lnTo>
                </a:path>
              </a:pathLst>
            </a:custGeom>
            <a:noFill/>
            <a:ln w="12700" cap="flat" cmpd="sng" algn="ctr">
              <a:solidFill>
                <a:sysClr val="windowText" lastClr="000000">
                  <a:lumMod val="75000"/>
                  <a:lumOff val="25000"/>
                </a:sysClr>
              </a:solidFill>
              <a:prstDash val="sysDot"/>
              <a:miter lim="800000"/>
              <a:headEnd type="oval" w="sm" len="sm"/>
              <a:tailEnd type="oval" w="sm" len="sm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" lastClr="FFFFFF"/>
                </a:solidFill>
                <a:latin typeface="Calibri"/>
                <a:ea typeface="宋体"/>
              </a:endParaRPr>
            </a:p>
          </p:txBody>
        </p:sp>
        <p:sp>
          <p:nvSpPr>
            <p:cNvPr id="14" name="TextBox 11"/>
            <p:cNvSpPr txBox="1">
              <a:spLocks noChangeArrowheads="1"/>
            </p:cNvSpPr>
            <p:nvPr/>
          </p:nvSpPr>
          <p:spPr bwMode="auto">
            <a:xfrm flipH="1">
              <a:off x="5224283" y="2018905"/>
              <a:ext cx="3351847" cy="337996"/>
            </a:xfrm>
            <a:prstGeom prst="rect">
              <a:avLst/>
            </a:prstGeom>
            <a:noFill/>
            <a:ln>
              <a:noFill/>
            </a:ln>
            <a:effectLst/>
            <a:extLst/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600" b="1" kern="0" dirty="0" smtClean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微软雅黑" pitchFamily="34" charset="-122"/>
                  <a:ea typeface="微软雅黑" pitchFamily="34" charset="-122"/>
                </a:rPr>
                <a:t>获取响应状态码的方法</a:t>
              </a:r>
              <a:endParaRPr lang="en-US" altLang="zh-CN" sz="1600" b="1" kern="0" dirty="0" smtClean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5" name="组合 35"/>
          <p:cNvGrpSpPr>
            <a:grpSpLocks/>
          </p:cNvGrpSpPr>
          <p:nvPr/>
        </p:nvGrpSpPr>
        <p:grpSpPr bwMode="auto">
          <a:xfrm>
            <a:off x="6520434" y="4364881"/>
            <a:ext cx="2316162" cy="749300"/>
            <a:chOff x="6654767" y="4375973"/>
            <a:chExt cx="2315097" cy="750082"/>
          </a:xfrm>
        </p:grpSpPr>
        <p:sp>
          <p:nvSpPr>
            <p:cNvPr id="16" name="任意多边形 15"/>
            <p:cNvSpPr/>
            <p:nvPr/>
          </p:nvSpPr>
          <p:spPr>
            <a:xfrm>
              <a:off x="6654767" y="4719231"/>
              <a:ext cx="2315097" cy="406824"/>
            </a:xfrm>
            <a:custGeom>
              <a:avLst/>
              <a:gdLst>
                <a:gd name="connsiteX0" fmla="*/ 0 w 2286000"/>
                <a:gd name="connsiteY0" fmla="*/ 472440 h 472440"/>
                <a:gd name="connsiteX1" fmla="*/ 472440 w 2286000"/>
                <a:gd name="connsiteY1" fmla="*/ 0 h 472440"/>
                <a:gd name="connsiteX2" fmla="*/ 2286000 w 2286000"/>
                <a:gd name="connsiteY2" fmla="*/ 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86000" h="472440">
                  <a:moveTo>
                    <a:pt x="0" y="472440"/>
                  </a:moveTo>
                  <a:lnTo>
                    <a:pt x="472440" y="0"/>
                  </a:lnTo>
                  <a:lnTo>
                    <a:pt x="2286000" y="0"/>
                  </a:lnTo>
                </a:path>
              </a:pathLst>
            </a:custGeom>
            <a:noFill/>
            <a:ln w="12700" cap="flat" cmpd="sng" algn="ctr">
              <a:solidFill>
                <a:sysClr val="windowText" lastClr="000000">
                  <a:lumMod val="75000"/>
                  <a:lumOff val="25000"/>
                </a:sysClr>
              </a:solidFill>
              <a:prstDash val="sysDot"/>
              <a:miter lim="800000"/>
              <a:headEnd type="oval" w="sm" len="sm"/>
              <a:tailEnd type="oval" w="sm" len="sm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" lastClr="FFFFFF"/>
                </a:solidFill>
                <a:latin typeface="Calibri"/>
                <a:ea typeface="宋体"/>
              </a:endParaRPr>
            </a:p>
          </p:txBody>
        </p:sp>
        <p:sp>
          <p:nvSpPr>
            <p:cNvPr id="17" name="TextBox 11"/>
            <p:cNvSpPr txBox="1">
              <a:spLocks noChangeArrowheads="1"/>
            </p:cNvSpPr>
            <p:nvPr/>
          </p:nvSpPr>
          <p:spPr bwMode="auto">
            <a:xfrm flipH="1">
              <a:off x="6729345" y="4375973"/>
              <a:ext cx="2240519" cy="338491"/>
            </a:xfrm>
            <a:prstGeom prst="rect">
              <a:avLst/>
            </a:prstGeom>
            <a:noFill/>
            <a:ln>
              <a:noFill/>
            </a:ln>
            <a:effectLst/>
            <a:extLst/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600" b="1" kern="0" dirty="0" smtClean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微软雅黑" pitchFamily="34" charset="-122"/>
                  <a:ea typeface="微软雅黑" pitchFamily="34" charset="-122"/>
                </a:rPr>
                <a:t>获取响应消息体的方法</a:t>
              </a:r>
              <a:endParaRPr lang="en-US" altLang="zh-CN" sz="1600" b="1" kern="0" dirty="0" smtClean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8" name="组合 17"/>
          <p:cNvGrpSpPr>
            <a:grpSpLocks/>
          </p:cNvGrpSpPr>
          <p:nvPr/>
        </p:nvGrpSpPr>
        <p:grpSpPr bwMode="auto">
          <a:xfrm>
            <a:off x="35496" y="3955306"/>
            <a:ext cx="2328863" cy="727075"/>
            <a:chOff x="524058" y="4399723"/>
            <a:chExt cx="2329511" cy="726596"/>
          </a:xfrm>
        </p:grpSpPr>
        <p:sp>
          <p:nvSpPr>
            <p:cNvPr id="19" name="任意多边形 18"/>
            <p:cNvSpPr/>
            <p:nvPr/>
          </p:nvSpPr>
          <p:spPr>
            <a:xfrm flipH="1">
              <a:off x="689204" y="4720187"/>
              <a:ext cx="2019862" cy="406132"/>
            </a:xfrm>
            <a:custGeom>
              <a:avLst/>
              <a:gdLst>
                <a:gd name="connsiteX0" fmla="*/ 0 w 2286000"/>
                <a:gd name="connsiteY0" fmla="*/ 472440 h 472440"/>
                <a:gd name="connsiteX1" fmla="*/ 472440 w 2286000"/>
                <a:gd name="connsiteY1" fmla="*/ 0 h 472440"/>
                <a:gd name="connsiteX2" fmla="*/ 2286000 w 2286000"/>
                <a:gd name="connsiteY2" fmla="*/ 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86000" h="472440">
                  <a:moveTo>
                    <a:pt x="0" y="472440"/>
                  </a:moveTo>
                  <a:lnTo>
                    <a:pt x="472440" y="0"/>
                  </a:lnTo>
                  <a:lnTo>
                    <a:pt x="2286000" y="0"/>
                  </a:lnTo>
                </a:path>
              </a:pathLst>
            </a:custGeom>
            <a:noFill/>
            <a:ln w="12700" cap="flat" cmpd="sng" algn="ctr">
              <a:solidFill>
                <a:sysClr val="windowText" lastClr="000000">
                  <a:lumMod val="75000"/>
                  <a:lumOff val="25000"/>
                </a:sysClr>
              </a:solidFill>
              <a:prstDash val="sysDot"/>
              <a:miter lim="800000"/>
              <a:headEnd type="oval" w="sm" len="sm"/>
              <a:tailEnd type="oval" w="sm" len="sm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" lastClr="FFFFFF"/>
                </a:solidFill>
                <a:latin typeface="Calibri"/>
                <a:ea typeface="宋体"/>
              </a:endParaRPr>
            </a:p>
          </p:txBody>
        </p:sp>
        <p:sp>
          <p:nvSpPr>
            <p:cNvPr id="20" name="TextBox 11"/>
            <p:cNvSpPr txBox="1">
              <a:spLocks noChangeArrowheads="1"/>
            </p:cNvSpPr>
            <p:nvPr/>
          </p:nvSpPr>
          <p:spPr bwMode="auto">
            <a:xfrm flipH="1">
              <a:off x="524058" y="4399723"/>
              <a:ext cx="2329511" cy="337915"/>
            </a:xfrm>
            <a:prstGeom prst="rect">
              <a:avLst/>
            </a:prstGeom>
            <a:noFill/>
            <a:ln>
              <a:noFill/>
            </a:ln>
            <a:effectLst/>
            <a:extLst/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600" b="1" kern="0" dirty="0" smtClean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微软雅黑" pitchFamily="34" charset="-122"/>
                  <a:ea typeface="微软雅黑" pitchFamily="34" charset="-122"/>
                </a:rPr>
                <a:t>获取响应消息头的方法</a:t>
              </a:r>
              <a:endParaRPr lang="en-US" altLang="zh-CN" sz="1600" b="1" kern="0" dirty="0" smtClean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21" name="内容占位符 1"/>
          <p:cNvSpPr txBox="1">
            <a:spLocks/>
          </p:cNvSpPr>
          <p:nvPr/>
        </p:nvSpPr>
        <p:spPr bwMode="auto">
          <a:xfrm>
            <a:off x="611560" y="1102296"/>
            <a:ext cx="7911728" cy="1030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zh-CN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HttpServletResponse</a:t>
            </a:r>
            <a:r>
              <a:rPr lang="zh-CN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接口中定义了向客户端发送响应状态码、响应消息头、响应消息体的方法</a:t>
            </a:r>
            <a:r>
              <a:rPr lang="zh-CN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22" name="矩形 24"/>
          <p:cNvSpPr>
            <a:spLocks noChangeArrowheads="1"/>
          </p:cNvSpPr>
          <p:nvPr/>
        </p:nvSpPr>
        <p:spPr bwMode="auto">
          <a:xfrm>
            <a:off x="542925" y="1030289"/>
            <a:ext cx="8102600" cy="1142999"/>
          </a:xfrm>
          <a:prstGeom prst="rect">
            <a:avLst/>
          </a:prstGeom>
          <a:noFill/>
          <a:ln w="19050" algn="ctr">
            <a:solidFill>
              <a:srgbClr val="006B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23" name="标题 1"/>
          <p:cNvSpPr>
            <a:spLocks noChangeArrowheads="1"/>
          </p:cNvSpPr>
          <p:nvPr/>
        </p:nvSpPr>
        <p:spPr bwMode="auto">
          <a:xfrm>
            <a:off x="1643733" y="389681"/>
            <a:ext cx="5592563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 err="1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HttpServletResponse</a:t>
            </a:r>
            <a:r>
              <a:rPr lang="zh-CN" altLang="en-US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对象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78891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/>
      <p:bldP spid="10" grpId="0"/>
      <p:bldP spid="11" grpId="0"/>
      <p:bldP spid="21" grpId="0"/>
      <p:bldP spid="2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251520" y="923156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3" name="内容占位符 2"/>
          <p:cNvSpPr txBox="1">
            <a:spLocks/>
          </p:cNvSpPr>
          <p:nvPr/>
        </p:nvSpPr>
        <p:spPr bwMode="auto">
          <a:xfrm>
            <a:off x="542925" y="2000275"/>
            <a:ext cx="8102600" cy="157274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zh-CN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该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方法用于设置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响应消息的状态码，并生成响应状态行。由于响应状态行中的状态描述信息直接与状态码相关，而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版本由服务器确定，因此，只要通过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setStatus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status)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方法设置了状态码，即可实现状态行的发送。需要注意的是，正常情况下，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服务器会默认产生一个状态码为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的状态行</a:t>
            </a:r>
            <a:r>
              <a:rPr lang="zh-CN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24"/>
          <p:cNvSpPr>
            <a:spLocks noChangeArrowheads="1"/>
          </p:cNvSpPr>
          <p:nvPr/>
        </p:nvSpPr>
        <p:spPr bwMode="auto">
          <a:xfrm>
            <a:off x="542925" y="1917859"/>
            <a:ext cx="8102600" cy="1727165"/>
          </a:xfrm>
          <a:prstGeom prst="rect">
            <a:avLst/>
          </a:prstGeom>
          <a:noFill/>
          <a:ln w="19050" algn="ctr">
            <a:solidFill>
              <a:srgbClr val="006B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5" name="任意多边形 4"/>
          <p:cNvSpPr/>
          <p:nvPr/>
        </p:nvSpPr>
        <p:spPr bwMode="auto">
          <a:xfrm>
            <a:off x="5196011" y="1628800"/>
            <a:ext cx="2976389" cy="371475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6BA9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algn="ctr"/>
            <a:r>
              <a:rPr lang="en-US" altLang="zh-CN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setState</a:t>
            </a:r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status)</a:t>
            </a:r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方法</a:t>
            </a:r>
            <a:endParaRPr lang="zh-CN" altLang="en-US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 bwMode="auto">
          <a:xfrm>
            <a:off x="545951" y="4303505"/>
            <a:ext cx="8102600" cy="85368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zh-CN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该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方法用于发送表示错误信息的状态码，例如，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404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状态码表示找不到客户端请求的资源。在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对象中，提供了两个重载的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sendError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方法，具体如下：</a:t>
            </a:r>
          </a:p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endParaRPr lang="zh-CN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24"/>
          <p:cNvSpPr>
            <a:spLocks noChangeArrowheads="1"/>
          </p:cNvSpPr>
          <p:nvPr/>
        </p:nvSpPr>
        <p:spPr bwMode="auto">
          <a:xfrm>
            <a:off x="545951" y="4221088"/>
            <a:ext cx="8102600" cy="2016224"/>
          </a:xfrm>
          <a:prstGeom prst="rect">
            <a:avLst/>
          </a:prstGeom>
          <a:noFill/>
          <a:ln w="19050" algn="ctr">
            <a:solidFill>
              <a:srgbClr val="006B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8" name="任意多边形 7"/>
          <p:cNvSpPr/>
          <p:nvPr/>
        </p:nvSpPr>
        <p:spPr bwMode="auto">
          <a:xfrm>
            <a:off x="5199037" y="3932029"/>
            <a:ext cx="2976389" cy="371475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6BA9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algn="ctr"/>
            <a:r>
              <a:rPr lang="en-US" altLang="zh-CN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setError(int sc)</a:t>
            </a:r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方法</a:t>
            </a:r>
            <a:endParaRPr lang="zh-CN" altLang="en-US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矩形 16"/>
          <p:cNvSpPr>
            <a:spLocks noChangeArrowheads="1"/>
          </p:cNvSpPr>
          <p:nvPr/>
        </p:nvSpPr>
        <p:spPr bwMode="auto">
          <a:xfrm>
            <a:off x="563563" y="5157192"/>
            <a:ext cx="8042275" cy="1008112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 smtClean="0"/>
              <a:t>     public </a:t>
            </a:r>
            <a:r>
              <a:rPr lang="en-US" altLang="zh-CN" dirty="0"/>
              <a:t>void </a:t>
            </a:r>
            <a:r>
              <a:rPr lang="en-US" altLang="zh-CN" dirty="0" err="1"/>
              <a:t>sendError</a:t>
            </a:r>
            <a:r>
              <a:rPr lang="en-US" altLang="zh-CN" dirty="0"/>
              <a:t>(</a:t>
            </a:r>
            <a:r>
              <a:rPr lang="en-US" altLang="zh-CN" dirty="0" err="1"/>
              <a:t>int</a:t>
            </a:r>
            <a:r>
              <a:rPr lang="en-US" altLang="zh-CN" dirty="0"/>
              <a:t> code) throws </a:t>
            </a:r>
            <a:r>
              <a:rPr lang="en-US" altLang="zh-CN" dirty="0" err="1"/>
              <a:t>java.io.IOException</a:t>
            </a:r>
            <a:endParaRPr lang="zh-CN" altLang="zh-CN" dirty="0"/>
          </a:p>
          <a:p>
            <a:pPr>
              <a:lnSpc>
                <a:spcPct val="150000"/>
              </a:lnSpc>
            </a:pPr>
            <a:r>
              <a:rPr lang="en-US" altLang="zh-CN" dirty="0" smtClean="0"/>
              <a:t>     public </a:t>
            </a:r>
            <a:r>
              <a:rPr lang="en-US" altLang="zh-CN" dirty="0"/>
              <a:t>void </a:t>
            </a:r>
            <a:r>
              <a:rPr lang="en-US" altLang="zh-CN" dirty="0" err="1"/>
              <a:t>sendError</a:t>
            </a:r>
            <a:r>
              <a:rPr lang="en-US" altLang="zh-CN" dirty="0"/>
              <a:t>(</a:t>
            </a:r>
            <a:r>
              <a:rPr lang="en-US" altLang="zh-CN" dirty="0" err="1"/>
              <a:t>int</a:t>
            </a:r>
            <a:r>
              <a:rPr lang="en-US" altLang="zh-CN" dirty="0"/>
              <a:t> code, String message) throws </a:t>
            </a:r>
            <a:r>
              <a:rPr lang="en-US" altLang="zh-CN" dirty="0" err="1"/>
              <a:t>java.io.IOException</a:t>
            </a:r>
            <a:endParaRPr lang="zh-CN" altLang="zh-CN" dirty="0"/>
          </a:p>
          <a:p>
            <a:pPr marL="742950" lvl="1" indent="-285750"/>
            <a:endParaRPr lang="zh-CN" altLang="zh-CN" sz="1400" dirty="0"/>
          </a:p>
        </p:txBody>
      </p:sp>
      <p:sp>
        <p:nvSpPr>
          <p:cNvPr id="10" name="标题 1"/>
          <p:cNvSpPr>
            <a:spLocks noChangeArrowheads="1"/>
          </p:cNvSpPr>
          <p:nvPr/>
        </p:nvSpPr>
        <p:spPr bwMode="auto">
          <a:xfrm>
            <a:off x="1643733" y="389681"/>
            <a:ext cx="638465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4.1.1 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发送状态码相关的方法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3486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 animBg="1"/>
      <p:bldP spid="6" grpId="0"/>
      <p:bldP spid="7" grpId="0" animBg="1"/>
      <p:bldP spid="8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2"/>
          <p:cNvSpPr txBox="1">
            <a:spLocks/>
          </p:cNvSpPr>
          <p:nvPr/>
        </p:nvSpPr>
        <p:spPr bwMode="auto">
          <a:xfrm>
            <a:off x="323528" y="1520751"/>
            <a:ext cx="7975600" cy="68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1">
              <a:lnSpc>
                <a:spcPct val="150000"/>
              </a:lnSpc>
              <a:spcBef>
                <a:spcPct val="20000"/>
              </a:spcBef>
              <a:buFontTx/>
              <a:buChar char="–"/>
            </a:pPr>
            <a:r>
              <a:rPr lang="zh-CN" altLang="en-US" sz="2000" b="1" kern="0" dirty="0" smtClean="0">
                <a:solidFill>
                  <a:srgbClr val="0070C0"/>
                </a:solidFill>
                <a:latin typeface="Arial"/>
                <a:ea typeface="宋体"/>
              </a:rPr>
              <a:t>设置响应消息头字段的方法</a:t>
            </a:r>
            <a:endParaRPr lang="en-US" altLang="zh-CN" sz="2000" b="1" kern="0" dirty="0">
              <a:solidFill>
                <a:srgbClr val="0070C0"/>
              </a:solidFill>
              <a:latin typeface="Arial"/>
              <a:ea typeface="宋体"/>
            </a:endParaRPr>
          </a:p>
          <a:p>
            <a:pPr lvl="1">
              <a:lnSpc>
                <a:spcPct val="150000"/>
              </a:lnSpc>
              <a:spcBef>
                <a:spcPct val="20000"/>
              </a:spcBef>
              <a:buFontTx/>
              <a:buChar char="–"/>
            </a:pPr>
            <a:endParaRPr lang="en-US" altLang="zh-CN" sz="2400" dirty="0"/>
          </a:p>
        </p:txBody>
      </p:sp>
      <p:sp>
        <p:nvSpPr>
          <p:cNvPr id="7" name="标题 1"/>
          <p:cNvSpPr>
            <a:spLocks noChangeArrowheads="1"/>
          </p:cNvSpPr>
          <p:nvPr/>
        </p:nvSpPr>
        <p:spPr bwMode="auto">
          <a:xfrm>
            <a:off x="251520" y="923156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373730"/>
              </p:ext>
            </p:extLst>
          </p:nvPr>
        </p:nvGraphicFramePr>
        <p:xfrm>
          <a:off x="395536" y="2224857"/>
          <a:ext cx="8280920" cy="3117879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070230"/>
                <a:gridCol w="6210690"/>
              </a:tblGrid>
              <a:tr h="35928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 smtClean="0"/>
                        <a:t>方法声明</a:t>
                      </a:r>
                      <a:endParaRPr lang="en-US" altLang="zh-CN" sz="1800" dirty="0" smtClean="0"/>
                    </a:p>
                  </a:txBody>
                  <a:tcPr marL="91432" marR="91432" marT="45767" marB="45767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 smtClean="0"/>
                        <a:t>功能描述</a:t>
                      </a:r>
                      <a:endParaRPr lang="en-US" altLang="zh-CN" sz="1800" dirty="0" smtClean="0"/>
                    </a:p>
                  </a:txBody>
                  <a:tcPr marL="91432" marR="91432" marT="45767" marB="45767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2504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  <a:latin typeface="Times New Roman"/>
                          <a:ea typeface="宋体"/>
                        </a:rPr>
                        <a:t>void </a:t>
                      </a:r>
                      <a:r>
                        <a:rPr lang="en-US" sz="1200" kern="0" dirty="0" err="1">
                          <a:effectLst/>
                          <a:latin typeface="Times New Roman"/>
                          <a:ea typeface="宋体"/>
                        </a:rPr>
                        <a:t>addHeader</a:t>
                      </a:r>
                      <a:r>
                        <a:rPr lang="en-US" sz="1200" kern="0" dirty="0">
                          <a:effectLst/>
                          <a:latin typeface="Times New Roman"/>
                          <a:ea typeface="宋体"/>
                        </a:rPr>
                        <a:t>(String name, String value)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row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1200" kern="100" dirty="0" smtClean="0">
                          <a:effectLst/>
                          <a:latin typeface="Times New Roman"/>
                          <a:ea typeface="宋体"/>
                        </a:rPr>
                        <a:t>        </a:t>
                      </a:r>
                      <a:r>
                        <a:rPr lang="zh-CN" sz="1200" kern="100" dirty="0" smtClean="0">
                          <a:effectLst/>
                          <a:latin typeface="Times New Roman"/>
                          <a:ea typeface="宋体"/>
                        </a:rPr>
                        <a:t>这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两个方法都是用来设置</a:t>
                      </a:r>
                      <a:r>
                        <a:rPr lang="en-US" sz="1200" kern="100" dirty="0">
                          <a:effectLst/>
                          <a:latin typeface="Times New Roman"/>
                          <a:ea typeface="宋体"/>
                        </a:rPr>
                        <a:t>HTTP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协议的响应头字段，其中，参数</a:t>
                      </a:r>
                      <a:r>
                        <a:rPr lang="en-US" sz="1200" kern="100" dirty="0">
                          <a:effectLst/>
                          <a:latin typeface="Times New Roman"/>
                          <a:ea typeface="宋体"/>
                        </a:rPr>
                        <a:t>name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用于指定响应头字段的名称，参数</a:t>
                      </a:r>
                      <a:r>
                        <a:rPr lang="en-US" sz="1200" kern="100" dirty="0">
                          <a:effectLst/>
                          <a:latin typeface="Times New Roman"/>
                          <a:ea typeface="宋体"/>
                        </a:rPr>
                        <a:t>value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用于指定响应头字段的值。不同的是，</a:t>
                      </a:r>
                      <a:r>
                        <a:rPr lang="en-US" sz="1200" kern="100" dirty="0" err="1">
                          <a:effectLst/>
                          <a:latin typeface="Times New Roman"/>
                          <a:ea typeface="宋体"/>
                        </a:rPr>
                        <a:t>addHeader</a:t>
                      </a:r>
                      <a:r>
                        <a:rPr lang="en-US" sz="1200" kern="100" dirty="0">
                          <a:effectLst/>
                          <a:latin typeface="Times New Roman"/>
                          <a:ea typeface="宋体"/>
                        </a:rPr>
                        <a:t>()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方法可以增加同名的响应头字段，而</a:t>
                      </a:r>
                      <a:r>
                        <a:rPr lang="en-US" sz="1200" kern="100" dirty="0" err="1">
                          <a:effectLst/>
                          <a:latin typeface="Times New Roman"/>
                          <a:ea typeface="宋体"/>
                        </a:rPr>
                        <a:t>setHeader</a:t>
                      </a:r>
                      <a:r>
                        <a:rPr lang="en-US" sz="1200" kern="100" dirty="0">
                          <a:effectLst/>
                          <a:latin typeface="Times New Roman"/>
                          <a:ea typeface="宋体"/>
                        </a:rPr>
                        <a:t>()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方法则会覆盖同名的头字段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60717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  <a:latin typeface="Times New Roman"/>
                          <a:ea typeface="宋体"/>
                        </a:rPr>
                        <a:t>void </a:t>
                      </a:r>
                      <a:r>
                        <a:rPr lang="en-US" sz="1200" kern="0" dirty="0" err="1">
                          <a:effectLst/>
                          <a:latin typeface="Times New Roman"/>
                          <a:ea typeface="宋体"/>
                        </a:rPr>
                        <a:t>setHeader</a:t>
                      </a:r>
                      <a:r>
                        <a:rPr lang="en-US" sz="1200" kern="0" dirty="0">
                          <a:effectLst/>
                          <a:latin typeface="Times New Roman"/>
                          <a:ea typeface="宋体"/>
                        </a:rPr>
                        <a:t>(String name, String value)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9EDF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33165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  <a:latin typeface="Times New Roman"/>
                          <a:ea typeface="宋体"/>
                        </a:rPr>
                        <a:t>void </a:t>
                      </a:r>
                      <a:r>
                        <a:rPr lang="en-US" sz="1200" kern="0" dirty="0" err="1">
                          <a:effectLst/>
                          <a:latin typeface="Times New Roman"/>
                          <a:ea typeface="宋体"/>
                        </a:rPr>
                        <a:t>addIntHeader</a:t>
                      </a:r>
                      <a:r>
                        <a:rPr lang="en-US" sz="1200" kern="0" dirty="0">
                          <a:effectLst/>
                          <a:latin typeface="Times New Roman"/>
                          <a:ea typeface="宋体"/>
                        </a:rPr>
                        <a:t>(String name,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 dirty="0" err="1">
                          <a:effectLst/>
                          <a:latin typeface="Times New Roman"/>
                          <a:ea typeface="宋体"/>
                        </a:rPr>
                        <a:t>int</a:t>
                      </a:r>
                      <a:r>
                        <a:rPr lang="en-US" sz="1200" kern="0" dirty="0">
                          <a:effectLst/>
                          <a:latin typeface="Times New Roman"/>
                          <a:ea typeface="宋体"/>
                        </a:rPr>
                        <a:t> value)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200" kern="100" dirty="0" smtClean="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这两个方法专门用于设置包含整数值的响应头。避免了使用</a:t>
                      </a:r>
                      <a:r>
                        <a:rPr lang="en-US" sz="1200" kern="100" dirty="0" err="1" smtClean="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addHeader</a:t>
                      </a:r>
                      <a:r>
                        <a:rPr lang="en-US" sz="1200" kern="100" dirty="0" smtClean="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()</a:t>
                      </a:r>
                      <a:r>
                        <a:rPr lang="zh-CN" sz="1200" kern="100" dirty="0" smtClean="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与</a:t>
                      </a:r>
                      <a:r>
                        <a:rPr lang="en-US" sz="1200" kern="100" dirty="0" err="1" smtClean="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setHeader</a:t>
                      </a:r>
                      <a:r>
                        <a:rPr lang="en-US" sz="1200" kern="100" dirty="0" smtClean="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()</a:t>
                      </a:r>
                      <a:r>
                        <a:rPr lang="zh-CN" sz="1200" kern="100" dirty="0" smtClean="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方法时，需要将</a:t>
                      </a:r>
                      <a:r>
                        <a:rPr lang="en-US" sz="1200" kern="100" dirty="0" err="1" smtClean="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int</a:t>
                      </a:r>
                      <a:r>
                        <a:rPr lang="zh-CN" sz="1200" kern="100" dirty="0" smtClean="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类型的设置值转换为</a:t>
                      </a:r>
                      <a:r>
                        <a:rPr lang="en-US" sz="1200" kern="100" dirty="0" smtClean="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String</a:t>
                      </a:r>
                      <a:r>
                        <a:rPr lang="zh-CN" sz="1200" kern="100" dirty="0" smtClean="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类型的麻烦</a:t>
                      </a:r>
                      <a:endParaRPr lang="zh-CN" sz="1200" dirty="0">
                        <a:effectLst/>
                        <a:latin typeface="Times New Roman"/>
                        <a:ea typeface="宋体"/>
                        <a:cs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</a:tr>
              <a:tr h="42504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  <a:latin typeface="Times New Roman"/>
                          <a:ea typeface="宋体"/>
                        </a:rPr>
                        <a:t>void </a:t>
                      </a:r>
                      <a:r>
                        <a:rPr lang="en-US" sz="1200" kern="0" dirty="0" err="1">
                          <a:effectLst/>
                          <a:latin typeface="Times New Roman"/>
                          <a:ea typeface="宋体"/>
                        </a:rPr>
                        <a:t>setIntHeader</a:t>
                      </a:r>
                      <a:r>
                        <a:rPr lang="en-US" sz="1200" kern="0" dirty="0">
                          <a:effectLst/>
                          <a:latin typeface="Times New Roman"/>
                          <a:ea typeface="宋体"/>
                        </a:rPr>
                        <a:t>(String name,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 dirty="0" err="1">
                          <a:effectLst/>
                          <a:latin typeface="Times New Roman"/>
                          <a:ea typeface="宋体"/>
                        </a:rPr>
                        <a:t>int</a:t>
                      </a:r>
                      <a:r>
                        <a:rPr lang="en-US" sz="1200" kern="0" dirty="0">
                          <a:effectLst/>
                          <a:latin typeface="Times New Roman"/>
                          <a:ea typeface="宋体"/>
                        </a:rPr>
                        <a:t> value)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74612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  <a:latin typeface="Times New Roman"/>
                          <a:ea typeface="宋体"/>
                        </a:rPr>
                        <a:t>void </a:t>
                      </a:r>
                      <a:r>
                        <a:rPr lang="en-US" sz="1200" kern="0" dirty="0" err="1">
                          <a:effectLst/>
                          <a:latin typeface="Times New Roman"/>
                          <a:ea typeface="宋体"/>
                        </a:rPr>
                        <a:t>setContentLength</a:t>
                      </a:r>
                      <a:r>
                        <a:rPr lang="en-US" sz="1200" kern="0" dirty="0">
                          <a:effectLst/>
                          <a:latin typeface="Times New Roman"/>
                          <a:ea typeface="宋体"/>
                        </a:rPr>
                        <a:t>(</a:t>
                      </a:r>
                      <a:r>
                        <a:rPr lang="en-US" sz="1200" kern="0" dirty="0" err="1">
                          <a:effectLst/>
                          <a:latin typeface="Times New Roman"/>
                          <a:ea typeface="宋体"/>
                        </a:rPr>
                        <a:t>int</a:t>
                      </a:r>
                      <a:r>
                        <a:rPr lang="en-US" sz="1200" kern="0" dirty="0">
                          <a:effectLst/>
                          <a:latin typeface="Times New Roman"/>
                          <a:ea typeface="宋体"/>
                        </a:rPr>
                        <a:t> </a:t>
                      </a:r>
                      <a:r>
                        <a:rPr lang="en-US" sz="1200" kern="0" dirty="0" err="1">
                          <a:effectLst/>
                          <a:latin typeface="Times New Roman"/>
                          <a:ea typeface="宋体"/>
                        </a:rPr>
                        <a:t>len</a:t>
                      </a:r>
                      <a:r>
                        <a:rPr lang="en-US" sz="1200" kern="0" dirty="0">
                          <a:effectLst/>
                          <a:latin typeface="Times New Roman"/>
                          <a:ea typeface="宋体"/>
                        </a:rPr>
                        <a:t>)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200" kern="100" dirty="0" smtClean="0">
                          <a:effectLst/>
                          <a:latin typeface="Times New Roman"/>
                          <a:ea typeface="宋体"/>
                        </a:rPr>
                        <a:t>        </a:t>
                      </a:r>
                      <a:r>
                        <a:rPr lang="zh-CN" sz="1200" kern="100" dirty="0" smtClean="0">
                          <a:effectLst/>
                          <a:latin typeface="Times New Roman"/>
                          <a:ea typeface="宋体"/>
                        </a:rPr>
                        <a:t>该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方法用于设置响应消息的实体内容的大小，单位为字节。对于</a:t>
                      </a:r>
                      <a:r>
                        <a:rPr lang="en-US" sz="1200" kern="100" dirty="0">
                          <a:effectLst/>
                          <a:latin typeface="Times New Roman"/>
                          <a:ea typeface="宋体"/>
                        </a:rPr>
                        <a:t>HTTP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协议来说，这个方法就是设置</a:t>
                      </a:r>
                      <a:r>
                        <a:rPr lang="en-US" sz="1200" kern="100" dirty="0">
                          <a:effectLst/>
                          <a:latin typeface="Times New Roman"/>
                          <a:ea typeface="宋体"/>
                        </a:rPr>
                        <a:t>Content-Length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响应头字段的值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</a:tbl>
          </a:graphicData>
        </a:graphic>
      </p:graphicFrame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395536" y="2636912"/>
            <a:ext cx="8280920" cy="1944216"/>
          </a:xfrm>
          <a:prstGeom prst="rect">
            <a:avLst/>
          </a:prstGeom>
          <a:noFill/>
          <a:ln w="19050">
            <a:solidFill>
              <a:srgbClr val="0070C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endParaRPr lang="zh-CN" altLang="en-US"/>
          </a:p>
        </p:txBody>
      </p:sp>
      <p:cxnSp>
        <p:nvCxnSpPr>
          <p:cNvPr id="13" name="直接箭头连接符 12"/>
          <p:cNvCxnSpPr>
            <a:cxnSpLocks noChangeShapeType="1"/>
          </p:cNvCxnSpPr>
          <p:nvPr/>
        </p:nvCxnSpPr>
        <p:spPr bwMode="auto">
          <a:xfrm flipH="1">
            <a:off x="2267744" y="4653136"/>
            <a:ext cx="288032" cy="648073"/>
          </a:xfrm>
          <a:prstGeom prst="straightConnector1">
            <a:avLst/>
          </a:prstGeom>
          <a:noFill/>
          <a:ln w="28575" algn="ctr">
            <a:solidFill>
              <a:srgbClr val="0070C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" name="圆角矩形 13"/>
          <p:cNvSpPr/>
          <p:nvPr/>
        </p:nvSpPr>
        <p:spPr>
          <a:xfrm>
            <a:off x="1106196" y="5432645"/>
            <a:ext cx="2313676" cy="408623"/>
          </a:xfrm>
          <a:prstGeom prst="round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b="1" dirty="0" smtClean="0">
                <a:solidFill>
                  <a:schemeClr val="bg1"/>
                </a:solidFill>
              </a:rPr>
              <a:t>用于设置各种头字段</a:t>
            </a:r>
            <a:endParaRPr lang="en-US" altLang="zh-CN" b="1" dirty="0">
              <a:solidFill>
                <a:schemeClr val="bg1"/>
              </a:solidFill>
            </a:endParaRPr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3637406"/>
              </p:ext>
            </p:extLst>
          </p:nvPr>
        </p:nvGraphicFramePr>
        <p:xfrm>
          <a:off x="395536" y="2204864"/>
          <a:ext cx="8280920" cy="3375176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070230"/>
                <a:gridCol w="6210690"/>
              </a:tblGrid>
              <a:tr h="35928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 smtClean="0"/>
                        <a:t>方法声明</a:t>
                      </a:r>
                      <a:endParaRPr lang="en-US" altLang="zh-CN" sz="2000" dirty="0" smtClean="0"/>
                    </a:p>
                  </a:txBody>
                  <a:tcPr marL="91432" marR="91432" marT="45767" marB="45767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/>
                        <a:t>功能描述</a:t>
                      </a:r>
                      <a:endParaRPr lang="en-US" altLang="zh-CN" sz="2000" dirty="0" smtClean="0"/>
                    </a:p>
                  </a:txBody>
                  <a:tcPr marL="91432" marR="91432" marT="45767" marB="45767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103222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 dirty="0" smtClean="0">
                          <a:effectLst/>
                          <a:latin typeface="Times New Roman"/>
                          <a:ea typeface="宋体"/>
                        </a:rPr>
                        <a:t>void </a:t>
                      </a:r>
                      <a:r>
                        <a:rPr lang="en-US" sz="1200" kern="0" dirty="0" err="1">
                          <a:effectLst/>
                          <a:latin typeface="Times New Roman"/>
                          <a:ea typeface="宋体"/>
                        </a:rPr>
                        <a:t>setContentType</a:t>
                      </a:r>
                      <a:r>
                        <a:rPr lang="en-US" sz="1200" kern="0" dirty="0">
                          <a:effectLst/>
                          <a:latin typeface="Times New Roman"/>
                          <a:ea typeface="宋体"/>
                        </a:rPr>
                        <a:t>(String type)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1200" kern="0" dirty="0" smtClean="0">
                          <a:effectLst/>
                          <a:latin typeface="Times New Roman"/>
                          <a:ea typeface="宋体"/>
                        </a:rPr>
                        <a:t>        </a:t>
                      </a:r>
                      <a:r>
                        <a:rPr lang="zh-CN" sz="1200" kern="0" dirty="0" smtClean="0">
                          <a:effectLst/>
                          <a:latin typeface="Times New Roman"/>
                          <a:ea typeface="宋体"/>
                        </a:rPr>
                        <a:t>该</a:t>
                      </a:r>
                      <a:r>
                        <a:rPr lang="zh-CN" sz="1200" kern="0" dirty="0">
                          <a:effectLst/>
                          <a:latin typeface="Times New Roman"/>
                          <a:ea typeface="宋体"/>
                        </a:rPr>
                        <a:t>方法用于设置</a:t>
                      </a:r>
                      <a:r>
                        <a:rPr lang="en-US" sz="1200" kern="0" dirty="0">
                          <a:effectLst/>
                          <a:latin typeface="Times New Roman"/>
                          <a:ea typeface="宋体"/>
                        </a:rPr>
                        <a:t>Servlet</a:t>
                      </a:r>
                      <a:r>
                        <a:rPr lang="zh-CN" sz="1200" kern="0" dirty="0">
                          <a:effectLst/>
                          <a:latin typeface="Times New Roman"/>
                          <a:ea typeface="宋体"/>
                        </a:rPr>
                        <a:t>输出内容的</a:t>
                      </a:r>
                      <a:r>
                        <a:rPr lang="en-US" sz="1200" kern="0" dirty="0">
                          <a:effectLst/>
                          <a:latin typeface="Times New Roman"/>
                          <a:ea typeface="宋体"/>
                        </a:rPr>
                        <a:t>MIME</a:t>
                      </a:r>
                      <a:r>
                        <a:rPr lang="zh-CN" sz="1200" kern="0" dirty="0">
                          <a:effectLst/>
                          <a:latin typeface="Times New Roman"/>
                          <a:ea typeface="宋体"/>
                        </a:rPr>
                        <a:t>类型，对于</a:t>
                      </a:r>
                      <a:r>
                        <a:rPr lang="en-US" sz="1200" kern="0" dirty="0">
                          <a:effectLst/>
                          <a:latin typeface="Times New Roman"/>
                          <a:ea typeface="宋体"/>
                        </a:rPr>
                        <a:t>HTTP</a:t>
                      </a:r>
                      <a:r>
                        <a:rPr lang="zh-CN" sz="1200" kern="0" dirty="0">
                          <a:effectLst/>
                          <a:latin typeface="Times New Roman"/>
                          <a:ea typeface="宋体"/>
                        </a:rPr>
                        <a:t>协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议来说，就是设置</a:t>
                      </a:r>
                      <a:r>
                        <a:rPr lang="en-US" sz="1200" kern="100" dirty="0">
                          <a:effectLst/>
                          <a:latin typeface="Times New Roman"/>
                          <a:ea typeface="宋体"/>
                        </a:rPr>
                        <a:t>Content-Type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响应头字段的值。例如，如果发送到客户端的内容是</a:t>
                      </a:r>
                      <a:r>
                        <a:rPr lang="en-US" sz="1200" kern="100" dirty="0">
                          <a:effectLst/>
                          <a:latin typeface="Times New Roman"/>
                          <a:ea typeface="宋体"/>
                        </a:rPr>
                        <a:t>jpeg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格式的图像数据，就需要将响应头字段的类型设置为“</a:t>
                      </a:r>
                      <a:r>
                        <a:rPr lang="en-US" sz="1200" kern="100" dirty="0">
                          <a:effectLst/>
                          <a:latin typeface="Times New Roman"/>
                          <a:ea typeface="宋体"/>
                        </a:rPr>
                        <a:t>image/jpeg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”。需要注意的是，如果响应的内容为文本，</a:t>
                      </a:r>
                      <a:r>
                        <a:rPr lang="en-US" sz="1200" kern="100" dirty="0" err="1">
                          <a:effectLst/>
                          <a:latin typeface="Times New Roman"/>
                          <a:ea typeface="宋体"/>
                        </a:rPr>
                        <a:t>setContentType</a:t>
                      </a:r>
                      <a:r>
                        <a:rPr lang="en-US" sz="1200" kern="100" dirty="0">
                          <a:effectLst/>
                          <a:latin typeface="Times New Roman"/>
                          <a:ea typeface="宋体"/>
                        </a:rPr>
                        <a:t>()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方法的还可以设置字符编码，如：</a:t>
                      </a:r>
                      <a:r>
                        <a:rPr lang="en-US" sz="1200" kern="100" dirty="0">
                          <a:effectLst/>
                          <a:latin typeface="Times New Roman"/>
                          <a:ea typeface="宋体"/>
                        </a:rPr>
                        <a:t>text/</a:t>
                      </a:r>
                      <a:r>
                        <a:rPr lang="en-US" sz="1200" kern="100" dirty="0" err="1">
                          <a:effectLst/>
                          <a:latin typeface="Times New Roman"/>
                          <a:ea typeface="宋体"/>
                        </a:rPr>
                        <a:t>html;charset</a:t>
                      </a:r>
                      <a:r>
                        <a:rPr lang="en-US" sz="1200" kern="100" dirty="0">
                          <a:effectLst/>
                          <a:latin typeface="Times New Roman"/>
                          <a:ea typeface="宋体"/>
                        </a:rPr>
                        <a:t>=UTF-8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103222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  <a:latin typeface="Times New Roman"/>
                          <a:ea typeface="宋体"/>
                        </a:rPr>
                        <a:t>void </a:t>
                      </a:r>
                      <a:r>
                        <a:rPr lang="en-US" sz="1200" kern="0" dirty="0" err="1">
                          <a:effectLst/>
                          <a:latin typeface="Times New Roman"/>
                          <a:ea typeface="宋体"/>
                        </a:rPr>
                        <a:t>setLocale</a:t>
                      </a:r>
                      <a:r>
                        <a:rPr lang="en-US" sz="1200" kern="0" dirty="0">
                          <a:effectLst/>
                          <a:latin typeface="Times New Roman"/>
                          <a:ea typeface="宋体"/>
                        </a:rPr>
                        <a:t>(Locale </a:t>
                      </a:r>
                      <a:r>
                        <a:rPr lang="en-US" sz="1200" kern="0" dirty="0" err="1">
                          <a:effectLst/>
                          <a:latin typeface="Times New Roman"/>
                          <a:ea typeface="宋体"/>
                        </a:rPr>
                        <a:t>loc</a:t>
                      </a:r>
                      <a:r>
                        <a:rPr lang="en-US" sz="1200" kern="0" dirty="0">
                          <a:effectLst/>
                          <a:latin typeface="Times New Roman"/>
                          <a:ea typeface="宋体"/>
                        </a:rPr>
                        <a:t>)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200" kern="0" dirty="0" smtClean="0">
                          <a:effectLst/>
                          <a:latin typeface="Times New Roman"/>
                          <a:ea typeface="宋体"/>
                        </a:rPr>
                        <a:t>        </a:t>
                      </a:r>
                      <a:r>
                        <a:rPr lang="zh-CN" sz="1200" kern="0" dirty="0" smtClean="0">
                          <a:effectLst/>
                          <a:latin typeface="Times New Roman"/>
                          <a:ea typeface="宋体"/>
                        </a:rPr>
                        <a:t>该</a:t>
                      </a:r>
                      <a:r>
                        <a:rPr lang="zh-CN" sz="1200" kern="0" dirty="0">
                          <a:effectLst/>
                          <a:latin typeface="Times New Roman"/>
                          <a:ea typeface="宋体"/>
                        </a:rPr>
                        <a:t>方法用于设置响应消息的本地化信息。对</a:t>
                      </a:r>
                      <a:r>
                        <a:rPr lang="en-US" sz="1200" kern="0" dirty="0">
                          <a:effectLst/>
                          <a:latin typeface="Times New Roman"/>
                          <a:ea typeface="宋体"/>
                        </a:rPr>
                        <a:t>HTTP</a:t>
                      </a:r>
                      <a:r>
                        <a:rPr lang="zh-CN" sz="1200" kern="0" dirty="0">
                          <a:effectLst/>
                          <a:latin typeface="Times New Roman"/>
                          <a:ea typeface="宋体"/>
                        </a:rPr>
                        <a:t>来说，就是设置</a:t>
                      </a:r>
                      <a:r>
                        <a:rPr lang="en-US" sz="1200" kern="0" dirty="0">
                          <a:effectLst/>
                          <a:latin typeface="Times New Roman"/>
                          <a:ea typeface="宋体"/>
                        </a:rPr>
                        <a:t>Content-Language</a:t>
                      </a:r>
                      <a:r>
                        <a:rPr lang="zh-CN" sz="1200" kern="0" dirty="0">
                          <a:effectLst/>
                          <a:latin typeface="Times New Roman"/>
                          <a:ea typeface="宋体"/>
                        </a:rPr>
                        <a:t>响应头字段和</a:t>
                      </a:r>
                      <a:r>
                        <a:rPr lang="en-US" sz="1200" kern="0" dirty="0">
                          <a:effectLst/>
                          <a:latin typeface="Times New Roman"/>
                          <a:ea typeface="宋体"/>
                        </a:rPr>
                        <a:t>Content-Type</a:t>
                      </a:r>
                      <a:r>
                        <a:rPr lang="zh-CN" sz="1200" kern="0" dirty="0">
                          <a:effectLst/>
                          <a:latin typeface="Times New Roman"/>
                          <a:ea typeface="宋体"/>
                        </a:rPr>
                        <a:t>头字段中的字符集编码部分。需要注意的是，如果</a:t>
                      </a:r>
                      <a:r>
                        <a:rPr lang="en-US" sz="1200" kern="0" dirty="0">
                          <a:effectLst/>
                          <a:latin typeface="Times New Roman"/>
                          <a:ea typeface="宋体"/>
                        </a:rPr>
                        <a:t>HTTP</a:t>
                      </a:r>
                      <a:r>
                        <a:rPr lang="zh-CN" sz="1200" kern="0" dirty="0">
                          <a:effectLst/>
                          <a:latin typeface="Times New Roman"/>
                          <a:ea typeface="宋体"/>
                        </a:rPr>
                        <a:t>消息没有设置</a:t>
                      </a:r>
                      <a:r>
                        <a:rPr lang="en-US" sz="1200" kern="0" dirty="0">
                          <a:effectLst/>
                          <a:latin typeface="Times New Roman"/>
                          <a:ea typeface="宋体"/>
                        </a:rPr>
                        <a:t>Content-Type</a:t>
                      </a:r>
                      <a:r>
                        <a:rPr lang="zh-CN" sz="1200" kern="0" dirty="0">
                          <a:effectLst/>
                          <a:latin typeface="Times New Roman"/>
                          <a:ea typeface="宋体"/>
                        </a:rPr>
                        <a:t>头字段，</a:t>
                      </a:r>
                      <a:r>
                        <a:rPr lang="en-US" sz="1200" kern="0" dirty="0" err="1">
                          <a:effectLst/>
                          <a:latin typeface="Times New Roman"/>
                          <a:ea typeface="宋体"/>
                        </a:rPr>
                        <a:t>setLocale</a:t>
                      </a:r>
                      <a:r>
                        <a:rPr lang="en-US" sz="1200" kern="0" dirty="0">
                          <a:effectLst/>
                          <a:latin typeface="Times New Roman"/>
                          <a:ea typeface="宋体"/>
                        </a:rPr>
                        <a:t>()</a:t>
                      </a:r>
                      <a:r>
                        <a:rPr lang="zh-CN" sz="1200" kern="0" dirty="0">
                          <a:effectLst/>
                          <a:latin typeface="Times New Roman"/>
                          <a:ea typeface="宋体"/>
                        </a:rPr>
                        <a:t>方法设置的字符集编码不会出现在</a:t>
                      </a:r>
                      <a:r>
                        <a:rPr lang="en-US" sz="1200" kern="0" dirty="0">
                          <a:effectLst/>
                          <a:latin typeface="Times New Roman"/>
                          <a:ea typeface="宋体"/>
                        </a:rPr>
                        <a:t>HTTP</a:t>
                      </a:r>
                      <a:r>
                        <a:rPr lang="zh-CN" sz="1200" kern="0" dirty="0">
                          <a:effectLst/>
                          <a:latin typeface="Times New Roman"/>
                          <a:ea typeface="宋体"/>
                        </a:rPr>
                        <a:t>消息的响应头中，如果调用</a:t>
                      </a:r>
                      <a:r>
                        <a:rPr lang="en-US" sz="1200" kern="0" dirty="0" err="1">
                          <a:effectLst/>
                          <a:latin typeface="Times New Roman"/>
                          <a:ea typeface="宋体"/>
                        </a:rPr>
                        <a:t>setCharacterEncoding</a:t>
                      </a:r>
                      <a:r>
                        <a:rPr lang="en-US" sz="1200" kern="0" dirty="0">
                          <a:effectLst/>
                          <a:latin typeface="Times New Roman"/>
                          <a:ea typeface="宋体"/>
                        </a:rPr>
                        <a:t>()</a:t>
                      </a:r>
                      <a:r>
                        <a:rPr lang="zh-CN" sz="1200" kern="0" dirty="0">
                          <a:effectLst/>
                          <a:latin typeface="Times New Roman"/>
                          <a:ea typeface="宋体"/>
                        </a:rPr>
                        <a:t>或</a:t>
                      </a:r>
                      <a:r>
                        <a:rPr lang="en-US" sz="1200" kern="0" dirty="0" err="1">
                          <a:effectLst/>
                          <a:latin typeface="Times New Roman"/>
                          <a:ea typeface="宋体"/>
                        </a:rPr>
                        <a:t>setContentType</a:t>
                      </a:r>
                      <a:r>
                        <a:rPr lang="en-US" sz="1200" kern="0" dirty="0">
                          <a:effectLst/>
                          <a:latin typeface="Times New Roman"/>
                          <a:ea typeface="宋体"/>
                        </a:rPr>
                        <a:t>()</a:t>
                      </a:r>
                      <a:r>
                        <a:rPr lang="zh-CN" sz="1200" kern="0" dirty="0">
                          <a:effectLst/>
                          <a:latin typeface="Times New Roman"/>
                          <a:ea typeface="宋体"/>
                        </a:rPr>
                        <a:t>方法指定了响应内容的字符集编码，</a:t>
                      </a:r>
                      <a:r>
                        <a:rPr lang="en-US" sz="1200" kern="0" dirty="0" err="1">
                          <a:effectLst/>
                          <a:latin typeface="Times New Roman"/>
                          <a:ea typeface="宋体"/>
                        </a:rPr>
                        <a:t>setLocale</a:t>
                      </a:r>
                      <a:r>
                        <a:rPr lang="en-US" sz="1200" kern="0" dirty="0">
                          <a:effectLst/>
                          <a:latin typeface="Times New Roman"/>
                          <a:ea typeface="宋体"/>
                        </a:rPr>
                        <a:t>()</a:t>
                      </a:r>
                      <a:r>
                        <a:rPr lang="zh-CN" sz="1200" kern="0" dirty="0">
                          <a:effectLst/>
                          <a:latin typeface="Times New Roman"/>
                          <a:ea typeface="宋体"/>
                        </a:rPr>
                        <a:t>方法将不再具有指定字符集编码的功能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7567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  <a:latin typeface="Times New Roman"/>
                          <a:ea typeface="宋体"/>
                        </a:rPr>
                        <a:t>void </a:t>
                      </a:r>
                      <a:r>
                        <a:rPr lang="en-US" sz="1200" kern="0" dirty="0" err="1">
                          <a:effectLst/>
                          <a:latin typeface="Times New Roman"/>
                          <a:ea typeface="宋体"/>
                        </a:rPr>
                        <a:t>setCharacterEncoding</a:t>
                      </a:r>
                      <a:r>
                        <a:rPr lang="en-US" sz="1200" kern="0" dirty="0">
                          <a:effectLst/>
                          <a:latin typeface="Times New Roman"/>
                          <a:ea typeface="宋体"/>
                        </a:rPr>
                        <a:t>(String charset)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200" kern="0" dirty="0" smtClean="0">
                          <a:effectLst/>
                          <a:latin typeface="Times New Roman"/>
                          <a:ea typeface="宋体"/>
                        </a:rPr>
                        <a:t>        </a:t>
                      </a:r>
                      <a:r>
                        <a:rPr lang="zh-CN" sz="1200" kern="0" dirty="0" smtClean="0">
                          <a:effectLst/>
                          <a:latin typeface="Times New Roman"/>
                          <a:ea typeface="宋体"/>
                        </a:rPr>
                        <a:t>该</a:t>
                      </a:r>
                      <a:r>
                        <a:rPr lang="zh-CN" sz="1200" kern="0" dirty="0">
                          <a:effectLst/>
                          <a:latin typeface="Times New Roman"/>
                          <a:ea typeface="宋体"/>
                        </a:rPr>
                        <a:t>方法用于设置输出内容使用的字符编码，对</a:t>
                      </a:r>
                      <a:r>
                        <a:rPr lang="en-US" sz="1200" kern="0" dirty="0">
                          <a:effectLst/>
                          <a:latin typeface="Times New Roman"/>
                          <a:ea typeface="宋体"/>
                        </a:rPr>
                        <a:t>HTTP </a:t>
                      </a:r>
                      <a:r>
                        <a:rPr lang="zh-CN" sz="1200" kern="0" dirty="0">
                          <a:effectLst/>
                          <a:latin typeface="Times New Roman"/>
                          <a:ea typeface="宋体"/>
                        </a:rPr>
                        <a:t>协议来说，就是设置</a:t>
                      </a:r>
                      <a:r>
                        <a:rPr lang="en-US" sz="1200" kern="0" dirty="0">
                          <a:effectLst/>
                          <a:latin typeface="Times New Roman"/>
                          <a:ea typeface="宋体"/>
                        </a:rPr>
                        <a:t>Content-Type</a:t>
                      </a:r>
                      <a:r>
                        <a:rPr lang="zh-CN" sz="1200" kern="0" dirty="0">
                          <a:effectLst/>
                          <a:latin typeface="Times New Roman"/>
                          <a:ea typeface="宋体"/>
                        </a:rPr>
                        <a:t>头字段中的字符集编码部分。如果没有设置</a:t>
                      </a:r>
                      <a:r>
                        <a:rPr lang="en-US" sz="1200" kern="0" dirty="0">
                          <a:effectLst/>
                          <a:latin typeface="Times New Roman"/>
                          <a:ea typeface="宋体"/>
                        </a:rPr>
                        <a:t>Content-Type</a:t>
                      </a:r>
                      <a:r>
                        <a:rPr lang="zh-CN" sz="1200" kern="0" dirty="0">
                          <a:effectLst/>
                          <a:latin typeface="Times New Roman"/>
                          <a:ea typeface="宋体"/>
                        </a:rPr>
                        <a:t>头字段，</a:t>
                      </a:r>
                      <a:r>
                        <a:rPr lang="en-US" sz="1200" kern="0" dirty="0" err="1">
                          <a:effectLst/>
                          <a:latin typeface="Times New Roman"/>
                          <a:ea typeface="宋体"/>
                        </a:rPr>
                        <a:t>setCharacterEncoding</a:t>
                      </a:r>
                      <a:r>
                        <a:rPr lang="zh-CN" sz="1200" kern="0" dirty="0">
                          <a:effectLst/>
                          <a:latin typeface="Times New Roman"/>
                          <a:ea typeface="宋体"/>
                        </a:rPr>
                        <a:t>方法设置的字符集编码不会出现在</a:t>
                      </a:r>
                      <a:r>
                        <a:rPr lang="en-US" sz="1200" kern="0" dirty="0">
                          <a:effectLst/>
                          <a:latin typeface="Times New Roman"/>
                          <a:ea typeface="宋体"/>
                        </a:rPr>
                        <a:t>HTTP</a:t>
                      </a:r>
                      <a:r>
                        <a:rPr lang="zh-CN" sz="1200" kern="0" dirty="0">
                          <a:effectLst/>
                          <a:latin typeface="Times New Roman"/>
                          <a:ea typeface="宋体"/>
                        </a:rPr>
                        <a:t>消息的响应头中。</a:t>
                      </a:r>
                      <a:r>
                        <a:rPr lang="en-US" sz="1200" kern="0" dirty="0" err="1">
                          <a:effectLst/>
                          <a:latin typeface="Times New Roman"/>
                          <a:ea typeface="宋体"/>
                        </a:rPr>
                        <a:t>setCharacterEncoding</a:t>
                      </a:r>
                      <a:r>
                        <a:rPr lang="en-US" sz="1200" kern="0" dirty="0">
                          <a:effectLst/>
                          <a:latin typeface="Times New Roman"/>
                          <a:ea typeface="宋体"/>
                        </a:rPr>
                        <a:t>()</a:t>
                      </a:r>
                      <a:r>
                        <a:rPr lang="zh-CN" sz="1200" kern="0" dirty="0">
                          <a:effectLst/>
                          <a:latin typeface="Times New Roman"/>
                          <a:ea typeface="宋体"/>
                        </a:rPr>
                        <a:t>方法比</a:t>
                      </a:r>
                      <a:r>
                        <a:rPr lang="en-US" sz="1200" kern="0" dirty="0" err="1">
                          <a:effectLst/>
                          <a:latin typeface="Times New Roman"/>
                          <a:ea typeface="宋体"/>
                        </a:rPr>
                        <a:t>setContentType</a:t>
                      </a:r>
                      <a:r>
                        <a:rPr lang="en-US" sz="1200" kern="0" dirty="0">
                          <a:effectLst/>
                          <a:latin typeface="Times New Roman"/>
                          <a:ea typeface="宋体"/>
                        </a:rPr>
                        <a:t>()</a:t>
                      </a:r>
                      <a:r>
                        <a:rPr lang="zh-CN" sz="1200" kern="0" dirty="0">
                          <a:effectLst/>
                          <a:latin typeface="Times New Roman"/>
                          <a:ea typeface="宋体"/>
                        </a:rPr>
                        <a:t>和</a:t>
                      </a:r>
                      <a:r>
                        <a:rPr lang="en-US" sz="1200" kern="0" dirty="0" err="1">
                          <a:effectLst/>
                          <a:latin typeface="Times New Roman"/>
                          <a:ea typeface="宋体"/>
                        </a:rPr>
                        <a:t>setLocale</a:t>
                      </a:r>
                      <a:r>
                        <a:rPr lang="en-US" sz="1200" kern="0" dirty="0">
                          <a:effectLst/>
                          <a:latin typeface="Times New Roman"/>
                          <a:ea typeface="宋体"/>
                        </a:rPr>
                        <a:t>()</a:t>
                      </a:r>
                      <a:r>
                        <a:rPr lang="zh-CN" sz="1200" kern="0" dirty="0">
                          <a:effectLst/>
                          <a:latin typeface="Times New Roman"/>
                          <a:ea typeface="宋体"/>
                        </a:rPr>
                        <a:t>方法的优先权高，它的设置结果将覆盖</a:t>
                      </a:r>
                      <a:r>
                        <a:rPr lang="en-US" sz="1200" kern="0" dirty="0" err="1">
                          <a:effectLst/>
                          <a:latin typeface="Times New Roman"/>
                          <a:ea typeface="宋体"/>
                        </a:rPr>
                        <a:t>setContentType</a:t>
                      </a:r>
                      <a:r>
                        <a:rPr lang="en-US" sz="1200" kern="0" dirty="0">
                          <a:effectLst/>
                          <a:latin typeface="Times New Roman"/>
                          <a:ea typeface="宋体"/>
                        </a:rPr>
                        <a:t>()</a:t>
                      </a:r>
                      <a:r>
                        <a:rPr lang="zh-CN" sz="1200" kern="0" dirty="0">
                          <a:effectLst/>
                          <a:latin typeface="Times New Roman"/>
                          <a:ea typeface="宋体"/>
                        </a:rPr>
                        <a:t>和</a:t>
                      </a:r>
                      <a:r>
                        <a:rPr lang="en-US" sz="1200" kern="0" dirty="0" err="1">
                          <a:effectLst/>
                          <a:latin typeface="Times New Roman"/>
                          <a:ea typeface="宋体"/>
                        </a:rPr>
                        <a:t>setLocale</a:t>
                      </a:r>
                      <a:r>
                        <a:rPr lang="en-US" sz="1200" kern="0" dirty="0">
                          <a:effectLst/>
                          <a:latin typeface="Times New Roman"/>
                          <a:ea typeface="宋体"/>
                        </a:rPr>
                        <a:t>()</a:t>
                      </a:r>
                      <a:r>
                        <a:rPr lang="zh-CN" sz="1200" kern="0" dirty="0">
                          <a:effectLst/>
                          <a:latin typeface="Times New Roman"/>
                          <a:ea typeface="宋体"/>
                        </a:rPr>
                        <a:t>方法所设置的字符码表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</a:tbl>
          </a:graphicData>
        </a:graphic>
      </p:graphicFrame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395536" y="2708920"/>
            <a:ext cx="8280920" cy="2880320"/>
          </a:xfrm>
          <a:prstGeom prst="rect">
            <a:avLst/>
          </a:prstGeom>
          <a:noFill/>
          <a:ln w="19050">
            <a:solidFill>
              <a:srgbClr val="0070C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17" name="圆角矩形标注 16"/>
          <p:cNvSpPr>
            <a:spLocks noChangeArrowheads="1"/>
          </p:cNvSpPr>
          <p:nvPr/>
        </p:nvSpPr>
        <p:spPr bwMode="auto">
          <a:xfrm>
            <a:off x="1691680" y="5805264"/>
            <a:ext cx="2304256" cy="432048"/>
          </a:xfrm>
          <a:prstGeom prst="wedgeRoundRectCallout">
            <a:avLst>
              <a:gd name="adj1" fmla="val -15677"/>
              <a:gd name="adj2" fmla="val -67145"/>
              <a:gd name="adj3" fmla="val 16667"/>
            </a:avLst>
          </a:prstGeom>
          <a:solidFill>
            <a:srgbClr val="0070C0"/>
          </a:solidFill>
          <a:ln w="19050" algn="ctr">
            <a:solidFill>
              <a:schemeClr val="accent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en-US" sz="1600" b="1" dirty="0" smtClean="0">
                <a:solidFill>
                  <a:schemeClr val="bg1"/>
                </a:solidFill>
                <a:latin typeface="+mn-ea"/>
                <a:ea typeface="+mn-ea"/>
                <a:cs typeface="楷体_GB2312"/>
              </a:rPr>
              <a:t>可以有效解决乱码问题</a:t>
            </a:r>
            <a:endParaRPr lang="zh-CN" altLang="en-US" sz="1600" b="1" dirty="0">
              <a:solidFill>
                <a:schemeClr val="bg1"/>
              </a:solidFill>
              <a:latin typeface="+mn-ea"/>
              <a:ea typeface="+mn-ea"/>
              <a:cs typeface="楷体_GB2312"/>
            </a:endParaRPr>
          </a:p>
        </p:txBody>
      </p:sp>
      <p:sp>
        <p:nvSpPr>
          <p:cNvPr id="11" name="标题 1"/>
          <p:cNvSpPr>
            <a:spLocks noChangeArrowheads="1"/>
          </p:cNvSpPr>
          <p:nvPr/>
        </p:nvSpPr>
        <p:spPr bwMode="auto">
          <a:xfrm>
            <a:off x="1643733" y="389681"/>
            <a:ext cx="638465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4.1.2 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发送响应消息头相关的方法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00619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 animBg="1"/>
      <p:bldP spid="12" grpId="1" animBg="1"/>
      <p:bldP spid="14" grpId="0" animBg="1"/>
      <p:bldP spid="14" grpId="1" animBg="1"/>
      <p:bldP spid="16" grpId="0" animBg="1"/>
      <p:bldP spid="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251520" y="923156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3" name="内容占位符 2"/>
          <p:cNvSpPr txBox="1">
            <a:spLocks/>
          </p:cNvSpPr>
          <p:nvPr/>
        </p:nvSpPr>
        <p:spPr bwMode="auto">
          <a:xfrm>
            <a:off x="542925" y="1820218"/>
            <a:ext cx="8102600" cy="137576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该方法所获取的字节输出流对象为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ServletOutputStream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类型。由于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ServletOutputStream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OutputStream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的子类，它可以直接输出字节数组中的二进制数据。因此，要想输出二进制格式的响应正文，就需要使用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getOutputStream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方法</a:t>
            </a:r>
            <a:r>
              <a:rPr lang="zh-CN" altLang="zh-CN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24"/>
          <p:cNvSpPr>
            <a:spLocks noChangeArrowheads="1"/>
          </p:cNvSpPr>
          <p:nvPr/>
        </p:nvSpPr>
        <p:spPr bwMode="auto">
          <a:xfrm>
            <a:off x="542925" y="1737802"/>
            <a:ext cx="8102600" cy="1458183"/>
          </a:xfrm>
          <a:prstGeom prst="rect">
            <a:avLst/>
          </a:prstGeom>
          <a:noFill/>
          <a:ln w="19050" algn="ctr">
            <a:solidFill>
              <a:srgbClr val="006B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5" name="任意多边形 4"/>
          <p:cNvSpPr/>
          <p:nvPr/>
        </p:nvSpPr>
        <p:spPr bwMode="auto">
          <a:xfrm>
            <a:off x="5196011" y="1448743"/>
            <a:ext cx="2976389" cy="371475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6BA9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algn="ctr"/>
            <a:r>
              <a:rPr lang="en-US" altLang="zh-CN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getOutputStream</a:t>
            </a:r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()</a:t>
            </a:r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方法</a:t>
            </a:r>
            <a:endParaRPr lang="zh-CN" altLang="en-US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 bwMode="auto">
          <a:xfrm>
            <a:off x="545951" y="3800476"/>
            <a:ext cx="8102600" cy="128573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该方法所获取的字符输出流对象为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PrintWriter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类型。由于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PrintWriter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类型的对象可以直接输出字符文本内容，因此，要想输出内容全为字符文本的网页文档，需要使用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getWriter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方法</a:t>
            </a:r>
            <a:r>
              <a:rPr lang="zh-CN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24"/>
          <p:cNvSpPr>
            <a:spLocks noChangeArrowheads="1"/>
          </p:cNvSpPr>
          <p:nvPr/>
        </p:nvSpPr>
        <p:spPr bwMode="auto">
          <a:xfrm>
            <a:off x="545951" y="3718059"/>
            <a:ext cx="8102600" cy="1440160"/>
          </a:xfrm>
          <a:prstGeom prst="rect">
            <a:avLst/>
          </a:prstGeom>
          <a:noFill/>
          <a:ln w="19050" algn="ctr">
            <a:solidFill>
              <a:srgbClr val="006B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8" name="任意多边形 7"/>
          <p:cNvSpPr/>
          <p:nvPr/>
        </p:nvSpPr>
        <p:spPr bwMode="auto">
          <a:xfrm>
            <a:off x="5199037" y="3429000"/>
            <a:ext cx="2976389" cy="371475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6BA9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algn="ctr"/>
            <a:r>
              <a:rPr lang="en-US" altLang="zh-CN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getWriter</a:t>
            </a:r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()</a:t>
            </a:r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方法</a:t>
            </a:r>
            <a:endParaRPr lang="zh-CN" altLang="en-US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内容占位符 2"/>
          <p:cNvSpPr txBox="1">
            <a:spLocks/>
          </p:cNvSpPr>
          <p:nvPr/>
        </p:nvSpPr>
        <p:spPr bwMode="auto">
          <a:xfrm>
            <a:off x="1564952" y="5589240"/>
            <a:ext cx="7975600" cy="68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zh-CN" altLang="en-US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案例：关于</a:t>
            </a:r>
            <a:r>
              <a:rPr lang="zh-CN" altLang="zh-CN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这两个方法</a:t>
            </a:r>
            <a:r>
              <a:rPr lang="zh-CN" altLang="en-US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的具体</a:t>
            </a:r>
            <a:r>
              <a:rPr lang="zh-CN" altLang="zh-CN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使用</a:t>
            </a:r>
            <a:r>
              <a:rPr lang="zh-CN" altLang="en-US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，请参见教材</a:t>
            </a:r>
            <a:r>
              <a:rPr lang="en-US" altLang="zh-CN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4.1.3</a:t>
            </a:r>
            <a:r>
              <a:rPr lang="zh-CN" altLang="en-US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小节。</a:t>
            </a:r>
            <a:endParaRPr lang="zh-CN" altLang="zh-CN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标题 1"/>
          <p:cNvSpPr>
            <a:spLocks noChangeArrowheads="1"/>
          </p:cNvSpPr>
          <p:nvPr/>
        </p:nvSpPr>
        <p:spPr bwMode="auto">
          <a:xfrm>
            <a:off x="1643733" y="389681"/>
            <a:ext cx="638465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4.1.3 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发送响应消息体相关的方法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36986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 animBg="1"/>
      <p:bldP spid="6" grpId="0"/>
      <p:bldP spid="7" grpId="0" animBg="1"/>
      <p:bldP spid="8" grpId="0" animBg="1"/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对角圆角矩形 10"/>
          <p:cNvSpPr/>
          <p:nvPr/>
        </p:nvSpPr>
        <p:spPr>
          <a:xfrm>
            <a:off x="539552" y="2420888"/>
            <a:ext cx="5359499" cy="648072"/>
          </a:xfrm>
          <a:prstGeom prst="round2DiagRect">
            <a:avLst>
              <a:gd name="adj1" fmla="val 20943"/>
              <a:gd name="adj2" fmla="val 0"/>
            </a:avLst>
          </a:prstGeom>
          <a:solidFill>
            <a:srgbClr val="006BA9"/>
          </a:solidFill>
          <a:ln>
            <a:solidFill>
              <a:srgbClr val="006B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Box 5"/>
          <p:cNvSpPr txBox="1"/>
          <p:nvPr/>
        </p:nvSpPr>
        <p:spPr>
          <a:xfrm>
            <a:off x="683568" y="4072426"/>
            <a:ext cx="3791036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dirty="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4.4</a:t>
            </a:r>
            <a:r>
              <a:rPr lang="en-US" altLang="zh-CN" sz="2400" dirty="0" smtClean="0">
                <a:solidFill>
                  <a:srgbClr val="CD1F06"/>
                </a:solidFill>
                <a:latin typeface="Impact" pitchFamily="34" charset="0"/>
                <a:ea typeface="微软雅黑" pitchFamily="34" charset="-122"/>
              </a:rPr>
              <a:t>    </a:t>
            </a:r>
            <a:r>
              <a:rPr lang="en-US" altLang="zh-CN" sz="2400" dirty="0" err="1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HttpServletRequest</a:t>
            </a:r>
            <a:r>
              <a:rPr lang="zh-CN" altLang="en-US" sz="2400" dirty="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应用</a:t>
            </a:r>
            <a:endParaRPr lang="zh-CN" altLang="en-US" sz="2400" dirty="0">
              <a:solidFill>
                <a:srgbClr val="7F7F7F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5" name="TextBox 10"/>
          <p:cNvSpPr txBox="1"/>
          <p:nvPr/>
        </p:nvSpPr>
        <p:spPr>
          <a:xfrm>
            <a:off x="683568" y="2584261"/>
            <a:ext cx="4223084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dirty="0" smtClean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4.2    </a:t>
            </a:r>
            <a:r>
              <a:rPr lang="en-US" altLang="zh-CN" sz="2400" dirty="0" err="1" smtClean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HttpServletResponse</a:t>
            </a:r>
            <a:r>
              <a:rPr lang="zh-CN" altLang="en-US" sz="2400" dirty="0" smtClean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应用</a:t>
            </a:r>
            <a:endParaRPr lang="zh-CN" altLang="en-US" sz="2400" dirty="0">
              <a:solidFill>
                <a:schemeClr val="bg1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6" name="TextBox 11"/>
          <p:cNvSpPr txBox="1"/>
          <p:nvPr/>
        </p:nvSpPr>
        <p:spPr>
          <a:xfrm>
            <a:off x="683568" y="3328344"/>
            <a:ext cx="3791036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dirty="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4.3    </a:t>
            </a:r>
            <a:r>
              <a:rPr lang="en-US" altLang="zh-CN" sz="2400" dirty="0" err="1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HttpServletRequest</a:t>
            </a:r>
            <a:r>
              <a:rPr lang="zh-CN" altLang="en-US" sz="2400" dirty="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对象</a:t>
            </a:r>
            <a:endParaRPr lang="zh-CN" altLang="en-US" sz="2400" dirty="0">
              <a:solidFill>
                <a:srgbClr val="7F7F7F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4897998" y="1756903"/>
            <a:ext cx="3444382" cy="344438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381000">
            <a:solidFill>
              <a:srgbClr val="006B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0" name="TextBox 1"/>
          <p:cNvSpPr txBox="1"/>
          <p:nvPr/>
        </p:nvSpPr>
        <p:spPr>
          <a:xfrm>
            <a:off x="4860032" y="2749857"/>
            <a:ext cx="3566358" cy="183127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5400" b="1" dirty="0" smtClean="0">
                <a:solidFill>
                  <a:srgbClr val="F2F2E6"/>
                </a:solidFill>
                <a:latin typeface="微软雅黑" pitchFamily="34" charset="-122"/>
                <a:ea typeface="微软雅黑" pitchFamily="34" charset="-122"/>
              </a:rPr>
              <a:t>主讲内容</a:t>
            </a:r>
            <a:endParaRPr lang="en-US" altLang="zh-CN" sz="5400" b="1" dirty="0" smtClean="0">
              <a:solidFill>
                <a:srgbClr val="F2F2E6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3200" dirty="0" smtClean="0">
                <a:solidFill>
                  <a:srgbClr val="F2F2E6"/>
                </a:solidFill>
                <a:latin typeface="Times New Roman" panose="02020603050405020304" pitchFamily="18" charset="0"/>
                <a:ea typeface="Adobe 宋体 Std L" pitchFamily="18" charset="-122"/>
                <a:cs typeface="Times New Roman" panose="02020603050405020304" pitchFamily="18" charset="0"/>
              </a:rPr>
              <a:t>Speech content</a:t>
            </a:r>
          </a:p>
        </p:txBody>
      </p:sp>
      <p:sp>
        <p:nvSpPr>
          <p:cNvPr id="12" name="TextBox 6"/>
          <p:cNvSpPr txBox="1"/>
          <p:nvPr/>
        </p:nvSpPr>
        <p:spPr>
          <a:xfrm>
            <a:off x="683568" y="1840178"/>
            <a:ext cx="434996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defRPr>
            </a:lvl1pPr>
          </a:lstStyle>
          <a:p>
            <a:r>
              <a:rPr lang="en-US" altLang="zh-CN" dirty="0" smtClean="0">
                <a:solidFill>
                  <a:srgbClr val="7F7F7F"/>
                </a:solidFill>
              </a:rPr>
              <a:t>4.1    </a:t>
            </a:r>
            <a:r>
              <a:rPr lang="en-US" altLang="zh-CN" dirty="0" err="1">
                <a:solidFill>
                  <a:srgbClr val="7F7F7F"/>
                </a:solidFill>
              </a:rPr>
              <a:t>HttpServletResponse</a:t>
            </a:r>
            <a:r>
              <a:rPr lang="zh-CN" altLang="en-US" dirty="0">
                <a:solidFill>
                  <a:srgbClr val="7F7F7F"/>
                </a:solidFill>
              </a:rPr>
              <a:t>对象</a:t>
            </a:r>
          </a:p>
        </p:txBody>
      </p:sp>
      <p:sp>
        <p:nvSpPr>
          <p:cNvPr id="13" name="TextBox 5"/>
          <p:cNvSpPr txBox="1"/>
          <p:nvPr/>
        </p:nvSpPr>
        <p:spPr>
          <a:xfrm>
            <a:off x="683568" y="4792506"/>
            <a:ext cx="4752528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dirty="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4.5</a:t>
            </a:r>
            <a:r>
              <a:rPr lang="en-US" altLang="zh-CN" sz="2400" dirty="0" smtClean="0">
                <a:solidFill>
                  <a:srgbClr val="CD1F06"/>
                </a:solidFill>
                <a:latin typeface="Impact" pitchFamily="34" charset="0"/>
                <a:ea typeface="微软雅黑" pitchFamily="34" charset="-122"/>
              </a:rPr>
              <a:t>    </a:t>
            </a:r>
            <a:r>
              <a:rPr lang="en-US" altLang="zh-CN" sz="2400" dirty="0" err="1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RequestDispatcher</a:t>
            </a:r>
            <a:r>
              <a:rPr lang="zh-CN" altLang="en-US" sz="2400" dirty="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对象的应用</a:t>
            </a:r>
            <a:endParaRPr lang="zh-CN" altLang="en-US" sz="2400" dirty="0">
              <a:solidFill>
                <a:srgbClr val="7F7F7F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14" name="标题 1"/>
          <p:cNvSpPr>
            <a:spLocks noChangeArrowheads="1"/>
          </p:cNvSpPr>
          <p:nvPr/>
        </p:nvSpPr>
        <p:spPr bwMode="auto">
          <a:xfrm>
            <a:off x="1643733" y="389681"/>
            <a:ext cx="638465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主讲内容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26352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Picture 1" descr="D:\QQMessage\1403019970\Image\C2C\ZDIXUC]AK49175)L`DXXGXV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1412776"/>
            <a:ext cx="5516817" cy="920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图片 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1" y="3140968"/>
            <a:ext cx="3744416" cy="1001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图片 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3140968"/>
            <a:ext cx="3744416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图片 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4869160"/>
            <a:ext cx="5516817" cy="1017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标题 1"/>
          <p:cNvSpPr>
            <a:spLocks noChangeArrowheads="1"/>
          </p:cNvSpPr>
          <p:nvPr/>
        </p:nvSpPr>
        <p:spPr bwMode="auto">
          <a:xfrm>
            <a:off x="251520" y="923156"/>
            <a:ext cx="6624736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483769" y="1513040"/>
            <a:ext cx="1872207" cy="269252"/>
          </a:xfrm>
          <a:prstGeom prst="rect">
            <a:avLst/>
          </a:prstGeom>
          <a:ln w="19050">
            <a:solidFill>
              <a:srgbClr val="0070C0"/>
            </a:solidFill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endParaRPr lang="zh-CN" altLang="en-US" dirty="0">
              <a:ea typeface="宋体" pitchFamily="2" charset="-122"/>
            </a:endParaRPr>
          </a:p>
        </p:txBody>
      </p:sp>
      <p:cxnSp>
        <p:nvCxnSpPr>
          <p:cNvPr id="16" name="直接箭头连接符 15"/>
          <p:cNvCxnSpPr>
            <a:endCxn id="21" idx="1"/>
          </p:cNvCxnSpPr>
          <p:nvPr/>
        </p:nvCxnSpPr>
        <p:spPr bwMode="auto">
          <a:xfrm>
            <a:off x="4367772" y="1589693"/>
            <a:ext cx="462519" cy="204312"/>
          </a:xfrm>
          <a:prstGeom prst="straightConnector1">
            <a:avLst/>
          </a:pr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" name="圆角矩形 20"/>
          <p:cNvSpPr/>
          <p:nvPr/>
        </p:nvSpPr>
        <p:spPr>
          <a:xfrm>
            <a:off x="4830291" y="1589693"/>
            <a:ext cx="2622029" cy="408623"/>
          </a:xfrm>
          <a:prstGeom prst="roundRect">
            <a:avLst/>
          </a:prstGeom>
          <a:solidFill>
            <a:srgbClr val="006BA9"/>
          </a:solidFill>
          <a:ln>
            <a:solidFill>
              <a:srgbClr val="006BA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b="1" dirty="0" smtClean="0">
                <a:solidFill>
                  <a:schemeClr val="bg1"/>
                </a:solidFill>
                <a:ea typeface="宋体" pitchFamily="2" charset="-122"/>
              </a:rPr>
              <a:t>打开浏览器，输入地址。</a:t>
            </a:r>
            <a:endParaRPr lang="en-US" altLang="zh-CN" b="1" dirty="0" smtClean="0">
              <a:solidFill>
                <a:schemeClr val="bg1"/>
              </a:solidFill>
              <a:ea typeface="宋体" pitchFamily="2" charset="-122"/>
            </a:endParaRPr>
          </a:p>
        </p:txBody>
      </p:sp>
      <p:cxnSp>
        <p:nvCxnSpPr>
          <p:cNvPr id="18" name="直接箭头连接符 17"/>
          <p:cNvCxnSpPr/>
          <p:nvPr/>
        </p:nvCxnSpPr>
        <p:spPr>
          <a:xfrm flipH="1">
            <a:off x="2123729" y="2430364"/>
            <a:ext cx="2232247" cy="576064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>
            <a:off x="4450088" y="2430364"/>
            <a:ext cx="2426168" cy="576064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>
            <a:off x="2123729" y="4230564"/>
            <a:ext cx="2202506" cy="50405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/>
        </p:nvCxnSpPr>
        <p:spPr>
          <a:xfrm flipH="1">
            <a:off x="4572000" y="4230564"/>
            <a:ext cx="2160240" cy="50405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 rot="20716216">
            <a:off x="2699792" y="2467742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/>
              <a:t>处理前</a:t>
            </a:r>
            <a:endParaRPr lang="zh-CN" altLang="en-US" sz="1400" dirty="0"/>
          </a:p>
        </p:txBody>
      </p:sp>
      <p:sp>
        <p:nvSpPr>
          <p:cNvPr id="33" name="TextBox 32"/>
          <p:cNvSpPr txBox="1"/>
          <p:nvPr/>
        </p:nvSpPr>
        <p:spPr>
          <a:xfrm rot="802178">
            <a:off x="5642562" y="2462204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/>
              <a:t>处理前</a:t>
            </a:r>
            <a:endParaRPr lang="zh-CN" altLang="en-US" sz="1400" dirty="0"/>
          </a:p>
        </p:txBody>
      </p:sp>
      <p:sp>
        <p:nvSpPr>
          <p:cNvPr id="35" name="矩形 34"/>
          <p:cNvSpPr/>
          <p:nvPr/>
        </p:nvSpPr>
        <p:spPr>
          <a:xfrm>
            <a:off x="179512" y="3507198"/>
            <a:ext cx="432046" cy="269252"/>
          </a:xfrm>
          <a:prstGeom prst="rect">
            <a:avLst/>
          </a:prstGeom>
          <a:ln w="19050">
            <a:solidFill>
              <a:srgbClr val="0070C0"/>
            </a:solidFill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endParaRPr lang="zh-CN" altLang="en-US" dirty="0">
              <a:ea typeface="宋体" pitchFamily="2" charset="-122"/>
            </a:endParaRPr>
          </a:p>
        </p:txBody>
      </p:sp>
      <p:cxnSp>
        <p:nvCxnSpPr>
          <p:cNvPr id="36" name="直接箭头连接符 35"/>
          <p:cNvCxnSpPr/>
          <p:nvPr/>
        </p:nvCxnSpPr>
        <p:spPr bwMode="auto">
          <a:xfrm>
            <a:off x="683568" y="3641824"/>
            <a:ext cx="792087" cy="115012"/>
          </a:xfrm>
          <a:prstGeom prst="straightConnector1">
            <a:avLst/>
          </a:pr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" name="圆角矩形 36"/>
          <p:cNvSpPr/>
          <p:nvPr/>
        </p:nvSpPr>
        <p:spPr>
          <a:xfrm>
            <a:off x="1484834" y="3572138"/>
            <a:ext cx="1863030" cy="408623"/>
          </a:xfrm>
          <a:prstGeom prst="roundRect">
            <a:avLst/>
          </a:prstGeom>
          <a:solidFill>
            <a:srgbClr val="006BA9"/>
          </a:solidFill>
          <a:ln>
            <a:solidFill>
              <a:srgbClr val="006BA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b="1" dirty="0" smtClean="0">
                <a:solidFill>
                  <a:schemeClr val="bg1"/>
                </a:solidFill>
                <a:ea typeface="宋体" pitchFamily="2" charset="-122"/>
              </a:rPr>
              <a:t>可能出现的乱码</a:t>
            </a:r>
            <a:endParaRPr lang="en-US" altLang="zh-CN" b="1" dirty="0" smtClean="0">
              <a:solidFill>
                <a:schemeClr val="bg1"/>
              </a:solidFill>
              <a:ea typeface="宋体" pitchFamily="2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4887275" y="3510484"/>
            <a:ext cx="432046" cy="269252"/>
          </a:xfrm>
          <a:prstGeom prst="rect">
            <a:avLst/>
          </a:prstGeom>
          <a:ln w="19050">
            <a:solidFill>
              <a:srgbClr val="0070C0"/>
            </a:solidFill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endParaRPr lang="zh-CN" altLang="en-US" dirty="0">
              <a:ea typeface="宋体" pitchFamily="2" charset="-122"/>
            </a:endParaRPr>
          </a:p>
        </p:txBody>
      </p:sp>
      <p:cxnSp>
        <p:nvCxnSpPr>
          <p:cNvPr id="39" name="直接箭头连接符 38"/>
          <p:cNvCxnSpPr/>
          <p:nvPr/>
        </p:nvCxnSpPr>
        <p:spPr bwMode="auto">
          <a:xfrm>
            <a:off x="5391331" y="3645110"/>
            <a:ext cx="792087" cy="115012"/>
          </a:xfrm>
          <a:prstGeom prst="straightConnector1">
            <a:avLst/>
          </a:pr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" name="圆角矩形 39"/>
          <p:cNvSpPr/>
          <p:nvPr/>
        </p:nvSpPr>
        <p:spPr>
          <a:xfrm>
            <a:off x="6192597" y="3575424"/>
            <a:ext cx="1907795" cy="408623"/>
          </a:xfrm>
          <a:prstGeom prst="roundRect">
            <a:avLst/>
          </a:prstGeom>
          <a:solidFill>
            <a:srgbClr val="006BA9"/>
          </a:solidFill>
          <a:ln>
            <a:solidFill>
              <a:srgbClr val="006BA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b="1" dirty="0" smtClean="0">
                <a:solidFill>
                  <a:schemeClr val="bg1"/>
                </a:solidFill>
                <a:ea typeface="宋体" pitchFamily="2" charset="-122"/>
              </a:rPr>
              <a:t>可能出现的乱码</a:t>
            </a:r>
            <a:endParaRPr lang="en-US" altLang="zh-CN" b="1" dirty="0" smtClean="0">
              <a:solidFill>
                <a:schemeClr val="bg1"/>
              </a:solidFill>
              <a:ea typeface="宋体" pitchFamily="2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 rot="783382">
            <a:off x="2669355" y="4462684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/>
              <a:t>处理后</a:t>
            </a:r>
            <a:endParaRPr lang="zh-CN" altLang="en-US" sz="1400" dirty="0"/>
          </a:p>
        </p:txBody>
      </p:sp>
      <p:sp>
        <p:nvSpPr>
          <p:cNvPr id="42" name="TextBox 41"/>
          <p:cNvSpPr txBox="1"/>
          <p:nvPr/>
        </p:nvSpPr>
        <p:spPr>
          <a:xfrm rot="20716216">
            <a:off x="5418574" y="4453511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/>
              <a:t>处理后</a:t>
            </a:r>
            <a:endParaRPr lang="zh-CN" altLang="en-US" sz="1400" dirty="0"/>
          </a:p>
        </p:txBody>
      </p:sp>
      <p:sp>
        <p:nvSpPr>
          <p:cNvPr id="43" name="矩形 42"/>
          <p:cNvSpPr/>
          <p:nvPr/>
        </p:nvSpPr>
        <p:spPr>
          <a:xfrm>
            <a:off x="1727551" y="5243328"/>
            <a:ext cx="432046" cy="269252"/>
          </a:xfrm>
          <a:prstGeom prst="rect">
            <a:avLst/>
          </a:prstGeom>
          <a:ln w="19050">
            <a:solidFill>
              <a:srgbClr val="0070C0"/>
            </a:solidFill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endParaRPr lang="zh-CN" altLang="en-US" dirty="0">
              <a:ea typeface="宋体" pitchFamily="2" charset="-122"/>
            </a:endParaRPr>
          </a:p>
        </p:txBody>
      </p:sp>
      <p:cxnSp>
        <p:nvCxnSpPr>
          <p:cNvPr id="44" name="直接箭头连接符 43"/>
          <p:cNvCxnSpPr/>
          <p:nvPr/>
        </p:nvCxnSpPr>
        <p:spPr bwMode="auto">
          <a:xfrm>
            <a:off x="2238905" y="5377954"/>
            <a:ext cx="792087" cy="115012"/>
          </a:xfrm>
          <a:prstGeom prst="straightConnector1">
            <a:avLst/>
          </a:pr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" name="圆角矩形 44"/>
          <p:cNvSpPr/>
          <p:nvPr/>
        </p:nvSpPr>
        <p:spPr>
          <a:xfrm>
            <a:off x="3082414" y="5288654"/>
            <a:ext cx="1187715" cy="408623"/>
          </a:xfrm>
          <a:prstGeom prst="roundRect">
            <a:avLst/>
          </a:prstGeom>
          <a:solidFill>
            <a:srgbClr val="006BA9"/>
          </a:solidFill>
          <a:ln>
            <a:solidFill>
              <a:srgbClr val="006BA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b="1" dirty="0" smtClean="0">
                <a:solidFill>
                  <a:schemeClr val="bg1"/>
                </a:solidFill>
                <a:ea typeface="宋体" pitchFamily="2" charset="-122"/>
              </a:rPr>
              <a:t>乱码解决</a:t>
            </a:r>
            <a:endParaRPr lang="en-US" altLang="zh-CN" b="1" dirty="0" smtClean="0">
              <a:solidFill>
                <a:schemeClr val="bg1"/>
              </a:solidFill>
              <a:ea typeface="宋体" pitchFamily="2" charset="-122"/>
            </a:endParaRPr>
          </a:p>
        </p:txBody>
      </p:sp>
      <p:sp>
        <p:nvSpPr>
          <p:cNvPr id="46" name="椭圆 45"/>
          <p:cNvSpPr/>
          <p:nvPr/>
        </p:nvSpPr>
        <p:spPr bwMode="auto">
          <a:xfrm rot="574600">
            <a:off x="1255813" y="3029532"/>
            <a:ext cx="361950" cy="361950"/>
          </a:xfrm>
          <a:prstGeom prst="ellipse">
            <a:avLst/>
          </a:prstGeom>
          <a:solidFill>
            <a:srgbClr val="3BCCFF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buFont typeface="Arial" pitchFamily="34" charset="0"/>
              <a:buNone/>
            </a:pPr>
            <a:endParaRPr lang="zh-CN" altLang="en-US" dirty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47" name="TextBox 46"/>
          <p:cNvSpPr txBox="1">
            <a:spLocks noChangeArrowheads="1"/>
          </p:cNvSpPr>
          <p:nvPr/>
        </p:nvSpPr>
        <p:spPr bwMode="auto">
          <a:xfrm>
            <a:off x="1268116" y="3012119"/>
            <a:ext cx="349250" cy="3698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Verdana" pitchFamily="34" charset="0"/>
                <a:ea typeface="宋体" charset="-122"/>
              </a:rPr>
              <a:t>2</a:t>
            </a:r>
            <a:endParaRPr kumimoji="0" lang="zh-CN" altLang="en-US" sz="1800" b="1" i="0" u="none" strike="noStrike" kern="0" cap="none" spc="0" normalizeH="0" baseline="0" noProof="0" dirty="0" smtClean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Verdana" pitchFamily="34" charset="0"/>
              <a:ea typeface="宋体" charset="-122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1644750" y="1854300"/>
            <a:ext cx="1152525" cy="345094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b="1" kern="0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任务目标</a:t>
            </a:r>
            <a:r>
              <a:rPr kumimoji="0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：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0" name="圆角矩形 59"/>
          <p:cNvSpPr/>
          <p:nvPr/>
        </p:nvSpPr>
        <p:spPr>
          <a:xfrm>
            <a:off x="1339950" y="3770577"/>
            <a:ext cx="5219700" cy="408623"/>
          </a:xfrm>
          <a:prstGeom prst="roundRect">
            <a:avLst/>
          </a:prstGeom>
          <a:solidFill>
            <a:srgbClr val="0070C0"/>
          </a:solidFill>
          <a:ln>
            <a:solidFill>
              <a:srgbClr val="D6ECFF">
                <a:lumMod val="75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spAutoFit/>
          </a:bodyPr>
          <a:lstStyle/>
          <a:p>
            <a:pPr lvl="0" algn="ctr">
              <a:defRPr/>
            </a:pPr>
            <a:r>
              <a:rPr lang="zh-CN" altLang="en-US" b="1" kern="0">
                <a:solidFill>
                  <a:sysClr val="window" lastClr="FFFFFF"/>
                </a:solidFill>
                <a:latin typeface="Arial"/>
              </a:rPr>
              <a:t>案例代码（详见教材</a:t>
            </a:r>
            <a:r>
              <a:rPr lang="en-US" altLang="zh-CN" b="1" kern="0">
                <a:solidFill>
                  <a:sysClr val="window" lastClr="FFFFFF"/>
                </a:solidFill>
                <a:latin typeface="Arial"/>
              </a:rPr>
              <a:t>【</a:t>
            </a:r>
            <a:r>
              <a:rPr lang="zh-CN" altLang="en-US" b="1" kern="0" smtClean="0">
                <a:solidFill>
                  <a:sysClr val="window" lastClr="FFFFFF"/>
                </a:solidFill>
                <a:latin typeface="Arial"/>
              </a:rPr>
              <a:t>任务</a:t>
            </a:r>
            <a:r>
              <a:rPr lang="en-US" altLang="zh-CN" b="1" kern="0" smtClean="0">
                <a:solidFill>
                  <a:sysClr val="window" lastClr="FFFFFF"/>
                </a:solidFill>
                <a:latin typeface="Arial"/>
              </a:rPr>
              <a:t>4-1】</a:t>
            </a:r>
            <a:r>
              <a:rPr lang="zh-CN" altLang="en-US" b="1" kern="0">
                <a:solidFill>
                  <a:sysClr val="window" lastClr="FFFFFF"/>
                </a:solidFill>
                <a:latin typeface="Arial"/>
              </a:rPr>
              <a:t>中的实现步骤）</a:t>
            </a:r>
            <a:endParaRPr lang="en-US" altLang="zh-CN" b="1" kern="0" dirty="0">
              <a:solidFill>
                <a:sysClr val="window" lastClr="FFFFFF"/>
              </a:solidFill>
              <a:latin typeface="Arial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644750" y="3015245"/>
            <a:ext cx="1152525" cy="369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实现步骤：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itchFamily="34" charset="0"/>
              <a:ea typeface="宋体" pitchFamily="2" charset="-122"/>
            </a:endParaRPr>
          </a:p>
        </p:txBody>
      </p:sp>
      <p:cxnSp>
        <p:nvCxnSpPr>
          <p:cNvPr id="62" name="直接连接符 61"/>
          <p:cNvCxnSpPr/>
          <p:nvPr/>
        </p:nvCxnSpPr>
        <p:spPr>
          <a:xfrm>
            <a:off x="1465363" y="2241650"/>
            <a:ext cx="5094287" cy="0"/>
          </a:xfrm>
          <a:prstGeom prst="line">
            <a:avLst/>
          </a:prstGeom>
          <a:solidFill>
            <a:srgbClr val="3BCCFF"/>
          </a:solidFill>
          <a:ln w="12700" cap="flat" cmpd="sng" algn="ctr">
            <a:solidFill>
              <a:srgbClr val="19C3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63" name="直接连接符 62"/>
          <p:cNvCxnSpPr/>
          <p:nvPr/>
        </p:nvCxnSpPr>
        <p:spPr>
          <a:xfrm>
            <a:off x="1402656" y="3385132"/>
            <a:ext cx="5094287" cy="0"/>
          </a:xfrm>
          <a:prstGeom prst="line">
            <a:avLst/>
          </a:prstGeom>
          <a:solidFill>
            <a:srgbClr val="3BCCFF"/>
          </a:solidFill>
          <a:ln w="12700" cap="flat" cmpd="sng" algn="ctr">
            <a:solidFill>
              <a:srgbClr val="19C3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64" name="椭圆 63"/>
          <p:cNvSpPr/>
          <p:nvPr/>
        </p:nvSpPr>
        <p:spPr bwMode="auto">
          <a:xfrm rot="574600">
            <a:off x="1231270" y="1900926"/>
            <a:ext cx="361950" cy="363537"/>
          </a:xfrm>
          <a:prstGeom prst="ellipse">
            <a:avLst/>
          </a:prstGeom>
          <a:solidFill>
            <a:srgbClr val="3BCCFF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eaLnBrk="1" hangingPunct="1">
              <a:buFont typeface="Arial" pitchFamily="34" charset="0"/>
              <a:buNone/>
              <a:defRPr/>
            </a:pPr>
            <a:endParaRPr lang="zh-CN" altLang="en-US" dirty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65" name="TextBox 64"/>
          <p:cNvSpPr txBox="1">
            <a:spLocks noChangeArrowheads="1"/>
          </p:cNvSpPr>
          <p:nvPr/>
        </p:nvSpPr>
        <p:spPr bwMode="auto">
          <a:xfrm>
            <a:off x="1238414" y="1891606"/>
            <a:ext cx="3476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b="1">
                <a:solidFill>
                  <a:schemeClr val="bg1"/>
                </a:solidFill>
                <a:latin typeface="Verdana" pitchFamily="34" charset="0"/>
              </a:rPr>
              <a:t>1</a:t>
            </a:r>
            <a:endParaRPr lang="zh-CN" altLang="en-US" b="1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2916337" y="2761223"/>
            <a:ext cx="3671887" cy="610936"/>
          </a:xfrm>
          <a:prstGeom prst="rect">
            <a:avLst/>
          </a:prstGeom>
        </p:spPr>
        <p:txBody>
          <a:bodyPr>
            <a:spAutoFit/>
          </a:bodyPr>
          <a:lstStyle/>
          <a:p>
            <a:pPr marL="228600" indent="-228600">
              <a:lnSpc>
                <a:spcPct val="130000"/>
              </a:lnSpc>
              <a:spcAft>
                <a:spcPts val="300"/>
              </a:spcAft>
              <a:buFont typeface="+mj-ea"/>
              <a:buAutoNum type="circleNumDbPlain"/>
            </a:pP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创建</a:t>
            </a:r>
            <a:r>
              <a:rPr lang="en-US" altLang="zh-CN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Servlet</a:t>
            </a:r>
          </a:p>
          <a:p>
            <a:pPr marL="228600" indent="-228600">
              <a:lnSpc>
                <a:spcPct val="130000"/>
              </a:lnSpc>
              <a:spcAft>
                <a:spcPts val="300"/>
              </a:spcAft>
              <a:buFont typeface="+mj-ea"/>
              <a:buAutoNum type="circleNumDbPlain"/>
            </a:pP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配置映射信息，查看运行效果</a:t>
            </a:r>
            <a:endParaRPr lang="en-US" altLang="zh-CN" sz="12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2916338" y="1909862"/>
            <a:ext cx="3108543" cy="3323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  <a:defRPr/>
            </a:pP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将注册界面信息传递到展示界面进行展示。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8" name="标题 1"/>
          <p:cNvSpPr>
            <a:spLocks noChangeArrowheads="1"/>
          </p:cNvSpPr>
          <p:nvPr/>
        </p:nvSpPr>
        <p:spPr bwMode="auto">
          <a:xfrm>
            <a:off x="1643733" y="389681"/>
            <a:ext cx="6960715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【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任务</a:t>
            </a:r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4-1】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解决中文输出乱码问题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10291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21" grpId="0" animBg="1"/>
      <p:bldP spid="21" grpId="1" animBg="1"/>
      <p:bldP spid="28" grpId="0"/>
      <p:bldP spid="28" grpId="1"/>
      <p:bldP spid="33" grpId="0"/>
      <p:bldP spid="33" grpId="1"/>
      <p:bldP spid="35" grpId="0" animBg="1"/>
      <p:bldP spid="35" grpId="1" animBg="1"/>
      <p:bldP spid="37" grpId="0" animBg="1"/>
      <p:bldP spid="37" grpId="1" animBg="1"/>
      <p:bldP spid="38" grpId="0" animBg="1"/>
      <p:bldP spid="38" grpId="1" animBg="1"/>
      <p:bldP spid="40" grpId="0" animBg="1"/>
      <p:bldP spid="40" grpId="1" animBg="1"/>
      <p:bldP spid="41" grpId="0"/>
      <p:bldP spid="41" grpId="1"/>
      <p:bldP spid="42" grpId="0"/>
      <p:bldP spid="42" grpId="1"/>
      <p:bldP spid="43" grpId="0" animBg="1"/>
      <p:bldP spid="43" grpId="1" animBg="1"/>
      <p:bldP spid="45" grpId="0" animBg="1"/>
      <p:bldP spid="45" grpId="1" animBg="1"/>
      <p:bldP spid="46" grpId="0" animBg="1"/>
      <p:bldP spid="47" grpId="0"/>
      <p:bldP spid="59" grpId="0"/>
      <p:bldP spid="60" grpId="0" animBg="1"/>
      <p:bldP spid="61" grpId="0"/>
      <p:bldP spid="64" grpId="0" animBg="1"/>
      <p:bldP spid="65" grpId="0"/>
      <p:bldP spid="66" grpId="0"/>
      <p:bldP spid="6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251520" y="923156"/>
            <a:ext cx="6624736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pic>
        <p:nvPicPr>
          <p:cNvPr id="4098" name="图片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2060847"/>
            <a:ext cx="5760000" cy="3321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椭圆 14"/>
          <p:cNvSpPr/>
          <p:nvPr/>
        </p:nvSpPr>
        <p:spPr bwMode="auto">
          <a:xfrm rot="574600">
            <a:off x="1255813" y="3308088"/>
            <a:ext cx="361950" cy="361950"/>
          </a:xfrm>
          <a:prstGeom prst="ellipse">
            <a:avLst/>
          </a:prstGeom>
          <a:solidFill>
            <a:srgbClr val="3BCCFF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buFont typeface="Arial" pitchFamily="34" charset="0"/>
              <a:buNone/>
            </a:pPr>
            <a:endParaRPr lang="zh-CN" altLang="en-US" dirty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1268116" y="3290675"/>
            <a:ext cx="349250" cy="3698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Verdana" pitchFamily="34" charset="0"/>
                <a:ea typeface="宋体" charset="-122"/>
              </a:rPr>
              <a:t>2</a:t>
            </a:r>
            <a:endParaRPr kumimoji="0" lang="zh-CN" altLang="en-US" sz="1800" b="1" i="0" u="none" strike="noStrike" kern="0" cap="none" spc="0" normalizeH="0" baseline="0" noProof="0" dirty="0" smtClean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Verdana" pitchFamily="34" charset="0"/>
              <a:ea typeface="宋体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644750" y="2132856"/>
            <a:ext cx="1152525" cy="345094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b="1" kern="0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任务目标</a:t>
            </a:r>
            <a:r>
              <a:rPr kumimoji="0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：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1339950" y="4049133"/>
            <a:ext cx="5219700" cy="408623"/>
          </a:xfrm>
          <a:prstGeom prst="roundRect">
            <a:avLst/>
          </a:prstGeom>
          <a:solidFill>
            <a:srgbClr val="0070C0"/>
          </a:solidFill>
          <a:ln>
            <a:solidFill>
              <a:srgbClr val="D6ECFF">
                <a:lumMod val="75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spAutoFit/>
          </a:bodyPr>
          <a:lstStyle/>
          <a:p>
            <a:pPr lvl="0" algn="ctr">
              <a:defRPr/>
            </a:pPr>
            <a:r>
              <a:rPr lang="zh-CN" altLang="en-US" b="1" kern="0">
                <a:solidFill>
                  <a:sysClr val="window" lastClr="FFFFFF"/>
                </a:solidFill>
                <a:latin typeface="Arial"/>
              </a:rPr>
              <a:t>案例代码（详见教材</a:t>
            </a:r>
            <a:r>
              <a:rPr lang="en-US" altLang="zh-CN" b="1" kern="0">
                <a:solidFill>
                  <a:sysClr val="window" lastClr="FFFFFF"/>
                </a:solidFill>
                <a:latin typeface="Arial"/>
              </a:rPr>
              <a:t>【</a:t>
            </a:r>
            <a:r>
              <a:rPr lang="zh-CN" altLang="en-US" b="1" kern="0" smtClean="0">
                <a:solidFill>
                  <a:sysClr val="window" lastClr="FFFFFF"/>
                </a:solidFill>
                <a:latin typeface="Arial"/>
              </a:rPr>
              <a:t>任务</a:t>
            </a:r>
            <a:r>
              <a:rPr lang="en-US" altLang="zh-CN" b="1" kern="0" smtClean="0">
                <a:solidFill>
                  <a:sysClr val="window" lastClr="FFFFFF"/>
                </a:solidFill>
                <a:latin typeface="Arial"/>
              </a:rPr>
              <a:t>4-2</a:t>
            </a:r>
            <a:r>
              <a:rPr lang="en-US" altLang="zh-CN" b="1" kern="0">
                <a:solidFill>
                  <a:sysClr val="window" lastClr="FFFFFF"/>
                </a:solidFill>
                <a:latin typeface="Arial"/>
              </a:rPr>
              <a:t>】</a:t>
            </a:r>
            <a:r>
              <a:rPr lang="zh-CN" altLang="en-US" b="1" kern="0">
                <a:solidFill>
                  <a:sysClr val="window" lastClr="FFFFFF"/>
                </a:solidFill>
                <a:latin typeface="Arial"/>
              </a:rPr>
              <a:t>中的实现步骤）</a:t>
            </a:r>
            <a:endParaRPr lang="en-US" altLang="zh-CN" b="1" kern="0" dirty="0">
              <a:solidFill>
                <a:sysClr val="window" lastClr="FFFFFF"/>
              </a:solidFill>
              <a:latin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644750" y="3293801"/>
            <a:ext cx="1152525" cy="369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实现步骤：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itchFamily="34" charset="0"/>
              <a:ea typeface="宋体" pitchFamily="2" charset="-122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1465363" y="2520206"/>
            <a:ext cx="5094287" cy="0"/>
          </a:xfrm>
          <a:prstGeom prst="line">
            <a:avLst/>
          </a:prstGeom>
          <a:solidFill>
            <a:srgbClr val="3BCCFF"/>
          </a:solidFill>
          <a:ln w="12700" cap="flat" cmpd="sng" algn="ctr">
            <a:solidFill>
              <a:srgbClr val="19C3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21" name="直接连接符 20"/>
          <p:cNvCxnSpPr/>
          <p:nvPr/>
        </p:nvCxnSpPr>
        <p:spPr>
          <a:xfrm>
            <a:off x="1402656" y="3663688"/>
            <a:ext cx="5094287" cy="0"/>
          </a:xfrm>
          <a:prstGeom prst="line">
            <a:avLst/>
          </a:prstGeom>
          <a:solidFill>
            <a:srgbClr val="3BCCFF"/>
          </a:solidFill>
          <a:ln w="12700" cap="flat" cmpd="sng" algn="ctr">
            <a:solidFill>
              <a:srgbClr val="19C3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22" name="椭圆 21"/>
          <p:cNvSpPr/>
          <p:nvPr/>
        </p:nvSpPr>
        <p:spPr bwMode="auto">
          <a:xfrm rot="574600">
            <a:off x="1231270" y="2179482"/>
            <a:ext cx="361950" cy="363537"/>
          </a:xfrm>
          <a:prstGeom prst="ellipse">
            <a:avLst/>
          </a:prstGeom>
          <a:solidFill>
            <a:srgbClr val="3BCCFF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eaLnBrk="1" hangingPunct="1">
              <a:buFont typeface="Arial" pitchFamily="34" charset="0"/>
              <a:buNone/>
              <a:defRPr/>
            </a:pPr>
            <a:endParaRPr lang="zh-CN" altLang="en-US" dirty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23" name="TextBox 22"/>
          <p:cNvSpPr txBox="1">
            <a:spLocks noChangeArrowheads="1"/>
          </p:cNvSpPr>
          <p:nvPr/>
        </p:nvSpPr>
        <p:spPr bwMode="auto">
          <a:xfrm>
            <a:off x="1238414" y="2170162"/>
            <a:ext cx="3476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b="1">
                <a:solidFill>
                  <a:schemeClr val="bg1"/>
                </a:solidFill>
                <a:latin typeface="Verdana" pitchFamily="34" charset="0"/>
              </a:rPr>
              <a:t>1</a:t>
            </a:r>
            <a:endParaRPr lang="zh-CN" altLang="en-US" b="1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2916337" y="3039779"/>
            <a:ext cx="3671887" cy="610936"/>
          </a:xfrm>
          <a:prstGeom prst="rect">
            <a:avLst/>
          </a:prstGeom>
        </p:spPr>
        <p:txBody>
          <a:bodyPr>
            <a:spAutoFit/>
          </a:bodyPr>
          <a:lstStyle/>
          <a:p>
            <a:pPr marL="228600" indent="-228600">
              <a:lnSpc>
                <a:spcPct val="130000"/>
              </a:lnSpc>
              <a:spcAft>
                <a:spcPts val="300"/>
              </a:spcAft>
              <a:buFont typeface="+mj-ea"/>
              <a:buAutoNum type="circleNumDbPlain"/>
            </a:pP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创建</a:t>
            </a:r>
            <a:r>
              <a:rPr lang="en-US" altLang="zh-CN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Servlet</a:t>
            </a:r>
          </a:p>
          <a:p>
            <a:pPr marL="228600" indent="-228600">
              <a:lnSpc>
                <a:spcPct val="130000"/>
              </a:lnSpc>
              <a:spcAft>
                <a:spcPts val="300"/>
              </a:spcAft>
              <a:buFont typeface="+mj-ea"/>
              <a:buAutoNum type="circleNumDbPlain"/>
            </a:pP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配置映射信息，查看运行效果</a:t>
            </a:r>
            <a:endParaRPr lang="en-US" altLang="zh-CN" sz="12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2916338" y="2188418"/>
            <a:ext cx="3262432" cy="308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  <a:defRPr/>
            </a:pP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指定时间内自动刷新并跳转到传智播客首页。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标题 1"/>
          <p:cNvSpPr>
            <a:spLocks noChangeArrowheads="1"/>
          </p:cNvSpPr>
          <p:nvPr/>
        </p:nvSpPr>
        <p:spPr bwMode="auto">
          <a:xfrm>
            <a:off x="1643733" y="389681"/>
            <a:ext cx="6960715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【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任务</a:t>
            </a:r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4-2】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实现网页定时刷新并跳转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20261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/>
      <p:bldP spid="17" grpId="0"/>
      <p:bldP spid="18" grpId="0" animBg="1"/>
      <p:bldP spid="19" grpId="0"/>
      <p:bldP spid="22" grpId="0" animBg="1"/>
      <p:bldP spid="23" grpId="0"/>
      <p:bldP spid="24" grpId="0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标题 1"/>
          <p:cNvSpPr>
            <a:spLocks noChangeArrowheads="1"/>
          </p:cNvSpPr>
          <p:nvPr/>
        </p:nvSpPr>
        <p:spPr bwMode="auto">
          <a:xfrm>
            <a:off x="251520" y="923156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9" name="内容占位符 2"/>
          <p:cNvSpPr txBox="1">
            <a:spLocks/>
          </p:cNvSpPr>
          <p:nvPr/>
        </p:nvSpPr>
        <p:spPr bwMode="auto">
          <a:xfrm>
            <a:off x="542925" y="1207161"/>
            <a:ext cx="8102600" cy="78168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服务器接受到客户端的请求后，由于某些条件限制，不能访问当前请求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所指向的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资源，而是指定了一个新的资源路径，让客户端重新发送请求。</a:t>
            </a:r>
            <a:endParaRPr lang="en-US" altLang="zh-CN" sz="1600" b="1" dirty="0">
              <a:solidFill>
                <a:srgbClr val="009ED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endParaRPr lang="zh-CN" altLang="zh-CN" sz="1600" dirty="0"/>
          </a:p>
        </p:txBody>
      </p:sp>
      <p:sp>
        <p:nvSpPr>
          <p:cNvPr id="10" name="矩形 24"/>
          <p:cNvSpPr>
            <a:spLocks noChangeArrowheads="1"/>
          </p:cNvSpPr>
          <p:nvPr/>
        </p:nvSpPr>
        <p:spPr bwMode="auto">
          <a:xfrm>
            <a:off x="542925" y="1196752"/>
            <a:ext cx="8102600" cy="936105"/>
          </a:xfrm>
          <a:prstGeom prst="rect">
            <a:avLst/>
          </a:prstGeom>
          <a:noFill/>
          <a:ln w="19050" algn="ctr">
            <a:solidFill>
              <a:srgbClr val="006B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pic>
        <p:nvPicPr>
          <p:cNvPr id="27" name="图片 26"/>
          <p:cNvPicPr/>
          <p:nvPr>
            <p:extLst>
              <p:ext uri="{D42A27DB-BD31-4B8C-83A1-F6EECF244321}">
                <p14:modId xmlns:p14="http://schemas.microsoft.com/office/powerpoint/2010/main" val="356080579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940152" y="2204865"/>
            <a:ext cx="2520280" cy="3754302"/>
          </a:xfrm>
          <a:prstGeom prst="rect">
            <a:avLst/>
          </a:prstGeom>
        </p:spPr>
      </p:pic>
      <p:pic>
        <p:nvPicPr>
          <p:cNvPr id="5" name="图片 4"/>
          <p:cNvPicPr/>
          <p:nvPr>
            <p:extLst>
              <p:ext uri="{D42A27DB-BD31-4B8C-83A1-F6EECF244321}">
                <p14:modId xmlns:p14="http://schemas.microsoft.com/office/powerpoint/2010/main" val="4072537547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20080" y="3097562"/>
            <a:ext cx="1812578" cy="2357549"/>
          </a:xfrm>
          <a:prstGeom prst="rect">
            <a:avLst/>
          </a:prstGeom>
        </p:spPr>
      </p:pic>
      <p:pic>
        <p:nvPicPr>
          <p:cNvPr id="11" name="图片 10"/>
          <p:cNvPicPr/>
          <p:nvPr>
            <p:extLst>
              <p:ext uri="{D42A27DB-BD31-4B8C-83A1-F6EECF244321}">
                <p14:modId xmlns:p14="http://schemas.microsoft.com/office/powerpoint/2010/main" val="7641907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915816" y="3238919"/>
            <a:ext cx="1219574" cy="271976"/>
          </a:xfrm>
          <a:prstGeom prst="rect">
            <a:avLst/>
          </a:prstGeom>
        </p:spPr>
      </p:pic>
      <p:pic>
        <p:nvPicPr>
          <p:cNvPr id="26" name="图片 25"/>
          <p:cNvPicPr/>
          <p:nvPr>
            <p:extLst>
              <p:ext uri="{D42A27DB-BD31-4B8C-83A1-F6EECF244321}">
                <p14:modId xmlns:p14="http://schemas.microsoft.com/office/powerpoint/2010/main" val="3555748449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915816" y="3610076"/>
            <a:ext cx="2879801" cy="260859"/>
          </a:xfrm>
          <a:prstGeom prst="rect">
            <a:avLst/>
          </a:prstGeom>
        </p:spPr>
      </p:pic>
      <p:pic>
        <p:nvPicPr>
          <p:cNvPr id="3" name="图片 2"/>
          <p:cNvPicPr/>
          <p:nvPr>
            <p:extLst>
              <p:ext uri="{D42A27DB-BD31-4B8C-83A1-F6EECF244321}">
                <p14:modId xmlns:p14="http://schemas.microsoft.com/office/powerpoint/2010/main" val="3523173857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915816" y="4291218"/>
            <a:ext cx="1166011" cy="260031"/>
          </a:xfrm>
          <a:prstGeom prst="rect">
            <a:avLst/>
          </a:prstGeom>
        </p:spPr>
      </p:pic>
      <p:pic>
        <p:nvPicPr>
          <p:cNvPr id="4" name="图片 3"/>
          <p:cNvPicPr/>
          <p:nvPr>
            <p:extLst>
              <p:ext uri="{D42A27DB-BD31-4B8C-83A1-F6EECF244321}">
                <p14:modId xmlns:p14="http://schemas.microsoft.com/office/powerpoint/2010/main" val="3731526317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2915816" y="4663023"/>
            <a:ext cx="1959075" cy="288032"/>
          </a:xfrm>
          <a:prstGeom prst="rect">
            <a:avLst/>
          </a:prstGeom>
        </p:spPr>
      </p:pic>
      <p:pic>
        <p:nvPicPr>
          <p:cNvPr id="28" name="图片 27"/>
          <p:cNvPicPr/>
          <p:nvPr>
            <p:extLst>
              <p:ext uri="{D42A27DB-BD31-4B8C-83A1-F6EECF244321}">
                <p14:modId xmlns:p14="http://schemas.microsoft.com/office/powerpoint/2010/main" val="41497614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6300192" y="2708921"/>
            <a:ext cx="1800200" cy="2964219"/>
          </a:xfrm>
          <a:prstGeom prst="rect">
            <a:avLst/>
          </a:prstGeom>
        </p:spPr>
      </p:pic>
      <p:pic>
        <p:nvPicPr>
          <p:cNvPr id="7" name="图片 6"/>
          <p:cNvPicPr/>
          <p:nvPr>
            <p:extLst>
              <p:ext uri="{D42A27DB-BD31-4B8C-83A1-F6EECF244321}">
                <p14:modId xmlns:p14="http://schemas.microsoft.com/office/powerpoint/2010/main" val="2322150150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6444208" y="3303285"/>
            <a:ext cx="1512168" cy="740721"/>
          </a:xfrm>
          <a:prstGeom prst="rect">
            <a:avLst/>
          </a:prstGeom>
        </p:spPr>
      </p:pic>
      <p:pic>
        <p:nvPicPr>
          <p:cNvPr id="8" name="图片 7"/>
          <p:cNvPicPr/>
          <p:nvPr>
            <p:extLst>
              <p:ext uri="{D42A27DB-BD31-4B8C-83A1-F6EECF244321}">
                <p14:modId xmlns:p14="http://schemas.microsoft.com/office/powerpoint/2010/main" val="2286162602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6444208" y="4395370"/>
            <a:ext cx="1494530" cy="732082"/>
          </a:xfrm>
          <a:prstGeom prst="rect">
            <a:avLst/>
          </a:prstGeom>
        </p:spPr>
      </p:pic>
      <p:cxnSp>
        <p:nvCxnSpPr>
          <p:cNvPr id="21" name="直接箭头连接符 20"/>
          <p:cNvCxnSpPr/>
          <p:nvPr/>
        </p:nvCxnSpPr>
        <p:spPr>
          <a:xfrm>
            <a:off x="2555776" y="3510895"/>
            <a:ext cx="3888432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 flipH="1">
            <a:off x="2555776" y="3870935"/>
            <a:ext cx="3888432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>
            <a:off x="2555776" y="4579842"/>
            <a:ext cx="3888432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 flipH="1">
            <a:off x="2555776" y="4939882"/>
            <a:ext cx="3888432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内容占位符 2"/>
          <p:cNvSpPr txBox="1">
            <a:spLocks/>
          </p:cNvSpPr>
          <p:nvPr/>
        </p:nvSpPr>
        <p:spPr bwMode="auto">
          <a:xfrm>
            <a:off x="395536" y="2168824"/>
            <a:ext cx="7975600" cy="68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1">
              <a:lnSpc>
                <a:spcPct val="150000"/>
              </a:lnSpc>
              <a:spcBef>
                <a:spcPct val="20000"/>
              </a:spcBef>
              <a:buFontTx/>
              <a:buChar char="–"/>
            </a:pPr>
            <a:r>
              <a:rPr lang="en-US" altLang="zh-CN" sz="2000" b="1" kern="0" dirty="0" err="1" smtClean="0">
                <a:solidFill>
                  <a:srgbClr val="0070C0"/>
                </a:solidFill>
                <a:latin typeface="Arial"/>
                <a:ea typeface="宋体"/>
              </a:rPr>
              <a:t>sendRedirect</a:t>
            </a:r>
            <a:r>
              <a:rPr lang="en-US" altLang="zh-CN" sz="2000" b="1" kern="0" dirty="0" smtClean="0">
                <a:solidFill>
                  <a:srgbClr val="0070C0"/>
                </a:solidFill>
                <a:latin typeface="Arial"/>
                <a:ea typeface="宋体"/>
              </a:rPr>
              <a:t>()</a:t>
            </a:r>
            <a:r>
              <a:rPr lang="zh-CN" altLang="en-US" sz="2000" b="1" kern="0" dirty="0" smtClean="0">
                <a:solidFill>
                  <a:srgbClr val="0070C0"/>
                </a:solidFill>
                <a:latin typeface="Arial"/>
                <a:ea typeface="宋体"/>
              </a:rPr>
              <a:t>方法的工作原理</a:t>
            </a:r>
            <a:endParaRPr lang="en-US" altLang="zh-CN" sz="2000" b="1" kern="0" dirty="0">
              <a:solidFill>
                <a:srgbClr val="0070C0"/>
              </a:solidFill>
              <a:latin typeface="Arial"/>
              <a:ea typeface="宋体"/>
            </a:endParaRPr>
          </a:p>
        </p:txBody>
      </p:sp>
      <p:sp>
        <p:nvSpPr>
          <p:cNvPr id="20" name="标题 1"/>
          <p:cNvSpPr>
            <a:spLocks noChangeArrowheads="1"/>
          </p:cNvSpPr>
          <p:nvPr/>
        </p:nvSpPr>
        <p:spPr bwMode="auto">
          <a:xfrm>
            <a:off x="1643733" y="389681"/>
            <a:ext cx="6960715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4.2.1 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请求重定向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70785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对角圆角矩形 10"/>
          <p:cNvSpPr/>
          <p:nvPr/>
        </p:nvSpPr>
        <p:spPr>
          <a:xfrm>
            <a:off x="539552" y="3212976"/>
            <a:ext cx="5359499" cy="648072"/>
          </a:xfrm>
          <a:prstGeom prst="round2DiagRect">
            <a:avLst>
              <a:gd name="adj1" fmla="val 20943"/>
              <a:gd name="adj2" fmla="val 0"/>
            </a:avLst>
          </a:prstGeom>
          <a:solidFill>
            <a:srgbClr val="006BA9"/>
          </a:solidFill>
          <a:ln>
            <a:solidFill>
              <a:srgbClr val="006B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Box 5"/>
          <p:cNvSpPr txBox="1"/>
          <p:nvPr/>
        </p:nvSpPr>
        <p:spPr>
          <a:xfrm>
            <a:off x="683568" y="4072426"/>
            <a:ext cx="3791036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dirty="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4.4</a:t>
            </a:r>
            <a:r>
              <a:rPr lang="en-US" altLang="zh-CN" sz="2400" dirty="0" smtClean="0">
                <a:solidFill>
                  <a:srgbClr val="CD1F06"/>
                </a:solidFill>
                <a:latin typeface="Impact" pitchFamily="34" charset="0"/>
                <a:ea typeface="微软雅黑" pitchFamily="34" charset="-122"/>
              </a:rPr>
              <a:t>    </a:t>
            </a:r>
            <a:r>
              <a:rPr lang="en-US" altLang="zh-CN" sz="2400" dirty="0" err="1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HttpServletRequest</a:t>
            </a:r>
            <a:r>
              <a:rPr lang="zh-CN" altLang="en-US" sz="2400" dirty="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应用</a:t>
            </a:r>
            <a:endParaRPr lang="zh-CN" altLang="en-US" sz="2400" dirty="0">
              <a:solidFill>
                <a:srgbClr val="7F7F7F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5" name="TextBox 10"/>
          <p:cNvSpPr txBox="1"/>
          <p:nvPr/>
        </p:nvSpPr>
        <p:spPr>
          <a:xfrm>
            <a:off x="683568" y="2584261"/>
            <a:ext cx="4223084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dirty="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4.2    </a:t>
            </a:r>
            <a:r>
              <a:rPr lang="en-US" altLang="zh-CN" sz="2400" dirty="0" err="1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HttpServletResponse</a:t>
            </a:r>
            <a:r>
              <a:rPr lang="zh-CN" altLang="en-US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应用</a:t>
            </a:r>
          </a:p>
        </p:txBody>
      </p:sp>
      <p:sp>
        <p:nvSpPr>
          <p:cNvPr id="6" name="TextBox 11"/>
          <p:cNvSpPr txBox="1"/>
          <p:nvPr/>
        </p:nvSpPr>
        <p:spPr>
          <a:xfrm>
            <a:off x="683568" y="3328344"/>
            <a:ext cx="3791036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dirty="0" smtClean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4.3    </a:t>
            </a:r>
            <a:r>
              <a:rPr lang="en-US" altLang="zh-CN" sz="2400" dirty="0" err="1" smtClean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HttpServletRequest</a:t>
            </a:r>
            <a:r>
              <a:rPr lang="zh-CN" altLang="en-US" sz="2400" dirty="0" smtClean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对象</a:t>
            </a:r>
            <a:endParaRPr lang="zh-CN" altLang="en-US" sz="2400" dirty="0">
              <a:solidFill>
                <a:schemeClr val="bg1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4897998" y="1756903"/>
            <a:ext cx="3444382" cy="344438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381000">
            <a:solidFill>
              <a:srgbClr val="006B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0" name="TextBox 1"/>
          <p:cNvSpPr txBox="1"/>
          <p:nvPr/>
        </p:nvSpPr>
        <p:spPr>
          <a:xfrm>
            <a:off x="4860032" y="2749857"/>
            <a:ext cx="3566358" cy="183127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5400" b="1" dirty="0" smtClean="0">
                <a:solidFill>
                  <a:srgbClr val="F2F2E6"/>
                </a:solidFill>
                <a:latin typeface="微软雅黑" pitchFamily="34" charset="-122"/>
                <a:ea typeface="微软雅黑" pitchFamily="34" charset="-122"/>
              </a:rPr>
              <a:t>主讲内容</a:t>
            </a:r>
            <a:endParaRPr lang="en-US" altLang="zh-CN" sz="5400" b="1" dirty="0" smtClean="0">
              <a:solidFill>
                <a:srgbClr val="F2F2E6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3200" dirty="0" smtClean="0">
                <a:solidFill>
                  <a:srgbClr val="F2F2E6"/>
                </a:solidFill>
                <a:latin typeface="Times New Roman" panose="02020603050405020304" pitchFamily="18" charset="0"/>
                <a:ea typeface="Adobe 宋体 Std L" pitchFamily="18" charset="-122"/>
                <a:cs typeface="Times New Roman" panose="02020603050405020304" pitchFamily="18" charset="0"/>
              </a:rPr>
              <a:t>Speech content</a:t>
            </a:r>
          </a:p>
        </p:txBody>
      </p:sp>
      <p:sp>
        <p:nvSpPr>
          <p:cNvPr id="12" name="TextBox 6"/>
          <p:cNvSpPr txBox="1"/>
          <p:nvPr/>
        </p:nvSpPr>
        <p:spPr>
          <a:xfrm>
            <a:off x="683568" y="1840178"/>
            <a:ext cx="434996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defRPr>
            </a:lvl1pPr>
          </a:lstStyle>
          <a:p>
            <a:r>
              <a:rPr lang="en-US" altLang="zh-CN" dirty="0" smtClean="0">
                <a:solidFill>
                  <a:srgbClr val="7F7F7F"/>
                </a:solidFill>
              </a:rPr>
              <a:t>4.1    </a:t>
            </a:r>
            <a:r>
              <a:rPr lang="en-US" altLang="zh-CN" dirty="0" err="1">
                <a:solidFill>
                  <a:srgbClr val="7F7F7F"/>
                </a:solidFill>
              </a:rPr>
              <a:t>HttpServletResponse</a:t>
            </a:r>
            <a:r>
              <a:rPr lang="zh-CN" altLang="en-US" dirty="0">
                <a:solidFill>
                  <a:srgbClr val="7F7F7F"/>
                </a:solidFill>
              </a:rPr>
              <a:t>对象</a:t>
            </a:r>
          </a:p>
        </p:txBody>
      </p:sp>
      <p:sp>
        <p:nvSpPr>
          <p:cNvPr id="13" name="TextBox 5"/>
          <p:cNvSpPr txBox="1"/>
          <p:nvPr/>
        </p:nvSpPr>
        <p:spPr>
          <a:xfrm>
            <a:off x="683568" y="4792506"/>
            <a:ext cx="4752528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dirty="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4.5</a:t>
            </a:r>
            <a:r>
              <a:rPr lang="en-US" altLang="zh-CN" sz="2400" dirty="0" smtClean="0">
                <a:solidFill>
                  <a:srgbClr val="CD1F06"/>
                </a:solidFill>
                <a:latin typeface="Impact" pitchFamily="34" charset="0"/>
                <a:ea typeface="微软雅黑" pitchFamily="34" charset="-122"/>
              </a:rPr>
              <a:t>    </a:t>
            </a:r>
            <a:r>
              <a:rPr lang="en-US" altLang="zh-CN" sz="2400" dirty="0" err="1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RequestDispatcher</a:t>
            </a:r>
            <a:r>
              <a:rPr lang="zh-CN" altLang="en-US" sz="2400" dirty="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对象的应用</a:t>
            </a:r>
            <a:endParaRPr lang="zh-CN" altLang="en-US" sz="2400" dirty="0">
              <a:solidFill>
                <a:srgbClr val="7F7F7F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14" name="标题 1"/>
          <p:cNvSpPr>
            <a:spLocks noChangeArrowheads="1"/>
          </p:cNvSpPr>
          <p:nvPr/>
        </p:nvSpPr>
        <p:spPr bwMode="auto">
          <a:xfrm>
            <a:off x="1643733" y="389681"/>
            <a:ext cx="638465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主讲内容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41185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5"/>
          <p:cNvSpPr>
            <a:spLocks noEditPoints="1"/>
          </p:cNvSpPr>
          <p:nvPr/>
        </p:nvSpPr>
        <p:spPr bwMode="auto">
          <a:xfrm>
            <a:off x="1762126" y="4089561"/>
            <a:ext cx="2328867" cy="1859719"/>
          </a:xfrm>
          <a:custGeom>
            <a:avLst/>
            <a:gdLst>
              <a:gd name="T0" fmla="*/ 3055 w 3055"/>
              <a:gd name="T1" fmla="*/ 1674 h 2735"/>
              <a:gd name="T2" fmla="*/ 2121 w 3055"/>
              <a:gd name="T3" fmla="*/ 1674 h 2735"/>
              <a:gd name="T4" fmla="*/ 1060 w 3055"/>
              <a:gd name="T5" fmla="*/ 2735 h 2735"/>
              <a:gd name="T6" fmla="*/ 0 w 3055"/>
              <a:gd name="T7" fmla="*/ 1674 h 2735"/>
              <a:gd name="T8" fmla="*/ 1060 w 3055"/>
              <a:gd name="T9" fmla="*/ 613 h 2735"/>
              <a:gd name="T10" fmla="*/ 1632 w 3055"/>
              <a:gd name="T11" fmla="*/ 780 h 2735"/>
              <a:gd name="T12" fmla="*/ 2089 w 3055"/>
              <a:gd name="T13" fmla="*/ 68 h 2735"/>
              <a:gd name="T14" fmla="*/ 2133 w 3055"/>
              <a:gd name="T15" fmla="*/ 0 h 2735"/>
              <a:gd name="T16" fmla="*/ 3055 w 3055"/>
              <a:gd name="T17" fmla="*/ 532 h 2735"/>
              <a:gd name="T18" fmla="*/ 3055 w 3055"/>
              <a:gd name="T19" fmla="*/ 1674 h 2735"/>
              <a:gd name="T20" fmla="*/ 1909 w 3055"/>
              <a:gd name="T21" fmla="*/ 1674 h 2735"/>
              <a:gd name="T22" fmla="*/ 1058 w 3055"/>
              <a:gd name="T23" fmla="*/ 1674 h 2735"/>
              <a:gd name="T24" fmla="*/ 1518 w 3055"/>
              <a:gd name="T25" fmla="*/ 958 h 2735"/>
              <a:gd name="T26" fmla="*/ 1060 w 3055"/>
              <a:gd name="T27" fmla="*/ 824 h 2735"/>
              <a:gd name="T28" fmla="*/ 212 w 3055"/>
              <a:gd name="T29" fmla="*/ 1674 h 2735"/>
              <a:gd name="T30" fmla="*/ 1060 w 3055"/>
              <a:gd name="T31" fmla="*/ 2523 h 2735"/>
              <a:gd name="T32" fmla="*/ 1909 w 3055"/>
              <a:gd name="T33" fmla="*/ 1674 h 27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3055" h="2735">
                <a:moveTo>
                  <a:pt x="3055" y="1674"/>
                </a:moveTo>
                <a:cubicBezTo>
                  <a:pt x="2121" y="1674"/>
                  <a:pt x="2121" y="1674"/>
                  <a:pt x="2121" y="1674"/>
                </a:cubicBezTo>
                <a:cubicBezTo>
                  <a:pt x="2121" y="2260"/>
                  <a:pt x="1646" y="2735"/>
                  <a:pt x="1060" y="2735"/>
                </a:cubicBezTo>
                <a:cubicBezTo>
                  <a:pt x="475" y="2735"/>
                  <a:pt x="0" y="2260"/>
                  <a:pt x="0" y="1674"/>
                </a:cubicBezTo>
                <a:cubicBezTo>
                  <a:pt x="0" y="1088"/>
                  <a:pt x="475" y="613"/>
                  <a:pt x="1060" y="613"/>
                </a:cubicBezTo>
                <a:cubicBezTo>
                  <a:pt x="1271" y="613"/>
                  <a:pt x="1467" y="674"/>
                  <a:pt x="1632" y="780"/>
                </a:cubicBezTo>
                <a:cubicBezTo>
                  <a:pt x="2089" y="68"/>
                  <a:pt x="2089" y="68"/>
                  <a:pt x="2089" y="68"/>
                </a:cubicBezTo>
                <a:cubicBezTo>
                  <a:pt x="2133" y="0"/>
                  <a:pt x="2133" y="0"/>
                  <a:pt x="2133" y="0"/>
                </a:cubicBezTo>
                <a:cubicBezTo>
                  <a:pt x="3055" y="532"/>
                  <a:pt x="3055" y="532"/>
                  <a:pt x="3055" y="532"/>
                </a:cubicBezTo>
                <a:lnTo>
                  <a:pt x="3055" y="1674"/>
                </a:lnTo>
                <a:close/>
                <a:moveTo>
                  <a:pt x="1909" y="1674"/>
                </a:moveTo>
                <a:cubicBezTo>
                  <a:pt x="1058" y="1674"/>
                  <a:pt x="1058" y="1674"/>
                  <a:pt x="1058" y="1674"/>
                </a:cubicBezTo>
                <a:cubicBezTo>
                  <a:pt x="1518" y="958"/>
                  <a:pt x="1518" y="958"/>
                  <a:pt x="1518" y="958"/>
                </a:cubicBezTo>
                <a:cubicBezTo>
                  <a:pt x="1386" y="873"/>
                  <a:pt x="1229" y="824"/>
                  <a:pt x="1060" y="824"/>
                </a:cubicBezTo>
                <a:cubicBezTo>
                  <a:pt x="592" y="824"/>
                  <a:pt x="212" y="1205"/>
                  <a:pt x="212" y="1674"/>
                </a:cubicBezTo>
                <a:cubicBezTo>
                  <a:pt x="212" y="2143"/>
                  <a:pt x="592" y="2523"/>
                  <a:pt x="1060" y="2523"/>
                </a:cubicBezTo>
                <a:cubicBezTo>
                  <a:pt x="1529" y="2523"/>
                  <a:pt x="1909" y="2143"/>
                  <a:pt x="1909" y="1674"/>
                </a:cubicBezTo>
                <a:close/>
              </a:path>
            </a:pathLst>
          </a:custGeom>
          <a:solidFill>
            <a:schemeClr val="accent4">
              <a:hueOff val="-4464770"/>
              <a:satOff val="26899"/>
              <a:lumOff val="2156"/>
            </a:schemeClr>
          </a:solidFill>
          <a:ln>
            <a:noFill/>
          </a:ln>
        </p:spPr>
        <p:txBody>
          <a:bodyPr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 kern="0">
              <a:solidFill>
                <a:prstClr val="black"/>
              </a:solidFill>
              <a:latin typeface="Calibri"/>
              <a:ea typeface="宋体"/>
            </a:endParaRPr>
          </a:p>
        </p:txBody>
      </p:sp>
      <p:sp>
        <p:nvSpPr>
          <p:cNvPr id="4" name="Freeform 6"/>
          <p:cNvSpPr>
            <a:spLocks noEditPoints="1"/>
          </p:cNvSpPr>
          <p:nvPr/>
        </p:nvSpPr>
        <p:spPr bwMode="auto">
          <a:xfrm>
            <a:off x="4179431" y="4084632"/>
            <a:ext cx="2343607" cy="1864647"/>
          </a:xfrm>
          <a:custGeom>
            <a:avLst/>
            <a:gdLst>
              <a:gd name="T0" fmla="*/ 933 w 3073"/>
              <a:gd name="T1" fmla="*/ 0 h 2742"/>
              <a:gd name="T2" fmla="*/ 981 w 3073"/>
              <a:gd name="T3" fmla="*/ 75 h 2742"/>
              <a:gd name="T4" fmla="*/ 1439 w 3073"/>
              <a:gd name="T5" fmla="*/ 788 h 2742"/>
              <a:gd name="T6" fmla="*/ 2012 w 3073"/>
              <a:gd name="T7" fmla="*/ 620 h 2742"/>
              <a:gd name="T8" fmla="*/ 3073 w 3073"/>
              <a:gd name="T9" fmla="*/ 1681 h 2742"/>
              <a:gd name="T10" fmla="*/ 2012 w 3073"/>
              <a:gd name="T11" fmla="*/ 2742 h 2742"/>
              <a:gd name="T12" fmla="*/ 952 w 3073"/>
              <a:gd name="T13" fmla="*/ 1681 h 2742"/>
              <a:gd name="T14" fmla="*/ 0 w 3073"/>
              <a:gd name="T15" fmla="*/ 1681 h 2742"/>
              <a:gd name="T16" fmla="*/ 0 w 3073"/>
              <a:gd name="T17" fmla="*/ 539 h 2742"/>
              <a:gd name="T18" fmla="*/ 933 w 3073"/>
              <a:gd name="T19" fmla="*/ 0 h 2742"/>
              <a:gd name="T20" fmla="*/ 1553 w 3073"/>
              <a:gd name="T21" fmla="*/ 966 h 2742"/>
              <a:gd name="T22" fmla="*/ 2012 w 3073"/>
              <a:gd name="T23" fmla="*/ 1681 h 2742"/>
              <a:gd name="T24" fmla="*/ 1163 w 3073"/>
              <a:gd name="T25" fmla="*/ 1681 h 2742"/>
              <a:gd name="T26" fmla="*/ 2012 w 3073"/>
              <a:gd name="T27" fmla="*/ 2530 h 2742"/>
              <a:gd name="T28" fmla="*/ 2861 w 3073"/>
              <a:gd name="T29" fmla="*/ 1681 h 2742"/>
              <a:gd name="T30" fmla="*/ 2012 w 3073"/>
              <a:gd name="T31" fmla="*/ 831 h 2742"/>
              <a:gd name="T32" fmla="*/ 1553 w 3073"/>
              <a:gd name="T33" fmla="*/ 966 h 27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3073" h="2742">
                <a:moveTo>
                  <a:pt x="933" y="0"/>
                </a:moveTo>
                <a:cubicBezTo>
                  <a:pt x="981" y="75"/>
                  <a:pt x="981" y="75"/>
                  <a:pt x="981" y="75"/>
                </a:cubicBezTo>
                <a:cubicBezTo>
                  <a:pt x="1439" y="788"/>
                  <a:pt x="1439" y="788"/>
                  <a:pt x="1439" y="788"/>
                </a:cubicBezTo>
                <a:cubicBezTo>
                  <a:pt x="1604" y="681"/>
                  <a:pt x="1801" y="620"/>
                  <a:pt x="2012" y="620"/>
                </a:cubicBezTo>
                <a:cubicBezTo>
                  <a:pt x="2598" y="620"/>
                  <a:pt x="3073" y="1095"/>
                  <a:pt x="3073" y="1681"/>
                </a:cubicBezTo>
                <a:cubicBezTo>
                  <a:pt x="3073" y="2267"/>
                  <a:pt x="2598" y="2742"/>
                  <a:pt x="2012" y="2742"/>
                </a:cubicBezTo>
                <a:cubicBezTo>
                  <a:pt x="1427" y="2742"/>
                  <a:pt x="952" y="2267"/>
                  <a:pt x="952" y="1681"/>
                </a:cubicBezTo>
                <a:cubicBezTo>
                  <a:pt x="0" y="1681"/>
                  <a:pt x="0" y="1681"/>
                  <a:pt x="0" y="1681"/>
                </a:cubicBezTo>
                <a:cubicBezTo>
                  <a:pt x="0" y="539"/>
                  <a:pt x="0" y="539"/>
                  <a:pt x="0" y="539"/>
                </a:cubicBezTo>
                <a:lnTo>
                  <a:pt x="933" y="0"/>
                </a:lnTo>
                <a:close/>
                <a:moveTo>
                  <a:pt x="1553" y="966"/>
                </a:moveTo>
                <a:cubicBezTo>
                  <a:pt x="2012" y="1681"/>
                  <a:pt x="2012" y="1681"/>
                  <a:pt x="2012" y="1681"/>
                </a:cubicBezTo>
                <a:cubicBezTo>
                  <a:pt x="1163" y="1681"/>
                  <a:pt x="1163" y="1681"/>
                  <a:pt x="1163" y="1681"/>
                </a:cubicBezTo>
                <a:cubicBezTo>
                  <a:pt x="1163" y="2150"/>
                  <a:pt x="1543" y="2530"/>
                  <a:pt x="2012" y="2530"/>
                </a:cubicBezTo>
                <a:cubicBezTo>
                  <a:pt x="2481" y="2530"/>
                  <a:pt x="2861" y="2150"/>
                  <a:pt x="2861" y="1681"/>
                </a:cubicBezTo>
                <a:cubicBezTo>
                  <a:pt x="2861" y="1212"/>
                  <a:pt x="2481" y="831"/>
                  <a:pt x="2012" y="831"/>
                </a:cubicBezTo>
                <a:cubicBezTo>
                  <a:pt x="1843" y="831"/>
                  <a:pt x="1686" y="881"/>
                  <a:pt x="1553" y="966"/>
                </a:cubicBezTo>
                <a:close/>
              </a:path>
            </a:pathLst>
          </a:custGeom>
          <a:solidFill>
            <a:schemeClr val="accent4">
              <a:hueOff val="-2232385"/>
              <a:satOff val="13449"/>
              <a:lumOff val="1078"/>
            </a:schemeClr>
          </a:solidFill>
          <a:ln>
            <a:solidFill>
              <a:schemeClr val="lt1">
                <a:hueOff val="0"/>
                <a:satOff val="0"/>
                <a:lumOff val="0"/>
              </a:schemeClr>
            </a:solidFill>
          </a:ln>
        </p:spPr>
        <p:txBody>
          <a:bodyPr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 kern="0">
              <a:solidFill>
                <a:prstClr val="black"/>
              </a:solidFill>
              <a:latin typeface="Calibri"/>
              <a:ea typeface="宋体"/>
            </a:endParaRPr>
          </a:p>
        </p:txBody>
      </p:sp>
      <p:sp>
        <p:nvSpPr>
          <p:cNvPr id="5" name="Freeform 7"/>
          <p:cNvSpPr>
            <a:spLocks noEditPoints="1"/>
          </p:cNvSpPr>
          <p:nvPr/>
        </p:nvSpPr>
        <p:spPr bwMode="auto">
          <a:xfrm>
            <a:off x="3331900" y="2321842"/>
            <a:ext cx="1617678" cy="2061791"/>
          </a:xfrm>
          <a:custGeom>
            <a:avLst/>
            <a:gdLst>
              <a:gd name="T0" fmla="*/ 1061 w 2121"/>
              <a:gd name="T1" fmla="*/ 1061 h 3032"/>
              <a:gd name="T2" fmla="*/ 1520 w 2121"/>
              <a:gd name="T3" fmla="*/ 1776 h 3032"/>
              <a:gd name="T4" fmla="*/ 1910 w 2121"/>
              <a:gd name="T5" fmla="*/ 1061 h 3032"/>
              <a:gd name="T6" fmla="*/ 1061 w 2121"/>
              <a:gd name="T7" fmla="*/ 212 h 3032"/>
              <a:gd name="T8" fmla="*/ 212 w 2121"/>
              <a:gd name="T9" fmla="*/ 1061 h 3032"/>
              <a:gd name="T10" fmla="*/ 602 w 2121"/>
              <a:gd name="T11" fmla="*/ 1776 h 3032"/>
              <a:gd name="T12" fmla="*/ 1061 w 2121"/>
              <a:gd name="T13" fmla="*/ 1061 h 3032"/>
              <a:gd name="T14" fmla="*/ 1634 w 2121"/>
              <a:gd name="T15" fmla="*/ 1954 h 3032"/>
              <a:gd name="T16" fmla="*/ 1981 w 2121"/>
              <a:gd name="T17" fmla="*/ 2494 h 3032"/>
              <a:gd name="T18" fmla="*/ 1055 w 2121"/>
              <a:gd name="T19" fmla="*/ 3029 h 3032"/>
              <a:gd name="T20" fmla="*/ 1055 w 2121"/>
              <a:gd name="T21" fmla="*/ 3032 h 3032"/>
              <a:gd name="T22" fmla="*/ 136 w 2121"/>
              <a:gd name="T23" fmla="*/ 2501 h 3032"/>
              <a:gd name="T24" fmla="*/ 487 w 2121"/>
              <a:gd name="T25" fmla="*/ 1954 h 3032"/>
              <a:gd name="T26" fmla="*/ 0 w 2121"/>
              <a:gd name="T27" fmla="*/ 1061 h 3032"/>
              <a:gd name="T28" fmla="*/ 1061 w 2121"/>
              <a:gd name="T29" fmla="*/ 0 h 3032"/>
              <a:gd name="T30" fmla="*/ 2121 w 2121"/>
              <a:gd name="T31" fmla="*/ 1061 h 3032"/>
              <a:gd name="T32" fmla="*/ 1634 w 2121"/>
              <a:gd name="T33" fmla="*/ 1954 h 30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121" h="3032">
                <a:moveTo>
                  <a:pt x="1061" y="1061"/>
                </a:moveTo>
                <a:cubicBezTo>
                  <a:pt x="1520" y="1776"/>
                  <a:pt x="1520" y="1776"/>
                  <a:pt x="1520" y="1776"/>
                </a:cubicBezTo>
                <a:cubicBezTo>
                  <a:pt x="1754" y="1625"/>
                  <a:pt x="1910" y="1361"/>
                  <a:pt x="1910" y="1061"/>
                </a:cubicBezTo>
                <a:cubicBezTo>
                  <a:pt x="1910" y="592"/>
                  <a:pt x="1530" y="212"/>
                  <a:pt x="1061" y="212"/>
                </a:cubicBezTo>
                <a:cubicBezTo>
                  <a:pt x="592" y="212"/>
                  <a:pt x="212" y="592"/>
                  <a:pt x="212" y="1061"/>
                </a:cubicBezTo>
                <a:cubicBezTo>
                  <a:pt x="212" y="1361"/>
                  <a:pt x="367" y="1625"/>
                  <a:pt x="602" y="1776"/>
                </a:cubicBezTo>
                <a:lnTo>
                  <a:pt x="1061" y="1061"/>
                </a:lnTo>
                <a:close/>
                <a:moveTo>
                  <a:pt x="1634" y="1954"/>
                </a:moveTo>
                <a:cubicBezTo>
                  <a:pt x="1981" y="2494"/>
                  <a:pt x="1981" y="2494"/>
                  <a:pt x="1981" y="2494"/>
                </a:cubicBezTo>
                <a:cubicBezTo>
                  <a:pt x="1055" y="3029"/>
                  <a:pt x="1055" y="3029"/>
                  <a:pt x="1055" y="3029"/>
                </a:cubicBezTo>
                <a:cubicBezTo>
                  <a:pt x="1055" y="3032"/>
                  <a:pt x="1055" y="3032"/>
                  <a:pt x="1055" y="3032"/>
                </a:cubicBezTo>
                <a:cubicBezTo>
                  <a:pt x="136" y="2501"/>
                  <a:pt x="136" y="2501"/>
                  <a:pt x="136" y="2501"/>
                </a:cubicBezTo>
                <a:cubicBezTo>
                  <a:pt x="487" y="1954"/>
                  <a:pt x="487" y="1954"/>
                  <a:pt x="487" y="1954"/>
                </a:cubicBezTo>
                <a:cubicBezTo>
                  <a:pt x="194" y="1765"/>
                  <a:pt x="0" y="1436"/>
                  <a:pt x="0" y="1061"/>
                </a:cubicBezTo>
                <a:cubicBezTo>
                  <a:pt x="0" y="475"/>
                  <a:pt x="475" y="0"/>
                  <a:pt x="1061" y="0"/>
                </a:cubicBezTo>
                <a:cubicBezTo>
                  <a:pt x="1646" y="0"/>
                  <a:pt x="2121" y="475"/>
                  <a:pt x="2121" y="1061"/>
                </a:cubicBezTo>
                <a:cubicBezTo>
                  <a:pt x="2121" y="1436"/>
                  <a:pt x="1927" y="1765"/>
                  <a:pt x="1634" y="1954"/>
                </a:cubicBezTo>
                <a:close/>
              </a:path>
            </a:pathLst>
          </a:custGeom>
          <a:solidFill>
            <a:srgbClr val="8064A2"/>
          </a:solidFill>
          <a:ln>
            <a:noFill/>
          </a:ln>
        </p:spPr>
        <p:txBody>
          <a:bodyPr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 kern="0">
              <a:solidFill>
                <a:prstClr val="black"/>
              </a:solidFill>
              <a:latin typeface="Calibri"/>
              <a:ea typeface="宋体"/>
            </a:endParaRPr>
          </a:p>
        </p:txBody>
      </p:sp>
      <p:sp>
        <p:nvSpPr>
          <p:cNvPr id="6" name="Oval 8"/>
          <p:cNvSpPr>
            <a:spLocks noChangeArrowheads="1"/>
          </p:cNvSpPr>
          <p:nvPr/>
        </p:nvSpPr>
        <p:spPr bwMode="auto">
          <a:xfrm>
            <a:off x="1916543" y="4646142"/>
            <a:ext cx="1295249" cy="1154931"/>
          </a:xfrm>
          <a:prstGeom prst="ellipse">
            <a:avLst/>
          </a:prstGeom>
          <a:solidFill>
            <a:sysClr val="window" lastClr="FFFFFF"/>
          </a:solidFill>
          <a:ln>
            <a:noFill/>
          </a:ln>
          <a:effectLst>
            <a:innerShdw blurRad="203200">
              <a:prstClr val="black">
                <a:alpha val="79000"/>
              </a:prstClr>
            </a:innerShdw>
          </a:effectLst>
        </p:spPr>
        <p:txBody>
          <a:bodyPr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 kern="0">
              <a:solidFill>
                <a:prstClr val="black"/>
              </a:solidFill>
              <a:latin typeface="Calibri"/>
              <a:ea typeface="宋体"/>
            </a:endParaRPr>
          </a:p>
        </p:txBody>
      </p:sp>
      <p:sp>
        <p:nvSpPr>
          <p:cNvPr id="7" name="Oval 8"/>
          <p:cNvSpPr>
            <a:spLocks noChangeArrowheads="1"/>
          </p:cNvSpPr>
          <p:nvPr/>
        </p:nvSpPr>
        <p:spPr bwMode="auto">
          <a:xfrm>
            <a:off x="5065257" y="4646142"/>
            <a:ext cx="1295249" cy="1154931"/>
          </a:xfrm>
          <a:prstGeom prst="ellipse">
            <a:avLst/>
          </a:prstGeom>
          <a:solidFill>
            <a:sysClr val="window" lastClr="FFFFFF"/>
          </a:solidFill>
          <a:ln>
            <a:noFill/>
          </a:ln>
          <a:effectLst>
            <a:innerShdw blurRad="203200">
              <a:prstClr val="black">
                <a:alpha val="79000"/>
              </a:prstClr>
            </a:innerShdw>
          </a:effectLst>
        </p:spPr>
        <p:txBody>
          <a:bodyPr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 kern="0">
              <a:solidFill>
                <a:prstClr val="black"/>
              </a:solidFill>
              <a:latin typeface="Calibri"/>
              <a:ea typeface="宋体"/>
            </a:endParaRPr>
          </a:p>
        </p:txBody>
      </p:sp>
      <p:sp>
        <p:nvSpPr>
          <p:cNvPr id="8" name="Oval 8"/>
          <p:cNvSpPr>
            <a:spLocks noChangeArrowheads="1"/>
          </p:cNvSpPr>
          <p:nvPr/>
        </p:nvSpPr>
        <p:spPr bwMode="auto">
          <a:xfrm>
            <a:off x="3493115" y="2465243"/>
            <a:ext cx="1295249" cy="1154931"/>
          </a:xfrm>
          <a:prstGeom prst="ellipse">
            <a:avLst/>
          </a:prstGeom>
          <a:solidFill>
            <a:sysClr val="window" lastClr="FFFFFF"/>
          </a:solidFill>
          <a:ln>
            <a:noFill/>
          </a:ln>
          <a:effectLst>
            <a:innerShdw blurRad="203200">
              <a:prstClr val="black">
                <a:alpha val="79000"/>
              </a:prstClr>
            </a:innerShdw>
          </a:effectLst>
        </p:spPr>
        <p:txBody>
          <a:bodyPr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 kern="0">
              <a:solidFill>
                <a:prstClr val="black"/>
              </a:solidFill>
              <a:latin typeface="Calibri"/>
              <a:ea typeface="宋体"/>
            </a:endParaRPr>
          </a:p>
        </p:txBody>
      </p:sp>
      <p:sp>
        <p:nvSpPr>
          <p:cNvPr id="9" name="矩形 5"/>
          <p:cNvSpPr>
            <a:spLocks noChangeArrowheads="1"/>
          </p:cNvSpPr>
          <p:nvPr/>
        </p:nvSpPr>
        <p:spPr bwMode="auto">
          <a:xfrm>
            <a:off x="3710961" y="2858417"/>
            <a:ext cx="8771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9ED6"/>
                </a:solidFill>
                <a:latin typeface="微软雅黑" pitchFamily="34" charset="-122"/>
                <a:ea typeface="微软雅黑" pitchFamily="34" charset="-122"/>
              </a:rPr>
              <a:t>请求行</a:t>
            </a:r>
          </a:p>
        </p:txBody>
      </p:sp>
      <p:sp>
        <p:nvSpPr>
          <p:cNvPr id="10" name="矩形 6"/>
          <p:cNvSpPr>
            <a:spLocks noChangeArrowheads="1"/>
          </p:cNvSpPr>
          <p:nvPr/>
        </p:nvSpPr>
        <p:spPr bwMode="auto">
          <a:xfrm>
            <a:off x="1873251" y="5061867"/>
            <a:ext cx="13388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009ED6"/>
                </a:solidFill>
                <a:latin typeface="微软雅黑" pitchFamily="34" charset="-122"/>
                <a:ea typeface="微软雅黑" pitchFamily="34" charset="-122"/>
              </a:rPr>
              <a:t>请求</a:t>
            </a:r>
            <a:r>
              <a:rPr lang="zh-CN" altLang="zh-CN" dirty="0" smtClean="0">
                <a:solidFill>
                  <a:srgbClr val="009ED6"/>
                </a:solidFill>
                <a:latin typeface="微软雅黑" pitchFamily="34" charset="-122"/>
                <a:ea typeface="微软雅黑" pitchFamily="34" charset="-122"/>
              </a:rPr>
              <a:t>消息</a:t>
            </a:r>
            <a:r>
              <a:rPr lang="zh-CN" altLang="zh-CN" dirty="0">
                <a:solidFill>
                  <a:srgbClr val="009ED6"/>
                </a:solidFill>
                <a:latin typeface="微软雅黑" pitchFamily="34" charset="-122"/>
                <a:ea typeface="微软雅黑" pitchFamily="34" charset="-122"/>
              </a:rPr>
              <a:t>头</a:t>
            </a:r>
            <a:endParaRPr lang="zh-CN" altLang="en-US" dirty="0"/>
          </a:p>
        </p:txBody>
      </p:sp>
      <p:sp>
        <p:nvSpPr>
          <p:cNvPr id="11" name="矩形 7"/>
          <p:cNvSpPr>
            <a:spLocks noChangeArrowheads="1"/>
          </p:cNvSpPr>
          <p:nvPr/>
        </p:nvSpPr>
        <p:spPr bwMode="auto">
          <a:xfrm>
            <a:off x="5043488" y="5061867"/>
            <a:ext cx="13388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009ED6"/>
                </a:solidFill>
                <a:latin typeface="微软雅黑" pitchFamily="34" charset="-122"/>
                <a:ea typeface="微软雅黑" pitchFamily="34" charset="-122"/>
              </a:rPr>
              <a:t>请求</a:t>
            </a:r>
            <a:r>
              <a:rPr lang="zh-CN" altLang="zh-CN" dirty="0" smtClean="0">
                <a:solidFill>
                  <a:srgbClr val="009ED6"/>
                </a:solidFill>
                <a:latin typeface="微软雅黑" pitchFamily="34" charset="-122"/>
                <a:ea typeface="微软雅黑" pitchFamily="34" charset="-122"/>
              </a:rPr>
              <a:t>消息</a:t>
            </a:r>
            <a:r>
              <a:rPr lang="zh-CN" altLang="zh-CN" dirty="0">
                <a:solidFill>
                  <a:srgbClr val="009ED6"/>
                </a:solidFill>
                <a:latin typeface="微软雅黑" pitchFamily="34" charset="-122"/>
                <a:ea typeface="微软雅黑" pitchFamily="34" charset="-122"/>
              </a:rPr>
              <a:t>体</a:t>
            </a:r>
            <a:endParaRPr lang="zh-CN" altLang="en-US" dirty="0"/>
          </a:p>
        </p:txBody>
      </p:sp>
      <p:grpSp>
        <p:nvGrpSpPr>
          <p:cNvPr id="12" name="组合 11"/>
          <p:cNvGrpSpPr>
            <a:grpSpLocks/>
          </p:cNvGrpSpPr>
          <p:nvPr/>
        </p:nvGrpSpPr>
        <p:grpSpPr bwMode="auto">
          <a:xfrm>
            <a:off x="4789488" y="2086892"/>
            <a:ext cx="3513138" cy="757238"/>
            <a:chOff x="5062327" y="2018905"/>
            <a:chExt cx="3513803" cy="756919"/>
          </a:xfrm>
        </p:grpSpPr>
        <p:sp>
          <p:nvSpPr>
            <p:cNvPr id="13" name="任意多边形 12"/>
            <p:cNvSpPr/>
            <p:nvPr/>
          </p:nvSpPr>
          <p:spPr>
            <a:xfrm>
              <a:off x="5062327" y="2369595"/>
              <a:ext cx="3361374" cy="406229"/>
            </a:xfrm>
            <a:custGeom>
              <a:avLst/>
              <a:gdLst>
                <a:gd name="connsiteX0" fmla="*/ 0 w 2286000"/>
                <a:gd name="connsiteY0" fmla="*/ 472440 h 472440"/>
                <a:gd name="connsiteX1" fmla="*/ 472440 w 2286000"/>
                <a:gd name="connsiteY1" fmla="*/ 0 h 472440"/>
                <a:gd name="connsiteX2" fmla="*/ 2286000 w 2286000"/>
                <a:gd name="connsiteY2" fmla="*/ 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86000" h="472440">
                  <a:moveTo>
                    <a:pt x="0" y="472440"/>
                  </a:moveTo>
                  <a:lnTo>
                    <a:pt x="472440" y="0"/>
                  </a:lnTo>
                  <a:lnTo>
                    <a:pt x="2286000" y="0"/>
                  </a:lnTo>
                </a:path>
              </a:pathLst>
            </a:custGeom>
            <a:noFill/>
            <a:ln w="12700" cap="flat" cmpd="sng" algn="ctr">
              <a:solidFill>
                <a:sysClr val="windowText" lastClr="000000">
                  <a:lumMod val="75000"/>
                  <a:lumOff val="25000"/>
                </a:sysClr>
              </a:solidFill>
              <a:prstDash val="sysDot"/>
              <a:miter lim="800000"/>
              <a:headEnd type="oval" w="sm" len="sm"/>
              <a:tailEnd type="oval" w="sm" len="sm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" lastClr="FFFFFF"/>
                </a:solidFill>
                <a:latin typeface="Calibri"/>
                <a:ea typeface="宋体"/>
              </a:endParaRPr>
            </a:p>
          </p:txBody>
        </p:sp>
        <p:sp>
          <p:nvSpPr>
            <p:cNvPr id="14" name="TextBox 11"/>
            <p:cNvSpPr txBox="1">
              <a:spLocks noChangeArrowheads="1"/>
            </p:cNvSpPr>
            <p:nvPr/>
          </p:nvSpPr>
          <p:spPr bwMode="auto">
            <a:xfrm flipH="1">
              <a:off x="5224283" y="2018905"/>
              <a:ext cx="3351847" cy="337996"/>
            </a:xfrm>
            <a:prstGeom prst="rect">
              <a:avLst/>
            </a:prstGeom>
            <a:noFill/>
            <a:ln>
              <a:noFill/>
            </a:ln>
            <a:effectLst/>
            <a:extLst/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600" b="1" kern="0" dirty="0" smtClean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微软雅黑" pitchFamily="34" charset="-122"/>
                  <a:ea typeface="微软雅黑" pitchFamily="34" charset="-122"/>
                </a:rPr>
                <a:t>获取请求行信息的方法</a:t>
              </a:r>
              <a:endParaRPr lang="en-US" altLang="zh-CN" sz="1600" b="1" kern="0" dirty="0" smtClean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5" name="组合 35"/>
          <p:cNvGrpSpPr>
            <a:grpSpLocks/>
          </p:cNvGrpSpPr>
          <p:nvPr/>
        </p:nvGrpSpPr>
        <p:grpSpPr bwMode="auto">
          <a:xfrm>
            <a:off x="6448426" y="4318917"/>
            <a:ext cx="2316162" cy="749300"/>
            <a:chOff x="6654767" y="4375973"/>
            <a:chExt cx="2315097" cy="750082"/>
          </a:xfrm>
        </p:grpSpPr>
        <p:sp>
          <p:nvSpPr>
            <p:cNvPr id="16" name="任意多边形 15"/>
            <p:cNvSpPr/>
            <p:nvPr/>
          </p:nvSpPr>
          <p:spPr>
            <a:xfrm>
              <a:off x="6654767" y="4719231"/>
              <a:ext cx="2315097" cy="406824"/>
            </a:xfrm>
            <a:custGeom>
              <a:avLst/>
              <a:gdLst>
                <a:gd name="connsiteX0" fmla="*/ 0 w 2286000"/>
                <a:gd name="connsiteY0" fmla="*/ 472440 h 472440"/>
                <a:gd name="connsiteX1" fmla="*/ 472440 w 2286000"/>
                <a:gd name="connsiteY1" fmla="*/ 0 h 472440"/>
                <a:gd name="connsiteX2" fmla="*/ 2286000 w 2286000"/>
                <a:gd name="connsiteY2" fmla="*/ 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86000" h="472440">
                  <a:moveTo>
                    <a:pt x="0" y="472440"/>
                  </a:moveTo>
                  <a:lnTo>
                    <a:pt x="472440" y="0"/>
                  </a:lnTo>
                  <a:lnTo>
                    <a:pt x="2286000" y="0"/>
                  </a:lnTo>
                </a:path>
              </a:pathLst>
            </a:custGeom>
            <a:noFill/>
            <a:ln w="12700" cap="flat" cmpd="sng" algn="ctr">
              <a:solidFill>
                <a:sysClr val="windowText" lastClr="000000">
                  <a:lumMod val="75000"/>
                  <a:lumOff val="25000"/>
                </a:sysClr>
              </a:solidFill>
              <a:prstDash val="sysDot"/>
              <a:miter lim="800000"/>
              <a:headEnd type="oval" w="sm" len="sm"/>
              <a:tailEnd type="oval" w="sm" len="sm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" lastClr="FFFFFF"/>
                </a:solidFill>
                <a:latin typeface="Calibri"/>
                <a:ea typeface="宋体"/>
              </a:endParaRPr>
            </a:p>
          </p:txBody>
        </p:sp>
        <p:sp>
          <p:nvSpPr>
            <p:cNvPr id="17" name="TextBox 11"/>
            <p:cNvSpPr txBox="1">
              <a:spLocks noChangeArrowheads="1"/>
            </p:cNvSpPr>
            <p:nvPr/>
          </p:nvSpPr>
          <p:spPr bwMode="auto">
            <a:xfrm flipH="1">
              <a:off x="6729345" y="4375973"/>
              <a:ext cx="2240519" cy="338491"/>
            </a:xfrm>
            <a:prstGeom prst="rect">
              <a:avLst/>
            </a:prstGeom>
            <a:noFill/>
            <a:ln>
              <a:noFill/>
            </a:ln>
            <a:effectLst/>
            <a:extLst/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600" b="1" kern="0" dirty="0" smtClean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微软雅黑" pitchFamily="34" charset="-122"/>
                  <a:ea typeface="微软雅黑" pitchFamily="34" charset="-122"/>
                </a:rPr>
                <a:t>获取请求消息体的方法</a:t>
              </a:r>
              <a:endParaRPr lang="en-US" altLang="zh-CN" sz="1600" b="1" kern="0" dirty="0" smtClean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8" name="组合 17"/>
          <p:cNvGrpSpPr>
            <a:grpSpLocks/>
          </p:cNvGrpSpPr>
          <p:nvPr/>
        </p:nvGrpSpPr>
        <p:grpSpPr bwMode="auto">
          <a:xfrm>
            <a:off x="-36512" y="3909342"/>
            <a:ext cx="2328863" cy="727075"/>
            <a:chOff x="524058" y="4399723"/>
            <a:chExt cx="2329511" cy="726596"/>
          </a:xfrm>
        </p:grpSpPr>
        <p:sp>
          <p:nvSpPr>
            <p:cNvPr id="19" name="任意多边形 18"/>
            <p:cNvSpPr/>
            <p:nvPr/>
          </p:nvSpPr>
          <p:spPr>
            <a:xfrm flipH="1">
              <a:off x="689204" y="4720187"/>
              <a:ext cx="2019862" cy="406132"/>
            </a:xfrm>
            <a:custGeom>
              <a:avLst/>
              <a:gdLst>
                <a:gd name="connsiteX0" fmla="*/ 0 w 2286000"/>
                <a:gd name="connsiteY0" fmla="*/ 472440 h 472440"/>
                <a:gd name="connsiteX1" fmla="*/ 472440 w 2286000"/>
                <a:gd name="connsiteY1" fmla="*/ 0 h 472440"/>
                <a:gd name="connsiteX2" fmla="*/ 2286000 w 2286000"/>
                <a:gd name="connsiteY2" fmla="*/ 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86000" h="472440">
                  <a:moveTo>
                    <a:pt x="0" y="472440"/>
                  </a:moveTo>
                  <a:lnTo>
                    <a:pt x="472440" y="0"/>
                  </a:lnTo>
                  <a:lnTo>
                    <a:pt x="2286000" y="0"/>
                  </a:lnTo>
                </a:path>
              </a:pathLst>
            </a:custGeom>
            <a:noFill/>
            <a:ln w="12700" cap="flat" cmpd="sng" algn="ctr">
              <a:solidFill>
                <a:sysClr val="windowText" lastClr="000000">
                  <a:lumMod val="75000"/>
                  <a:lumOff val="25000"/>
                </a:sysClr>
              </a:solidFill>
              <a:prstDash val="sysDot"/>
              <a:miter lim="800000"/>
              <a:headEnd type="oval" w="sm" len="sm"/>
              <a:tailEnd type="oval" w="sm" len="sm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" lastClr="FFFFFF"/>
                </a:solidFill>
                <a:latin typeface="Calibri"/>
                <a:ea typeface="宋体"/>
              </a:endParaRPr>
            </a:p>
          </p:txBody>
        </p:sp>
        <p:sp>
          <p:nvSpPr>
            <p:cNvPr id="20" name="TextBox 11"/>
            <p:cNvSpPr txBox="1">
              <a:spLocks noChangeArrowheads="1"/>
            </p:cNvSpPr>
            <p:nvPr/>
          </p:nvSpPr>
          <p:spPr bwMode="auto">
            <a:xfrm flipH="1">
              <a:off x="524058" y="4399723"/>
              <a:ext cx="2329511" cy="337915"/>
            </a:xfrm>
            <a:prstGeom prst="rect">
              <a:avLst/>
            </a:prstGeom>
            <a:noFill/>
            <a:ln>
              <a:noFill/>
            </a:ln>
            <a:effectLst/>
            <a:extLst/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600" b="1" kern="0" dirty="0" smtClean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微软雅黑" pitchFamily="34" charset="-122"/>
                  <a:ea typeface="微软雅黑" pitchFamily="34" charset="-122"/>
                </a:rPr>
                <a:t>获取请求消息头的方法</a:t>
              </a:r>
              <a:endParaRPr lang="en-US" altLang="zh-CN" sz="1600" b="1" kern="0" dirty="0" smtClean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21" name="内容占位符 1"/>
          <p:cNvSpPr txBox="1">
            <a:spLocks/>
          </p:cNvSpPr>
          <p:nvPr/>
        </p:nvSpPr>
        <p:spPr bwMode="auto">
          <a:xfrm>
            <a:off x="611560" y="1030288"/>
            <a:ext cx="7911728" cy="1030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zh-CN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HttpServletRequest</a:t>
            </a:r>
            <a:r>
              <a:rPr lang="zh-CN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接口中定义了获取请求行、请求头和请求消息体的相关方法</a:t>
            </a:r>
            <a:endParaRPr lang="en-US" altLang="zh-CN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endParaRPr lang="zh-CN" alt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矩形 24"/>
          <p:cNvSpPr>
            <a:spLocks noChangeArrowheads="1"/>
          </p:cNvSpPr>
          <p:nvPr/>
        </p:nvSpPr>
        <p:spPr bwMode="auto">
          <a:xfrm>
            <a:off x="542925" y="1030289"/>
            <a:ext cx="8102600" cy="1030559"/>
          </a:xfrm>
          <a:prstGeom prst="rect">
            <a:avLst/>
          </a:prstGeom>
          <a:noFill/>
          <a:ln w="19050" algn="ctr">
            <a:solidFill>
              <a:srgbClr val="006B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23" name="标题 1"/>
          <p:cNvSpPr>
            <a:spLocks noChangeArrowheads="1"/>
          </p:cNvSpPr>
          <p:nvPr/>
        </p:nvSpPr>
        <p:spPr bwMode="auto">
          <a:xfrm>
            <a:off x="1643733" y="389681"/>
            <a:ext cx="5592563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 err="1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HttpServletRequest</a:t>
            </a:r>
            <a:r>
              <a:rPr lang="zh-CN" altLang="en-US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对象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56301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/>
      <p:bldP spid="10" grpId="0"/>
      <p:bldP spid="11" grpId="0"/>
      <p:bldP spid="21" grpId="0"/>
      <p:bldP spid="2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251520" y="923156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6394813"/>
              </p:ext>
            </p:extLst>
          </p:nvPr>
        </p:nvGraphicFramePr>
        <p:xfrm>
          <a:off x="395536" y="1817813"/>
          <a:ext cx="8280920" cy="4131467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070230"/>
                <a:gridCol w="6210690"/>
              </a:tblGrid>
              <a:tr h="32298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 smtClean="0"/>
                        <a:t>方法声明</a:t>
                      </a:r>
                      <a:endParaRPr lang="en-US" altLang="zh-CN" sz="2000" dirty="0" smtClean="0"/>
                    </a:p>
                  </a:txBody>
                  <a:tcPr marL="91432" marR="91432" marT="45767" marB="45767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/>
                        <a:t>功能描述</a:t>
                      </a:r>
                      <a:endParaRPr lang="en-US" altLang="zh-CN" sz="2000" dirty="0" smtClean="0"/>
                    </a:p>
                  </a:txBody>
                  <a:tcPr marL="91432" marR="91432" marT="45767" marB="45767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509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/>
                          <a:ea typeface="宋体"/>
                        </a:rPr>
                        <a:t>String getMethod()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200" dirty="0">
                          <a:effectLst/>
                          <a:latin typeface="Times New Roman"/>
                          <a:ea typeface="宋体"/>
                          <a:cs typeface="宋体"/>
                        </a:rPr>
                        <a:t>该方法用于获取</a:t>
                      </a:r>
                      <a:r>
                        <a:rPr lang="en-US" sz="1200" dirty="0">
                          <a:effectLst/>
                          <a:latin typeface="Times New Roman"/>
                          <a:ea typeface="宋体"/>
                          <a:cs typeface="宋体"/>
                        </a:rPr>
                        <a:t>HTTP</a:t>
                      </a:r>
                      <a:r>
                        <a:rPr lang="zh-CN" sz="1200" dirty="0">
                          <a:effectLst/>
                          <a:latin typeface="Times New Roman"/>
                          <a:ea typeface="宋体"/>
                          <a:cs typeface="宋体"/>
                        </a:rPr>
                        <a:t>请求消息中的请求方式（如</a:t>
                      </a:r>
                      <a:r>
                        <a:rPr lang="en-US" sz="1200" dirty="0">
                          <a:effectLst/>
                          <a:latin typeface="Times New Roman"/>
                          <a:ea typeface="宋体"/>
                          <a:cs typeface="宋体"/>
                        </a:rPr>
                        <a:t>GET</a:t>
                      </a:r>
                      <a:r>
                        <a:rPr lang="zh-CN" sz="1200" dirty="0">
                          <a:effectLst/>
                          <a:latin typeface="Times New Roman"/>
                          <a:ea typeface="宋体"/>
                          <a:cs typeface="宋体"/>
                        </a:rPr>
                        <a:t>、</a:t>
                      </a:r>
                      <a:r>
                        <a:rPr lang="en-US" sz="1200" dirty="0">
                          <a:effectLst/>
                          <a:latin typeface="Times New Roman"/>
                          <a:ea typeface="宋体"/>
                          <a:cs typeface="宋体"/>
                        </a:rPr>
                        <a:t>POST</a:t>
                      </a:r>
                      <a:r>
                        <a:rPr lang="zh-CN" sz="1200" dirty="0">
                          <a:effectLst/>
                          <a:latin typeface="Times New Roman"/>
                          <a:ea typeface="宋体"/>
                          <a:cs typeface="宋体"/>
                        </a:rPr>
                        <a:t>等）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509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/>
                          <a:ea typeface="宋体"/>
                        </a:rPr>
                        <a:t>String getRequestURI()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200" kern="100" dirty="0" smtClean="0">
                          <a:effectLst/>
                          <a:latin typeface="Times New Roman"/>
                          <a:ea typeface="宋体"/>
                        </a:rPr>
                        <a:t>       </a:t>
                      </a:r>
                      <a:r>
                        <a:rPr lang="zh-CN" sz="1200" kern="100" dirty="0" smtClean="0">
                          <a:effectLst/>
                          <a:latin typeface="Times New Roman"/>
                          <a:ea typeface="宋体"/>
                        </a:rPr>
                        <a:t>该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方法用于获取请求行中资源名称部分，即位于</a:t>
                      </a:r>
                      <a:r>
                        <a:rPr lang="en-US" sz="1200" kern="100" dirty="0">
                          <a:effectLst/>
                          <a:latin typeface="Times New Roman"/>
                          <a:ea typeface="宋体"/>
                        </a:rPr>
                        <a:t>URL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的主机和端口之后、参数部分之前的部分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64420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/>
                          <a:ea typeface="宋体"/>
                        </a:rPr>
                        <a:t>String getQueryString()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200" kern="100" dirty="0" smtClean="0">
                          <a:effectLst/>
                          <a:latin typeface="Times New Roman"/>
                          <a:ea typeface="宋体"/>
                        </a:rPr>
                        <a:t>       </a:t>
                      </a:r>
                      <a:r>
                        <a:rPr lang="zh-CN" sz="1200" kern="100" dirty="0" smtClean="0">
                          <a:effectLst/>
                          <a:latin typeface="Times New Roman"/>
                          <a:ea typeface="宋体"/>
                        </a:rPr>
                        <a:t>该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方法用于获取请求行中的参数部分，也就是资源路径后面问号（</a:t>
                      </a:r>
                      <a:r>
                        <a:rPr lang="en-US" sz="1200" kern="100" dirty="0">
                          <a:effectLst/>
                          <a:latin typeface="Times New Roman"/>
                          <a:ea typeface="宋体"/>
                        </a:rPr>
                        <a:t>?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）以后的所有内容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577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/>
                          <a:ea typeface="宋体"/>
                        </a:rPr>
                        <a:t>String </a:t>
                      </a:r>
                      <a:r>
                        <a:rPr lang="en-US" sz="1200" kern="100">
                          <a:effectLst/>
                          <a:latin typeface="Times New Roman"/>
                          <a:ea typeface="宋体"/>
                        </a:rPr>
                        <a:t>getProtocol()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200" kern="100" dirty="0" smtClean="0">
                          <a:effectLst/>
                          <a:latin typeface="Times New Roman"/>
                          <a:ea typeface="宋体"/>
                        </a:rPr>
                        <a:t>       </a:t>
                      </a:r>
                      <a:r>
                        <a:rPr lang="zh-CN" sz="1200" kern="100" dirty="0" smtClean="0">
                          <a:effectLst/>
                          <a:latin typeface="Times New Roman"/>
                          <a:ea typeface="宋体"/>
                        </a:rPr>
                        <a:t>该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方法用于获取请求行中的协议名和版本，例如，</a:t>
                      </a:r>
                      <a:r>
                        <a:rPr lang="en-US" sz="1200" kern="100" dirty="0">
                          <a:effectLst/>
                          <a:latin typeface="Times New Roman"/>
                          <a:ea typeface="宋体"/>
                        </a:rPr>
                        <a:t>HTTP/1.0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或</a:t>
                      </a:r>
                      <a:r>
                        <a:rPr lang="en-US" sz="1200" kern="100" dirty="0">
                          <a:effectLst/>
                          <a:latin typeface="Times New Roman"/>
                          <a:ea typeface="宋体"/>
                        </a:rPr>
                        <a:t>HTTP/1.1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5096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0" smtClean="0">
                          <a:effectLst/>
                          <a:latin typeface="Times New Roman"/>
                          <a:ea typeface="宋体"/>
                        </a:rPr>
                        <a:t>String getContextPath()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200" kern="100" dirty="0" smtClean="0">
                          <a:effectLst/>
                          <a:latin typeface="Times New Roman"/>
                          <a:ea typeface="宋体"/>
                        </a:rPr>
                        <a:t>       </a:t>
                      </a:r>
                      <a:r>
                        <a:rPr lang="zh-CN" sz="1200" kern="100" dirty="0" smtClean="0">
                          <a:effectLst/>
                          <a:latin typeface="Times New Roman"/>
                          <a:ea typeface="宋体"/>
                        </a:rPr>
                        <a:t>该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方法用于获取请求</a:t>
                      </a:r>
                      <a:r>
                        <a:rPr lang="en-US" sz="1200" kern="100" dirty="0">
                          <a:effectLst/>
                          <a:latin typeface="Times New Roman"/>
                          <a:ea typeface="宋体"/>
                        </a:rPr>
                        <a:t>URL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中属于</a:t>
                      </a:r>
                      <a:r>
                        <a:rPr lang="en-US" sz="1200" kern="100" dirty="0">
                          <a:effectLst/>
                          <a:latin typeface="Times New Roman"/>
                          <a:ea typeface="宋体"/>
                        </a:rPr>
                        <a:t>WEB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应用程序的路径，这个路径以“</a:t>
                      </a:r>
                      <a:r>
                        <a:rPr lang="en-US" sz="1200" kern="100" dirty="0">
                          <a:effectLst/>
                          <a:latin typeface="Times New Roman"/>
                          <a:ea typeface="宋体"/>
                        </a:rPr>
                        <a:t>/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”开头，表示相对于整个</a:t>
                      </a:r>
                      <a:r>
                        <a:rPr lang="en-US" sz="1200" kern="100" dirty="0">
                          <a:effectLst/>
                          <a:latin typeface="Times New Roman"/>
                          <a:ea typeface="宋体"/>
                        </a:rPr>
                        <a:t>WEB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站点的根目录，路径结尾不含“</a:t>
                      </a:r>
                      <a:r>
                        <a:rPr lang="en-US" sz="1200" kern="100" dirty="0">
                          <a:effectLst/>
                          <a:latin typeface="Times New Roman"/>
                          <a:ea typeface="宋体"/>
                        </a:rPr>
                        <a:t>/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”。如果请求</a:t>
                      </a:r>
                      <a:r>
                        <a:rPr lang="en-US" sz="1200" kern="100" dirty="0">
                          <a:effectLst/>
                          <a:latin typeface="Times New Roman"/>
                          <a:ea typeface="宋体"/>
                        </a:rPr>
                        <a:t>URL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属于</a:t>
                      </a:r>
                      <a:r>
                        <a:rPr lang="en-US" sz="1200" kern="100" dirty="0">
                          <a:effectLst/>
                          <a:latin typeface="Times New Roman"/>
                          <a:ea typeface="宋体"/>
                        </a:rPr>
                        <a:t>WEB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站点的根目录，那么返回结果为空字符串（</a:t>
                      </a:r>
                      <a:r>
                        <a:rPr lang="en-US" sz="1200" kern="100" dirty="0">
                          <a:effectLst/>
                          <a:latin typeface="Times New Roman"/>
                          <a:ea typeface="宋体"/>
                        </a:rPr>
                        <a:t>""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）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6088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  <a:latin typeface="Times New Roman"/>
                          <a:ea typeface="宋体"/>
                        </a:rPr>
                        <a:t>String </a:t>
                      </a:r>
                      <a:r>
                        <a:rPr lang="en-US" sz="1200" kern="0" dirty="0" err="1">
                          <a:effectLst/>
                          <a:latin typeface="Times New Roman"/>
                          <a:ea typeface="宋体"/>
                        </a:rPr>
                        <a:t>getServletPath</a:t>
                      </a:r>
                      <a:r>
                        <a:rPr lang="en-US" sz="1200" kern="0" dirty="0">
                          <a:effectLst/>
                          <a:latin typeface="Times New Roman"/>
                          <a:ea typeface="宋体"/>
                        </a:rPr>
                        <a:t>()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200" kern="100" dirty="0" smtClean="0">
                          <a:effectLst/>
                          <a:latin typeface="Times New Roman"/>
                          <a:ea typeface="宋体"/>
                        </a:rPr>
                        <a:t>      </a:t>
                      </a:r>
                      <a:r>
                        <a:rPr lang="zh-CN" sz="1200" kern="100" dirty="0" smtClean="0">
                          <a:effectLst/>
                          <a:latin typeface="Times New Roman"/>
                          <a:ea typeface="宋体"/>
                        </a:rPr>
                        <a:t>该方法用于获取</a:t>
                      </a:r>
                      <a:r>
                        <a:rPr lang="en-US" sz="1200" kern="100" dirty="0" smtClean="0">
                          <a:effectLst/>
                          <a:latin typeface="Times New Roman"/>
                          <a:ea typeface="宋体"/>
                        </a:rPr>
                        <a:t>Servlet</a:t>
                      </a:r>
                      <a:r>
                        <a:rPr lang="zh-CN" sz="1200" kern="100" dirty="0" smtClean="0">
                          <a:effectLst/>
                          <a:latin typeface="Times New Roman"/>
                          <a:ea typeface="宋体"/>
                        </a:rPr>
                        <a:t>的名称或</a:t>
                      </a:r>
                      <a:r>
                        <a:rPr lang="en-US" sz="1200" kern="100" dirty="0" smtClean="0">
                          <a:effectLst/>
                          <a:latin typeface="Times New Roman"/>
                          <a:ea typeface="宋体"/>
                        </a:rPr>
                        <a:t>Servlet</a:t>
                      </a:r>
                      <a:r>
                        <a:rPr lang="zh-CN" sz="1200" kern="100" dirty="0" smtClean="0">
                          <a:effectLst/>
                          <a:latin typeface="Times New Roman"/>
                          <a:ea typeface="宋体"/>
                        </a:rPr>
                        <a:t>所映射的路径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6088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Times New Roman"/>
                          <a:ea typeface="宋体"/>
                        </a:rPr>
                        <a:t>String </a:t>
                      </a:r>
                      <a:r>
                        <a:rPr lang="en-US" sz="1200" kern="100" dirty="0" err="1">
                          <a:effectLst/>
                          <a:latin typeface="Times New Roman"/>
                          <a:ea typeface="宋体"/>
                        </a:rPr>
                        <a:t>getRemoteAddr</a:t>
                      </a:r>
                      <a:r>
                        <a:rPr lang="en-US" sz="1200" kern="100" dirty="0">
                          <a:effectLst/>
                          <a:latin typeface="Times New Roman"/>
                          <a:ea typeface="宋体"/>
                        </a:rPr>
                        <a:t>()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200" kern="100" dirty="0" smtClean="0">
                          <a:effectLst/>
                          <a:latin typeface="Times New Roman"/>
                          <a:ea typeface="宋体"/>
                        </a:rPr>
                        <a:t>      </a:t>
                      </a:r>
                      <a:r>
                        <a:rPr lang="zh-CN" sz="1200" kern="100" dirty="0" smtClean="0">
                          <a:effectLst/>
                          <a:latin typeface="Times New Roman"/>
                          <a:ea typeface="宋体"/>
                        </a:rPr>
                        <a:t>该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方法用于获取请求客户端的</a:t>
                      </a:r>
                      <a:r>
                        <a:rPr lang="en-US" sz="1200" kern="100" dirty="0">
                          <a:effectLst/>
                          <a:latin typeface="Times New Roman"/>
                          <a:ea typeface="宋体"/>
                        </a:rPr>
                        <a:t>IP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地址，其格式类似于“</a:t>
                      </a:r>
                      <a:r>
                        <a:rPr lang="en-US" sz="1200" kern="100" dirty="0">
                          <a:effectLst/>
                          <a:latin typeface="Times New Roman"/>
                          <a:ea typeface="宋体"/>
                        </a:rPr>
                        <a:t>192.168.0.3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”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6088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/>
                          <a:ea typeface="宋体"/>
                        </a:rPr>
                        <a:t>String getRemoteHost()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200" kern="100" dirty="0" smtClean="0">
                          <a:effectLst/>
                          <a:latin typeface="Times New Roman"/>
                          <a:ea typeface="宋体"/>
                        </a:rPr>
                        <a:t>      </a:t>
                      </a:r>
                      <a:r>
                        <a:rPr lang="zh-CN" sz="1200" kern="100" dirty="0" smtClean="0">
                          <a:effectLst/>
                          <a:latin typeface="Times New Roman"/>
                          <a:ea typeface="宋体"/>
                        </a:rPr>
                        <a:t>该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方法用于获取请求客户端的完整主机名，其格式类似于“</a:t>
                      </a:r>
                      <a:r>
                        <a:rPr lang="en-US" sz="1200" kern="100" dirty="0">
                          <a:effectLst/>
                          <a:latin typeface="Times New Roman"/>
                          <a:ea typeface="宋体"/>
                        </a:rPr>
                        <a:t>pc1.itcast.cn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”。需要注意的是，如果无法解析出客户机的完整主机名，该方法将会返回客户端的</a:t>
                      </a:r>
                      <a:r>
                        <a:rPr lang="en-US" sz="1200" kern="100" dirty="0">
                          <a:effectLst/>
                          <a:latin typeface="Times New Roman"/>
                          <a:ea typeface="宋体"/>
                        </a:rPr>
                        <a:t>IP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地址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6915206"/>
              </p:ext>
            </p:extLst>
          </p:nvPr>
        </p:nvGraphicFramePr>
        <p:xfrm>
          <a:off x="395536" y="1798485"/>
          <a:ext cx="8280920" cy="4294811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070230"/>
                <a:gridCol w="6210690"/>
              </a:tblGrid>
              <a:tr h="34060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 smtClean="0"/>
                        <a:t>方法声明</a:t>
                      </a:r>
                      <a:endParaRPr lang="en-US" altLang="zh-CN" sz="2000" dirty="0" smtClean="0"/>
                    </a:p>
                  </a:txBody>
                  <a:tcPr marL="91432" marR="91432" marT="45767" marB="45767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/>
                        <a:t>功能描述</a:t>
                      </a:r>
                      <a:endParaRPr lang="en-US" altLang="zh-CN" sz="2000" dirty="0" smtClean="0"/>
                    </a:p>
                  </a:txBody>
                  <a:tcPr marL="91432" marR="91432" marT="45767" marB="45767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7555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/>
                          <a:ea typeface="宋体"/>
                        </a:rPr>
                        <a:t>int getRemotePort()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200" kern="100" dirty="0" smtClean="0">
                          <a:effectLst/>
                          <a:latin typeface="Times New Roman"/>
                          <a:ea typeface="宋体"/>
                        </a:rPr>
                        <a:t>        </a:t>
                      </a:r>
                      <a:r>
                        <a:rPr lang="zh-CN" sz="1200" kern="100" dirty="0" smtClean="0">
                          <a:effectLst/>
                          <a:latin typeface="Times New Roman"/>
                          <a:ea typeface="宋体"/>
                        </a:rPr>
                        <a:t>该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方法用于获取请求客户端网络连接的端口号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7555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/>
                          <a:ea typeface="宋体"/>
                        </a:rPr>
                        <a:t>String getLocalAddr()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200" kern="100" dirty="0" smtClean="0">
                          <a:effectLst/>
                          <a:latin typeface="Times New Roman"/>
                          <a:ea typeface="宋体"/>
                        </a:rPr>
                        <a:t>        </a:t>
                      </a:r>
                      <a:r>
                        <a:rPr lang="zh-CN" sz="1200" kern="100" dirty="0" smtClean="0">
                          <a:effectLst/>
                          <a:latin typeface="Times New Roman"/>
                          <a:ea typeface="宋体"/>
                        </a:rPr>
                        <a:t>该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方法用于获取</a:t>
                      </a:r>
                      <a:r>
                        <a:rPr lang="en-US" sz="1200" kern="100" dirty="0">
                          <a:effectLst/>
                          <a:latin typeface="Times New Roman"/>
                          <a:ea typeface="宋体"/>
                        </a:rPr>
                        <a:t>Web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服务器上接收当前请求网络连接的</a:t>
                      </a:r>
                      <a:r>
                        <a:rPr lang="en-US" sz="1200" kern="100" dirty="0">
                          <a:effectLst/>
                          <a:latin typeface="Times New Roman"/>
                          <a:ea typeface="宋体"/>
                        </a:rPr>
                        <a:t>IP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地址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67933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Times New Roman"/>
                          <a:ea typeface="宋体"/>
                        </a:rPr>
                        <a:t>String </a:t>
                      </a:r>
                      <a:r>
                        <a:rPr lang="en-US" sz="1200" kern="100" dirty="0" err="1">
                          <a:effectLst/>
                          <a:latin typeface="Times New Roman"/>
                          <a:ea typeface="宋体"/>
                        </a:rPr>
                        <a:t>getLocalName</a:t>
                      </a:r>
                      <a:r>
                        <a:rPr lang="en-US" sz="1200" kern="100" dirty="0">
                          <a:effectLst/>
                          <a:latin typeface="Times New Roman"/>
                          <a:ea typeface="宋体"/>
                        </a:rPr>
                        <a:t>()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200" kern="100" dirty="0" smtClean="0">
                          <a:effectLst/>
                          <a:latin typeface="Times New Roman"/>
                          <a:ea typeface="宋体"/>
                        </a:rPr>
                        <a:t>        </a:t>
                      </a:r>
                      <a:r>
                        <a:rPr lang="zh-CN" sz="1200" kern="100" dirty="0" smtClean="0">
                          <a:effectLst/>
                          <a:latin typeface="Times New Roman"/>
                          <a:ea typeface="宋体"/>
                        </a:rPr>
                        <a:t>该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方法用于获取</a:t>
                      </a:r>
                      <a:r>
                        <a:rPr lang="en-US" sz="1200" kern="100" dirty="0">
                          <a:effectLst/>
                          <a:latin typeface="Times New Roman"/>
                          <a:ea typeface="宋体"/>
                        </a:rPr>
                        <a:t>Web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服务器上接收当前网络连接</a:t>
                      </a:r>
                      <a:r>
                        <a:rPr lang="en-US" sz="1200" kern="100" dirty="0">
                          <a:effectLst/>
                          <a:latin typeface="Times New Roman"/>
                          <a:ea typeface="宋体"/>
                        </a:rPr>
                        <a:t>IP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所对应的主机名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7177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 err="1">
                          <a:effectLst/>
                          <a:latin typeface="Times New Roman"/>
                          <a:ea typeface="宋体"/>
                        </a:rPr>
                        <a:t>int</a:t>
                      </a:r>
                      <a:r>
                        <a:rPr lang="en-US" sz="1200" kern="100" dirty="0">
                          <a:effectLst/>
                          <a:latin typeface="Times New Roman"/>
                          <a:ea typeface="宋体"/>
                        </a:rPr>
                        <a:t> </a:t>
                      </a:r>
                      <a:r>
                        <a:rPr lang="en-US" sz="1200" kern="100" dirty="0" err="1">
                          <a:effectLst/>
                          <a:latin typeface="Times New Roman"/>
                          <a:ea typeface="宋体"/>
                        </a:rPr>
                        <a:t>getLocalPort</a:t>
                      </a:r>
                      <a:r>
                        <a:rPr lang="en-US" sz="1200" kern="100" dirty="0">
                          <a:effectLst/>
                          <a:latin typeface="Times New Roman"/>
                          <a:ea typeface="宋体"/>
                        </a:rPr>
                        <a:t>()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200" kern="100" dirty="0" smtClean="0">
                          <a:effectLst/>
                          <a:latin typeface="Times New Roman"/>
                          <a:ea typeface="宋体"/>
                        </a:rPr>
                        <a:t>        </a:t>
                      </a:r>
                      <a:r>
                        <a:rPr lang="zh-CN" sz="1200" kern="100" dirty="0" smtClean="0">
                          <a:effectLst/>
                          <a:latin typeface="Times New Roman"/>
                          <a:ea typeface="宋体"/>
                        </a:rPr>
                        <a:t>该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方法用于获取</a:t>
                      </a:r>
                      <a:r>
                        <a:rPr lang="en-US" sz="1200" kern="100" dirty="0">
                          <a:effectLst/>
                          <a:latin typeface="Times New Roman"/>
                          <a:ea typeface="宋体"/>
                        </a:rPr>
                        <a:t>Web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服务器上接收当前网络连接的端口号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7555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/>
                          <a:ea typeface="宋体"/>
                        </a:rPr>
                        <a:t>String getServerName()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200" kern="100" dirty="0" smtClean="0">
                          <a:effectLst/>
                          <a:latin typeface="Times New Roman"/>
                          <a:ea typeface="宋体"/>
                        </a:rPr>
                        <a:t>        </a:t>
                      </a:r>
                      <a:r>
                        <a:rPr lang="zh-CN" sz="1200" kern="100" dirty="0" smtClean="0">
                          <a:effectLst/>
                          <a:latin typeface="Times New Roman"/>
                          <a:ea typeface="宋体"/>
                        </a:rPr>
                        <a:t>该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方法用于获取当前请求所指向的主机名，即</a:t>
                      </a:r>
                      <a:r>
                        <a:rPr lang="en-US" sz="1200" kern="100" dirty="0">
                          <a:effectLst/>
                          <a:latin typeface="Times New Roman"/>
                          <a:ea typeface="宋体"/>
                        </a:rPr>
                        <a:t>HTTP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请求消息中</a:t>
                      </a:r>
                      <a:r>
                        <a:rPr lang="en-US" sz="1200" kern="100" dirty="0">
                          <a:effectLst/>
                          <a:latin typeface="Times New Roman"/>
                          <a:ea typeface="宋体"/>
                        </a:rPr>
                        <a:t>Host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头字段所对应的主机名部分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8602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/>
                          <a:ea typeface="宋体"/>
                        </a:rPr>
                        <a:t>int getServerPort()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200" kern="100" dirty="0" smtClean="0">
                          <a:effectLst/>
                          <a:latin typeface="Times New Roman"/>
                          <a:ea typeface="宋体"/>
                        </a:rPr>
                        <a:t>        </a:t>
                      </a:r>
                      <a:r>
                        <a:rPr lang="zh-CN" sz="1200" kern="100" dirty="0" smtClean="0">
                          <a:effectLst/>
                          <a:latin typeface="Times New Roman"/>
                          <a:ea typeface="宋体"/>
                        </a:rPr>
                        <a:t>该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方法用于获取当前请求所连接的服务器端口号，即如果</a:t>
                      </a:r>
                      <a:r>
                        <a:rPr lang="en-US" sz="1200" kern="100" dirty="0">
                          <a:effectLst/>
                          <a:latin typeface="Times New Roman"/>
                          <a:ea typeface="宋体"/>
                        </a:rPr>
                        <a:t>HTTP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请求消息中</a:t>
                      </a:r>
                      <a:r>
                        <a:rPr lang="en-US" sz="1200" kern="100" dirty="0">
                          <a:effectLst/>
                          <a:latin typeface="Times New Roman"/>
                          <a:ea typeface="宋体"/>
                        </a:rPr>
                        <a:t>Host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头字段所对应的端口号部分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8602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/>
                          <a:ea typeface="宋体"/>
                        </a:rPr>
                        <a:t>String getScheme()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200" kern="100" dirty="0" smtClean="0">
                          <a:effectLst/>
                          <a:latin typeface="Times New Roman"/>
                          <a:ea typeface="宋体"/>
                        </a:rPr>
                        <a:t>       </a:t>
                      </a:r>
                      <a:r>
                        <a:rPr lang="zh-CN" sz="1200" kern="100" dirty="0" smtClean="0">
                          <a:effectLst/>
                          <a:latin typeface="Times New Roman"/>
                          <a:ea typeface="宋体"/>
                        </a:rPr>
                        <a:t>该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方法用于获取请求的协议名，例如</a:t>
                      </a:r>
                      <a:r>
                        <a:rPr lang="en-US" sz="1200" kern="100" dirty="0">
                          <a:effectLst/>
                          <a:latin typeface="Times New Roman"/>
                          <a:ea typeface="宋体"/>
                        </a:rPr>
                        <a:t>http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、</a:t>
                      </a:r>
                      <a:r>
                        <a:rPr lang="en-US" sz="1200" kern="100" dirty="0">
                          <a:effectLst/>
                          <a:latin typeface="Times New Roman"/>
                          <a:ea typeface="宋体"/>
                        </a:rPr>
                        <a:t>https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或</a:t>
                      </a:r>
                      <a:r>
                        <a:rPr lang="en-US" sz="1200" kern="100" dirty="0">
                          <a:effectLst/>
                          <a:latin typeface="Times New Roman"/>
                          <a:ea typeface="宋体"/>
                        </a:rPr>
                        <a:t>ftp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8602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/>
                          <a:ea typeface="宋体"/>
                        </a:rPr>
                        <a:t>StringBuffer getRequestURL()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200" kern="100" dirty="0" smtClean="0">
                          <a:effectLst/>
                          <a:latin typeface="Times New Roman"/>
                          <a:ea typeface="宋体"/>
                        </a:rPr>
                        <a:t>       </a:t>
                      </a:r>
                      <a:r>
                        <a:rPr lang="zh-CN" sz="1200" kern="100" dirty="0" smtClean="0">
                          <a:effectLst/>
                          <a:latin typeface="Times New Roman"/>
                          <a:ea typeface="宋体"/>
                        </a:rPr>
                        <a:t>该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方法用于获取客户端发出请求时的完整</a:t>
                      </a:r>
                      <a:r>
                        <a:rPr lang="en-US" sz="1200" kern="100" dirty="0">
                          <a:effectLst/>
                          <a:latin typeface="Times New Roman"/>
                          <a:ea typeface="宋体"/>
                        </a:rPr>
                        <a:t>URL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，包括协议、服务器名、端口号、资源路径等信息，但不包括后面的查询参数部分。注意，</a:t>
                      </a:r>
                      <a:r>
                        <a:rPr lang="en-US" sz="1200" kern="100" dirty="0" err="1">
                          <a:effectLst/>
                          <a:latin typeface="Times New Roman"/>
                          <a:ea typeface="宋体"/>
                        </a:rPr>
                        <a:t>getRequestURL</a:t>
                      </a:r>
                      <a:r>
                        <a:rPr lang="en-US" sz="1200" kern="100" dirty="0">
                          <a:effectLst/>
                          <a:latin typeface="Times New Roman"/>
                          <a:ea typeface="宋体"/>
                        </a:rPr>
                        <a:t>()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方法返回的结果是</a:t>
                      </a:r>
                      <a:r>
                        <a:rPr lang="en-US" sz="1200" kern="100" dirty="0" err="1">
                          <a:effectLst/>
                          <a:latin typeface="Times New Roman"/>
                          <a:ea typeface="宋体"/>
                        </a:rPr>
                        <a:t>StringBuffer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类型，而不是</a:t>
                      </a:r>
                      <a:r>
                        <a:rPr lang="en-US" sz="1200" kern="100" dirty="0">
                          <a:effectLst/>
                          <a:latin typeface="Times New Roman"/>
                          <a:ea typeface="宋体"/>
                        </a:rPr>
                        <a:t>String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类型，这样更便于对结果进行修改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</a:tbl>
          </a:graphicData>
        </a:graphic>
      </p:graphicFrame>
      <p:sp>
        <p:nvSpPr>
          <p:cNvPr id="5" name="标题 1"/>
          <p:cNvSpPr>
            <a:spLocks noChangeArrowheads="1"/>
          </p:cNvSpPr>
          <p:nvPr/>
        </p:nvSpPr>
        <p:spPr bwMode="auto">
          <a:xfrm>
            <a:off x="1643733" y="389681"/>
            <a:ext cx="6960715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4.3.1 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获取请求行消息的相关方法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54564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8626271"/>
              </p:ext>
            </p:extLst>
          </p:nvPr>
        </p:nvGraphicFramePr>
        <p:xfrm>
          <a:off x="395536" y="1268760"/>
          <a:ext cx="8280920" cy="465522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070230"/>
                <a:gridCol w="6210690"/>
              </a:tblGrid>
              <a:tr h="34060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 smtClean="0"/>
                        <a:t>方法声明</a:t>
                      </a:r>
                      <a:endParaRPr lang="en-US" altLang="zh-CN" sz="2000" dirty="0" smtClean="0"/>
                    </a:p>
                  </a:txBody>
                  <a:tcPr marL="91432" marR="91432" marT="45767" marB="45767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/>
                        <a:t>功能描述</a:t>
                      </a:r>
                      <a:endParaRPr lang="en-US" altLang="zh-CN" sz="2000" dirty="0" smtClean="0"/>
                    </a:p>
                  </a:txBody>
                  <a:tcPr marL="91432" marR="91432" marT="45767" marB="45767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7555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/>
                          <a:ea typeface="宋体"/>
                        </a:rPr>
                        <a:t>String getHeader(String name)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200" kern="100" dirty="0" smtClean="0">
                          <a:effectLst/>
                          <a:latin typeface="Times New Roman"/>
                          <a:ea typeface="宋体"/>
                        </a:rPr>
                        <a:t>        </a:t>
                      </a:r>
                      <a:r>
                        <a:rPr lang="zh-CN" sz="1200" kern="100" dirty="0" smtClean="0">
                          <a:effectLst/>
                          <a:latin typeface="Times New Roman"/>
                          <a:ea typeface="宋体"/>
                        </a:rPr>
                        <a:t>该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方法用于获取一个指定头字段的值，如果请求消息中没有包含指定的头字段，</a:t>
                      </a:r>
                      <a:r>
                        <a:rPr lang="en-US" sz="1200" kern="100" dirty="0" err="1">
                          <a:effectLst/>
                          <a:latin typeface="Times New Roman"/>
                          <a:ea typeface="宋体"/>
                        </a:rPr>
                        <a:t>getHeader</a:t>
                      </a:r>
                      <a:r>
                        <a:rPr lang="en-US" sz="1200" kern="100" dirty="0">
                          <a:effectLst/>
                          <a:latin typeface="Times New Roman"/>
                          <a:ea typeface="宋体"/>
                        </a:rPr>
                        <a:t>()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方法返回</a:t>
                      </a:r>
                      <a:r>
                        <a:rPr lang="en-US" sz="1200" kern="100" dirty="0">
                          <a:effectLst/>
                          <a:latin typeface="Times New Roman"/>
                          <a:ea typeface="宋体"/>
                        </a:rPr>
                        <a:t>null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；如果请求消息中包含有多个指定名称的头字段，</a:t>
                      </a:r>
                      <a:r>
                        <a:rPr lang="en-US" sz="1200" kern="100" dirty="0" err="1">
                          <a:effectLst/>
                          <a:latin typeface="Times New Roman"/>
                          <a:ea typeface="宋体"/>
                        </a:rPr>
                        <a:t>getHeader</a:t>
                      </a:r>
                      <a:r>
                        <a:rPr lang="en-US" sz="1200" kern="100" dirty="0">
                          <a:effectLst/>
                          <a:latin typeface="Times New Roman"/>
                          <a:ea typeface="宋体"/>
                        </a:rPr>
                        <a:t>()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方法返回其中第一个头字段的值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7555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/>
                          <a:ea typeface="宋体"/>
                        </a:rPr>
                        <a:t>Enumeration getHeaders(String name)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200" kern="100" dirty="0" smtClean="0">
                          <a:effectLst/>
                          <a:latin typeface="Times New Roman"/>
                          <a:ea typeface="宋体"/>
                        </a:rPr>
                        <a:t>        </a:t>
                      </a:r>
                      <a:r>
                        <a:rPr lang="zh-CN" sz="1200" kern="100" dirty="0" smtClean="0">
                          <a:effectLst/>
                          <a:latin typeface="Times New Roman"/>
                          <a:ea typeface="宋体"/>
                        </a:rPr>
                        <a:t>该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方法返回一个</a:t>
                      </a:r>
                      <a:r>
                        <a:rPr lang="en-US" sz="1200" kern="100" dirty="0">
                          <a:effectLst/>
                          <a:latin typeface="Times New Roman"/>
                          <a:ea typeface="宋体"/>
                        </a:rPr>
                        <a:t>Enumeration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集合对象，该集合对象由请求消息中出现的某个指定名称的所有头字段值组成。在多数情况下，一个头字段名在请求消息中只出现一次，但有时候可能会出现多次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67933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/>
                          <a:ea typeface="宋体"/>
                        </a:rPr>
                        <a:t>Enumeration getHeaderNames()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200" kern="100" dirty="0" smtClean="0">
                          <a:effectLst/>
                          <a:latin typeface="Times New Roman"/>
                          <a:ea typeface="宋体"/>
                        </a:rPr>
                        <a:t>        </a:t>
                      </a:r>
                      <a:r>
                        <a:rPr lang="zh-CN" sz="1200" kern="100" dirty="0" smtClean="0">
                          <a:effectLst/>
                          <a:latin typeface="Times New Roman"/>
                          <a:ea typeface="宋体"/>
                        </a:rPr>
                        <a:t>该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方法用于获取一个包含所有请求头字段的</a:t>
                      </a:r>
                      <a:r>
                        <a:rPr lang="en-US" sz="1200" kern="100" dirty="0">
                          <a:effectLst/>
                          <a:latin typeface="Times New Roman"/>
                          <a:ea typeface="宋体"/>
                        </a:rPr>
                        <a:t>Enumeration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对象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7177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/>
                          <a:ea typeface="宋体"/>
                        </a:rPr>
                        <a:t>int getIntHeader(String name)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200" kern="100" dirty="0" smtClean="0">
                          <a:effectLst/>
                          <a:latin typeface="Times New Roman"/>
                          <a:ea typeface="宋体"/>
                        </a:rPr>
                        <a:t>        </a:t>
                      </a:r>
                      <a:r>
                        <a:rPr lang="zh-CN" sz="1200" kern="100" dirty="0" smtClean="0">
                          <a:effectLst/>
                          <a:latin typeface="Times New Roman"/>
                          <a:ea typeface="宋体"/>
                        </a:rPr>
                        <a:t>该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方法用于获取指定名称的头字段，并且将其值转为</a:t>
                      </a:r>
                      <a:r>
                        <a:rPr lang="en-US" sz="1200" kern="100" dirty="0" err="1">
                          <a:effectLst/>
                          <a:latin typeface="Times New Roman"/>
                          <a:ea typeface="宋体"/>
                        </a:rPr>
                        <a:t>int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类型。需要注意的是，如果指定名称的头字段不存在，返回值为</a:t>
                      </a:r>
                      <a:r>
                        <a:rPr lang="en-US" sz="1200" kern="100" dirty="0">
                          <a:effectLst/>
                          <a:latin typeface="Times New Roman"/>
                          <a:ea typeface="宋体"/>
                        </a:rPr>
                        <a:t>-1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；如果获取到的头字段的值不能转为</a:t>
                      </a:r>
                      <a:r>
                        <a:rPr lang="en-US" sz="1200" kern="100" dirty="0" err="1">
                          <a:effectLst/>
                          <a:latin typeface="Times New Roman"/>
                          <a:ea typeface="宋体"/>
                        </a:rPr>
                        <a:t>int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类型，将发生</a:t>
                      </a:r>
                      <a:r>
                        <a:rPr lang="en-US" sz="1200" kern="100" dirty="0" err="1">
                          <a:effectLst/>
                          <a:latin typeface="Times New Roman"/>
                          <a:ea typeface="宋体"/>
                        </a:rPr>
                        <a:t>NumberFormatException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异常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7555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/>
                          <a:ea typeface="宋体"/>
                        </a:rPr>
                        <a:t>long getDateHeader(String name)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200" kern="100" dirty="0" smtClean="0">
                          <a:effectLst/>
                          <a:latin typeface="Times New Roman"/>
                          <a:ea typeface="宋体"/>
                        </a:rPr>
                        <a:t>        </a:t>
                      </a:r>
                      <a:r>
                        <a:rPr lang="zh-CN" sz="1200" kern="100" dirty="0" smtClean="0">
                          <a:effectLst/>
                          <a:latin typeface="Times New Roman"/>
                          <a:ea typeface="宋体"/>
                        </a:rPr>
                        <a:t>该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方法用于获取指定头字段的值，并将其按</a:t>
                      </a:r>
                      <a:r>
                        <a:rPr lang="en-US" sz="1200" kern="100" dirty="0">
                          <a:effectLst/>
                          <a:latin typeface="Times New Roman"/>
                          <a:ea typeface="宋体"/>
                        </a:rPr>
                        <a:t>GMT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时间格式转换成一个代表日期</a:t>
                      </a:r>
                      <a:r>
                        <a:rPr lang="en-US" sz="1200" kern="100" dirty="0">
                          <a:effectLst/>
                          <a:latin typeface="Times New Roman"/>
                          <a:ea typeface="宋体"/>
                        </a:rPr>
                        <a:t>/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时间的长整数，这个长整数是自</a:t>
                      </a:r>
                      <a:r>
                        <a:rPr lang="en-US" sz="1200" kern="100" dirty="0">
                          <a:effectLst/>
                          <a:latin typeface="Times New Roman"/>
                          <a:ea typeface="宋体"/>
                        </a:rPr>
                        <a:t>1970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年</a:t>
                      </a:r>
                      <a:r>
                        <a:rPr lang="en-US" sz="1200" kern="100" dirty="0">
                          <a:effectLst/>
                          <a:latin typeface="Times New Roman"/>
                          <a:ea typeface="宋体"/>
                        </a:rPr>
                        <a:t>1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月</a:t>
                      </a:r>
                      <a:r>
                        <a:rPr lang="en-US" sz="1200" kern="100" dirty="0">
                          <a:effectLst/>
                          <a:latin typeface="Times New Roman"/>
                          <a:ea typeface="宋体"/>
                        </a:rPr>
                        <a:t>1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日</a:t>
                      </a:r>
                      <a:r>
                        <a:rPr lang="en-US" sz="1200" kern="100" dirty="0">
                          <a:effectLst/>
                          <a:latin typeface="Times New Roman"/>
                          <a:ea typeface="宋体"/>
                        </a:rPr>
                        <a:t>0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点</a:t>
                      </a:r>
                      <a:r>
                        <a:rPr lang="en-US" sz="1200" kern="100" dirty="0">
                          <a:effectLst/>
                          <a:latin typeface="Times New Roman"/>
                          <a:ea typeface="宋体"/>
                        </a:rPr>
                        <a:t>0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分</a:t>
                      </a:r>
                      <a:r>
                        <a:rPr lang="en-US" sz="1200" kern="100" dirty="0">
                          <a:effectLst/>
                          <a:latin typeface="Times New Roman"/>
                          <a:ea typeface="宋体"/>
                        </a:rPr>
                        <a:t>0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秒算起的以毫秒为单位的时间值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8602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/>
                          <a:ea typeface="宋体"/>
                        </a:rPr>
                        <a:t>String getContentType()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200" kern="100" dirty="0" smtClean="0">
                          <a:effectLst/>
                          <a:latin typeface="Times New Roman"/>
                          <a:ea typeface="宋体"/>
                        </a:rPr>
                        <a:t>        </a:t>
                      </a:r>
                      <a:r>
                        <a:rPr lang="zh-CN" sz="1200" kern="100" dirty="0" smtClean="0">
                          <a:effectLst/>
                          <a:latin typeface="Times New Roman"/>
                          <a:ea typeface="宋体"/>
                        </a:rPr>
                        <a:t>该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方法用于获取</a:t>
                      </a:r>
                      <a:r>
                        <a:rPr lang="en-US" sz="1200" kern="100" dirty="0">
                          <a:effectLst/>
                          <a:latin typeface="Times New Roman"/>
                          <a:ea typeface="宋体"/>
                        </a:rPr>
                        <a:t>Content-Type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头字段的值，结果为</a:t>
                      </a:r>
                      <a:r>
                        <a:rPr lang="en-US" sz="1200" kern="100" dirty="0">
                          <a:effectLst/>
                          <a:latin typeface="Times New Roman"/>
                          <a:ea typeface="宋体"/>
                        </a:rPr>
                        <a:t>String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类型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8602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/>
                          <a:ea typeface="宋体"/>
                        </a:rPr>
                        <a:t>int getContentLength()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200" kern="100" dirty="0" smtClean="0">
                          <a:effectLst/>
                          <a:latin typeface="Times New Roman"/>
                          <a:ea typeface="宋体"/>
                        </a:rPr>
                        <a:t>        </a:t>
                      </a:r>
                      <a:r>
                        <a:rPr lang="zh-CN" sz="1200" kern="100" dirty="0" smtClean="0">
                          <a:effectLst/>
                          <a:latin typeface="Times New Roman"/>
                          <a:ea typeface="宋体"/>
                        </a:rPr>
                        <a:t>该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方法用于获取</a:t>
                      </a:r>
                      <a:r>
                        <a:rPr lang="en-US" sz="1200" kern="100" dirty="0">
                          <a:effectLst/>
                          <a:latin typeface="Times New Roman"/>
                          <a:ea typeface="宋体"/>
                        </a:rPr>
                        <a:t>Content-Length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头字段的值，结果为</a:t>
                      </a:r>
                      <a:r>
                        <a:rPr lang="en-US" sz="1200" kern="100" dirty="0" err="1">
                          <a:effectLst/>
                          <a:latin typeface="Times New Roman"/>
                          <a:ea typeface="宋体"/>
                        </a:rPr>
                        <a:t>int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类型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8602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/>
                          <a:ea typeface="宋体"/>
                        </a:rPr>
                        <a:t>String getCharacterEncoding()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200" kern="100" dirty="0" smtClean="0">
                          <a:effectLst/>
                          <a:latin typeface="Times New Roman"/>
                          <a:ea typeface="宋体"/>
                        </a:rPr>
                        <a:t>        </a:t>
                      </a:r>
                      <a:r>
                        <a:rPr lang="zh-CN" sz="1200" kern="100" dirty="0" smtClean="0">
                          <a:effectLst/>
                          <a:latin typeface="Times New Roman"/>
                          <a:ea typeface="宋体"/>
                        </a:rPr>
                        <a:t>该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方法用于返回请求消息的实体部分的字符集编码，通常是从</a:t>
                      </a:r>
                      <a:r>
                        <a:rPr lang="en-US" sz="1200" kern="100" dirty="0">
                          <a:effectLst/>
                          <a:latin typeface="Times New Roman"/>
                          <a:ea typeface="宋体"/>
                        </a:rPr>
                        <a:t>Content-Type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头字段中进行提取，结果为</a:t>
                      </a:r>
                      <a:r>
                        <a:rPr lang="en-US" sz="1200" kern="100" dirty="0">
                          <a:effectLst/>
                          <a:latin typeface="Times New Roman"/>
                          <a:ea typeface="宋体"/>
                        </a:rPr>
                        <a:t>String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类型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</a:tbl>
          </a:graphicData>
        </a:graphic>
      </p:graphicFrame>
      <p:sp>
        <p:nvSpPr>
          <p:cNvPr id="3" name="标题 1"/>
          <p:cNvSpPr>
            <a:spLocks noChangeArrowheads="1"/>
          </p:cNvSpPr>
          <p:nvPr/>
        </p:nvSpPr>
        <p:spPr bwMode="auto">
          <a:xfrm>
            <a:off x="251520" y="923156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4" name="标题 1"/>
          <p:cNvSpPr>
            <a:spLocks noChangeArrowheads="1"/>
          </p:cNvSpPr>
          <p:nvPr/>
        </p:nvSpPr>
        <p:spPr bwMode="auto">
          <a:xfrm>
            <a:off x="1643733" y="389681"/>
            <a:ext cx="6960715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4.3.2 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获取请求头的相关方法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34519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251520" y="923156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3" name="内容占位符 2"/>
          <p:cNvSpPr txBox="1">
            <a:spLocks/>
          </p:cNvSpPr>
          <p:nvPr/>
        </p:nvSpPr>
        <p:spPr bwMode="auto">
          <a:xfrm>
            <a:off x="542925" y="2144291"/>
            <a:ext cx="8102600" cy="178876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zh-CN" altLang="zh-CN" sz="1800" dirty="0" smtClean="0"/>
              <a:t>一些</a:t>
            </a:r>
            <a:r>
              <a:rPr lang="zh-CN" altLang="zh-CN" sz="1800" dirty="0"/>
              <a:t>站点为了吸引人气并且提高站点访问量，提供了各种软件的下载页面，但是它们本身没有这些资源，只是将下载的超链接指向其它站点上的资源。而真正提供了下载资源的站点</a:t>
            </a:r>
            <a:r>
              <a:rPr lang="zh-CN" altLang="en-US" sz="1800" dirty="0"/>
              <a:t>，</a:t>
            </a:r>
            <a:r>
              <a:rPr lang="zh-CN" altLang="zh-CN" sz="1800" dirty="0"/>
              <a:t>为了防止这种“盗链”，就需要检查请求来源，只接受本站链接发送的下载请求，阻止其它站点链接的下载请求</a:t>
            </a:r>
            <a:r>
              <a:rPr lang="zh-CN" altLang="zh-CN" sz="1800" dirty="0" smtClean="0"/>
              <a:t>。</a:t>
            </a:r>
            <a:endParaRPr lang="zh-CN" altLang="zh-CN" sz="1600" dirty="0"/>
          </a:p>
        </p:txBody>
      </p:sp>
      <p:sp>
        <p:nvSpPr>
          <p:cNvPr id="4" name="矩形 24"/>
          <p:cNvSpPr>
            <a:spLocks noChangeArrowheads="1"/>
          </p:cNvSpPr>
          <p:nvPr/>
        </p:nvSpPr>
        <p:spPr bwMode="auto">
          <a:xfrm>
            <a:off x="542925" y="2061875"/>
            <a:ext cx="8102600" cy="2015197"/>
          </a:xfrm>
          <a:prstGeom prst="rect">
            <a:avLst/>
          </a:prstGeom>
          <a:noFill/>
          <a:ln w="19050" algn="ctr">
            <a:solidFill>
              <a:srgbClr val="006B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5" name="任意多边形 4"/>
          <p:cNvSpPr/>
          <p:nvPr/>
        </p:nvSpPr>
        <p:spPr bwMode="auto">
          <a:xfrm>
            <a:off x="4644008" y="1772816"/>
            <a:ext cx="3578175" cy="371475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6BA9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利用</a:t>
            </a:r>
            <a:r>
              <a:rPr lang="en-US" altLang="zh-CN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Referer</a:t>
            </a:r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请求头防止“盗链”</a:t>
            </a:r>
            <a:endParaRPr lang="zh-CN" altLang="en-US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 bwMode="auto">
          <a:xfrm>
            <a:off x="1868739" y="4797152"/>
            <a:ext cx="6776786" cy="68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zh-CN" altLang="en-US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案例：关于</a:t>
            </a:r>
            <a:r>
              <a:rPr lang="zh-CN" altLang="zh-CN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这两个方法</a:t>
            </a:r>
            <a:r>
              <a:rPr lang="zh-CN" altLang="en-US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的具体</a:t>
            </a:r>
            <a:r>
              <a:rPr lang="zh-CN" altLang="zh-CN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使用</a:t>
            </a:r>
            <a:r>
              <a:rPr lang="zh-CN" altLang="en-US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，请参见教材</a:t>
            </a:r>
            <a:r>
              <a:rPr lang="en-US" altLang="zh-CN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4.3.2</a:t>
            </a:r>
            <a:r>
              <a:rPr lang="zh-CN" altLang="en-US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小节</a:t>
            </a:r>
            <a:r>
              <a:rPr lang="zh-CN" altLang="en-US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zh-CN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7" name="Picture 1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25" y="4509120"/>
            <a:ext cx="1325814" cy="9891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ACE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标题 1"/>
          <p:cNvSpPr>
            <a:spLocks noChangeArrowheads="1"/>
          </p:cNvSpPr>
          <p:nvPr/>
        </p:nvSpPr>
        <p:spPr bwMode="auto">
          <a:xfrm>
            <a:off x="1643733" y="389681"/>
            <a:ext cx="6960715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4.3.2 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获取请求头的相关方法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94784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 animBg="1"/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对角圆角矩形 10"/>
          <p:cNvSpPr/>
          <p:nvPr/>
        </p:nvSpPr>
        <p:spPr>
          <a:xfrm>
            <a:off x="539552" y="3933056"/>
            <a:ext cx="5359499" cy="648072"/>
          </a:xfrm>
          <a:prstGeom prst="round2DiagRect">
            <a:avLst>
              <a:gd name="adj1" fmla="val 20943"/>
              <a:gd name="adj2" fmla="val 0"/>
            </a:avLst>
          </a:prstGeom>
          <a:solidFill>
            <a:srgbClr val="006BA9"/>
          </a:solidFill>
          <a:ln>
            <a:solidFill>
              <a:srgbClr val="006B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Box 5"/>
          <p:cNvSpPr txBox="1"/>
          <p:nvPr/>
        </p:nvSpPr>
        <p:spPr>
          <a:xfrm>
            <a:off x="683568" y="4072426"/>
            <a:ext cx="3791036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dirty="0" smtClean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4.4    </a:t>
            </a:r>
            <a:r>
              <a:rPr lang="en-US" altLang="zh-CN" sz="2400" dirty="0" err="1" smtClean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HttpServletRequest</a:t>
            </a:r>
            <a:r>
              <a:rPr lang="zh-CN" altLang="en-US" sz="2400" dirty="0" smtClean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应用</a:t>
            </a:r>
            <a:endParaRPr lang="zh-CN" altLang="en-US" sz="2400" dirty="0">
              <a:solidFill>
                <a:schemeClr val="bg1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5" name="TextBox 10"/>
          <p:cNvSpPr txBox="1"/>
          <p:nvPr/>
        </p:nvSpPr>
        <p:spPr>
          <a:xfrm>
            <a:off x="683568" y="2584261"/>
            <a:ext cx="4223084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dirty="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4.2    </a:t>
            </a:r>
            <a:r>
              <a:rPr lang="en-US" altLang="zh-CN" sz="2400" dirty="0" err="1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HttpServletResponse</a:t>
            </a:r>
            <a:r>
              <a:rPr lang="zh-CN" altLang="en-US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应用</a:t>
            </a:r>
          </a:p>
        </p:txBody>
      </p:sp>
      <p:sp>
        <p:nvSpPr>
          <p:cNvPr id="6" name="TextBox 11"/>
          <p:cNvSpPr txBox="1"/>
          <p:nvPr/>
        </p:nvSpPr>
        <p:spPr>
          <a:xfrm>
            <a:off x="683568" y="3328344"/>
            <a:ext cx="3791036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dirty="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4.3    </a:t>
            </a:r>
            <a:r>
              <a:rPr lang="en-US" altLang="zh-CN" sz="2400" dirty="0" err="1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HttpServletRequest</a:t>
            </a:r>
            <a:r>
              <a:rPr lang="zh-CN" altLang="en-US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对象</a:t>
            </a:r>
          </a:p>
        </p:txBody>
      </p:sp>
      <p:sp>
        <p:nvSpPr>
          <p:cNvPr id="9" name="椭圆 8"/>
          <p:cNvSpPr/>
          <p:nvPr/>
        </p:nvSpPr>
        <p:spPr>
          <a:xfrm>
            <a:off x="4897998" y="1756903"/>
            <a:ext cx="3444382" cy="344438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381000">
            <a:solidFill>
              <a:srgbClr val="006B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0" name="TextBox 1"/>
          <p:cNvSpPr txBox="1"/>
          <p:nvPr/>
        </p:nvSpPr>
        <p:spPr>
          <a:xfrm>
            <a:off x="4860032" y="2749857"/>
            <a:ext cx="3566358" cy="183127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5400" b="1" dirty="0" smtClean="0">
                <a:solidFill>
                  <a:srgbClr val="F2F2E6"/>
                </a:solidFill>
                <a:latin typeface="微软雅黑" pitchFamily="34" charset="-122"/>
                <a:ea typeface="微软雅黑" pitchFamily="34" charset="-122"/>
              </a:rPr>
              <a:t>主讲内容</a:t>
            </a:r>
            <a:endParaRPr lang="en-US" altLang="zh-CN" sz="5400" b="1" dirty="0" smtClean="0">
              <a:solidFill>
                <a:srgbClr val="F2F2E6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3200" dirty="0" smtClean="0">
                <a:solidFill>
                  <a:srgbClr val="F2F2E6"/>
                </a:solidFill>
                <a:latin typeface="Times New Roman" panose="02020603050405020304" pitchFamily="18" charset="0"/>
                <a:ea typeface="Adobe 宋体 Std L" pitchFamily="18" charset="-122"/>
                <a:cs typeface="Times New Roman" panose="02020603050405020304" pitchFamily="18" charset="0"/>
              </a:rPr>
              <a:t>Speech content</a:t>
            </a:r>
          </a:p>
        </p:txBody>
      </p:sp>
      <p:sp>
        <p:nvSpPr>
          <p:cNvPr id="12" name="TextBox 6"/>
          <p:cNvSpPr txBox="1"/>
          <p:nvPr/>
        </p:nvSpPr>
        <p:spPr>
          <a:xfrm>
            <a:off x="683568" y="1840178"/>
            <a:ext cx="434996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defRPr>
            </a:lvl1pPr>
          </a:lstStyle>
          <a:p>
            <a:r>
              <a:rPr lang="en-US" altLang="zh-CN" dirty="0" smtClean="0">
                <a:solidFill>
                  <a:srgbClr val="7F7F7F"/>
                </a:solidFill>
              </a:rPr>
              <a:t>4.1    </a:t>
            </a:r>
            <a:r>
              <a:rPr lang="en-US" altLang="zh-CN" dirty="0" err="1">
                <a:solidFill>
                  <a:srgbClr val="7F7F7F"/>
                </a:solidFill>
              </a:rPr>
              <a:t>HttpServletResponse</a:t>
            </a:r>
            <a:r>
              <a:rPr lang="zh-CN" altLang="en-US" dirty="0">
                <a:solidFill>
                  <a:srgbClr val="7F7F7F"/>
                </a:solidFill>
              </a:rPr>
              <a:t>对象</a:t>
            </a:r>
          </a:p>
        </p:txBody>
      </p:sp>
      <p:sp>
        <p:nvSpPr>
          <p:cNvPr id="13" name="TextBox 5"/>
          <p:cNvSpPr txBox="1"/>
          <p:nvPr/>
        </p:nvSpPr>
        <p:spPr>
          <a:xfrm>
            <a:off x="683568" y="4792506"/>
            <a:ext cx="4752528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dirty="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4.5</a:t>
            </a:r>
            <a:r>
              <a:rPr lang="en-US" altLang="zh-CN" sz="2400" dirty="0" smtClean="0">
                <a:solidFill>
                  <a:srgbClr val="CD1F06"/>
                </a:solidFill>
                <a:latin typeface="Impact" pitchFamily="34" charset="0"/>
                <a:ea typeface="微软雅黑" pitchFamily="34" charset="-122"/>
              </a:rPr>
              <a:t>    </a:t>
            </a:r>
            <a:r>
              <a:rPr lang="en-US" altLang="zh-CN" sz="2400" dirty="0" err="1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RequestDispatcher</a:t>
            </a:r>
            <a:r>
              <a:rPr lang="zh-CN" altLang="en-US" sz="2400" dirty="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对象的应用</a:t>
            </a:r>
            <a:endParaRPr lang="zh-CN" altLang="en-US" sz="2400" dirty="0">
              <a:solidFill>
                <a:srgbClr val="7F7F7F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14" name="标题 1"/>
          <p:cNvSpPr>
            <a:spLocks noChangeArrowheads="1"/>
          </p:cNvSpPr>
          <p:nvPr/>
        </p:nvSpPr>
        <p:spPr bwMode="auto">
          <a:xfrm>
            <a:off x="1643733" y="389681"/>
            <a:ext cx="638465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主讲内容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01108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251520" y="923156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pic>
        <p:nvPicPr>
          <p:cNvPr id="3" name="Picture 1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1772816"/>
            <a:ext cx="3657600" cy="2403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ACE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标注 3"/>
          <p:cNvSpPr>
            <a:spLocks noChangeArrowheads="1"/>
          </p:cNvSpPr>
          <p:nvPr/>
        </p:nvSpPr>
        <p:spPr bwMode="auto">
          <a:xfrm>
            <a:off x="5462588" y="2041103"/>
            <a:ext cx="2405062" cy="1431925"/>
          </a:xfrm>
          <a:prstGeom prst="wedgeRectCallout">
            <a:avLst>
              <a:gd name="adj1" fmla="val -64213"/>
              <a:gd name="adj2" fmla="val 26986"/>
            </a:avLst>
          </a:prstGeom>
          <a:noFill/>
          <a:ln w="9525" algn="ctr">
            <a:solidFill>
              <a:srgbClr val="009ED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zh-CN" altLang="zh-CN"/>
              <a:t>在实际开发中，经常需要获取用户提交的表单数据，例如，用户名、密码、电子邮件等</a:t>
            </a:r>
            <a:endParaRPr lang="zh-CN" altLang="en-US"/>
          </a:p>
        </p:txBody>
      </p:sp>
      <p:sp>
        <p:nvSpPr>
          <p:cNvPr id="6" name="矩形 1"/>
          <p:cNvSpPr>
            <a:spLocks noChangeArrowheads="1"/>
          </p:cNvSpPr>
          <p:nvPr/>
        </p:nvSpPr>
        <p:spPr bwMode="auto">
          <a:xfrm>
            <a:off x="1016967" y="5162128"/>
            <a:ext cx="70834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HttpServletRequest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接口中，定义了一系列获取请求参数的方法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1174750" y="4784302"/>
            <a:ext cx="6269038" cy="952496"/>
            <a:chOff x="1242068" y="4143667"/>
            <a:chExt cx="2769098" cy="560251"/>
          </a:xfrm>
        </p:grpSpPr>
        <p:cxnSp>
          <p:nvCxnSpPr>
            <p:cNvPr id="8" name="直接连接符 7"/>
            <p:cNvCxnSpPr/>
            <p:nvPr/>
          </p:nvCxnSpPr>
          <p:spPr>
            <a:xfrm>
              <a:off x="1242068" y="4222100"/>
              <a:ext cx="2769098" cy="933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9" name="矩形 59"/>
            <p:cNvSpPr>
              <a:spLocks noChangeArrowheads="1"/>
            </p:cNvSpPr>
            <p:nvPr/>
          </p:nvSpPr>
          <p:spPr bwMode="auto">
            <a:xfrm>
              <a:off x="2130243" y="4143667"/>
              <a:ext cx="787980" cy="17605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sz="140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【</a:t>
              </a:r>
              <a:r>
                <a:rPr lang="zh-CN" altLang="en-US" sz="140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解决办法</a:t>
              </a:r>
              <a:r>
                <a:rPr lang="en-US" altLang="zh-CN" sz="140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】</a:t>
              </a:r>
              <a:endParaRPr lang="zh-CN" altLang="en-US" sz="1400">
                <a:solidFill>
                  <a:srgbClr val="FF0000"/>
                </a:solidFill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>
              <a:off x="1242068" y="4703918"/>
              <a:ext cx="2769098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11" name="标题 1"/>
          <p:cNvSpPr>
            <a:spLocks noChangeArrowheads="1"/>
          </p:cNvSpPr>
          <p:nvPr/>
        </p:nvSpPr>
        <p:spPr bwMode="auto">
          <a:xfrm>
            <a:off x="1643733" y="389681"/>
            <a:ext cx="6960715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4.4.1 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获取请求参数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49520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251520" y="923156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0151689"/>
              </p:ext>
            </p:extLst>
          </p:nvPr>
        </p:nvGraphicFramePr>
        <p:xfrm>
          <a:off x="395536" y="2132856"/>
          <a:ext cx="8280920" cy="4150794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070230"/>
                <a:gridCol w="6210690"/>
              </a:tblGrid>
              <a:tr h="67291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 smtClean="0"/>
                        <a:t>方法声明</a:t>
                      </a:r>
                      <a:endParaRPr lang="en-US" altLang="zh-CN" sz="2000" dirty="0" smtClean="0"/>
                    </a:p>
                  </a:txBody>
                  <a:tcPr marL="91432" marR="91432" marT="45767" marB="45767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/>
                        <a:t>功能描述</a:t>
                      </a:r>
                      <a:endParaRPr lang="en-US" altLang="zh-CN" sz="2000" dirty="0" smtClean="0"/>
                    </a:p>
                  </a:txBody>
                  <a:tcPr marL="91432" marR="91432" marT="45767" marB="45767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93151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  <a:latin typeface="Times New Roman"/>
                          <a:ea typeface="宋体"/>
                        </a:rPr>
                        <a:t>String getParameter(String name)</a:t>
                      </a:r>
                      <a:endParaRPr lang="zh-CN" sz="14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Times New Roman"/>
                          <a:ea typeface="宋体"/>
                        </a:rPr>
                        <a:t>该方法用于获取某个指定名称的参数值，如果请求消息中没有包含指定名称的参数，</a:t>
                      </a:r>
                      <a:r>
                        <a:rPr lang="en-US" sz="1400" kern="100">
                          <a:effectLst/>
                          <a:latin typeface="Times New Roman"/>
                          <a:ea typeface="宋体"/>
                        </a:rPr>
                        <a:t>getParameter()</a:t>
                      </a:r>
                      <a:r>
                        <a:rPr lang="zh-CN" sz="1400" kern="100">
                          <a:effectLst/>
                          <a:latin typeface="Times New Roman"/>
                          <a:ea typeface="宋体"/>
                        </a:rPr>
                        <a:t>方法返回</a:t>
                      </a:r>
                      <a:r>
                        <a:rPr lang="en-US" sz="1400" kern="100">
                          <a:effectLst/>
                          <a:latin typeface="Times New Roman"/>
                          <a:ea typeface="宋体"/>
                        </a:rPr>
                        <a:t>null</a:t>
                      </a:r>
                      <a:r>
                        <a:rPr lang="zh-CN" sz="1400" kern="100">
                          <a:effectLst/>
                          <a:latin typeface="Times New Roman"/>
                          <a:ea typeface="宋体"/>
                        </a:rPr>
                        <a:t>；如果指定名称的参数存在但没有设置值，则返回一个空串；如果请求消息中包含有多个该指定名称的参数，</a:t>
                      </a:r>
                      <a:r>
                        <a:rPr lang="en-US" sz="1400" kern="100">
                          <a:effectLst/>
                          <a:latin typeface="Times New Roman"/>
                          <a:ea typeface="宋体"/>
                        </a:rPr>
                        <a:t>getParameter()</a:t>
                      </a:r>
                      <a:r>
                        <a:rPr lang="zh-CN" sz="1400" kern="100">
                          <a:effectLst/>
                          <a:latin typeface="Times New Roman"/>
                          <a:ea typeface="宋体"/>
                        </a:rPr>
                        <a:t>方法返回第一个出现的参数值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93151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  <a:latin typeface="Times New Roman"/>
                          <a:ea typeface="宋体"/>
                        </a:rPr>
                        <a:t>String[] getParameterValues(String name)</a:t>
                      </a:r>
                      <a:endParaRPr lang="zh-CN" sz="14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/>
                          <a:ea typeface="宋体"/>
                        </a:rPr>
                        <a:t>HTTP</a:t>
                      </a:r>
                      <a:r>
                        <a:rPr lang="zh-CN" sz="1400" kern="100" dirty="0">
                          <a:effectLst/>
                          <a:latin typeface="Times New Roman"/>
                          <a:ea typeface="宋体"/>
                        </a:rPr>
                        <a:t>请求消息中可以有多个相同名称的参数（通常由一个包含有多个同名的字段元素的</a:t>
                      </a:r>
                      <a:r>
                        <a:rPr lang="en-US" sz="1400" kern="100" dirty="0">
                          <a:effectLst/>
                          <a:latin typeface="Times New Roman"/>
                          <a:ea typeface="宋体"/>
                        </a:rPr>
                        <a:t>FORM</a:t>
                      </a:r>
                      <a:r>
                        <a:rPr lang="zh-CN" sz="1400" kern="100" dirty="0">
                          <a:effectLst/>
                          <a:latin typeface="Times New Roman"/>
                          <a:ea typeface="宋体"/>
                        </a:rPr>
                        <a:t>表单生成），如果要获得</a:t>
                      </a:r>
                      <a:r>
                        <a:rPr lang="en-US" sz="1400" kern="100" dirty="0">
                          <a:effectLst/>
                          <a:latin typeface="Times New Roman"/>
                          <a:ea typeface="宋体"/>
                        </a:rPr>
                        <a:t>HTTP</a:t>
                      </a:r>
                      <a:r>
                        <a:rPr lang="zh-CN" sz="1400" kern="100" dirty="0">
                          <a:effectLst/>
                          <a:latin typeface="Times New Roman"/>
                          <a:ea typeface="宋体"/>
                        </a:rPr>
                        <a:t>请求消息中的同一个参数名所对应的所有参数值，那么就应该使用</a:t>
                      </a:r>
                      <a:r>
                        <a:rPr lang="en-US" sz="1400" kern="100" dirty="0" err="1">
                          <a:effectLst/>
                          <a:latin typeface="Times New Roman"/>
                          <a:ea typeface="宋体"/>
                        </a:rPr>
                        <a:t>getParameterValues</a:t>
                      </a:r>
                      <a:r>
                        <a:rPr lang="en-US" sz="1400" kern="100" dirty="0">
                          <a:effectLst/>
                          <a:latin typeface="Times New Roman"/>
                          <a:ea typeface="宋体"/>
                        </a:rPr>
                        <a:t>()</a:t>
                      </a:r>
                      <a:r>
                        <a:rPr lang="zh-CN" sz="1400" kern="100" dirty="0">
                          <a:effectLst/>
                          <a:latin typeface="Times New Roman"/>
                          <a:ea typeface="宋体"/>
                        </a:rPr>
                        <a:t>方法，该方法用于返回一个</a:t>
                      </a:r>
                      <a:r>
                        <a:rPr lang="en-US" sz="1400" kern="100" dirty="0">
                          <a:effectLst/>
                          <a:latin typeface="Times New Roman"/>
                          <a:ea typeface="宋体"/>
                        </a:rPr>
                        <a:t>String</a:t>
                      </a:r>
                      <a:r>
                        <a:rPr lang="zh-CN" sz="1400" kern="100" dirty="0">
                          <a:effectLst/>
                          <a:latin typeface="Times New Roman"/>
                          <a:ea typeface="宋体"/>
                        </a:rPr>
                        <a:t>类型的数组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115341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  <a:latin typeface="Times New Roman"/>
                          <a:ea typeface="宋体"/>
                        </a:rPr>
                        <a:t>Enumeration getParameterNames()</a:t>
                      </a:r>
                      <a:endParaRPr lang="zh-CN" sz="14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/>
                          <a:ea typeface="宋体"/>
                        </a:rPr>
                        <a:t>getParameterNames()</a:t>
                      </a:r>
                      <a:r>
                        <a:rPr lang="zh-CN" sz="1400" kern="100">
                          <a:effectLst/>
                          <a:latin typeface="Times New Roman"/>
                          <a:ea typeface="宋体"/>
                        </a:rPr>
                        <a:t>方法用于返回一个包含请求消息中所有参数名的</a:t>
                      </a:r>
                      <a:r>
                        <a:rPr lang="en-US" sz="1400" kern="100">
                          <a:effectLst/>
                          <a:latin typeface="Times New Roman"/>
                          <a:ea typeface="宋体"/>
                        </a:rPr>
                        <a:t>Enumeration</a:t>
                      </a:r>
                      <a:r>
                        <a:rPr lang="zh-CN" sz="1400" kern="100">
                          <a:effectLst/>
                          <a:latin typeface="Times New Roman"/>
                          <a:ea typeface="宋体"/>
                        </a:rPr>
                        <a:t>对象，在此基础上，可以对请求消息中的所有参数进行遍历处理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6143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  <a:latin typeface="Times New Roman"/>
                          <a:ea typeface="宋体"/>
                        </a:rPr>
                        <a:t>Map getParameterMap()</a:t>
                      </a:r>
                      <a:endParaRPr lang="zh-CN" sz="14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 err="1">
                          <a:effectLst/>
                          <a:latin typeface="Times New Roman"/>
                          <a:ea typeface="宋体"/>
                        </a:rPr>
                        <a:t>getParameterMap</a:t>
                      </a:r>
                      <a:r>
                        <a:rPr lang="en-US" sz="1400" kern="100" dirty="0">
                          <a:effectLst/>
                          <a:latin typeface="Times New Roman"/>
                          <a:ea typeface="宋体"/>
                        </a:rPr>
                        <a:t>()</a:t>
                      </a:r>
                      <a:r>
                        <a:rPr lang="zh-CN" sz="1400" kern="100" dirty="0">
                          <a:effectLst/>
                          <a:latin typeface="Times New Roman"/>
                          <a:ea typeface="宋体"/>
                        </a:rPr>
                        <a:t>方法用于将请求消息中的所有参数名和值装入进一个</a:t>
                      </a:r>
                      <a:r>
                        <a:rPr lang="en-US" sz="1400" kern="100" dirty="0">
                          <a:effectLst/>
                          <a:latin typeface="Times New Roman"/>
                          <a:ea typeface="宋体"/>
                        </a:rPr>
                        <a:t>Map</a:t>
                      </a:r>
                      <a:r>
                        <a:rPr lang="zh-CN" sz="1400" kern="100" dirty="0">
                          <a:effectLst/>
                          <a:latin typeface="Times New Roman"/>
                          <a:ea typeface="宋体"/>
                        </a:rPr>
                        <a:t>对象中返回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</a:tbl>
          </a:graphicData>
        </a:graphic>
      </p:graphicFrame>
      <p:sp>
        <p:nvSpPr>
          <p:cNvPr id="5" name="内容占位符 2"/>
          <p:cNvSpPr txBox="1">
            <a:spLocks/>
          </p:cNvSpPr>
          <p:nvPr/>
        </p:nvSpPr>
        <p:spPr bwMode="auto">
          <a:xfrm>
            <a:off x="323528" y="1520751"/>
            <a:ext cx="7975600" cy="68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1">
              <a:lnSpc>
                <a:spcPct val="150000"/>
              </a:lnSpc>
              <a:spcBef>
                <a:spcPct val="20000"/>
              </a:spcBef>
              <a:buFontTx/>
              <a:buChar char="–"/>
            </a:pPr>
            <a:r>
              <a:rPr lang="zh-CN" altLang="en-US" sz="2000" b="1" kern="0" dirty="0" smtClean="0">
                <a:solidFill>
                  <a:srgbClr val="0070C0"/>
                </a:solidFill>
                <a:latin typeface="Arial"/>
                <a:ea typeface="宋体"/>
              </a:rPr>
              <a:t>获取请求参数的方法</a:t>
            </a:r>
            <a:endParaRPr lang="en-US" altLang="zh-CN" sz="2000" b="1" kern="0" dirty="0">
              <a:solidFill>
                <a:srgbClr val="0070C0"/>
              </a:solidFill>
              <a:latin typeface="Arial"/>
              <a:ea typeface="宋体"/>
            </a:endParaRPr>
          </a:p>
          <a:p>
            <a:pPr lvl="1">
              <a:lnSpc>
                <a:spcPct val="150000"/>
              </a:lnSpc>
              <a:spcBef>
                <a:spcPct val="20000"/>
              </a:spcBef>
              <a:buFontTx/>
              <a:buChar char="–"/>
            </a:pPr>
            <a:endParaRPr lang="en-US" altLang="zh-CN" sz="2400" dirty="0"/>
          </a:p>
        </p:txBody>
      </p:sp>
      <p:sp>
        <p:nvSpPr>
          <p:cNvPr id="7" name="标题 1"/>
          <p:cNvSpPr>
            <a:spLocks noChangeArrowheads="1"/>
          </p:cNvSpPr>
          <p:nvPr/>
        </p:nvSpPr>
        <p:spPr bwMode="auto">
          <a:xfrm>
            <a:off x="1643733" y="389681"/>
            <a:ext cx="6960715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4.4.1 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获取请求参数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41438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251520" y="923156"/>
            <a:ext cx="6984776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pic>
        <p:nvPicPr>
          <p:cNvPr id="7170" name="图片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060848"/>
            <a:ext cx="5760000" cy="13012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图片 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4204" y="4581127"/>
            <a:ext cx="5760000" cy="1000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直接箭头连接符 4"/>
          <p:cNvCxnSpPr/>
          <p:nvPr/>
        </p:nvCxnSpPr>
        <p:spPr>
          <a:xfrm>
            <a:off x="4427984" y="3429000"/>
            <a:ext cx="0" cy="110772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 bwMode="auto">
          <a:xfrm>
            <a:off x="3905253" y="2786784"/>
            <a:ext cx="594419" cy="0"/>
          </a:xfrm>
          <a:prstGeom prst="straightConnector1">
            <a:avLst/>
          </a:pr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圆角矩形 12"/>
          <p:cNvSpPr/>
          <p:nvPr/>
        </p:nvSpPr>
        <p:spPr>
          <a:xfrm>
            <a:off x="4654445" y="2580426"/>
            <a:ext cx="2869883" cy="408623"/>
          </a:xfrm>
          <a:prstGeom prst="roundRect">
            <a:avLst/>
          </a:prstGeom>
          <a:solidFill>
            <a:srgbClr val="006BA9"/>
          </a:solidFill>
          <a:ln>
            <a:solidFill>
              <a:srgbClr val="006BA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b="1" dirty="0" smtClean="0">
                <a:solidFill>
                  <a:schemeClr val="bg1"/>
                </a:solidFill>
                <a:ea typeface="宋体" pitchFamily="2" charset="-122"/>
              </a:rPr>
              <a:t>填写含有中文的表单数据</a:t>
            </a:r>
            <a:endParaRPr lang="en-US" altLang="zh-CN" b="1" dirty="0" smtClean="0">
              <a:solidFill>
                <a:schemeClr val="bg1"/>
              </a:solidFill>
              <a:ea typeface="宋体" pitchFamily="2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674204" y="2492896"/>
            <a:ext cx="2069704" cy="792088"/>
          </a:xfrm>
          <a:prstGeom prst="rect">
            <a:avLst/>
          </a:prstGeom>
          <a:ln w="19050">
            <a:solidFill>
              <a:srgbClr val="0070C0"/>
            </a:solidFill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endParaRPr lang="zh-CN" altLang="en-US" dirty="0">
              <a:ea typeface="宋体" pitchFamily="2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691680" y="4933637"/>
            <a:ext cx="1512168" cy="439579"/>
          </a:xfrm>
          <a:prstGeom prst="rect">
            <a:avLst/>
          </a:prstGeom>
          <a:ln w="19050">
            <a:solidFill>
              <a:srgbClr val="0070C0"/>
            </a:solidFill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endParaRPr lang="zh-CN" altLang="en-US" dirty="0">
              <a:ea typeface="宋体" pitchFamily="2" charset="-122"/>
            </a:endParaRPr>
          </a:p>
        </p:txBody>
      </p:sp>
      <p:cxnSp>
        <p:nvCxnSpPr>
          <p:cNvPr id="17" name="直接箭头连接符 16"/>
          <p:cNvCxnSpPr/>
          <p:nvPr/>
        </p:nvCxnSpPr>
        <p:spPr bwMode="auto">
          <a:xfrm>
            <a:off x="3310834" y="5153426"/>
            <a:ext cx="594419" cy="0"/>
          </a:xfrm>
          <a:prstGeom prst="straightConnector1">
            <a:avLst/>
          </a:pr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" name="圆角矩形 17"/>
          <p:cNvSpPr/>
          <p:nvPr/>
        </p:nvSpPr>
        <p:spPr>
          <a:xfrm>
            <a:off x="3995937" y="4967188"/>
            <a:ext cx="1944216" cy="408623"/>
          </a:xfrm>
          <a:prstGeom prst="roundRect">
            <a:avLst/>
          </a:prstGeom>
          <a:solidFill>
            <a:srgbClr val="006BA9"/>
          </a:solidFill>
          <a:ln>
            <a:solidFill>
              <a:srgbClr val="006BA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b="1" dirty="0" smtClean="0">
                <a:solidFill>
                  <a:schemeClr val="bg1"/>
                </a:solidFill>
                <a:ea typeface="宋体" pitchFamily="2" charset="-122"/>
              </a:rPr>
              <a:t>出现了乱码问题</a:t>
            </a:r>
            <a:endParaRPr lang="en-US" altLang="zh-CN" b="1" dirty="0" smtClean="0">
              <a:solidFill>
                <a:schemeClr val="bg1"/>
              </a:solidFill>
              <a:ea typeface="宋体" pitchFamily="2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453767" y="38289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/>
              <a:t>提交</a:t>
            </a:r>
            <a:endParaRPr lang="zh-CN" altLang="en-US" sz="1400" dirty="0"/>
          </a:p>
        </p:txBody>
      </p:sp>
      <p:sp>
        <p:nvSpPr>
          <p:cNvPr id="31" name="椭圆 30"/>
          <p:cNvSpPr/>
          <p:nvPr/>
        </p:nvSpPr>
        <p:spPr bwMode="auto">
          <a:xfrm rot="574600">
            <a:off x="1255813" y="3308088"/>
            <a:ext cx="361950" cy="361950"/>
          </a:xfrm>
          <a:prstGeom prst="ellipse">
            <a:avLst/>
          </a:prstGeom>
          <a:solidFill>
            <a:srgbClr val="3BCCFF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buFont typeface="Arial" pitchFamily="34" charset="0"/>
              <a:buNone/>
            </a:pPr>
            <a:endParaRPr lang="zh-CN" altLang="en-US" dirty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32" name="TextBox 31"/>
          <p:cNvSpPr txBox="1">
            <a:spLocks noChangeArrowheads="1"/>
          </p:cNvSpPr>
          <p:nvPr/>
        </p:nvSpPr>
        <p:spPr bwMode="auto">
          <a:xfrm>
            <a:off x="1268116" y="3290675"/>
            <a:ext cx="349250" cy="3698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Verdana" pitchFamily="34" charset="0"/>
                <a:ea typeface="宋体" charset="-122"/>
              </a:rPr>
              <a:t>2</a:t>
            </a:r>
            <a:endParaRPr kumimoji="0" lang="zh-CN" altLang="en-US" sz="1800" b="1" i="0" u="none" strike="noStrike" kern="0" cap="none" spc="0" normalizeH="0" baseline="0" noProof="0" dirty="0" smtClean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Verdana" pitchFamily="34" charset="0"/>
              <a:ea typeface="宋体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1644750" y="2132856"/>
            <a:ext cx="1152525" cy="345094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b="1" kern="0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任务目标</a:t>
            </a:r>
            <a:r>
              <a:rPr kumimoji="0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：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1339950" y="4049133"/>
            <a:ext cx="5219700" cy="408623"/>
          </a:xfrm>
          <a:prstGeom prst="roundRect">
            <a:avLst/>
          </a:prstGeom>
          <a:solidFill>
            <a:srgbClr val="0070C0"/>
          </a:solidFill>
          <a:ln>
            <a:solidFill>
              <a:srgbClr val="D6ECFF">
                <a:lumMod val="75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spAutoFit/>
          </a:bodyPr>
          <a:lstStyle/>
          <a:p>
            <a:pPr lvl="0" algn="ctr">
              <a:defRPr/>
            </a:pPr>
            <a:r>
              <a:rPr lang="zh-CN" altLang="en-US" b="1" kern="0">
                <a:solidFill>
                  <a:sysClr val="window" lastClr="FFFFFF"/>
                </a:solidFill>
                <a:latin typeface="Arial"/>
              </a:rPr>
              <a:t>案例代码（详见教材</a:t>
            </a:r>
            <a:r>
              <a:rPr lang="en-US" altLang="zh-CN" b="1" kern="0">
                <a:solidFill>
                  <a:sysClr val="window" lastClr="FFFFFF"/>
                </a:solidFill>
                <a:latin typeface="Arial"/>
              </a:rPr>
              <a:t>【</a:t>
            </a:r>
            <a:r>
              <a:rPr lang="zh-CN" altLang="en-US" b="1" kern="0" smtClean="0">
                <a:solidFill>
                  <a:sysClr val="window" lastClr="FFFFFF"/>
                </a:solidFill>
                <a:latin typeface="Arial"/>
              </a:rPr>
              <a:t>任务</a:t>
            </a:r>
            <a:r>
              <a:rPr lang="en-US" altLang="zh-CN" b="1" kern="0" smtClean="0">
                <a:solidFill>
                  <a:sysClr val="window" lastClr="FFFFFF"/>
                </a:solidFill>
                <a:latin typeface="Arial"/>
              </a:rPr>
              <a:t>4-3】</a:t>
            </a:r>
            <a:r>
              <a:rPr lang="zh-CN" altLang="en-US" b="1" kern="0">
                <a:solidFill>
                  <a:sysClr val="window" lastClr="FFFFFF"/>
                </a:solidFill>
                <a:latin typeface="Arial"/>
              </a:rPr>
              <a:t>中的实现步骤）</a:t>
            </a:r>
            <a:endParaRPr lang="en-US" altLang="zh-CN" b="1" kern="0" dirty="0">
              <a:solidFill>
                <a:sysClr val="window" lastClr="FFFFFF"/>
              </a:solidFill>
              <a:latin typeface="Arial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644750" y="3293801"/>
            <a:ext cx="1152525" cy="369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实现步骤：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itchFamily="34" charset="0"/>
              <a:ea typeface="宋体" pitchFamily="2" charset="-122"/>
            </a:endParaRPr>
          </a:p>
        </p:txBody>
      </p:sp>
      <p:cxnSp>
        <p:nvCxnSpPr>
          <p:cNvPr id="36" name="直接连接符 35"/>
          <p:cNvCxnSpPr/>
          <p:nvPr/>
        </p:nvCxnSpPr>
        <p:spPr>
          <a:xfrm>
            <a:off x="1465363" y="2520206"/>
            <a:ext cx="5094287" cy="0"/>
          </a:xfrm>
          <a:prstGeom prst="line">
            <a:avLst/>
          </a:prstGeom>
          <a:solidFill>
            <a:srgbClr val="3BCCFF"/>
          </a:solidFill>
          <a:ln w="12700" cap="flat" cmpd="sng" algn="ctr">
            <a:solidFill>
              <a:srgbClr val="19C3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37" name="直接连接符 36"/>
          <p:cNvCxnSpPr/>
          <p:nvPr/>
        </p:nvCxnSpPr>
        <p:spPr>
          <a:xfrm>
            <a:off x="1402656" y="3663688"/>
            <a:ext cx="5094287" cy="0"/>
          </a:xfrm>
          <a:prstGeom prst="line">
            <a:avLst/>
          </a:prstGeom>
          <a:solidFill>
            <a:srgbClr val="3BCCFF"/>
          </a:solidFill>
          <a:ln w="12700" cap="flat" cmpd="sng" algn="ctr">
            <a:solidFill>
              <a:srgbClr val="19C3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38" name="椭圆 37"/>
          <p:cNvSpPr/>
          <p:nvPr/>
        </p:nvSpPr>
        <p:spPr bwMode="auto">
          <a:xfrm rot="574600">
            <a:off x="1231270" y="2179482"/>
            <a:ext cx="361950" cy="363537"/>
          </a:xfrm>
          <a:prstGeom prst="ellipse">
            <a:avLst/>
          </a:prstGeom>
          <a:solidFill>
            <a:srgbClr val="3BCCFF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eaLnBrk="1" hangingPunct="1">
              <a:buFont typeface="Arial" pitchFamily="34" charset="0"/>
              <a:buNone/>
              <a:defRPr/>
            </a:pPr>
            <a:endParaRPr lang="zh-CN" altLang="en-US" dirty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39" name="TextBox 38"/>
          <p:cNvSpPr txBox="1">
            <a:spLocks noChangeArrowheads="1"/>
          </p:cNvSpPr>
          <p:nvPr/>
        </p:nvSpPr>
        <p:spPr bwMode="auto">
          <a:xfrm>
            <a:off x="1238414" y="2170162"/>
            <a:ext cx="3476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b="1">
                <a:solidFill>
                  <a:schemeClr val="bg1"/>
                </a:solidFill>
                <a:latin typeface="Verdana" pitchFamily="34" charset="0"/>
              </a:rPr>
              <a:t>1</a:t>
            </a:r>
            <a:endParaRPr lang="zh-CN" altLang="en-US" b="1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2916337" y="3039779"/>
            <a:ext cx="3671887" cy="610936"/>
          </a:xfrm>
          <a:prstGeom prst="rect">
            <a:avLst/>
          </a:prstGeom>
        </p:spPr>
        <p:txBody>
          <a:bodyPr>
            <a:spAutoFit/>
          </a:bodyPr>
          <a:lstStyle/>
          <a:p>
            <a:pPr marL="228600" indent="-228600">
              <a:lnSpc>
                <a:spcPct val="130000"/>
              </a:lnSpc>
              <a:spcAft>
                <a:spcPts val="300"/>
              </a:spcAft>
              <a:buFont typeface="+mj-ea"/>
              <a:buAutoNum type="circleNumDbPlain"/>
            </a:pP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设置编码方式</a:t>
            </a:r>
            <a:endParaRPr lang="en-US" altLang="zh-CN" sz="12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28600" indent="-228600">
              <a:lnSpc>
                <a:spcPct val="130000"/>
              </a:lnSpc>
              <a:spcAft>
                <a:spcPts val="300"/>
              </a:spcAft>
              <a:buFont typeface="+mj-ea"/>
              <a:buAutoNum type="circleNumDbPlain"/>
            </a:pP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查看运行结果</a:t>
            </a:r>
            <a:endParaRPr lang="en-US" altLang="zh-CN" sz="12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2916338" y="2188418"/>
            <a:ext cx="2339102" cy="308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  <a:defRPr/>
            </a:pP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解决请求参数的中文乱码问题。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标题 1"/>
          <p:cNvSpPr>
            <a:spLocks noChangeArrowheads="1"/>
          </p:cNvSpPr>
          <p:nvPr/>
        </p:nvSpPr>
        <p:spPr bwMode="auto">
          <a:xfrm>
            <a:off x="1643733" y="389681"/>
            <a:ext cx="6960715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28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【</a:t>
            </a:r>
            <a:r>
              <a:rPr lang="zh-CN" altLang="en-US" sz="28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任务</a:t>
            </a:r>
            <a:r>
              <a:rPr lang="en-US" altLang="zh-CN" sz="28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4-3】</a:t>
            </a:r>
            <a:r>
              <a:rPr lang="zh-CN" altLang="en-US" sz="28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解决请求参数的中文乱码问题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04392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14" grpId="0" animBg="1"/>
      <p:bldP spid="14" grpId="1" animBg="1"/>
      <p:bldP spid="16" grpId="0" animBg="1"/>
      <p:bldP spid="16" grpId="1" animBg="1"/>
      <p:bldP spid="18" grpId="0" animBg="1"/>
      <p:bldP spid="18" grpId="1" animBg="1"/>
      <p:bldP spid="19" grpId="0"/>
      <p:bldP spid="19" grpId="1"/>
      <p:bldP spid="31" grpId="0" animBg="1"/>
      <p:bldP spid="32" grpId="0"/>
      <p:bldP spid="33" grpId="0"/>
      <p:bldP spid="34" grpId="0" animBg="1"/>
      <p:bldP spid="35" grpId="0"/>
      <p:bldP spid="38" grpId="0" animBg="1"/>
      <p:bldP spid="39" grpId="0"/>
      <p:bldP spid="40" grpId="0"/>
      <p:bldP spid="4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251520" y="923156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grpSp>
        <p:nvGrpSpPr>
          <p:cNvPr id="4" name="Group 31"/>
          <p:cNvGrpSpPr>
            <a:grpSpLocks/>
          </p:cNvGrpSpPr>
          <p:nvPr/>
        </p:nvGrpSpPr>
        <p:grpSpPr bwMode="auto">
          <a:xfrm>
            <a:off x="1400175" y="2316466"/>
            <a:ext cx="2203450" cy="1706562"/>
            <a:chOff x="693040" y="603507"/>
            <a:chExt cx="2161419" cy="2119460"/>
          </a:xfrm>
        </p:grpSpPr>
        <p:grpSp>
          <p:nvGrpSpPr>
            <p:cNvPr id="5" name="Group 8"/>
            <p:cNvGrpSpPr>
              <a:grpSpLocks/>
            </p:cNvGrpSpPr>
            <p:nvPr/>
          </p:nvGrpSpPr>
          <p:grpSpPr bwMode="auto">
            <a:xfrm>
              <a:off x="693040" y="603507"/>
              <a:ext cx="2161419" cy="2119460"/>
              <a:chOff x="464440" y="426723"/>
              <a:chExt cx="2161419" cy="2119460"/>
            </a:xfrm>
          </p:grpSpPr>
          <p:sp>
            <p:nvSpPr>
              <p:cNvPr id="7" name="Freeform 6"/>
              <p:cNvSpPr>
                <a:spLocks/>
              </p:cNvSpPr>
              <p:nvPr/>
            </p:nvSpPr>
            <p:spPr bwMode="auto">
              <a:xfrm rot="346487">
                <a:off x="499719" y="483481"/>
                <a:ext cx="2126140" cy="2062702"/>
              </a:xfrm>
              <a:custGeom>
                <a:avLst/>
                <a:gdLst>
                  <a:gd name="T0" fmla="*/ 2147483647 w 2279"/>
                  <a:gd name="T1" fmla="*/ 0 h 2211"/>
                  <a:gd name="T2" fmla="*/ 2147483647 w 2279"/>
                  <a:gd name="T3" fmla="*/ 2147483647 h 2211"/>
                  <a:gd name="T4" fmla="*/ 2147483647 w 2279"/>
                  <a:gd name="T5" fmla="*/ 2147483647 h 2211"/>
                  <a:gd name="T6" fmla="*/ 2147483647 w 2279"/>
                  <a:gd name="T7" fmla="*/ 2147483647 h 2211"/>
                  <a:gd name="T8" fmla="*/ 2147483647 w 2279"/>
                  <a:gd name="T9" fmla="*/ 2147483647 h 2211"/>
                  <a:gd name="T10" fmla="*/ 2147483647 w 2279"/>
                  <a:gd name="T11" fmla="*/ 2147483647 h 2211"/>
                  <a:gd name="T12" fmla="*/ 2147483647 w 2279"/>
                  <a:gd name="T13" fmla="*/ 2147483647 h 2211"/>
                  <a:gd name="T14" fmla="*/ 2147483647 w 2279"/>
                  <a:gd name="T15" fmla="*/ 2147483647 h 2211"/>
                  <a:gd name="T16" fmla="*/ 2147483647 w 2279"/>
                  <a:gd name="T17" fmla="*/ 2147483647 h 2211"/>
                  <a:gd name="T18" fmla="*/ 2147483647 w 2279"/>
                  <a:gd name="T19" fmla="*/ 2147483647 h 2211"/>
                  <a:gd name="T20" fmla="*/ 2147483647 w 2279"/>
                  <a:gd name="T21" fmla="*/ 2147483647 h 2211"/>
                  <a:gd name="T22" fmla="*/ 2147483647 w 2279"/>
                  <a:gd name="T23" fmla="*/ 2147483647 h 2211"/>
                  <a:gd name="T24" fmla="*/ 2147483647 w 2279"/>
                  <a:gd name="T25" fmla="*/ 2147483647 h 2211"/>
                  <a:gd name="T26" fmla="*/ 2147483647 w 2279"/>
                  <a:gd name="T27" fmla="*/ 2147483647 h 2211"/>
                  <a:gd name="T28" fmla="*/ 2147483647 w 2279"/>
                  <a:gd name="T29" fmla="*/ 2147483647 h 2211"/>
                  <a:gd name="T30" fmla="*/ 2147483647 w 2279"/>
                  <a:gd name="T31" fmla="*/ 2147483647 h 2211"/>
                  <a:gd name="T32" fmla="*/ 2147483647 w 2279"/>
                  <a:gd name="T33" fmla="*/ 2147483647 h 2211"/>
                  <a:gd name="T34" fmla="*/ 2147483647 w 2279"/>
                  <a:gd name="T35" fmla="*/ 2147483647 h 2211"/>
                  <a:gd name="T36" fmla="*/ 2147483647 w 2279"/>
                  <a:gd name="T37" fmla="*/ 2147483647 h 2211"/>
                  <a:gd name="T38" fmla="*/ 2147483647 w 2279"/>
                  <a:gd name="T39" fmla="*/ 2147483647 h 2211"/>
                  <a:gd name="T40" fmla="*/ 2147483647 w 2279"/>
                  <a:gd name="T41" fmla="*/ 2147483647 h 2211"/>
                  <a:gd name="T42" fmla="*/ 2147483647 w 2279"/>
                  <a:gd name="T43" fmla="*/ 2147483647 h 2211"/>
                  <a:gd name="T44" fmla="*/ 2147483647 w 2279"/>
                  <a:gd name="T45" fmla="*/ 2147483647 h 2211"/>
                  <a:gd name="T46" fmla="*/ 2147483647 w 2279"/>
                  <a:gd name="T47" fmla="*/ 2147483647 h 2211"/>
                  <a:gd name="T48" fmla="*/ 2147483647 w 2279"/>
                  <a:gd name="T49" fmla="*/ 2147483647 h 2211"/>
                  <a:gd name="T50" fmla="*/ 2147483647 w 2279"/>
                  <a:gd name="T51" fmla="*/ 2147483647 h 2211"/>
                  <a:gd name="T52" fmla="*/ 2147483647 w 2279"/>
                  <a:gd name="T53" fmla="*/ 2147483647 h 2211"/>
                  <a:gd name="T54" fmla="*/ 2147483647 w 2279"/>
                  <a:gd name="T55" fmla="*/ 2147483647 h 2211"/>
                  <a:gd name="T56" fmla="*/ 2147483647 w 2279"/>
                  <a:gd name="T57" fmla="*/ 2147483647 h 2211"/>
                  <a:gd name="T58" fmla="*/ 2147483647 w 2279"/>
                  <a:gd name="T59" fmla="*/ 2147483647 h 2211"/>
                  <a:gd name="T60" fmla="*/ 2147483647 w 2279"/>
                  <a:gd name="T61" fmla="*/ 2147483647 h 2211"/>
                  <a:gd name="T62" fmla="*/ 0 w 2279"/>
                  <a:gd name="T63" fmla="*/ 2147483647 h 2211"/>
                  <a:gd name="T64" fmla="*/ 2147483647 w 2279"/>
                  <a:gd name="T65" fmla="*/ 0 h 221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279"/>
                  <a:gd name="T100" fmla="*/ 0 h 2211"/>
                  <a:gd name="T101" fmla="*/ 2279 w 2279"/>
                  <a:gd name="T102" fmla="*/ 2211 h 2211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279" h="2211">
                    <a:moveTo>
                      <a:pt x="2197" y="0"/>
                    </a:moveTo>
                    <a:lnTo>
                      <a:pt x="2233" y="377"/>
                    </a:lnTo>
                    <a:lnTo>
                      <a:pt x="2237" y="437"/>
                    </a:lnTo>
                    <a:lnTo>
                      <a:pt x="2242" y="588"/>
                    </a:lnTo>
                    <a:lnTo>
                      <a:pt x="2247" y="785"/>
                    </a:lnTo>
                    <a:lnTo>
                      <a:pt x="2249" y="886"/>
                    </a:lnTo>
                    <a:lnTo>
                      <a:pt x="2249" y="984"/>
                    </a:lnTo>
                    <a:lnTo>
                      <a:pt x="2249" y="1103"/>
                    </a:lnTo>
                    <a:lnTo>
                      <a:pt x="2253" y="1265"/>
                    </a:lnTo>
                    <a:lnTo>
                      <a:pt x="2263" y="1641"/>
                    </a:lnTo>
                    <a:lnTo>
                      <a:pt x="2279" y="2113"/>
                    </a:lnTo>
                    <a:lnTo>
                      <a:pt x="1894" y="2135"/>
                    </a:lnTo>
                    <a:lnTo>
                      <a:pt x="1154" y="2175"/>
                    </a:lnTo>
                    <a:lnTo>
                      <a:pt x="971" y="2184"/>
                    </a:lnTo>
                    <a:lnTo>
                      <a:pt x="781" y="2193"/>
                    </a:lnTo>
                    <a:lnTo>
                      <a:pt x="595" y="2199"/>
                    </a:lnTo>
                    <a:lnTo>
                      <a:pt x="421" y="2204"/>
                    </a:lnTo>
                    <a:lnTo>
                      <a:pt x="149" y="2209"/>
                    </a:lnTo>
                    <a:lnTo>
                      <a:pt x="43" y="2211"/>
                    </a:lnTo>
                    <a:lnTo>
                      <a:pt x="37" y="1740"/>
                    </a:lnTo>
                    <a:lnTo>
                      <a:pt x="32" y="1350"/>
                    </a:lnTo>
                    <a:lnTo>
                      <a:pt x="28" y="1034"/>
                    </a:lnTo>
                    <a:lnTo>
                      <a:pt x="21" y="810"/>
                    </a:lnTo>
                    <a:lnTo>
                      <a:pt x="14" y="624"/>
                    </a:lnTo>
                    <a:lnTo>
                      <a:pt x="7" y="446"/>
                    </a:lnTo>
                    <a:lnTo>
                      <a:pt x="0" y="128"/>
                    </a:lnTo>
                    <a:lnTo>
                      <a:pt x="219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00">
                      <a:alpha val="57999"/>
                    </a:srgbClr>
                  </a:gs>
                  <a:gs pos="100000">
                    <a:srgbClr val="949494">
                      <a:alpha val="0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kumimoji="1" lang="en-US" altLang="zh-CN">
                    <a:ea typeface="PMingLiU" pitchFamily="18" charset="-120"/>
                  </a:rPr>
                  <a:t>  </a:t>
                </a:r>
              </a:p>
            </p:txBody>
          </p:sp>
          <p:sp>
            <p:nvSpPr>
              <p:cNvPr id="8" name="Freeform 6"/>
              <p:cNvSpPr>
                <a:spLocks/>
              </p:cNvSpPr>
              <p:nvPr/>
            </p:nvSpPr>
            <p:spPr bwMode="auto">
              <a:xfrm rot="485220">
                <a:off x="464440" y="426723"/>
                <a:ext cx="2133599" cy="2069938"/>
              </a:xfrm>
              <a:custGeom>
                <a:avLst/>
                <a:gdLst>
                  <a:gd name="T0" fmla="*/ 2147483647 w 2279"/>
                  <a:gd name="T1" fmla="*/ 0 h 2211"/>
                  <a:gd name="T2" fmla="*/ 2147483647 w 2279"/>
                  <a:gd name="T3" fmla="*/ 2147483647 h 2211"/>
                  <a:gd name="T4" fmla="*/ 2147483647 w 2279"/>
                  <a:gd name="T5" fmla="*/ 2147483647 h 2211"/>
                  <a:gd name="T6" fmla="*/ 2147483647 w 2279"/>
                  <a:gd name="T7" fmla="*/ 2147483647 h 2211"/>
                  <a:gd name="T8" fmla="*/ 2147483647 w 2279"/>
                  <a:gd name="T9" fmla="*/ 2147483647 h 2211"/>
                  <a:gd name="T10" fmla="*/ 2147483647 w 2279"/>
                  <a:gd name="T11" fmla="*/ 2147483647 h 2211"/>
                  <a:gd name="T12" fmla="*/ 2147483647 w 2279"/>
                  <a:gd name="T13" fmla="*/ 2147483647 h 2211"/>
                  <a:gd name="T14" fmla="*/ 2147483647 w 2279"/>
                  <a:gd name="T15" fmla="*/ 2147483647 h 2211"/>
                  <a:gd name="T16" fmla="*/ 2147483647 w 2279"/>
                  <a:gd name="T17" fmla="*/ 2147483647 h 2211"/>
                  <a:gd name="T18" fmla="*/ 2147483647 w 2279"/>
                  <a:gd name="T19" fmla="*/ 2147483647 h 2211"/>
                  <a:gd name="T20" fmla="*/ 2147483647 w 2279"/>
                  <a:gd name="T21" fmla="*/ 2147483647 h 2211"/>
                  <a:gd name="T22" fmla="*/ 2147483647 w 2279"/>
                  <a:gd name="T23" fmla="*/ 2147483647 h 2211"/>
                  <a:gd name="T24" fmla="*/ 2147483647 w 2279"/>
                  <a:gd name="T25" fmla="*/ 2147483647 h 2211"/>
                  <a:gd name="T26" fmla="*/ 2147483647 w 2279"/>
                  <a:gd name="T27" fmla="*/ 2147483647 h 2211"/>
                  <a:gd name="T28" fmla="*/ 2147483647 w 2279"/>
                  <a:gd name="T29" fmla="*/ 2147483647 h 2211"/>
                  <a:gd name="T30" fmla="*/ 2147483647 w 2279"/>
                  <a:gd name="T31" fmla="*/ 2147483647 h 2211"/>
                  <a:gd name="T32" fmla="*/ 2147483647 w 2279"/>
                  <a:gd name="T33" fmla="*/ 2147483647 h 2211"/>
                  <a:gd name="T34" fmla="*/ 2147483647 w 2279"/>
                  <a:gd name="T35" fmla="*/ 2147483647 h 2211"/>
                  <a:gd name="T36" fmla="*/ 2147483647 w 2279"/>
                  <a:gd name="T37" fmla="*/ 2147483647 h 2211"/>
                  <a:gd name="T38" fmla="*/ 2147483647 w 2279"/>
                  <a:gd name="T39" fmla="*/ 2147483647 h 2211"/>
                  <a:gd name="T40" fmla="*/ 2147483647 w 2279"/>
                  <a:gd name="T41" fmla="*/ 2147483647 h 2211"/>
                  <a:gd name="T42" fmla="*/ 2147483647 w 2279"/>
                  <a:gd name="T43" fmla="*/ 2147483647 h 2211"/>
                  <a:gd name="T44" fmla="*/ 2147483647 w 2279"/>
                  <a:gd name="T45" fmla="*/ 2147483647 h 2211"/>
                  <a:gd name="T46" fmla="*/ 2147483647 w 2279"/>
                  <a:gd name="T47" fmla="*/ 2147483647 h 2211"/>
                  <a:gd name="T48" fmla="*/ 2147483647 w 2279"/>
                  <a:gd name="T49" fmla="*/ 2147483647 h 2211"/>
                  <a:gd name="T50" fmla="*/ 2147483647 w 2279"/>
                  <a:gd name="T51" fmla="*/ 2147483647 h 2211"/>
                  <a:gd name="T52" fmla="*/ 2147483647 w 2279"/>
                  <a:gd name="T53" fmla="*/ 2147483647 h 2211"/>
                  <a:gd name="T54" fmla="*/ 2147483647 w 2279"/>
                  <a:gd name="T55" fmla="*/ 2147483647 h 2211"/>
                  <a:gd name="T56" fmla="*/ 2147483647 w 2279"/>
                  <a:gd name="T57" fmla="*/ 2147483647 h 2211"/>
                  <a:gd name="T58" fmla="*/ 2147483647 w 2279"/>
                  <a:gd name="T59" fmla="*/ 2147483647 h 2211"/>
                  <a:gd name="T60" fmla="*/ 2147483647 w 2279"/>
                  <a:gd name="T61" fmla="*/ 2147483647 h 2211"/>
                  <a:gd name="T62" fmla="*/ 0 w 2279"/>
                  <a:gd name="T63" fmla="*/ 2147483647 h 2211"/>
                  <a:gd name="T64" fmla="*/ 2147483647 w 2279"/>
                  <a:gd name="T65" fmla="*/ 0 h 221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279"/>
                  <a:gd name="T100" fmla="*/ 0 h 2211"/>
                  <a:gd name="T101" fmla="*/ 2279 w 2279"/>
                  <a:gd name="T102" fmla="*/ 2211 h 2211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279" h="2211">
                    <a:moveTo>
                      <a:pt x="2197" y="0"/>
                    </a:moveTo>
                    <a:lnTo>
                      <a:pt x="2233" y="377"/>
                    </a:lnTo>
                    <a:lnTo>
                      <a:pt x="2237" y="437"/>
                    </a:lnTo>
                    <a:lnTo>
                      <a:pt x="2242" y="588"/>
                    </a:lnTo>
                    <a:lnTo>
                      <a:pt x="2247" y="785"/>
                    </a:lnTo>
                    <a:lnTo>
                      <a:pt x="2249" y="886"/>
                    </a:lnTo>
                    <a:lnTo>
                      <a:pt x="2249" y="984"/>
                    </a:lnTo>
                    <a:lnTo>
                      <a:pt x="2249" y="1103"/>
                    </a:lnTo>
                    <a:lnTo>
                      <a:pt x="2253" y="1265"/>
                    </a:lnTo>
                    <a:lnTo>
                      <a:pt x="2263" y="1641"/>
                    </a:lnTo>
                    <a:lnTo>
                      <a:pt x="2279" y="2113"/>
                    </a:lnTo>
                    <a:lnTo>
                      <a:pt x="1894" y="2135"/>
                    </a:lnTo>
                    <a:lnTo>
                      <a:pt x="1154" y="2175"/>
                    </a:lnTo>
                    <a:lnTo>
                      <a:pt x="971" y="2184"/>
                    </a:lnTo>
                    <a:lnTo>
                      <a:pt x="781" y="2193"/>
                    </a:lnTo>
                    <a:lnTo>
                      <a:pt x="595" y="2199"/>
                    </a:lnTo>
                    <a:lnTo>
                      <a:pt x="421" y="2204"/>
                    </a:lnTo>
                    <a:lnTo>
                      <a:pt x="149" y="2209"/>
                    </a:lnTo>
                    <a:lnTo>
                      <a:pt x="43" y="2211"/>
                    </a:lnTo>
                    <a:lnTo>
                      <a:pt x="37" y="1740"/>
                    </a:lnTo>
                    <a:lnTo>
                      <a:pt x="32" y="1350"/>
                    </a:lnTo>
                    <a:lnTo>
                      <a:pt x="28" y="1034"/>
                    </a:lnTo>
                    <a:lnTo>
                      <a:pt x="21" y="810"/>
                    </a:lnTo>
                    <a:lnTo>
                      <a:pt x="14" y="624"/>
                    </a:lnTo>
                    <a:lnTo>
                      <a:pt x="7" y="446"/>
                    </a:lnTo>
                    <a:lnTo>
                      <a:pt x="0" y="128"/>
                    </a:lnTo>
                    <a:lnTo>
                      <a:pt x="219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FCF5B"/>
                  </a:gs>
                  <a:gs pos="31000">
                    <a:srgbClr val="F3E897"/>
                  </a:gs>
                  <a:gs pos="100000">
                    <a:srgbClr val="F3E897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" name="TextBox 15"/>
            <p:cNvSpPr txBox="1">
              <a:spLocks noChangeArrowheads="1"/>
            </p:cNvSpPr>
            <p:nvPr/>
          </p:nvSpPr>
          <p:spPr bwMode="auto">
            <a:xfrm rot="348327">
              <a:off x="769240" y="1049532"/>
              <a:ext cx="1981200" cy="1284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85000"/>
                </a:lnSpc>
              </a:pPr>
              <a:r>
                <a:rPr kumimoji="1" lang="en-US" altLang="zh-CN">
                  <a:latin typeface="Arial Narrow" pitchFamily="34" charset="0"/>
                  <a:ea typeface="PMingLiU" pitchFamily="18" charset="-120"/>
                </a:rPr>
                <a:t>setAttribute()</a:t>
              </a:r>
              <a:r>
                <a:rPr kumimoji="1" lang="zh-CN" altLang="en-US">
                  <a:latin typeface="Arial Narrow" pitchFamily="34" charset="0"/>
                  <a:ea typeface="PMingLiU" pitchFamily="18" charset="-120"/>
                </a:rPr>
                <a:t>方法</a:t>
              </a:r>
              <a:endParaRPr kumimoji="1" lang="en-US" altLang="zh-CN">
                <a:latin typeface="Arial Narrow" pitchFamily="34" charset="0"/>
                <a:ea typeface="PMingLiU" pitchFamily="18" charset="-120"/>
              </a:endParaRPr>
            </a:p>
            <a:p>
              <a:pPr algn="ctr">
                <a:lnSpc>
                  <a:spcPct val="85000"/>
                </a:lnSpc>
              </a:pPr>
              <a:r>
                <a:rPr kumimoji="1" lang="zh-CN" altLang="en-US">
                  <a:latin typeface="Arial Narrow" pitchFamily="34" charset="0"/>
                  <a:ea typeface="PMingLiU" pitchFamily="18" charset="-120"/>
                </a:rPr>
                <a:t>将一个对象与一个名称关联后存储进</a:t>
              </a:r>
              <a:r>
                <a:rPr kumimoji="1" lang="en-US" altLang="zh-CN">
                  <a:latin typeface="Arial Narrow" pitchFamily="34" charset="0"/>
                  <a:ea typeface="PMingLiU" pitchFamily="18" charset="-120"/>
                </a:rPr>
                <a:t>ServletRequest</a:t>
              </a:r>
              <a:r>
                <a:rPr kumimoji="1" lang="zh-CN" altLang="en-US">
                  <a:latin typeface="Arial Narrow" pitchFamily="34" charset="0"/>
                  <a:ea typeface="PMingLiU" pitchFamily="18" charset="-120"/>
                </a:rPr>
                <a:t>对象</a:t>
              </a:r>
              <a:endParaRPr kumimoji="1" lang="en-US" altLang="zh-CN">
                <a:latin typeface="Arial Narrow" pitchFamily="34" charset="0"/>
                <a:ea typeface="PMingLiU" pitchFamily="18" charset="-120"/>
              </a:endParaRPr>
            </a:p>
          </p:txBody>
        </p:sp>
      </p:grpSp>
      <p:grpSp>
        <p:nvGrpSpPr>
          <p:cNvPr id="9" name="Group 32"/>
          <p:cNvGrpSpPr>
            <a:grpSpLocks/>
          </p:cNvGrpSpPr>
          <p:nvPr/>
        </p:nvGrpSpPr>
        <p:grpSpPr bwMode="auto">
          <a:xfrm>
            <a:off x="4406918" y="2072655"/>
            <a:ext cx="2017712" cy="1900237"/>
            <a:chOff x="3162519" y="727487"/>
            <a:chExt cx="2168659" cy="2113367"/>
          </a:xfrm>
        </p:grpSpPr>
        <p:grpSp>
          <p:nvGrpSpPr>
            <p:cNvPr id="10" name="Group 9"/>
            <p:cNvGrpSpPr>
              <a:grpSpLocks/>
            </p:cNvGrpSpPr>
            <p:nvPr/>
          </p:nvGrpSpPr>
          <p:grpSpPr bwMode="auto">
            <a:xfrm rot="-396937">
              <a:off x="3162519" y="727487"/>
              <a:ext cx="2168659" cy="2113367"/>
              <a:chOff x="457200" y="432816"/>
              <a:chExt cx="2168659" cy="2113367"/>
            </a:xfrm>
          </p:grpSpPr>
          <p:sp>
            <p:nvSpPr>
              <p:cNvPr id="12" name="Freeform 6"/>
              <p:cNvSpPr>
                <a:spLocks/>
              </p:cNvSpPr>
              <p:nvPr/>
            </p:nvSpPr>
            <p:spPr bwMode="auto">
              <a:xfrm rot="346487">
                <a:off x="499719" y="483481"/>
                <a:ext cx="2126140" cy="2062702"/>
              </a:xfrm>
              <a:custGeom>
                <a:avLst/>
                <a:gdLst>
                  <a:gd name="T0" fmla="*/ 2147483647 w 2279"/>
                  <a:gd name="T1" fmla="*/ 0 h 2211"/>
                  <a:gd name="T2" fmla="*/ 2147483647 w 2279"/>
                  <a:gd name="T3" fmla="*/ 2147483647 h 2211"/>
                  <a:gd name="T4" fmla="*/ 2147483647 w 2279"/>
                  <a:gd name="T5" fmla="*/ 2147483647 h 2211"/>
                  <a:gd name="T6" fmla="*/ 2147483647 w 2279"/>
                  <a:gd name="T7" fmla="*/ 2147483647 h 2211"/>
                  <a:gd name="T8" fmla="*/ 2147483647 w 2279"/>
                  <a:gd name="T9" fmla="*/ 2147483647 h 2211"/>
                  <a:gd name="T10" fmla="*/ 2147483647 w 2279"/>
                  <a:gd name="T11" fmla="*/ 2147483647 h 2211"/>
                  <a:gd name="T12" fmla="*/ 2147483647 w 2279"/>
                  <a:gd name="T13" fmla="*/ 2147483647 h 2211"/>
                  <a:gd name="T14" fmla="*/ 2147483647 w 2279"/>
                  <a:gd name="T15" fmla="*/ 2147483647 h 2211"/>
                  <a:gd name="T16" fmla="*/ 2147483647 w 2279"/>
                  <a:gd name="T17" fmla="*/ 2147483647 h 2211"/>
                  <a:gd name="T18" fmla="*/ 2147483647 w 2279"/>
                  <a:gd name="T19" fmla="*/ 2147483647 h 2211"/>
                  <a:gd name="T20" fmla="*/ 2147483647 w 2279"/>
                  <a:gd name="T21" fmla="*/ 2147483647 h 2211"/>
                  <a:gd name="T22" fmla="*/ 2147483647 w 2279"/>
                  <a:gd name="T23" fmla="*/ 2147483647 h 2211"/>
                  <a:gd name="T24" fmla="*/ 2147483647 w 2279"/>
                  <a:gd name="T25" fmla="*/ 2147483647 h 2211"/>
                  <a:gd name="T26" fmla="*/ 2147483647 w 2279"/>
                  <a:gd name="T27" fmla="*/ 2147483647 h 2211"/>
                  <a:gd name="T28" fmla="*/ 2147483647 w 2279"/>
                  <a:gd name="T29" fmla="*/ 2147483647 h 2211"/>
                  <a:gd name="T30" fmla="*/ 2147483647 w 2279"/>
                  <a:gd name="T31" fmla="*/ 2147483647 h 2211"/>
                  <a:gd name="T32" fmla="*/ 2147483647 w 2279"/>
                  <a:gd name="T33" fmla="*/ 2147483647 h 2211"/>
                  <a:gd name="T34" fmla="*/ 2147483647 w 2279"/>
                  <a:gd name="T35" fmla="*/ 2147483647 h 2211"/>
                  <a:gd name="T36" fmla="*/ 2147483647 w 2279"/>
                  <a:gd name="T37" fmla="*/ 2147483647 h 2211"/>
                  <a:gd name="T38" fmla="*/ 2147483647 w 2279"/>
                  <a:gd name="T39" fmla="*/ 2147483647 h 2211"/>
                  <a:gd name="T40" fmla="*/ 2147483647 w 2279"/>
                  <a:gd name="T41" fmla="*/ 2147483647 h 2211"/>
                  <a:gd name="T42" fmla="*/ 2147483647 w 2279"/>
                  <a:gd name="T43" fmla="*/ 2147483647 h 2211"/>
                  <a:gd name="T44" fmla="*/ 2147483647 w 2279"/>
                  <a:gd name="T45" fmla="*/ 2147483647 h 2211"/>
                  <a:gd name="T46" fmla="*/ 2147483647 w 2279"/>
                  <a:gd name="T47" fmla="*/ 2147483647 h 2211"/>
                  <a:gd name="T48" fmla="*/ 2147483647 w 2279"/>
                  <a:gd name="T49" fmla="*/ 2147483647 h 2211"/>
                  <a:gd name="T50" fmla="*/ 2147483647 w 2279"/>
                  <a:gd name="T51" fmla="*/ 2147483647 h 2211"/>
                  <a:gd name="T52" fmla="*/ 2147483647 w 2279"/>
                  <a:gd name="T53" fmla="*/ 2147483647 h 2211"/>
                  <a:gd name="T54" fmla="*/ 2147483647 w 2279"/>
                  <a:gd name="T55" fmla="*/ 2147483647 h 2211"/>
                  <a:gd name="T56" fmla="*/ 2147483647 w 2279"/>
                  <a:gd name="T57" fmla="*/ 2147483647 h 2211"/>
                  <a:gd name="T58" fmla="*/ 2147483647 w 2279"/>
                  <a:gd name="T59" fmla="*/ 2147483647 h 2211"/>
                  <a:gd name="T60" fmla="*/ 2147483647 w 2279"/>
                  <a:gd name="T61" fmla="*/ 2147483647 h 2211"/>
                  <a:gd name="T62" fmla="*/ 0 w 2279"/>
                  <a:gd name="T63" fmla="*/ 2147483647 h 2211"/>
                  <a:gd name="T64" fmla="*/ 2147483647 w 2279"/>
                  <a:gd name="T65" fmla="*/ 0 h 221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279"/>
                  <a:gd name="T100" fmla="*/ 0 h 2211"/>
                  <a:gd name="T101" fmla="*/ 2279 w 2279"/>
                  <a:gd name="T102" fmla="*/ 2211 h 2211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279" h="2211">
                    <a:moveTo>
                      <a:pt x="2197" y="0"/>
                    </a:moveTo>
                    <a:lnTo>
                      <a:pt x="2233" y="377"/>
                    </a:lnTo>
                    <a:lnTo>
                      <a:pt x="2237" y="437"/>
                    </a:lnTo>
                    <a:lnTo>
                      <a:pt x="2242" y="588"/>
                    </a:lnTo>
                    <a:lnTo>
                      <a:pt x="2247" y="785"/>
                    </a:lnTo>
                    <a:lnTo>
                      <a:pt x="2249" y="886"/>
                    </a:lnTo>
                    <a:lnTo>
                      <a:pt x="2249" y="984"/>
                    </a:lnTo>
                    <a:lnTo>
                      <a:pt x="2249" y="1103"/>
                    </a:lnTo>
                    <a:lnTo>
                      <a:pt x="2253" y="1265"/>
                    </a:lnTo>
                    <a:lnTo>
                      <a:pt x="2263" y="1641"/>
                    </a:lnTo>
                    <a:lnTo>
                      <a:pt x="2279" y="2113"/>
                    </a:lnTo>
                    <a:lnTo>
                      <a:pt x="1894" y="2135"/>
                    </a:lnTo>
                    <a:lnTo>
                      <a:pt x="1154" y="2175"/>
                    </a:lnTo>
                    <a:lnTo>
                      <a:pt x="971" y="2184"/>
                    </a:lnTo>
                    <a:lnTo>
                      <a:pt x="781" y="2193"/>
                    </a:lnTo>
                    <a:lnTo>
                      <a:pt x="595" y="2199"/>
                    </a:lnTo>
                    <a:lnTo>
                      <a:pt x="421" y="2204"/>
                    </a:lnTo>
                    <a:lnTo>
                      <a:pt x="149" y="2209"/>
                    </a:lnTo>
                    <a:lnTo>
                      <a:pt x="43" y="2211"/>
                    </a:lnTo>
                    <a:lnTo>
                      <a:pt x="37" y="1740"/>
                    </a:lnTo>
                    <a:lnTo>
                      <a:pt x="32" y="1350"/>
                    </a:lnTo>
                    <a:lnTo>
                      <a:pt x="28" y="1034"/>
                    </a:lnTo>
                    <a:lnTo>
                      <a:pt x="21" y="810"/>
                    </a:lnTo>
                    <a:lnTo>
                      <a:pt x="14" y="624"/>
                    </a:lnTo>
                    <a:lnTo>
                      <a:pt x="7" y="446"/>
                    </a:lnTo>
                    <a:lnTo>
                      <a:pt x="0" y="128"/>
                    </a:lnTo>
                    <a:lnTo>
                      <a:pt x="219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00">
                      <a:alpha val="57999"/>
                    </a:srgbClr>
                  </a:gs>
                  <a:gs pos="100000">
                    <a:srgbClr val="949494">
                      <a:alpha val="0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kumimoji="1" lang="en-US" altLang="zh-CN">
                    <a:ea typeface="PMingLiU" pitchFamily="18" charset="-120"/>
                  </a:rPr>
                  <a:t>  </a:t>
                </a:r>
              </a:p>
            </p:txBody>
          </p:sp>
          <p:sp>
            <p:nvSpPr>
              <p:cNvPr id="13" name="Freeform 6"/>
              <p:cNvSpPr>
                <a:spLocks/>
              </p:cNvSpPr>
              <p:nvPr/>
            </p:nvSpPr>
            <p:spPr bwMode="auto">
              <a:xfrm rot="485220">
                <a:off x="457200" y="432816"/>
                <a:ext cx="2133599" cy="2069938"/>
              </a:xfrm>
              <a:custGeom>
                <a:avLst/>
                <a:gdLst>
                  <a:gd name="T0" fmla="*/ 2147483647 w 2279"/>
                  <a:gd name="T1" fmla="*/ 0 h 2211"/>
                  <a:gd name="T2" fmla="*/ 2147483647 w 2279"/>
                  <a:gd name="T3" fmla="*/ 2147483647 h 2211"/>
                  <a:gd name="T4" fmla="*/ 2147483647 w 2279"/>
                  <a:gd name="T5" fmla="*/ 2147483647 h 2211"/>
                  <a:gd name="T6" fmla="*/ 2147483647 w 2279"/>
                  <a:gd name="T7" fmla="*/ 2147483647 h 2211"/>
                  <a:gd name="T8" fmla="*/ 2147483647 w 2279"/>
                  <a:gd name="T9" fmla="*/ 2147483647 h 2211"/>
                  <a:gd name="T10" fmla="*/ 2147483647 w 2279"/>
                  <a:gd name="T11" fmla="*/ 2147483647 h 2211"/>
                  <a:gd name="T12" fmla="*/ 2147483647 w 2279"/>
                  <a:gd name="T13" fmla="*/ 2147483647 h 2211"/>
                  <a:gd name="T14" fmla="*/ 2147483647 w 2279"/>
                  <a:gd name="T15" fmla="*/ 2147483647 h 2211"/>
                  <a:gd name="T16" fmla="*/ 2147483647 w 2279"/>
                  <a:gd name="T17" fmla="*/ 2147483647 h 2211"/>
                  <a:gd name="T18" fmla="*/ 2147483647 w 2279"/>
                  <a:gd name="T19" fmla="*/ 2147483647 h 2211"/>
                  <a:gd name="T20" fmla="*/ 2147483647 w 2279"/>
                  <a:gd name="T21" fmla="*/ 2147483647 h 2211"/>
                  <a:gd name="T22" fmla="*/ 2147483647 w 2279"/>
                  <a:gd name="T23" fmla="*/ 2147483647 h 2211"/>
                  <a:gd name="T24" fmla="*/ 2147483647 w 2279"/>
                  <a:gd name="T25" fmla="*/ 2147483647 h 2211"/>
                  <a:gd name="T26" fmla="*/ 2147483647 w 2279"/>
                  <a:gd name="T27" fmla="*/ 2147483647 h 2211"/>
                  <a:gd name="T28" fmla="*/ 2147483647 w 2279"/>
                  <a:gd name="T29" fmla="*/ 2147483647 h 2211"/>
                  <a:gd name="T30" fmla="*/ 2147483647 w 2279"/>
                  <a:gd name="T31" fmla="*/ 2147483647 h 2211"/>
                  <a:gd name="T32" fmla="*/ 2147483647 w 2279"/>
                  <a:gd name="T33" fmla="*/ 2147483647 h 2211"/>
                  <a:gd name="T34" fmla="*/ 2147483647 w 2279"/>
                  <a:gd name="T35" fmla="*/ 2147483647 h 2211"/>
                  <a:gd name="T36" fmla="*/ 2147483647 w 2279"/>
                  <a:gd name="T37" fmla="*/ 2147483647 h 2211"/>
                  <a:gd name="T38" fmla="*/ 2147483647 w 2279"/>
                  <a:gd name="T39" fmla="*/ 2147483647 h 2211"/>
                  <a:gd name="T40" fmla="*/ 2147483647 w 2279"/>
                  <a:gd name="T41" fmla="*/ 2147483647 h 2211"/>
                  <a:gd name="T42" fmla="*/ 2147483647 w 2279"/>
                  <a:gd name="T43" fmla="*/ 2147483647 h 2211"/>
                  <a:gd name="T44" fmla="*/ 2147483647 w 2279"/>
                  <a:gd name="T45" fmla="*/ 2147483647 h 2211"/>
                  <a:gd name="T46" fmla="*/ 2147483647 w 2279"/>
                  <a:gd name="T47" fmla="*/ 2147483647 h 2211"/>
                  <a:gd name="T48" fmla="*/ 2147483647 w 2279"/>
                  <a:gd name="T49" fmla="*/ 2147483647 h 2211"/>
                  <a:gd name="T50" fmla="*/ 2147483647 w 2279"/>
                  <a:gd name="T51" fmla="*/ 2147483647 h 2211"/>
                  <a:gd name="T52" fmla="*/ 2147483647 w 2279"/>
                  <a:gd name="T53" fmla="*/ 2147483647 h 2211"/>
                  <a:gd name="T54" fmla="*/ 2147483647 w 2279"/>
                  <a:gd name="T55" fmla="*/ 2147483647 h 2211"/>
                  <a:gd name="T56" fmla="*/ 2147483647 w 2279"/>
                  <a:gd name="T57" fmla="*/ 2147483647 h 2211"/>
                  <a:gd name="T58" fmla="*/ 2147483647 w 2279"/>
                  <a:gd name="T59" fmla="*/ 2147483647 h 2211"/>
                  <a:gd name="T60" fmla="*/ 2147483647 w 2279"/>
                  <a:gd name="T61" fmla="*/ 2147483647 h 2211"/>
                  <a:gd name="T62" fmla="*/ 0 w 2279"/>
                  <a:gd name="T63" fmla="*/ 2147483647 h 2211"/>
                  <a:gd name="T64" fmla="*/ 2147483647 w 2279"/>
                  <a:gd name="T65" fmla="*/ 0 h 221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279"/>
                  <a:gd name="T100" fmla="*/ 0 h 2211"/>
                  <a:gd name="T101" fmla="*/ 2279 w 2279"/>
                  <a:gd name="T102" fmla="*/ 2211 h 2211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279" h="2211">
                    <a:moveTo>
                      <a:pt x="2197" y="0"/>
                    </a:moveTo>
                    <a:lnTo>
                      <a:pt x="2233" y="377"/>
                    </a:lnTo>
                    <a:lnTo>
                      <a:pt x="2237" y="437"/>
                    </a:lnTo>
                    <a:lnTo>
                      <a:pt x="2242" y="588"/>
                    </a:lnTo>
                    <a:lnTo>
                      <a:pt x="2247" y="785"/>
                    </a:lnTo>
                    <a:lnTo>
                      <a:pt x="2249" y="886"/>
                    </a:lnTo>
                    <a:lnTo>
                      <a:pt x="2249" y="984"/>
                    </a:lnTo>
                    <a:lnTo>
                      <a:pt x="2249" y="1103"/>
                    </a:lnTo>
                    <a:lnTo>
                      <a:pt x="2253" y="1265"/>
                    </a:lnTo>
                    <a:lnTo>
                      <a:pt x="2263" y="1641"/>
                    </a:lnTo>
                    <a:lnTo>
                      <a:pt x="2279" y="2113"/>
                    </a:lnTo>
                    <a:lnTo>
                      <a:pt x="1894" y="2135"/>
                    </a:lnTo>
                    <a:lnTo>
                      <a:pt x="1154" y="2175"/>
                    </a:lnTo>
                    <a:lnTo>
                      <a:pt x="971" y="2184"/>
                    </a:lnTo>
                    <a:lnTo>
                      <a:pt x="781" y="2193"/>
                    </a:lnTo>
                    <a:lnTo>
                      <a:pt x="595" y="2199"/>
                    </a:lnTo>
                    <a:lnTo>
                      <a:pt x="421" y="2204"/>
                    </a:lnTo>
                    <a:lnTo>
                      <a:pt x="149" y="2209"/>
                    </a:lnTo>
                    <a:lnTo>
                      <a:pt x="43" y="2211"/>
                    </a:lnTo>
                    <a:lnTo>
                      <a:pt x="37" y="1740"/>
                    </a:lnTo>
                    <a:lnTo>
                      <a:pt x="32" y="1350"/>
                    </a:lnTo>
                    <a:lnTo>
                      <a:pt x="28" y="1034"/>
                    </a:lnTo>
                    <a:lnTo>
                      <a:pt x="21" y="810"/>
                    </a:lnTo>
                    <a:lnTo>
                      <a:pt x="14" y="624"/>
                    </a:lnTo>
                    <a:lnTo>
                      <a:pt x="7" y="446"/>
                    </a:lnTo>
                    <a:lnTo>
                      <a:pt x="0" y="128"/>
                    </a:lnTo>
                    <a:lnTo>
                      <a:pt x="219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5584B7"/>
                  </a:gs>
                  <a:gs pos="31000">
                    <a:srgbClr val="80A7D6"/>
                  </a:gs>
                  <a:gs pos="100000">
                    <a:srgbClr val="80A7D6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" name="TextBox 16"/>
            <p:cNvSpPr txBox="1">
              <a:spLocks noChangeArrowheads="1"/>
            </p:cNvSpPr>
            <p:nvPr/>
          </p:nvSpPr>
          <p:spPr bwMode="auto">
            <a:xfrm rot="-60000">
              <a:off x="3237349" y="1190768"/>
              <a:ext cx="1981199" cy="1033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kumimoji="1" lang="en-US" altLang="zh-CN" sz="1600">
                  <a:latin typeface="Arial Narrow" pitchFamily="34" charset="0"/>
                  <a:ea typeface="PMingLiU" pitchFamily="18" charset="-120"/>
                </a:rPr>
                <a:t>getAttribute()</a:t>
              </a:r>
              <a:r>
                <a:rPr kumimoji="1" lang="zh-CN" altLang="en-US" sz="1600">
                  <a:latin typeface="Arial Narrow" pitchFamily="34" charset="0"/>
                  <a:ea typeface="PMingLiU" pitchFamily="18" charset="-120"/>
                </a:rPr>
                <a:t>方法</a:t>
              </a:r>
              <a:endParaRPr kumimoji="1" lang="en-US" altLang="zh-CN" sz="1600">
                <a:latin typeface="Arial Narrow" pitchFamily="34" charset="0"/>
                <a:ea typeface="PMingLiU" pitchFamily="18" charset="-120"/>
              </a:endParaRPr>
            </a:p>
            <a:p>
              <a:pPr>
                <a:lnSpc>
                  <a:spcPct val="85000"/>
                </a:lnSpc>
              </a:pPr>
              <a:r>
                <a:rPr kumimoji="1" lang="zh-CN" altLang="en-US" sz="1600">
                  <a:latin typeface="Arial Narrow" pitchFamily="34" charset="0"/>
                  <a:ea typeface="PMingLiU" pitchFamily="18" charset="-120"/>
                </a:rPr>
                <a:t>从</a:t>
              </a:r>
              <a:r>
                <a:rPr kumimoji="1" lang="en-US" altLang="zh-CN" sz="1600">
                  <a:latin typeface="Arial Narrow" pitchFamily="34" charset="0"/>
                  <a:ea typeface="PMingLiU" pitchFamily="18" charset="-120"/>
                </a:rPr>
                <a:t>ServletRequest</a:t>
              </a:r>
              <a:r>
                <a:rPr kumimoji="1" lang="zh-CN" altLang="en-US" sz="1600">
                  <a:latin typeface="Arial Narrow" pitchFamily="34" charset="0"/>
                  <a:ea typeface="PMingLiU" pitchFamily="18" charset="-120"/>
                </a:rPr>
                <a:t>对象中返回指定名称的属性对象</a:t>
              </a:r>
              <a:endParaRPr kumimoji="1" lang="en-US" altLang="zh-CN" sz="1600">
                <a:latin typeface="Arial Narrow" pitchFamily="34" charset="0"/>
                <a:ea typeface="PMingLiU" pitchFamily="18" charset="-120"/>
              </a:endParaRPr>
            </a:p>
          </p:txBody>
        </p:sp>
      </p:grpSp>
      <p:grpSp>
        <p:nvGrpSpPr>
          <p:cNvPr id="14" name="Group 33"/>
          <p:cNvGrpSpPr>
            <a:grpSpLocks/>
          </p:cNvGrpSpPr>
          <p:nvPr/>
        </p:nvGrpSpPr>
        <p:grpSpPr bwMode="auto">
          <a:xfrm rot="-467795">
            <a:off x="4322296" y="4133288"/>
            <a:ext cx="2151785" cy="2016837"/>
            <a:chOff x="5667393" y="577154"/>
            <a:chExt cx="2193672" cy="2206183"/>
          </a:xfrm>
        </p:grpSpPr>
        <p:grpSp>
          <p:nvGrpSpPr>
            <p:cNvPr id="15" name="Group 12"/>
            <p:cNvGrpSpPr>
              <a:grpSpLocks/>
            </p:cNvGrpSpPr>
            <p:nvPr/>
          </p:nvGrpSpPr>
          <p:grpSpPr bwMode="auto">
            <a:xfrm>
              <a:off x="5667393" y="577154"/>
              <a:ext cx="2193672" cy="2206183"/>
              <a:chOff x="432187" y="340000"/>
              <a:chExt cx="2193672" cy="2206183"/>
            </a:xfrm>
          </p:grpSpPr>
          <p:sp>
            <p:nvSpPr>
              <p:cNvPr id="17" name="Freeform 6"/>
              <p:cNvSpPr>
                <a:spLocks/>
              </p:cNvSpPr>
              <p:nvPr/>
            </p:nvSpPr>
            <p:spPr bwMode="auto">
              <a:xfrm rot="346487">
                <a:off x="499719" y="483481"/>
                <a:ext cx="2126140" cy="2062702"/>
              </a:xfrm>
              <a:custGeom>
                <a:avLst/>
                <a:gdLst>
                  <a:gd name="T0" fmla="*/ 2147483647 w 2279"/>
                  <a:gd name="T1" fmla="*/ 0 h 2211"/>
                  <a:gd name="T2" fmla="*/ 2147483647 w 2279"/>
                  <a:gd name="T3" fmla="*/ 2147483647 h 2211"/>
                  <a:gd name="T4" fmla="*/ 2147483647 w 2279"/>
                  <a:gd name="T5" fmla="*/ 2147483647 h 2211"/>
                  <a:gd name="T6" fmla="*/ 2147483647 w 2279"/>
                  <a:gd name="T7" fmla="*/ 2147483647 h 2211"/>
                  <a:gd name="T8" fmla="*/ 2147483647 w 2279"/>
                  <a:gd name="T9" fmla="*/ 2147483647 h 2211"/>
                  <a:gd name="T10" fmla="*/ 2147483647 w 2279"/>
                  <a:gd name="T11" fmla="*/ 2147483647 h 2211"/>
                  <a:gd name="T12" fmla="*/ 2147483647 w 2279"/>
                  <a:gd name="T13" fmla="*/ 2147483647 h 2211"/>
                  <a:gd name="T14" fmla="*/ 2147483647 w 2279"/>
                  <a:gd name="T15" fmla="*/ 2147483647 h 2211"/>
                  <a:gd name="T16" fmla="*/ 2147483647 w 2279"/>
                  <a:gd name="T17" fmla="*/ 2147483647 h 2211"/>
                  <a:gd name="T18" fmla="*/ 2147483647 w 2279"/>
                  <a:gd name="T19" fmla="*/ 2147483647 h 2211"/>
                  <a:gd name="T20" fmla="*/ 2147483647 w 2279"/>
                  <a:gd name="T21" fmla="*/ 2147483647 h 2211"/>
                  <a:gd name="T22" fmla="*/ 2147483647 w 2279"/>
                  <a:gd name="T23" fmla="*/ 2147483647 h 2211"/>
                  <a:gd name="T24" fmla="*/ 2147483647 w 2279"/>
                  <a:gd name="T25" fmla="*/ 2147483647 h 2211"/>
                  <a:gd name="T26" fmla="*/ 2147483647 w 2279"/>
                  <a:gd name="T27" fmla="*/ 2147483647 h 2211"/>
                  <a:gd name="T28" fmla="*/ 2147483647 w 2279"/>
                  <a:gd name="T29" fmla="*/ 2147483647 h 2211"/>
                  <a:gd name="T30" fmla="*/ 2147483647 w 2279"/>
                  <a:gd name="T31" fmla="*/ 2147483647 h 2211"/>
                  <a:gd name="T32" fmla="*/ 2147483647 w 2279"/>
                  <a:gd name="T33" fmla="*/ 2147483647 h 2211"/>
                  <a:gd name="T34" fmla="*/ 2147483647 w 2279"/>
                  <a:gd name="T35" fmla="*/ 2147483647 h 2211"/>
                  <a:gd name="T36" fmla="*/ 2147483647 w 2279"/>
                  <a:gd name="T37" fmla="*/ 2147483647 h 2211"/>
                  <a:gd name="T38" fmla="*/ 2147483647 w 2279"/>
                  <a:gd name="T39" fmla="*/ 2147483647 h 2211"/>
                  <a:gd name="T40" fmla="*/ 2147483647 w 2279"/>
                  <a:gd name="T41" fmla="*/ 2147483647 h 2211"/>
                  <a:gd name="T42" fmla="*/ 2147483647 w 2279"/>
                  <a:gd name="T43" fmla="*/ 2147483647 h 2211"/>
                  <a:gd name="T44" fmla="*/ 2147483647 w 2279"/>
                  <a:gd name="T45" fmla="*/ 2147483647 h 2211"/>
                  <a:gd name="T46" fmla="*/ 2147483647 w 2279"/>
                  <a:gd name="T47" fmla="*/ 2147483647 h 2211"/>
                  <a:gd name="T48" fmla="*/ 2147483647 w 2279"/>
                  <a:gd name="T49" fmla="*/ 2147483647 h 2211"/>
                  <a:gd name="T50" fmla="*/ 2147483647 w 2279"/>
                  <a:gd name="T51" fmla="*/ 2147483647 h 2211"/>
                  <a:gd name="T52" fmla="*/ 2147483647 w 2279"/>
                  <a:gd name="T53" fmla="*/ 2147483647 h 2211"/>
                  <a:gd name="T54" fmla="*/ 2147483647 w 2279"/>
                  <a:gd name="T55" fmla="*/ 2147483647 h 2211"/>
                  <a:gd name="T56" fmla="*/ 2147483647 w 2279"/>
                  <a:gd name="T57" fmla="*/ 2147483647 h 2211"/>
                  <a:gd name="T58" fmla="*/ 2147483647 w 2279"/>
                  <a:gd name="T59" fmla="*/ 2147483647 h 2211"/>
                  <a:gd name="T60" fmla="*/ 2147483647 w 2279"/>
                  <a:gd name="T61" fmla="*/ 2147483647 h 2211"/>
                  <a:gd name="T62" fmla="*/ 0 w 2279"/>
                  <a:gd name="T63" fmla="*/ 2147483647 h 2211"/>
                  <a:gd name="T64" fmla="*/ 2147483647 w 2279"/>
                  <a:gd name="T65" fmla="*/ 0 h 221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279"/>
                  <a:gd name="T100" fmla="*/ 0 h 2211"/>
                  <a:gd name="T101" fmla="*/ 2279 w 2279"/>
                  <a:gd name="T102" fmla="*/ 2211 h 2211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279" h="2211">
                    <a:moveTo>
                      <a:pt x="2197" y="0"/>
                    </a:moveTo>
                    <a:lnTo>
                      <a:pt x="2233" y="377"/>
                    </a:lnTo>
                    <a:lnTo>
                      <a:pt x="2237" y="437"/>
                    </a:lnTo>
                    <a:lnTo>
                      <a:pt x="2242" y="588"/>
                    </a:lnTo>
                    <a:lnTo>
                      <a:pt x="2247" y="785"/>
                    </a:lnTo>
                    <a:lnTo>
                      <a:pt x="2249" y="886"/>
                    </a:lnTo>
                    <a:lnTo>
                      <a:pt x="2249" y="984"/>
                    </a:lnTo>
                    <a:lnTo>
                      <a:pt x="2249" y="1103"/>
                    </a:lnTo>
                    <a:lnTo>
                      <a:pt x="2253" y="1265"/>
                    </a:lnTo>
                    <a:lnTo>
                      <a:pt x="2263" y="1641"/>
                    </a:lnTo>
                    <a:lnTo>
                      <a:pt x="2279" y="2113"/>
                    </a:lnTo>
                    <a:lnTo>
                      <a:pt x="1894" y="2135"/>
                    </a:lnTo>
                    <a:lnTo>
                      <a:pt x="1154" y="2175"/>
                    </a:lnTo>
                    <a:lnTo>
                      <a:pt x="971" y="2184"/>
                    </a:lnTo>
                    <a:lnTo>
                      <a:pt x="781" y="2193"/>
                    </a:lnTo>
                    <a:lnTo>
                      <a:pt x="595" y="2199"/>
                    </a:lnTo>
                    <a:lnTo>
                      <a:pt x="421" y="2204"/>
                    </a:lnTo>
                    <a:lnTo>
                      <a:pt x="149" y="2209"/>
                    </a:lnTo>
                    <a:lnTo>
                      <a:pt x="43" y="2211"/>
                    </a:lnTo>
                    <a:lnTo>
                      <a:pt x="37" y="1740"/>
                    </a:lnTo>
                    <a:lnTo>
                      <a:pt x="32" y="1350"/>
                    </a:lnTo>
                    <a:lnTo>
                      <a:pt x="28" y="1034"/>
                    </a:lnTo>
                    <a:lnTo>
                      <a:pt x="21" y="810"/>
                    </a:lnTo>
                    <a:lnTo>
                      <a:pt x="14" y="624"/>
                    </a:lnTo>
                    <a:lnTo>
                      <a:pt x="7" y="446"/>
                    </a:lnTo>
                    <a:lnTo>
                      <a:pt x="0" y="128"/>
                    </a:lnTo>
                    <a:lnTo>
                      <a:pt x="219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00">
                      <a:alpha val="57999"/>
                    </a:srgbClr>
                  </a:gs>
                  <a:gs pos="100000">
                    <a:srgbClr val="949494">
                      <a:alpha val="0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kumimoji="1" lang="en-US" altLang="zh-CN">
                    <a:ea typeface="PMingLiU" pitchFamily="18" charset="-120"/>
                  </a:rPr>
                  <a:t>  </a:t>
                </a:r>
              </a:p>
            </p:txBody>
          </p:sp>
          <p:sp>
            <p:nvSpPr>
              <p:cNvPr id="18" name="Freeform 6"/>
              <p:cNvSpPr>
                <a:spLocks/>
              </p:cNvSpPr>
              <p:nvPr/>
            </p:nvSpPr>
            <p:spPr bwMode="auto">
              <a:xfrm rot="485220">
                <a:off x="432187" y="340000"/>
                <a:ext cx="2133599" cy="2069938"/>
              </a:xfrm>
              <a:custGeom>
                <a:avLst/>
                <a:gdLst>
                  <a:gd name="T0" fmla="*/ 2147483647 w 2279"/>
                  <a:gd name="T1" fmla="*/ 0 h 2211"/>
                  <a:gd name="T2" fmla="*/ 2147483647 w 2279"/>
                  <a:gd name="T3" fmla="*/ 2147483647 h 2211"/>
                  <a:gd name="T4" fmla="*/ 2147483647 w 2279"/>
                  <a:gd name="T5" fmla="*/ 2147483647 h 2211"/>
                  <a:gd name="T6" fmla="*/ 2147483647 w 2279"/>
                  <a:gd name="T7" fmla="*/ 2147483647 h 2211"/>
                  <a:gd name="T8" fmla="*/ 2147483647 w 2279"/>
                  <a:gd name="T9" fmla="*/ 2147483647 h 2211"/>
                  <a:gd name="T10" fmla="*/ 2147483647 w 2279"/>
                  <a:gd name="T11" fmla="*/ 2147483647 h 2211"/>
                  <a:gd name="T12" fmla="*/ 2147483647 w 2279"/>
                  <a:gd name="T13" fmla="*/ 2147483647 h 2211"/>
                  <a:gd name="T14" fmla="*/ 2147483647 w 2279"/>
                  <a:gd name="T15" fmla="*/ 2147483647 h 2211"/>
                  <a:gd name="T16" fmla="*/ 2147483647 w 2279"/>
                  <a:gd name="T17" fmla="*/ 2147483647 h 2211"/>
                  <a:gd name="T18" fmla="*/ 2147483647 w 2279"/>
                  <a:gd name="T19" fmla="*/ 2147483647 h 2211"/>
                  <a:gd name="T20" fmla="*/ 2147483647 w 2279"/>
                  <a:gd name="T21" fmla="*/ 2147483647 h 2211"/>
                  <a:gd name="T22" fmla="*/ 2147483647 w 2279"/>
                  <a:gd name="T23" fmla="*/ 2147483647 h 2211"/>
                  <a:gd name="T24" fmla="*/ 2147483647 w 2279"/>
                  <a:gd name="T25" fmla="*/ 2147483647 h 2211"/>
                  <a:gd name="T26" fmla="*/ 2147483647 w 2279"/>
                  <a:gd name="T27" fmla="*/ 2147483647 h 2211"/>
                  <a:gd name="T28" fmla="*/ 2147483647 w 2279"/>
                  <a:gd name="T29" fmla="*/ 2147483647 h 2211"/>
                  <a:gd name="T30" fmla="*/ 2147483647 w 2279"/>
                  <a:gd name="T31" fmla="*/ 2147483647 h 2211"/>
                  <a:gd name="T32" fmla="*/ 2147483647 w 2279"/>
                  <a:gd name="T33" fmla="*/ 2147483647 h 2211"/>
                  <a:gd name="T34" fmla="*/ 2147483647 w 2279"/>
                  <a:gd name="T35" fmla="*/ 2147483647 h 2211"/>
                  <a:gd name="T36" fmla="*/ 2147483647 w 2279"/>
                  <a:gd name="T37" fmla="*/ 2147483647 h 2211"/>
                  <a:gd name="T38" fmla="*/ 2147483647 w 2279"/>
                  <a:gd name="T39" fmla="*/ 2147483647 h 2211"/>
                  <a:gd name="T40" fmla="*/ 2147483647 w 2279"/>
                  <a:gd name="T41" fmla="*/ 2147483647 h 2211"/>
                  <a:gd name="T42" fmla="*/ 2147483647 w 2279"/>
                  <a:gd name="T43" fmla="*/ 2147483647 h 2211"/>
                  <a:gd name="T44" fmla="*/ 2147483647 w 2279"/>
                  <a:gd name="T45" fmla="*/ 2147483647 h 2211"/>
                  <a:gd name="T46" fmla="*/ 2147483647 w 2279"/>
                  <a:gd name="T47" fmla="*/ 2147483647 h 2211"/>
                  <a:gd name="T48" fmla="*/ 2147483647 w 2279"/>
                  <a:gd name="T49" fmla="*/ 2147483647 h 2211"/>
                  <a:gd name="T50" fmla="*/ 2147483647 w 2279"/>
                  <a:gd name="T51" fmla="*/ 2147483647 h 2211"/>
                  <a:gd name="T52" fmla="*/ 2147483647 w 2279"/>
                  <a:gd name="T53" fmla="*/ 2147483647 h 2211"/>
                  <a:gd name="T54" fmla="*/ 2147483647 w 2279"/>
                  <a:gd name="T55" fmla="*/ 2147483647 h 2211"/>
                  <a:gd name="T56" fmla="*/ 2147483647 w 2279"/>
                  <a:gd name="T57" fmla="*/ 2147483647 h 2211"/>
                  <a:gd name="T58" fmla="*/ 2147483647 w 2279"/>
                  <a:gd name="T59" fmla="*/ 2147483647 h 2211"/>
                  <a:gd name="T60" fmla="*/ 2147483647 w 2279"/>
                  <a:gd name="T61" fmla="*/ 2147483647 h 2211"/>
                  <a:gd name="T62" fmla="*/ 0 w 2279"/>
                  <a:gd name="T63" fmla="*/ 2147483647 h 2211"/>
                  <a:gd name="T64" fmla="*/ 2147483647 w 2279"/>
                  <a:gd name="T65" fmla="*/ 0 h 221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279"/>
                  <a:gd name="T100" fmla="*/ 0 h 2211"/>
                  <a:gd name="T101" fmla="*/ 2279 w 2279"/>
                  <a:gd name="T102" fmla="*/ 2211 h 2211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279" h="2211">
                    <a:moveTo>
                      <a:pt x="2197" y="0"/>
                    </a:moveTo>
                    <a:lnTo>
                      <a:pt x="2233" y="377"/>
                    </a:lnTo>
                    <a:lnTo>
                      <a:pt x="2237" y="437"/>
                    </a:lnTo>
                    <a:lnTo>
                      <a:pt x="2242" y="588"/>
                    </a:lnTo>
                    <a:lnTo>
                      <a:pt x="2247" y="785"/>
                    </a:lnTo>
                    <a:lnTo>
                      <a:pt x="2249" y="886"/>
                    </a:lnTo>
                    <a:lnTo>
                      <a:pt x="2249" y="984"/>
                    </a:lnTo>
                    <a:lnTo>
                      <a:pt x="2249" y="1103"/>
                    </a:lnTo>
                    <a:lnTo>
                      <a:pt x="2253" y="1265"/>
                    </a:lnTo>
                    <a:lnTo>
                      <a:pt x="2263" y="1641"/>
                    </a:lnTo>
                    <a:lnTo>
                      <a:pt x="2279" y="2113"/>
                    </a:lnTo>
                    <a:lnTo>
                      <a:pt x="1894" y="2135"/>
                    </a:lnTo>
                    <a:lnTo>
                      <a:pt x="1154" y="2175"/>
                    </a:lnTo>
                    <a:lnTo>
                      <a:pt x="971" y="2184"/>
                    </a:lnTo>
                    <a:lnTo>
                      <a:pt x="781" y="2193"/>
                    </a:lnTo>
                    <a:lnTo>
                      <a:pt x="595" y="2199"/>
                    </a:lnTo>
                    <a:lnTo>
                      <a:pt x="421" y="2204"/>
                    </a:lnTo>
                    <a:lnTo>
                      <a:pt x="149" y="2209"/>
                    </a:lnTo>
                    <a:lnTo>
                      <a:pt x="43" y="2211"/>
                    </a:lnTo>
                    <a:lnTo>
                      <a:pt x="37" y="1740"/>
                    </a:lnTo>
                    <a:lnTo>
                      <a:pt x="32" y="1350"/>
                    </a:lnTo>
                    <a:lnTo>
                      <a:pt x="28" y="1034"/>
                    </a:lnTo>
                    <a:lnTo>
                      <a:pt x="21" y="810"/>
                    </a:lnTo>
                    <a:lnTo>
                      <a:pt x="14" y="624"/>
                    </a:lnTo>
                    <a:lnTo>
                      <a:pt x="7" y="446"/>
                    </a:lnTo>
                    <a:lnTo>
                      <a:pt x="0" y="128"/>
                    </a:lnTo>
                    <a:lnTo>
                      <a:pt x="219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97979"/>
                  </a:gs>
                  <a:gs pos="31000">
                    <a:srgbClr val="F19393"/>
                  </a:gs>
                  <a:gs pos="100000">
                    <a:srgbClr val="F19393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6" name="TextBox 17"/>
            <p:cNvSpPr txBox="1">
              <a:spLocks noChangeArrowheads="1"/>
            </p:cNvSpPr>
            <p:nvPr/>
          </p:nvSpPr>
          <p:spPr bwMode="auto">
            <a:xfrm rot="403472">
              <a:off x="5764782" y="1106861"/>
              <a:ext cx="1981199" cy="10167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kumimoji="1" lang="en-US" altLang="zh-CN" sz="1600">
                  <a:latin typeface="Arial Narrow" pitchFamily="34" charset="0"/>
                  <a:ea typeface="PMingLiU" pitchFamily="18" charset="-120"/>
                </a:rPr>
                <a:t>removeAttribute()</a:t>
              </a:r>
              <a:r>
                <a:rPr kumimoji="1" lang="zh-CN" altLang="en-US" sz="1600">
                  <a:latin typeface="Arial Narrow" pitchFamily="34" charset="0"/>
                  <a:ea typeface="PMingLiU" pitchFamily="18" charset="-120"/>
                </a:rPr>
                <a:t>方法，它从</a:t>
              </a:r>
              <a:r>
                <a:rPr kumimoji="1" lang="en-US" altLang="zh-CN" sz="1600">
                  <a:latin typeface="Arial Narrow" pitchFamily="34" charset="0"/>
                  <a:ea typeface="PMingLiU" pitchFamily="18" charset="-120"/>
                </a:rPr>
                <a:t>ServletRequest</a:t>
              </a:r>
              <a:r>
                <a:rPr kumimoji="1" lang="zh-CN" altLang="en-US" sz="1600">
                  <a:latin typeface="Arial Narrow" pitchFamily="34" charset="0"/>
                  <a:ea typeface="PMingLiU" pitchFamily="18" charset="-120"/>
                </a:rPr>
                <a:t>对象中删除指定名称的属性</a:t>
              </a:r>
              <a:endParaRPr kumimoji="1" lang="en-US" altLang="zh-CN" sz="1600">
                <a:latin typeface="Arial Narrow" pitchFamily="34" charset="0"/>
                <a:ea typeface="PMingLiU" pitchFamily="18" charset="-120"/>
              </a:endParaRPr>
            </a:p>
          </p:txBody>
        </p:sp>
      </p:grpSp>
      <p:grpSp>
        <p:nvGrpSpPr>
          <p:cNvPr id="19" name="Group 30"/>
          <p:cNvGrpSpPr>
            <a:grpSpLocks/>
          </p:cNvGrpSpPr>
          <p:nvPr/>
        </p:nvGrpSpPr>
        <p:grpSpPr bwMode="auto">
          <a:xfrm rot="-363730">
            <a:off x="1249212" y="4198584"/>
            <a:ext cx="2174875" cy="2025650"/>
            <a:chOff x="609600" y="3276600"/>
            <a:chExt cx="2168659" cy="2113367"/>
          </a:xfrm>
        </p:grpSpPr>
        <p:grpSp>
          <p:nvGrpSpPr>
            <p:cNvPr id="20" name="Group 18"/>
            <p:cNvGrpSpPr>
              <a:grpSpLocks/>
            </p:cNvGrpSpPr>
            <p:nvPr/>
          </p:nvGrpSpPr>
          <p:grpSpPr bwMode="auto">
            <a:xfrm>
              <a:off x="609600" y="3276600"/>
              <a:ext cx="2168659" cy="2113367"/>
              <a:chOff x="457200" y="432816"/>
              <a:chExt cx="2168659" cy="2113367"/>
            </a:xfrm>
          </p:grpSpPr>
          <p:sp>
            <p:nvSpPr>
              <p:cNvPr id="22" name="Freeform 6"/>
              <p:cNvSpPr>
                <a:spLocks/>
              </p:cNvSpPr>
              <p:nvPr/>
            </p:nvSpPr>
            <p:spPr bwMode="auto">
              <a:xfrm rot="346487">
                <a:off x="499719" y="483481"/>
                <a:ext cx="2126140" cy="2062702"/>
              </a:xfrm>
              <a:custGeom>
                <a:avLst/>
                <a:gdLst>
                  <a:gd name="T0" fmla="*/ 2147483647 w 2279"/>
                  <a:gd name="T1" fmla="*/ 0 h 2211"/>
                  <a:gd name="T2" fmla="*/ 2147483647 w 2279"/>
                  <a:gd name="T3" fmla="*/ 2147483647 h 2211"/>
                  <a:gd name="T4" fmla="*/ 2147483647 w 2279"/>
                  <a:gd name="T5" fmla="*/ 2147483647 h 2211"/>
                  <a:gd name="T6" fmla="*/ 2147483647 w 2279"/>
                  <a:gd name="T7" fmla="*/ 2147483647 h 2211"/>
                  <a:gd name="T8" fmla="*/ 2147483647 w 2279"/>
                  <a:gd name="T9" fmla="*/ 2147483647 h 2211"/>
                  <a:gd name="T10" fmla="*/ 2147483647 w 2279"/>
                  <a:gd name="T11" fmla="*/ 2147483647 h 2211"/>
                  <a:gd name="T12" fmla="*/ 2147483647 w 2279"/>
                  <a:gd name="T13" fmla="*/ 2147483647 h 2211"/>
                  <a:gd name="T14" fmla="*/ 2147483647 w 2279"/>
                  <a:gd name="T15" fmla="*/ 2147483647 h 2211"/>
                  <a:gd name="T16" fmla="*/ 2147483647 w 2279"/>
                  <a:gd name="T17" fmla="*/ 2147483647 h 2211"/>
                  <a:gd name="T18" fmla="*/ 2147483647 w 2279"/>
                  <a:gd name="T19" fmla="*/ 2147483647 h 2211"/>
                  <a:gd name="T20" fmla="*/ 2147483647 w 2279"/>
                  <a:gd name="T21" fmla="*/ 2147483647 h 2211"/>
                  <a:gd name="T22" fmla="*/ 2147483647 w 2279"/>
                  <a:gd name="T23" fmla="*/ 2147483647 h 2211"/>
                  <a:gd name="T24" fmla="*/ 2147483647 w 2279"/>
                  <a:gd name="T25" fmla="*/ 2147483647 h 2211"/>
                  <a:gd name="T26" fmla="*/ 2147483647 w 2279"/>
                  <a:gd name="T27" fmla="*/ 2147483647 h 2211"/>
                  <a:gd name="T28" fmla="*/ 2147483647 w 2279"/>
                  <a:gd name="T29" fmla="*/ 2147483647 h 2211"/>
                  <a:gd name="T30" fmla="*/ 2147483647 w 2279"/>
                  <a:gd name="T31" fmla="*/ 2147483647 h 2211"/>
                  <a:gd name="T32" fmla="*/ 2147483647 w 2279"/>
                  <a:gd name="T33" fmla="*/ 2147483647 h 2211"/>
                  <a:gd name="T34" fmla="*/ 2147483647 w 2279"/>
                  <a:gd name="T35" fmla="*/ 2147483647 h 2211"/>
                  <a:gd name="T36" fmla="*/ 2147483647 w 2279"/>
                  <a:gd name="T37" fmla="*/ 2147483647 h 2211"/>
                  <a:gd name="T38" fmla="*/ 2147483647 w 2279"/>
                  <a:gd name="T39" fmla="*/ 2147483647 h 2211"/>
                  <a:gd name="T40" fmla="*/ 2147483647 w 2279"/>
                  <a:gd name="T41" fmla="*/ 2147483647 h 2211"/>
                  <a:gd name="T42" fmla="*/ 2147483647 w 2279"/>
                  <a:gd name="T43" fmla="*/ 2147483647 h 2211"/>
                  <a:gd name="T44" fmla="*/ 2147483647 w 2279"/>
                  <a:gd name="T45" fmla="*/ 2147483647 h 2211"/>
                  <a:gd name="T46" fmla="*/ 2147483647 w 2279"/>
                  <a:gd name="T47" fmla="*/ 2147483647 h 2211"/>
                  <a:gd name="T48" fmla="*/ 2147483647 w 2279"/>
                  <a:gd name="T49" fmla="*/ 2147483647 h 2211"/>
                  <a:gd name="T50" fmla="*/ 2147483647 w 2279"/>
                  <a:gd name="T51" fmla="*/ 2147483647 h 2211"/>
                  <a:gd name="T52" fmla="*/ 2147483647 w 2279"/>
                  <a:gd name="T53" fmla="*/ 2147483647 h 2211"/>
                  <a:gd name="T54" fmla="*/ 2147483647 w 2279"/>
                  <a:gd name="T55" fmla="*/ 2147483647 h 2211"/>
                  <a:gd name="T56" fmla="*/ 2147483647 w 2279"/>
                  <a:gd name="T57" fmla="*/ 2147483647 h 2211"/>
                  <a:gd name="T58" fmla="*/ 2147483647 w 2279"/>
                  <a:gd name="T59" fmla="*/ 2147483647 h 2211"/>
                  <a:gd name="T60" fmla="*/ 2147483647 w 2279"/>
                  <a:gd name="T61" fmla="*/ 2147483647 h 2211"/>
                  <a:gd name="T62" fmla="*/ 0 w 2279"/>
                  <a:gd name="T63" fmla="*/ 2147483647 h 2211"/>
                  <a:gd name="T64" fmla="*/ 2147483647 w 2279"/>
                  <a:gd name="T65" fmla="*/ 0 h 221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279"/>
                  <a:gd name="T100" fmla="*/ 0 h 2211"/>
                  <a:gd name="T101" fmla="*/ 2279 w 2279"/>
                  <a:gd name="T102" fmla="*/ 2211 h 2211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279" h="2211">
                    <a:moveTo>
                      <a:pt x="2197" y="0"/>
                    </a:moveTo>
                    <a:lnTo>
                      <a:pt x="2233" y="377"/>
                    </a:lnTo>
                    <a:lnTo>
                      <a:pt x="2237" y="437"/>
                    </a:lnTo>
                    <a:lnTo>
                      <a:pt x="2242" y="588"/>
                    </a:lnTo>
                    <a:lnTo>
                      <a:pt x="2247" y="785"/>
                    </a:lnTo>
                    <a:lnTo>
                      <a:pt x="2249" y="886"/>
                    </a:lnTo>
                    <a:lnTo>
                      <a:pt x="2249" y="984"/>
                    </a:lnTo>
                    <a:lnTo>
                      <a:pt x="2249" y="1103"/>
                    </a:lnTo>
                    <a:lnTo>
                      <a:pt x="2253" y="1265"/>
                    </a:lnTo>
                    <a:lnTo>
                      <a:pt x="2263" y="1641"/>
                    </a:lnTo>
                    <a:lnTo>
                      <a:pt x="2279" y="2113"/>
                    </a:lnTo>
                    <a:lnTo>
                      <a:pt x="1894" y="2135"/>
                    </a:lnTo>
                    <a:lnTo>
                      <a:pt x="1154" y="2175"/>
                    </a:lnTo>
                    <a:lnTo>
                      <a:pt x="971" y="2184"/>
                    </a:lnTo>
                    <a:lnTo>
                      <a:pt x="781" y="2193"/>
                    </a:lnTo>
                    <a:lnTo>
                      <a:pt x="595" y="2199"/>
                    </a:lnTo>
                    <a:lnTo>
                      <a:pt x="421" y="2204"/>
                    </a:lnTo>
                    <a:lnTo>
                      <a:pt x="149" y="2209"/>
                    </a:lnTo>
                    <a:lnTo>
                      <a:pt x="43" y="2211"/>
                    </a:lnTo>
                    <a:lnTo>
                      <a:pt x="37" y="1740"/>
                    </a:lnTo>
                    <a:lnTo>
                      <a:pt x="32" y="1350"/>
                    </a:lnTo>
                    <a:lnTo>
                      <a:pt x="28" y="1034"/>
                    </a:lnTo>
                    <a:lnTo>
                      <a:pt x="21" y="810"/>
                    </a:lnTo>
                    <a:lnTo>
                      <a:pt x="14" y="624"/>
                    </a:lnTo>
                    <a:lnTo>
                      <a:pt x="7" y="446"/>
                    </a:lnTo>
                    <a:lnTo>
                      <a:pt x="0" y="128"/>
                    </a:lnTo>
                    <a:lnTo>
                      <a:pt x="219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00">
                      <a:alpha val="57999"/>
                    </a:srgbClr>
                  </a:gs>
                  <a:gs pos="100000">
                    <a:srgbClr val="949494">
                      <a:alpha val="0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kumimoji="1" lang="en-US" altLang="zh-CN">
                    <a:ea typeface="PMingLiU" pitchFamily="18" charset="-120"/>
                  </a:rPr>
                  <a:t>  </a:t>
                </a:r>
              </a:p>
            </p:txBody>
          </p:sp>
          <p:sp>
            <p:nvSpPr>
              <p:cNvPr id="23" name="Freeform 6"/>
              <p:cNvSpPr>
                <a:spLocks/>
              </p:cNvSpPr>
              <p:nvPr/>
            </p:nvSpPr>
            <p:spPr bwMode="auto">
              <a:xfrm rot="485220">
                <a:off x="457200" y="432816"/>
                <a:ext cx="2133599" cy="2069938"/>
              </a:xfrm>
              <a:custGeom>
                <a:avLst/>
                <a:gdLst>
                  <a:gd name="T0" fmla="*/ 2147483647 w 2279"/>
                  <a:gd name="T1" fmla="*/ 0 h 2211"/>
                  <a:gd name="T2" fmla="*/ 2147483647 w 2279"/>
                  <a:gd name="T3" fmla="*/ 2147483647 h 2211"/>
                  <a:gd name="T4" fmla="*/ 2147483647 w 2279"/>
                  <a:gd name="T5" fmla="*/ 2147483647 h 2211"/>
                  <a:gd name="T6" fmla="*/ 2147483647 w 2279"/>
                  <a:gd name="T7" fmla="*/ 2147483647 h 2211"/>
                  <a:gd name="T8" fmla="*/ 2147483647 w 2279"/>
                  <a:gd name="T9" fmla="*/ 2147483647 h 2211"/>
                  <a:gd name="T10" fmla="*/ 2147483647 w 2279"/>
                  <a:gd name="T11" fmla="*/ 2147483647 h 2211"/>
                  <a:gd name="T12" fmla="*/ 2147483647 w 2279"/>
                  <a:gd name="T13" fmla="*/ 2147483647 h 2211"/>
                  <a:gd name="T14" fmla="*/ 2147483647 w 2279"/>
                  <a:gd name="T15" fmla="*/ 2147483647 h 2211"/>
                  <a:gd name="T16" fmla="*/ 2147483647 w 2279"/>
                  <a:gd name="T17" fmla="*/ 2147483647 h 2211"/>
                  <a:gd name="T18" fmla="*/ 2147483647 w 2279"/>
                  <a:gd name="T19" fmla="*/ 2147483647 h 2211"/>
                  <a:gd name="T20" fmla="*/ 2147483647 w 2279"/>
                  <a:gd name="T21" fmla="*/ 2147483647 h 2211"/>
                  <a:gd name="T22" fmla="*/ 2147483647 w 2279"/>
                  <a:gd name="T23" fmla="*/ 2147483647 h 2211"/>
                  <a:gd name="T24" fmla="*/ 2147483647 w 2279"/>
                  <a:gd name="T25" fmla="*/ 2147483647 h 2211"/>
                  <a:gd name="T26" fmla="*/ 2147483647 w 2279"/>
                  <a:gd name="T27" fmla="*/ 2147483647 h 2211"/>
                  <a:gd name="T28" fmla="*/ 2147483647 w 2279"/>
                  <a:gd name="T29" fmla="*/ 2147483647 h 2211"/>
                  <a:gd name="T30" fmla="*/ 2147483647 w 2279"/>
                  <a:gd name="T31" fmla="*/ 2147483647 h 2211"/>
                  <a:gd name="T32" fmla="*/ 2147483647 w 2279"/>
                  <a:gd name="T33" fmla="*/ 2147483647 h 2211"/>
                  <a:gd name="T34" fmla="*/ 2147483647 w 2279"/>
                  <a:gd name="T35" fmla="*/ 2147483647 h 2211"/>
                  <a:gd name="T36" fmla="*/ 2147483647 w 2279"/>
                  <a:gd name="T37" fmla="*/ 2147483647 h 2211"/>
                  <a:gd name="T38" fmla="*/ 2147483647 w 2279"/>
                  <a:gd name="T39" fmla="*/ 2147483647 h 2211"/>
                  <a:gd name="T40" fmla="*/ 2147483647 w 2279"/>
                  <a:gd name="T41" fmla="*/ 2147483647 h 2211"/>
                  <a:gd name="T42" fmla="*/ 2147483647 w 2279"/>
                  <a:gd name="T43" fmla="*/ 2147483647 h 2211"/>
                  <a:gd name="T44" fmla="*/ 2147483647 w 2279"/>
                  <a:gd name="T45" fmla="*/ 2147483647 h 2211"/>
                  <a:gd name="T46" fmla="*/ 2147483647 w 2279"/>
                  <a:gd name="T47" fmla="*/ 2147483647 h 2211"/>
                  <a:gd name="T48" fmla="*/ 2147483647 w 2279"/>
                  <a:gd name="T49" fmla="*/ 2147483647 h 2211"/>
                  <a:gd name="T50" fmla="*/ 2147483647 w 2279"/>
                  <a:gd name="T51" fmla="*/ 2147483647 h 2211"/>
                  <a:gd name="T52" fmla="*/ 2147483647 w 2279"/>
                  <a:gd name="T53" fmla="*/ 2147483647 h 2211"/>
                  <a:gd name="T54" fmla="*/ 2147483647 w 2279"/>
                  <a:gd name="T55" fmla="*/ 2147483647 h 2211"/>
                  <a:gd name="T56" fmla="*/ 2147483647 w 2279"/>
                  <a:gd name="T57" fmla="*/ 2147483647 h 2211"/>
                  <a:gd name="T58" fmla="*/ 2147483647 w 2279"/>
                  <a:gd name="T59" fmla="*/ 2147483647 h 2211"/>
                  <a:gd name="T60" fmla="*/ 2147483647 w 2279"/>
                  <a:gd name="T61" fmla="*/ 2147483647 h 2211"/>
                  <a:gd name="T62" fmla="*/ 0 w 2279"/>
                  <a:gd name="T63" fmla="*/ 2147483647 h 2211"/>
                  <a:gd name="T64" fmla="*/ 2147483647 w 2279"/>
                  <a:gd name="T65" fmla="*/ 0 h 221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279"/>
                  <a:gd name="T100" fmla="*/ 0 h 2211"/>
                  <a:gd name="T101" fmla="*/ 2279 w 2279"/>
                  <a:gd name="T102" fmla="*/ 2211 h 2211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279" h="2211">
                    <a:moveTo>
                      <a:pt x="2197" y="0"/>
                    </a:moveTo>
                    <a:lnTo>
                      <a:pt x="2233" y="377"/>
                    </a:lnTo>
                    <a:lnTo>
                      <a:pt x="2237" y="437"/>
                    </a:lnTo>
                    <a:lnTo>
                      <a:pt x="2242" y="588"/>
                    </a:lnTo>
                    <a:lnTo>
                      <a:pt x="2247" y="785"/>
                    </a:lnTo>
                    <a:lnTo>
                      <a:pt x="2249" y="886"/>
                    </a:lnTo>
                    <a:lnTo>
                      <a:pt x="2249" y="984"/>
                    </a:lnTo>
                    <a:lnTo>
                      <a:pt x="2249" y="1103"/>
                    </a:lnTo>
                    <a:lnTo>
                      <a:pt x="2253" y="1265"/>
                    </a:lnTo>
                    <a:lnTo>
                      <a:pt x="2263" y="1641"/>
                    </a:lnTo>
                    <a:lnTo>
                      <a:pt x="2279" y="2113"/>
                    </a:lnTo>
                    <a:lnTo>
                      <a:pt x="1894" y="2135"/>
                    </a:lnTo>
                    <a:lnTo>
                      <a:pt x="1154" y="2175"/>
                    </a:lnTo>
                    <a:lnTo>
                      <a:pt x="971" y="2184"/>
                    </a:lnTo>
                    <a:lnTo>
                      <a:pt x="781" y="2193"/>
                    </a:lnTo>
                    <a:lnTo>
                      <a:pt x="595" y="2199"/>
                    </a:lnTo>
                    <a:lnTo>
                      <a:pt x="421" y="2204"/>
                    </a:lnTo>
                    <a:lnTo>
                      <a:pt x="149" y="2209"/>
                    </a:lnTo>
                    <a:lnTo>
                      <a:pt x="43" y="2211"/>
                    </a:lnTo>
                    <a:lnTo>
                      <a:pt x="37" y="1740"/>
                    </a:lnTo>
                    <a:lnTo>
                      <a:pt x="32" y="1350"/>
                    </a:lnTo>
                    <a:lnTo>
                      <a:pt x="28" y="1034"/>
                    </a:lnTo>
                    <a:lnTo>
                      <a:pt x="21" y="810"/>
                    </a:lnTo>
                    <a:lnTo>
                      <a:pt x="14" y="624"/>
                    </a:lnTo>
                    <a:lnTo>
                      <a:pt x="7" y="446"/>
                    </a:lnTo>
                    <a:lnTo>
                      <a:pt x="0" y="128"/>
                    </a:lnTo>
                    <a:lnTo>
                      <a:pt x="219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A73C3"/>
                  </a:gs>
                  <a:gs pos="31000">
                    <a:srgbClr val="D8A9ED"/>
                  </a:gs>
                  <a:gs pos="100000">
                    <a:srgbClr val="D8A9ED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1" name="TextBox 27"/>
            <p:cNvSpPr txBox="1">
              <a:spLocks noChangeArrowheads="1"/>
            </p:cNvSpPr>
            <p:nvPr/>
          </p:nvSpPr>
          <p:spPr bwMode="auto">
            <a:xfrm rot="348327">
              <a:off x="673536" y="3715931"/>
              <a:ext cx="1980221" cy="1188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kumimoji="1" lang="en-US" altLang="zh-CN" sz="1600">
                  <a:latin typeface="Arial Narrow" pitchFamily="34" charset="0"/>
                  <a:ea typeface="PMingLiU" pitchFamily="18" charset="-120"/>
                </a:rPr>
                <a:t>getAttributeNames()</a:t>
              </a:r>
            </a:p>
            <a:p>
              <a:pPr>
                <a:lnSpc>
                  <a:spcPct val="85000"/>
                </a:lnSpc>
              </a:pPr>
              <a:r>
                <a:rPr kumimoji="1" lang="zh-CN" altLang="en-US" sz="1600">
                  <a:latin typeface="Arial Narrow" pitchFamily="34" charset="0"/>
                  <a:ea typeface="PMingLiU" pitchFamily="18" charset="-120"/>
                </a:rPr>
                <a:t>该方法用于返回一个包含</a:t>
              </a:r>
              <a:r>
                <a:rPr kumimoji="1" lang="en-US" altLang="zh-CN" sz="1600">
                  <a:latin typeface="Arial Narrow" pitchFamily="34" charset="0"/>
                  <a:ea typeface="PMingLiU" pitchFamily="18" charset="-120"/>
                </a:rPr>
                <a:t>ServletRequest</a:t>
              </a:r>
              <a:r>
                <a:rPr kumimoji="1" lang="zh-CN" altLang="en-US" sz="1600">
                  <a:latin typeface="Arial Narrow" pitchFamily="34" charset="0"/>
                  <a:ea typeface="PMingLiU" pitchFamily="18" charset="-120"/>
                </a:rPr>
                <a:t>对象中的所有属性名的</a:t>
              </a:r>
              <a:r>
                <a:rPr kumimoji="1" lang="en-US" altLang="zh-CN" sz="1600">
                  <a:latin typeface="Arial Narrow" pitchFamily="34" charset="0"/>
                  <a:ea typeface="PMingLiU" pitchFamily="18" charset="-120"/>
                </a:rPr>
                <a:t>Enumeration</a:t>
              </a:r>
              <a:r>
                <a:rPr kumimoji="1" lang="zh-CN" altLang="en-US" sz="1600">
                  <a:latin typeface="Arial Narrow" pitchFamily="34" charset="0"/>
                  <a:ea typeface="PMingLiU" pitchFamily="18" charset="-120"/>
                </a:rPr>
                <a:t>对象</a:t>
              </a:r>
              <a:endParaRPr kumimoji="1" lang="en-US" altLang="zh-CN" sz="1600">
                <a:latin typeface="Arial Narrow" pitchFamily="34" charset="0"/>
                <a:ea typeface="PMingLiU" pitchFamily="18" charset="-120"/>
              </a:endParaRPr>
            </a:p>
          </p:txBody>
        </p:sp>
      </p:grpSp>
      <p:sp>
        <p:nvSpPr>
          <p:cNvPr id="24" name="内容占位符 2"/>
          <p:cNvSpPr txBox="1">
            <a:spLocks/>
          </p:cNvSpPr>
          <p:nvPr/>
        </p:nvSpPr>
        <p:spPr bwMode="auto">
          <a:xfrm>
            <a:off x="323528" y="1520751"/>
            <a:ext cx="7975600" cy="68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1">
              <a:lnSpc>
                <a:spcPct val="150000"/>
              </a:lnSpc>
              <a:spcBef>
                <a:spcPct val="20000"/>
              </a:spcBef>
              <a:buFontTx/>
              <a:buChar char="–"/>
            </a:pPr>
            <a:r>
              <a:rPr lang="en-US" altLang="zh-CN" sz="2000" b="1" kern="0" dirty="0" err="1">
                <a:solidFill>
                  <a:srgbClr val="0070C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ServletRequest</a:t>
            </a:r>
            <a:r>
              <a:rPr lang="zh-CN" altLang="zh-CN" sz="2000" b="1" kern="0" dirty="0">
                <a:solidFill>
                  <a:srgbClr val="0070C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接口</a:t>
            </a:r>
            <a:r>
              <a:rPr lang="zh-CN" altLang="en-US" sz="2000" b="1" kern="0" dirty="0">
                <a:solidFill>
                  <a:srgbClr val="0070C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操作属性相关方法</a:t>
            </a:r>
            <a:endParaRPr lang="en-US" altLang="zh-CN" sz="2000" b="1" kern="0" dirty="0">
              <a:solidFill>
                <a:srgbClr val="0070C0"/>
              </a:solidFill>
              <a:latin typeface="Times New Roman" panose="02020603050405020304" pitchFamily="18" charset="0"/>
              <a:ea typeface="宋体"/>
              <a:cs typeface="Times New Roman" panose="02020603050405020304" pitchFamily="18" charset="0"/>
            </a:endParaRPr>
          </a:p>
        </p:txBody>
      </p:sp>
      <p:sp>
        <p:nvSpPr>
          <p:cNvPr id="25" name="标题 1"/>
          <p:cNvSpPr>
            <a:spLocks noChangeArrowheads="1"/>
          </p:cNvSpPr>
          <p:nvPr/>
        </p:nvSpPr>
        <p:spPr bwMode="auto">
          <a:xfrm>
            <a:off x="1643733" y="389681"/>
            <a:ext cx="6960715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4.4.2 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通过</a:t>
            </a:r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Request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对象传递数据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04285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对角圆角矩形 10"/>
          <p:cNvSpPr/>
          <p:nvPr/>
        </p:nvSpPr>
        <p:spPr>
          <a:xfrm>
            <a:off x="539552" y="4653136"/>
            <a:ext cx="5688632" cy="648072"/>
          </a:xfrm>
          <a:prstGeom prst="round2DiagRect">
            <a:avLst>
              <a:gd name="adj1" fmla="val 20943"/>
              <a:gd name="adj2" fmla="val 0"/>
            </a:avLst>
          </a:prstGeom>
          <a:solidFill>
            <a:srgbClr val="006BA9"/>
          </a:solidFill>
          <a:ln>
            <a:solidFill>
              <a:srgbClr val="006B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Box 5"/>
          <p:cNvSpPr txBox="1"/>
          <p:nvPr/>
        </p:nvSpPr>
        <p:spPr>
          <a:xfrm>
            <a:off x="683568" y="4072426"/>
            <a:ext cx="3791036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dirty="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4.4</a:t>
            </a:r>
            <a:r>
              <a:rPr lang="en-US" altLang="zh-CN" sz="2400" dirty="0" smtClean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    </a:t>
            </a:r>
            <a:r>
              <a:rPr lang="en-US" altLang="zh-CN" sz="2400" dirty="0" err="1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HttpServletRequest</a:t>
            </a:r>
            <a:r>
              <a:rPr lang="zh-CN" altLang="en-US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应用</a:t>
            </a:r>
          </a:p>
        </p:txBody>
      </p:sp>
      <p:sp>
        <p:nvSpPr>
          <p:cNvPr id="5" name="TextBox 10"/>
          <p:cNvSpPr txBox="1"/>
          <p:nvPr/>
        </p:nvSpPr>
        <p:spPr>
          <a:xfrm>
            <a:off x="683568" y="2584261"/>
            <a:ext cx="4223084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dirty="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4.2    </a:t>
            </a:r>
            <a:r>
              <a:rPr lang="en-US" altLang="zh-CN" sz="2400" dirty="0" err="1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HttpServletResponse</a:t>
            </a:r>
            <a:r>
              <a:rPr lang="zh-CN" altLang="en-US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应用</a:t>
            </a:r>
          </a:p>
        </p:txBody>
      </p:sp>
      <p:sp>
        <p:nvSpPr>
          <p:cNvPr id="6" name="TextBox 11"/>
          <p:cNvSpPr txBox="1"/>
          <p:nvPr/>
        </p:nvSpPr>
        <p:spPr>
          <a:xfrm>
            <a:off x="683568" y="3328344"/>
            <a:ext cx="3791036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dirty="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4.3    </a:t>
            </a:r>
            <a:r>
              <a:rPr lang="en-US" altLang="zh-CN" sz="2400" dirty="0" err="1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HttpServletRequest</a:t>
            </a:r>
            <a:r>
              <a:rPr lang="zh-CN" altLang="en-US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对象</a:t>
            </a:r>
          </a:p>
        </p:txBody>
      </p:sp>
      <p:sp>
        <p:nvSpPr>
          <p:cNvPr id="9" name="椭圆 8"/>
          <p:cNvSpPr/>
          <p:nvPr/>
        </p:nvSpPr>
        <p:spPr>
          <a:xfrm>
            <a:off x="4897998" y="1756903"/>
            <a:ext cx="3444382" cy="344438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381000">
            <a:solidFill>
              <a:srgbClr val="006B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0" name="TextBox 1"/>
          <p:cNvSpPr txBox="1"/>
          <p:nvPr/>
        </p:nvSpPr>
        <p:spPr>
          <a:xfrm>
            <a:off x="4860032" y="2749857"/>
            <a:ext cx="3566358" cy="183127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5400" b="1" dirty="0" smtClean="0">
                <a:solidFill>
                  <a:srgbClr val="F2F2E6"/>
                </a:solidFill>
                <a:latin typeface="微软雅黑" pitchFamily="34" charset="-122"/>
                <a:ea typeface="微软雅黑" pitchFamily="34" charset="-122"/>
              </a:rPr>
              <a:t>主讲内容</a:t>
            </a:r>
            <a:endParaRPr lang="en-US" altLang="zh-CN" sz="5400" b="1" dirty="0" smtClean="0">
              <a:solidFill>
                <a:srgbClr val="F2F2E6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3200" dirty="0" smtClean="0">
                <a:solidFill>
                  <a:srgbClr val="F2F2E6"/>
                </a:solidFill>
                <a:latin typeface="Times New Roman" panose="02020603050405020304" pitchFamily="18" charset="0"/>
                <a:ea typeface="Adobe 宋体 Std L" pitchFamily="18" charset="-122"/>
                <a:cs typeface="Times New Roman" panose="02020603050405020304" pitchFamily="18" charset="0"/>
              </a:rPr>
              <a:t>Speech content</a:t>
            </a:r>
          </a:p>
        </p:txBody>
      </p:sp>
      <p:sp>
        <p:nvSpPr>
          <p:cNvPr id="12" name="TextBox 6"/>
          <p:cNvSpPr txBox="1"/>
          <p:nvPr/>
        </p:nvSpPr>
        <p:spPr>
          <a:xfrm>
            <a:off x="683568" y="1840178"/>
            <a:ext cx="434996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defRPr>
            </a:lvl1pPr>
          </a:lstStyle>
          <a:p>
            <a:r>
              <a:rPr lang="en-US" altLang="zh-CN" dirty="0" smtClean="0">
                <a:solidFill>
                  <a:srgbClr val="7F7F7F"/>
                </a:solidFill>
              </a:rPr>
              <a:t>4.1    </a:t>
            </a:r>
            <a:r>
              <a:rPr lang="en-US" altLang="zh-CN" dirty="0" err="1">
                <a:solidFill>
                  <a:srgbClr val="7F7F7F"/>
                </a:solidFill>
              </a:rPr>
              <a:t>HttpServletResponse</a:t>
            </a:r>
            <a:r>
              <a:rPr lang="zh-CN" altLang="en-US" dirty="0">
                <a:solidFill>
                  <a:srgbClr val="7F7F7F"/>
                </a:solidFill>
              </a:rPr>
              <a:t>对象</a:t>
            </a:r>
          </a:p>
        </p:txBody>
      </p:sp>
      <p:sp>
        <p:nvSpPr>
          <p:cNvPr id="13" name="TextBox 5"/>
          <p:cNvSpPr txBox="1"/>
          <p:nvPr/>
        </p:nvSpPr>
        <p:spPr>
          <a:xfrm>
            <a:off x="683568" y="4792506"/>
            <a:ext cx="4752528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dirty="0" smtClean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4.5    </a:t>
            </a:r>
            <a:r>
              <a:rPr lang="en-US" altLang="zh-CN" sz="2400" dirty="0" err="1" smtClean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RequestDispatcher</a:t>
            </a:r>
            <a:r>
              <a:rPr lang="zh-CN" altLang="en-US" sz="2400" dirty="0" smtClean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对象的应用</a:t>
            </a:r>
            <a:endParaRPr lang="zh-CN" altLang="en-US" sz="2400" dirty="0">
              <a:solidFill>
                <a:schemeClr val="bg1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14" name="标题 1"/>
          <p:cNvSpPr>
            <a:spLocks noChangeArrowheads="1"/>
          </p:cNvSpPr>
          <p:nvPr/>
        </p:nvSpPr>
        <p:spPr bwMode="auto">
          <a:xfrm>
            <a:off x="1643733" y="389681"/>
            <a:ext cx="638465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主讲内容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9371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251520" y="923156"/>
            <a:ext cx="5472608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3" name="内容占位符 2"/>
          <p:cNvSpPr txBox="1">
            <a:spLocks/>
          </p:cNvSpPr>
          <p:nvPr/>
        </p:nvSpPr>
        <p:spPr bwMode="auto">
          <a:xfrm>
            <a:off x="542925" y="1556792"/>
            <a:ext cx="8102600" cy="121270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zh-CN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一个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资源收到客户端的请求后，如果希望服务器通知另外一个资源去处理请求，这时，除了使用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sendRedirect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方法实现请求重定向外，还可以通过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RequestDispatcher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接口的实例对象来实现。</a:t>
            </a:r>
          </a:p>
        </p:txBody>
      </p:sp>
      <p:sp>
        <p:nvSpPr>
          <p:cNvPr id="4" name="矩形 24"/>
          <p:cNvSpPr>
            <a:spLocks noChangeArrowheads="1"/>
          </p:cNvSpPr>
          <p:nvPr/>
        </p:nvSpPr>
        <p:spPr bwMode="auto">
          <a:xfrm>
            <a:off x="542925" y="1484784"/>
            <a:ext cx="8102600" cy="1419879"/>
          </a:xfrm>
          <a:prstGeom prst="rect">
            <a:avLst/>
          </a:prstGeom>
          <a:noFill/>
          <a:ln w="19050" algn="ctr">
            <a:solidFill>
              <a:srgbClr val="006B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6" name="内容占位符 2"/>
          <p:cNvSpPr txBox="1">
            <a:spLocks/>
          </p:cNvSpPr>
          <p:nvPr/>
        </p:nvSpPr>
        <p:spPr bwMode="auto">
          <a:xfrm>
            <a:off x="196800" y="3053170"/>
            <a:ext cx="7975600" cy="68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1">
              <a:lnSpc>
                <a:spcPct val="150000"/>
              </a:lnSpc>
              <a:spcBef>
                <a:spcPct val="20000"/>
              </a:spcBef>
              <a:buFontTx/>
              <a:buChar char="–"/>
            </a:pPr>
            <a:r>
              <a:rPr lang="en-US" altLang="zh-CN" sz="2000" b="1" kern="0" dirty="0" err="1">
                <a:solidFill>
                  <a:srgbClr val="0070C0"/>
                </a:solidFill>
                <a:latin typeface="Arial"/>
                <a:ea typeface="宋体"/>
              </a:rPr>
              <a:t>ServletRequest</a:t>
            </a:r>
            <a:r>
              <a:rPr lang="zh-CN" altLang="zh-CN" sz="2000" b="1" kern="0" dirty="0">
                <a:solidFill>
                  <a:srgbClr val="0070C0"/>
                </a:solidFill>
                <a:latin typeface="Arial"/>
                <a:ea typeface="宋体"/>
              </a:rPr>
              <a:t>接口中</a:t>
            </a:r>
            <a:r>
              <a:rPr lang="zh-CN" altLang="en-US" sz="2000" b="1" kern="0" dirty="0">
                <a:solidFill>
                  <a:srgbClr val="0070C0"/>
                </a:solidFill>
                <a:latin typeface="Arial"/>
                <a:ea typeface="宋体"/>
              </a:rPr>
              <a:t>获取</a:t>
            </a:r>
            <a:r>
              <a:rPr lang="en-US" altLang="zh-CN" sz="2000" b="1" kern="0" dirty="0" err="1">
                <a:solidFill>
                  <a:srgbClr val="0070C0"/>
                </a:solidFill>
                <a:latin typeface="Arial"/>
                <a:ea typeface="宋体"/>
              </a:rPr>
              <a:t>RequestDispatcher</a:t>
            </a:r>
            <a:r>
              <a:rPr lang="zh-CN" altLang="zh-CN" sz="2000" b="1" kern="0" dirty="0">
                <a:solidFill>
                  <a:srgbClr val="0070C0"/>
                </a:solidFill>
                <a:latin typeface="Arial"/>
                <a:ea typeface="宋体"/>
              </a:rPr>
              <a:t>对象的方法</a:t>
            </a:r>
            <a:endParaRPr lang="en-US" altLang="zh-CN" sz="2000" b="1" kern="0" dirty="0">
              <a:solidFill>
                <a:srgbClr val="0070C0"/>
              </a:solidFill>
              <a:latin typeface="Arial"/>
              <a:ea typeface="宋体"/>
            </a:endParaRPr>
          </a:p>
          <a:p>
            <a:pPr lvl="1">
              <a:lnSpc>
                <a:spcPct val="150000"/>
              </a:lnSpc>
              <a:spcBef>
                <a:spcPct val="20000"/>
              </a:spcBef>
              <a:buFontTx/>
              <a:buChar char="–"/>
            </a:pPr>
            <a:endParaRPr lang="en-US" altLang="zh-CN" sz="2400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3603922"/>
              </p:ext>
            </p:extLst>
          </p:nvPr>
        </p:nvGraphicFramePr>
        <p:xfrm>
          <a:off x="395536" y="3717032"/>
          <a:ext cx="8280920" cy="1604427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070230"/>
                <a:gridCol w="6210690"/>
              </a:tblGrid>
              <a:tr h="67291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 smtClean="0"/>
                        <a:t>方法声明</a:t>
                      </a:r>
                      <a:endParaRPr lang="en-US" altLang="zh-CN" sz="2000" dirty="0" smtClean="0"/>
                    </a:p>
                  </a:txBody>
                  <a:tcPr marL="91432" marR="91432" marT="45767" marB="45767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/>
                        <a:t>功能描述</a:t>
                      </a:r>
                      <a:endParaRPr lang="en-US" altLang="zh-CN" sz="2000" dirty="0" smtClean="0"/>
                    </a:p>
                  </a:txBody>
                  <a:tcPr marL="91432" marR="91432" marT="45767" marB="45767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93151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/>
                          <a:ea typeface="宋体"/>
                        </a:rPr>
                        <a:t>RequestDispatcher getRequestDispatcher (String path)</a:t>
                      </a:r>
                      <a:endParaRPr lang="zh-CN" sz="14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400" dirty="0">
                          <a:effectLst/>
                          <a:latin typeface="Times New Roman"/>
                          <a:ea typeface="宋体"/>
                          <a:cs typeface="宋体"/>
                        </a:rPr>
                        <a:t>返回封装了某个路径所指定资源的</a:t>
                      </a:r>
                      <a:r>
                        <a:rPr lang="en-US" sz="1400" dirty="0" err="1">
                          <a:effectLst/>
                          <a:latin typeface="Times New Roman"/>
                          <a:ea typeface="宋体"/>
                          <a:cs typeface="宋体"/>
                        </a:rPr>
                        <a:t>RequestDispatcher</a:t>
                      </a:r>
                      <a:r>
                        <a:rPr lang="zh-CN" sz="1400" dirty="0">
                          <a:effectLst/>
                          <a:latin typeface="Times New Roman"/>
                          <a:ea typeface="宋体"/>
                          <a:cs typeface="宋体"/>
                        </a:rPr>
                        <a:t>对象。其中，参数</a:t>
                      </a:r>
                      <a:r>
                        <a:rPr lang="en-US" sz="1400" dirty="0">
                          <a:effectLst/>
                          <a:latin typeface="Times New Roman"/>
                          <a:ea typeface="宋体"/>
                          <a:cs typeface="宋体"/>
                        </a:rPr>
                        <a:t>path</a:t>
                      </a:r>
                      <a:r>
                        <a:rPr lang="zh-CN" sz="1400" dirty="0">
                          <a:effectLst/>
                          <a:latin typeface="Times New Roman"/>
                          <a:ea typeface="宋体"/>
                          <a:cs typeface="宋体"/>
                        </a:rPr>
                        <a:t>必须以 “</a:t>
                      </a:r>
                      <a:r>
                        <a:rPr lang="en-US" sz="1400" dirty="0">
                          <a:effectLst/>
                          <a:latin typeface="Times New Roman"/>
                          <a:ea typeface="宋体"/>
                          <a:cs typeface="宋体"/>
                        </a:rPr>
                        <a:t>/</a:t>
                      </a:r>
                      <a:r>
                        <a:rPr lang="zh-CN" sz="1400" dirty="0">
                          <a:effectLst/>
                          <a:latin typeface="Times New Roman"/>
                          <a:ea typeface="宋体"/>
                          <a:cs typeface="宋体"/>
                        </a:rPr>
                        <a:t>”开头，用于表示当前</a:t>
                      </a:r>
                      <a:r>
                        <a:rPr lang="en-US" sz="1400" dirty="0">
                          <a:effectLst/>
                          <a:latin typeface="Times New Roman"/>
                          <a:ea typeface="宋体"/>
                          <a:cs typeface="宋体"/>
                        </a:rPr>
                        <a:t>Web</a:t>
                      </a:r>
                      <a:r>
                        <a:rPr lang="zh-CN" sz="1400" dirty="0">
                          <a:effectLst/>
                          <a:latin typeface="Times New Roman"/>
                          <a:ea typeface="宋体"/>
                          <a:cs typeface="宋体"/>
                        </a:rPr>
                        <a:t>应用的根目录。需要注意的是，</a:t>
                      </a:r>
                      <a:r>
                        <a:rPr lang="en-US" sz="1400" dirty="0">
                          <a:effectLst/>
                          <a:latin typeface="Times New Roman"/>
                          <a:ea typeface="宋体"/>
                          <a:cs typeface="宋体"/>
                        </a:rPr>
                        <a:t>WEB-INF</a:t>
                      </a:r>
                      <a:r>
                        <a:rPr lang="zh-CN" sz="1400" dirty="0">
                          <a:effectLst/>
                          <a:latin typeface="Times New Roman"/>
                          <a:ea typeface="宋体"/>
                          <a:cs typeface="宋体"/>
                        </a:rPr>
                        <a:t>目录中的内容对</a:t>
                      </a:r>
                      <a:r>
                        <a:rPr lang="en-US" sz="1400" dirty="0" err="1">
                          <a:effectLst/>
                          <a:latin typeface="Times New Roman"/>
                          <a:ea typeface="宋体"/>
                          <a:cs typeface="宋体"/>
                        </a:rPr>
                        <a:t>RequestDispatcher</a:t>
                      </a:r>
                      <a:r>
                        <a:rPr lang="zh-CN" sz="1400" dirty="0">
                          <a:effectLst/>
                          <a:latin typeface="Times New Roman"/>
                          <a:ea typeface="宋体"/>
                          <a:cs typeface="宋体"/>
                        </a:rPr>
                        <a:t>对象也是可见的，因此，传递给</a:t>
                      </a:r>
                      <a:r>
                        <a:rPr lang="en-US" sz="1400" dirty="0" err="1">
                          <a:effectLst/>
                          <a:latin typeface="Times New Roman"/>
                          <a:ea typeface="宋体"/>
                          <a:cs typeface="宋体"/>
                        </a:rPr>
                        <a:t>getRequestDispatcher</a:t>
                      </a:r>
                      <a:r>
                        <a:rPr lang="en-US" sz="1400" dirty="0">
                          <a:effectLst/>
                          <a:latin typeface="Times New Roman"/>
                          <a:ea typeface="宋体"/>
                          <a:cs typeface="宋体"/>
                        </a:rPr>
                        <a:t>(String path)</a:t>
                      </a:r>
                      <a:r>
                        <a:rPr lang="zh-CN" sz="1400" dirty="0">
                          <a:effectLst/>
                          <a:latin typeface="Times New Roman"/>
                          <a:ea typeface="宋体"/>
                          <a:cs typeface="宋体"/>
                        </a:rPr>
                        <a:t>方法的资源可以是</a:t>
                      </a:r>
                      <a:r>
                        <a:rPr lang="en-US" sz="1400" dirty="0">
                          <a:effectLst/>
                          <a:latin typeface="Times New Roman"/>
                          <a:ea typeface="宋体"/>
                          <a:cs typeface="宋体"/>
                        </a:rPr>
                        <a:t>WEB-INF</a:t>
                      </a:r>
                      <a:r>
                        <a:rPr lang="zh-CN" sz="1400" dirty="0">
                          <a:effectLst/>
                          <a:latin typeface="Times New Roman"/>
                          <a:ea typeface="宋体"/>
                          <a:cs typeface="宋体"/>
                        </a:rPr>
                        <a:t>目录中的文件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1964889"/>
              </p:ext>
            </p:extLst>
          </p:nvPr>
        </p:nvGraphicFramePr>
        <p:xfrm>
          <a:off x="395536" y="3696458"/>
          <a:ext cx="8249989" cy="2129057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062497"/>
                <a:gridCol w="6187492"/>
              </a:tblGrid>
              <a:tr h="53501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 smtClean="0"/>
                        <a:t>方法声明</a:t>
                      </a:r>
                      <a:endParaRPr lang="en-US" altLang="zh-CN" sz="2000" dirty="0" smtClean="0"/>
                    </a:p>
                  </a:txBody>
                  <a:tcPr marL="91432" marR="91432" marT="45767" marB="45767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/>
                        <a:t>功能描述</a:t>
                      </a:r>
                      <a:endParaRPr lang="en-US" altLang="zh-CN" sz="2000" dirty="0" smtClean="0"/>
                    </a:p>
                  </a:txBody>
                  <a:tcPr marL="91432" marR="91432" marT="45767" marB="45767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740607"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/>
                          <a:ea typeface="宋体"/>
                          <a:cs typeface="宋体"/>
                        </a:rPr>
                        <a:t>forward(</a:t>
                      </a:r>
                      <a:r>
                        <a:rPr lang="en-US" sz="1200" dirty="0" err="1">
                          <a:effectLst/>
                          <a:latin typeface="Times New Roman"/>
                          <a:ea typeface="宋体"/>
                          <a:cs typeface="宋体"/>
                        </a:rPr>
                        <a:t>ServletRequest</a:t>
                      </a:r>
                      <a:r>
                        <a:rPr lang="en-US" sz="1200" dirty="0">
                          <a:effectLst/>
                          <a:latin typeface="Times New Roman"/>
                          <a:ea typeface="宋体"/>
                          <a:cs typeface="宋体"/>
                        </a:rPr>
                        <a:t> </a:t>
                      </a:r>
                      <a:r>
                        <a:rPr lang="en-US" sz="1200" dirty="0" smtClean="0">
                          <a:effectLst/>
                          <a:latin typeface="Times New Roman"/>
                          <a:ea typeface="宋体"/>
                          <a:cs typeface="宋体"/>
                        </a:rPr>
                        <a:t>request,</a:t>
                      </a:r>
                      <a:r>
                        <a:rPr lang="en-US" sz="1200" baseline="0" dirty="0" smtClean="0">
                          <a:effectLst/>
                          <a:latin typeface="Times New Roman"/>
                          <a:ea typeface="宋体"/>
                          <a:cs typeface="宋体"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  <a:latin typeface="Times New Roman"/>
                          <a:ea typeface="宋体"/>
                          <a:cs typeface="宋体"/>
                        </a:rPr>
                        <a:t>ServletResponse</a:t>
                      </a:r>
                      <a:r>
                        <a:rPr lang="en-US" sz="1200" dirty="0" smtClean="0">
                          <a:effectLst/>
                          <a:latin typeface="Times New Roman"/>
                          <a:ea typeface="宋体"/>
                          <a:cs typeface="宋体"/>
                        </a:rPr>
                        <a:t> </a:t>
                      </a:r>
                      <a:r>
                        <a:rPr lang="en-US" sz="1200" dirty="0">
                          <a:effectLst/>
                          <a:latin typeface="Times New Roman"/>
                          <a:ea typeface="宋体"/>
                          <a:cs typeface="宋体"/>
                        </a:rPr>
                        <a:t>response)</a:t>
                      </a:r>
                      <a:endParaRPr lang="zh-CN" sz="1200" dirty="0">
                        <a:effectLst/>
                        <a:latin typeface="Times New Roman"/>
                        <a:ea typeface="宋体"/>
                        <a:cs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400" dirty="0">
                          <a:effectLst/>
                          <a:latin typeface="Times New Roman"/>
                          <a:ea typeface="宋体"/>
                          <a:cs typeface="宋体"/>
                        </a:rPr>
                        <a:t>该方法用于将请求从一个</a:t>
                      </a:r>
                      <a:r>
                        <a:rPr lang="en-US" sz="1400" dirty="0">
                          <a:effectLst/>
                          <a:latin typeface="Times New Roman"/>
                          <a:ea typeface="宋体"/>
                          <a:cs typeface="宋体"/>
                        </a:rPr>
                        <a:t>Servlet</a:t>
                      </a:r>
                      <a:r>
                        <a:rPr lang="zh-CN" sz="1400" dirty="0">
                          <a:effectLst/>
                          <a:latin typeface="Times New Roman"/>
                          <a:ea typeface="宋体"/>
                          <a:cs typeface="宋体"/>
                        </a:rPr>
                        <a:t>传递给另外的一个</a:t>
                      </a:r>
                      <a:r>
                        <a:rPr lang="en-US" sz="1400" dirty="0">
                          <a:effectLst/>
                          <a:latin typeface="Times New Roman"/>
                          <a:ea typeface="宋体"/>
                          <a:cs typeface="宋体"/>
                        </a:rPr>
                        <a:t>Web</a:t>
                      </a:r>
                      <a:r>
                        <a:rPr lang="zh-CN" sz="1400" dirty="0">
                          <a:effectLst/>
                          <a:latin typeface="Times New Roman"/>
                          <a:ea typeface="宋体"/>
                          <a:cs typeface="宋体"/>
                        </a:rPr>
                        <a:t>资源。在</a:t>
                      </a:r>
                      <a:r>
                        <a:rPr lang="en-US" sz="1400" dirty="0">
                          <a:effectLst/>
                          <a:latin typeface="Times New Roman"/>
                          <a:ea typeface="宋体"/>
                          <a:cs typeface="宋体"/>
                        </a:rPr>
                        <a:t>Servlet</a:t>
                      </a:r>
                      <a:r>
                        <a:rPr lang="zh-CN" sz="1400" dirty="0">
                          <a:effectLst/>
                          <a:latin typeface="Times New Roman"/>
                          <a:ea typeface="宋体"/>
                          <a:cs typeface="宋体"/>
                        </a:rPr>
                        <a:t>中，可以对请求做一个初步处理，然后通过调用这个方法，将请求传递给其它资源进行响应。需要注意的是，该方法必须在响应提交给客户端之前被调用，否则将抛出</a:t>
                      </a:r>
                      <a:r>
                        <a:rPr lang="en-US" sz="1400" dirty="0" err="1">
                          <a:effectLst/>
                          <a:latin typeface="Times New Roman"/>
                          <a:ea typeface="宋体"/>
                          <a:cs typeface="宋体"/>
                        </a:rPr>
                        <a:t>IllegalStateException</a:t>
                      </a:r>
                      <a:r>
                        <a:rPr lang="zh-CN" sz="1400" dirty="0">
                          <a:effectLst/>
                          <a:latin typeface="Times New Roman"/>
                          <a:ea typeface="宋体"/>
                          <a:cs typeface="宋体"/>
                        </a:rPr>
                        <a:t>异常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740607"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/>
                          <a:ea typeface="宋体"/>
                          <a:cs typeface="宋体"/>
                        </a:rPr>
                        <a:t>include(</a:t>
                      </a:r>
                      <a:r>
                        <a:rPr lang="en-US" sz="1200" dirty="0" err="1">
                          <a:effectLst/>
                          <a:latin typeface="Times New Roman"/>
                          <a:ea typeface="宋体"/>
                          <a:cs typeface="宋体"/>
                        </a:rPr>
                        <a:t>ServletRequest</a:t>
                      </a:r>
                      <a:r>
                        <a:rPr lang="en-US" sz="1200" dirty="0">
                          <a:effectLst/>
                          <a:latin typeface="Times New Roman"/>
                          <a:ea typeface="宋体"/>
                          <a:cs typeface="宋体"/>
                        </a:rPr>
                        <a:t> </a:t>
                      </a:r>
                      <a:r>
                        <a:rPr lang="en-US" sz="1200" dirty="0" smtClean="0">
                          <a:effectLst/>
                          <a:latin typeface="Times New Roman"/>
                          <a:ea typeface="宋体"/>
                          <a:cs typeface="宋体"/>
                        </a:rPr>
                        <a:t>request,</a:t>
                      </a:r>
                      <a:r>
                        <a:rPr lang="en-US" sz="1200" baseline="0" dirty="0" smtClean="0">
                          <a:effectLst/>
                          <a:latin typeface="Times New Roman"/>
                          <a:ea typeface="宋体"/>
                          <a:cs typeface="宋体"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  <a:latin typeface="Times New Roman"/>
                          <a:ea typeface="宋体"/>
                          <a:cs typeface="宋体"/>
                        </a:rPr>
                        <a:t>ServletResponse</a:t>
                      </a:r>
                      <a:r>
                        <a:rPr lang="en-US" sz="1200" dirty="0" smtClean="0">
                          <a:effectLst/>
                          <a:latin typeface="Times New Roman"/>
                          <a:ea typeface="宋体"/>
                          <a:cs typeface="宋体"/>
                        </a:rPr>
                        <a:t> </a:t>
                      </a:r>
                      <a:r>
                        <a:rPr lang="en-US" sz="1200" dirty="0">
                          <a:effectLst/>
                          <a:latin typeface="Times New Roman"/>
                          <a:ea typeface="宋体"/>
                          <a:cs typeface="宋体"/>
                        </a:rPr>
                        <a:t>response)</a:t>
                      </a:r>
                      <a:endParaRPr lang="zh-CN" sz="1200" dirty="0">
                        <a:effectLst/>
                        <a:latin typeface="Times New Roman"/>
                        <a:ea typeface="宋体"/>
                        <a:cs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400" dirty="0">
                          <a:effectLst/>
                          <a:latin typeface="Times New Roman"/>
                          <a:ea typeface="宋体"/>
                          <a:cs typeface="宋体"/>
                        </a:rPr>
                        <a:t>该方法用于将其它的资源作为当前响应内容包含进来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</a:tbl>
          </a:graphicData>
        </a:graphic>
      </p:graphicFrame>
      <p:sp>
        <p:nvSpPr>
          <p:cNvPr id="10" name="内容占位符 2"/>
          <p:cNvSpPr txBox="1">
            <a:spLocks/>
          </p:cNvSpPr>
          <p:nvPr/>
        </p:nvSpPr>
        <p:spPr bwMode="auto">
          <a:xfrm>
            <a:off x="196800" y="3053170"/>
            <a:ext cx="7975600" cy="68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1">
              <a:lnSpc>
                <a:spcPct val="150000"/>
              </a:lnSpc>
              <a:spcBef>
                <a:spcPct val="20000"/>
              </a:spcBef>
              <a:buFontTx/>
              <a:buChar char="–"/>
            </a:pPr>
            <a:r>
              <a:rPr lang="en-US" altLang="zh-CN" sz="2000" b="1" kern="0" dirty="0" err="1">
                <a:solidFill>
                  <a:srgbClr val="0070C0"/>
                </a:solidFill>
                <a:latin typeface="Arial"/>
                <a:ea typeface="宋体"/>
              </a:rPr>
              <a:t>RequestDispatcher</a:t>
            </a:r>
            <a:r>
              <a:rPr lang="zh-CN" altLang="zh-CN" sz="2000" b="1" kern="0" dirty="0" smtClean="0">
                <a:solidFill>
                  <a:srgbClr val="0070C0"/>
                </a:solidFill>
                <a:latin typeface="Arial"/>
                <a:ea typeface="宋体"/>
              </a:rPr>
              <a:t>对象</a:t>
            </a:r>
            <a:r>
              <a:rPr lang="zh-CN" altLang="en-US" sz="2000" b="1" kern="0" dirty="0" smtClean="0">
                <a:solidFill>
                  <a:srgbClr val="0070C0"/>
                </a:solidFill>
                <a:latin typeface="Arial"/>
                <a:ea typeface="宋体"/>
              </a:rPr>
              <a:t>中</a:t>
            </a:r>
            <a:r>
              <a:rPr lang="zh-CN" altLang="zh-CN" sz="2000" b="1" kern="0" dirty="0" smtClean="0">
                <a:solidFill>
                  <a:srgbClr val="0070C0"/>
                </a:solidFill>
                <a:latin typeface="Arial"/>
                <a:ea typeface="宋体"/>
              </a:rPr>
              <a:t>的</a:t>
            </a:r>
            <a:r>
              <a:rPr lang="zh-CN" altLang="en-US" sz="2000" b="1" kern="0" dirty="0">
                <a:solidFill>
                  <a:srgbClr val="0070C0"/>
                </a:solidFill>
                <a:latin typeface="Arial"/>
                <a:ea typeface="宋体"/>
              </a:rPr>
              <a:t>相关</a:t>
            </a:r>
            <a:r>
              <a:rPr lang="zh-CN" altLang="zh-CN" sz="2000" b="1" kern="0" dirty="0" smtClean="0">
                <a:solidFill>
                  <a:srgbClr val="0070C0"/>
                </a:solidFill>
                <a:latin typeface="Arial"/>
                <a:ea typeface="宋体"/>
              </a:rPr>
              <a:t>方法</a:t>
            </a:r>
            <a:endParaRPr lang="en-US" altLang="zh-CN" sz="2000" b="1" kern="0" dirty="0">
              <a:solidFill>
                <a:srgbClr val="0070C0"/>
              </a:solidFill>
              <a:latin typeface="Arial"/>
              <a:ea typeface="宋体"/>
            </a:endParaRPr>
          </a:p>
          <a:p>
            <a:pPr lvl="1">
              <a:lnSpc>
                <a:spcPct val="150000"/>
              </a:lnSpc>
              <a:spcBef>
                <a:spcPct val="20000"/>
              </a:spcBef>
              <a:buFontTx/>
              <a:buChar char="–"/>
            </a:pPr>
            <a:endParaRPr lang="en-US" altLang="zh-CN" sz="2400" dirty="0"/>
          </a:p>
        </p:txBody>
      </p:sp>
      <p:sp>
        <p:nvSpPr>
          <p:cNvPr id="11" name="标题 1"/>
          <p:cNvSpPr>
            <a:spLocks noChangeArrowheads="1"/>
          </p:cNvSpPr>
          <p:nvPr/>
        </p:nvSpPr>
        <p:spPr bwMode="auto">
          <a:xfrm>
            <a:off x="1643733" y="389681"/>
            <a:ext cx="7320755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4.5.1 </a:t>
            </a:r>
            <a:r>
              <a:rPr lang="en-US" altLang="zh-CN" sz="3200" b="1" dirty="0" err="1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RequestDispatcher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对象的应用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42928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6" grpId="0"/>
      <p:bldP spid="6" grpId="1"/>
      <p:bldP spid="1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251520" y="923156"/>
            <a:ext cx="5472608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pic>
        <p:nvPicPr>
          <p:cNvPr id="12" name="图片 11"/>
          <p:cNvPicPr>
            <a:picLocks noChangeAspect="1" noChangeArrowheads="1"/>
          </p:cNvPicPr>
          <p:nvPr>
            <p:extLst>
              <p:ext uri="{D42A27DB-BD31-4B8C-83A1-F6EECF244321}">
                <p14:modId xmlns:p14="http://schemas.microsoft.com/office/powerpoint/2010/main" val="3551886147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377" y="1916832"/>
            <a:ext cx="2519363" cy="375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图片 12"/>
          <p:cNvPicPr>
            <a:picLocks noChangeAspect="1" noChangeArrowheads="1"/>
          </p:cNvPicPr>
          <p:nvPr>
            <p:extLst>
              <p:ext uri="{D42A27DB-BD31-4B8C-83A1-F6EECF244321}">
                <p14:modId xmlns:p14="http://schemas.microsoft.com/office/powerpoint/2010/main" val="995947087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740" y="2421657"/>
            <a:ext cx="1800225" cy="296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图片 9"/>
          <p:cNvPicPr/>
          <p:nvPr>
            <p:extLst>
              <p:ext uri="{D42A27DB-BD31-4B8C-83A1-F6EECF244321}">
                <p14:modId xmlns:p14="http://schemas.microsoft.com/office/powerpoint/2010/main" val="1025948439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012160" y="4159572"/>
            <a:ext cx="1512168" cy="736807"/>
          </a:xfrm>
          <a:prstGeom prst="rect">
            <a:avLst/>
          </a:prstGeom>
        </p:spPr>
      </p:pic>
      <p:pic>
        <p:nvPicPr>
          <p:cNvPr id="6" name="图片 5"/>
          <p:cNvPicPr/>
          <p:nvPr>
            <p:extLst>
              <p:ext uri="{D42A27DB-BD31-4B8C-83A1-F6EECF244321}">
                <p14:modId xmlns:p14="http://schemas.microsoft.com/office/powerpoint/2010/main" val="2330792697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012160" y="3007444"/>
            <a:ext cx="1485403" cy="723766"/>
          </a:xfrm>
          <a:prstGeom prst="rect">
            <a:avLst/>
          </a:prstGeom>
        </p:spPr>
      </p:pic>
      <p:cxnSp>
        <p:nvCxnSpPr>
          <p:cNvPr id="20" name="直接箭头连接符 19"/>
          <p:cNvCxnSpPr/>
          <p:nvPr/>
        </p:nvCxnSpPr>
        <p:spPr>
          <a:xfrm flipV="1">
            <a:off x="2627784" y="3295476"/>
            <a:ext cx="3384376" cy="28803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/>
          <p:nvPr>
            <p:extLst>
              <p:ext uri="{D42A27DB-BD31-4B8C-83A1-F6EECF244321}">
                <p14:modId xmlns:p14="http://schemas.microsoft.com/office/powerpoint/2010/main" val="3132094832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275847" y="3079452"/>
            <a:ext cx="1297494" cy="325561"/>
          </a:xfrm>
          <a:prstGeom prst="rect">
            <a:avLst/>
          </a:prstGeom>
        </p:spPr>
      </p:pic>
      <p:pic>
        <p:nvPicPr>
          <p:cNvPr id="4" name="图片 3"/>
          <p:cNvPicPr/>
          <p:nvPr>
            <p:extLst>
              <p:ext uri="{D42A27DB-BD31-4B8C-83A1-F6EECF244321}">
                <p14:modId xmlns:p14="http://schemas.microsoft.com/office/powerpoint/2010/main" val="327084729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3354772" y="4269358"/>
            <a:ext cx="870345" cy="322262"/>
          </a:xfrm>
          <a:prstGeom prst="rect">
            <a:avLst/>
          </a:prstGeom>
        </p:spPr>
      </p:pic>
      <p:cxnSp>
        <p:nvCxnSpPr>
          <p:cNvPr id="30" name="直接箭头连接符 29"/>
          <p:cNvCxnSpPr/>
          <p:nvPr/>
        </p:nvCxnSpPr>
        <p:spPr>
          <a:xfrm>
            <a:off x="6732240" y="3737148"/>
            <a:ext cx="0" cy="422424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/>
          <p:cNvPicPr/>
          <p:nvPr>
            <p:extLst>
              <p:ext uri="{D42A27DB-BD31-4B8C-83A1-F6EECF244321}">
                <p14:modId xmlns:p14="http://schemas.microsoft.com/office/powerpoint/2010/main" val="2058407942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99592" y="3007444"/>
            <a:ext cx="1656184" cy="1656184"/>
          </a:xfrm>
          <a:prstGeom prst="rect">
            <a:avLst/>
          </a:prstGeom>
        </p:spPr>
      </p:pic>
      <p:sp>
        <p:nvSpPr>
          <p:cNvPr id="33" name="内容占位符 2"/>
          <p:cNvSpPr txBox="1">
            <a:spLocks/>
          </p:cNvSpPr>
          <p:nvPr/>
        </p:nvSpPr>
        <p:spPr bwMode="auto">
          <a:xfrm>
            <a:off x="323528" y="1520751"/>
            <a:ext cx="7975600" cy="68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1">
              <a:lnSpc>
                <a:spcPct val="150000"/>
              </a:lnSpc>
              <a:spcBef>
                <a:spcPct val="20000"/>
              </a:spcBef>
              <a:buFontTx/>
              <a:buChar char="–"/>
            </a:pPr>
            <a:r>
              <a:rPr lang="zh-CN" altLang="en-US" sz="2000" b="1" kern="0" dirty="0" smtClean="0">
                <a:solidFill>
                  <a:srgbClr val="0070C0"/>
                </a:solidFill>
                <a:latin typeface="Arial"/>
                <a:ea typeface="宋体"/>
              </a:rPr>
              <a:t>请求转发原理图</a:t>
            </a:r>
            <a:endParaRPr lang="en-US" altLang="zh-CN" sz="2000" b="1" kern="0" dirty="0">
              <a:solidFill>
                <a:srgbClr val="0070C0"/>
              </a:solidFill>
              <a:latin typeface="Arial"/>
              <a:ea typeface="宋体"/>
            </a:endParaRPr>
          </a:p>
        </p:txBody>
      </p:sp>
      <p:cxnSp>
        <p:nvCxnSpPr>
          <p:cNvPr id="7" name="直接箭头连接符 6"/>
          <p:cNvCxnSpPr>
            <a:cxnSpLocks noChangeShapeType="1"/>
          </p:cNvCxnSpPr>
          <p:nvPr/>
        </p:nvCxnSpPr>
        <p:spPr bwMode="auto">
          <a:xfrm flipH="1" flipV="1">
            <a:off x="2627784" y="4034807"/>
            <a:ext cx="3384376" cy="48480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 noChangeArrowheads="1"/>
          </p:cNvPicPr>
          <p:nvPr>
            <p:extLst>
              <p:ext uri="{D42A27DB-BD31-4B8C-83A1-F6EECF244321}">
                <p14:modId xmlns:p14="http://schemas.microsoft.com/office/powerpoint/2010/main" val="2045623437"/>
              </p:ext>
            </p:ext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8" y="3737148"/>
            <a:ext cx="719262" cy="42242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标题 1"/>
          <p:cNvSpPr>
            <a:spLocks noChangeArrowheads="1"/>
          </p:cNvSpPr>
          <p:nvPr/>
        </p:nvSpPr>
        <p:spPr bwMode="auto">
          <a:xfrm>
            <a:off x="1643733" y="389681"/>
            <a:ext cx="7320755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4.5.2 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请求转发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75179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251520" y="923156"/>
            <a:ext cx="5472608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cxnSp>
        <p:nvCxnSpPr>
          <p:cNvPr id="3" name="直接箭头连接符 2"/>
          <p:cNvCxnSpPr>
            <a:cxnSpLocks noChangeShapeType="1"/>
          </p:cNvCxnSpPr>
          <p:nvPr/>
        </p:nvCxnSpPr>
        <p:spPr bwMode="auto">
          <a:xfrm flipH="1" flipV="1">
            <a:off x="2627784" y="3962798"/>
            <a:ext cx="2628726" cy="1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 noChangeArrowheads="1"/>
          </p:cNvPicPr>
          <p:nvPr>
            <p:extLst>
              <p:ext uri="{D42A27DB-BD31-4B8C-83A1-F6EECF244321}">
                <p14:modId xmlns:p14="http://schemas.microsoft.com/office/powerpoint/2010/main" val="4218420413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377" y="1844824"/>
            <a:ext cx="2519363" cy="375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图片 23"/>
          <p:cNvPicPr>
            <a:picLocks noChangeAspect="1" noChangeArrowheads="1"/>
          </p:cNvPicPr>
          <p:nvPr>
            <p:extLst>
              <p:ext uri="{D42A27DB-BD31-4B8C-83A1-F6EECF244321}">
                <p14:modId xmlns:p14="http://schemas.microsoft.com/office/powerpoint/2010/main" val="680047604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740" y="2349649"/>
            <a:ext cx="1800225" cy="296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直接连接符 5"/>
          <p:cNvCxnSpPr>
            <a:cxnSpLocks noChangeShapeType="1"/>
          </p:cNvCxnSpPr>
          <p:nvPr/>
        </p:nvCxnSpPr>
        <p:spPr bwMode="auto">
          <a:xfrm flipH="1">
            <a:off x="5256510" y="3367484"/>
            <a:ext cx="755650" cy="595313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" name="直接连接符 6"/>
          <p:cNvCxnSpPr>
            <a:cxnSpLocks noChangeShapeType="1"/>
          </p:cNvCxnSpPr>
          <p:nvPr/>
        </p:nvCxnSpPr>
        <p:spPr bwMode="auto">
          <a:xfrm flipH="1" flipV="1">
            <a:off x="5256511" y="3962798"/>
            <a:ext cx="755649" cy="427036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1" name="图片 20"/>
          <p:cNvPicPr/>
          <p:nvPr>
            <p:extLst>
              <p:ext uri="{D42A27DB-BD31-4B8C-83A1-F6EECF244321}">
                <p14:modId xmlns:p14="http://schemas.microsoft.com/office/powerpoint/2010/main" val="2035891003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012160" y="4087564"/>
            <a:ext cx="1512168" cy="736807"/>
          </a:xfrm>
          <a:prstGeom prst="rect">
            <a:avLst/>
          </a:prstGeom>
        </p:spPr>
      </p:pic>
      <p:pic>
        <p:nvPicPr>
          <p:cNvPr id="20" name="图片 19"/>
          <p:cNvPicPr/>
          <p:nvPr>
            <p:extLst>
              <p:ext uri="{D42A27DB-BD31-4B8C-83A1-F6EECF244321}">
                <p14:modId xmlns:p14="http://schemas.microsoft.com/office/powerpoint/2010/main" val="1266481337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012160" y="2935436"/>
            <a:ext cx="1485403" cy="723766"/>
          </a:xfrm>
          <a:prstGeom prst="rect">
            <a:avLst/>
          </a:prstGeom>
        </p:spPr>
      </p:pic>
      <p:cxnSp>
        <p:nvCxnSpPr>
          <p:cNvPr id="10" name="直接箭头连接符 9"/>
          <p:cNvCxnSpPr/>
          <p:nvPr/>
        </p:nvCxnSpPr>
        <p:spPr>
          <a:xfrm flipV="1">
            <a:off x="2627784" y="3223468"/>
            <a:ext cx="3384376" cy="28803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图片 18"/>
          <p:cNvPicPr/>
          <p:nvPr>
            <p:extLst>
              <p:ext uri="{D42A27DB-BD31-4B8C-83A1-F6EECF244321}">
                <p14:modId xmlns:p14="http://schemas.microsoft.com/office/powerpoint/2010/main" val="1335308127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275847" y="2969915"/>
            <a:ext cx="1297494" cy="325561"/>
          </a:xfrm>
          <a:prstGeom prst="rect">
            <a:avLst/>
          </a:prstGeom>
        </p:spPr>
      </p:pic>
      <p:pic>
        <p:nvPicPr>
          <p:cNvPr id="17" name="图片 16"/>
          <p:cNvPicPr/>
          <p:nvPr>
            <p:extLst>
              <p:ext uri="{D42A27DB-BD31-4B8C-83A1-F6EECF244321}">
                <p14:modId xmlns:p14="http://schemas.microsoft.com/office/powerpoint/2010/main" val="3684339116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3354772" y="4067572"/>
            <a:ext cx="870345" cy="322262"/>
          </a:xfrm>
          <a:prstGeom prst="rect">
            <a:avLst/>
          </a:prstGeom>
        </p:spPr>
      </p:pic>
      <p:cxnSp>
        <p:nvCxnSpPr>
          <p:cNvPr id="13" name="直接箭头连接符 12"/>
          <p:cNvCxnSpPr/>
          <p:nvPr/>
        </p:nvCxnSpPr>
        <p:spPr>
          <a:xfrm>
            <a:off x="6732240" y="3665140"/>
            <a:ext cx="0" cy="422424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/>
          <p:cNvPicPr/>
          <p:nvPr>
            <p:extLst>
              <p:ext uri="{D42A27DB-BD31-4B8C-83A1-F6EECF244321}">
                <p14:modId xmlns:p14="http://schemas.microsoft.com/office/powerpoint/2010/main" val="585039899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99592" y="2935436"/>
            <a:ext cx="1656184" cy="1656184"/>
          </a:xfrm>
          <a:prstGeom prst="rect">
            <a:avLst/>
          </a:prstGeom>
        </p:spPr>
      </p:pic>
      <p:sp>
        <p:nvSpPr>
          <p:cNvPr id="16" name="内容占位符 2"/>
          <p:cNvSpPr txBox="1">
            <a:spLocks/>
          </p:cNvSpPr>
          <p:nvPr/>
        </p:nvSpPr>
        <p:spPr bwMode="auto">
          <a:xfrm>
            <a:off x="323528" y="1520751"/>
            <a:ext cx="7975600" cy="68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1">
              <a:lnSpc>
                <a:spcPct val="150000"/>
              </a:lnSpc>
              <a:spcBef>
                <a:spcPct val="20000"/>
              </a:spcBef>
              <a:buFontTx/>
              <a:buChar char="–"/>
            </a:pPr>
            <a:r>
              <a:rPr lang="zh-CN" altLang="en-US" sz="2000" b="1" kern="0" dirty="0" smtClean="0">
                <a:solidFill>
                  <a:srgbClr val="0070C0"/>
                </a:solidFill>
                <a:latin typeface="Arial"/>
                <a:ea typeface="宋体"/>
              </a:rPr>
              <a:t>请求包含原理图</a:t>
            </a:r>
            <a:endParaRPr lang="en-US" altLang="zh-CN" sz="2000" b="1" kern="0" dirty="0">
              <a:solidFill>
                <a:srgbClr val="0070C0"/>
              </a:solidFill>
              <a:latin typeface="Arial"/>
              <a:ea typeface="宋体"/>
            </a:endParaRPr>
          </a:p>
        </p:txBody>
      </p:sp>
      <p:pic>
        <p:nvPicPr>
          <p:cNvPr id="14" name="图片 13"/>
          <p:cNvPicPr>
            <a:picLocks noChangeAspect="1" noChangeArrowheads="1"/>
          </p:cNvPicPr>
          <p:nvPr>
            <p:extLst>
              <p:ext uri="{D42A27DB-BD31-4B8C-83A1-F6EECF244321}">
                <p14:modId xmlns:p14="http://schemas.microsoft.com/office/powerpoint/2010/main" val="4170881793"/>
              </p:ext>
            </p:ext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025" y="3656161"/>
            <a:ext cx="720725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标题 1"/>
          <p:cNvSpPr>
            <a:spLocks noChangeArrowheads="1"/>
          </p:cNvSpPr>
          <p:nvPr/>
        </p:nvSpPr>
        <p:spPr bwMode="auto">
          <a:xfrm>
            <a:off x="1643733" y="389681"/>
            <a:ext cx="7320755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4.5.3 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请求包含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32846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513" y="2676525"/>
            <a:ext cx="2447925" cy="345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圆角矩形 1"/>
          <p:cNvSpPr>
            <a:spLocks noChangeArrowheads="1"/>
          </p:cNvSpPr>
          <p:nvPr/>
        </p:nvSpPr>
        <p:spPr bwMode="auto">
          <a:xfrm>
            <a:off x="2555776" y="1268760"/>
            <a:ext cx="5649986" cy="4680520"/>
          </a:xfrm>
          <a:prstGeom prst="roundRect">
            <a:avLst>
              <a:gd name="adj" fmla="val 16667"/>
            </a:avLst>
          </a:prstGeom>
          <a:noFill/>
          <a:ln w="31750">
            <a:solidFill>
              <a:srgbClr val="006B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2771800" y="1330896"/>
            <a:ext cx="543396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本章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主要介绍了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HttpServletResponse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对象和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HttpServletRequest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对象的使用，其中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HttpServletResponse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对象封装了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响应消息，并且提供了</a:t>
            </a:r>
            <a:r>
              <a:rPr lang="zh-CN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发送状态码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发送响应消息头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发送响应消息体的方法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。使用这些方法可以</a:t>
            </a:r>
            <a:r>
              <a:rPr lang="zh-CN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解决中文输出乱码问题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实现网页的定时刷新跳转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请求重定向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等。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HttpServletRequest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对象封装了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请求消息，也提供了</a:t>
            </a:r>
            <a:r>
              <a:rPr lang="zh-CN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获取请求行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获取请求消息头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获取请求参数的方法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。使用这些方法可以</a:t>
            </a:r>
            <a:r>
              <a:rPr lang="zh-CN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解决请求参数的中文乱码问题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，并且使用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request</a:t>
            </a:r>
            <a:r>
              <a:rPr lang="zh-CN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域对象传递数据的方法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，还可以实现</a:t>
            </a:r>
            <a:r>
              <a:rPr lang="zh-CN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请求转发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请求包含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HttpServletResponse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HttpServletRequest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开发中至关重要，大家要认真学习，深刻掌握。</a:t>
            </a:r>
          </a:p>
        </p:txBody>
      </p:sp>
      <p:sp>
        <p:nvSpPr>
          <p:cNvPr id="5" name="标题 1"/>
          <p:cNvSpPr>
            <a:spLocks noChangeArrowheads="1"/>
          </p:cNvSpPr>
          <p:nvPr/>
        </p:nvSpPr>
        <p:spPr bwMode="auto">
          <a:xfrm>
            <a:off x="1643733" y="389681"/>
            <a:ext cx="7320755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sz="3200" b="1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本章小</a:t>
            </a:r>
            <a:r>
              <a:rPr lang="zh-CN" altLang="en-US" sz="3200" b="1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结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89156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/>
          <p:cNvSpPr txBox="1">
            <a:spLocks/>
          </p:cNvSpPr>
          <p:nvPr/>
        </p:nvSpPr>
        <p:spPr bwMode="auto">
          <a:xfrm>
            <a:off x="481013" y="1300163"/>
            <a:ext cx="7975600" cy="4145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71500" indent="-571500" eaLnBrk="1" hangingPunct="1"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✎ </a:t>
            </a:r>
            <a:r>
              <a:rPr lang="zh-CN" altLang="en-US" sz="24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本章作业 </a:t>
            </a:r>
          </a:p>
          <a:p>
            <a:pPr lvl="1">
              <a:lnSpc>
                <a:spcPct val="150000"/>
              </a:lnSpc>
              <a:defRPr/>
            </a:pPr>
            <a:r>
              <a:rPr lang="zh-CN" altLang="zh-CN" sz="2400" dirty="0" smtClean="0"/>
              <a:t>简述</a:t>
            </a:r>
            <a:r>
              <a:rPr lang="zh-CN" altLang="zh-CN" sz="2400" dirty="0"/>
              <a:t>请求转发与重定向的异同？（至少写</a:t>
            </a:r>
            <a:r>
              <a:rPr lang="en-US" altLang="zh-CN" sz="2400" dirty="0"/>
              <a:t>3</a:t>
            </a:r>
            <a:r>
              <a:rPr lang="zh-CN" altLang="zh-CN" sz="2400" dirty="0"/>
              <a:t>点</a:t>
            </a:r>
            <a:r>
              <a:rPr lang="zh-CN" altLang="zh-CN" sz="2400" dirty="0" smtClean="0"/>
              <a:t>）</a:t>
            </a:r>
            <a:endParaRPr lang="zh-CN" altLang="en-US" sz="2400" dirty="0" smtClean="0"/>
          </a:p>
          <a:p>
            <a:pPr lvl="1">
              <a:lnSpc>
                <a:spcPct val="150000"/>
              </a:lnSpc>
              <a:defRPr/>
            </a:pPr>
            <a:r>
              <a:rPr lang="zh-CN" altLang="zh-CN" sz="2400" dirty="0" smtClean="0"/>
              <a:t>请</a:t>
            </a:r>
            <a:r>
              <a:rPr lang="zh-CN" altLang="zh-CN" sz="2400" dirty="0"/>
              <a:t>写出禁止浏览器缓存页面的核心代码</a:t>
            </a:r>
            <a:r>
              <a:rPr lang="zh-CN" altLang="zh-CN" sz="2400" dirty="0" smtClean="0"/>
              <a:t>。</a:t>
            </a:r>
            <a:endParaRPr lang="en-US" altLang="zh-CN" sz="2400" dirty="0" smtClean="0"/>
          </a:p>
          <a:p>
            <a:pPr marL="571500" lvl="1" indent="-571500" eaLnBrk="1" hangingPunct="1">
              <a:lnSpc>
                <a:spcPct val="150000"/>
              </a:lnSpc>
              <a:buNone/>
              <a:defRPr/>
            </a:pPr>
            <a:r>
              <a:rPr lang="zh-CN" altLang="en-US" sz="24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✎ </a:t>
            </a:r>
            <a:r>
              <a:rPr lang="zh-CN" altLang="en-US" sz="24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预习</a:t>
            </a:r>
            <a:r>
              <a:rPr lang="zh-CN" altLang="en-US" sz="24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作业</a:t>
            </a:r>
            <a:endParaRPr lang="en-US" altLang="zh-CN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会话</a:t>
            </a:r>
            <a:r>
              <a:rPr lang="zh-CN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的特点。</a:t>
            </a:r>
            <a:endParaRPr lang="zh-CN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defRPr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什么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Cookie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对象和</a:t>
            </a:r>
            <a:r>
              <a:rPr lang="en-US" altLang="zh-CN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Session</a:t>
            </a:r>
            <a:r>
              <a:rPr lang="zh-CN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对象？</a:t>
            </a:r>
            <a:endParaRPr lang="en-US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defRPr/>
            </a:pPr>
            <a:endParaRPr lang="en-US" altLang="zh-CN" sz="2400" dirty="0" smtClean="0"/>
          </a:p>
          <a:p>
            <a:pPr lvl="1">
              <a:lnSpc>
                <a:spcPct val="150000"/>
              </a:lnSpc>
              <a:defRPr/>
            </a:pPr>
            <a:endParaRPr lang="en-US" altLang="zh-CN" sz="2400" dirty="0" smtClean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60282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3640794647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LTRA_SCORM_COURSE_ID" val="B4335F78-B878-4EB6-B9F7-1D7ECEFFD0C4"/>
  <p:tag name="ISPRING_SCORM_RATE_SLIDES" val="1"/>
  <p:tag name="ISPRING_SCORM_RATE_QUIZZES" val="0"/>
  <p:tag name="ISPRING_SCORM_PASSING_SCORE" val="100.0000000000"/>
  <p:tag name="ISPRINGONLINEFOLDERID" val="0"/>
  <p:tag name="ISPRINGONLINEFOLDERPATH" val="Content List"/>
  <p:tag name="ISPRINGCLOUDFOLDERID" val="0"/>
  <p:tag name="ISPRINGCLOUDFOLDERPATH" val="Content List"/>
  <p:tag name="ISPRING_PLAYERS_CUSTOMIZATION" val="UEsDBBQAAgAIAMWLWEkYJkPyLgQAAH8OAAAdAAAAdW5pdmVyc2FsL2NvbW1vbl9tZXNzYWdlcy5sbmetl19v21QUwN8n7TtcWRqCB7INadMk0kw38W1izbEz+6Z/QMi6je8ya45vsZ2w8jQQTBQJbdIGGmNQFZUWiRHQJNBYYZ+mcbonvgLHdrIlGRC73YOlXCvnd/4fn1u8eL3joh73A0d4C9LZwhkJca8lbMdrL0hNuvjmBQkFIfNs5gqPL0iekNDF0skTRZd57S5rc/h98gRCxQ4PAjgGpfj04owce0FqlK2KXm9gbdVS9apulZWqVKqIzjrzNpAq2uL1t85fuH723Pk3iqdHclkwZh2r6jQIJaRzZzKANGroqgU0oloaWaFS6bV2+Pbsk4+jN6mqaEQqDXb2hk8eHe7dHHzzNB+iYZAlMMUF9TPPXE7TMIhGLVNVZGIppqXpNAmYSiiRpVJ075fB7d3h/t5w/+eDx58fPL4RPdwe3v8k+u3W4d5nh/1fB399+fefW/PUyAZeVrSqRXVdNS2iyeM3Umm4fyf6dmt4d3/48G5OjIFNYoCNd3affb1zBFkrKYVUPNq8ET3YzAepKdWaCg+NrXj2072DJ/18gAbRIADz/a4T08RVYpX1FUgQVMrt3Twi+iXQst0f9O/nkVolZpL/eTIaXlKqmCq6FtePQUxqKJWkeFZFF7WYh4TnbiDWaoEcWvd5zxHdAN70HP4Bt1HgOjYP8mkxyeUmlK2C1VTLVdbjKBQJcgREjofCqxy1nR4HE3yb+/N0QBtViByn53JTecdaxIpKZAvyJevLFk3aPVbGfI48ESLmuiJ2APQyu8e8FkdrvMW6AUcb8DfbsZO/rTNwO7bk/a7zIWJhah86NWo5TSYrpwrHM02hKsyPZeZ7MIJzoqYa/mVnO90APA1D3lkP53kxEYnCK7HiuH41sGn+p1NZ8nJMj2b053XHhBInBnz5oOXLjsguQepQH1KJdJjjZpdStEVQ1PB5wL2Q+0jxruTQqekjgCbQURlLEPkpE5YgIznkl0nZVGgcY74WOCGfJ5kkKs33v9dIC9YEl4f8RZ2s8SsC+t/lrAdJhPdOkBZO4QjKchXEeLLGI3ByTo8oGhjUZiGsZAhMcp0O+G9nYDbrZBzBdLxOReIVff//T09qfvTR94OdL1LsPJpJsFGpWRWsVQiU+eDWV9HvWYWgTGNjVGpaKi7H4tGjbfjyRx//GG39EG0+BecGNz8d9P/ICEw3MJksYoCOo5aQCoVCRsasRakhsBh99yAXATownjvkOeldTYQ8eG8ehOLytFxyyCI1Wl7HcnlW2CTxo/BhSnGlVofagJ3D4IHo+q35O8EkoY6NSzABkr1KKtWZfw3GBxXCzUVJ/I5HWJhP+5F2+EnA8aZw7DVVGhaW5eSWA/cb12ldS79eNmLJHIuvOy5cd7LCKjWswYiZ4XHbCXMCk6k+bnfov/Q8rrR4aXtpyD8/BclVsXh64ub4D1BLAwQUAAIACADFi1hJCswVnxYEAAALEAAAJwAAAHVuaXZlcnNhbC9mbGFzaF9wdWJsaXNoaW5nX3NldHRpbmdzLnhtbNVXUW8bRRB+969YHSpv9SVtQtJwdhUltmrhOKE+RCuEovXdxLdkb/e43bPrPhVUKoqEqISQUKiogkrCAwRUCakQ6I9BtZ03/gJzPseJY6ecVQVSWSfrZr/5dmZ29ttb6+otn5MGhIpJkTOms1MGAeFIl4l6znjHLl6cN4jSVLiUSwE5Q0iDXM1nrCCqcaa8KmiNUEWQRqiFQOcMT+tgwTSbzWaWqSCMRyWPNPKrrCN9MwhBgdAQmgGnLfzTrQCUkc9kCLES04p0Iw6EuRiCYHF0lBc5VZ5hJrAadTbroYyEuyS5DElYr+WM1+YX498hJqFaZj6IODmVR2Ns1gvUdVkcD+VVdhuIB6zuYeBzMwZpMld7OePy1KWYBuHmKE2PPEmCxjRLErMRus/vg6Yu1TR5TSbUcEurQ0NicluC+syxcYTEBcgZy/Z6tVxaLqxXVu1Cdf2avVJOYpjAyS7csCdwskt2uTAJPi39tZtrhevlUuWtdXt1tWyX1o68sKJDBbHM4YpZWFkZhQ4MCmZpL/JrgjKO3XaijAo09iunYR1sWWS4ihuUKzDIBwHU344oZ7qFbT2Fbb0JECyqABx9PV62nKHDCIwjuoQQA8O1HPTE7JVBT8zND6VuJrMfpTU2SotqTR0PmwdtvdAs87jpELYhxVBq8TupSe4OEgK/Bm6F+nBsT1Q3mSgictogG7gIHFNdDBnlBmEaU3cGziqqKc10bxcWjyMJcuFuB7JSHSmF49FQDVV8UPW48Z38exWpQb2flCIxnQbtfP1z+8FOd3+3u//T86efPX96p/PjdnfrbufXLw52Pz3Y+6X951d///EoDdVNGRE/UpqgmAQcNBDtAfkwYrdJDTZkCIQDbaDsoJ0pojhzITsRcUCVOiKlOuEgF5JNUKosF25cIFoS6jaocCYkx9UHP9BnwU8xdyFxCs5lE9xjFFgZh0YKSAthLnN7sDRpZv+HxXWoIFLwFqEOqoAiqLUNJiOFlgaDOLFeoCotn0cbENcidu67EiZ6mddxI+FkoQthGrap6UuXZ2bfmJu/spA1/7qzc/GFTn1lXOM0ni2RxqVTpTed1wkB/henF8jwiG9Rhn7cm+7IpOOPlr4EjoqEZcbiNV7LepJ7HqWs8+j7zv1n3f0vO98+TNXyT7Y7D+93Pv6h77h1t33vk/beb2l82493u78/Odi91/7mWRp8r/5pgK9z/ebJJ5VfHbEnnpT7PlW+D3bSwLrbe+29rVTzfvRd+/Hnibqkwb9LQ4HnwSsBreDRVe99VhI8vDjzGW7JV0KbTpOJl5e1/0SaXuozK9G1s5SmbDZ7Zl1w7qX/LMt7niqWvA0uRkM3Icsce+eMR3wmmI91jD9tBhfV/OzMFN6txg5lMsg2fIHPZ/4BUEsDBBQAAgAIAMWLWEkE5wPRtgIAAFMKAAAhAAAAdW5pdmVyc2FsL2ZsYXNoX3NraW5fc2V0dGluZ3MueG1slVZtT9swEP6+X1F13wl7LZNMJSidhMQGGojvTnJNrDp2ZDtl/ffzK7HbpM16Qqrvnsd3vreC5Jaw5YfZDBWccvEMShFWSaMJuhkpr+d5pxRnFwVnCpi6YFw0mM6XH3/aD8os8hyL70BM5WxwAb2bhf1MoXgf3xZGxggFb1rM9g+84hc5LraV4B0rz4ZW71sQlLCtRl7+WKzWow4okepeQZPEtL4yMo3SCpASTEjf10bOsijOgQZPl/YzkdO7Ov36A9qOSKIs7eaTkTFaiytIk3x1Y2Qcz/TtaVUWRk4TFPxVGvrls5FRKMV7EOnld1+NjDJ427X/0yOt4JVJaMo5XcR3DuW41ONnoro0cpZgHmQcna2CT499610E8l/juUdmXAWnTyavBwvBFD2nsFSiA5SFk7PJmr89dkrPByw3mEoNiFU96EkH/YQ7Ga5JdT3uD7wRVkYgr+gRr5x2DaxcvLHT1NATVqtbuyti7LsuilDAziujEHtlj/yt83qEjJQ98pmSEh4Z3R/BDy2OE2p8i301T6dfW4FhfQwJC6dgNZ4ezOTKyLVXBEzDS1hKE84LacCUDWVW50LKjmJCDO9IhRXh7JfB5Xv7GImyA4NvteHGQoooCkP9ZmPUWzqulz2n7eitaT+6X4X+ce48U3qJX8+xUrioG/2rJOczz9NTohMzz4YZZk1qOIh7tuERx/oeIzVYbEG8cE6numFcgZx6PXezNQZHWZQDlA1nGflLhtLPuiYHsdZVIxDaJtU5XE2qmuo/9UrgDcqUMGJ0TFXr6xgm710ZKXwLABZFHXrWHZyl6agiFHZAvTVS2AePvQxJ3aNj7XajHmCj4obzmkkd6RdF3ykxLjUMEF51XMMMZzm/hBXOpX1ZMvdhB/eDn2zlsMtM68XencK3UnKzth+nUCvNP5P/AFBLAwQUAAIACADFi1hJagDFHuoDAAAcDwAAJgAAAHVuaXZlcnNhbC9odG1sX3B1Ymxpc2hpbmdfc2V0dGluZ3MueG1s1Vfvb9tEGP6ev+JkNL7NbveDdsXJVLWpGpGlZTViE0LVxXexj53vjO+cLPs00JgYEmISQkJlYioaLR+goElIg8L+GLQk/ca/wHtxmi5NWxyxH0yRFfn1+z73Ps+9fmy7F69HHDVpopgURWvanrIQFb4kTARF6x1v6fSshZTGgmAuBS1aQlroYqngxmmdMxWuUa0hVSGAEWou1kUr1Dqec5xWq2UzFSfmquSpBnxl+zJy4oQqKjRNnJjjNvzpdkyVVSoUEHKz0CVJUk4RI9CCYKY7zJd1xC0ny6pj/1qQyFSQBcllgpKgXrRem503v/2cDGmRRVQYbqoEQRPWc5gQZtrBfI3doCikLAih75lzFmoxosOidXbqjIGBdGccpg+eccAGZkECGaEH+BHVmGCNs9NsQU2va7UfyEKkLXDEfA+uIMO/aC1662vVymJ5vbbildfWl71L1ayHCYq88hVvgiKv4lXLk+TnhV++ulq+XK3U3lr3VlaqXmX1oAoUHRHEdUYVc0FZmSY+HQrm6jCN6gIzDsN2SEZFNYwrx0lAPbnEYBcbmCtqoQ9iGrydYs50G6Z6Cqb6GqXxvIqpry+bbStaOkmpdQCXAUJjsJfDmTh/YTgTM7Mj1J1s9QNaR3bpYq2xH8LwQKzfmus8HdpPa0gxQs2co7rkZEioASpz4DKfMMwtxDRw84dXtVFALzEO+pvaabsh9Bg5P8SJGtFwqKMZZb/0Xk1qqt7PyGWh41K7X//cubvV293u7f705NFnTx7d7P642du41f31i73tT/d2fun8+dXff9zPA3VVpihKlUbgDjGnmiIdUvRhym6gOm3IhCJOcRN8BOJMIcUZofZEwDFW6gAU6wwDncrGulJbLF85hbREmDSx8CcEh/2kUayfBz4G7kLCEpzLFiVPQYAyPk4VRW1II4z00/LQtF/C5vpYICl4G2Ef7muFwD2bTKYKIk1GDbF+oyovXoib1GhhigeliIk+8wCeFrBYQmiSB21q+szZc+ffmJm9MGc7f93cOn1i0cDrVjk2q2Vmt3CsmearOmSp/1J0grGO1S7JJDKzScYWPfphMTC1cZNwHWMpR7tT30RfjDl173/fvfO4t/tl99t7uYb44Wb33p3uxz8MCjdudW5/0tn5LU9t58F27/eHe9u3O988zpPfVzRP4utcv3n4yFUXQO6hI+ednIvv3a08ab3Nnc7ORq51P/qu8+DzzC/y5L+LEwEO/0qk1uBhFPRf/RA8jjiLGNxkr4TbHHfj/3ejeiFmc/KrUGZFz9RsbNt+bvv68u35mQr2f9IgOxt+YIx8UbjOkd9uBYiPftGWCv8AUEsDBBQAAgAIAMWLWEkP5FkgmQEAAB0GAAAfAAAAdW5pdmVyc2FsL2h0bWxfc2tpbl9zZXR0aW5ncy5qc42UTW/CMAyG7/wKlF0nxD677YYGkyZxmDRu0w5pMaUiTaIkdDDEf18dvprWHcSX5u3T17ErZ9PploslrPvS3fhnv/8I914D1JxZwnWoixY9R51ZkU1hkuUgMgmshhSHT4/y9kRQxkx603j9iba24scUvplxYau4JiwMoVlCKwjth0qyosTfoLR9WbuSKn2Ol84p2UuUdCBdTyqTc8+wqze/qhXWYFWAOYPOeAKBaeRXG3lyfIgwqlyics3leqxS1Yt5skiNWsppW/75WoMp//hiB/Sfo9dRYCcy694d5PXEoyeMdlIbsBb2eR9HGCQseAyi4tv36x80MG4WVKOLzGbuQA9uMKq05ik0uvQ0wAgxWXo1uhlhNDkHK7cj7m4xAkLwNZiG1fAeIwCVXuoLfqA2KsWONNBmz4+oUHyayXSfuo9BcnhYtG3r3qlQf/whC0ZI1UZoToxp3nZzXDD2jhxcW8s6pmZeUKKkREUk1hRYkKdx9WsE919dxp3jyTwvb4fyaizbwM0CzEQpUR7/+9xBi6O4y9XZ/gFQSwMEFAACAAgAxYtYSRra6juqAAAAHwEAABoAAAB1bml2ZXJzYWwvaTE4bl9wcmVzZXRzLnhtbJ2PMQ/CIBCFd34FuV2wW9MA3UzcHHQ2FVFJ6NFw1PrzhdQYZ4dL7l3e915O9a8x8KdL5CNqaMQWuEMbrx7vGk7H3aYFTnnA6xAiOg0YgfeGKd+0eEiOXCZeIpA0PHKeOimXZRGeplQSKIY5l2ASNo6yzBhRVlJOKwor2/m/6M8NDGOcq8vsQ96jKXtRq4VTshoqc3YoPN4iyGpQ8uuuys6US0URSv48ZtgbUEsDBBQAAgAIAMWLWEl0Pke4XQAAAGIAAAAcAAAAdW5pdmVyc2FsL2xvY2FsX3NldHRpbmdzLnhtbBXKOw5AQBAA0N4pJtP7dQpLp9TgABMmIpmdEbvxuT26V7y6vb3AyUfYTB2WWYHAOtuy6epwGru0QgiRdCExZYdqCG2T1GIzycAxfjHALvTwMbL/ELkn/0++MG+SF1BLAwQUAAIACAB2uMNEzoIJN+wCAACICAAAFAAAAHVuaXZlcnNhbC9wbGF5ZXIueG1srVVNb9swDD2nwP6DoXutpF3XNJBbdAWKHdahQNZtt0C1GVuLbXmSXDf99aP8bc/pVmAHAzbF90jxkTS7ek5i5wmUFjL1yMKdEwdSXwYiDT3y8PX2eEmuLt8dsSzme1COCDySp8ICeEycALSvRGYQfM9N5JGewUVm4mRKSCXMHrnPkLuLtCTvjmbokmqPRMZkK0qLonCFRkQaahnnlkS7vkxopkBDakDRKg3iNNiV+Tsan0Sm1Owz0D1kZt4euCZpOZ61GJAUp65UIT2Zzxf0x93ntR9Bwo9Fqg1PfSAOVnJWlvKR+7s7GeQxaGubsSrJNRhjkyhtM2ZWYrFMHa18j1QOmwS05iFoN05DQissnQCzbcx1VPPoAa3l1TtR85Z+G/u9adxK5WjnnOWPsdARHvUhnXUSyOgwKkvK65Yd9NB00K1lIo6CX7lQEJSf39oWmS9IFbDtuDJPVxc+HuDbLfeNVPsbhGEX1Qq6rWhuJZpbgloOt42+7ihIc9stcJMraEo1Y08iAPmFK8VtW1walQOjI2ONpUMwo9WVa5E6QVhkkvjsH7SxfiNpfurXlCkB/0OYT0jU1kSkATzfCvQxkGBNDWCxrc01WezamF1OOn9Men09MFU51qLgRRzDVQg4hgE3nHZ2eggKimt08XM1wvYODoIjEUYxPmaSYXx6kCbhajfJ0Ds4CI6lv5uAtua2jHRcx1EztR3E6MQ6YX6ujUzES9megz1jVmUfvjZyzdF1JtqD8/kfoziI0QzmlkysLvvW21fN4b2dU6M7n01WWQbdivMAJs8qr2YW8mzkE8CW57G56efU7MMedJTz1HRMc33HfpfFWryAU4jA/ukWp7YmEdie8ciH5WmPAfXE7TIIX5qmIjJaS1KpeUg5hrV5ElBUmGpWPqLqoZJ5Goy0cbPu56Bj3FXXCrgTwxYzXZxg88nMI+/xpb7LxdlFd5XzxUWDLfO6rwJXubxhVdcJd51B635tL8LqmcfX31BLAwQUAAIACADFi1hJcYP8DhoIAADbHQAAKQAAAHVuaXZlcnNhbC9za2luX2N1c3RvbWl6YXRpb25fc2V0dGluZ3MueG1srVlbb+PGFX7vrxioSNG+WBfqZkQrgJeRTUSiFJG2d1sUAiWNZcIUqZIjex3oIS3aIBsgSICkRZqmXWyx3S3Q1C0CtEizbX7NWt485S/0DC8WScsyubsiCJhnzvedM2fOnLm44R4bljh3qT013tGpYVsqodSwJm7zBwg1RrZpOz2HuIS6+ZXkwLDG9qlsHdpMBlKX6tZYd8Yia3WbBdTyfqhe4+tSHb7KQrmEamVcwnUk4YoIbductM2J0CaVimIjn6DweR0yIhZdz9rIx1qvA2TLJQ6VrTG53+Ti2tGmeA92HH1sgJ7brJbZswitLqQye1C5WKlV8KLEcxxXRWJFKkqFRa22XeOLCBfKlQK3EOolrsShYqVS3K4uirVShYOv1nYVWMp4u4rKtXK5JC1KuARoxPOCVBIXNW67WOTBGq5vi4tWS6gVCqhYLHJlaVGpci2hgECbAw6eq7MAchIncNUFL/DFOodaYktolRdYwlWxguolXC0UFmVB4AqFVXBXvYuGayVN3Z0wnLcQrh2Cta0st/JrkqsxmjsOKGtkOjN1SpClT8mdnEVOc0FCeskbNod+xKW+EMQM3ARsI+/9FYo9u9HEj8qRMb6TG84pta2tkW1RcGbLsp2pbuaaP/RzI/A8DdI+IU4W3KE+IitzNe+XFhbYgnyFZxNoZE9nunXWtif21lAfHU8ce26NU7l5dDYjjmlYx6Bd2K6JeKMh03CpTMk05h+usyc9bAb1yCXMvSpmTyqkqQ+JGVoseL8MuJXJ2yOSgJ4YrkE9KF9kzyboTJ+Q+ADUefZsxlhgJT5qNfbcDqLkPgV1jk3v0kZ1Uz8jTtyIXw43ouzZfJY1n2aOPWHBjuNuH+grnGlDdbEmzMMCe1KBWAeZwVSjFITN67+UUAw+k7WkMQUrMLjR4hKIPMqeMBC7nR6v3Bu0uzvdgSDv5JqiPysRm5Y/LlXr94uV6k8a+QCXkknt8O12nAt5ZJVCOi5F63fbAyDE7YGC72q55o8m9M3km5mqu6e1ZQXnmhePn15+89WLp+9d/OHbzCy9Pt4Hh0xwIvGmodrr97GiDdS2LOGBrA6UruYFr401LOWay8/+cfHxk8tnTy+f/f351x88//rd5ZePLj//9fJfH714+v6L839e/O+33//3YQpLUp8/kJWdgdbtttUBVqRQkmtePvtk+ceHl58+u/zy0+xMfV7FffD0kyff/f7xy8EHXn74DMsH7y6/eJCZZ1fe2W3DqzFfvvvbZ8+/Oc/M0cMKBCNVDDpYVfkdPBC6d2HIIIM+fpIR1X0LbD06vzj/PCPwHla9vEgBU/h9eYfX5K7CUquPVa0vi15e3bPnaKRbyLbMM6SPRoBDsMCcGPbcBcmJQU7JGLmmMSZuZkMqfnsPklrm276hI/2EIGp7rAEnMixEjwiaGCcEvHDGxElhBqaaiCU2YG/vyT8dtHi5jaUBjKDUPRhoXmFg9nQHtmg2Rbpp2qwbYFofn+jWiKAhGelzl6AzUBsbY09tpkPnmTO/mBvvIJ36LqI3gjmpSPjuG1uv7J2staHSHOiOBUU5O1usLlzv8hT2muA6LPkzeltfIvHYel2OvIbe9XhVvbFracbo1fuVcOElOqVC3uM+rJ1QEwTDzgTCHciYXBNPdcPMBJSVFpjzjsiwwXcQO7dkIlC6AYdio1eg2YexiDmyD2OUjeIAC6qssaiTIduzpgB7o+fnwfrcYScLk8Cx7Sp/huTQhhphEv0ERhbkhusn1NbL2cuaKGElZvUyWtoDIgXcmngXIQgcM40p27yno93r4DCafjmOheT17SY2mfI7sfzlny8ef+gzpyBUMd8Xdwcir4gYJsHFR79b/jsDDjKYudTW1EGbFxjD8qtHsI9Y/uqvy4d/WT74Fnp58d5vLs7/k57T395JuMUDbxhBj2xrays9TdIv3x3Ycv3pi6wkMEtZncJXZD9TbErcn6fg0XghDvU+UgKDjXIIzbhd9hIiiCavaby424GcgU1Mn7j23Bml2mFESTp8/y2oFd6mLdfs6M4x1BrNts2sRF4MWNWjmX142bNDlOOVKziLgCb3BrwkeSctOGOZxujYXwjHSEfBpQoy4ciVgU/c5RUoSQlKMjZodk5vUQhrA0xT/ztMQrYpXLdGXAlWx1c4HttzGjsNW9SxzR67R7h+cQYK7NpjaJImdeawkIRfUQ33yD7tzqlpWKR5qJsuqEVFSdUe+NBj+8eAMi5LavfJqWGNI6qBIKm3b5vzKRH93kTdiDckYaIoePdsUcSV7JrnsLcPmiKur4RJfYXcp9f0I8KkvspWzy4cJq6Bki1RZHj3IehOVJ5m6ECHWDoIwwCHX3Ed5kGb3YG5EZcCQVxzao9J09sEaMaUsOGHHGSyqMP5GzxuWFdLdodhhmdqcHRKNKyyN785fRvUoCa5Obe9fsAMjI6+971uAgQ662aAf1ebDIYvRfRsRu7k4Fihj46m7LY8hwKOOzkWTv/6+ybcLCxnrJpFkJ43m6FTr6Z7JT2TSYtV8mymbH+ubwY18tfi1MhvGqFGQHvzAFrz6ZA4GHLAIGFyxmVR7SNjcmTCS/e9k3kcdkNjFE+PgNqCg0WIiQhiaUV0Z3QUzhX/I9o+nZvUMMkJMQOdiCASms29b7gwNzanNk/b5JBGkzuQZJ4DQaFbZWJUO95wI8w7x6zF+S3ZFh2qD12v92tqVbjyrIrVmrUorNEs2aNe+YJY2q6xBbo3hb+Rjy6yUKKu/QcrKQMo8N34/9v/A1BLAwQUAAIACADFi1hJM91K5mcaAADkRQAAFwAAAHVuaXZlcnNhbC91bml2ZXJzYWwucG5n7XwLVBPXvjc9nlbbqrTH26Ko5LT09OGDV0VUSFLrA6tVqqjIKxERUo0QlZd523KvtlVMrUqwlqS+eIdRkAQSkmhRUIPEB0kIIYkejJEMSYQwiZmQyU2gx6Keb63vrnXv/e5dH6ywZs1k//b+/V97//+Z2fP9V+tip7wR+Iafn9+UL1Yt3+Dn92qmn9+E3Emvea9EMQbmew+v5GyI/dyvtmNWn/fkz4Sla5f6+V1kvTmc9qr3/PXdqxJz/Pymtvj+X2kjVWz381tB/mL50o37cGZt6qHag4nIA9qH2P2ozx4f+fbdPbF1H/1FsODSD8D8HUu/n/95eFLge+fOFP88qXhr5LehlVsqDmz7fuGtlTPjibgLWdumzbV58Pfy2qILaps6ThKUlIgcbJv/VOXNZiCRWFvXgTnZU8A3FUXpFrlaoyR77A0A3dzDlg5n+Pn+pl7or2loUtqFFnOaXe9x6zUJPqn87sM7C1OXoDLxdEhhf/UV36VG6s5DaFSmnma7ZX91BNzo2nlMDEikSx1fjpxbJN3brVRLk7Gb8Cff+W6H4kMq3jF59MvZLfN8x8tHZ2SO9HekPezNkVbbDyT6jvuDP20fgc06mfau9/DXp6YEKcVuqgY4dIdIjz52Tvhq3jTTwtyo3ojJ9b6GhUwnm7mYarsVZW0P/2mIqciqmHlHe+TqSL9hTwEPDERPO/yBWCR8W2teNYqZ8MXqPEFw+MhIkz/4RPGs+Y/nNhZE/2WE4+XPftowDvgfBiisFOgoYH+DChdNhRQJcqQXi0zoOgl31wIDcBLXlB27rcTnltO/dBuZiFENAlKG/dEpko78wzn0JrwGisThwfgx3VGWl55zsyVKkebo9BGPfC3+QGLfgogRSrPUx9M2LykabRu7MKPkxLrgUU5H187IPH/v+gjZ3dtfhAiddCtVH021qwlypN/7yYpDQ53qHDm6wPi3vSOOvj/4VET76igRienSEFgY+LE6mBVzFz6GdR6LDl1MGBFiUd0nLTW5OdWxN5VPkib0B0ifXrMxcVVX+EGRyXIq3FdujYH+PoZcdnZk67oWkNJIH7gWYI1pkI+h98j+tJfFZc4shIIzBIq/Uk/G3gockffIrpthc7U9O3fzPLcTTBGhzw09Gos920Z64NM8XX3JM5qf/PamMdTmYHocBZy7zzUX3WQOgwY2XmLrxIzR0yltRLNSMGcLdi//QBfMKlTYVot7hq4n/aPJ7CXtylVDPTnyUk/za2dgo+FtqoZZnLsvko+BOuNJ/heO7fgl8nftdr7X0i+Qus22B9C1AHyMxxj4Nchl8z3z+mCF4yceUL2CTi2Ek6hDd2JDIzv+IaLpdmz7auEMRfA9Ve8udzP1knBkcrl/vWxy/V0zaQYhNDBj7v+NZf+jztBZDUgodhgE9M6PvqDWSFpBIr1KNPv7keG3hkHKZFIpHUzWL2EumH0h7gXv/J8esBtIzQOtajxiwHPciNWDqEnIIxLHfTfU/ZfdMoVqL32tSpVPLyoX/hFbodLhQXWhP2af/fIEf7/oTfheqAHzx7AllP6Lbd3vTexiPx/M5Evzfjnw/KW8CVMvxI2N5OzmV+w7xuhWURRliGUOxaqbLI5S+qmx0N61lQ8sJxJwaeUc2uAN+8tfh7dbTqXZF6z9Q9Yy4UDZ9EzHrTDqz2Vj5NHui59c78osQa99nsonB9T0T9s5ZZWW/A9G4/3Kxijdv7T0S2Zkxt37Q7dbq2aSfkjL10+uL3+B+7UwEemA+t6CMcoxtZ7aVqKNaunf8fM43XG6/wvpCsDJ9Sy0vavJQk725mUeOCQO6x7SyDUS2uAAi9lMh1eY6PShsyi0x7nCap0j5VzzThZP7ZpUKQIgJoCjwbjLSl6SV3O6pZ+AsZ20YaO8iz5Th2FWV4XnZc1YACypK66iwit2Hk7VyVdYAcZ8thuapwTqg9JVVuuPAirwsprMP6bZuR4nVy5BIIDr2ae+sgf+lB+0EDx6XuqgSgswO0NYK1MP3IKNlCbKySqqHoqAhik4camhT3M6l0wRyykw7J4nry5X2IpZGWT4DE6gswzyVTiG01AfSnvgXT3r6SKQnSwVp79sO413gRtcpTLfX1SpLNye2NpRxagpV/yauLO/Zr0NUuGxTBTEm2QyQpconk3iYZh+PHAZ+0pjay8kWLMFJ6lCge7QCTsri/Fx6PcbdXgxMsgvxjvO4JhkLeSXjAXYgGB9aH2MGFeO4VO4snsmo/bxP1XDEn16PnrRh4rBx3evReRuhtKnlCsiNiovJC57NLhQGF5Q3dppMIcEZ7ubZ2aC6XimVRW4hY2Pm1KmMZ4wcANA+RXYCDoEMWIMp4qRgmO6GEcyXnaTtlmZonK2gRy5XflrUwydvHxnEQ8agvY3NXdspru+pVwyDa7qyviz+YAauncTVt1rQLqEqkQPzc1nl6uwBfOBnC9f9l7RjZb+JDTwmirjl1Sc8f3I68rgbOKvPKblgDowW6U/mO8GE3EfJko7YGPAlPoAN3wk62VmBTklvPBct5x4j3vRQNY8qDtwLzCdzawlEb9KJ7qbkw7Irw3y/lR8sUFStBTdzWfoptTLBKu3BG1KDrYMDoTqy/OdytehPfP0QD4Pl0nenu2mkd0UptZRwmMRnE9NZAVlFqb45SBLJZTwYoFaqfizKacD0O/nUs49HmymuKGniS0ZU86sgfbKvkpq6YO5AdDAPMUkIY0G5av0pHyykwIP1kVeCAnFkwS6tg1RN4sDN4FmxSQRQut8KzkOMAJcHKplkJjEpLUt/KeR2YMbn7fG6Y7T/X9BN7K9Do8dmIa9g0jqSWO/m4iiXZi9ez+9EoDGyNKZzkIrjyy6LOlUwWOEMXmLL3tFYlcTHAiMbb/UBOI9sLoNiwzk334lWzBSL/9XlART+3y/t6gX70h91vb+jzsbqYYTCV2VH3Fpgx3WS0OFfyjk4HafPmv4Y3q44dN7Yhb4TMGzfhqxT7fyGZVFH4zYsYH3zGC7V43Ye2fymGFHFK3g/6G092b4DFKd9Yd2l0X4DLdZM07ofxUhX44UJXXeqpczERuBhUWeNhm5TKQjJ8RyksBZ7Lp9EJNr/8afdr8nmBWz17jYmgrtwRt6t0hp7n13ABGDLmh6fghfzoe4rFhUJpduV9vS7BHLHk7wj9mNyVSCx2HylAZrBrQnJWN5qpRWVKd3dhR0MCVm3288pVxtx/OqEVRPrY9chxl+0lKA9E08/15dUFpyaDy2Npl1JnJvyFmz/WgFRAlAk8gwnKXa0tzcMWg7D7k+8eYhEKM49s+hE/phA7EEJ9UazApZLRYFsujuwagX+Qr16fzXbspiTJeCwpNDE/R3tyYXnYQ+7qEwppwGY++FyKvDGzkOxCH1mPc0MCTedO/R9x9xFjFLA1eCbsU90NxpKzbRO8FOV4XKirEHfgWSZW0bsPjXlAYD2AYbq3DZZCYkKU7jt2ph52C4EpyH6l1b+7zxRB1hyS3pU45qYi/mK0qEk0siNyvB+S2ZRSJw4NLK25ST8EVcOUe6sSVbLA2MVsXhD3RXeXNh/d2I40pZJzg/dcEc1T4hsvBNiCKb3jOlXtuGU7i6JVJIput8QanLDqoztje3f6zZxFrOe6W+9VYgHjQmy94STv4VFJarwBpmShLSpItLTNIh/MA04lepQetFky+DbLyO6VhY7EiIA7gk7dCLvXrzwTlsptgToZAVeE4DBrxHP7UMLH4lt5KBIwEcCcKfFFlWiwoXZTuNlA92TfltjbZCyMOVYTooXG/fmFp4VqdNNd9Kcl3UF7/sBzJpFT6YUHTkkIGsvSw8XCYLjqsO3MTeU+Ca/7ZSnizhfeZurrpYr2uz90GTVBm54q9LvHXK4BII1oYlk4hovlI2X6ozhyUr2oSHr0LEFP8rIOsiRmL+jjrthWCrXdKu7Npy9uHmTS3GQVtW5Drlx4lnMyqv7HVnvVUczucI3O++Hnk8BBAwroJwH2Qvts4VuacrPSktO8RuQxZPr9sgLoXakgB8XDVrB9kJ73FOB9sMWdltusCjApKxTPV8KKcasch5+n9KfJuFLf31cgzVSLD2nykHH70w0uyIdsb9CahGW/0hJiJxiK0d8lyN6Xnpp87IDA1MVcVFtet0L5uBFTN43flYGLMkf8bWUAoFujot7hesmPZ4GWowa2r2vhfmljxU+CkGMmyTcz20GekgV+9BHFxPSlT9C6xx/vW+mUftduiZSO82dKfpkeIF5uklPFLahaBMmW+yshnBFxtowTS7jesZVrf4Y2mIzRStdx5Jsx94UQFL2vM9RwFLX+RVzJPLE4yeO0DgdtAJnt4cBbw0jfGRCTgIvY2Ym8oEug5xcOiBq9OMLbvQ326OEr3UeLOrdnzBGif030xIESZjuHuxSG+pfkffxPGbXuOAccA4YBwwDhgHjAPGAeOAccA4YBwwDhgHjAPGAeOAccA4YBwwDhgHjAP+vwU8tRRIqQTK0XMFCVFnnt1yeaIAGFC/S+9BSl9f+RMCCKfkBT+7sfOtkUO19BdF6Ro/vbbqrtq5tkJzW3tYFvbcDiu/+9dHR/aLzRy51eO3KOI/uEnrn3RR50JcUo9rZNfX/t7w/7wR1Utb+omAON/eJKdb+qdxn15VL/NH59rvF/rrFkF7FG0JKAK9WQtMGNnYdlHXJswyLazCr3H2E7DU82gejo8jkN2WLP1KiNjE1vz9xEE1G0fp609gGBK6/e1lVSwBxmJRjcATBn57M7Sna+Jc3fyGcgVQ74IAhayHz3tSZXLAEdxD1cLBMFdfHFPo9iMJ4UYRXp5Hf/Qpd7EKTQIDmAMBcom9ARCDfUxHAbPAHi21RRuD6EN3CtBcqlFN4NJdOZ7O+DhxLxnUsylNkE1pcuwiN5HoYLJ1n25wSIZIcEOEh9nNrKG9KOf12Fa8MY/n4V4VDWBxBzFzkDLaLN/unHXQfalowHFDcz+eC290Ld5Sze7DFZBMjuFs7BPbzZb+rNTLYK+FgVatn6Dyd9/2L2Wlam0Ci9SDFKB5K7UUStF+QyzjYWwHs0cyy7GSbiH+yJM75e4euRjdoXzaNIw7jvIMoKS7NwKqahSYBxqKjQruocBokCyTqwBNH3K4p8gRLk5xJ4FmFddAQWDIUkx1r3JRNOzFR6IMvT6b51dNfBgz/KTFrH/dUeWKqckD6hMgKjMKdTzPkMZ3/Zp9yKLKqQis2/nXahTxsQmXyVspzl5QHbuqtu0CJZlNpqbg6TpVMAGddKm1C3bmN9e8LWEAJmNkWaiUILsgak5xk7cELU1dZoTv8LDDLdieI6JDh5DDs2CMSXVhmEZpgiNDmRyrIox6OLYb/2j9wDNizOQ6l+g+J497sMGSZ69BJudyDy6bnul/aXiunj17A7ErmUUMGPhO3VupP2a2pk4pgXrzwwBuKCuTN5A7YyXxfgqubB4zaOdQDwZuQMiwWPxYfv209SwDx1x3TzZ/ghneUaAR046bzuhiHRJV9s02r5NfNsfr0y+5qPd1edxDo+PqmAKJvibN/nPx0RqqLgn9/h73d9fWFX0jOxvR5BDqRRkl2iPHIZu5MbGYjZ9Hqqc6F9B8HiK09taFsjES8LEkyPpvFjqQB+SE5lpneuNGU41AULxTUpesNabzqKXiatKO2/SQ2pth1LWyVUo0KSv6ME8xPUEedTMowUF14KbWazWhB9QyUOdIciwJgHxbaMwy/EqHxMu5UbzOgN2t6MOgiFrwl2/lDHu92dg7Z3K96tLh7VrbuxBQjh+KiLypdNj7JYKPHZvp0d9C0yVIUD00ZNC8cxxylKRWs/GSdz5LlHiI6Cxy8qE+avs65spaFybEtdcKhbkmMp9MJOCRQbacw0SchbF3RsS5l1e6nv+7RH0nCZwdHkvBHKH8hpdi+d/X4OENrsVNNY5dJdp8tTE11gE21com10cKQ/TH8qtbJQas8FLX1MyemRC59pu9TnGl/lAGjfegnoHfuQjfasuo4KHYr+S4l0D5ykJC0WlQpT5yltgnv/6e9SySgjOkk4EDaj1i1mOovo11tAbPr9Knh6Rf4xf2jShJM5WuJ2pdr3l9yU7uO88+Mqif23RDKJf52J1BdnVyj1pse2ccUBOrjhJnNIfUuVXXA2SCsK7VJJaoHKOCeH+6GXHV98xWLhmHXp1HhmEs0nCYL5PxmNbitxs4OOy6swS3pCAu9KCERTkl66KeZGUEHgSqXZR5eZdxdEgRje8jGLHWoHDXw2NxHCzAwbj9t3ldTahS21tnkn5hXdPKcJtHbUg3Ub/PZ1qj/6Y1Zng9In5vqTWKWPKqpckCXuycJFqA3tAguXZFGMoYOGTe1y22Nphl7POUU2siO3BGz9tmXZQ3aARr6P53LFaaar3/DyaOpITDLFXxpL1BsKPHklOvFHdULh5y3QrM/IZa66LUxEpDFB93i9v/foafnu1lpQwVVRTHPq7FlsH2Nxwm5iXfNmK1ZPAEcImpj+60IharxL3/V7PNZOXIpJ90o7/eQdFuYLJ50hZlIZcvr77IxwmC9m8kEVzDsscYrNcZvzSptvhfFj7uTcT4a/U37oFKm0mlKeqElkDkpIX7RTykPZfL9S6ajUYh0GZYfyFvd/krl5CzW0ET80vTWwWxfKqeqGGHagpTWFd5jj2l3jARk7y8sllxdFO8We+orULWiRDBCuL0FE4CE+BJ9Uo9thre4y7o7MtbI97lLqX0+TbA6Ri6iOshCpm2WtqbD3xayaI6I1Vtm84OUQIq8MYN7kBl8C6KFp41L0u6aZsbZssTxEUUdXbyoo3uk30Y7LSWebvleXjWGtDz4HGN5+C5bsT/TtKIKfs6L2KGmBdWj5oRLZSCqSuKvgffvoBkixDqI9gqlJ1dxP4mXJxddBTcs9d9/zy8B/1IWXhm5/1UnOMtrZHgNfc5Bg8i4lZ2GVRNMVKGGJLLgHpc9oyv74EhhY7BxTUoMIcfI8WgZIXXqmCnNvBrkVx+NSz6qYDpEtTHBpEfDkcReJzNchA3cZ/AAu6pPJLhGF6Blh7JdDd2ilNGI4KddyJY+7v6LFZKwsXh2fyVV7Knp1Yt9U5p8p9wBTNwxJIeJLWhVVbVenPIYZaZRsyYstndDeZcuERneDXzTZ4L/AJI5p7KaObJ1XYnZC9+UOCu6AEf+9S06+xKFXyLev+biR0Y+A6LQ+9PR1EP+jOfthCwtk+xOUjEa0nXvbY+P/Sd+hqMj33MwQsdYq9rZszzhGrt6y8FoKu8RvetoEH+6KGvXA6xrOpWBRIkmsyUnV3IfpsfNNDE2E50i3NmTPT6k4w38QYkrcOHxoeKDp+EFpqyFJoaI+qMa9i7lB1LMarCxNlNHUb7EpP8S4fz5PTMKBzZcKLet5UIi8ITT0ivf4R13rCxK9k8VZ/u3ScTtKrevR+Ak/Ll+iQEXwtfpDJGlffFbOv5JT2y6clYJZaEl/w+6/X2lXOzPZKCTZFPFV81Dpfyk7BMF9APoN75GSdY2UpxZlyukRIALt6lgPFqfOuNatPvgZFea1KlSO3mQk6xSZUqRaCvf8YViCM7ZbUT+yC91doq2NdVhf3U6x7bSrQVsVcZTwpRtLZJ0WOIps9WnYc8T3JNxKxKhFtjyVg94pBNh6G2pDYpQnaiblkMIscU36o2+H0c7Yw7Wn+6OJaSL08O+lsSU9/PwYqzK1Wix1al7OxyQfCjjDzuKe+a9yF0cR1rAw9vXBG81xcTKUOLa/CePBSadhSuv0vP/ktL/03fo4HI/Df4vcTBeCwUT2DC5UyKPc4zFNcTwRxuY9KQ+XMbt8yutYCGOV5z1w1LKYoVngkb8OmySUlYXC5tzSjXmiX9qVpZ/qg2DQ0q3EzPVIp3Dbnlm6XPIYc7uScsOcemZyaYsKZN+vj86Gbl1iGf1xtNRo3R00oablUD7m6goQUVhY9aObhOq5JtysWzzq/UZ+TyTPj4CuCi18+aKkwgjxp9aHQVfgcKzwJxtaNuhsE7byZ0Sx2lP1lsdV5H/MR5ly3pZOBCetEzM/VvagGCmcC0E+SoOeKgVPDBHc17AIfPOElpHIxDHsZJQEPjbOF7PxWYJLjaMy5KSqf08wsIY3FqpA43BITX5Fmp3vCWdR+5vuaZmH05XFeKq0Aaf4e+TilULX6HiwyVa+Q3MmZkJozkf5Nrz88cvGk3MPrbGDX0xdmS7O8elgoBdrU3k1CZ0jwQc1+NtGHpJg/thNVz17sWWPJCes+s55twklGZcP7Y4d0uhzT+Nh3jG+FVbyjdvqL/bWtaSWp4O6dsTH8vZibgeTZuidoapfkdGdr85HOXs/GNlv7VDt5kE3V19sFmSjecQZtbqOHNfJ9c7rPwEW/uC2G8gZwfj5nqm1+4MO6MVj/BUetK8aWUBfIY25eupsY5Xs9pw9gv2rEIlMCEEkisfd7EyQZ6T6/4M57MTkcJYqOWjxqx05HSJ/nQWiaj4dmnBvf4yo7o2b3WE1FrHeQtII4gtzzSu4CYdp3yYJY3b9yFf/pbQEdshfnJz8NDXj9Uo5AHKP5ZVJTGl3U2E//1YSnjQQDjtJvS9APVDdA6NbWOO17V/d41VSFdrHWX7maZXBX53MIGyklLnqOCYRXJr5yu9Q3iIdyvI9pDPYOhXPrTFlT2xK514l3idQ7+fk+8nmrADbMSxLeqx3Atves4JW7n5M9hvS8J8G/1FiXUmZ4nqYZpjiISrXeYeguBAQ8l+moIxnkjjiP9crQ3X4HTxaVs7dC1qWWWHeVhG1WAFRczHbzZsqspgbVIFDCV/C/JU3iQOxPEP6hFCc72k9xKUqlnrg6KOTtSt/Y1rXV1bUrNi7M1LWr31mWV++C+cjlm8CjrFy3T47Z+FVdtzButxH6c/n8q7ERWqt6Fc00e8/IQkCcY+/IQb3Fr9fDlfx4pHS3Va+2Seg839tZIgx5qw7XNxpZdENZjw5rfHAXRG66EiNHtm32P7sp1vleVnBh9VYmwO4VIdUs7OhDUciYh7YK7DPFd/2LFuuW1n2/99t8BUEsDBBQAAgAIAMWLWEmJd2BCSgAAAGsAAAAbAAAAdW5pdmVyc2FsL3VuaXZlcnNhbC5wbmcueG1ss7GvyM1RKEstKs7Mz7NVMtQzULK34+WyKShKLctMLVeoAIoBBSFASaESyDVCcMszU0oygEIGFgYIwYzUzPSMElslC0OEoD7QTABQSwECAAAUAAIACADFi1hJGCZD8i4EAAB/DgAAHQAAAAAAAAABAAAAAAAAAAAAdW5pdmVyc2FsL2NvbW1vbl9tZXNzYWdlcy5sbmdQSwECAAAUAAIACADFi1hJCswVnxYEAAALEAAAJwAAAAAAAAABAAAAAABpBAAAdW5pdmVyc2FsL2ZsYXNoX3B1Ymxpc2hpbmdfc2V0dGluZ3MueG1sUEsBAgAAFAACAAgAxYtYSQTnA9G2AgAAUwoAACEAAAAAAAAAAQAAAAAAxAgAAHVuaXZlcnNhbC9mbGFzaF9za2luX3NldHRpbmdzLnhtbFBLAQIAABQAAgAIAMWLWElqAMUe6gMAABwPAAAmAAAAAAAAAAEAAAAAALkLAAB1bml2ZXJzYWwvaHRtbF9wdWJsaXNoaW5nX3NldHRpbmdzLnhtbFBLAQIAABQAAgAIAMWLWEkP5FkgmQEAAB0GAAAfAAAAAAAAAAEAAAAAAOcPAAB1bml2ZXJzYWwvaHRtbF9za2luX3NldHRpbmdzLmpzUEsBAgAAFAACAAgAxYtYSRra6juqAAAAHwEAABoAAAAAAAAAAQAAAAAAvREAAHVuaXZlcnNhbC9pMThuX3ByZXNldHMueG1sUEsBAgAAFAACAAgAxYtYSXQ+R7hdAAAAYgAAABwAAAAAAAAAAQAAAAAAnxIAAHVuaXZlcnNhbC9sb2NhbF9zZXR0aW5ncy54bWxQSwECAAAUAAIACAB2uMNEzoIJN+wCAACICAAAFAAAAAAAAAABAAAAAAA2EwAAdW5pdmVyc2FsL3BsYXllci54bWxQSwECAAAUAAIACADFi1hJcYP8DhoIAADbHQAAKQAAAAAAAAABAAAAAABUFgAAdW5pdmVyc2FsL3NraW5fY3VzdG9taXphdGlvbl9zZXR0aW5ncy54bWxQSwECAAAUAAIACADFi1hJM91K5mcaAADkRQAAFwAAAAAAAAAAAAAAAAC1HgAAdW5pdmVyc2FsL3VuaXZlcnNhbC5wbmdQSwECAAAUAAIACADFi1hJiXdgQkoAAABrAAAAGwAAAAAAAAABAAAAAABROQAAdW5pdmVyc2FsL3VuaXZlcnNhbC5wbmcueG1sUEsFBgAAAAALAAsASQMAANQ5AAAAAA=="/>
  <p:tag name="ISPRING_PRESENTATION_TITLE" val="第4章 请求和响应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RESOURCE_PATHS_HASH_PRESENTER" val="2b8e211a1df590bdd9d39fcd22f6324e53ec54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第4章 请求和响应"/>
  <p:tag name="GENSWF_ADVANCE_TIME" val="0.00"/>
  <p:tag name="ISPRING_SLIDE_INDENT_LEVEL" val="0"/>
  <p:tag name="ISPRING_CUSTOM_TIMING_USED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作业点评"/>
  <p:tag name="GENSWF_ADVANCE_TIME" val="0.00"/>
  <p:tag name="ISPRING_SLIDE_INDENT_LEVEL" val="0"/>
  <p:tag name="ISPRING_CUSTOM_TIMING_USED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预习检查"/>
  <p:tag name="GENSWF_ADVANCE_TIME" val="0.00"/>
  <p:tag name="ISPRING_SLIDE_INDENT_LEVEL" val="0"/>
  <p:tag name="ISPRING_CUSTOM_TIMING_USED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学习目标"/>
  <p:tag name="GENSWF_ADVANCE_TIME" val="0.00"/>
  <p:tag name="ISPRING_SLIDE_INDENT_LEVEL" val="0"/>
  <p:tag name="ISPRING_CUSTOM_TIMING_USED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请求和响应"/>
  <p:tag name="GENSWF_ADVANCE_TIME" val="0.00"/>
  <p:tag name="ISPRING_SLIDE_INDENT_LEVEL" val="0"/>
  <p:tag name="ISPRING_CUSTOM_TIMING_USED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主讲内容"/>
  <p:tag name="GENSWF_ADVANCE_TIME" val="0.00"/>
  <p:tag name="ISPRING_SLIDE_INDENT_LEVEL" val="0"/>
  <p:tag name="ISPRING_CUSTOM_TIMING_USED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HttpServletResponse对象"/>
  <p:tag name="GENSWF_ADVANCE_TIME" val="0.00"/>
  <p:tag name="ISPRING_SLIDE_INDENT_LEVEL" val="0"/>
  <p:tag name="ISPRING_CUSTOM_TIMING_USED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发送状态码相关的方法"/>
  <p:tag name="GENSWF_ADVANCE_TIME" val="0.00"/>
  <p:tag name="ISPRING_SLIDE_INDENT_LEVEL" val="0"/>
  <p:tag name="ISPRING_CUSTOM_TIMING_USED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发送响应消息头相关的方法"/>
  <p:tag name="GENSWF_ADVANCE_TIME" val="0.00"/>
  <p:tag name="ISPRING_SLIDE_INDENT_LEVEL" val="0"/>
  <p:tag name="ISPRING_CUSTOM_TIMING_USED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发送响应消息体相关的方法"/>
  <p:tag name="GENSWF_ADVANCE_TIME" val="0.00"/>
  <p:tag name="ISPRING_SLIDE_INDENT_LEVEL" val="0"/>
  <p:tag name="ISPRING_CUSTOM_TIMING_USED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主讲内容"/>
  <p:tag name="GENSWF_ADVANCE_TIME" val="0.00"/>
  <p:tag name="ISPRING_SLIDE_INDENT_LEVEL" val="0"/>
  <p:tag name="ISPRING_CUSTOM_TIMING_USED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【任务4-1】解决中文输出乱码问题"/>
  <p:tag name="GENSWF_ADVANCE_TIME" val="0.00"/>
  <p:tag name="ISPRING_SLIDE_INDENT_LEVEL" val="0"/>
  <p:tag name="ISPRING_CUSTOM_TIMING_USED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【任务4-2】实现网页定时刷新并跳转"/>
  <p:tag name="GENSWF_ADVANCE_TIME" val="0.00"/>
  <p:tag name="ISPRING_SLIDE_INDENT_LEVEL" val="0"/>
  <p:tag name="ISPRING_CUSTOM_TIMING_USED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请求重定向"/>
  <p:tag name="GENSWF_ADVANCE_TIME" val="0.00"/>
  <p:tag name="ISPRING_SLIDE_INDENT_LEVEL" val="0"/>
  <p:tag name="ISPRING_CUSTOM_TIMING_USED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主讲内容"/>
  <p:tag name="GENSWF_ADVANCE_TIME" val="0.00"/>
  <p:tag name="ISPRING_SLIDE_INDENT_LEVEL" val="0"/>
  <p:tag name="ISPRING_CUSTOM_TIMING_USED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HttpServletRequest对象"/>
  <p:tag name="GENSWF_ADVANCE_TIME" val="0.00"/>
  <p:tag name="ISPRING_SLIDE_INDENT_LEVEL" val="0"/>
  <p:tag name="ISPRING_CUSTOM_TIMING_USED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获取请求行消息的相关方法"/>
  <p:tag name="GENSWF_ADVANCE_TIME" val="0.00"/>
  <p:tag name="ISPRING_SLIDE_INDENT_LEVEL" val="0"/>
  <p:tag name="ISPRING_CUSTOM_TIMING_USED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获取请求头的相关方法"/>
  <p:tag name="GENSWF_ADVANCE_TIME" val="0.00"/>
  <p:tag name="ISPRING_SLIDE_INDENT_LEVEL" val="0"/>
  <p:tag name="ISPRING_CUSTOM_TIMING_USED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获取请求头的相关方法"/>
  <p:tag name="GENSWF_ADVANCE_TIME" val="0.00"/>
  <p:tag name="ISPRING_SLIDE_INDENT_LEVEL" val="0"/>
  <p:tag name="ISPRING_CUSTOM_TIMING_USED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主讲内容"/>
  <p:tag name="GENSWF_ADVANCE_TIME" val="0.00"/>
  <p:tag name="ISPRING_SLIDE_INDENT_LEVEL" val="0"/>
  <p:tag name="ISPRING_CUSTOM_TIMING_USED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获取请求参数"/>
  <p:tag name="GENSWF_ADVANCE_TIME" val="0.00"/>
  <p:tag name="ISPRING_SLIDE_INDENT_LEVEL" val="0"/>
  <p:tag name="ISPRING_CUSTOM_TIMING_USED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获取请求参数"/>
  <p:tag name="GENSWF_ADVANCE_TIME" val="0.00"/>
  <p:tag name="ISPRING_SLIDE_INDENT_LEVEL" val="0"/>
  <p:tag name="ISPRING_CUSTOM_TIMING_USED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【任务4-3】解决请求参数的中文乱码问题"/>
  <p:tag name="GENSWF_ADVANCE_TIME" val="0.00"/>
  <p:tag name="ISPRING_SLIDE_INDENT_LEVEL" val="0"/>
  <p:tag name="ISPRING_CUSTOM_TIMING_USED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通过Request对象传递数据"/>
  <p:tag name="GENSWF_ADVANCE_TIME" val="0.00"/>
  <p:tag name="ISPRING_SLIDE_INDENT_LEVEL" val="0"/>
  <p:tag name="ISPRING_CUSTOM_TIMING_USED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主讲内容"/>
  <p:tag name="GENSWF_ADVANCE_TIME" val="0.00"/>
  <p:tag name="ISPRING_SLIDE_INDENT_LEVEL" val="0"/>
  <p:tag name="ISPRING_CUSTOM_TIMING_USED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RequestDispatcher对象的应用"/>
  <p:tag name="GENSWF_ADVANCE_TIME" val="0.00"/>
  <p:tag name="ISPRING_SLIDE_INDENT_LEVEL" val="0"/>
  <p:tag name="ISPRING_CUSTOM_TIMING_USED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请求转发"/>
  <p:tag name="GENSWF_ADVANCE_TIME" val="0.00"/>
  <p:tag name="ISPRING_SLIDE_INDENT_LEVEL" val="0"/>
  <p:tag name="ISPRING_CUSTOM_TIMING_USED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请求包含"/>
  <p:tag name="GENSWF_ADVANCE_TIME" val="0.00"/>
  <p:tag name="ISPRING_SLIDE_INDENT_LEVEL" val="0"/>
  <p:tag name="ISPRING_CUSTOM_TIMING_USED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本章小结"/>
  <p:tag name="GENSWF_ADVANCE_TIME" val="0.00"/>
  <p:tag name="ISPRING_SLIDE_INDENT_LEVEL" val="0"/>
  <p:tag name="ISPRING_CUSTOM_TIMING_USED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作业"/>
  <p:tag name="GENSWF_ADVANCE_TIME" val="0.00"/>
  <p:tag name="ISPRING_SLIDE_INDENT_LEVEL" val="0"/>
  <p:tag name="ISPRING_CUSTOM_TIMING_USED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3295</TotalTime>
  <Words>4665</Words>
  <Application>Microsoft Office PowerPoint</Application>
  <PresentationFormat>全屏显示(4:3)</PresentationFormat>
  <Paragraphs>321</Paragraphs>
  <Slides>31</Slides>
  <Notes>31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2" baseType="lpstr">
      <vt:lpstr>Office 主题​​</vt:lpstr>
      <vt:lpstr>Java Web程序设计任务教程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第4章 请求和响应</dc:title>
  <dc:creator>admin</dc:creator>
  <cp:lastModifiedBy>石荣新</cp:lastModifiedBy>
  <cp:revision>254</cp:revision>
  <dcterms:created xsi:type="dcterms:W3CDTF">2015-06-29T07:19:00Z</dcterms:created>
  <dcterms:modified xsi:type="dcterms:W3CDTF">2018-01-09T09:32:46Z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2052-10.1.0.5777</vt:lpwstr>
  </property>
</Properties>
</file>
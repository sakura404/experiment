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27.xml" ContentType="application/vnd.openxmlformats-officedocument.presentationml.notesSlide+xml"/>
  <Override PartName="/ppt/tags/tag29.xml" ContentType="application/vnd.openxmlformats-officedocument.presentationml.tags+xml"/>
  <Override PartName="/ppt/notesSlides/notesSlide28.xml" ContentType="application/vnd.openxmlformats-officedocument.presentationml.notesSlide+xml"/>
  <Override PartName="/ppt/tags/tag30.xml" ContentType="application/vnd.openxmlformats-officedocument.presentationml.tags+xml"/>
  <Override PartName="/ppt/notesSlides/notesSlide29.xml" ContentType="application/vnd.openxmlformats-officedocument.presentationml.notesSlide+xml"/>
  <Override PartName="/ppt/tags/tag31.xml" ContentType="application/vnd.openxmlformats-officedocument.presentationml.tags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2"/>
  </p:notesMasterIdLst>
  <p:sldIdLst>
    <p:sldId id="371" r:id="rId2"/>
    <p:sldId id="358" r:id="rId3"/>
    <p:sldId id="359" r:id="rId4"/>
    <p:sldId id="327" r:id="rId5"/>
    <p:sldId id="370" r:id="rId6"/>
    <p:sldId id="340" r:id="rId7"/>
    <p:sldId id="341" r:id="rId8"/>
    <p:sldId id="342" r:id="rId9"/>
    <p:sldId id="343" r:id="rId10"/>
    <p:sldId id="369" r:id="rId11"/>
    <p:sldId id="344" r:id="rId12"/>
    <p:sldId id="346" r:id="rId13"/>
    <p:sldId id="368" r:id="rId14"/>
    <p:sldId id="347" r:id="rId15"/>
    <p:sldId id="348" r:id="rId16"/>
    <p:sldId id="349" r:id="rId17"/>
    <p:sldId id="367" r:id="rId18"/>
    <p:sldId id="350" r:id="rId19"/>
    <p:sldId id="351" r:id="rId20"/>
    <p:sldId id="352" r:id="rId21"/>
    <p:sldId id="353" r:id="rId22"/>
    <p:sldId id="366" r:id="rId23"/>
    <p:sldId id="354" r:id="rId24"/>
    <p:sldId id="356" r:id="rId25"/>
    <p:sldId id="365" r:id="rId26"/>
    <p:sldId id="355" r:id="rId27"/>
    <p:sldId id="357" r:id="rId28"/>
    <p:sldId id="332" r:id="rId29"/>
    <p:sldId id="360" r:id="rId30"/>
    <p:sldId id="372" r:id="rId31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066A1"/>
    <a:srgbClr val="009ED6"/>
    <a:srgbClr val="01598B"/>
    <a:srgbClr val="E7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23" autoAdjust="0"/>
    <p:restoredTop sz="98129" autoAdjust="0"/>
  </p:normalViewPr>
  <p:slideViewPr>
    <p:cSldViewPr>
      <p:cViewPr>
        <p:scale>
          <a:sx n="100" d="100"/>
          <a:sy n="100" d="100"/>
        </p:scale>
        <p:origin x="-1944" y="-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259762883621849"/>
          <c:y val="6.8138576695007141E-2"/>
          <c:w val="0.61861102362204723"/>
          <c:h val="0.76592641554868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</c:dPt>
          <c:dPt>
            <c:idx val="1"/>
            <c:bubble3D val="0"/>
          </c:dPt>
          <c:dPt>
            <c:idx val="2"/>
            <c:bubble3D val="0"/>
          </c:dPt>
          <c:cat>
            <c:strRef>
              <c:f>Sheet1!$A$2:$A$4</c:f>
              <c:strCache>
                <c:ptCount val="3"/>
                <c:pt idx="0">
                  <c:v>掌握知识</c:v>
                </c:pt>
                <c:pt idx="1">
                  <c:v>理解知识</c:v>
                </c:pt>
                <c:pt idx="2">
                  <c:v>了解知识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3.3333333330000001</c:v>
                </c:pt>
                <c:pt idx="1">
                  <c:v>3.3333333330000001</c:v>
                </c:pt>
                <c:pt idx="2">
                  <c:v>3.3333333330000001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34888-18F3-4105-84B8-A7E83672584A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3AD9F-80A2-43A6-BA7A-13A9D46319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26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798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414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583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751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537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945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347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276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260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507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172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989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788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909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714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0833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7208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395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694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933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477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3646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5590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1634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8261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4558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3965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3182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3AD9F-80A2-43A6-BA7A-13A9D46319D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332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fld id="{A3DF5170-8A0D-43AE-A108-EB1D46CE06DD}" type="slidenum">
              <a:rPr lang="zh-CN" altLang="en-US"/>
              <a:pPr eaLnBrk="1" hangingPunct="1">
                <a:buFontTx/>
                <a:buNone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67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" y="-1"/>
            <a:ext cx="914078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52281"/>
            <a:ext cx="7772400" cy="2157681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9747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24548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092463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01064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208740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3691303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" y="0"/>
            <a:ext cx="9146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330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010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768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190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190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190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6807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716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6754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938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9377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317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604485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52" r:id="rId11"/>
    <p:sldLayoutId id="2147483651" r:id="rId12"/>
    <p:sldLayoutId id="2147483675" r:id="rId13"/>
    <p:sldLayoutId id="2147483676" r:id="rId14"/>
    <p:sldLayoutId id="2147483677" r:id="rId15"/>
    <p:sldLayoutId id="2147483659" r:id="rId16"/>
    <p:sldLayoutId id="2147483660" r:id="rId17"/>
    <p:sldLayoutId id="2147483662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654" r:id="rId41"/>
    <p:sldLayoutId id="2147483655" r:id="rId42"/>
    <p:sldLayoutId id="2147483657" r:id="rId4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6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9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1.emf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20.xml"/><Relationship Id="rId6" Type="http://schemas.openxmlformats.org/officeDocument/2006/relationships/image" Target="../media/image20.png"/><Relationship Id="rId11" Type="http://schemas.openxmlformats.org/officeDocument/2006/relationships/image" Target="../media/image25.emf"/><Relationship Id="rId5" Type="http://schemas.openxmlformats.org/officeDocument/2006/relationships/image" Target="../media/image19.emf"/><Relationship Id="rId10" Type="http://schemas.openxmlformats.org/officeDocument/2006/relationships/image" Target="../media/image24.emf"/><Relationship Id="rId4" Type="http://schemas.openxmlformats.org/officeDocument/2006/relationships/image" Target="../media/image18.emf"/><Relationship Id="rId9" Type="http://schemas.openxmlformats.org/officeDocument/2006/relationships/image" Target="../media/image2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3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2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7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8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27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28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39552" y="1352281"/>
            <a:ext cx="8136904" cy="2157681"/>
          </a:xfrm>
        </p:spPr>
        <p:txBody>
          <a:bodyPr/>
          <a:lstStyle/>
          <a:p>
            <a:r>
              <a:rPr lang="en-US" altLang="zh-CN" b="1" dirty="0" smtClean="0"/>
              <a:t>Java Web</a:t>
            </a:r>
            <a:r>
              <a:rPr lang="zh-CN" altLang="en-US" b="1" smtClean="0"/>
              <a:t>程序设计任务教程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861470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sz="3200" b="1" dirty="0" smtClean="0"/>
              <a:t>第</a:t>
            </a:r>
            <a:r>
              <a:rPr lang="en-US" altLang="zh-CN" sz="3200" b="1" dirty="0" smtClean="0"/>
              <a:t>6</a:t>
            </a:r>
            <a:r>
              <a:rPr lang="zh-CN" altLang="en-US" sz="3200" b="1" dirty="0" smtClean="0"/>
              <a:t>章 </a:t>
            </a:r>
            <a:r>
              <a:rPr lang="en-US" altLang="zh-CN" sz="3200" b="1" dirty="0" smtClean="0"/>
              <a:t>JSP</a:t>
            </a:r>
            <a:r>
              <a:rPr lang="zh-CN" altLang="en-US" sz="3200" b="1" dirty="0" smtClean="0"/>
              <a:t>技术</a:t>
            </a:r>
            <a:endParaRPr lang="zh-CN" altLang="en-US" sz="3200" b="1" dirty="0"/>
          </a:p>
        </p:txBody>
      </p:sp>
      <p:sp>
        <p:nvSpPr>
          <p:cNvPr id="4" name="TextBox 13"/>
          <p:cNvSpPr>
            <a:spLocks noChangeArrowheads="1"/>
          </p:cNvSpPr>
          <p:nvPr/>
        </p:nvSpPr>
        <p:spPr bwMode="auto">
          <a:xfrm>
            <a:off x="5796136" y="5517232"/>
            <a:ext cx="346164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page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指令    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include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标签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75856" y="5538788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JSP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运行原理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JSP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隐式对象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301208"/>
            <a:ext cx="947906" cy="119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467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81013" y="1989361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简述什么是会话</a:t>
            </a:r>
            <a:r>
              <a:rPr lang="zh-CN" altLang="en-US" sz="2400" smtClean="0">
                <a:solidFill>
                  <a:prstClr val="black"/>
                </a:solidFill>
              </a:rPr>
              <a:t>技术？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简述</a:t>
            </a:r>
            <a:r>
              <a:rPr lang="en-US" altLang="zh-CN" sz="2400">
                <a:solidFill>
                  <a:prstClr val="black"/>
                </a:solidFill>
              </a:rPr>
              <a:t>Cookie</a:t>
            </a:r>
            <a:r>
              <a:rPr lang="zh-CN" altLang="en-US" sz="2400">
                <a:solidFill>
                  <a:prstClr val="black"/>
                </a:solidFill>
              </a:rPr>
              <a:t>与</a:t>
            </a:r>
            <a:r>
              <a:rPr lang="en-US" altLang="zh-CN" sz="2400">
                <a:solidFill>
                  <a:prstClr val="black"/>
                </a:solidFill>
              </a:rPr>
              <a:t>Session</a:t>
            </a:r>
            <a:r>
              <a:rPr lang="zh-CN" altLang="en-US" sz="2400">
                <a:solidFill>
                  <a:prstClr val="black"/>
                </a:solidFill>
              </a:rPr>
              <a:t>的区别</a:t>
            </a:r>
            <a:r>
              <a:rPr lang="en-US" altLang="zh-CN" sz="2400">
                <a:solidFill>
                  <a:prstClr val="black"/>
                </a:solidFill>
              </a:rPr>
              <a:t>?</a:t>
            </a:r>
            <a:r>
              <a:rPr lang="zh-CN" altLang="en-US" sz="2400">
                <a:solidFill>
                  <a:prstClr val="black"/>
                </a:solidFill>
              </a:rPr>
              <a:t>（至少写出</a:t>
            </a:r>
            <a:r>
              <a:rPr lang="en-US" altLang="zh-CN" sz="2400">
                <a:solidFill>
                  <a:prstClr val="black"/>
                </a:solidFill>
              </a:rPr>
              <a:t>3</a:t>
            </a:r>
            <a:r>
              <a:rPr lang="zh-CN" altLang="en-US" sz="2400">
                <a:solidFill>
                  <a:prstClr val="black"/>
                </a:solidFill>
              </a:rPr>
              <a:t>点</a:t>
            </a:r>
            <a:r>
              <a:rPr lang="zh-CN" altLang="en-US" sz="2400" smtClean="0">
                <a:solidFill>
                  <a:prstClr val="black"/>
                </a:solidFill>
              </a:rPr>
              <a:t>）。</a:t>
            </a:r>
            <a:endParaRPr lang="en-US" altLang="zh-CN" sz="2400">
              <a:solidFill>
                <a:prstClr val="black"/>
              </a:solidFill>
            </a:endParaRPr>
          </a:p>
        </p:txBody>
      </p:sp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作业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点评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4431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400">
                <a:solidFill>
                  <a:prstClr val="black"/>
                </a:solidFill>
              </a:rPr>
              <a:t>JSP</a:t>
            </a:r>
            <a:r>
              <a:rPr lang="zh-CN" altLang="en-US" sz="2400">
                <a:solidFill>
                  <a:prstClr val="black"/>
                </a:solidFill>
              </a:rPr>
              <a:t>文件的概念和作用是什么</a:t>
            </a:r>
            <a:r>
              <a:rPr lang="zh-CN" altLang="en-US" sz="2400" smtClean="0">
                <a:solidFill>
                  <a:prstClr val="black"/>
                </a:solidFill>
              </a:rPr>
              <a:t>？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如何编写</a:t>
            </a:r>
            <a:r>
              <a:rPr lang="en-US" altLang="zh-CN" sz="2400">
                <a:solidFill>
                  <a:prstClr val="black"/>
                </a:solidFill>
              </a:rPr>
              <a:t>JSP</a:t>
            </a:r>
            <a:r>
              <a:rPr lang="zh-CN" altLang="en-US" sz="2400">
                <a:solidFill>
                  <a:prstClr val="black"/>
                </a:solidFill>
              </a:rPr>
              <a:t>文件</a:t>
            </a:r>
            <a:r>
              <a:rPr lang="zh-CN" altLang="en-US" sz="2400" smtClean="0">
                <a:solidFill>
                  <a:prstClr val="black"/>
                </a:solidFill>
              </a:rPr>
              <a:t>？</a:t>
            </a:r>
            <a:endParaRPr lang="en-US" altLang="zh-CN" sz="2400" dirty="0">
              <a:solidFill>
                <a:prstClr val="black"/>
              </a:solidFill>
            </a:endParaRPr>
          </a:p>
        </p:txBody>
      </p:sp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预习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检查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670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 flipH="1" flipV="1">
            <a:off x="323528" y="2194584"/>
            <a:ext cx="2710153" cy="1139825"/>
            <a:chOff x="5320409" y="4225925"/>
            <a:chExt cx="3351604" cy="1209015"/>
          </a:xfrm>
        </p:grpSpPr>
        <p:grpSp>
          <p:nvGrpSpPr>
            <p:cNvPr id="3" name="组合 38"/>
            <p:cNvGrpSpPr>
              <a:grpSpLocks/>
            </p:cNvGrpSpPr>
            <p:nvPr/>
          </p:nvGrpSpPr>
          <p:grpSpPr bwMode="auto">
            <a:xfrm rot="10800000">
              <a:off x="5687902" y="4225925"/>
              <a:ext cx="2669052" cy="686411"/>
              <a:chOff x="934464" y="2318309"/>
              <a:chExt cx="2669329" cy="686148"/>
            </a:xfrm>
          </p:grpSpPr>
          <p:cxnSp>
            <p:nvCxnSpPr>
              <p:cNvPr id="8" name="直接连接符 39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934464" y="2318309"/>
                <a:ext cx="298001" cy="686148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" name="直接连接符 4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1222939" y="3004457"/>
                <a:ext cx="2380854" cy="0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" name="组合 41"/>
            <p:cNvGrpSpPr>
              <a:grpSpLocks/>
            </p:cNvGrpSpPr>
            <p:nvPr/>
          </p:nvGrpSpPr>
          <p:grpSpPr bwMode="auto">
            <a:xfrm flipH="1">
              <a:off x="8082606" y="4880949"/>
              <a:ext cx="589407" cy="553991"/>
              <a:chOff x="1256847" y="3607535"/>
              <a:chExt cx="591076" cy="553298"/>
            </a:xfrm>
          </p:grpSpPr>
          <p:sp>
            <p:nvSpPr>
              <p:cNvPr id="6" name="椭圆 5"/>
              <p:cNvSpPr/>
              <p:nvPr/>
            </p:nvSpPr>
            <p:spPr bwMode="auto">
              <a:xfrm>
                <a:off x="1256847" y="3647898"/>
                <a:ext cx="591076" cy="474256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 rot="10800000">
                <a:off x="1327723" y="3607535"/>
                <a:ext cx="334694" cy="553298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矩形 51"/>
            <p:cNvSpPr>
              <a:spLocks noChangeArrowheads="1"/>
            </p:cNvSpPr>
            <p:nvPr/>
          </p:nvSpPr>
          <p:spPr bwMode="auto">
            <a:xfrm rot="10800000">
              <a:off x="5320409" y="4365135"/>
              <a:ext cx="2762196" cy="587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en-US" altLang="zh-CN" b="1" smtClean="0">
                  <a:solidFill>
                    <a:srgbClr val="006BA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JSP</a:t>
              </a:r>
              <a:r>
                <a:rPr lang="zh-CN" altLang="en-US" b="1" smtClean="0">
                  <a:solidFill>
                    <a:srgbClr val="006BA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的运行原理</a:t>
              </a:r>
              <a:endParaRPr lang="en-US" altLang="zh-CN" b="1">
                <a:solidFill>
                  <a:srgbClr val="006BA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570070" y="1316729"/>
            <a:ext cx="5245036" cy="4035361"/>
            <a:chOff x="1398367" y="1722062"/>
            <a:chExt cx="5245036" cy="4035172"/>
          </a:xfrm>
        </p:grpSpPr>
        <p:graphicFrame>
          <p:nvGraphicFramePr>
            <p:cNvPr id="11" name="图表 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92531024"/>
                </p:ext>
              </p:extLst>
            </p:nvPr>
          </p:nvGraphicFramePr>
          <p:xfrm>
            <a:off x="1398367" y="1722062"/>
            <a:ext cx="5245036" cy="40351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TextBox 11"/>
            <p:cNvSpPr txBox="1"/>
            <p:nvPr/>
          </p:nvSpPr>
          <p:spPr bwMode="auto">
            <a:xfrm rot="2719682">
              <a:off x="4600346" y="2872905"/>
              <a:ext cx="1042938" cy="369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  <p:sp>
          <p:nvSpPr>
            <p:cNvPr id="13" name="TextBox 12"/>
            <p:cNvSpPr txBox="1"/>
            <p:nvPr/>
          </p:nvSpPr>
          <p:spPr bwMode="auto">
            <a:xfrm rot="6997465" flipV="1">
              <a:off x="2748528" y="2675271"/>
              <a:ext cx="1041351" cy="369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</a:p>
          </p:txBody>
        </p:sp>
        <p:sp>
          <p:nvSpPr>
            <p:cNvPr id="14" name="TextBox 13"/>
            <p:cNvSpPr txBox="1"/>
            <p:nvPr/>
          </p:nvSpPr>
          <p:spPr bwMode="auto">
            <a:xfrm rot="10800000" flipH="1" flipV="1">
              <a:off x="3819272" y="4427003"/>
              <a:ext cx="1041400" cy="3682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</a:p>
          </p:txBody>
        </p:sp>
      </p:grpSp>
      <p:grpSp>
        <p:nvGrpSpPr>
          <p:cNvPr id="15" name="组合 2"/>
          <p:cNvGrpSpPr>
            <a:grpSpLocks/>
          </p:cNvGrpSpPr>
          <p:nvPr/>
        </p:nvGrpSpPr>
        <p:grpSpPr bwMode="auto">
          <a:xfrm>
            <a:off x="3692525" y="2547010"/>
            <a:ext cx="1203325" cy="1201737"/>
            <a:chOff x="3692088" y="2878838"/>
            <a:chExt cx="1203191" cy="1201737"/>
          </a:xfrm>
        </p:grpSpPr>
        <p:sp>
          <p:nvSpPr>
            <p:cNvPr id="16" name="弧形 15"/>
            <p:cNvSpPr/>
            <p:nvPr/>
          </p:nvSpPr>
          <p:spPr bwMode="auto">
            <a:xfrm rot="5400000">
              <a:off x="3692815" y="2878111"/>
              <a:ext cx="1201737" cy="1203191"/>
            </a:xfrm>
            <a:prstGeom prst="arc">
              <a:avLst>
                <a:gd name="adj1" fmla="val 5382197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" name="弧形 16"/>
            <p:cNvSpPr/>
            <p:nvPr/>
          </p:nvSpPr>
          <p:spPr bwMode="auto">
            <a:xfrm>
              <a:off x="3795265" y="2996313"/>
              <a:ext cx="990490" cy="992187"/>
            </a:xfrm>
            <a:prstGeom prst="arc">
              <a:avLst>
                <a:gd name="adj1" fmla="val 10763236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" name="弧形 17"/>
            <p:cNvSpPr/>
            <p:nvPr/>
          </p:nvSpPr>
          <p:spPr bwMode="auto">
            <a:xfrm rot="16200000">
              <a:off x="3891251" y="3136849"/>
              <a:ext cx="822325" cy="753978"/>
            </a:xfrm>
            <a:prstGeom prst="arc">
              <a:avLst>
                <a:gd name="adj1" fmla="val 16251812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4604978" y="4706680"/>
            <a:ext cx="3687726" cy="1314609"/>
            <a:chOff x="4241881" y="5106728"/>
            <a:chExt cx="2034493" cy="1306452"/>
          </a:xfrm>
        </p:grpSpPr>
        <p:grpSp>
          <p:nvGrpSpPr>
            <p:cNvPr id="20" name="组合 38"/>
            <p:cNvGrpSpPr>
              <a:grpSpLocks/>
            </p:cNvGrpSpPr>
            <p:nvPr/>
          </p:nvGrpSpPr>
          <p:grpSpPr bwMode="auto">
            <a:xfrm rot="5400000" flipV="1">
              <a:off x="4703914" y="4644695"/>
              <a:ext cx="1075694" cy="1999759"/>
              <a:chOff x="6453791" y="4116789"/>
              <a:chExt cx="1526764" cy="915993"/>
            </a:xfrm>
          </p:grpSpPr>
          <p:grpSp>
            <p:nvGrpSpPr>
              <p:cNvPr id="22" name="组合 38"/>
              <p:cNvGrpSpPr>
                <a:grpSpLocks/>
              </p:cNvGrpSpPr>
              <p:nvPr/>
            </p:nvGrpSpPr>
            <p:grpSpPr bwMode="auto">
              <a:xfrm rot="10800000">
                <a:off x="6453791" y="4116789"/>
                <a:ext cx="1212473" cy="810510"/>
                <a:chOff x="1625229" y="2303341"/>
                <a:chExt cx="1212595" cy="810196"/>
              </a:xfrm>
            </p:grpSpPr>
            <p:cxnSp>
              <p:nvCxnSpPr>
                <p:cNvPr id="26" name="直接连接符 39"/>
                <p:cNvCxnSpPr>
                  <a:cxnSpLocks noChangeShapeType="1"/>
                </p:cNvCxnSpPr>
                <p:nvPr/>
              </p:nvCxnSpPr>
              <p:spPr bwMode="auto">
                <a:xfrm rot="16200000" flipH="1" flipV="1">
                  <a:off x="1232572" y="2695997"/>
                  <a:ext cx="785314" cy="1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7" name="直接连接符 40"/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2219087" y="2494799"/>
                  <a:ext cx="24880" cy="1212595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 type="oval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3" name="组合 41"/>
              <p:cNvGrpSpPr>
                <a:grpSpLocks/>
              </p:cNvGrpSpPr>
              <p:nvPr/>
            </p:nvGrpSpPr>
            <p:grpSpPr bwMode="auto">
              <a:xfrm flipH="1">
                <a:off x="7292398" y="4920843"/>
                <a:ext cx="688157" cy="111939"/>
                <a:chOff x="1950262" y="3647353"/>
                <a:chExt cx="690106" cy="111798"/>
              </a:xfrm>
            </p:grpSpPr>
            <p:sp>
              <p:nvSpPr>
                <p:cNvPr id="24" name="椭圆 23"/>
                <p:cNvSpPr/>
                <p:nvPr/>
              </p:nvSpPr>
              <p:spPr bwMode="auto">
                <a:xfrm rot="5400000">
                  <a:off x="2204742" y="3392873"/>
                  <a:ext cx="111798" cy="620757"/>
                </a:xfrm>
                <a:prstGeom prst="ellipse">
                  <a:avLst/>
                </a:prstGeom>
                <a:solidFill>
                  <a:srgbClr val="006BA9"/>
                </a:solidFill>
                <a:ln w="28575" cap="flat" cmpd="sng" algn="ctr">
                  <a:solidFill>
                    <a:srgbClr val="006BA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25400" dist="12700" dir="2700000" algn="tl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/>
                <a:lstStyle/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 rot="5400000">
                  <a:off x="2258983" y="3365770"/>
                  <a:ext cx="93355" cy="669415"/>
                </a:xfrm>
                <a:prstGeom prst="rect">
                  <a:avLst/>
                </a:prstGeom>
                <a:noFill/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8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1" name="矩形 4"/>
            <p:cNvSpPr>
              <a:spLocks noChangeArrowheads="1"/>
            </p:cNvSpPr>
            <p:nvPr/>
          </p:nvSpPr>
          <p:spPr bwMode="auto">
            <a:xfrm>
              <a:off x="4296212" y="5403819"/>
              <a:ext cx="1980162" cy="1009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en-US" altLang="zh-CN" b="1" smtClean="0">
                  <a:solidFill>
                    <a:srgbClr val="0066A1"/>
                  </a:solidFill>
                  <a:latin typeface="微软雅黑" pitchFamily="34" charset="-122"/>
                  <a:ea typeface="微软雅黑" pitchFamily="34" charset="-122"/>
                  <a:sym typeface="宋体" pitchFamily="2" charset="-122"/>
                </a:rPr>
                <a:t>JSP</a:t>
              </a:r>
              <a:r>
                <a:rPr lang="zh-CN" altLang="en-US" b="1" smtClean="0">
                  <a:solidFill>
                    <a:srgbClr val="0066A1"/>
                  </a:solidFill>
                  <a:latin typeface="微软雅黑" pitchFamily="34" charset="-122"/>
                  <a:ea typeface="微软雅黑" pitchFamily="34" charset="-122"/>
                  <a:sym typeface="宋体" pitchFamily="2" charset="-122"/>
                </a:rPr>
                <a:t>指令和隐式对象的使用</a:t>
              </a:r>
              <a:endParaRPr lang="en-US" altLang="zh-CN" b="1">
                <a:solidFill>
                  <a:srgbClr val="0066A1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endParaRPr>
            </a:p>
            <a:p>
              <a:pPr marL="457200" indent="-457200">
                <a:lnSpc>
                  <a:spcPts val="3600"/>
                </a:lnSpc>
              </a:pPr>
              <a:endParaRPr lang="en-US" altLang="zh-CN" b="1" dirty="0">
                <a:solidFill>
                  <a:srgbClr val="006BA9"/>
                </a:solidFill>
                <a:ea typeface="微软雅黑" pitchFamily="34" charset="-122"/>
                <a:sym typeface="宋体" charset="-122"/>
              </a:endParaRPr>
            </a:p>
          </p:txBody>
        </p:sp>
      </p:grpSp>
      <p:grpSp>
        <p:nvGrpSpPr>
          <p:cNvPr id="28" name="组合 6"/>
          <p:cNvGrpSpPr>
            <a:grpSpLocks/>
          </p:cNvGrpSpPr>
          <p:nvPr/>
        </p:nvGrpSpPr>
        <p:grpSpPr bwMode="auto">
          <a:xfrm>
            <a:off x="5802344" y="1765266"/>
            <a:ext cx="3522185" cy="1015662"/>
            <a:chOff x="5947990" y="1789831"/>
            <a:chExt cx="3525360" cy="1015695"/>
          </a:xfrm>
        </p:grpSpPr>
        <p:sp>
          <p:nvSpPr>
            <p:cNvPr id="29" name="矩形 5"/>
            <p:cNvSpPr>
              <a:spLocks noChangeArrowheads="1"/>
            </p:cNvSpPr>
            <p:nvPr/>
          </p:nvSpPr>
          <p:spPr bwMode="auto">
            <a:xfrm flipH="1">
              <a:off x="5962724" y="1789831"/>
              <a:ext cx="3510626" cy="1015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en-US" altLang="zh-CN" b="1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JSP</a:t>
              </a:r>
              <a:r>
                <a:rPr lang="zh-CN" altLang="en-US" b="1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的基本语法</a:t>
              </a:r>
              <a:endParaRPr lang="en-US" altLang="zh-CN" b="1" smtClean="0">
                <a:solidFill>
                  <a:srgbClr val="01598B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457200" indent="-457200">
                <a:lnSpc>
                  <a:spcPts val="3600"/>
                </a:lnSpc>
              </a:pPr>
              <a:r>
                <a:rPr lang="en-US" altLang="zh-CN" b="1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JSP</a:t>
              </a:r>
              <a:r>
                <a:rPr lang="zh-CN" altLang="en-US" b="1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动作元素的使用</a:t>
              </a:r>
              <a:endParaRPr lang="en-US" altLang="zh-CN" b="1">
                <a:solidFill>
                  <a:srgbClr val="0159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0" name="组合 16"/>
            <p:cNvGrpSpPr>
              <a:grpSpLocks/>
            </p:cNvGrpSpPr>
            <p:nvPr/>
          </p:nvGrpSpPr>
          <p:grpSpPr bwMode="auto">
            <a:xfrm flipH="1">
              <a:off x="5947990" y="2286831"/>
              <a:ext cx="3039273" cy="446681"/>
              <a:chOff x="980659" y="2862509"/>
              <a:chExt cx="3177995" cy="446892"/>
            </a:xfrm>
          </p:grpSpPr>
          <p:cxnSp>
            <p:nvCxnSpPr>
              <p:cNvPr id="34" name="直接连接符 7"/>
              <p:cNvCxnSpPr>
                <a:cxnSpLocks noChangeShapeType="1"/>
              </p:cNvCxnSpPr>
              <p:nvPr/>
            </p:nvCxnSpPr>
            <p:spPr bwMode="auto">
              <a:xfrm>
                <a:off x="980659" y="2862509"/>
                <a:ext cx="255076" cy="446892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连接符 10"/>
              <p:cNvCxnSpPr>
                <a:cxnSpLocks noChangeShapeType="1"/>
              </p:cNvCxnSpPr>
              <p:nvPr/>
            </p:nvCxnSpPr>
            <p:spPr bwMode="auto">
              <a:xfrm>
                <a:off x="1235735" y="3294594"/>
                <a:ext cx="2922919" cy="14807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" name="组合 15"/>
            <p:cNvGrpSpPr>
              <a:grpSpLocks/>
            </p:cNvGrpSpPr>
            <p:nvPr/>
          </p:nvGrpSpPr>
          <p:grpSpPr bwMode="auto">
            <a:xfrm flipH="1">
              <a:off x="8767739" y="1827378"/>
              <a:ext cx="489391" cy="520715"/>
              <a:chOff x="1383068" y="4069721"/>
              <a:chExt cx="511727" cy="520961"/>
            </a:xfrm>
          </p:grpSpPr>
          <p:sp>
            <p:nvSpPr>
              <p:cNvPr id="32" name="椭圆 31"/>
              <p:cNvSpPr/>
              <p:nvPr/>
            </p:nvSpPr>
            <p:spPr bwMode="auto">
              <a:xfrm>
                <a:off x="1383068" y="4085604"/>
                <a:ext cx="511727" cy="473312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491055" y="4069721"/>
                <a:ext cx="335613" cy="52096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6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学习目标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585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467544" y="1700808"/>
            <a:ext cx="6768752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809708" y="183553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6.1    JSP</a:t>
            </a:r>
            <a:r>
              <a:rPr lang="zh-CN" altLang="en-US" sz="24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概述 </a:t>
            </a:r>
          </a:p>
        </p:txBody>
      </p:sp>
      <p:sp>
        <p:nvSpPr>
          <p:cNvPr id="5" name="TextBox 10"/>
          <p:cNvSpPr txBox="1"/>
          <p:nvPr/>
        </p:nvSpPr>
        <p:spPr>
          <a:xfrm>
            <a:off x="809708" y="242088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6.2    JSP</a:t>
            </a:r>
            <a:r>
              <a:rPr lang="zh-CN" altLang="en-US" sz="2400" dirty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基本语法</a:t>
            </a:r>
          </a:p>
        </p:txBody>
      </p:sp>
      <p:sp>
        <p:nvSpPr>
          <p:cNvPr id="6" name="TextBox 11"/>
          <p:cNvSpPr txBox="1"/>
          <p:nvPr/>
        </p:nvSpPr>
        <p:spPr>
          <a:xfrm>
            <a:off x="809708" y="299695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6.3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指令</a:t>
            </a:r>
          </a:p>
        </p:txBody>
      </p:sp>
      <p:sp>
        <p:nvSpPr>
          <p:cNvPr id="9" name="椭圆 8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809708" y="3573016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6.4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隐式对象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9708" y="414908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6.5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动作元素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708" y="4725144"/>
            <a:ext cx="469839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6.6    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阶段案例：传智书城</a:t>
            </a:r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页面</a:t>
            </a:r>
          </a:p>
        </p:txBody>
      </p:sp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908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701209" y="1052736"/>
            <a:ext cx="4950911" cy="3168352"/>
            <a:chOff x="2312388" y="534744"/>
            <a:chExt cx="7170737" cy="4635500"/>
          </a:xfrm>
        </p:grpSpPr>
        <p:pic>
          <p:nvPicPr>
            <p:cNvPr id="3" name="Picture 6" descr="云朵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2388" y="534744"/>
              <a:ext cx="7170737" cy="46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 Box 7"/>
            <p:cNvSpPr txBox="1">
              <a:spLocks noChangeArrowheads="1"/>
            </p:cNvSpPr>
            <p:nvPr/>
          </p:nvSpPr>
          <p:spPr bwMode="auto">
            <a:xfrm>
              <a:off x="4751815" y="2081897"/>
              <a:ext cx="4043362" cy="495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ea typeface="黑体" pitchFamily="49" charset="-122"/>
                </a:rPr>
                <a:t>什么</a:t>
              </a:r>
              <a:r>
                <a:rPr lang="zh-CN" altLang="en-US" sz="2000" b="1" smtClean="0">
                  <a:solidFill>
                    <a:schemeClr val="bg1"/>
                  </a:solidFill>
                  <a:ea typeface="黑体" pitchFamily="49" charset="-122"/>
                </a:rPr>
                <a:t>是</a:t>
              </a:r>
              <a:r>
                <a:rPr lang="en-US" altLang="zh-CN" sz="2000" b="1">
                  <a:solidFill>
                    <a:schemeClr val="bg1"/>
                  </a:solidFill>
                  <a:ea typeface="黑体" pitchFamily="49" charset="-122"/>
                </a:rPr>
                <a:t>JSP</a:t>
              </a:r>
              <a:r>
                <a:rPr lang="zh-CN" altLang="en-US" sz="2000" b="1" smtClean="0">
                  <a:solidFill>
                    <a:schemeClr val="bg1"/>
                  </a:solidFill>
                  <a:ea typeface="黑体" pitchFamily="49" charset="-122"/>
                </a:rPr>
                <a:t>？</a:t>
              </a:r>
              <a:endParaRPr lang="zh-CN" altLang="en-US" sz="2000" b="1">
                <a:solidFill>
                  <a:schemeClr val="bg1"/>
                </a:solidFill>
                <a:ea typeface="黑体" pitchFamily="49" charset="-122"/>
              </a:endParaRPr>
            </a:p>
          </p:txBody>
        </p:sp>
      </p:grp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443" y="3065659"/>
            <a:ext cx="951557" cy="867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8" descr="问小人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79" y="2276872"/>
            <a:ext cx="2165305" cy="2237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3131840" y="3290466"/>
            <a:ext cx="5472608" cy="294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smtClean="0"/>
              <a:t>              </a:t>
            </a:r>
            <a:r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全名是</a:t>
            </a:r>
            <a:r>
              <a:rPr lang="en-US" altLang="zh-CN" sz="1800" smtClean="0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Server Pages</a:t>
            </a:r>
            <a:r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，它是建立在</a:t>
            </a:r>
            <a:r>
              <a:rPr lang="en-US" altLang="zh-CN" sz="1800" smtClean="0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规范之上的动态网页开发技术。在</a:t>
            </a:r>
            <a:r>
              <a:rPr lang="en-US" altLang="zh-C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文件中，</a:t>
            </a:r>
            <a:r>
              <a:rPr lang="en-US" altLang="zh-CN" sz="1800" smtClean="0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代码与</a:t>
            </a:r>
            <a:r>
              <a:rPr lang="en-US" altLang="zh-CN" sz="1800" smtClean="0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代码共同存在，其中，</a:t>
            </a:r>
            <a:r>
              <a:rPr lang="en-US" altLang="zh-C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代码用来实现网页中静态内容的显示，</a:t>
            </a:r>
            <a:r>
              <a:rPr lang="en-US" altLang="zh-C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代码用来实现网页中动态内容的显示。</a:t>
            </a:r>
            <a:endParaRPr lang="en-US" altLang="zh-CN" sz="1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6.1.1 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什么是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JSP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656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508000" y="1772816"/>
            <a:ext cx="8137525" cy="4392488"/>
          </a:xfrm>
          <a:prstGeom prst="rect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6012160" y="1473349"/>
            <a:ext cx="2198687" cy="371475"/>
            <a:chOff x="6086475" y="2840038"/>
            <a:chExt cx="2198688" cy="371474"/>
          </a:xfrm>
        </p:grpSpPr>
        <p:sp>
          <p:nvSpPr>
            <p:cNvPr id="4" name="任意多边形 3"/>
            <p:cNvSpPr/>
            <p:nvPr/>
          </p:nvSpPr>
          <p:spPr bwMode="auto">
            <a:xfrm>
              <a:off x="6086475" y="2840038"/>
              <a:ext cx="2198688" cy="371474"/>
            </a:xfrm>
            <a:custGeom>
              <a:avLst/>
              <a:gdLst>
                <a:gd name="connsiteX0" fmla="*/ 0 w 4267200"/>
                <a:gd name="connsiteY0" fmla="*/ 201820 h 1210897"/>
                <a:gd name="connsiteX1" fmla="*/ 201820 w 4267200"/>
                <a:gd name="connsiteY1" fmla="*/ 0 h 1210897"/>
                <a:gd name="connsiteX2" fmla="*/ 4065380 w 4267200"/>
                <a:gd name="connsiteY2" fmla="*/ 0 h 1210897"/>
                <a:gd name="connsiteX3" fmla="*/ 4267200 w 4267200"/>
                <a:gd name="connsiteY3" fmla="*/ 201820 h 1210897"/>
                <a:gd name="connsiteX4" fmla="*/ 4267200 w 4267200"/>
                <a:gd name="connsiteY4" fmla="*/ 1009077 h 1210897"/>
                <a:gd name="connsiteX5" fmla="*/ 4065380 w 4267200"/>
                <a:gd name="connsiteY5" fmla="*/ 1210897 h 1210897"/>
                <a:gd name="connsiteX6" fmla="*/ 201820 w 4267200"/>
                <a:gd name="connsiteY6" fmla="*/ 1210897 h 1210897"/>
                <a:gd name="connsiteX7" fmla="*/ 0 w 4267200"/>
                <a:gd name="connsiteY7" fmla="*/ 1009077 h 1210897"/>
                <a:gd name="connsiteX8" fmla="*/ 0 w 4267200"/>
                <a:gd name="connsiteY8" fmla="*/ 201820 h 12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67200" h="1210897">
                  <a:moveTo>
                    <a:pt x="0" y="201820"/>
                  </a:moveTo>
                  <a:cubicBezTo>
                    <a:pt x="0" y="90358"/>
                    <a:pt x="90358" y="0"/>
                    <a:pt x="201820" y="0"/>
                  </a:cubicBezTo>
                  <a:lnTo>
                    <a:pt x="4065380" y="0"/>
                  </a:lnTo>
                  <a:cubicBezTo>
                    <a:pt x="4176842" y="0"/>
                    <a:pt x="4267200" y="90358"/>
                    <a:pt x="4267200" y="201820"/>
                  </a:cubicBezTo>
                  <a:lnTo>
                    <a:pt x="4267200" y="1009077"/>
                  </a:lnTo>
                  <a:cubicBezTo>
                    <a:pt x="4267200" y="1120539"/>
                    <a:pt x="4176842" y="1210897"/>
                    <a:pt x="4065380" y="1210897"/>
                  </a:cubicBezTo>
                  <a:lnTo>
                    <a:pt x="201820" y="1210897"/>
                  </a:lnTo>
                  <a:cubicBezTo>
                    <a:pt x="90358" y="1210897"/>
                    <a:pt x="0" y="1120539"/>
                    <a:pt x="0" y="1009077"/>
                  </a:cubicBezTo>
                  <a:lnTo>
                    <a:pt x="0" y="201820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0401" tIns="59111" rIns="220401" bIns="59111" spcCol="1270" anchor="ctr"/>
            <a:lstStyle/>
            <a:p>
              <a:pPr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 dirty="0"/>
            </a:p>
          </p:txBody>
        </p:sp>
        <p:sp>
          <p:nvSpPr>
            <p:cNvPr id="5" name="矩形 75"/>
            <p:cNvSpPr>
              <a:spLocks noChangeArrowheads="1"/>
            </p:cNvSpPr>
            <p:nvPr/>
          </p:nvSpPr>
          <p:spPr bwMode="auto">
            <a:xfrm>
              <a:off x="6121400" y="2879726"/>
              <a:ext cx="2109788" cy="323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/>
            <a:p>
              <a:pPr algn="ctr" eaLnBrk="1" hangingPunct="1"/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JSP</a:t>
              </a:r>
              <a:r>
                <a:rPr lang="zh-CN" altLang="en-US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的特征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76077" y="1916832"/>
            <a:ext cx="770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b="1" dirty="0"/>
              <a:t>跨平台</a:t>
            </a:r>
            <a:r>
              <a:rPr lang="zh-CN" altLang="zh-CN" sz="1600" b="1" dirty="0" smtClean="0"/>
              <a:t>：</a:t>
            </a:r>
            <a:r>
              <a:rPr lang="zh-CN" altLang="zh-CN" sz="1600" dirty="0" smtClean="0"/>
              <a:t>当</a:t>
            </a:r>
            <a:r>
              <a:rPr lang="zh-CN" altLang="zh-CN" sz="1600" dirty="0"/>
              <a:t>从一个平台移植到另一个平台时，</a:t>
            </a:r>
            <a:r>
              <a:rPr lang="en-US" altLang="zh-CN" sz="1600" dirty="0"/>
              <a:t>JSP</a:t>
            </a:r>
            <a:r>
              <a:rPr lang="zh-CN" altLang="zh-CN" sz="1600" dirty="0"/>
              <a:t>和</a:t>
            </a:r>
            <a:r>
              <a:rPr lang="en-US" altLang="zh-CN" sz="1600" dirty="0"/>
              <a:t>JavaBean</a:t>
            </a:r>
            <a:r>
              <a:rPr lang="zh-CN" altLang="zh-CN" sz="1600" dirty="0"/>
              <a:t>的代码并不需要重新编译，这是因为</a:t>
            </a:r>
            <a:r>
              <a:rPr lang="en-US" altLang="zh-CN" sz="1600" dirty="0"/>
              <a:t>Java</a:t>
            </a:r>
            <a:r>
              <a:rPr lang="zh-CN" altLang="zh-CN" sz="1600" dirty="0"/>
              <a:t>的字节码是与平台无关</a:t>
            </a:r>
            <a:r>
              <a:rPr lang="zh-CN" altLang="zh-CN" sz="1600" dirty="0" smtClean="0"/>
              <a:t>的</a:t>
            </a:r>
            <a:r>
              <a:rPr lang="zh-CN" altLang="en-US" sz="1600" dirty="0" smtClean="0"/>
              <a:t>。</a:t>
            </a:r>
            <a:endParaRPr lang="zh-CN" altLang="zh-CN" sz="1600" dirty="0"/>
          </a:p>
        </p:txBody>
      </p:sp>
      <p:sp>
        <p:nvSpPr>
          <p:cNvPr id="12" name="TextBox 4"/>
          <p:cNvSpPr txBox="1">
            <a:spLocks noChangeArrowheads="1"/>
          </p:cNvSpPr>
          <p:nvPr/>
        </p:nvSpPr>
        <p:spPr bwMode="auto">
          <a:xfrm>
            <a:off x="676076" y="2861861"/>
            <a:ext cx="7784356" cy="783163"/>
          </a:xfrm>
          <a:prstGeom prst="rect">
            <a:avLst/>
          </a:prstGeom>
          <a:solidFill>
            <a:srgbClr val="E7F4FF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b="1" dirty="0"/>
              <a:t>业务代码相分离：</a:t>
            </a:r>
            <a:r>
              <a:rPr lang="zh-CN" altLang="zh-CN" sz="1600" dirty="0"/>
              <a:t>在使用</a:t>
            </a:r>
            <a:r>
              <a:rPr lang="en-US" altLang="zh-CN" sz="1600" dirty="0"/>
              <a:t>JSP</a:t>
            </a:r>
            <a:r>
              <a:rPr lang="zh-CN" altLang="zh-CN" sz="1600" dirty="0"/>
              <a:t>技术开发</a:t>
            </a:r>
            <a:r>
              <a:rPr lang="en-US" altLang="zh-CN" sz="1600" dirty="0"/>
              <a:t>Web</a:t>
            </a:r>
            <a:r>
              <a:rPr lang="zh-CN" altLang="zh-CN" sz="1600" dirty="0"/>
              <a:t>应用时，可以将界面的开发与应用程序的开发分离开</a:t>
            </a:r>
            <a:r>
              <a:rPr lang="zh-CN" altLang="zh-CN" sz="1600" dirty="0" smtClean="0"/>
              <a:t>。</a:t>
            </a:r>
            <a:endParaRPr lang="zh-CN" altLang="zh-CN" sz="1600" dirty="0"/>
          </a:p>
        </p:txBody>
      </p:sp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676076" y="5085184"/>
            <a:ext cx="7784356" cy="830997"/>
          </a:xfrm>
          <a:prstGeom prst="rect">
            <a:avLst/>
          </a:prstGeom>
          <a:solidFill>
            <a:srgbClr val="E7F4FF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b="1" dirty="0"/>
              <a:t>组件重用：</a:t>
            </a:r>
            <a:r>
              <a:rPr lang="en-US" altLang="zh-CN" sz="1600" dirty="0"/>
              <a:t>JSP</a:t>
            </a:r>
            <a:r>
              <a:rPr lang="zh-CN" altLang="zh-CN" sz="1600" dirty="0"/>
              <a:t>中可以使用</a:t>
            </a:r>
            <a:r>
              <a:rPr lang="en-US" altLang="zh-CN" sz="1600" dirty="0"/>
              <a:t>JavaBean</a:t>
            </a:r>
            <a:r>
              <a:rPr lang="zh-CN" altLang="zh-CN" sz="1600" dirty="0"/>
              <a:t>编写业务组件，也就是使用一个</a:t>
            </a:r>
            <a:r>
              <a:rPr lang="en-US" altLang="zh-CN" sz="1600" dirty="0"/>
              <a:t>JavaBean</a:t>
            </a:r>
            <a:r>
              <a:rPr lang="zh-CN" altLang="zh-CN" sz="1600" dirty="0"/>
              <a:t>类封装业务处理代码或者作为一个数据存储</a:t>
            </a:r>
            <a:r>
              <a:rPr lang="zh-CN" altLang="zh-CN" sz="1600" dirty="0" smtClean="0"/>
              <a:t>模型。</a:t>
            </a:r>
            <a:endParaRPr lang="zh-CN" altLang="zh-CN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76077" y="3740839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b="1" dirty="0" smtClean="0"/>
              <a:t>预编</a:t>
            </a:r>
            <a:r>
              <a:rPr lang="zh-CN" altLang="zh-CN" sz="1600" b="1" dirty="0"/>
              <a:t>译：</a:t>
            </a:r>
            <a:r>
              <a:rPr lang="zh-CN" altLang="zh-CN" sz="1600" dirty="0"/>
              <a:t>预编译就是在用户第一次通过浏览器访问</a:t>
            </a:r>
            <a:r>
              <a:rPr lang="en-US" altLang="zh-CN" sz="1600" dirty="0"/>
              <a:t>JSP</a:t>
            </a:r>
            <a:r>
              <a:rPr lang="zh-CN" altLang="zh-CN" sz="1600" dirty="0"/>
              <a:t>页面时，服务器将对</a:t>
            </a:r>
            <a:r>
              <a:rPr lang="en-US" altLang="zh-CN" sz="1600" dirty="0"/>
              <a:t>JSP</a:t>
            </a:r>
            <a:r>
              <a:rPr lang="zh-CN" altLang="zh-CN" sz="1600" dirty="0"/>
              <a:t>页面代码进行编译，并且仅执行一次编译。编译好的代码将被保存，在用户下一次访问时，会直接执行编译好的代码。</a:t>
            </a:r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6.1.1 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什么是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JSP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998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  <p:bldP spid="13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786" y="1432621"/>
            <a:ext cx="6322672" cy="445254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圆角矩形 2"/>
          <p:cNvSpPr/>
          <p:nvPr/>
        </p:nvSpPr>
        <p:spPr>
          <a:xfrm>
            <a:off x="1547664" y="2872781"/>
            <a:ext cx="756000" cy="180000"/>
          </a:xfrm>
          <a:prstGeom prst="roundRect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>
            <a:endCxn id="6" idx="2"/>
          </p:cNvCxnSpPr>
          <p:nvPr/>
        </p:nvCxnSpPr>
        <p:spPr>
          <a:xfrm flipH="1" flipV="1">
            <a:off x="736511" y="2553361"/>
            <a:ext cx="809611" cy="409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-2634" y="2291751"/>
            <a:ext cx="14782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mtClean="0">
                <a:solidFill>
                  <a:srgbClr val="FF0000"/>
                </a:solidFill>
              </a:rPr>
              <a:t>右击</a:t>
            </a:r>
            <a:r>
              <a:rPr lang="en-US" altLang="zh-CN" sz="1100" smtClean="0">
                <a:solidFill>
                  <a:srgbClr val="FF0000"/>
                </a:solidFill>
              </a:rPr>
              <a:t>WebContent</a:t>
            </a:r>
            <a:r>
              <a:rPr lang="zh-CN" altLang="en-US" sz="1100" smtClean="0">
                <a:solidFill>
                  <a:srgbClr val="FF0000"/>
                </a:solidFill>
              </a:rPr>
              <a:t>目录</a:t>
            </a:r>
            <a:endParaRPr lang="zh-CN" altLang="en-US" sz="1100">
              <a:solidFill>
                <a:srgbClr val="FF0000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97" y="2291751"/>
            <a:ext cx="1440160" cy="261610"/>
          </a:xfrm>
          <a:prstGeom prst="roundRect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285" y="2867448"/>
            <a:ext cx="3221811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圆角矩形 9"/>
          <p:cNvSpPr/>
          <p:nvPr/>
        </p:nvSpPr>
        <p:spPr>
          <a:xfrm>
            <a:off x="3995936" y="5249045"/>
            <a:ext cx="1421611" cy="180000"/>
          </a:xfrm>
          <a:prstGeom prst="roundRect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291750"/>
            <a:ext cx="2743426" cy="325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圆角矩形 10"/>
          <p:cNvSpPr/>
          <p:nvPr/>
        </p:nvSpPr>
        <p:spPr>
          <a:xfrm>
            <a:off x="3275856" y="4060925"/>
            <a:ext cx="432048" cy="108000"/>
          </a:xfrm>
          <a:prstGeom prst="roundRect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>
            <a:endCxn id="15" idx="1"/>
          </p:cNvCxnSpPr>
          <p:nvPr/>
        </p:nvCxnSpPr>
        <p:spPr>
          <a:xfrm flipV="1">
            <a:off x="3707904" y="4069923"/>
            <a:ext cx="388960" cy="45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4096864" y="3970921"/>
            <a:ext cx="979192" cy="198004"/>
          </a:xfrm>
          <a:prstGeom prst="roundRect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096863" y="3952901"/>
            <a:ext cx="907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mtClean="0">
                <a:solidFill>
                  <a:srgbClr val="FF0000"/>
                </a:solidFill>
              </a:rPr>
              <a:t>选择</a:t>
            </a:r>
            <a:r>
              <a:rPr lang="en-US" altLang="zh-CN" sz="1100" smtClean="0">
                <a:solidFill>
                  <a:srgbClr val="FF0000"/>
                </a:solidFill>
              </a:rPr>
              <a:t>JSP File</a:t>
            </a:r>
            <a:endParaRPr lang="zh-CN" altLang="en-US" sz="1100">
              <a:solidFill>
                <a:srgbClr val="FF0000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096864" y="5249045"/>
            <a:ext cx="547144" cy="180000"/>
          </a:xfrm>
          <a:prstGeom prst="roundRect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5" y="2276748"/>
            <a:ext cx="2756088" cy="326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3319336" y="4492057"/>
            <a:ext cx="792000" cy="1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mtClean="0"/>
              <a:t>HelloWorld</a:t>
            </a:r>
            <a:endParaRPr lang="zh-CN" altLang="en-US" sz="1000"/>
          </a:p>
        </p:txBody>
      </p:sp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5" y="2276747"/>
            <a:ext cx="2756088" cy="326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4111335" y="5249045"/>
            <a:ext cx="486653" cy="180000"/>
          </a:xfrm>
          <a:prstGeom prst="roundRect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 flipV="1">
            <a:off x="4345961" y="4983806"/>
            <a:ext cx="0" cy="265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25"/>
          <p:cNvSpPr/>
          <p:nvPr/>
        </p:nvSpPr>
        <p:spPr>
          <a:xfrm>
            <a:off x="3995936" y="4744989"/>
            <a:ext cx="720080" cy="216024"/>
          </a:xfrm>
          <a:prstGeom prst="roundRect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3995936" y="4722196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mtClean="0">
                <a:solidFill>
                  <a:srgbClr val="FF0000"/>
                </a:solidFill>
              </a:rPr>
              <a:t>点击</a:t>
            </a:r>
            <a:r>
              <a:rPr lang="en-US" altLang="zh-CN" sz="1100">
                <a:solidFill>
                  <a:srgbClr val="FF0000"/>
                </a:solidFill>
              </a:rPr>
              <a:t>Next</a:t>
            </a:r>
            <a:endParaRPr lang="zh-CN" altLang="en-US" sz="1100">
              <a:solidFill>
                <a:srgbClr val="FF0000"/>
              </a:solidFill>
            </a:endParaRPr>
          </a:p>
        </p:txBody>
      </p:sp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351" y="2272605"/>
            <a:ext cx="2759585" cy="3269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圆角矩形 28"/>
          <p:cNvSpPr/>
          <p:nvPr/>
        </p:nvSpPr>
        <p:spPr>
          <a:xfrm>
            <a:off x="4644008" y="5249045"/>
            <a:ext cx="504056" cy="180000"/>
          </a:xfrm>
          <a:prstGeom prst="roundRect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 flipH="1" flipV="1">
            <a:off x="4926608" y="5061512"/>
            <a:ext cx="1" cy="187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/>
        </p:nvSpPr>
        <p:spPr>
          <a:xfrm>
            <a:off x="4582529" y="4906100"/>
            <a:ext cx="641473" cy="155412"/>
          </a:xfrm>
          <a:prstGeom prst="roundRect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4499992" y="4843419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mtClean="0">
                <a:solidFill>
                  <a:srgbClr val="FF0000"/>
                </a:solidFill>
              </a:rPr>
              <a:t>点击</a:t>
            </a:r>
            <a:r>
              <a:rPr lang="en-US" altLang="zh-CN" sz="1100" smtClean="0">
                <a:solidFill>
                  <a:srgbClr val="FF0000"/>
                </a:solidFill>
              </a:rPr>
              <a:t>Finish</a:t>
            </a:r>
            <a:endParaRPr lang="zh-CN" altLang="en-US" sz="1100">
              <a:solidFill>
                <a:srgbClr val="FF0000"/>
              </a:solidFill>
            </a:endParaRPr>
          </a:p>
        </p:txBody>
      </p:sp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786" y="1412776"/>
            <a:ext cx="6322671" cy="4472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6.1.2 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编写第一个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JSP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134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/>
      <p:bldP spid="6" grpId="1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15" grpId="0" animBg="1"/>
      <p:bldP spid="15" grpId="1" animBg="1"/>
      <p:bldP spid="17" grpId="0"/>
      <p:bldP spid="17" grpId="1"/>
      <p:bldP spid="19" grpId="0" animBg="1"/>
      <p:bldP spid="19" grpId="1" animBg="1"/>
      <p:bldP spid="21" grpId="0"/>
      <p:bldP spid="21" grpId="1"/>
      <p:bldP spid="23" grpId="0" animBg="1"/>
      <p:bldP spid="23" grpId="1" animBg="1"/>
      <p:bldP spid="26" grpId="0" animBg="1"/>
      <p:bldP spid="26" grpId="1" animBg="1"/>
      <p:bldP spid="27" grpId="0"/>
      <p:bldP spid="27" grpId="1"/>
      <p:bldP spid="29" grpId="0" animBg="1"/>
      <p:bldP spid="29" grpId="1" animBg="1"/>
      <p:bldP spid="32" grpId="0" animBg="1"/>
      <p:bldP spid="32" grpId="1" animBg="1"/>
      <p:bldP spid="36" grpId="0"/>
      <p:bldP spid="3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流程图: 过程 3"/>
          <p:cNvSpPr/>
          <p:nvPr/>
        </p:nvSpPr>
        <p:spPr>
          <a:xfrm>
            <a:off x="971600" y="2132856"/>
            <a:ext cx="864096" cy="3240360"/>
          </a:xfrm>
          <a:prstGeom prst="flowChartProcess">
            <a:avLst/>
          </a:prstGeom>
          <a:ln w="190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流程图: 过程 4"/>
          <p:cNvSpPr/>
          <p:nvPr/>
        </p:nvSpPr>
        <p:spPr>
          <a:xfrm>
            <a:off x="3419872" y="2132856"/>
            <a:ext cx="4248472" cy="3240360"/>
          </a:xfrm>
          <a:prstGeom prst="flowChartProcess">
            <a:avLst/>
          </a:prstGeom>
          <a:ln w="190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72815" y="3140968"/>
            <a:ext cx="461665" cy="78483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mtClean="0">
                <a:solidFill>
                  <a:srgbClr val="0066A1"/>
                </a:solidFill>
              </a:rPr>
              <a:t>客户端</a:t>
            </a:r>
            <a:endParaRPr lang="zh-CN" altLang="en-US">
              <a:solidFill>
                <a:srgbClr val="0066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7904" y="234888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mtClean="0">
                <a:solidFill>
                  <a:srgbClr val="0066A1"/>
                </a:solidFill>
              </a:rPr>
              <a:t>JSP</a:t>
            </a:r>
            <a:r>
              <a:rPr lang="zh-CN" altLang="en-US" smtClean="0">
                <a:solidFill>
                  <a:srgbClr val="0066A1"/>
                </a:solidFill>
              </a:rPr>
              <a:t>容器</a:t>
            </a:r>
            <a:endParaRPr lang="zh-CN" altLang="en-US">
              <a:solidFill>
                <a:srgbClr val="0066A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64088" y="2358889"/>
            <a:ext cx="1736551" cy="463406"/>
          </a:xfrm>
          <a:prstGeom prst="rect">
            <a:avLst/>
          </a:prstGeom>
          <a:ln w="190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364088" y="3140968"/>
            <a:ext cx="1736551" cy="463406"/>
          </a:xfrm>
          <a:prstGeom prst="rect">
            <a:avLst/>
          </a:prstGeom>
          <a:ln w="190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364088" y="4725144"/>
            <a:ext cx="1728192" cy="463406"/>
          </a:xfrm>
          <a:prstGeom prst="rect">
            <a:avLst/>
          </a:prstGeom>
          <a:ln w="190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364088" y="3933056"/>
            <a:ext cx="1736551" cy="463406"/>
          </a:xfrm>
          <a:prstGeom prst="rect">
            <a:avLst/>
          </a:prstGeom>
          <a:ln w="190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754578" y="240592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mtClean="0">
                <a:solidFill>
                  <a:srgbClr val="0066A1"/>
                </a:solidFill>
              </a:rPr>
              <a:t>JSP</a:t>
            </a:r>
            <a:r>
              <a:rPr lang="zh-CN" altLang="en-US" smtClean="0">
                <a:solidFill>
                  <a:srgbClr val="0066A1"/>
                </a:solidFill>
              </a:rPr>
              <a:t>文件</a:t>
            </a:r>
            <a:endParaRPr lang="zh-CN" altLang="en-US">
              <a:solidFill>
                <a:srgbClr val="0066A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92080" y="3188005"/>
            <a:ext cx="1869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>
                <a:solidFill>
                  <a:srgbClr val="0066A1"/>
                </a:solidFill>
              </a:rPr>
              <a:t>Servlet</a:t>
            </a:r>
            <a:r>
              <a:rPr lang="zh-CN" altLang="en-US" smtClean="0">
                <a:solidFill>
                  <a:srgbClr val="0066A1"/>
                </a:solidFill>
              </a:rPr>
              <a:t>文件</a:t>
            </a:r>
            <a:r>
              <a:rPr lang="en-US" altLang="zh-CN" smtClean="0">
                <a:solidFill>
                  <a:srgbClr val="0066A1"/>
                </a:solidFill>
              </a:rPr>
              <a:t>(.java)</a:t>
            </a:r>
            <a:endParaRPr lang="zh-CN" altLang="en-US">
              <a:solidFill>
                <a:srgbClr val="0066A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36096" y="3980093"/>
            <a:ext cx="1726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mtClean="0">
                <a:solidFill>
                  <a:srgbClr val="0066A1"/>
                </a:solidFill>
              </a:rPr>
              <a:t>class</a:t>
            </a:r>
            <a:r>
              <a:rPr lang="zh-CN" altLang="en-US" smtClean="0">
                <a:solidFill>
                  <a:srgbClr val="0066A1"/>
                </a:solidFill>
              </a:rPr>
              <a:t>文件</a:t>
            </a:r>
            <a:r>
              <a:rPr lang="en-US" altLang="zh-CN" smtClean="0">
                <a:solidFill>
                  <a:srgbClr val="0066A1"/>
                </a:solidFill>
              </a:rPr>
              <a:t>(.class)</a:t>
            </a:r>
            <a:endParaRPr lang="zh-CN" altLang="en-US">
              <a:solidFill>
                <a:srgbClr val="0066A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52120" y="4772181"/>
            <a:ext cx="1298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mtClean="0">
                <a:solidFill>
                  <a:srgbClr val="0066A1"/>
                </a:solidFill>
              </a:rPr>
              <a:t>Servlet</a:t>
            </a:r>
            <a:r>
              <a:rPr lang="zh-CN" altLang="en-US" smtClean="0">
                <a:solidFill>
                  <a:srgbClr val="0066A1"/>
                </a:solidFill>
              </a:rPr>
              <a:t>实例</a:t>
            </a:r>
            <a:endParaRPr lang="zh-CN" altLang="en-US">
              <a:solidFill>
                <a:srgbClr val="0066A1"/>
              </a:solidFill>
            </a:endParaRPr>
          </a:p>
        </p:txBody>
      </p:sp>
      <p:cxnSp>
        <p:nvCxnSpPr>
          <p:cNvPr id="18" name="直接箭头连接符 17"/>
          <p:cNvCxnSpPr>
            <a:stCxn id="9" idx="2"/>
            <a:endCxn id="11" idx="0"/>
          </p:cNvCxnSpPr>
          <p:nvPr/>
        </p:nvCxnSpPr>
        <p:spPr>
          <a:xfrm>
            <a:off x="6232364" y="2822295"/>
            <a:ext cx="0" cy="3186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1" idx="2"/>
            <a:endCxn id="13" idx="0"/>
          </p:cNvCxnSpPr>
          <p:nvPr/>
        </p:nvCxnSpPr>
        <p:spPr>
          <a:xfrm>
            <a:off x="6232364" y="3604374"/>
            <a:ext cx="0" cy="3286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3" idx="2"/>
            <a:endCxn id="12" idx="0"/>
          </p:cNvCxnSpPr>
          <p:nvPr/>
        </p:nvCxnSpPr>
        <p:spPr>
          <a:xfrm flipH="1">
            <a:off x="6228184" y="4396462"/>
            <a:ext cx="4180" cy="3286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1835696" y="2718212"/>
            <a:ext cx="15841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1835696" y="4653136"/>
            <a:ext cx="15841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304618" y="23488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66A1"/>
                </a:solidFill>
              </a:rPr>
              <a:t>请求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9752" y="421179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66A1"/>
                </a:solidFill>
              </a:rPr>
              <a:t>响应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4691" y="279696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66A1"/>
                </a:solidFill>
              </a:rPr>
              <a:t>转换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4692" y="35573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66A1"/>
                </a:solidFill>
              </a:rPr>
              <a:t>编译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1933" y="436510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66A1"/>
                </a:solidFill>
              </a:rPr>
              <a:t>执行</a:t>
            </a:r>
          </a:p>
        </p:txBody>
      </p:sp>
      <p:sp>
        <p:nvSpPr>
          <p:cNvPr id="26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6.1.3  JSP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运行原理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051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9" grpId="0" animBg="1"/>
      <p:bldP spid="11" grpId="0" animBg="1"/>
      <p:bldP spid="12" grpId="0" animBg="1"/>
      <p:bldP spid="13" grpId="0" animBg="1"/>
      <p:bldP spid="10" grpId="0"/>
      <p:bldP spid="15" grpId="0"/>
      <p:bldP spid="16" grpId="0"/>
      <p:bldP spid="17" grpId="0"/>
      <p:bldP spid="28" grpId="0"/>
      <p:bldP spid="30" grpId="0"/>
      <p:bldP spid="31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467544" y="2276872"/>
            <a:ext cx="6768752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809708" y="183553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6.1    JSP</a:t>
            </a:r>
            <a:r>
              <a:rPr lang="zh-CN" altLang="en-US" sz="2400" dirty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概述 </a:t>
            </a:r>
          </a:p>
        </p:txBody>
      </p:sp>
      <p:sp>
        <p:nvSpPr>
          <p:cNvPr id="5" name="TextBox 10"/>
          <p:cNvSpPr txBox="1"/>
          <p:nvPr/>
        </p:nvSpPr>
        <p:spPr>
          <a:xfrm>
            <a:off x="809708" y="242088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6.2    JSP</a:t>
            </a:r>
            <a:r>
              <a:rPr lang="zh-CN" altLang="en-US" sz="24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基本语法</a:t>
            </a:r>
          </a:p>
        </p:txBody>
      </p:sp>
      <p:sp>
        <p:nvSpPr>
          <p:cNvPr id="6" name="TextBox 11"/>
          <p:cNvSpPr txBox="1"/>
          <p:nvPr/>
        </p:nvSpPr>
        <p:spPr>
          <a:xfrm>
            <a:off x="809708" y="299695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6.3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指令</a:t>
            </a:r>
          </a:p>
        </p:txBody>
      </p:sp>
      <p:sp>
        <p:nvSpPr>
          <p:cNvPr id="9" name="椭圆 8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809708" y="3573016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6.4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隐式对象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9708" y="414908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6.5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动作元素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708" y="4725144"/>
            <a:ext cx="469839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6.6    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阶段案例：传智书城</a:t>
            </a:r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页面</a:t>
            </a:r>
          </a:p>
        </p:txBody>
      </p:sp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695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412776"/>
            <a:ext cx="73448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脚本元素是指嵌套在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&lt;%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%&gt;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之中的一条或多条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程序代码。通过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脚本元素可以将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代码嵌入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页面中，所有可执行的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代码，都可以通过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脚本来执行。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27584" y="1449944"/>
            <a:ext cx="7344816" cy="1440160"/>
          </a:xfrm>
          <a:prstGeom prst="roundRect">
            <a:avLst/>
          </a:prstGeom>
          <a:ln w="19050" cap="sq"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808149" y="3308481"/>
            <a:ext cx="7344816" cy="2530225"/>
          </a:xfrm>
          <a:prstGeom prst="rect">
            <a:avLst/>
          </a:prstGeom>
          <a:ln w="19050">
            <a:solidFill>
              <a:srgbClr val="0070C0"/>
            </a:solidFill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4860032" y="3034120"/>
            <a:ext cx="2514220" cy="655862"/>
            <a:chOff x="6086475" y="3030620"/>
            <a:chExt cx="2198688" cy="568812"/>
          </a:xfrm>
        </p:grpSpPr>
        <p:sp>
          <p:nvSpPr>
            <p:cNvPr id="14" name="任意多边形 13"/>
            <p:cNvSpPr/>
            <p:nvPr/>
          </p:nvSpPr>
          <p:spPr bwMode="auto">
            <a:xfrm>
              <a:off x="6086475" y="3030620"/>
              <a:ext cx="2198688" cy="371474"/>
            </a:xfrm>
            <a:custGeom>
              <a:avLst/>
              <a:gdLst>
                <a:gd name="connsiteX0" fmla="*/ 0 w 4267200"/>
                <a:gd name="connsiteY0" fmla="*/ 201820 h 1210897"/>
                <a:gd name="connsiteX1" fmla="*/ 201820 w 4267200"/>
                <a:gd name="connsiteY1" fmla="*/ 0 h 1210897"/>
                <a:gd name="connsiteX2" fmla="*/ 4065380 w 4267200"/>
                <a:gd name="connsiteY2" fmla="*/ 0 h 1210897"/>
                <a:gd name="connsiteX3" fmla="*/ 4267200 w 4267200"/>
                <a:gd name="connsiteY3" fmla="*/ 201820 h 1210897"/>
                <a:gd name="connsiteX4" fmla="*/ 4267200 w 4267200"/>
                <a:gd name="connsiteY4" fmla="*/ 1009077 h 1210897"/>
                <a:gd name="connsiteX5" fmla="*/ 4065380 w 4267200"/>
                <a:gd name="connsiteY5" fmla="*/ 1210897 h 1210897"/>
                <a:gd name="connsiteX6" fmla="*/ 201820 w 4267200"/>
                <a:gd name="connsiteY6" fmla="*/ 1210897 h 1210897"/>
                <a:gd name="connsiteX7" fmla="*/ 0 w 4267200"/>
                <a:gd name="connsiteY7" fmla="*/ 1009077 h 1210897"/>
                <a:gd name="connsiteX8" fmla="*/ 0 w 4267200"/>
                <a:gd name="connsiteY8" fmla="*/ 201820 h 12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67200" h="1210897">
                  <a:moveTo>
                    <a:pt x="0" y="201820"/>
                  </a:moveTo>
                  <a:cubicBezTo>
                    <a:pt x="0" y="90358"/>
                    <a:pt x="90358" y="0"/>
                    <a:pt x="201820" y="0"/>
                  </a:cubicBezTo>
                  <a:lnTo>
                    <a:pt x="4065380" y="0"/>
                  </a:lnTo>
                  <a:cubicBezTo>
                    <a:pt x="4176842" y="0"/>
                    <a:pt x="4267200" y="90358"/>
                    <a:pt x="4267200" y="201820"/>
                  </a:cubicBezTo>
                  <a:lnTo>
                    <a:pt x="4267200" y="1009077"/>
                  </a:lnTo>
                  <a:cubicBezTo>
                    <a:pt x="4267200" y="1120539"/>
                    <a:pt x="4176842" y="1210897"/>
                    <a:pt x="4065380" y="1210897"/>
                  </a:cubicBezTo>
                  <a:lnTo>
                    <a:pt x="201820" y="1210897"/>
                  </a:lnTo>
                  <a:cubicBezTo>
                    <a:pt x="90358" y="1210897"/>
                    <a:pt x="0" y="1120539"/>
                    <a:pt x="0" y="1009077"/>
                  </a:cubicBezTo>
                  <a:lnTo>
                    <a:pt x="0" y="201820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0401" tIns="59111" rIns="220401" bIns="59111" spcCol="1270" anchor="ctr"/>
            <a:lstStyle/>
            <a:p>
              <a:pPr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 dirty="0"/>
            </a:p>
          </p:txBody>
        </p:sp>
        <p:sp>
          <p:nvSpPr>
            <p:cNvPr id="15" name="矩形 75"/>
            <p:cNvSpPr>
              <a:spLocks noChangeArrowheads="1"/>
            </p:cNvSpPr>
            <p:nvPr/>
          </p:nvSpPr>
          <p:spPr bwMode="auto">
            <a:xfrm>
              <a:off x="6121400" y="3078926"/>
              <a:ext cx="2109788" cy="520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脚本元素的三种类型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971600" y="3652593"/>
            <a:ext cx="7200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JSP </a:t>
            </a:r>
            <a:r>
              <a:rPr lang="en-US" altLang="zh-CN" smtClean="0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Scriptlets</a:t>
            </a:r>
            <a:endParaRPr lang="zh-CN" altLang="zh-CN">
              <a:solidFill>
                <a:srgbClr val="009E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声明语句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表达式</a:t>
            </a:r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3253184" y="3576499"/>
            <a:ext cx="4775200" cy="2193925"/>
            <a:chOff x="4381378" y="5847924"/>
            <a:chExt cx="4774070" cy="2193706"/>
          </a:xfrm>
        </p:grpSpPr>
        <p:sp>
          <p:nvSpPr>
            <p:cNvPr id="17" name="对角圆角矩形 16"/>
            <p:cNvSpPr/>
            <p:nvPr/>
          </p:nvSpPr>
          <p:spPr bwMode="auto">
            <a:xfrm>
              <a:off x="4381378" y="5847924"/>
              <a:ext cx="4774070" cy="2193706"/>
            </a:xfrm>
            <a:prstGeom prst="round2DiagRect">
              <a:avLst/>
            </a:prstGeom>
            <a:noFill/>
            <a:ln w="28575" cap="flat" cmpd="sng" algn="ctr">
              <a:solidFill>
                <a:srgbClr val="00ACE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4535329" y="6044754"/>
              <a:ext cx="4572506" cy="923238"/>
            </a:xfrm>
            <a:prstGeom prst="rect">
              <a:avLst/>
            </a:prstGeom>
            <a:ln>
              <a:solidFill>
                <a:srgbClr val="009ED6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mtClean="0">
                  <a:solidFill>
                    <a:srgbClr val="009ED6"/>
                  </a:solidFill>
                  <a:latin typeface="Arial" pitchFamily="34" charset="0"/>
                  <a:ea typeface="宋体" pitchFamily="2" charset="-122"/>
                </a:rPr>
                <a:t>JSP </a:t>
              </a:r>
              <a:r>
                <a:rPr lang="en-US" altLang="zh-CN">
                  <a:solidFill>
                    <a:srgbClr val="009ED6"/>
                  </a:solidFill>
                  <a:latin typeface="Arial" pitchFamily="34" charset="0"/>
                  <a:ea typeface="宋体" pitchFamily="2" charset="-122"/>
                </a:rPr>
                <a:t>Scriptlets </a:t>
              </a:r>
              <a:r>
                <a:rPr lang="zh-CN" altLang="en-US">
                  <a:solidFill>
                    <a:srgbClr val="009ED6"/>
                  </a:solidFill>
                  <a:latin typeface="Arial" pitchFamily="34" charset="0"/>
                  <a:ea typeface="宋体" pitchFamily="2" charset="-122"/>
                </a:rPr>
                <a:t>是一段代码段。当需要使用</a:t>
              </a:r>
              <a:r>
                <a:rPr lang="en-US" altLang="zh-CN">
                  <a:solidFill>
                    <a:srgbClr val="009ED6"/>
                  </a:solidFill>
                  <a:latin typeface="Arial" pitchFamily="34" charset="0"/>
                  <a:ea typeface="宋体" pitchFamily="2" charset="-122"/>
                </a:rPr>
                <a:t>Java</a:t>
              </a:r>
              <a:r>
                <a:rPr lang="zh-CN" altLang="en-US">
                  <a:solidFill>
                    <a:srgbClr val="009ED6"/>
                  </a:solidFill>
                  <a:latin typeface="Arial" pitchFamily="34" charset="0"/>
                  <a:ea typeface="宋体" pitchFamily="2" charset="-122"/>
                </a:rPr>
                <a:t>实现一些复杂操作或控制时，可以使用</a:t>
              </a:r>
              <a:r>
                <a:rPr lang="zh-CN" altLang="en-US" smtClean="0">
                  <a:solidFill>
                    <a:srgbClr val="009ED6"/>
                  </a:solidFill>
                  <a:latin typeface="Arial" pitchFamily="34" charset="0"/>
                  <a:ea typeface="宋体" pitchFamily="2" charset="-122"/>
                </a:rPr>
                <a:t>它</a:t>
              </a:r>
              <a:r>
                <a:rPr lang="zh-CN" altLang="en-US">
                  <a:solidFill>
                    <a:srgbClr val="009ED6"/>
                  </a:solidFill>
                  <a:latin typeface="Arial" pitchFamily="34" charset="0"/>
                  <a:ea typeface="宋体" pitchFamily="2" charset="-122"/>
                </a:rPr>
                <a:t>。</a:t>
              </a:r>
              <a:r>
                <a:rPr lang="en-US" altLang="zh-CN">
                  <a:solidFill>
                    <a:srgbClr val="009ED6"/>
                  </a:solidFill>
                  <a:latin typeface="Arial" pitchFamily="34" charset="0"/>
                  <a:ea typeface="宋体" pitchFamily="2" charset="-122"/>
                </a:rPr>
                <a:t>JSP Scriptlets</a:t>
              </a:r>
              <a:r>
                <a:rPr lang="zh-CN" altLang="zh-CN">
                  <a:solidFill>
                    <a:srgbClr val="009ED6"/>
                  </a:solidFill>
                  <a:latin typeface="Arial" pitchFamily="34" charset="0"/>
                  <a:ea typeface="宋体" pitchFamily="2" charset="-122"/>
                </a:rPr>
                <a:t>的语法格式如下所示：</a:t>
              </a:r>
            </a:p>
          </p:txBody>
        </p:sp>
      </p:grpSp>
      <p:cxnSp>
        <p:nvCxnSpPr>
          <p:cNvPr id="9" name="肘形连接符 8"/>
          <p:cNvCxnSpPr/>
          <p:nvPr/>
        </p:nvCxnSpPr>
        <p:spPr>
          <a:xfrm>
            <a:off x="2627784" y="4114240"/>
            <a:ext cx="625400" cy="459353"/>
          </a:xfrm>
          <a:prstGeom prst="bentConnector3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3401765" y="4836061"/>
            <a:ext cx="4572000" cy="3693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>
            <a:spAutoFit/>
          </a:bodyPr>
          <a:lstStyle/>
          <a:p>
            <a:r>
              <a:rPr lang="en-US" altLang="zh-CN" smtClean="0"/>
              <a:t>&lt;% </a:t>
            </a:r>
            <a:r>
              <a:rPr lang="en-US" altLang="zh-CN"/>
              <a:t>java </a:t>
            </a:r>
            <a:r>
              <a:rPr lang="zh-CN" altLang="zh-CN"/>
              <a:t>代码（变量、方法、表达式等）</a:t>
            </a:r>
            <a:r>
              <a:rPr lang="en-US" altLang="zh-CN"/>
              <a:t>%&gt;</a:t>
            </a:r>
            <a:endParaRPr lang="zh-CN" altLang="zh-CN"/>
          </a:p>
        </p:txBody>
      </p: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3280742" y="3561641"/>
            <a:ext cx="4819650" cy="2136775"/>
            <a:chOff x="-1258145" y="4992255"/>
            <a:chExt cx="4465122" cy="2137559"/>
          </a:xfrm>
        </p:grpSpPr>
        <p:sp>
          <p:nvSpPr>
            <p:cNvPr id="25" name="对角圆角矩形 24"/>
            <p:cNvSpPr/>
            <p:nvPr/>
          </p:nvSpPr>
          <p:spPr bwMode="auto">
            <a:xfrm>
              <a:off x="-1258145" y="4992255"/>
              <a:ext cx="4465122" cy="2137559"/>
            </a:xfrm>
            <a:prstGeom prst="round2DiagRect">
              <a:avLst/>
            </a:prstGeom>
            <a:noFill/>
            <a:ln w="28575" cap="flat" cmpd="sng" algn="ctr">
              <a:solidFill>
                <a:srgbClr val="FF99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26" name="矩形 55"/>
            <p:cNvSpPr>
              <a:spLocks noChangeArrowheads="1"/>
            </p:cNvSpPr>
            <p:nvPr/>
          </p:nvSpPr>
          <p:spPr bwMode="auto">
            <a:xfrm>
              <a:off x="-1172020" y="5010524"/>
              <a:ext cx="4316491" cy="923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mtClean="0">
                  <a:solidFill>
                    <a:schemeClr val="accent6"/>
                  </a:solidFill>
                </a:rPr>
                <a:t>JSP</a:t>
              </a:r>
              <a:r>
                <a:rPr lang="zh-CN" altLang="en-US">
                  <a:solidFill>
                    <a:schemeClr val="accent6"/>
                  </a:solidFill>
                </a:rPr>
                <a:t>的声明语句用于声明变量和方法，它以“</a:t>
              </a:r>
              <a:r>
                <a:rPr lang="en-US" altLang="zh-CN">
                  <a:solidFill>
                    <a:schemeClr val="accent6"/>
                  </a:solidFill>
                </a:rPr>
                <a:t>&lt;%!”</a:t>
              </a:r>
              <a:r>
                <a:rPr lang="zh-CN" altLang="en-US">
                  <a:solidFill>
                    <a:schemeClr val="accent6"/>
                  </a:solidFill>
                </a:rPr>
                <a:t>开始，以“</a:t>
              </a:r>
              <a:r>
                <a:rPr lang="en-US" altLang="zh-CN">
                  <a:solidFill>
                    <a:schemeClr val="accent6"/>
                  </a:solidFill>
                </a:rPr>
                <a:t>%&gt;”</a:t>
              </a:r>
              <a:r>
                <a:rPr lang="zh-CN" altLang="en-US">
                  <a:solidFill>
                    <a:schemeClr val="accent6"/>
                  </a:solidFill>
                </a:rPr>
                <a:t>结束，其语法格式如下所示：</a:t>
              </a:r>
              <a:endParaRPr lang="en-US" altLang="zh-CN">
                <a:solidFill>
                  <a:schemeClr val="accent6"/>
                </a:solidFill>
              </a:endParaRPr>
            </a:p>
          </p:txBody>
        </p:sp>
      </p:grpSp>
      <p:cxnSp>
        <p:nvCxnSpPr>
          <p:cNvPr id="28" name="肘形连接符 27"/>
          <p:cNvCxnSpPr>
            <a:endCxn id="25" idx="2"/>
          </p:cNvCxnSpPr>
          <p:nvPr/>
        </p:nvCxnSpPr>
        <p:spPr>
          <a:xfrm>
            <a:off x="2627784" y="4630028"/>
            <a:ext cx="652958" cy="1"/>
          </a:xfrm>
          <a:prstGeom prst="bentConnector3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55"/>
          <p:cNvSpPr>
            <a:spLocks noChangeArrowheads="1"/>
          </p:cNvSpPr>
          <p:nvPr/>
        </p:nvSpPr>
        <p:spPr bwMode="auto">
          <a:xfrm>
            <a:off x="3419872" y="4559062"/>
            <a:ext cx="4659218" cy="83099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</p:spPr>
        <p:txBody>
          <a:bodyPr>
            <a:spAutoFit/>
          </a:bodyPr>
          <a:lstStyle/>
          <a:p>
            <a:r>
              <a:rPr lang="en-US" altLang="zh-CN" sz="1600" smtClean="0"/>
              <a:t>&lt;%! </a:t>
            </a:r>
            <a:endParaRPr lang="zh-CN" altLang="zh-CN" sz="1600"/>
          </a:p>
          <a:p>
            <a:r>
              <a:rPr lang="en-US" altLang="zh-CN" sz="1600"/>
              <a:t> </a:t>
            </a:r>
            <a:r>
              <a:rPr lang="en-US" altLang="zh-CN" sz="1600" smtClean="0"/>
              <a:t>     </a:t>
            </a:r>
            <a:r>
              <a:rPr lang="zh-CN" altLang="zh-CN" sz="1600" smtClean="0"/>
              <a:t>定义</a:t>
            </a:r>
            <a:r>
              <a:rPr lang="zh-CN" altLang="zh-CN" sz="1600"/>
              <a:t>的变量或方法等</a:t>
            </a:r>
          </a:p>
          <a:p>
            <a:r>
              <a:rPr lang="en-US" altLang="zh-CN" sz="1600" smtClean="0"/>
              <a:t>%&gt;</a:t>
            </a:r>
            <a:endParaRPr lang="zh-CN" altLang="zh-CN" sz="1600"/>
          </a:p>
        </p:txBody>
      </p: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3280742" y="3538183"/>
            <a:ext cx="4764087" cy="2176009"/>
            <a:chOff x="4227616" y="3046233"/>
            <a:chExt cx="4667023" cy="2345164"/>
          </a:xfrm>
        </p:grpSpPr>
        <p:sp>
          <p:nvSpPr>
            <p:cNvPr id="36" name="对角圆角矩形 35"/>
            <p:cNvSpPr/>
            <p:nvPr/>
          </p:nvSpPr>
          <p:spPr bwMode="auto">
            <a:xfrm>
              <a:off x="4227616" y="3046233"/>
              <a:ext cx="4667023" cy="2345164"/>
            </a:xfrm>
            <a:prstGeom prst="round2DiagRect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4381939" y="3233112"/>
              <a:ext cx="4444257" cy="12936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mtClean="0">
                  <a:solidFill>
                    <a:srgbClr val="92D050"/>
                  </a:solidFill>
                  <a:latin typeface="Arial" pitchFamily="34" charset="0"/>
                  <a:ea typeface="宋体" pitchFamily="2" charset="-122"/>
                </a:rPr>
                <a:t>JSP</a:t>
              </a:r>
              <a:r>
                <a:rPr lang="zh-CN" altLang="en-US" smtClean="0">
                  <a:solidFill>
                    <a:srgbClr val="92D050"/>
                  </a:solidFill>
                  <a:latin typeface="Arial" pitchFamily="34" charset="0"/>
                  <a:ea typeface="宋体" pitchFamily="2" charset="-122"/>
                </a:rPr>
                <a:t>表达式（</a:t>
              </a:r>
              <a:r>
                <a:rPr lang="en-US" altLang="zh-CN" smtClean="0">
                  <a:solidFill>
                    <a:srgbClr val="92D050"/>
                  </a:solidFill>
                  <a:latin typeface="Arial" pitchFamily="34" charset="0"/>
                  <a:ea typeface="宋体" pitchFamily="2" charset="-122"/>
                </a:rPr>
                <a:t>expression</a:t>
              </a:r>
              <a:r>
                <a:rPr lang="zh-CN" altLang="en-US" smtClean="0">
                  <a:solidFill>
                    <a:srgbClr val="92D050"/>
                  </a:solidFill>
                  <a:latin typeface="Arial" pitchFamily="34" charset="0"/>
                  <a:ea typeface="宋体" pitchFamily="2" charset="-122"/>
                </a:rPr>
                <a:t>）用于将程序数据输出到客户端，它将要输出的变量或者表达式直接封装在“</a:t>
              </a:r>
              <a:r>
                <a:rPr lang="en-US" altLang="zh-CN" smtClean="0">
                  <a:solidFill>
                    <a:srgbClr val="92D050"/>
                  </a:solidFill>
                  <a:latin typeface="Arial" pitchFamily="34" charset="0"/>
                  <a:ea typeface="宋体" pitchFamily="2" charset="-122"/>
                </a:rPr>
                <a:t>&lt;%” </a:t>
              </a:r>
              <a:r>
                <a:rPr lang="zh-CN" altLang="en-US" smtClean="0">
                  <a:solidFill>
                    <a:srgbClr val="92D050"/>
                  </a:solidFill>
                  <a:latin typeface="Arial" pitchFamily="34" charset="0"/>
                  <a:ea typeface="宋体" pitchFamily="2" charset="-122"/>
                </a:rPr>
                <a:t>开头和以“</a:t>
              </a:r>
              <a:r>
                <a:rPr lang="en-US" altLang="zh-CN" smtClean="0">
                  <a:solidFill>
                    <a:srgbClr val="92D050"/>
                  </a:solidFill>
                  <a:latin typeface="Arial" pitchFamily="34" charset="0"/>
                  <a:ea typeface="宋体" pitchFamily="2" charset="-122"/>
                </a:rPr>
                <a:t>%&gt;”</a:t>
              </a:r>
              <a:r>
                <a:rPr lang="zh-CN" altLang="en-US" smtClean="0">
                  <a:solidFill>
                    <a:srgbClr val="92D050"/>
                  </a:solidFill>
                  <a:latin typeface="Arial" pitchFamily="34" charset="0"/>
                  <a:ea typeface="宋体" pitchFamily="2" charset="-122"/>
                </a:rPr>
                <a:t>结尾的标记中，其基本的语法格式如下所示： </a:t>
              </a:r>
            </a:p>
          </p:txBody>
        </p:sp>
      </p:grpSp>
      <p:cxnSp>
        <p:nvCxnSpPr>
          <p:cNvPr id="39" name="肘形连接符 38"/>
          <p:cNvCxnSpPr/>
          <p:nvPr/>
        </p:nvCxnSpPr>
        <p:spPr>
          <a:xfrm flipV="1">
            <a:off x="2483768" y="4673461"/>
            <a:ext cx="769416" cy="451768"/>
          </a:xfrm>
          <a:prstGeom prst="bentConnector3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矩形 43"/>
          <p:cNvSpPr/>
          <p:nvPr/>
        </p:nvSpPr>
        <p:spPr>
          <a:xfrm>
            <a:off x="3441575" y="4940563"/>
            <a:ext cx="4572000" cy="3693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latin typeface="Arial" pitchFamily="34" charset="0"/>
                <a:ea typeface="宋体" pitchFamily="2" charset="-122"/>
              </a:rPr>
              <a:t>&lt;%= expression %&gt;</a:t>
            </a:r>
            <a:endParaRPr lang="en-US" altLang="zh-CN" dirty="0">
              <a:latin typeface="Arial" pitchFamily="34" charset="0"/>
              <a:ea typeface="宋体" pitchFamily="2" charset="-122"/>
            </a:endParaRPr>
          </a:p>
        </p:txBody>
      </p:sp>
      <p:sp>
        <p:nvSpPr>
          <p:cNvPr id="27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6.2.1  JSP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脚本元素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230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2" grpId="0" animBg="1"/>
      <p:bldP spid="20" grpId="0" animBg="1"/>
      <p:bldP spid="20" grpId="1" animBg="1"/>
      <p:bldP spid="33" grpId="0" animBg="1"/>
      <p:bldP spid="33" grpId="1" animBg="1"/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827584" y="1890958"/>
            <a:ext cx="7344816" cy="3698282"/>
          </a:xfrm>
          <a:prstGeom prst="rect">
            <a:avLst/>
          </a:prstGeom>
          <a:ln w="19050">
            <a:solidFill>
              <a:srgbClr val="0070C0"/>
            </a:solidFill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1289125" y="2915652"/>
            <a:ext cx="6451227" cy="369332"/>
          </a:xfrm>
          <a:prstGeom prst="rect">
            <a:avLst/>
          </a:prstGeom>
          <a:solidFill>
            <a:srgbClr val="E7F4FF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/>
              <a:t>&lt;%-- </a:t>
            </a:r>
            <a:r>
              <a:rPr lang="zh-CN" altLang="zh-CN"/>
              <a:t>注释信息</a:t>
            </a:r>
            <a:r>
              <a:rPr lang="en-US" altLang="zh-CN"/>
              <a:t> </a:t>
            </a:r>
            <a:r>
              <a:rPr lang="en-US" altLang="zh-CN" smtClean="0"/>
              <a:t>--%&gt;</a:t>
            </a:r>
            <a:endParaRPr lang="zh-CN" altLang="zh-CN"/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5580112" y="1556792"/>
            <a:ext cx="1866148" cy="428323"/>
            <a:chOff x="6086475" y="2840038"/>
            <a:chExt cx="2198688" cy="371474"/>
          </a:xfrm>
        </p:grpSpPr>
        <p:sp>
          <p:nvSpPr>
            <p:cNvPr id="6" name="任意多边形 5"/>
            <p:cNvSpPr/>
            <p:nvPr/>
          </p:nvSpPr>
          <p:spPr bwMode="auto">
            <a:xfrm>
              <a:off x="6086475" y="2840038"/>
              <a:ext cx="2198688" cy="371474"/>
            </a:xfrm>
            <a:custGeom>
              <a:avLst/>
              <a:gdLst>
                <a:gd name="connsiteX0" fmla="*/ 0 w 4267200"/>
                <a:gd name="connsiteY0" fmla="*/ 201820 h 1210897"/>
                <a:gd name="connsiteX1" fmla="*/ 201820 w 4267200"/>
                <a:gd name="connsiteY1" fmla="*/ 0 h 1210897"/>
                <a:gd name="connsiteX2" fmla="*/ 4065380 w 4267200"/>
                <a:gd name="connsiteY2" fmla="*/ 0 h 1210897"/>
                <a:gd name="connsiteX3" fmla="*/ 4267200 w 4267200"/>
                <a:gd name="connsiteY3" fmla="*/ 201820 h 1210897"/>
                <a:gd name="connsiteX4" fmla="*/ 4267200 w 4267200"/>
                <a:gd name="connsiteY4" fmla="*/ 1009077 h 1210897"/>
                <a:gd name="connsiteX5" fmla="*/ 4065380 w 4267200"/>
                <a:gd name="connsiteY5" fmla="*/ 1210897 h 1210897"/>
                <a:gd name="connsiteX6" fmla="*/ 201820 w 4267200"/>
                <a:gd name="connsiteY6" fmla="*/ 1210897 h 1210897"/>
                <a:gd name="connsiteX7" fmla="*/ 0 w 4267200"/>
                <a:gd name="connsiteY7" fmla="*/ 1009077 h 1210897"/>
                <a:gd name="connsiteX8" fmla="*/ 0 w 4267200"/>
                <a:gd name="connsiteY8" fmla="*/ 201820 h 12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67200" h="1210897">
                  <a:moveTo>
                    <a:pt x="0" y="201820"/>
                  </a:moveTo>
                  <a:cubicBezTo>
                    <a:pt x="0" y="90358"/>
                    <a:pt x="90358" y="0"/>
                    <a:pt x="201820" y="0"/>
                  </a:cubicBezTo>
                  <a:lnTo>
                    <a:pt x="4065380" y="0"/>
                  </a:lnTo>
                  <a:cubicBezTo>
                    <a:pt x="4176842" y="0"/>
                    <a:pt x="4267200" y="90358"/>
                    <a:pt x="4267200" y="201820"/>
                  </a:cubicBezTo>
                  <a:lnTo>
                    <a:pt x="4267200" y="1009077"/>
                  </a:lnTo>
                  <a:cubicBezTo>
                    <a:pt x="4267200" y="1120539"/>
                    <a:pt x="4176842" y="1210897"/>
                    <a:pt x="4065380" y="1210897"/>
                  </a:cubicBezTo>
                  <a:lnTo>
                    <a:pt x="201820" y="1210897"/>
                  </a:lnTo>
                  <a:cubicBezTo>
                    <a:pt x="90358" y="1210897"/>
                    <a:pt x="0" y="1120539"/>
                    <a:pt x="0" y="1009077"/>
                  </a:cubicBezTo>
                  <a:lnTo>
                    <a:pt x="0" y="201820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0401" tIns="59111" rIns="220401" bIns="59111" spcCol="1270" anchor="ctr"/>
            <a:lstStyle/>
            <a:p>
              <a:pPr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 dirty="0"/>
            </a:p>
          </p:txBody>
        </p:sp>
        <p:sp>
          <p:nvSpPr>
            <p:cNvPr id="7" name="矩形 75"/>
            <p:cNvSpPr>
              <a:spLocks noChangeArrowheads="1"/>
            </p:cNvSpPr>
            <p:nvPr/>
          </p:nvSpPr>
          <p:spPr bwMode="auto">
            <a:xfrm>
              <a:off x="6121400" y="2879723"/>
              <a:ext cx="2109788" cy="280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/>
            <a:p>
              <a:pPr algn="ctr"/>
              <a:r>
                <a:rPr lang="en-US" altLang="zh-CN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JSP</a:t>
              </a:r>
              <a:r>
                <a:rPr lang="zh-CN" altLang="en-US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注释</a:t>
              </a:r>
              <a:endPara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259633" y="2420888"/>
            <a:ext cx="52596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2000" smtClean="0">
                <a:solidFill>
                  <a:srgbClr val="0066A1"/>
                </a:solidFill>
                <a:latin typeface="华文琥珀" pitchFamily="2" charset="-122"/>
                <a:ea typeface="华文琥珀" pitchFamily="2" charset="-122"/>
              </a:rPr>
              <a:t>语法格式    </a:t>
            </a:r>
            <a:endParaRPr lang="en-US" altLang="zh-CN" sz="2000">
              <a:solidFill>
                <a:srgbClr val="0066A1"/>
              </a:solidFill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59632" y="3861048"/>
            <a:ext cx="6480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>
                <a:solidFill>
                  <a:srgbClr val="FF0000"/>
                </a:solidFill>
              </a:rPr>
              <a:t>注意：</a:t>
            </a: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Tomcat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在将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页面编译成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程序时，会忽略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页面中被注释的内容，不会将注释信息发送到</a:t>
            </a:r>
            <a:r>
              <a:rPr lang="zh-CN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客户端</a:t>
            </a:r>
            <a:r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043608" y="3573016"/>
            <a:ext cx="6912768" cy="1440160"/>
          </a:xfrm>
          <a:prstGeom prst="roundRect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6.2.2  JSP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注释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907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/>
      <p:bldP spid="9" grpId="0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467544" y="2852936"/>
            <a:ext cx="6768752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809708" y="183553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6.1    JSP</a:t>
            </a:r>
            <a:r>
              <a:rPr lang="zh-CN" altLang="en-US" sz="2400" dirty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概述 </a:t>
            </a:r>
          </a:p>
        </p:txBody>
      </p:sp>
      <p:sp>
        <p:nvSpPr>
          <p:cNvPr id="5" name="TextBox 10"/>
          <p:cNvSpPr txBox="1"/>
          <p:nvPr/>
        </p:nvSpPr>
        <p:spPr>
          <a:xfrm>
            <a:off x="809708" y="242088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6.2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基本语法</a:t>
            </a:r>
          </a:p>
        </p:txBody>
      </p:sp>
      <p:sp>
        <p:nvSpPr>
          <p:cNvPr id="6" name="TextBox 11"/>
          <p:cNvSpPr txBox="1"/>
          <p:nvPr/>
        </p:nvSpPr>
        <p:spPr>
          <a:xfrm>
            <a:off x="809708" y="299695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6.3    JSP</a:t>
            </a:r>
            <a:r>
              <a:rPr lang="zh-CN" altLang="en-US" sz="24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指令</a:t>
            </a:r>
          </a:p>
        </p:txBody>
      </p:sp>
      <p:sp>
        <p:nvSpPr>
          <p:cNvPr id="9" name="椭圆 8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809708" y="3573016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6.4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隐式对象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9708" y="414908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6.5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动作元素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708" y="4725144"/>
            <a:ext cx="469839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6.6    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阶段案例：传智书城</a:t>
            </a:r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页面</a:t>
            </a:r>
          </a:p>
        </p:txBody>
      </p:sp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398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泪滴形 1"/>
          <p:cNvSpPr/>
          <p:nvPr/>
        </p:nvSpPr>
        <p:spPr>
          <a:xfrm rot="216446">
            <a:off x="2879265" y="3712110"/>
            <a:ext cx="1588995" cy="1669186"/>
          </a:xfrm>
          <a:prstGeom prst="teardrop">
            <a:avLst/>
          </a:prstGeom>
          <a:gradFill flip="none" rotWithShape="1">
            <a:gsLst>
              <a:gs pos="10000">
                <a:srgbClr val="339933"/>
              </a:gs>
              <a:gs pos="78000">
                <a:srgbClr val="70D34D"/>
              </a:gs>
            </a:gsLst>
            <a:lin ang="16200000" scaled="1"/>
            <a:tileRect/>
          </a:gradFill>
          <a:ln w="34925">
            <a:solidFill>
              <a:srgbClr val="FFFFFF"/>
            </a:solidFill>
          </a:ln>
          <a:effectLst/>
          <a:scene3d>
            <a:camera prst="perspectiveAbove"/>
            <a:lightRig rig="threePt" dir="t">
              <a:rot lat="0" lon="0" rev="10200000"/>
            </a:lightRig>
          </a:scene3d>
          <a:sp3d extrusionH="120650" prstMaterial="plastic">
            <a:bevelT w="285750" h="50800" prst="softRound"/>
            <a:bevelB w="88900" h="10795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泪滴形 2"/>
          <p:cNvSpPr/>
          <p:nvPr/>
        </p:nvSpPr>
        <p:spPr>
          <a:xfrm rot="16200000">
            <a:off x="957939" y="2601685"/>
            <a:ext cx="3026227" cy="3091543"/>
          </a:xfrm>
          <a:prstGeom prst="teardrop">
            <a:avLst/>
          </a:prstGeom>
          <a:gradFill flip="none" rotWithShape="1">
            <a:gsLst>
              <a:gs pos="10000">
                <a:srgbClr val="339933"/>
              </a:gs>
              <a:gs pos="78000">
                <a:srgbClr val="70D34D"/>
              </a:gs>
            </a:gsLst>
            <a:lin ang="16200000" scaled="1"/>
            <a:tileRect/>
          </a:gradFill>
          <a:ln w="34925">
            <a:solidFill>
              <a:srgbClr val="FFFFFF"/>
            </a:solidFill>
          </a:ln>
          <a:effectLst/>
          <a:scene3d>
            <a:camera prst="isometricOffAxis1Right">
              <a:rot lat="21480000" lon="20039998" rev="0"/>
            </a:camera>
            <a:lightRig rig="threePt" dir="t">
              <a:rot lat="0" lon="0" rev="8400000"/>
            </a:lightRig>
          </a:scene3d>
          <a:sp3d extrusionH="120650" prstMaterial="plastic">
            <a:bevelT w="285750" h="50800" prst="softRound"/>
            <a:bevelB w="88900" h="10795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弦形 3"/>
          <p:cNvSpPr/>
          <p:nvPr/>
        </p:nvSpPr>
        <p:spPr>
          <a:xfrm rot="11704162">
            <a:off x="1215100" y="3160463"/>
            <a:ext cx="2395961" cy="1973985"/>
          </a:xfrm>
          <a:prstGeom prst="chord">
            <a:avLst>
              <a:gd name="adj1" fmla="val 19649215"/>
              <a:gd name="adj2" fmla="val 19353987"/>
            </a:avLst>
          </a:prstGeom>
          <a:solidFill>
            <a:schemeClr val="bg1"/>
          </a:solidFill>
          <a:ln>
            <a:noFill/>
          </a:ln>
          <a:scene3d>
            <a:camera prst="orthographicFront">
              <a:rot lat="21303335" lon="296539" rev="222144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1243013" y="3356992"/>
            <a:ext cx="2403475" cy="145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buClr>
                <a:srgbClr val="7030A0"/>
              </a:buClr>
            </a:pP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page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指令用于对页面的某些特性进行描述，例如，页面的编码方式，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JSP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页面采用的语言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等。其语法为：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7030A0"/>
              </a:buClr>
            </a:pPr>
            <a:r>
              <a:rPr lang="en-US" altLang="zh-CN" sz="11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&lt;%@ page </a:t>
            </a:r>
            <a:r>
              <a:rPr lang="zh-CN" altLang="en-US" sz="11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属性名</a:t>
            </a:r>
            <a:r>
              <a:rPr lang="en-US" altLang="zh-CN" sz="11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= "</a:t>
            </a:r>
            <a:r>
              <a:rPr lang="zh-CN" altLang="en-US" sz="11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属性值</a:t>
            </a:r>
            <a:r>
              <a:rPr lang="en-US" altLang="zh-CN" sz="11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"%&gt;</a:t>
            </a:r>
          </a:p>
        </p:txBody>
      </p:sp>
      <p:sp>
        <p:nvSpPr>
          <p:cNvPr id="6" name="泪滴形 5"/>
          <p:cNvSpPr/>
          <p:nvPr/>
        </p:nvSpPr>
        <p:spPr>
          <a:xfrm rot="216446">
            <a:off x="6689542" y="3735087"/>
            <a:ext cx="1588995" cy="1669186"/>
          </a:xfrm>
          <a:prstGeom prst="teardrop">
            <a:avLst/>
          </a:prstGeom>
          <a:gradFill flip="none" rotWithShape="1">
            <a:gsLst>
              <a:gs pos="10000">
                <a:srgbClr val="0070C0"/>
              </a:gs>
              <a:gs pos="78000">
                <a:srgbClr val="00B0F0"/>
              </a:gs>
            </a:gsLst>
            <a:lin ang="16200000" scaled="1"/>
            <a:tileRect/>
          </a:gradFill>
          <a:ln w="34925">
            <a:solidFill>
              <a:srgbClr val="FFFFFF"/>
            </a:solidFill>
          </a:ln>
          <a:effectLst/>
          <a:scene3d>
            <a:camera prst="perspectiveAbove"/>
            <a:lightRig rig="threePt" dir="t">
              <a:rot lat="0" lon="0" rev="10200000"/>
            </a:lightRig>
          </a:scene3d>
          <a:sp3d extrusionH="120650" prstMaterial="plastic">
            <a:bevelT w="285750" h="50800" prst="softRound"/>
            <a:bevelB w="88900" h="10795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泪滴形 6"/>
          <p:cNvSpPr/>
          <p:nvPr/>
        </p:nvSpPr>
        <p:spPr>
          <a:xfrm rot="16200000">
            <a:off x="4858445" y="2458778"/>
            <a:ext cx="2858134" cy="3209261"/>
          </a:xfrm>
          <a:prstGeom prst="teardrop">
            <a:avLst/>
          </a:prstGeom>
          <a:gradFill flip="none" rotWithShape="1">
            <a:gsLst>
              <a:gs pos="10000">
                <a:srgbClr val="0070C0"/>
              </a:gs>
              <a:gs pos="78000">
                <a:srgbClr val="00B0F0"/>
              </a:gs>
            </a:gsLst>
            <a:lin ang="16200000" scaled="1"/>
            <a:tileRect/>
          </a:gradFill>
          <a:ln w="34925">
            <a:solidFill>
              <a:srgbClr val="FFFFFF"/>
            </a:solidFill>
          </a:ln>
          <a:effectLst/>
          <a:scene3d>
            <a:camera prst="isometricOffAxis1Right">
              <a:rot lat="21480000" lon="20039998" rev="0"/>
            </a:camera>
            <a:lightRig rig="threePt" dir="t">
              <a:rot lat="0" lon="0" rev="8400000"/>
            </a:lightRig>
          </a:scene3d>
          <a:sp3d extrusionH="120650" prstMaterial="plastic">
            <a:bevelT w="285750" h="50800" prst="softRound"/>
            <a:bevelB w="88900" h="10795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弦形 7"/>
          <p:cNvSpPr/>
          <p:nvPr/>
        </p:nvSpPr>
        <p:spPr>
          <a:xfrm rot="11704162">
            <a:off x="5043835" y="3164278"/>
            <a:ext cx="2428052" cy="1994732"/>
          </a:xfrm>
          <a:prstGeom prst="chord">
            <a:avLst>
              <a:gd name="adj1" fmla="val 19996691"/>
              <a:gd name="adj2" fmla="val 19353987"/>
            </a:avLst>
          </a:prstGeom>
          <a:solidFill>
            <a:schemeClr val="bg1"/>
          </a:solidFill>
          <a:ln>
            <a:noFill/>
          </a:ln>
          <a:scene3d>
            <a:camera prst="orthographicFront">
              <a:rot lat="21303335" lon="296539" rev="222144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Text Box 39"/>
          <p:cNvSpPr txBox="1">
            <a:spLocks noChangeArrowheads="1"/>
          </p:cNvSpPr>
          <p:nvPr/>
        </p:nvSpPr>
        <p:spPr bwMode="auto">
          <a:xfrm>
            <a:off x="4986338" y="3475038"/>
            <a:ext cx="2601912" cy="117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buClr>
                <a:srgbClr val="7030A0"/>
              </a:buClr>
            </a:pP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include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指令用于在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JSP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页面静态包含一个文件，例如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HTML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文件，文本文件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等。其语法为：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7030A0"/>
              </a:buClr>
            </a:pPr>
            <a:r>
              <a:rPr lang="en-US" altLang="zh-CN" sz="11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&lt;%@ include file="relativeURL"%&gt;</a:t>
            </a:r>
          </a:p>
        </p:txBody>
      </p:sp>
      <p:sp>
        <p:nvSpPr>
          <p:cNvPr id="10" name="矩形 2"/>
          <p:cNvSpPr>
            <a:spLocks noChangeArrowheads="1"/>
          </p:cNvSpPr>
          <p:nvPr/>
        </p:nvSpPr>
        <p:spPr bwMode="auto">
          <a:xfrm>
            <a:off x="781050" y="1268760"/>
            <a:ext cx="7253288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dirty="0" smtClean="0"/>
              <a:t>为了</a:t>
            </a:r>
            <a:r>
              <a:rPr lang="zh-CN" altLang="zh-CN" dirty="0"/>
              <a:t>设置</a:t>
            </a:r>
            <a:r>
              <a:rPr lang="en-US" altLang="zh-CN" dirty="0"/>
              <a:t>JSP</a:t>
            </a:r>
            <a:r>
              <a:rPr lang="zh-CN" altLang="zh-CN" dirty="0"/>
              <a:t>页面中的一些信息，</a:t>
            </a:r>
            <a:r>
              <a:rPr lang="en-US" altLang="zh-CN" dirty="0"/>
              <a:t>SUN</a:t>
            </a:r>
            <a:r>
              <a:rPr lang="zh-CN" altLang="zh-CN" dirty="0"/>
              <a:t>公司提供了</a:t>
            </a:r>
            <a:r>
              <a:rPr lang="en-US" altLang="zh-CN" dirty="0"/>
              <a:t>JSP</a:t>
            </a:r>
            <a:r>
              <a:rPr lang="zh-CN" altLang="zh-CN" dirty="0"/>
              <a:t>指令。</a:t>
            </a:r>
            <a:r>
              <a:rPr lang="en-US" altLang="zh-CN" dirty="0"/>
              <a:t> JSP 2.0</a:t>
            </a:r>
            <a:r>
              <a:rPr lang="zh-CN" altLang="zh-CN" dirty="0"/>
              <a:t>中共定义了</a:t>
            </a:r>
            <a:r>
              <a:rPr lang="en-US" altLang="zh-CN" dirty="0">
                <a:solidFill>
                  <a:srgbClr val="009ED6"/>
                </a:solidFill>
              </a:rPr>
              <a:t>page</a:t>
            </a:r>
            <a:r>
              <a:rPr lang="zh-CN" altLang="zh-CN" dirty="0">
                <a:solidFill>
                  <a:srgbClr val="009ED6"/>
                </a:solidFill>
              </a:rPr>
              <a:t>、</a:t>
            </a:r>
            <a:r>
              <a:rPr lang="en-US" altLang="zh-CN" dirty="0">
                <a:solidFill>
                  <a:srgbClr val="009ED6"/>
                </a:solidFill>
              </a:rPr>
              <a:t>include</a:t>
            </a:r>
            <a:r>
              <a:rPr lang="zh-CN" altLang="zh-CN" dirty="0"/>
              <a:t>和</a:t>
            </a:r>
            <a:r>
              <a:rPr lang="en-US" altLang="zh-CN" dirty="0" err="1">
                <a:solidFill>
                  <a:srgbClr val="009ED6"/>
                </a:solidFill>
              </a:rPr>
              <a:t>taglib</a:t>
            </a:r>
            <a:r>
              <a:rPr lang="zh-CN" altLang="zh-CN" dirty="0"/>
              <a:t>三种指令，每种指令都定义了各自的属性。接下来，本节将针对</a:t>
            </a:r>
            <a:r>
              <a:rPr lang="en-US" altLang="zh-CN" dirty="0"/>
              <a:t>page</a:t>
            </a:r>
            <a:r>
              <a:rPr lang="zh-CN" altLang="zh-CN" dirty="0"/>
              <a:t>和</a:t>
            </a:r>
            <a:r>
              <a:rPr lang="en-US" altLang="zh-CN" dirty="0"/>
              <a:t>include</a:t>
            </a:r>
            <a:r>
              <a:rPr lang="zh-CN" altLang="zh-CN" dirty="0"/>
              <a:t>指令进行详细地讲解。</a:t>
            </a:r>
            <a:endParaRPr lang="zh-CN" altLang="en-US" dirty="0"/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JSP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指令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106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/>
      <p:bldP spid="6" grpId="0" animBg="1"/>
      <p:bldP spid="7" grpId="0" animBg="1"/>
      <p:bldP spid="8" grpId="0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028654"/>
              </p:ext>
            </p:extLst>
          </p:nvPr>
        </p:nvGraphicFramePr>
        <p:xfrm>
          <a:off x="2699792" y="1124744"/>
          <a:ext cx="5256584" cy="433418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94522"/>
                <a:gridCol w="1766784"/>
                <a:gridCol w="2395278"/>
              </a:tblGrid>
              <a:tr h="30566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属性名称</a:t>
                      </a:r>
                      <a:endParaRPr lang="en-US" altLang="zh-CN" sz="16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取值范围</a:t>
                      </a:r>
                      <a:endParaRPr lang="en-US" altLang="zh-CN" sz="16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描述</a:t>
                      </a:r>
                      <a:endParaRPr lang="en-US" altLang="zh-CN" sz="16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168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language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java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指明解释该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JSP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文件时采用的语言，默认为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Java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5833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import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任何包名、类名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指定在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JSP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页面翻译成的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Servlet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源文件中导入的包或类。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import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是唯一可以声明多次的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page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指令属性。一个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import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属性可以引用多个类，中间用英文逗号隔开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82984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session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true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、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false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指明该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JSP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内是否内置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Session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对象，如果为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true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，则说明内置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Session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对象，可以直接使用，否则没有内置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Session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对象。默认情况下，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session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属性的值为</a:t>
                      </a:r>
                      <a:r>
                        <a:rPr lang="en-US" sz="1050" kern="100" dirty="0" smtClean="0">
                          <a:effectLst/>
                          <a:latin typeface="Times New Roman"/>
                          <a:ea typeface="宋体"/>
                        </a:rPr>
                        <a:t>true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5833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isErrorPage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true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、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false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指定该页面是否为错误处理页面，如果为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true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，则该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JSP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内置有一个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Exception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对象的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exception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，可直接使用。默认情况下，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isErrorPage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的值为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false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292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errorPage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某个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JSP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页面的相对路径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指定一个错误页面，如果该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JSP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程序抛出一个未捕捉的异常，则转到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errorPage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指定的页面。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errorPage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指定页面的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isErrorPage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属性为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true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，且内置的</a:t>
                      </a: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exception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对象为未捕捉的异常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949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contentType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有效的文档类型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客户端浏览器根据该属性判断文档</a:t>
                      </a:r>
                      <a:r>
                        <a:rPr lang="zh-CN" sz="1050" kern="100" dirty="0" smtClean="0">
                          <a:effectLst/>
                          <a:latin typeface="Times New Roman"/>
                          <a:ea typeface="宋体"/>
                        </a:rPr>
                        <a:t>类型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137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pageEnCoding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当前页面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指定页面编码格式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699792" y="1786517"/>
            <a:ext cx="5184576" cy="792088"/>
          </a:xfrm>
          <a:prstGeom prst="rect">
            <a:avLst/>
          </a:prstGeom>
          <a:noFill/>
          <a:ln w="19050" algn="ctr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cxnSp>
        <p:nvCxnSpPr>
          <p:cNvPr id="5" name="直接箭头连接符 4"/>
          <p:cNvCxnSpPr>
            <a:cxnSpLocks noChangeShapeType="1"/>
          </p:cNvCxnSpPr>
          <p:nvPr/>
        </p:nvCxnSpPr>
        <p:spPr bwMode="auto">
          <a:xfrm>
            <a:off x="7956376" y="2120463"/>
            <a:ext cx="389880" cy="0"/>
          </a:xfrm>
          <a:prstGeom prst="straightConnector1">
            <a:avLst/>
          </a:prstGeom>
          <a:noFill/>
          <a:ln w="28575" algn="ctr">
            <a:solidFill>
              <a:srgbClr val="0070C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430517" y="980728"/>
            <a:ext cx="461963" cy="4824536"/>
          </a:xfrm>
          <a:prstGeom prst="rect">
            <a:avLst/>
          </a:prstGeom>
          <a:solidFill>
            <a:srgbClr val="0070C0"/>
          </a:solidFill>
          <a:ln w="28575" algn="ctr">
            <a:solidFill>
              <a:srgbClr val="0070C0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可以多次使用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，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其他属性只能出现一次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347663" y="1873283"/>
            <a:ext cx="2082800" cy="2649538"/>
          </a:xfrm>
          <a:prstGeom prst="rect">
            <a:avLst/>
          </a:prstGeom>
          <a:noFill/>
          <a:ln w="19050" algn="ctr">
            <a:solidFill>
              <a:srgbClr val="0066A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1600" dirty="0"/>
              <a:t> </a:t>
            </a:r>
            <a:r>
              <a:rPr lang="zh-CN" altLang="zh-CN" sz="1600" dirty="0"/>
              <a:t>在</a:t>
            </a:r>
            <a:r>
              <a:rPr lang="en-US" altLang="zh-CN" sz="1600" dirty="0"/>
              <a:t>page</a:t>
            </a:r>
            <a:r>
              <a:rPr lang="zh-CN" altLang="en-US" sz="1600" dirty="0"/>
              <a:t>指令</a:t>
            </a:r>
            <a:r>
              <a:rPr lang="zh-CN" altLang="zh-CN" sz="1600" dirty="0"/>
              <a:t>的语法格式中，</a:t>
            </a:r>
            <a:r>
              <a:rPr lang="en-US" altLang="zh-CN" sz="1600" dirty="0"/>
              <a:t>page</a:t>
            </a:r>
            <a:r>
              <a:rPr lang="zh-CN" altLang="zh-CN" sz="1600" dirty="0"/>
              <a:t>用于声明指令名称，属性用来指定</a:t>
            </a:r>
            <a:r>
              <a:rPr lang="en-US" altLang="zh-CN" sz="1600" dirty="0"/>
              <a:t>JSP</a:t>
            </a:r>
            <a:r>
              <a:rPr lang="zh-CN" altLang="zh-CN" sz="1600" dirty="0"/>
              <a:t>页面的某些特性。</a:t>
            </a:r>
            <a:r>
              <a:rPr lang="en-US" altLang="zh-CN" sz="1600" dirty="0"/>
              <a:t>page</a:t>
            </a:r>
            <a:r>
              <a:rPr lang="zh-CN" altLang="zh-CN" sz="1600" dirty="0"/>
              <a:t>指令提供了一系列与</a:t>
            </a:r>
            <a:r>
              <a:rPr lang="en-US" altLang="zh-CN" sz="1600" dirty="0"/>
              <a:t>JSP</a:t>
            </a:r>
            <a:r>
              <a:rPr lang="zh-CN" altLang="zh-CN" sz="1600" dirty="0"/>
              <a:t>页面相关的</a:t>
            </a:r>
            <a:r>
              <a:rPr lang="zh-CN" altLang="zh-CN" sz="1600" dirty="0" smtClean="0"/>
              <a:t>属性</a:t>
            </a:r>
            <a:r>
              <a:rPr lang="zh-CN" altLang="en-US" sz="1600" dirty="0" smtClean="0"/>
              <a:t>。</a:t>
            </a:r>
            <a:endParaRPr lang="zh-CN" altLang="en-US" sz="1600" dirty="0"/>
          </a:p>
        </p:txBody>
      </p:sp>
      <p:sp>
        <p:nvSpPr>
          <p:cNvPr id="15" name="矩形 14"/>
          <p:cNvSpPr/>
          <p:nvPr/>
        </p:nvSpPr>
        <p:spPr>
          <a:xfrm>
            <a:off x="922338" y="5519126"/>
            <a:ext cx="7383462" cy="627062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>
              <a:lnSpc>
                <a:spcPct val="90000"/>
              </a:lnSpc>
              <a:defRPr/>
            </a:pPr>
            <a:r>
              <a:rPr lang="zh-CN" altLang="en-US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</a:t>
            </a:r>
            <a:r>
              <a:rPr lang="zh-CN" altLang="en-US" sz="160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page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指令对整个页面都有效，而与其书写的位置无关，但是习惯上把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page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指令写在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JSP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页面的最前面。</a:t>
            </a:r>
            <a:endParaRPr lang="zh-CN" altLang="en-US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" name="Picture 2" descr="E:\白沙\设计文档\素材\灯泡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5242901"/>
            <a:ext cx="900112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6.3.1  page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指令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1953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01319" y="2700240"/>
            <a:ext cx="8137525" cy="3825103"/>
            <a:chOff x="2886830" y="1259364"/>
            <a:chExt cx="8137525" cy="2966990"/>
          </a:xfrm>
        </p:grpSpPr>
        <p:sp>
          <p:nvSpPr>
            <p:cNvPr id="4" name="矩形 3"/>
            <p:cNvSpPr/>
            <p:nvPr/>
          </p:nvSpPr>
          <p:spPr bwMode="auto">
            <a:xfrm>
              <a:off x="2886830" y="1259364"/>
              <a:ext cx="8137525" cy="2966990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5" name="TextBox 4"/>
            <p:cNvSpPr txBox="1"/>
            <p:nvPr/>
          </p:nvSpPr>
          <p:spPr>
            <a:xfrm>
              <a:off x="3247385" y="1623985"/>
              <a:ext cx="7454542" cy="407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en-US" altLang="zh-CN">
                <a:solidFill>
                  <a:srgbClr val="000000"/>
                </a:solidFill>
                <a:latin typeface="Arial Narrow" pitchFamily="34" charset="0"/>
                <a:ea typeface="PMingLiU" pitchFamily="18" charset="-120"/>
              </a:endParaRPr>
            </a:p>
          </p:txBody>
        </p:sp>
      </p:grp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5541665" y="2417912"/>
            <a:ext cx="2198687" cy="371475"/>
            <a:chOff x="6086475" y="2840038"/>
            <a:chExt cx="2198688" cy="371474"/>
          </a:xfrm>
        </p:grpSpPr>
        <p:sp>
          <p:nvSpPr>
            <p:cNvPr id="7" name="任意多边形 6"/>
            <p:cNvSpPr/>
            <p:nvPr/>
          </p:nvSpPr>
          <p:spPr bwMode="auto">
            <a:xfrm>
              <a:off x="6086475" y="2840038"/>
              <a:ext cx="2198688" cy="371474"/>
            </a:xfrm>
            <a:custGeom>
              <a:avLst/>
              <a:gdLst>
                <a:gd name="connsiteX0" fmla="*/ 0 w 4267200"/>
                <a:gd name="connsiteY0" fmla="*/ 201820 h 1210897"/>
                <a:gd name="connsiteX1" fmla="*/ 201820 w 4267200"/>
                <a:gd name="connsiteY1" fmla="*/ 0 h 1210897"/>
                <a:gd name="connsiteX2" fmla="*/ 4065380 w 4267200"/>
                <a:gd name="connsiteY2" fmla="*/ 0 h 1210897"/>
                <a:gd name="connsiteX3" fmla="*/ 4267200 w 4267200"/>
                <a:gd name="connsiteY3" fmla="*/ 201820 h 1210897"/>
                <a:gd name="connsiteX4" fmla="*/ 4267200 w 4267200"/>
                <a:gd name="connsiteY4" fmla="*/ 1009077 h 1210897"/>
                <a:gd name="connsiteX5" fmla="*/ 4065380 w 4267200"/>
                <a:gd name="connsiteY5" fmla="*/ 1210897 h 1210897"/>
                <a:gd name="connsiteX6" fmla="*/ 201820 w 4267200"/>
                <a:gd name="connsiteY6" fmla="*/ 1210897 h 1210897"/>
                <a:gd name="connsiteX7" fmla="*/ 0 w 4267200"/>
                <a:gd name="connsiteY7" fmla="*/ 1009077 h 1210897"/>
                <a:gd name="connsiteX8" fmla="*/ 0 w 4267200"/>
                <a:gd name="connsiteY8" fmla="*/ 201820 h 12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67200" h="1210897">
                  <a:moveTo>
                    <a:pt x="0" y="201820"/>
                  </a:moveTo>
                  <a:cubicBezTo>
                    <a:pt x="0" y="90358"/>
                    <a:pt x="90358" y="0"/>
                    <a:pt x="201820" y="0"/>
                  </a:cubicBezTo>
                  <a:lnTo>
                    <a:pt x="4065380" y="0"/>
                  </a:lnTo>
                  <a:cubicBezTo>
                    <a:pt x="4176842" y="0"/>
                    <a:pt x="4267200" y="90358"/>
                    <a:pt x="4267200" y="201820"/>
                  </a:cubicBezTo>
                  <a:lnTo>
                    <a:pt x="4267200" y="1009077"/>
                  </a:lnTo>
                  <a:cubicBezTo>
                    <a:pt x="4267200" y="1120539"/>
                    <a:pt x="4176842" y="1210897"/>
                    <a:pt x="4065380" y="1210897"/>
                  </a:cubicBezTo>
                  <a:lnTo>
                    <a:pt x="201820" y="1210897"/>
                  </a:lnTo>
                  <a:cubicBezTo>
                    <a:pt x="90358" y="1210897"/>
                    <a:pt x="0" y="1120539"/>
                    <a:pt x="0" y="1009077"/>
                  </a:cubicBezTo>
                  <a:lnTo>
                    <a:pt x="0" y="201820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0401" tIns="59111" rIns="220401" bIns="59111" spcCol="1270" anchor="ctr"/>
            <a:lstStyle/>
            <a:p>
              <a:pPr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 dirty="0"/>
            </a:p>
          </p:txBody>
        </p:sp>
        <p:sp>
          <p:nvSpPr>
            <p:cNvPr id="8" name="矩形 75"/>
            <p:cNvSpPr>
              <a:spLocks noChangeArrowheads="1"/>
            </p:cNvSpPr>
            <p:nvPr/>
          </p:nvSpPr>
          <p:spPr bwMode="auto">
            <a:xfrm>
              <a:off x="6121400" y="2879726"/>
              <a:ext cx="2109788" cy="323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/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使用注意的问题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87351" y="1196752"/>
            <a:ext cx="8251493" cy="1172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Calibri" panose="020F0502020204030204" pitchFamily="34" charset="0"/>
              <a:buChar char="–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指令只有一个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属性，该属性用来指定插入到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页面目标位置的文件资源。需要注意的是，插入文件的路径一般不以“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”开头，而是使用相对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路径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。关于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指令的具体用法请参见教材文件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6-3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和文件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6-4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25870" y="2789387"/>
            <a:ext cx="75265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600" dirty="0">
                <a:solidFill>
                  <a:srgbClr val="0066A1"/>
                </a:solidFill>
              </a:rPr>
              <a:t>被引入的文件必须遵循</a:t>
            </a:r>
            <a:r>
              <a:rPr lang="en-US" altLang="zh-CN" sz="1600" dirty="0">
                <a:solidFill>
                  <a:srgbClr val="0066A1"/>
                </a:solidFill>
              </a:rPr>
              <a:t>JSP</a:t>
            </a:r>
            <a:r>
              <a:rPr lang="zh-CN" altLang="zh-CN" sz="1600" dirty="0">
                <a:solidFill>
                  <a:srgbClr val="0066A1"/>
                </a:solidFill>
              </a:rPr>
              <a:t>语法，其中的内容可以包含静态</a:t>
            </a:r>
            <a:r>
              <a:rPr lang="en-US" altLang="zh-CN" sz="1600" dirty="0">
                <a:solidFill>
                  <a:srgbClr val="0066A1"/>
                </a:solidFill>
              </a:rPr>
              <a:t>HTML</a:t>
            </a:r>
            <a:r>
              <a:rPr lang="zh-CN" altLang="zh-CN" sz="1600" dirty="0">
                <a:solidFill>
                  <a:srgbClr val="0066A1"/>
                </a:solidFill>
              </a:rPr>
              <a:t>、</a:t>
            </a:r>
            <a:r>
              <a:rPr lang="en-US" altLang="zh-CN" sz="1600" dirty="0">
                <a:solidFill>
                  <a:srgbClr val="0066A1"/>
                </a:solidFill>
              </a:rPr>
              <a:t>JSP</a:t>
            </a:r>
            <a:r>
              <a:rPr lang="zh-CN" altLang="zh-CN" sz="1600" dirty="0">
                <a:solidFill>
                  <a:srgbClr val="0066A1"/>
                </a:solidFill>
              </a:rPr>
              <a:t>脚本元素和</a:t>
            </a:r>
            <a:r>
              <a:rPr lang="en-US" altLang="zh-CN" sz="1600" dirty="0">
                <a:solidFill>
                  <a:srgbClr val="0066A1"/>
                </a:solidFill>
              </a:rPr>
              <a:t>JSP</a:t>
            </a:r>
            <a:r>
              <a:rPr lang="zh-CN" altLang="zh-CN" sz="1600" dirty="0">
                <a:solidFill>
                  <a:srgbClr val="0066A1"/>
                </a:solidFill>
              </a:rPr>
              <a:t>指令等普通</a:t>
            </a:r>
            <a:r>
              <a:rPr lang="en-US" altLang="zh-CN" sz="1600" dirty="0">
                <a:solidFill>
                  <a:srgbClr val="0066A1"/>
                </a:solidFill>
              </a:rPr>
              <a:t>JSP</a:t>
            </a:r>
            <a:r>
              <a:rPr lang="zh-CN" altLang="zh-CN" sz="1600" dirty="0">
                <a:solidFill>
                  <a:srgbClr val="0066A1"/>
                </a:solidFill>
              </a:rPr>
              <a:t>页面所具有的一切内容。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600" dirty="0">
                <a:solidFill>
                  <a:srgbClr val="0066A1"/>
                </a:solidFill>
              </a:rPr>
              <a:t>除了指令元素之外，被引入的文件中的其他元素都被转换成相应的</a:t>
            </a:r>
            <a:r>
              <a:rPr lang="en-US" altLang="zh-CN" sz="1600" dirty="0">
                <a:solidFill>
                  <a:srgbClr val="0066A1"/>
                </a:solidFill>
              </a:rPr>
              <a:t>Java</a:t>
            </a:r>
            <a:r>
              <a:rPr lang="zh-CN" altLang="zh-CN" sz="1600" dirty="0">
                <a:solidFill>
                  <a:srgbClr val="0066A1"/>
                </a:solidFill>
              </a:rPr>
              <a:t>源代码，然后插入进当前</a:t>
            </a:r>
            <a:r>
              <a:rPr lang="en-US" altLang="zh-CN" sz="1600" dirty="0">
                <a:solidFill>
                  <a:srgbClr val="0066A1"/>
                </a:solidFill>
              </a:rPr>
              <a:t>JSP</a:t>
            </a:r>
            <a:r>
              <a:rPr lang="zh-CN" altLang="zh-CN" sz="1600" dirty="0">
                <a:solidFill>
                  <a:srgbClr val="0066A1"/>
                </a:solidFill>
              </a:rPr>
              <a:t>页面所翻译成的</a:t>
            </a:r>
            <a:r>
              <a:rPr lang="en-US" altLang="zh-CN" sz="1600" dirty="0">
                <a:solidFill>
                  <a:srgbClr val="0066A1"/>
                </a:solidFill>
              </a:rPr>
              <a:t>Servlet</a:t>
            </a:r>
            <a:r>
              <a:rPr lang="zh-CN" altLang="zh-CN" sz="1600" dirty="0">
                <a:solidFill>
                  <a:srgbClr val="0066A1"/>
                </a:solidFill>
              </a:rPr>
              <a:t>源文件中，插入位置与</a:t>
            </a:r>
            <a:r>
              <a:rPr lang="en-US" altLang="zh-CN" sz="1600" dirty="0">
                <a:solidFill>
                  <a:srgbClr val="0066A1"/>
                </a:solidFill>
              </a:rPr>
              <a:t>include</a:t>
            </a:r>
            <a:r>
              <a:rPr lang="zh-CN" altLang="zh-CN" sz="1600" dirty="0">
                <a:solidFill>
                  <a:srgbClr val="0066A1"/>
                </a:solidFill>
              </a:rPr>
              <a:t>指令在当前</a:t>
            </a:r>
            <a:r>
              <a:rPr lang="en-US" altLang="zh-CN" sz="1600" dirty="0">
                <a:solidFill>
                  <a:srgbClr val="0066A1"/>
                </a:solidFill>
              </a:rPr>
              <a:t>JSP</a:t>
            </a:r>
            <a:r>
              <a:rPr lang="zh-CN" altLang="zh-CN" sz="1600" dirty="0">
                <a:solidFill>
                  <a:srgbClr val="0066A1"/>
                </a:solidFill>
              </a:rPr>
              <a:t>页面中的位置保持一致。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rgbClr val="0066A1"/>
                </a:solidFill>
              </a:rPr>
              <a:t>file</a:t>
            </a:r>
            <a:r>
              <a:rPr lang="zh-CN" altLang="zh-CN" sz="1600" dirty="0">
                <a:solidFill>
                  <a:srgbClr val="0066A1"/>
                </a:solidFill>
              </a:rPr>
              <a:t>属性的设置值必须使用相对路径，如果以“</a:t>
            </a:r>
            <a:r>
              <a:rPr lang="en-US" altLang="zh-CN" sz="1600" dirty="0">
                <a:solidFill>
                  <a:srgbClr val="0066A1"/>
                </a:solidFill>
              </a:rPr>
              <a:t>/</a:t>
            </a:r>
            <a:r>
              <a:rPr lang="zh-CN" altLang="zh-CN" sz="1600" dirty="0">
                <a:solidFill>
                  <a:srgbClr val="0066A1"/>
                </a:solidFill>
              </a:rPr>
              <a:t>”开头，表示相对于当前</a:t>
            </a:r>
            <a:r>
              <a:rPr lang="en-US" altLang="zh-CN" sz="1600" dirty="0">
                <a:solidFill>
                  <a:srgbClr val="0066A1"/>
                </a:solidFill>
              </a:rPr>
              <a:t>Web</a:t>
            </a:r>
            <a:r>
              <a:rPr lang="zh-CN" altLang="zh-CN" sz="1600" dirty="0">
                <a:solidFill>
                  <a:srgbClr val="0066A1"/>
                </a:solidFill>
              </a:rPr>
              <a:t>应用程序的根目录（注意不是站点根目录），否则，表示相对于当前文件。需要注意的是，这里的</a:t>
            </a:r>
            <a:r>
              <a:rPr lang="en-US" altLang="zh-CN" sz="1600" dirty="0">
                <a:solidFill>
                  <a:srgbClr val="0066A1"/>
                </a:solidFill>
              </a:rPr>
              <a:t>file</a:t>
            </a:r>
            <a:r>
              <a:rPr lang="zh-CN" altLang="zh-CN" sz="1600" dirty="0">
                <a:solidFill>
                  <a:srgbClr val="0066A1"/>
                </a:solidFill>
              </a:rPr>
              <a:t>属性指定的相对路径是相对于文件（</a:t>
            </a:r>
            <a:r>
              <a:rPr lang="en-US" altLang="zh-CN" sz="1600" dirty="0">
                <a:solidFill>
                  <a:srgbClr val="0066A1"/>
                </a:solidFill>
              </a:rPr>
              <a:t>file</a:t>
            </a:r>
            <a:r>
              <a:rPr lang="zh-CN" altLang="zh-CN" sz="1600" dirty="0">
                <a:solidFill>
                  <a:srgbClr val="0066A1"/>
                </a:solidFill>
              </a:rPr>
              <a:t>），而不是相对于页面（</a:t>
            </a:r>
            <a:r>
              <a:rPr lang="en-US" altLang="zh-CN" sz="1600" dirty="0">
                <a:solidFill>
                  <a:srgbClr val="0066A1"/>
                </a:solidFill>
              </a:rPr>
              <a:t>page</a:t>
            </a:r>
            <a:r>
              <a:rPr lang="zh-CN" altLang="zh-CN" sz="1600" dirty="0">
                <a:solidFill>
                  <a:srgbClr val="0066A1"/>
                </a:solidFill>
              </a:rPr>
              <a:t>）。</a:t>
            </a:r>
            <a:endParaRPr lang="zh-CN" altLang="en-US" sz="1600" dirty="0">
              <a:solidFill>
                <a:srgbClr val="0066A1"/>
              </a:solidFill>
            </a:endParaRPr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6.3.2  include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指令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501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467544" y="3429000"/>
            <a:ext cx="6768752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809708" y="183553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6.1    JSP</a:t>
            </a:r>
            <a:r>
              <a:rPr lang="zh-CN" altLang="en-US" sz="2400" dirty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概述 </a:t>
            </a:r>
          </a:p>
        </p:txBody>
      </p:sp>
      <p:sp>
        <p:nvSpPr>
          <p:cNvPr id="5" name="TextBox 10"/>
          <p:cNvSpPr txBox="1"/>
          <p:nvPr/>
        </p:nvSpPr>
        <p:spPr>
          <a:xfrm>
            <a:off x="809708" y="242088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6.2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基本语法</a:t>
            </a:r>
          </a:p>
        </p:txBody>
      </p:sp>
      <p:sp>
        <p:nvSpPr>
          <p:cNvPr id="6" name="TextBox 11"/>
          <p:cNvSpPr txBox="1"/>
          <p:nvPr/>
        </p:nvSpPr>
        <p:spPr>
          <a:xfrm>
            <a:off x="809708" y="299695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6.3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指令</a:t>
            </a:r>
          </a:p>
        </p:txBody>
      </p:sp>
      <p:sp>
        <p:nvSpPr>
          <p:cNvPr id="9" name="椭圆 8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809708" y="3573016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6.4    JSP</a:t>
            </a:r>
            <a:r>
              <a:rPr lang="zh-CN" altLang="en-US" sz="24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隐式对象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9708" y="414908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6.5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动作元素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708" y="4725144"/>
            <a:ext cx="469839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6.6    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阶段案例：传智书城</a:t>
            </a:r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页面</a:t>
            </a:r>
          </a:p>
        </p:txBody>
      </p:sp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229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1196752"/>
            <a:ext cx="1018714" cy="1488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标注 3"/>
          <p:cNvSpPr>
            <a:spLocks noChangeArrowheads="1"/>
          </p:cNvSpPr>
          <p:nvPr/>
        </p:nvSpPr>
        <p:spPr bwMode="auto">
          <a:xfrm>
            <a:off x="2065399" y="1268760"/>
            <a:ext cx="4104456" cy="1272337"/>
          </a:xfrm>
          <a:prstGeom prst="wedgeRectCallout">
            <a:avLst>
              <a:gd name="adj1" fmla="val -60554"/>
              <a:gd name="adj2" fmla="val -13342"/>
            </a:avLst>
          </a:prstGeom>
          <a:noFill/>
          <a:ln w="9525" algn="ctr">
            <a:solidFill>
              <a:srgbClr val="009ED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051719" y="1340768"/>
            <a:ext cx="388843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zh-CN">
                <a:solidFill>
                  <a:srgbClr val="0066A1"/>
                </a:solidFill>
              </a:rPr>
              <a:t>为了简化</a:t>
            </a:r>
            <a:r>
              <a:rPr lang="en-US" altLang="zh-CN">
                <a:solidFill>
                  <a:srgbClr val="0066A1"/>
                </a:solidFill>
              </a:rPr>
              <a:t>Web</a:t>
            </a:r>
            <a:r>
              <a:rPr lang="zh-CN" altLang="zh-CN">
                <a:solidFill>
                  <a:srgbClr val="0066A1"/>
                </a:solidFill>
              </a:rPr>
              <a:t>应用程序的开发，</a:t>
            </a:r>
            <a:r>
              <a:rPr lang="en-US" altLang="zh-CN" smtClean="0">
                <a:solidFill>
                  <a:srgbClr val="0066A1"/>
                </a:solidFill>
              </a:rPr>
              <a:t>JSP 2.0</a:t>
            </a:r>
            <a:r>
              <a:rPr lang="zh-CN" altLang="zh-CN">
                <a:solidFill>
                  <a:srgbClr val="0066A1"/>
                </a:solidFill>
              </a:rPr>
              <a:t>规范中提供了</a:t>
            </a:r>
            <a:r>
              <a:rPr lang="en-US" altLang="zh-CN">
                <a:solidFill>
                  <a:srgbClr val="FF0000"/>
                </a:solidFill>
              </a:rPr>
              <a:t>9</a:t>
            </a:r>
            <a:r>
              <a:rPr lang="zh-CN" altLang="zh-CN">
                <a:solidFill>
                  <a:srgbClr val="FF0000"/>
                </a:solidFill>
              </a:rPr>
              <a:t>个隐式（内置）对象</a:t>
            </a:r>
            <a:r>
              <a:rPr lang="zh-CN" altLang="zh-CN">
                <a:solidFill>
                  <a:srgbClr val="0066A1"/>
                </a:solidFill>
              </a:rPr>
              <a:t>，它们是</a:t>
            </a:r>
            <a:r>
              <a:rPr lang="en-US" altLang="zh-CN">
                <a:solidFill>
                  <a:srgbClr val="0066A1"/>
                </a:solidFill>
              </a:rPr>
              <a:t>JSP</a:t>
            </a:r>
            <a:r>
              <a:rPr lang="zh-CN" altLang="zh-CN">
                <a:solidFill>
                  <a:srgbClr val="0066A1"/>
                </a:solidFill>
              </a:rPr>
              <a:t>默认创建的，可以直接在</a:t>
            </a:r>
            <a:r>
              <a:rPr lang="en-US" altLang="zh-CN">
                <a:solidFill>
                  <a:srgbClr val="0066A1"/>
                </a:solidFill>
              </a:rPr>
              <a:t>JSP</a:t>
            </a:r>
            <a:r>
              <a:rPr lang="zh-CN" altLang="zh-CN">
                <a:solidFill>
                  <a:srgbClr val="0066A1"/>
                </a:solidFill>
              </a:rPr>
              <a:t>页面中</a:t>
            </a:r>
            <a:r>
              <a:rPr lang="zh-CN" altLang="zh-CN" smtClean="0">
                <a:solidFill>
                  <a:srgbClr val="0066A1"/>
                </a:solidFill>
              </a:rPr>
              <a:t>使用。</a:t>
            </a:r>
            <a:endParaRPr lang="zh-CN" altLang="en-US">
              <a:solidFill>
                <a:srgbClr val="0066A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4273" y="2780928"/>
            <a:ext cx="5089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alibri" panose="020F0502020204030204" pitchFamily="34" charset="0"/>
              <a:buChar char="–"/>
            </a:pPr>
            <a:r>
              <a:rPr lang="zh-CN" altLang="en-US" dirty="0" smtClean="0">
                <a:solidFill>
                  <a:srgbClr val="0066A1"/>
                </a:solidFill>
              </a:rPr>
              <a:t>隐式对象的名称、类型和描述信息如下所示：</a:t>
            </a:r>
            <a:endParaRPr lang="zh-CN" altLang="en-US" dirty="0">
              <a:solidFill>
                <a:srgbClr val="0066A1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053182"/>
              </p:ext>
            </p:extLst>
          </p:nvPr>
        </p:nvGraphicFramePr>
        <p:xfrm>
          <a:off x="386408" y="3208320"/>
          <a:ext cx="8280920" cy="260623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56184"/>
                <a:gridCol w="2673424"/>
                <a:gridCol w="3951312"/>
              </a:tblGrid>
              <a:tr h="2996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名称</a:t>
                      </a:r>
                      <a:endParaRPr lang="en-US" altLang="zh-CN" sz="16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类型</a:t>
                      </a:r>
                      <a:endParaRPr lang="en-US" altLang="zh-CN" sz="16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描述</a:t>
                      </a:r>
                      <a:endParaRPr lang="en-US" altLang="zh-CN" sz="16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231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out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javax.servlet.jsp.JspWriter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用于页面输出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231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request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javax.servlet.http.HttpServletRequest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得到用户请求信息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231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response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javax.servlet.http.HttpServletResponse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服务器向客户端的回应信息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231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effectLst/>
                          <a:latin typeface="Times New Roman"/>
                          <a:ea typeface="宋体"/>
                        </a:rPr>
                        <a:t>config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javax.servlet.ServletConfig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服务器配置，可以取得初始化参数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231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session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javax.servlet.http.HttpSession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用来保存用户的信息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231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application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javax.servlet.ServletContext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所有用户的共享信息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231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page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java.lang.Object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指当前页面转换后的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Servlet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类的实例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231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pageContext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javax.servlet.jsp.PageContext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JSP</a:t>
                      </a: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的页面容器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231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exception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/>
                          <a:ea typeface="宋体"/>
                        </a:rPr>
                        <a:t>java.lang.Throwable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表示</a:t>
                      </a:r>
                      <a:r>
                        <a:rPr lang="en-US" sz="1050" kern="100" dirty="0">
                          <a:effectLst/>
                          <a:latin typeface="Times New Roman"/>
                          <a:ea typeface="宋体"/>
                        </a:rPr>
                        <a:t>JSP</a:t>
                      </a: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页面所发生的异常，在错误页中才起作用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6.4.1 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隐式对象的概述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837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 txBox="1">
            <a:spLocks/>
          </p:cNvSpPr>
          <p:nvPr/>
        </p:nvSpPr>
        <p:spPr bwMode="auto">
          <a:xfrm>
            <a:off x="457200" y="1052736"/>
            <a:ext cx="8229600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zh-CN" sz="16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对象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1600" dirty="0" err="1" smtClean="0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java.servlet.jsp.JspWriter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类的实例对象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其作用是用来向客户端发送文本形式的实体内容。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对象的类型为</a:t>
            </a:r>
            <a:r>
              <a:rPr lang="en-US" altLang="zh-CN" sz="1600" dirty="0" err="1" smtClean="0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JspWriter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，它相当于一种带缓存功能的</a:t>
            </a:r>
            <a:r>
              <a:rPr lang="en-US" altLang="zh-CN" sz="1600" dirty="0" err="1" smtClean="0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PrintWriter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359" y="2851298"/>
            <a:ext cx="844550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图片 18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2753785445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596" y="1855935"/>
            <a:ext cx="1042988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596" y="2476648"/>
            <a:ext cx="1038225" cy="204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图片 15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3286144238"/>
              </p:ext>
            </p:ext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621" y="1844823"/>
            <a:ext cx="10731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209" y="2467123"/>
            <a:ext cx="1054100" cy="2052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图片 19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245283556"/>
              </p:ext>
            </p:ext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646" y="2879873"/>
            <a:ext cx="83661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图片 16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1489719232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459" y="4716610"/>
            <a:ext cx="210185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 noChangeArrowheads="1"/>
          </p:cNvPicPr>
          <p:nvPr>
            <p:extLst>
              <p:ext uri="{D42A27DB-BD31-4B8C-83A1-F6EECF244321}">
                <p14:modId xmlns:p14="http://schemas.microsoft.com/office/powerpoint/2010/main" val="513437648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809" y="4716610"/>
            <a:ext cx="167005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直接箭头连接符 10"/>
          <p:cNvCxnSpPr>
            <a:cxnSpLocks noChangeShapeType="1"/>
            <a:stCxn id="3" idx="3"/>
          </p:cNvCxnSpPr>
          <p:nvPr/>
        </p:nvCxnSpPr>
        <p:spPr bwMode="auto">
          <a:xfrm>
            <a:off x="2084909" y="3273573"/>
            <a:ext cx="674687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/>
          <p:cNvCxnSpPr>
            <a:cxnSpLocks noChangeShapeType="1"/>
          </p:cNvCxnSpPr>
          <p:nvPr/>
        </p:nvCxnSpPr>
        <p:spPr bwMode="auto">
          <a:xfrm>
            <a:off x="3797821" y="3273573"/>
            <a:ext cx="6858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/>
          <p:cNvCxnSpPr>
            <a:cxnSpLocks noChangeShapeType="1"/>
          </p:cNvCxnSpPr>
          <p:nvPr/>
        </p:nvCxnSpPr>
        <p:spPr bwMode="auto">
          <a:xfrm>
            <a:off x="5539309" y="3273573"/>
            <a:ext cx="541337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连接符 13"/>
          <p:cNvCxnSpPr>
            <a:cxnSpLocks noChangeShapeType="1"/>
          </p:cNvCxnSpPr>
          <p:nvPr/>
        </p:nvCxnSpPr>
        <p:spPr bwMode="auto">
          <a:xfrm>
            <a:off x="2421459" y="3273573"/>
            <a:ext cx="0" cy="144303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4140721" y="3273573"/>
            <a:ext cx="0" cy="144303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99592" y="5673402"/>
            <a:ext cx="6533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页面的</a:t>
            </a:r>
            <a:r>
              <a:rPr lang="en-US" altLang="zh-CN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zh-CN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对象与</a:t>
            </a:r>
            <a:r>
              <a:rPr lang="en-US" altLang="zh-CN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引擎提供的缓冲区之间的工作</a:t>
            </a:r>
            <a:r>
              <a:rPr lang="zh-CN" altLang="zh-CN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关系</a:t>
            </a:r>
            <a:r>
              <a:rPr lang="zh-CN" altLang="en-US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rgbClr val="0066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9593" y="5676341"/>
            <a:ext cx="6317430" cy="3693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对象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的具体使用案例请参见教材文件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6-5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6.4.2  out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579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 bwMode="auto">
          <a:xfrm>
            <a:off x="539552" y="1124744"/>
            <a:ext cx="8137525" cy="4884880"/>
          </a:xfrm>
          <a:prstGeom prst="rect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1560" y="125709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en-US" altLang="zh-CN" sz="1600" dirty="0" err="1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pageContext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对象是</a:t>
            </a:r>
            <a:r>
              <a:rPr lang="en-US" altLang="zh-CN" sz="1600" dirty="0" err="1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javax.servlet.jsp.PageContext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类的实例对象，它代表当前</a:t>
            </a:r>
            <a:r>
              <a:rPr lang="en-US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页面的运行环境，并提供了一系列用于获取其他隐式对象的方法。</a:t>
            </a:r>
            <a:endParaRPr lang="zh-CN" altLang="en-US" sz="1600" dirty="0">
              <a:solidFill>
                <a:srgbClr val="0066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3568" y="3849384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en-US" altLang="zh-CN" sz="1600" dirty="0" err="1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pageContext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对象不仅提供了获取隐式对象的方法，还提供了存储数据的功能。</a:t>
            </a:r>
            <a:r>
              <a:rPr lang="en-US" altLang="zh-CN" sz="1600" dirty="0" err="1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pageContext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对象存储数据是通过操作属性来实现的</a:t>
            </a:r>
            <a:r>
              <a:rPr lang="zh-CN" altLang="zh-CN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</a:t>
            </a:r>
            <a:r>
              <a:rPr lang="zh-CN" altLang="zh-CN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操作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属性的一系列</a:t>
            </a:r>
            <a:r>
              <a:rPr lang="zh-CN" altLang="zh-CN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r>
              <a:rPr lang="zh-CN" altLang="en-US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如下</a:t>
            </a:r>
            <a:r>
              <a:rPr lang="zh-CN" altLang="zh-CN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 dirty="0">
              <a:solidFill>
                <a:srgbClr val="0066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149327"/>
              </p:ext>
            </p:extLst>
          </p:nvPr>
        </p:nvGraphicFramePr>
        <p:xfrm>
          <a:off x="611560" y="1896658"/>
          <a:ext cx="7920880" cy="195272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382165"/>
                <a:gridCol w="5538715"/>
              </a:tblGrid>
              <a:tr h="31793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方法名</a:t>
                      </a:r>
                      <a:endParaRPr lang="en-US" altLang="zh-CN" sz="16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功能描述</a:t>
                      </a:r>
                      <a:endParaRPr lang="en-US" altLang="zh-CN" sz="16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2169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JspWriter getOut()</a:t>
                      </a:r>
                      <a:endParaRPr lang="zh-CN" sz="105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用于获取</a:t>
                      </a: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out</a:t>
                      </a: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隐式对象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2169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Object getPage()</a:t>
                      </a:r>
                      <a:endParaRPr lang="zh-CN" sz="105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用于获取</a:t>
                      </a: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page</a:t>
                      </a: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隐式对象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2169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ServletRequest getRequest()</a:t>
                      </a:r>
                      <a:endParaRPr lang="zh-CN" sz="105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用于获取</a:t>
                      </a: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request</a:t>
                      </a: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隐式对象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2169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ServletResponse getResponse()</a:t>
                      </a:r>
                      <a:endParaRPr lang="zh-CN" sz="105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用于获取</a:t>
                      </a:r>
                      <a:r>
                        <a:rPr lang="en-US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response</a:t>
                      </a:r>
                      <a:r>
                        <a:rPr lang="zh-CN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隐式对象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2169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HttpSession getSession()</a:t>
                      </a:r>
                      <a:endParaRPr lang="zh-CN" sz="105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用于获取</a:t>
                      </a: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session</a:t>
                      </a: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隐式对象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2169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Exception getException()</a:t>
                      </a:r>
                      <a:endParaRPr lang="zh-CN" sz="105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用于获取</a:t>
                      </a: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exception</a:t>
                      </a: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隐式对象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2169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ServletConfig getServletConfig()</a:t>
                      </a:r>
                      <a:endParaRPr lang="zh-CN" sz="105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用于获取</a:t>
                      </a: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config</a:t>
                      </a: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隐式对象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2169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ServletContext getServletContext()</a:t>
                      </a:r>
                      <a:endParaRPr lang="zh-CN" sz="105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用于获取</a:t>
                      </a:r>
                      <a:r>
                        <a:rPr lang="en-US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application</a:t>
                      </a:r>
                      <a:r>
                        <a:rPr lang="zh-CN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隐式对象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216799"/>
              </p:ext>
            </p:extLst>
          </p:nvPr>
        </p:nvGraphicFramePr>
        <p:xfrm>
          <a:off x="611560" y="4536535"/>
          <a:ext cx="7920880" cy="133065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384376"/>
                <a:gridCol w="4536504"/>
              </a:tblGrid>
              <a:tr h="31081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方法名</a:t>
                      </a:r>
                      <a:endParaRPr lang="en-US" altLang="zh-CN" sz="16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功能描述</a:t>
                      </a:r>
                      <a:endParaRPr lang="en-US" altLang="zh-CN" sz="16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1611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void setAttribute(String name,Object value,int scope)</a:t>
                      </a:r>
                      <a:endParaRPr lang="zh-CN" sz="105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用于设置</a:t>
                      </a: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pageContext</a:t>
                      </a: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对象的属性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98418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Object </a:t>
                      </a:r>
                      <a:r>
                        <a:rPr lang="en-US" sz="1050" dirty="0" err="1">
                          <a:effectLst/>
                          <a:latin typeface="Times New Roman"/>
                          <a:ea typeface="宋体"/>
                          <a:cs typeface="宋体"/>
                        </a:rPr>
                        <a:t>getAttribute</a:t>
                      </a:r>
                      <a:r>
                        <a:rPr lang="en-US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(String </a:t>
                      </a:r>
                      <a:r>
                        <a:rPr lang="en-US" sz="1050" dirty="0" err="1">
                          <a:effectLst/>
                          <a:latin typeface="Times New Roman"/>
                          <a:ea typeface="宋体"/>
                          <a:cs typeface="宋体"/>
                        </a:rPr>
                        <a:t>name,int</a:t>
                      </a:r>
                      <a:r>
                        <a:rPr lang="en-US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 scope)</a:t>
                      </a:r>
                      <a:endParaRPr lang="zh-CN" sz="1050" dirty="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用于获取</a:t>
                      </a: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pageContext</a:t>
                      </a: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对象的属性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98418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void removeAttribute(String name,int scope)</a:t>
                      </a:r>
                      <a:endParaRPr lang="zh-CN" sz="105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删除指定范围内名称为</a:t>
                      </a: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name</a:t>
                      </a: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的属性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98418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void removeAttribute(String name)</a:t>
                      </a:r>
                      <a:endParaRPr lang="zh-CN" sz="105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删除所有范围内名称为</a:t>
                      </a:r>
                      <a:r>
                        <a:rPr lang="en-US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name</a:t>
                      </a:r>
                      <a:r>
                        <a:rPr lang="zh-CN" sz="1050">
                          <a:effectLst/>
                          <a:latin typeface="Times New Roman"/>
                          <a:ea typeface="宋体"/>
                          <a:cs typeface="宋体"/>
                        </a:rPr>
                        <a:t>的属性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98418"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Object </a:t>
                      </a:r>
                      <a:r>
                        <a:rPr lang="en-US" sz="1050" dirty="0" err="1">
                          <a:effectLst/>
                          <a:latin typeface="Times New Roman"/>
                          <a:ea typeface="宋体"/>
                          <a:cs typeface="宋体"/>
                        </a:rPr>
                        <a:t>findAttribute</a:t>
                      </a:r>
                      <a:r>
                        <a:rPr lang="en-US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(String name)</a:t>
                      </a:r>
                      <a:endParaRPr lang="zh-CN" sz="1050" dirty="0">
                        <a:effectLst/>
                        <a:latin typeface="Times New Roman"/>
                        <a:ea typeface="宋体"/>
                        <a:cs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从</a:t>
                      </a:r>
                      <a:r>
                        <a:rPr lang="en-US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4</a:t>
                      </a:r>
                      <a:r>
                        <a:rPr lang="zh-CN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个域对象中查找名称为</a:t>
                      </a:r>
                      <a:r>
                        <a:rPr lang="en-US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name</a:t>
                      </a:r>
                      <a:r>
                        <a:rPr lang="zh-CN" sz="1050" dirty="0">
                          <a:effectLst/>
                          <a:latin typeface="Times New Roman"/>
                          <a:ea typeface="宋体"/>
                          <a:cs typeface="宋体"/>
                        </a:rPr>
                        <a:t>的属性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2339752" y="5099788"/>
            <a:ext cx="310517" cy="144388"/>
          </a:xfrm>
          <a:prstGeom prst="rect">
            <a:avLst/>
          </a:prstGeom>
          <a:ln w="952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>
            <a:stCxn id="18" idx="2"/>
            <a:endCxn id="20" idx="0"/>
          </p:cNvCxnSpPr>
          <p:nvPr/>
        </p:nvCxnSpPr>
        <p:spPr>
          <a:xfrm flipH="1">
            <a:off x="1783567" y="5244176"/>
            <a:ext cx="711444" cy="4054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73088" y="5649584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solidFill>
                  <a:srgbClr val="FF0000"/>
                </a:solidFill>
              </a:rPr>
              <a:t>指定属性的名称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43808" y="5073520"/>
            <a:ext cx="360040" cy="170656"/>
          </a:xfrm>
          <a:prstGeom prst="rect">
            <a:avLst/>
          </a:prstGeom>
          <a:ln w="952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>
            <a:stCxn id="21" idx="0"/>
            <a:endCxn id="24" idx="4"/>
          </p:cNvCxnSpPr>
          <p:nvPr/>
        </p:nvCxnSpPr>
        <p:spPr>
          <a:xfrm flipV="1">
            <a:off x="3023828" y="4435385"/>
            <a:ext cx="22410" cy="6381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标注 23"/>
          <p:cNvSpPr/>
          <p:nvPr/>
        </p:nvSpPr>
        <p:spPr>
          <a:xfrm>
            <a:off x="1916807" y="2985288"/>
            <a:ext cx="4599409" cy="1440160"/>
          </a:xfrm>
          <a:prstGeom prst="wedgeRectCallout">
            <a:avLst>
              <a:gd name="adj1" fmla="val -25444"/>
              <a:gd name="adj2" fmla="val 50690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1909192" y="3111445"/>
            <a:ext cx="4599409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FF0000"/>
                </a:solidFill>
              </a:rPr>
              <a:t>参数</a:t>
            </a:r>
            <a:r>
              <a:rPr lang="en-US" altLang="zh-CN" sz="1400" dirty="0">
                <a:solidFill>
                  <a:srgbClr val="FF0000"/>
                </a:solidFill>
              </a:rPr>
              <a:t>scope</a:t>
            </a:r>
            <a:r>
              <a:rPr lang="zh-CN" altLang="zh-CN" sz="1400" dirty="0">
                <a:solidFill>
                  <a:srgbClr val="FF0000"/>
                </a:solidFill>
              </a:rPr>
              <a:t>指定的是属性的作用范围</a:t>
            </a:r>
            <a:r>
              <a:rPr lang="zh-CN" altLang="zh-CN" sz="1400" dirty="0" smtClean="0">
                <a:solidFill>
                  <a:srgbClr val="FF0000"/>
                </a:solidFill>
              </a:rPr>
              <a:t>。</a:t>
            </a:r>
            <a:r>
              <a:rPr lang="zh-CN" altLang="en-US" sz="1400" dirty="0" smtClean="0">
                <a:solidFill>
                  <a:srgbClr val="FF0000"/>
                </a:solidFill>
              </a:rPr>
              <a:t>它</a:t>
            </a:r>
            <a:r>
              <a:rPr lang="zh-CN" altLang="zh-CN" sz="1400" dirty="0" smtClean="0">
                <a:solidFill>
                  <a:srgbClr val="FF0000"/>
                </a:solidFill>
              </a:rPr>
              <a:t>有</a:t>
            </a:r>
            <a:r>
              <a:rPr lang="zh-CN" altLang="zh-CN" sz="1400" dirty="0">
                <a:solidFill>
                  <a:srgbClr val="FF0000"/>
                </a:solidFill>
              </a:rPr>
              <a:t>四个</a:t>
            </a:r>
            <a:r>
              <a:rPr lang="zh-CN" altLang="zh-CN" sz="1400" dirty="0" smtClean="0">
                <a:solidFill>
                  <a:srgbClr val="FF0000"/>
                </a:solidFill>
              </a:rPr>
              <a:t>值</a:t>
            </a:r>
            <a:r>
              <a:rPr lang="zh-CN" altLang="en-US" sz="1400" dirty="0" smtClean="0">
                <a:solidFill>
                  <a:srgbClr val="FF0000"/>
                </a:solidFill>
              </a:rPr>
              <a:t>：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 err="1">
                <a:solidFill>
                  <a:srgbClr val="FF0000"/>
                </a:solidFill>
              </a:rPr>
              <a:t>pageContext.PAGE_SCOPE</a:t>
            </a:r>
            <a:r>
              <a:rPr lang="zh-CN" altLang="zh-CN" sz="1400" dirty="0">
                <a:solidFill>
                  <a:srgbClr val="FF0000"/>
                </a:solidFill>
              </a:rPr>
              <a:t>：表示页面范围</a:t>
            </a:r>
          </a:p>
          <a:p>
            <a:r>
              <a:rPr lang="en-US" altLang="zh-CN" sz="1400" dirty="0" err="1">
                <a:solidFill>
                  <a:srgbClr val="FF0000"/>
                </a:solidFill>
              </a:rPr>
              <a:t>pageContext.REQUEST_SCOPE</a:t>
            </a:r>
            <a:r>
              <a:rPr lang="zh-CN" altLang="zh-CN" sz="1400" dirty="0">
                <a:solidFill>
                  <a:srgbClr val="FF0000"/>
                </a:solidFill>
              </a:rPr>
              <a:t>：表示请求范围</a:t>
            </a:r>
          </a:p>
          <a:p>
            <a:r>
              <a:rPr lang="en-US" altLang="zh-CN" sz="1400" dirty="0" err="1">
                <a:solidFill>
                  <a:srgbClr val="FF0000"/>
                </a:solidFill>
              </a:rPr>
              <a:t>pageContext.SESSION_SCOPE</a:t>
            </a:r>
            <a:r>
              <a:rPr lang="zh-CN" altLang="zh-CN" sz="1400" dirty="0">
                <a:solidFill>
                  <a:srgbClr val="FF0000"/>
                </a:solidFill>
              </a:rPr>
              <a:t>：表示会话范围</a:t>
            </a:r>
          </a:p>
          <a:p>
            <a:r>
              <a:rPr lang="en-US" altLang="zh-CN" sz="1400" dirty="0" err="1">
                <a:solidFill>
                  <a:srgbClr val="FF0000"/>
                </a:solidFill>
              </a:rPr>
              <a:t>pageContext.APPLICATION_SCOPE</a:t>
            </a:r>
            <a:r>
              <a:rPr lang="zh-CN" altLang="zh-CN" sz="1400" dirty="0">
                <a:solidFill>
                  <a:srgbClr val="FF0000"/>
                </a:solidFill>
              </a:rPr>
              <a:t>：表示</a:t>
            </a:r>
            <a:r>
              <a:rPr lang="en-US" altLang="zh-CN" sz="1400" dirty="0">
                <a:solidFill>
                  <a:srgbClr val="FF0000"/>
                </a:solidFill>
              </a:rPr>
              <a:t>Web</a:t>
            </a:r>
            <a:r>
              <a:rPr lang="zh-CN" altLang="zh-CN" sz="1400" dirty="0">
                <a:solidFill>
                  <a:srgbClr val="FF0000"/>
                </a:solidFill>
              </a:rPr>
              <a:t>应用程序范围</a:t>
            </a:r>
          </a:p>
        </p:txBody>
      </p:sp>
      <p:sp>
        <p:nvSpPr>
          <p:cNvPr id="22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6.4.3  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pageContext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319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8" grpId="0" animBg="1"/>
      <p:bldP spid="20" grpId="0"/>
      <p:bldP spid="21" grpId="0" animBg="1"/>
      <p:bldP spid="24" grpId="0" animBg="1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3131840" y="2188096"/>
            <a:ext cx="5214615" cy="260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页面中，经常需要处理一些异常信息，这时，可以通过</a:t>
            </a:r>
            <a:r>
              <a:rPr lang="en-US" altLang="zh-CN" sz="1800" dirty="0" smtClean="0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对象来实现。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对象是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java.lang.Exception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类的实例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对象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用于封装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中抛出的异常信息。需要注意的是，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对象只有在错误处理页面才可以使用，即</a:t>
            </a:r>
            <a:r>
              <a:rPr lang="en-US" altLang="zh-CN" sz="1800" dirty="0" smtClean="0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指令中指定了属性</a:t>
            </a:r>
            <a:r>
              <a:rPr lang="en-US" altLang="zh-CN" sz="1800" dirty="0" smtClean="0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&lt;%@ page </a:t>
            </a:r>
            <a:r>
              <a:rPr lang="en-US" altLang="zh-CN" sz="1800" dirty="0" err="1" smtClean="0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isErrorPage</a:t>
            </a:r>
            <a:r>
              <a:rPr lang="en-US" altLang="zh-CN" sz="1800" dirty="0" smtClean="0">
                <a:solidFill>
                  <a:srgbClr val="009E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=”true”%&gt;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的页面。接下来，通过一个案例来学习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对象的使用，如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6-8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和文件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6-9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所示。</a:t>
            </a:r>
            <a:endParaRPr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42" y="2057549"/>
            <a:ext cx="2140129" cy="2667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6.4.4  exception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对象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942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467544" y="4005064"/>
            <a:ext cx="6768752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809708" y="183553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6.1    JSP</a:t>
            </a:r>
            <a:r>
              <a:rPr lang="zh-CN" altLang="en-US" sz="2400" dirty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概述 </a:t>
            </a:r>
          </a:p>
        </p:txBody>
      </p:sp>
      <p:sp>
        <p:nvSpPr>
          <p:cNvPr id="5" name="TextBox 10"/>
          <p:cNvSpPr txBox="1"/>
          <p:nvPr/>
        </p:nvSpPr>
        <p:spPr>
          <a:xfrm>
            <a:off x="809708" y="242088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6.2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基本语法</a:t>
            </a:r>
          </a:p>
        </p:txBody>
      </p:sp>
      <p:sp>
        <p:nvSpPr>
          <p:cNvPr id="6" name="TextBox 11"/>
          <p:cNvSpPr txBox="1"/>
          <p:nvPr/>
        </p:nvSpPr>
        <p:spPr>
          <a:xfrm>
            <a:off x="809708" y="299695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6.3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指令</a:t>
            </a:r>
          </a:p>
        </p:txBody>
      </p:sp>
      <p:sp>
        <p:nvSpPr>
          <p:cNvPr id="9" name="椭圆 8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809708" y="3573016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6.4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隐式对象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9708" y="414908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6.5    JSP</a:t>
            </a:r>
            <a:r>
              <a:rPr lang="zh-CN" altLang="en-US" sz="24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动作元素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708" y="4725144"/>
            <a:ext cx="469839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6.6    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阶段案例：传智书城</a:t>
            </a:r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页面</a:t>
            </a:r>
          </a:p>
        </p:txBody>
      </p:sp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35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30919" y="1366837"/>
            <a:ext cx="8137525" cy="4540251"/>
          </a:xfrm>
          <a:prstGeom prst="rect">
            <a:avLst/>
          </a:prstGeom>
          <a:ln w="19050">
            <a:solidFill>
              <a:srgbClr val="006BA9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" name="任意多边形 3"/>
          <p:cNvSpPr/>
          <p:nvPr/>
        </p:nvSpPr>
        <p:spPr bwMode="auto">
          <a:xfrm>
            <a:off x="6228183" y="1052736"/>
            <a:ext cx="1679693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228184" y="1109886"/>
            <a:ext cx="1701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&lt;jsp:include&gt;</a:t>
            </a:r>
            <a:endParaRPr lang="zh-CN" altLang="zh-CN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645" y="1556792"/>
            <a:ext cx="7787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页面中，为了把其他资源的输出内容插入到当前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页面的输出内容中，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技术提供了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&lt;jsp:include&gt;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动作</a:t>
            </a:r>
            <a:r>
              <a:rPr lang="zh-CN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元素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矩形 16"/>
          <p:cNvSpPr>
            <a:spLocks noChangeArrowheads="1"/>
          </p:cNvSpPr>
          <p:nvPr/>
        </p:nvSpPr>
        <p:spPr bwMode="auto">
          <a:xfrm>
            <a:off x="611560" y="2927510"/>
            <a:ext cx="8042275" cy="504056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     &lt;</a:t>
            </a:r>
            <a:r>
              <a:rPr lang="en-US" altLang="zh-CN" dirty="0" err="1" smtClean="0"/>
              <a:t>jsp:include</a:t>
            </a:r>
            <a:r>
              <a:rPr lang="en-US" altLang="zh-CN" dirty="0" smtClean="0"/>
              <a:t> </a:t>
            </a:r>
            <a:r>
              <a:rPr lang="en-US" altLang="zh-CN" dirty="0"/>
              <a:t>page="</a:t>
            </a:r>
            <a:r>
              <a:rPr lang="en-US" altLang="zh-CN" dirty="0" err="1"/>
              <a:t>relativeURL</a:t>
            </a:r>
            <a:r>
              <a:rPr lang="en-US" altLang="zh-CN" dirty="0"/>
              <a:t>" flush="</a:t>
            </a:r>
            <a:r>
              <a:rPr lang="en-US" altLang="zh-CN" dirty="0" err="1"/>
              <a:t>true|false</a:t>
            </a:r>
            <a:r>
              <a:rPr lang="en-US" altLang="zh-CN" dirty="0"/>
              <a:t>" /&gt;</a:t>
            </a:r>
            <a:endParaRPr lang="zh-CN" altLang="zh-CN" dirty="0"/>
          </a:p>
          <a:p>
            <a:pPr>
              <a:lnSpc>
                <a:spcPct val="150000"/>
              </a:lnSpc>
            </a:pPr>
            <a:endParaRPr lang="zh-CN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1115616" y="249538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/>
              <a:t>其语法格式为：</a:t>
            </a:r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051720" y="3071526"/>
            <a:ext cx="1879153" cy="306387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cxnSpLocks noChangeShapeType="1"/>
          </p:cNvCxnSpPr>
          <p:nvPr/>
        </p:nvCxnSpPr>
        <p:spPr bwMode="auto">
          <a:xfrm flipH="1">
            <a:off x="2696649" y="3377913"/>
            <a:ext cx="140250" cy="396341"/>
          </a:xfrm>
          <a:prstGeom prst="straightConnector1">
            <a:avLst/>
          </a:prstGeom>
          <a:noFill/>
          <a:ln w="28575" algn="ctr">
            <a:solidFill>
              <a:srgbClr val="0070C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圆角矩形 10"/>
          <p:cNvSpPr/>
          <p:nvPr/>
        </p:nvSpPr>
        <p:spPr>
          <a:xfrm>
            <a:off x="1691680" y="3796597"/>
            <a:ext cx="1660525" cy="715089"/>
          </a:xfrm>
          <a:prstGeom prst="roundRect">
            <a:avLst/>
          </a:prstGeom>
          <a:solidFill>
            <a:srgbClr val="0070C0"/>
          </a:solidFill>
          <a:ln>
            <a:solidFill>
              <a:srgbClr val="006B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zh-CN">
                <a:solidFill>
                  <a:schemeClr val="bg1"/>
                </a:solidFill>
              </a:rPr>
              <a:t>指定被引入资源的相对路径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3995935" y="3071526"/>
            <a:ext cx="1749349" cy="306387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>
            <a:cxnSpLocks noChangeShapeType="1"/>
          </p:cNvCxnSpPr>
          <p:nvPr/>
        </p:nvCxnSpPr>
        <p:spPr bwMode="auto">
          <a:xfrm>
            <a:off x="4681661" y="3433476"/>
            <a:ext cx="394395" cy="272678"/>
          </a:xfrm>
          <a:prstGeom prst="straightConnector1">
            <a:avLst/>
          </a:prstGeom>
          <a:noFill/>
          <a:ln w="28575" algn="ctr">
            <a:solidFill>
              <a:srgbClr val="0070C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圆角矩形 16"/>
          <p:cNvSpPr/>
          <p:nvPr/>
        </p:nvSpPr>
        <p:spPr>
          <a:xfrm>
            <a:off x="5004048" y="3656808"/>
            <a:ext cx="2163714" cy="1328023"/>
          </a:xfrm>
          <a:prstGeom prst="roundRect">
            <a:avLst/>
          </a:prstGeom>
          <a:solidFill>
            <a:srgbClr val="0070C0"/>
          </a:solidFill>
          <a:ln>
            <a:solidFill>
              <a:srgbClr val="006B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zh-CN">
                <a:solidFill>
                  <a:schemeClr val="bg1"/>
                </a:solidFill>
              </a:rPr>
              <a:t>指定是否将当前页面的输出内容刷新到</a:t>
            </a:r>
            <a:r>
              <a:rPr lang="zh-CN" altLang="zh-CN" smtClean="0">
                <a:solidFill>
                  <a:schemeClr val="bg1"/>
                </a:solidFill>
              </a:rPr>
              <a:t>客户端</a:t>
            </a:r>
            <a:r>
              <a:rPr lang="zh-CN" altLang="en-US" smtClean="0">
                <a:solidFill>
                  <a:schemeClr val="bg1"/>
                </a:solidFill>
              </a:rPr>
              <a:t>，默认为</a:t>
            </a:r>
            <a:r>
              <a:rPr lang="en-US" altLang="zh-CN" smtClean="0">
                <a:solidFill>
                  <a:schemeClr val="bg1"/>
                </a:solidFill>
              </a:rPr>
              <a:t>false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5576" y="3429000"/>
            <a:ext cx="7787345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&lt;jsp:include&gt;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包含的原理是将被包含的页面编译处理后将结果包含在页面中。当浏览器第一次请求一个使用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&lt;jsp:include&gt;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包含其他页面的页面时，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容器首先会编译被包含的页面，然后将编译处理后的返回结果包含在页面中，之后编译包含页面，最后将两个页面组合的结果回应给浏览器。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57079" y="5445224"/>
            <a:ext cx="6888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>
                <a:solidFill>
                  <a:srgbClr val="0066A1"/>
                </a:solidFill>
              </a:rPr>
              <a:t>案例：</a:t>
            </a:r>
            <a:r>
              <a:rPr lang="en-US" altLang="zh-CN" smtClean="0">
                <a:solidFill>
                  <a:srgbClr val="0066A1"/>
                </a:solidFill>
              </a:rPr>
              <a:t>&lt;jsp:include&gt;</a:t>
            </a:r>
            <a:r>
              <a:rPr lang="zh-CN" altLang="en-US" smtClean="0">
                <a:solidFill>
                  <a:srgbClr val="0066A1"/>
                </a:solidFill>
              </a:rPr>
              <a:t>动作元素的使用请参见教材文件</a:t>
            </a:r>
            <a:r>
              <a:rPr lang="en-US" altLang="zh-CN" smtClean="0">
                <a:solidFill>
                  <a:srgbClr val="0066A1"/>
                </a:solidFill>
              </a:rPr>
              <a:t>6-10</a:t>
            </a:r>
            <a:r>
              <a:rPr lang="zh-CN" altLang="en-US" smtClean="0">
                <a:solidFill>
                  <a:srgbClr val="0066A1"/>
                </a:solidFill>
              </a:rPr>
              <a:t>和文件</a:t>
            </a:r>
            <a:r>
              <a:rPr lang="en-US" altLang="zh-CN" smtClean="0">
                <a:solidFill>
                  <a:srgbClr val="0066A1"/>
                </a:solidFill>
              </a:rPr>
              <a:t>6-11</a:t>
            </a:r>
            <a:endParaRPr lang="zh-CN" altLang="en-US">
              <a:solidFill>
                <a:srgbClr val="0066A1"/>
              </a:solidFill>
            </a:endParaRPr>
          </a:p>
        </p:txBody>
      </p:sp>
      <p:sp>
        <p:nvSpPr>
          <p:cNvPr id="18" name="标题 1"/>
          <p:cNvSpPr>
            <a:spLocks noChangeArrowheads="1"/>
          </p:cNvSpPr>
          <p:nvPr/>
        </p:nvSpPr>
        <p:spPr bwMode="auto">
          <a:xfrm>
            <a:off x="1643733" y="389681"/>
            <a:ext cx="6096619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6.5.1  &lt;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jsp:include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&gt;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动作元素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8667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9" grpId="0" animBg="1"/>
      <p:bldP spid="9" grpId="1" animBg="1"/>
      <p:bldP spid="11" grpId="0" animBg="1"/>
      <p:bldP spid="11" grpId="1" animBg="1"/>
      <p:bldP spid="15" grpId="0" animBg="1"/>
      <p:bldP spid="15" grpId="1" animBg="1"/>
      <p:bldP spid="17" grpId="0" animBg="1"/>
      <p:bldP spid="17" grpId="1" animBg="1"/>
      <p:bldP spid="20" grpId="0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530919" y="1438845"/>
            <a:ext cx="8137525" cy="4468243"/>
          </a:xfrm>
          <a:prstGeom prst="rect">
            <a:avLst/>
          </a:prstGeom>
          <a:ln w="19050">
            <a:solidFill>
              <a:srgbClr val="006BA9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/>
          <p:cNvSpPr/>
          <p:nvPr/>
        </p:nvSpPr>
        <p:spPr bwMode="auto">
          <a:xfrm>
            <a:off x="6228183" y="1124744"/>
            <a:ext cx="1679693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228184" y="1181894"/>
            <a:ext cx="17687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&lt;jsp:forward&gt;</a:t>
            </a:r>
            <a:endParaRPr lang="zh-CN" altLang="zh-CN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45" y="1484784"/>
            <a:ext cx="778734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jsp:forward&gt;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动作元素将当前请求转发到其他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资源（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页面、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页面和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等），在执行请求转发之后的当前页面将不再执行，而是执行该元素指定的目标页面。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16"/>
          <p:cNvSpPr>
            <a:spLocks noChangeArrowheads="1"/>
          </p:cNvSpPr>
          <p:nvPr/>
        </p:nvSpPr>
        <p:spPr bwMode="auto">
          <a:xfrm>
            <a:off x="611560" y="3215542"/>
            <a:ext cx="8042275" cy="504056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mtClean="0"/>
              <a:t>          &lt;</a:t>
            </a:r>
            <a:r>
              <a:rPr lang="en-US" altLang="zh-CN"/>
              <a:t>jsp:forward page="relativeURL" /&gt;</a:t>
            </a:r>
            <a:endParaRPr lang="zh-CN" altLang="zh-CN"/>
          </a:p>
          <a:p>
            <a:pPr>
              <a:lnSpc>
                <a:spcPct val="150000"/>
              </a:lnSpc>
            </a:pPr>
            <a:endParaRPr lang="zh-CN" altLang="zh-CN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277163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/>
              <a:t>其语法格式为：</a:t>
            </a:r>
            <a:endParaRPr lang="zh-CN" altLang="en-US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2428076" y="3359558"/>
            <a:ext cx="1855892" cy="306387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cxnSpLocks noChangeShapeType="1"/>
            <a:stCxn id="11" idx="2"/>
          </p:cNvCxnSpPr>
          <p:nvPr/>
        </p:nvCxnSpPr>
        <p:spPr bwMode="auto">
          <a:xfrm>
            <a:off x="3356022" y="3665945"/>
            <a:ext cx="0" cy="789602"/>
          </a:xfrm>
          <a:prstGeom prst="straightConnector1">
            <a:avLst/>
          </a:prstGeom>
          <a:noFill/>
          <a:ln w="28575" algn="ctr">
            <a:solidFill>
              <a:srgbClr val="0070C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圆角矩形 15"/>
          <p:cNvSpPr/>
          <p:nvPr/>
        </p:nvSpPr>
        <p:spPr>
          <a:xfrm>
            <a:off x="2346173" y="4455547"/>
            <a:ext cx="2081811" cy="715089"/>
          </a:xfrm>
          <a:prstGeom prst="roundRect">
            <a:avLst/>
          </a:prstGeom>
          <a:solidFill>
            <a:srgbClr val="0070C0"/>
          </a:solidFill>
          <a:ln>
            <a:solidFill>
              <a:srgbClr val="006B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zh-CN" smtClean="0">
                <a:solidFill>
                  <a:schemeClr val="bg1"/>
                </a:solidFill>
              </a:rPr>
              <a:t>指定</a:t>
            </a:r>
            <a:r>
              <a:rPr lang="zh-CN" altLang="en-US" smtClean="0">
                <a:solidFill>
                  <a:schemeClr val="bg1"/>
                </a:solidFill>
              </a:rPr>
              <a:t>请求转发到的资源的相对路径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4606" y="5301208"/>
            <a:ext cx="717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>
                <a:solidFill>
                  <a:srgbClr val="0066A1"/>
                </a:solidFill>
              </a:rPr>
              <a:t>案例：</a:t>
            </a:r>
            <a:r>
              <a:rPr lang="en-US" altLang="zh-CN" smtClean="0">
                <a:solidFill>
                  <a:srgbClr val="0066A1"/>
                </a:solidFill>
              </a:rPr>
              <a:t>&lt;jsp:forward&gt;</a:t>
            </a:r>
            <a:r>
              <a:rPr lang="zh-CN" altLang="en-US" smtClean="0">
                <a:solidFill>
                  <a:srgbClr val="0066A1"/>
                </a:solidFill>
              </a:rPr>
              <a:t>动作元素的使用请参见教材文件</a:t>
            </a:r>
            <a:r>
              <a:rPr lang="en-US" altLang="zh-CN" smtClean="0">
                <a:solidFill>
                  <a:srgbClr val="0066A1"/>
                </a:solidFill>
              </a:rPr>
              <a:t>6-12</a:t>
            </a:r>
            <a:r>
              <a:rPr lang="zh-CN" altLang="en-US" smtClean="0">
                <a:solidFill>
                  <a:srgbClr val="0066A1"/>
                </a:solidFill>
              </a:rPr>
              <a:t>和文件</a:t>
            </a:r>
            <a:r>
              <a:rPr lang="en-US" altLang="zh-CN" smtClean="0">
                <a:solidFill>
                  <a:srgbClr val="0066A1"/>
                </a:solidFill>
              </a:rPr>
              <a:t>6-13</a:t>
            </a:r>
            <a:r>
              <a:rPr lang="zh-CN" altLang="en-US" smtClean="0">
                <a:solidFill>
                  <a:srgbClr val="0066A1"/>
                </a:solidFill>
              </a:rPr>
              <a:t>。</a:t>
            </a:r>
            <a:endParaRPr lang="zh-CN" altLang="en-US">
              <a:solidFill>
                <a:srgbClr val="0066A1"/>
              </a:solidFill>
            </a:endParaRPr>
          </a:p>
        </p:txBody>
      </p:sp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1643733" y="389681"/>
            <a:ext cx="6096619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6.5.2  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&lt;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jsp:forward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&gt;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动作元素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935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1" grpId="0" animBg="1"/>
      <p:bldP spid="16" grpId="0" animBg="1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467544" y="4581128"/>
            <a:ext cx="6768752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809708" y="183553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6.1    JSP</a:t>
            </a:r>
            <a:r>
              <a:rPr lang="zh-CN" altLang="en-US" sz="2400" dirty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概述 </a:t>
            </a:r>
          </a:p>
        </p:txBody>
      </p:sp>
      <p:sp>
        <p:nvSpPr>
          <p:cNvPr id="5" name="TextBox 10"/>
          <p:cNvSpPr txBox="1"/>
          <p:nvPr/>
        </p:nvSpPr>
        <p:spPr>
          <a:xfrm>
            <a:off x="809708" y="242088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6.2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基本语法</a:t>
            </a:r>
          </a:p>
        </p:txBody>
      </p:sp>
      <p:sp>
        <p:nvSpPr>
          <p:cNvPr id="6" name="TextBox 11"/>
          <p:cNvSpPr txBox="1"/>
          <p:nvPr/>
        </p:nvSpPr>
        <p:spPr>
          <a:xfrm>
            <a:off x="809708" y="299695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6.3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指令</a:t>
            </a:r>
          </a:p>
        </p:txBody>
      </p:sp>
      <p:sp>
        <p:nvSpPr>
          <p:cNvPr id="9" name="椭圆 8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809708" y="3573016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6.4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隐式对象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9708" y="414908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6.5    JSP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动作元素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708" y="4725144"/>
            <a:ext cx="469839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6.6    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阶段案例</a:t>
            </a:r>
            <a:r>
              <a:rPr lang="zh-CN" altLang="en-US" sz="24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：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传智书城</a:t>
            </a:r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JSP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页面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646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213" y="1570869"/>
            <a:ext cx="6321115" cy="4276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>
            <a:spLocks noChangeArrowheads="1"/>
          </p:cNvSpPr>
          <p:nvPr/>
        </p:nvSpPr>
        <p:spPr bwMode="auto">
          <a:xfrm>
            <a:off x="251520" y="923156"/>
            <a:ext cx="62646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 rot="574600">
            <a:off x="1327821" y="3950469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340124" y="3933056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宋体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 pitchFamily="34" charset="0"/>
              <a:ea typeface="宋体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任务目标：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411958" y="4691514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案例代码（详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见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教材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【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任务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6-1】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中的实现步骤）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宋体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16758" y="3936182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0" name="直接连接符 9"/>
          <p:cNvCxnSpPr/>
          <p:nvPr/>
        </p:nvCxnSpPr>
        <p:spPr>
          <a:xfrm>
            <a:off x="1474664" y="4306069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1" name="椭圆 10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988345" y="3125084"/>
            <a:ext cx="3671887" cy="11680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首页设置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文件移植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修改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JSP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页面中的地址和链接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抽取页面代码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90652" y="2470759"/>
            <a:ext cx="3198311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使用所学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JSP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技术，</a:t>
            </a:r>
            <a:r>
              <a:rPr lang="zh-CN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实现</a:t>
            </a:r>
            <a:r>
              <a:rPr lang="zh-CN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传智书城首页的展示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6-1】 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实现首页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468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11" grpId="0" animBg="1"/>
      <p:bldP spid="12" grpId="0"/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579" y="1628800"/>
            <a:ext cx="6131278" cy="416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62646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 rot="574600">
            <a:off x="1327821" y="3950469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340124" y="3933056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宋体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 pitchFamily="34" charset="0"/>
              <a:ea typeface="宋体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任务目标：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411958" y="4691514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lvl="0" algn="ctr"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案例代码（详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见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教材</a:t>
            </a:r>
            <a:r>
              <a:rPr lang="en-US" altLang="zh-CN" b="1" kern="0">
                <a:solidFill>
                  <a:sysClr val="window" lastClr="FFFFFF"/>
                </a:solidFill>
                <a:latin typeface="Arial"/>
              </a:rPr>
              <a:t>【</a:t>
            </a: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任务</a:t>
            </a:r>
            <a:r>
              <a:rPr lang="en-US" altLang="zh-CN" b="1" kern="0">
                <a:solidFill>
                  <a:sysClr val="window" lastClr="FFFFFF"/>
                </a:solidFill>
                <a:latin typeface="Arial"/>
              </a:rPr>
              <a:t>6-1】</a:t>
            </a:r>
            <a:r>
              <a:rPr lang="zh-CN" altLang="en-US" b="1" kern="0">
                <a:solidFill>
                  <a:sysClr val="window" lastClr="FFFFFF"/>
                </a:solidFill>
                <a:latin typeface="Arial"/>
              </a:rPr>
              <a:t>中的实现步骤）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宋体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16758" y="3936182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0" name="直接连接符 9"/>
          <p:cNvCxnSpPr/>
          <p:nvPr/>
        </p:nvCxnSpPr>
        <p:spPr>
          <a:xfrm>
            <a:off x="1474664" y="4306069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1" name="椭圆 10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988345" y="3573016"/>
            <a:ext cx="3671887" cy="61093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修改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注册页面，引用公共页面代码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运行项目，查看结果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90652" y="2470759"/>
            <a:ext cx="1723549" cy="308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实现传智书城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注册页面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标题 1"/>
          <p:cNvSpPr>
            <a:spLocks noChangeArrowheads="1"/>
          </p:cNvSpPr>
          <p:nvPr/>
        </p:nvSpPr>
        <p:spPr bwMode="auto">
          <a:xfrm>
            <a:off x="1643733" y="389681"/>
            <a:ext cx="5808587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6-2】 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实现注册页面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054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11" grpId="0" animBg="1"/>
      <p:bldP spid="12" grpId="0"/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2676525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2768600" y="1700808"/>
            <a:ext cx="5187776" cy="4045868"/>
            <a:chOff x="2488655" y="2668586"/>
            <a:chExt cx="5090331" cy="4160182"/>
          </a:xfrm>
        </p:grpSpPr>
        <p:sp>
          <p:nvSpPr>
            <p:cNvPr id="4" name="圆角矩形 1"/>
            <p:cNvSpPr>
              <a:spLocks noChangeArrowheads="1"/>
            </p:cNvSpPr>
            <p:nvPr/>
          </p:nvSpPr>
          <p:spPr bwMode="auto">
            <a:xfrm>
              <a:off x="2488655" y="2668586"/>
              <a:ext cx="5090331" cy="4160182"/>
            </a:xfrm>
            <a:prstGeom prst="roundRect">
              <a:avLst>
                <a:gd name="adj" fmla="val 16667"/>
              </a:avLst>
            </a:prstGeom>
            <a:noFill/>
            <a:ln w="31750">
              <a:solidFill>
                <a:srgbClr val="006BA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 2"/>
            <p:cNvSpPr>
              <a:spLocks noChangeArrowheads="1"/>
            </p:cNvSpPr>
            <p:nvPr/>
          </p:nvSpPr>
          <p:spPr bwMode="auto">
            <a:xfrm>
              <a:off x="2694721" y="2759239"/>
              <a:ext cx="4805708" cy="3625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indent="457200"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本章主要讲解了</a:t>
              </a:r>
              <a:r>
                <a:rPr lang="en-US" altLang="zh-CN" sz="16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JSP</a:t>
              </a:r>
              <a:r>
                <a:rPr lang="zh-CN" altLang="en-US" sz="16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的语法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lang="en-US" altLang="zh-CN" sz="16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JSP</a:t>
              </a:r>
              <a:r>
                <a:rPr lang="zh-CN" altLang="en-US" sz="16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指令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lang="en-US" altLang="zh-CN" sz="16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JSP</a:t>
              </a:r>
              <a:r>
                <a:rPr lang="zh-CN" altLang="en-US" sz="16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隐式对象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sz="16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JSP</a:t>
              </a:r>
              <a:r>
                <a:rPr lang="zh-CN" altLang="en-US" sz="16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动作元素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。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indent="457200"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通过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本章的学习，读者可以了解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JSP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</a:t>
              </a:r>
              <a:r>
                <a:rPr lang="zh-CN" altLang="en-US" sz="16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由来以及运行原理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，掌握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JSP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</a:t>
              </a:r>
              <a:r>
                <a:rPr lang="zh-CN" altLang="en-US" sz="16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基本语法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，能够熟练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JSP</a:t>
              </a:r>
              <a:r>
                <a:rPr lang="zh-CN" altLang="en-US" sz="16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常用指令及隐式对象的使用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，并掌握常用</a:t>
              </a:r>
              <a:r>
                <a:rPr lang="zh-CN" altLang="en-US" sz="16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动作元素的使用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。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JSP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是一种简化了的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Servlet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，最终也会编译成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Servlet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类。但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JSP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文件在形式上与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HTML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文件相似，可以直观表单页面的内容和布局，因此，在动态网页开发中，学会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JSP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开发相当重要，读者应该熟练掌握本章内容。</a:t>
              </a:r>
              <a:endParaRPr lang="en-US" altLang="zh-CN" dirty="0">
                <a:latin typeface="+mn-lt"/>
                <a:ea typeface="微软雅黑" pitchFamily="34" charset="-122"/>
              </a:endParaRPr>
            </a:p>
          </p:txBody>
        </p:sp>
      </p:grpSp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1643733" y="389681"/>
            <a:ext cx="5808587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本章小</a:t>
            </a:r>
            <a:r>
              <a:rPr lang="zh-CN" altLang="en-US" sz="32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结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45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 bwMode="auto">
          <a:xfrm>
            <a:off x="481013" y="1300163"/>
            <a:ext cx="7975600" cy="472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本章作业 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400">
                <a:solidFill>
                  <a:prstClr val="black"/>
                </a:solidFill>
              </a:rPr>
              <a:t>请简述</a:t>
            </a:r>
            <a:r>
              <a:rPr lang="en-US" altLang="zh-CN" sz="2400">
                <a:solidFill>
                  <a:prstClr val="black"/>
                </a:solidFill>
              </a:rPr>
              <a:t>JSP</a:t>
            </a:r>
            <a:r>
              <a:rPr lang="zh-CN" altLang="en-US" sz="2400">
                <a:solidFill>
                  <a:prstClr val="black"/>
                </a:solidFill>
              </a:rPr>
              <a:t>的运行</a:t>
            </a:r>
            <a:r>
              <a:rPr lang="zh-CN" altLang="en-US" sz="2400" smtClean="0">
                <a:solidFill>
                  <a:prstClr val="black"/>
                </a:solidFill>
              </a:rPr>
              <a:t>原理。</a:t>
            </a:r>
            <a:endParaRPr lang="zh-CN" altLang="en-US" sz="240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>
                <a:solidFill>
                  <a:prstClr val="black"/>
                </a:solidFill>
              </a:rPr>
              <a:t>请简述</a:t>
            </a:r>
            <a:r>
              <a:rPr lang="en-US" altLang="zh-CN" sz="2400">
                <a:solidFill>
                  <a:prstClr val="black"/>
                </a:solidFill>
              </a:rPr>
              <a:t>JSP</a:t>
            </a:r>
            <a:r>
              <a:rPr lang="zh-CN" altLang="en-US" sz="2400">
                <a:solidFill>
                  <a:prstClr val="black"/>
                </a:solidFill>
              </a:rPr>
              <a:t>中的</a:t>
            </a:r>
            <a:r>
              <a:rPr lang="en-US" altLang="zh-CN" sz="2400">
                <a:solidFill>
                  <a:prstClr val="black"/>
                </a:solidFill>
              </a:rPr>
              <a:t>9</a:t>
            </a:r>
            <a:r>
              <a:rPr lang="zh-CN" altLang="en-US" sz="2400">
                <a:solidFill>
                  <a:prstClr val="black"/>
                </a:solidFill>
              </a:rPr>
              <a:t>个隐式对象</a:t>
            </a:r>
            <a:r>
              <a:rPr lang="zh-CN" altLang="en-US" sz="2400" smtClean="0">
                <a:solidFill>
                  <a:prstClr val="black"/>
                </a:solidFill>
              </a:rPr>
              <a:t>。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marL="571500" lvl="1" indent="-57150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4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预习作业</a:t>
            </a:r>
            <a:endParaRPr lang="en-US" altLang="zh-CN" sz="2400" b="1" smtClean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2400" smtClean="0">
                <a:solidFill>
                  <a:prstClr val="black"/>
                </a:solidFill>
              </a:rPr>
              <a:t>JavaBean</a:t>
            </a:r>
            <a:r>
              <a:rPr lang="zh-CN" altLang="en-US" sz="2400" smtClean="0">
                <a:solidFill>
                  <a:prstClr val="black"/>
                </a:solidFill>
              </a:rPr>
              <a:t>的概念和作用。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2400">
                <a:solidFill>
                  <a:prstClr val="black"/>
                </a:solidFill>
              </a:rPr>
              <a:t>EL</a:t>
            </a:r>
            <a:r>
              <a:rPr lang="zh-CN" altLang="en-US" sz="2400">
                <a:solidFill>
                  <a:prstClr val="black"/>
                </a:solidFill>
              </a:rPr>
              <a:t>表达式和</a:t>
            </a:r>
            <a:r>
              <a:rPr lang="en-US" altLang="zh-CN" sz="2400">
                <a:solidFill>
                  <a:prstClr val="black"/>
                </a:solidFill>
              </a:rPr>
              <a:t>JSTL</a:t>
            </a:r>
            <a:r>
              <a:rPr lang="zh-CN" altLang="en-US" sz="2400">
                <a:solidFill>
                  <a:prstClr val="black"/>
                </a:solidFill>
              </a:rPr>
              <a:t>的概念和</a:t>
            </a:r>
            <a:r>
              <a:rPr lang="zh-CN" altLang="en-US" sz="2400" smtClean="0">
                <a:solidFill>
                  <a:prstClr val="black"/>
                </a:solidFill>
              </a:rPr>
              <a:t>作用。</a:t>
            </a:r>
            <a:endParaRPr lang="zh-CN" altLang="en-US" sz="2400">
              <a:solidFill>
                <a:prstClr val="black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043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33080463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F1E913B1-7B8D-420C-BEE0-6DA741472FF2"/>
  <p:tag name="ISPRING_SCORM_RATE_SLIDES" val="1"/>
  <p:tag name="ISPRING_SCORM_RATE_QUIZZES" val="0"/>
  <p:tag name="ISPRING_SCORM_PASSING_SCORE" val="100.0000000000"/>
  <p:tag name="ISPRINGONLINEFOLDERID" val="0"/>
  <p:tag name="ISPRINGONLINEFOLDERPATH" val="Content List"/>
  <p:tag name="ISPRINGCLOUDFOLDERID" val="0"/>
  <p:tag name="ISPRINGCLOUDFOLDERPATH" val="Content List"/>
  <p:tag name="ISPRING_PLAYERS_CUSTOMIZATION" val="UEsDBBQAAgAIAMWLWEkYJkPyLgQAAH8OAAAdAAAAdW5pdmVyc2FsL2NvbW1vbl9tZXNzYWdlcy5sbmetl19v21QUwN8n7TtcWRqCB7INadMk0kw38W1izbEz+6Z/QMi6je8ya45vsZ2w8jQQTBQJbdIGGmNQFZUWiRHQJNBYYZ+mcbonvgLHdrIlGRC73YOlXCvnd/4fn1u8eL3joh73A0d4C9LZwhkJca8lbMdrL0hNuvjmBQkFIfNs5gqPL0iekNDF0skTRZd57S5rc/h98gRCxQ4PAjgGpfj04owce0FqlK2KXm9gbdVS9apulZWqVKqIzjrzNpAq2uL1t85fuH723Pk3iqdHclkwZh2r6jQIJaRzZzKANGroqgU0oloaWaFS6bV2+Pbsk4+jN6mqaEQqDXb2hk8eHe7dHHzzNB+iYZAlMMUF9TPPXE7TMIhGLVNVZGIppqXpNAmYSiiRpVJ075fB7d3h/t5w/+eDx58fPL4RPdwe3v8k+u3W4d5nh/1fB399+fefW/PUyAZeVrSqRXVdNS2iyeM3Umm4fyf6dmt4d3/48G5OjIFNYoCNd3affb1zBFkrKYVUPNq8ET3YzAepKdWaCg+NrXj2072DJ/18gAbRIADz/a4T08RVYpX1FUgQVMrt3Twi+iXQst0f9O/nkVolZpL/eTIaXlKqmCq6FtePQUxqKJWkeFZFF7WYh4TnbiDWaoEcWvd5zxHdAN70HP4Bt1HgOjYP8mkxyeUmlK2C1VTLVdbjKBQJcgREjofCqxy1nR4HE3yb+/N0QBtViByn53JTecdaxIpKZAvyJevLFk3aPVbGfI48ESLmuiJ2APQyu8e8FkdrvMW6AUcb8DfbsZO/rTNwO7bk/a7zIWJhah86NWo5TSYrpwrHM02hKsyPZeZ7MIJzoqYa/mVnO90APA1D3lkP53kxEYnCK7HiuH41sGn+p1NZ8nJMj2b053XHhBInBnz5oOXLjsguQepQH1KJdJjjZpdStEVQ1PB5wL2Q+0jxruTQqekjgCbQURlLEPkpE5YgIznkl0nZVGgcY74WOCGfJ5kkKs33v9dIC9YEl4f8RZ2s8SsC+t/lrAdJhPdOkBZO4QjKchXEeLLGI3ByTo8oGhjUZiGsZAhMcp0O+G9nYDbrZBzBdLxOReIVff//T09qfvTR94OdL1LsPJpJsFGpWRWsVQiU+eDWV9HvWYWgTGNjVGpaKi7H4tGjbfjyRx//GG39EG0+BecGNz8d9P/ICEw3MJksYoCOo5aQCoVCRsasRakhsBh99yAXATownjvkOeldTYQ8eG8ehOLytFxyyCI1Wl7HcnlW2CTxo/BhSnGlVofagJ3D4IHo+q35O8EkoY6NSzABkr1KKtWZfw3GBxXCzUVJ/I5HWJhP+5F2+EnA8aZw7DVVGhaW5eSWA/cb12ldS79eNmLJHIuvOy5cd7LCKjWswYiZ4XHbCXMCk6k+bnfov/Q8rrR4aXtpyD8/BclVsXh64ub4D1BLAwQUAAIACADFi1hJCswVnxYEAAALEAAAJwAAAHVuaXZlcnNhbC9mbGFzaF9wdWJsaXNoaW5nX3NldHRpbmdzLnhtbNVXUW8bRRB+969YHSpv9SVtQtJwdhUltmrhOKE+RCuEovXdxLdkb/e43bPrPhVUKoqEqISQUKiogkrCAwRUCakQ6I9BtZ03/gJzPseJY6ecVQVSWSfrZr/5dmZ29ttb6+otn5MGhIpJkTOms1MGAeFIl4l6znjHLl6cN4jSVLiUSwE5Q0iDXM1nrCCqcaa8KmiNUEWQRqiFQOcMT+tgwTSbzWaWqSCMRyWPNPKrrCN9MwhBgdAQmgGnLfzTrQCUkc9kCLES04p0Iw6EuRiCYHF0lBc5VZ5hJrAadTbroYyEuyS5DElYr+WM1+YX498hJqFaZj6IODmVR2Ns1gvUdVkcD+VVdhuIB6zuYeBzMwZpMld7OePy1KWYBuHmKE2PPEmCxjRLErMRus/vg6Yu1TR5TSbUcEurQ0NicluC+syxcYTEBcgZy/Z6tVxaLqxXVu1Cdf2avVJOYpjAyS7csCdwskt2uTAJPi39tZtrhevlUuWtdXt1tWyX1o68sKJDBbHM4YpZWFkZhQ4MCmZpL/JrgjKO3XaijAo09iunYR1sWWS4ihuUKzDIBwHU344oZ7qFbT2Fbb0JECyqABx9PV62nKHDCIwjuoQQA8O1HPTE7JVBT8zND6VuJrMfpTU2SotqTR0PmwdtvdAs87jpELYhxVBq8TupSe4OEgK/Bm6F+nBsT1Q3mSgictogG7gIHFNdDBnlBmEaU3cGziqqKc10bxcWjyMJcuFuB7JSHSmF49FQDVV8UPW48Z38exWpQb2flCIxnQbtfP1z+8FOd3+3u//T86efPX96p/PjdnfrbufXLw52Pz3Y+6X951d///EoDdVNGRE/UpqgmAQcNBDtAfkwYrdJDTZkCIQDbaDsoJ0pojhzITsRcUCVOiKlOuEgF5JNUKosF25cIFoS6jaocCYkx9UHP9BnwU8xdyFxCs5lE9xjFFgZh0YKSAthLnN7sDRpZv+HxXWoIFLwFqEOqoAiqLUNJiOFlgaDOLFeoCotn0cbENcidu67EiZ6mddxI+FkoQthGrap6UuXZ2bfmJu/spA1/7qzc/GFTn1lXOM0ni2RxqVTpTed1wkB/henF8jwiG9Rhn7cm+7IpOOPlr4EjoqEZcbiNV7LepJ7HqWs8+j7zv1n3f0vO98+TNXyT7Y7D+93Pv6h77h1t33vk/beb2l82493u78/Odi91/7mWRp8r/5pgK9z/ebJJ5VfHbEnnpT7PlW+D3bSwLrbe+29rVTzfvRd+/Hnibqkwb9LQ4HnwSsBreDRVe99VhI8vDjzGW7JV0KbTpOJl5e1/0SaXuozK9G1s5SmbDZ7Zl1w7qX/LMt7niqWvA0uRkM3Icsce+eMR3wmmI91jD9tBhfV/OzMFN6txg5lMsg2fIHPZ/4BUEsDBBQAAgAIAMWLWEkE5wPRtgIAAFMKAAAhAAAAdW5pdmVyc2FsL2ZsYXNoX3NraW5fc2V0dGluZ3MueG1slVZtT9swEP6+X1F13wl7LZNMJSidhMQGGojvTnJNrDp2ZDtl/ffzK7HbpM16Qqrvnsd3vreC5Jaw5YfZDBWccvEMShFWSaMJuhkpr+d5pxRnFwVnCpi6YFw0mM6XH3/aD8os8hyL70BM5WxwAb2bhf1MoXgf3xZGxggFb1rM9g+84hc5LraV4B0rz4ZW71sQlLCtRl7+WKzWow4okepeQZPEtL4yMo3SCpASTEjf10bOsijOgQZPl/YzkdO7Ov36A9qOSKIs7eaTkTFaiytIk3x1Y2Qcz/TtaVUWRk4TFPxVGvrls5FRKMV7EOnld1+NjDJ427X/0yOt4JVJaMo5XcR3DuW41ONnoro0cpZgHmQcna2CT499610E8l/juUdmXAWnTyavBwvBFD2nsFSiA5SFk7PJmr89dkrPByw3mEoNiFU96EkH/YQ7Ga5JdT3uD7wRVkYgr+gRr5x2DaxcvLHT1NATVqtbuyti7LsuilDAziujEHtlj/yt83qEjJQ98pmSEh4Z3R/BDy2OE2p8i301T6dfW4FhfQwJC6dgNZ4ezOTKyLVXBEzDS1hKE84LacCUDWVW50LKjmJCDO9IhRXh7JfB5Xv7GImyA4NvteHGQoooCkP9ZmPUWzqulz2n7eitaT+6X4X+ce48U3qJX8+xUrioG/2rJOczz9NTohMzz4YZZk1qOIh7tuERx/oeIzVYbEG8cE6numFcgZx6PXezNQZHWZQDlA1nGflLhtLPuiYHsdZVIxDaJtU5XE2qmuo/9UrgDcqUMGJ0TFXr6xgm710ZKXwLABZFHXrWHZyl6agiFHZAvTVS2AePvQxJ3aNj7XajHmCj4obzmkkd6RdF3ykxLjUMEF51XMMMZzm/hBXOpX1ZMvdhB/eDn2zlsMtM68XencK3UnKzth+nUCvNP5P/AFBLAwQUAAIACADFi1hJagDFHuoDAAAcDwAAJgAAAHVuaXZlcnNhbC9odG1sX3B1Ymxpc2hpbmdfc2V0dGluZ3MueG1s1Vfvb9tEGP6ev+JkNL7NbveDdsXJVLWpGpGlZTViE0LVxXexj53vjO+cLPs00JgYEmISQkJlYioaLR+goElIg8L+GLQk/ca/wHtxmi5NWxyxH0yRFfn1+z73Ps+9fmy7F69HHDVpopgURWvanrIQFb4kTARF6x1v6fSshZTGgmAuBS1aQlroYqngxmmdMxWuUa0hVSGAEWou1kUr1Dqec5xWq2UzFSfmquSpBnxl+zJy4oQqKjRNnJjjNvzpdkyVVSoUEHKz0CVJUk4RI9CCYKY7zJd1xC0ny6pj/1qQyFSQBcllgpKgXrRem503v/2cDGmRRVQYbqoEQRPWc5gQZtrBfI3doCikLAih75lzFmoxosOidXbqjIGBdGccpg+eccAGZkECGaEH+BHVmGCNs9NsQU2va7UfyEKkLXDEfA+uIMO/aC1662vVymJ5vbbildfWl71L1ayHCYq88hVvgiKv4lXLk+TnhV++ulq+XK3U3lr3VlaqXmX1oAoUHRHEdUYVc0FZmSY+HQrm6jCN6gIzDsN2SEZFNYwrx0lAPbnEYBcbmCtqoQ9iGrydYs50G6Z6Cqb6GqXxvIqpry+bbStaOkmpdQCXAUJjsJfDmTh/YTgTM7Mj1J1s9QNaR3bpYq2xH8LwQKzfmus8HdpPa0gxQs2co7rkZEioASpz4DKfMMwtxDRw84dXtVFALzEO+pvaabsh9Bg5P8SJGtFwqKMZZb/0Xk1qqt7PyGWh41K7X//cubvV293u7f705NFnTx7d7P642du41f31i73tT/d2fun8+dXff9zPA3VVpihKlUbgDjGnmiIdUvRhym6gOm3IhCJOcRN8BOJMIcUZofZEwDFW6gAU6wwDncrGulJbLF85hbREmDSx8CcEh/2kUayfBz4G7kLCEpzLFiVPQYAyPk4VRW1II4z00/LQtF/C5vpYICl4G2Ef7muFwD2bTKYKIk1GDbF+oyovXoib1GhhigeliIk+8wCeFrBYQmiSB21q+szZc+ffmJm9MGc7f93cOn1i0cDrVjk2q2Vmt3CsmearOmSp/1J0grGO1S7JJDKzScYWPfphMTC1cZNwHWMpR7tT30RfjDl173/fvfO4t/tl99t7uYb44Wb33p3uxz8MCjdudW5/0tn5LU9t58F27/eHe9u3O988zpPfVzRP4utcv3n4yFUXQO6hI+ednIvv3a08ab3Nnc7ORq51P/qu8+DzzC/y5L+LEwEO/0qk1uBhFPRf/RA8jjiLGNxkr4TbHHfj/3ejeiFmc/KrUGZFz9RsbNt+bvv68u35mQr2f9IgOxt+YIx8UbjOkd9uBYiPftGWCv8AUEsDBBQAAgAIAMWLWEkP5FkgmQEAAB0GAAAfAAAAdW5pdmVyc2FsL2h0bWxfc2tpbl9zZXR0aW5ncy5qc42UTW/CMAyG7/wKlF0nxD677YYGkyZxmDRu0w5pMaUiTaIkdDDEf18dvprWHcSX5u3T17ErZ9PploslrPvS3fhnv/8I914D1JxZwnWoixY9R51ZkU1hkuUgMgmshhSHT4/y9kRQxkx603j9iba24scUvplxYau4JiwMoVlCKwjth0qyosTfoLR9WbuSKn2Ol84p2UuUdCBdTyqTc8+wqze/qhXWYFWAOYPOeAKBaeRXG3lyfIgwqlyics3leqxS1Yt5skiNWsppW/75WoMp//hiB/Sfo9dRYCcy694d5PXEoyeMdlIbsBb2eR9HGCQseAyi4tv36x80MG4WVKOLzGbuQA9uMKq05ik0uvQ0wAgxWXo1uhlhNDkHK7cj7m4xAkLwNZiG1fAeIwCVXuoLfqA2KsWONNBmz4+oUHyayXSfuo9BcnhYtG3r3qlQf/whC0ZI1UZoToxp3nZzXDD2jhxcW8s6pmZeUKKkREUk1hRYkKdx9WsE919dxp3jyTwvb4fyaizbwM0CzEQpUR7/+9xBi6O4y9XZ/gFQSwMEFAACAAgAxYtYSR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MWLWEl0Pke4XQAAAGIAAAAcAAAAdW5pdmVyc2FsL2xvY2FsX3NldHRpbmdzLnhtbBXKOw5AQBAA0N4pJtP7dQpLp9TgABMmIpmdEbvxuT26V7y6vb3AyUfYTB2WWYHAOtuy6epwGru0QgiRdCExZYdqCG2T1GIzycAxfjHALvTwMbL/ELkn/0++MG+SF1BLAwQUAAIACAB2uMNEzoIJN+wCAACICAAAFAAAAHVuaXZlcnNhbC9wbGF5ZXIueG1srVVNb9swDD2nwP6DoXutpF3XNJBbdAWKHdahQNZtt0C1GVuLbXmSXDf99aP8bc/pVmAHAzbF90jxkTS7ek5i5wmUFjL1yMKdEwdSXwYiDT3y8PX2eEmuLt8dsSzme1COCDySp8ICeEycALSvRGYQfM9N5JGewUVm4mRKSCXMHrnPkLuLtCTvjmbokmqPRMZkK0qLonCFRkQaahnnlkS7vkxopkBDakDRKg3iNNiV+Tsan0Sm1Owz0D1kZt4euCZpOZ61GJAUp65UIT2Zzxf0x93ntR9Bwo9Fqg1PfSAOVnJWlvKR+7s7GeQxaGubsSrJNRhjkyhtM2ZWYrFMHa18j1QOmwS05iFoN05DQissnQCzbcx1VPPoAa3l1TtR85Z+G/u9adxK5WjnnOWPsdARHvUhnXUSyOgwKkvK65Yd9NB00K1lIo6CX7lQEJSf39oWmS9IFbDtuDJPVxc+HuDbLfeNVPsbhGEX1Qq6rWhuJZpbgloOt42+7ihIc9stcJMraEo1Y08iAPmFK8VtW1walQOjI2ONpUMwo9WVa5E6QVhkkvjsH7SxfiNpfurXlCkB/0OYT0jU1kSkATzfCvQxkGBNDWCxrc01WezamF1OOn9Men09MFU51qLgRRzDVQg4hgE3nHZ2eggKimt08XM1wvYODoIjEUYxPmaSYXx6kCbhajfJ0Ds4CI6lv5uAtua2jHRcx1EztR3E6MQ6YX6ujUzES9megz1jVmUfvjZyzdF1JtqD8/kfoziI0QzmlkysLvvW21fN4b2dU6M7n01WWQbdivMAJs8qr2YW8mzkE8CW57G56efU7MMedJTz1HRMc33HfpfFWryAU4jA/ukWp7YmEdie8ciH5WmPAfXE7TIIX5qmIjJaS1KpeUg5hrV5ElBUmGpWPqLqoZJ5Goy0cbPu56Bj3FXXCrgTwxYzXZxg88nMI+/xpb7LxdlFd5XzxUWDLfO6rwJXubxhVdcJd51B635tL8LqmcfX31BLAwQUAAIACADFi1hJcYP8DhoIAADbHQAAKQAAAHVuaXZlcnNhbC9za2luX2N1c3RvbWl6YXRpb25fc2V0dGluZ3MueG1srVlbb+PGFX7vrxioSNG+WBfqZkQrgJeRTUSiFJG2d1sUAiWNZcIUqZIjex3oIS3aIBsgSICkRZqmXWyx3S3Q1C0CtEizbX7NWt485S/0DC8WScsyubsiCJhnzvedM2fOnLm44R4bljh3qT013tGpYVsqodSwJm7zBwg1RrZpOz2HuIS6+ZXkwLDG9qlsHdpMBlKX6tZYd8Yia3WbBdTyfqhe4+tSHb7KQrmEamVcwnUk4YoIbductM2J0CaVimIjn6DweR0yIhZdz9rIx1qvA2TLJQ6VrTG53+Ti2tGmeA92HH1sgJ7brJbZswitLqQye1C5WKlV8KLEcxxXRWJFKkqFRa22XeOLCBfKlQK3EOolrsShYqVS3K4uirVShYOv1nYVWMp4u4rKtXK5JC1KuARoxPOCVBIXNW67WOTBGq5vi4tWS6gVCqhYLHJlaVGpci2hgECbAw6eq7MAchIncNUFL/DFOodaYktolRdYwlWxguolXC0UFmVB4AqFVXBXvYuGayVN3Z0wnLcQrh2Cta0st/JrkqsxmjsOKGtkOjN1SpClT8mdnEVOc0FCeskbNod+xKW+EMQM3ARsI+/9FYo9u9HEj8qRMb6TG84pta2tkW1RcGbLsp2pbuaaP/RzI/A8DdI+IU4W3KE+IitzNe+XFhbYgnyFZxNoZE9nunXWtif21lAfHU8ce26NU7l5dDYjjmlYx6Bd2K6JeKMh03CpTMk05h+usyc9bAb1yCXMvSpmTyqkqQ+JGVoseL8MuJXJ2yOSgJ4YrkE9KF9kzyboTJ+Q+ADUefZsxlhgJT5qNfbcDqLkPgV1jk3v0kZ1Uz8jTtyIXw43ouzZfJY1n2aOPWHBjuNuH+grnGlDdbEmzMMCe1KBWAeZwVSjFITN67+UUAw+k7WkMQUrMLjR4hKIPMqeMBC7nR6v3Bu0uzvdgSDv5JqiPysRm5Y/LlXr94uV6k8a+QCXkknt8O12nAt5ZJVCOi5F63fbAyDE7YGC72q55o8m9M3km5mqu6e1ZQXnmhePn15+89WLp+9d/OHbzCy9Pt4Hh0xwIvGmodrr97GiDdS2LOGBrA6UruYFr401LOWay8/+cfHxk8tnTy+f/f351x88//rd5ZePLj//9fJfH714+v6L839e/O+33//3YQpLUp8/kJWdgdbtttUBVqRQkmtePvtk+ceHl58+u/zy0+xMfV7FffD0kyff/f7xy8EHXn74DMsH7y6/eJCZZ1fe2W3DqzFfvvvbZ8+/Oc/M0cMKBCNVDDpYVfkdPBC6d2HIIIM+fpIR1X0LbD06vzj/PCPwHla9vEgBU/h9eYfX5K7CUquPVa0vi15e3bPnaKRbyLbMM6SPRoBDsMCcGPbcBcmJQU7JGLmmMSZuZkMqfnsPklrm276hI/2EIGp7rAEnMixEjwiaGCcEvHDGxElhBqaaiCU2YG/vyT8dtHi5jaUBjKDUPRhoXmFg9nQHtmg2Rbpp2qwbYFofn+jWiKAhGelzl6AzUBsbY09tpkPnmTO/mBvvIJ36LqI3gjmpSPjuG1uv7J2staHSHOiOBUU5O1usLlzv8hT2muA6LPkzeltfIvHYel2OvIbe9XhVvbFracbo1fuVcOElOqVC3uM+rJ1QEwTDzgTCHciYXBNPdcPMBJSVFpjzjsiwwXcQO7dkIlC6AYdio1eg2YexiDmyD2OUjeIAC6qssaiTIduzpgB7o+fnwfrcYScLk8Cx7Sp/huTQhhphEv0ERhbkhusn1NbL2cuaKGElZvUyWtoDIgXcmngXIQgcM40p27yno93r4DCafjmOheT17SY2mfI7sfzlny8ef+gzpyBUMd8Xdwcir4gYJsHFR79b/jsDDjKYudTW1EGbFxjD8qtHsI9Y/uqvy4d/WT74Fnp58d5vLs7/k57T395JuMUDbxhBj2xrays9TdIv3x3Ycv3pi6wkMEtZncJXZD9TbErcn6fg0XghDvU+UgKDjXIIzbhd9hIiiCavaby424GcgU1Mn7j23Bml2mFESTp8/y2oFd6mLdfs6M4x1BrNts2sRF4MWNWjmX142bNDlOOVKziLgCb3BrwkeSctOGOZxujYXwjHSEfBpQoy4ciVgU/c5RUoSQlKMjZodk5vUQhrA0xT/ztMQrYpXLdGXAlWx1c4HttzGjsNW9SxzR67R7h+cQYK7NpjaJImdeawkIRfUQ33yD7tzqlpWKR5qJsuqEVFSdUe+NBj+8eAMi5LavfJqWGNI6qBIKm3b5vzKRH93kTdiDckYaIoePdsUcSV7JrnsLcPmiKur4RJfYXcp9f0I8KkvspWzy4cJq6Bki1RZHj3IehOVJ5m6ECHWDoIwwCHX3Ed5kGb3YG5EZcCQVxzao9J09sEaMaUsOGHHGSyqMP5GzxuWFdLdodhhmdqcHRKNKyyN785fRvUoCa5Obe9fsAMjI6+971uAgQ662aAf1ebDIYvRfRsRu7k4Fihj46m7LY8hwKOOzkWTv/6+ybcLCxnrJpFkJ43m6FTr6Z7JT2TSYtV8mymbH+ubwY18tfi1MhvGqFGQHvzAFrz6ZA4GHLAIGFyxmVR7SNjcmTCS/e9k3kcdkNjFE+PgNqCg0WIiQhiaUV0Z3QUzhX/I9o+nZvUMMkJMQOdiCASms29b7gwNzanNk/b5JBGkzuQZJ4DQaFbZWJUO95wI8w7x6zF+S3ZFh2qD12v92tqVbjyrIrVmrUorNEs2aNe+YJY2q6xBbo3hb+Rjy6yUKKu/QcrKQMo8N34/9v/A1BLAwQUAAIACADFi1hJM91K5mcaAADkRQAAFwAAAHVuaXZlcnNhbC91bml2ZXJzYWwucG5n7XwLVBPXvjc9nlbbqrTH26Ko5LT09OGDV0VUSFLrA6tVqqjIKxERUo0QlZd523KvtlVMrUqwlqS+eIdRkAQSkmhRUIPEB0kIIYkejJEMSYQwiZmQyU2gx6Keb63vrnXv/e5dH6ywZs1k//b+/V97//+Z2fP9V+tip7wR+Iafn9+UL1Yt3+Dn92qmn9+E3Emvea9EMQbmew+v5GyI/dyvtmNWn/fkz4Sla5f6+V1kvTmc9qr3/PXdqxJz/Pymtvj+X2kjVWz381tB/mL50o37cGZt6qHag4nIA9qH2P2ozx4f+fbdPbF1H/1FsODSD8D8HUu/n/95eFLge+fOFP88qXhr5LehlVsqDmz7fuGtlTPjibgLWdumzbV58Pfy2qILaps6ThKUlIgcbJv/VOXNZiCRWFvXgTnZU8A3FUXpFrlaoyR77A0A3dzDlg5n+Pn+pl7or2loUtqFFnOaXe9x6zUJPqn87sM7C1OXoDLxdEhhf/UV36VG6s5DaFSmnma7ZX91BNzo2nlMDEikSx1fjpxbJN3brVRLk7Gb8Cff+W6H4kMq3jF59MvZLfN8x8tHZ2SO9HekPezNkVbbDyT6jvuDP20fgc06mfau9/DXp6YEKcVuqgY4dIdIjz52Tvhq3jTTwtyo3ojJ9b6GhUwnm7mYarsVZW0P/2mIqciqmHlHe+TqSL9hTwEPDERPO/yBWCR8W2teNYqZ8MXqPEFw+MhIkz/4RPGs+Y/nNhZE/2WE4+XPftowDvgfBiisFOgoYH+DChdNhRQJcqQXi0zoOgl31wIDcBLXlB27rcTnltO/dBuZiFENAlKG/dEpko78wzn0JrwGisThwfgx3VGWl55zsyVKkebo9BGPfC3+QGLfgogRSrPUx9M2LykabRu7MKPkxLrgUU5H187IPH/v+gjZ3dtfhAiddCtVH021qwlypN/7yYpDQ53qHDm6wPi3vSOOvj/4VET76igRienSEFgY+LE6mBVzFz6GdR6LDl1MGBFiUd0nLTW5OdWxN5VPkib0B0ifXrMxcVVX+EGRyXIq3FdujYH+PoZcdnZk67oWkNJIH7gWYI1pkI+h98j+tJfFZc4shIIzBIq/Uk/G3gockffIrpthc7U9O3fzPLcTTBGhzw09Gos920Z64NM8XX3JM5qf/PamMdTmYHocBZy7zzUX3WQOgwY2XmLrxIzR0yltRLNSMGcLdi//QBfMKlTYVot7hq4n/aPJ7CXtylVDPTnyUk/za2dgo+FtqoZZnLsvko+BOuNJ/heO7fgl8nftdr7X0i+Qus22B9C1AHyMxxj4Nchl8z3z+mCF4yceUL2CTi2Ek6hDd2JDIzv+IaLpdmz7auEMRfA9Ve8udzP1knBkcrl/vWxy/V0zaQYhNDBj7v+NZf+jztBZDUgodhgE9M6PvqDWSFpBIr1KNPv7keG3hkHKZFIpHUzWL2EumH0h7gXv/J8esBtIzQOtajxiwHPciNWDqEnIIxLHfTfU/ZfdMoVqL32tSpVPLyoX/hFbodLhQXWhP2af/fIEf7/oTfheqAHzx7AllP6Lbd3vTexiPx/M5Evzfjnw/KW8CVMvxI2N5OzmV+w7xuhWURRliGUOxaqbLI5S+qmx0N61lQ8sJxJwaeUc2uAN+8tfh7dbTqXZF6z9Q9Yy4UDZ9EzHrTDqz2Vj5NHui59c78osQa99nsonB9T0T9s5ZZWW/A9G4/3Kxijdv7T0S2Zkxt37Q7dbq2aSfkjL10+uL3+B+7UwEemA+t6CMcoxtZ7aVqKNaunf8fM43XG6/wvpCsDJ9Sy0vavJQk725mUeOCQO6x7SyDUS2uAAi9lMh1eY6PShsyi0x7nCap0j5VzzThZP7ZpUKQIgJoCjwbjLSl6SV3O6pZ+AsZ20YaO8iz5Th2FWV4XnZc1YACypK66iwit2Hk7VyVdYAcZ8thuapwTqg9JVVuuPAirwsprMP6bZuR4nVy5BIIDr2ae+sgf+lB+0EDx6XuqgSgswO0NYK1MP3IKNlCbKySqqHoqAhik4camhT3M6l0wRyykw7J4nry5X2IpZGWT4DE6gswzyVTiG01AfSnvgXT3r6SKQnSwVp79sO413gRtcpTLfX1SpLNye2NpRxagpV/yauLO/Zr0NUuGxTBTEm2QyQpconk3iYZh+PHAZ+0pjay8kWLMFJ6lCge7QCTsri/Fx6PcbdXgxMsgvxjvO4JhkLeSXjAXYgGB9aH2MGFeO4VO4snsmo/bxP1XDEn16PnrRh4rBx3evReRuhtKnlCsiNiovJC57NLhQGF5Q3dppMIcEZ7ubZ2aC6XimVRW4hY2Pm1KmMZ4wcANA+RXYCDoEMWIMp4qRgmO6GEcyXnaTtlmZonK2gRy5XflrUwydvHxnEQ8agvY3NXdspru+pVwyDa7qyviz+YAauncTVt1rQLqEqkQPzc1nl6uwBfOBnC9f9l7RjZb+JDTwmirjl1Sc8f3I68rgbOKvPKblgDowW6U/mO8GE3EfJko7YGPAlPoAN3wk62VmBTklvPBct5x4j3vRQNY8qDtwLzCdzawlEb9KJ7qbkw7Irw3y/lR8sUFStBTdzWfoptTLBKu3BG1KDrYMDoTqy/OdytehPfP0QD4Pl0nenu2mkd0UptZRwmMRnE9NZAVlFqb45SBLJZTwYoFaqfizKacD0O/nUs49HmymuKGniS0ZU86sgfbKvkpq6YO5AdDAPMUkIY0G5av0pHyykwIP1kVeCAnFkwS6tg1RN4sDN4FmxSQRQut8KzkOMAJcHKplkJjEpLUt/KeR2YMbn7fG6Y7T/X9BN7K9Do8dmIa9g0jqSWO/m4iiXZi9ez+9EoDGyNKZzkIrjyy6LOlUwWOEMXmLL3tFYlcTHAiMbb/UBOI9sLoNiwzk334lWzBSL/9XlART+3y/t6gX70h91vb+jzsbqYYTCV2VH3Fpgx3WS0OFfyjk4HafPmv4Y3q44dN7Yhb4TMGzfhqxT7fyGZVFH4zYsYH3zGC7V43Ye2fymGFHFK3g/6G092b4DFKd9Yd2l0X4DLdZM07ofxUhX44UJXXeqpczERuBhUWeNhm5TKQjJ8RyksBZ7Lp9EJNr/8afdr8nmBWz17jYmgrtwRt6t0hp7n13ABGDLmh6fghfzoe4rFhUJpduV9vS7BHLHk7wj9mNyVSCx2HylAZrBrQnJWN5qpRWVKd3dhR0MCVm3288pVxtx/OqEVRPrY9chxl+0lKA9E08/15dUFpyaDy2Npl1JnJvyFmz/WgFRAlAk8gwnKXa0tzcMWg7D7k+8eYhEKM49s+hE/phA7EEJ9UazApZLRYFsujuwagX+Qr16fzXbspiTJeCwpNDE/R3tyYXnYQ+7qEwppwGY++FyKvDGzkOxCH1mPc0MCTedO/R9x9xFjFLA1eCbsU90NxpKzbRO8FOV4XKirEHfgWSZW0bsPjXlAYD2AYbq3DZZCYkKU7jt2ph52C4EpyH6l1b+7zxRB1hyS3pU45qYi/mK0qEk0siNyvB+S2ZRSJw4NLK25ST8EVcOUe6sSVbLA2MVsXhD3RXeXNh/d2I40pZJzg/dcEc1T4hsvBNiCKb3jOlXtuGU7i6JVJIput8QanLDqoztje3f6zZxFrOe6W+9VYgHjQmy94STv4VFJarwBpmShLSpItLTNIh/MA04lepQetFky+DbLyO6VhY7EiIA7gk7dCLvXrzwTlsptgToZAVeE4DBrxHP7UMLH4lt5KBIwEcCcKfFFlWiwoXZTuNlA92TfltjbZCyMOVYTooXG/fmFp4VqdNNd9Kcl3UF7/sBzJpFT6YUHTkkIGsvSw8XCYLjqsO3MTeU+Ca/7ZSnizhfeZurrpYr2uz90GTVBm54q9LvHXK4BII1oYlk4hovlI2X6ozhyUr2oSHr0LEFP8rIOsiRmL+jjrthWCrXdKu7Npy9uHmTS3GQVtW5Drlx4lnMyqv7HVnvVUczucI3O++Hnk8BBAwroJwH2Qvts4VuacrPSktO8RuQxZPr9sgLoXakgB8XDVrB9kJ73FOB9sMWdltusCjApKxTPV8KKcasch5+n9KfJuFLf31cgzVSLD2nykHH70w0uyIdsb9CahGW/0hJiJxiK0d8lyN6Xnpp87IDA1MVcVFtet0L5uBFTN43flYGLMkf8bWUAoFujot7hesmPZ4GWowa2r2vhfmljxU+CkGMmyTcz20GekgV+9BHFxPSlT9C6xx/vW+mUftduiZSO82dKfpkeIF5uklPFLahaBMmW+yshnBFxtowTS7jesZVrf4Y2mIzRStdx5Jsx94UQFL2vM9RwFLX+RVzJPLE4yeO0DgdtAJnt4cBbw0jfGRCTgIvY2Ym8oEug5xcOiBq9OMLbvQ326OEr3UeLOrdnzBGif030xIESZjuHuxSG+pfkffxPGbXuOAccA4YBwwDhgHjAPGAeOAccA4YBwwDhgHjAPGAeOAccA4YBwwDhgHjAP+vwU8tRRIqQTK0XMFCVFnnt1yeaIAGFC/S+9BSl9f+RMCCKfkBT+7sfOtkUO19BdF6Ro/vbbqrtq5tkJzW3tYFvbcDiu/+9dHR/aLzRy51eO3KOI/uEnrn3RR50JcUo9rZNfX/t7w/7wR1Utb+omAON/eJKdb+qdxn15VL/NH59rvF/rrFkF7FG0JKAK9WQtMGNnYdlHXJswyLazCr3H2E7DU82gejo8jkN2WLP1KiNjE1vz9xEE1G0fp609gGBK6/e1lVSwBxmJRjcATBn57M7Sna+Jc3fyGcgVQ74IAhayHz3tSZXLAEdxD1cLBMFdfHFPo9iMJ4UYRXp5Hf/Qpd7EKTQIDmAMBcom9ARCDfUxHAbPAHi21RRuD6EN3CtBcqlFN4NJdOZ7O+DhxLxnUsylNkE1pcuwiN5HoYLJ1n25wSIZIcEOEh9nNrKG9KOf12Fa8MY/n4V4VDWBxBzFzkDLaLN/unHXQfalowHFDcz+eC290Ld5Sze7DFZBMjuFs7BPbzZb+rNTLYK+FgVatn6Dyd9/2L2Wlam0Ci9SDFKB5K7UUStF+QyzjYWwHs0cyy7GSbiH+yJM75e4euRjdoXzaNIw7jvIMoKS7NwKqahSYBxqKjQruocBokCyTqwBNH3K4p8gRLk5xJ4FmFddAQWDIUkx1r3JRNOzFR6IMvT6b51dNfBgz/KTFrH/dUeWKqckD6hMgKjMKdTzPkMZ3/Zp9yKLKqQis2/nXahTxsQmXyVspzl5QHbuqtu0CJZlNpqbg6TpVMAGddKm1C3bmN9e8LWEAJmNkWaiUILsgak5xk7cELU1dZoTv8LDDLdieI6JDh5DDs2CMSXVhmEZpgiNDmRyrIox6OLYb/2j9wDNizOQ6l+g+J497sMGSZ69BJudyDy6bnul/aXiunj17A7ErmUUMGPhO3VupP2a2pk4pgXrzwwBuKCuTN5A7YyXxfgqubB4zaOdQDwZuQMiwWPxYfv209SwDx1x3TzZ/ghneUaAR046bzuhiHRJV9s02r5NfNsfr0y+5qPd1edxDo+PqmAKJvibN/nPx0RqqLgn9/h73d9fWFX0jOxvR5BDqRRkl2iPHIZu5MbGYjZ9Hqqc6F9B8HiK09taFsjES8LEkyPpvFjqQB+SE5lpneuNGU41AULxTUpesNabzqKXiatKO2/SQ2pth1LWyVUo0KSv6ME8xPUEedTMowUF14KbWazWhB9QyUOdIciwJgHxbaMwy/EqHxMu5UbzOgN2t6MOgiFrwl2/lDHu92dg7Z3K96tLh7VrbuxBQjh+KiLypdNj7JYKPHZvp0d9C0yVIUD00ZNC8cxxylKRWs/GSdz5LlHiI6Cxy8qE+avs65spaFybEtdcKhbkmMp9MJOCRQbacw0SchbF3RsS5l1e6nv+7RH0nCZwdHkvBHKH8hpdi+d/X4OENrsVNNY5dJdp8tTE11gE21com10cKQ/TH8qtbJQas8FLX1MyemRC59pu9TnGl/lAGjfegnoHfuQjfasuo4KHYr+S4l0D5ykJC0WlQpT5yltgnv/6e9SySgjOkk4EDaj1i1mOovo11tAbPr9Knh6Rf4xf2jShJM5WuJ2pdr3l9yU7uO88+Mqif23RDKJf52J1BdnVyj1pse2ccUBOrjhJnNIfUuVXXA2SCsK7VJJaoHKOCeH+6GXHV98xWLhmHXp1HhmEs0nCYL5PxmNbitxs4OOy6swS3pCAu9KCERTkl66KeZGUEHgSqXZR5eZdxdEgRje8jGLHWoHDXw2NxHCzAwbj9t3ldTahS21tnkn5hXdPKcJtHbUg3Ub/PZ1qj/6Y1Zng9In5vqTWKWPKqpckCXuycJFqA3tAguXZFGMoYOGTe1y22Nphl7POUU2siO3BGz9tmXZQ3aARr6P53LFaaar3/DyaOpITDLFXxpL1BsKPHklOvFHdULh5y3QrM/IZa66LUxEpDFB93i9v/foafnu1lpQwVVRTHPq7FlsH2Nxwm5iXfNmK1ZPAEcImpj+60IharxL3/V7PNZOXIpJ90o7/eQdFuYLJ50hZlIZcvr77IxwmC9m8kEVzDsscYrNcZvzSptvhfFj7uTcT4a/U37oFKm0mlKeqElkDkpIX7RTykPZfL9S6ajUYh0GZYfyFvd/krl5CzW0ET80vTWwWxfKqeqGGHagpTWFd5jj2l3jARk7y8sllxdFO8We+orULWiRDBCuL0FE4CE+BJ9Uo9thre4y7o7MtbI97lLqX0+TbA6Ri6iOshCpm2WtqbD3xayaI6I1Vtm84OUQIq8MYN7kBl8C6KFp41L0u6aZsbZssTxEUUdXbyoo3uk30Y7LSWebvleXjWGtDz4HGN5+C5bsT/TtKIKfs6L2KGmBdWj5oRLZSCqSuKvgffvoBkixDqI9gqlJ1dxP4mXJxddBTcs9d9/zy8B/1IWXhm5/1UnOMtrZHgNfc5Bg8i4lZ2GVRNMVKGGJLLgHpc9oyv74EhhY7BxTUoMIcfI8WgZIXXqmCnNvBrkVx+NSz6qYDpEtTHBpEfDkcReJzNchA3cZ/AAu6pPJLhGF6Blh7JdDd2ilNGI4KddyJY+7v6LFZKwsXh2fyVV7Knp1Yt9U5p8p9wBTNwxJIeJLWhVVbVenPIYZaZRsyYstndDeZcuERneDXzTZ4L/AJI5p7KaObJ1XYnZC9+UOCu6AEf+9S06+xKFXyLev+biR0Y+A6LQ+9PR1EP+jOfthCwtk+xOUjEa0nXvbY+P/Sd+hqMj33MwQsdYq9rZszzhGrt6y8FoKu8RvetoEH+6KGvXA6xrOpWBRIkmsyUnV3IfpsfNNDE2E50i3NmTPT6k4w38QYkrcOHxoeKDp+EFpqyFJoaI+qMa9i7lB1LMarCxNlNHUb7EpP8S4fz5PTMKBzZcKLet5UIi8ITT0ivf4R13rCxK9k8VZ/u3ScTtKrevR+Ak/Ll+iQEXwtfpDJGlffFbOv5JT2y6clYJZaEl/w+6/X2lXOzPZKCTZFPFV81Dpfyk7BMF9APoN75GSdY2UpxZlyukRIALt6lgPFqfOuNatPvgZFea1KlSO3mQk6xSZUqRaCvf8YViCM7ZbUT+yC91doq2NdVhf3U6x7bSrQVsVcZTwpRtLZJ0WOIps9WnYc8T3JNxKxKhFtjyVg94pBNh6G2pDYpQnaiblkMIscU36o2+H0c7Yw7Wn+6OJaSL08O+lsSU9/PwYqzK1Wix1al7OxyQfCjjDzuKe+a9yF0cR1rAw9vXBG81xcTKUOLa/CePBSadhSuv0vP/ktL/03fo4HI/Df4vcTBeCwUT2DC5UyKPc4zFNcTwRxuY9KQ+XMbt8yutYCGOV5z1w1LKYoVngkb8OmySUlYXC5tzSjXmiX9qVpZ/qg2DQ0q3EzPVIp3Dbnlm6XPIYc7uScsOcemZyaYsKZN+vj86Gbl1iGf1xtNRo3R00oablUD7m6goQUVhY9aObhOq5JtysWzzq/UZ+TyTPj4CuCi18+aKkwgjxp9aHQVfgcKzwJxtaNuhsE7byZ0Sx2lP1lsdV5H/MR5ly3pZOBCetEzM/VvagGCmcC0E+SoOeKgVPDBHc17AIfPOElpHIxDHsZJQEPjbOF7PxWYJLjaMy5KSqf08wsIY3FqpA43BITX5Fmp3vCWdR+5vuaZmH05XFeKq0Aaf4e+TilULX6HiwyVa+Q3MmZkJozkf5Nrz88cvGk3MPrbGDX0xdmS7O8elgoBdrU3k1CZ0jwQc1+NtGHpJg/thNVz17sWWPJCes+s55twklGZcP7Y4d0uhzT+Nh3jG+FVbyjdvqL/bWtaSWp4O6dsTH8vZibgeTZuidoapfkdGdr85HOXs/GNlv7VDt5kE3V19sFmSjecQZtbqOHNfJ9c7rPwEW/uC2G8gZwfj5nqm1+4MO6MVj/BUetK8aWUBfIY25eupsY5Xs9pw9gv2rEIlMCEEkisfd7EyQZ6T6/4M57MTkcJYqOWjxqx05HSJ/nQWiaj4dmnBvf4yo7o2b3WE1FrHeQtII4gtzzSu4CYdp3yYJY3b9yFf/pbQEdshfnJz8NDXj9Uo5AHKP5ZVJTGl3U2E//1YSnjQQDjtJvS9APVDdA6NbWOO17V/d41VSFdrHWX7maZXBX53MIGyklLnqOCYRXJr5yu9Q3iIdyvI9pDPYOhXPrTFlT2xK514l3idQ7+fk+8nmrADbMSxLeqx3Atves4JW7n5M9hvS8J8G/1FiXUmZ4nqYZpjiISrXeYeguBAQ8l+moIxnkjjiP9crQ3X4HTxaVs7dC1qWWWHeVhG1WAFRczHbzZsqspgbVIFDCV/C/JU3iQOxPEP6hFCc72k9xKUqlnrg6KOTtSt/Y1rXV1bUrNi7M1LWr31mWV++C+cjlm8CjrFy3T47Z+FVdtzButxH6c/n8q7ERWqt6Fc00e8/IQkCcY+/IQb3Fr9fDlfx4pHS3Va+2Seg839tZIgx5qw7XNxpZdENZjw5rfHAXRG66EiNHtm32P7sp1vleVnBh9VYmwO4VIdUs7OhDUciYh7YK7DPFd/2LFuuW1n2/99t8BUEsDBBQAAgAIAMWLWEmJd2BCSgAAAGsAAAAbAAAAdW5pdmVyc2FsL3VuaXZlcnNhbC5wbmcueG1ss7GvyM1RKEstKs7Mz7NVMtQzULK34+WyKShKLctMLVeoAIoBBSFASaESyDVCcMszU0oygEIGFgYIwYzUzPSMElslC0OEoD7QTABQSwECAAAUAAIACADFi1hJGCZD8i4EAAB/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+R7hdAAAAYgAAABwAAAAAAAAAAQAAAAAAnxIAAHVuaXZlcnNhbC9sb2NhbF9zZXR0aW5ncy54bWxQSwECAAAUAAIACAB2uMNEzoIJN+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=="/>
  <p:tag name="ISPRING_PRESENTATION_TITLE" val="第6章 JSP技术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RESOURCE_PATHS_HASH_PRESENTER" val="38d5cb2e3bb6142241cd7c9b3c731e3e1dd4aa9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第6章 JSP技术"/>
  <p:tag name="GENSWF_ADVANCE_TIME" val="0.00"/>
  <p:tag name="ISPRING_SLIDE_INDENT_LEVEL" val="0"/>
  <p:tag name="ISPRING_CUSTOM_TIMING_US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点评"/>
  <p:tag name="GENSWF_ADVANCE_TIME" val="0.00"/>
  <p:tag name="ISPRING_SLIDE_INDENT_LEVEL" val="0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预习检查"/>
  <p:tag name="GENSWF_ADVANCE_TIME" val="0.00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学习目标"/>
  <p:tag name="GENSWF_ADVANCE_TIME" val="0.00"/>
  <p:tag name="ISPRING_SLIDE_INDENT_LEVEL" val="0"/>
  <p:tag name="ISPRING_CUSTOM_TIMING_US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什么是JSP"/>
  <p:tag name="GENSWF_ADVANCE_TIME" val="0.00"/>
  <p:tag name="ISPRING_SLIDE_INDENT_LEVEL" val="0"/>
  <p:tag name="ISPRING_CUSTOM_TIMING_US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什么是JSP"/>
  <p:tag name="GENSWF_ADVANCE_TIME" val="0.00"/>
  <p:tag name="ISPRING_SLIDE_INDENT_LEVEL" val="0"/>
  <p:tag name="ISPRING_CUSTOM_TIMING_US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编写第一个JSP"/>
  <p:tag name="GENSWF_ADVANCE_TIME" val="0.00"/>
  <p:tag name="ISPRING_SLIDE_INDENT_LEVEL" val="0"/>
  <p:tag name="ISPRING_CUSTOM_TIMING_US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JSP运行原理"/>
  <p:tag name="GENSWF_ADVANCE_TIME" val="0.00"/>
  <p:tag name="ISPRING_SLIDE_INDENT_LEVEL" val="0"/>
  <p:tag name="ISPRING_CUSTOM_TIMING_US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JSP脚本元素"/>
  <p:tag name="GENSWF_ADVANCE_TIME" val="0.00"/>
  <p:tag name="ISPRING_SLIDE_INDENT_LEVEL" val="0"/>
  <p:tag name="ISPRING_CUSTOM_TIMING_US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JSP注释"/>
  <p:tag name="GENSWF_ADVANCE_TIME" val="0.00"/>
  <p:tag name="ISPRING_SLIDE_INDENT_LEVEL" val="0"/>
  <p:tag name="ISPRING_CUSTOM_TIMING_US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JSP指令"/>
  <p:tag name="GENSWF_ADVANCE_TIME" val="0.00"/>
  <p:tag name="ISPRING_SLIDE_INDENT_LEVEL" val="0"/>
  <p:tag name="ISPRING_CUSTOM_TIMING_US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page指令"/>
  <p:tag name="GENSWF_ADVANCE_TIME" val="0.00"/>
  <p:tag name="ISPRING_SLIDE_INDENT_LEVEL" val="0"/>
  <p:tag name="ISPRING_CUSTOM_TIMING_US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include指令"/>
  <p:tag name="GENSWF_ADVANCE_TIME" val="0.00"/>
  <p:tag name="ISPRING_SLIDE_INDENT_LEVEL" val="0"/>
  <p:tag name="ISPRING_CUSTOM_TIMING_US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隐式对象的概述"/>
  <p:tag name="GENSWF_ADVANCE_TIME" val="0.00"/>
  <p:tag name="ISPRING_SLIDE_INDENT_LEVEL" val="0"/>
  <p:tag name="ISPRING_CUSTOM_TIMING_US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out对象"/>
  <p:tag name="GENSWF_ADVANCE_TIME" val="0.00"/>
  <p:tag name="ISPRING_SLIDE_INDENT_LEVEL" val="0"/>
  <p:tag name="ISPRING_CUSTOM_TIMING_US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pageContext对象"/>
  <p:tag name="GENSWF_ADVANCE_TIME" val="0.00"/>
  <p:tag name="ISPRING_SLIDE_INDENT_LEVEL" val="0"/>
  <p:tag name="ISPRING_CUSTOM_TIMING_US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xception对象"/>
  <p:tag name="GENSWF_ADVANCE_TIME" val="0.00"/>
  <p:tag name="ISPRING_SLIDE_INDENT_LEVEL" val="0"/>
  <p:tag name="ISPRING_CUSTOM_TIMING_US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&lt;jsp:include&gt;动作元素"/>
  <p:tag name="GENSWF_ADVANCE_TIME" val="0.00"/>
  <p:tag name="ISPRING_SLIDE_INDENT_LEVEL" val="0"/>
  <p:tag name="ISPRING_CUSTOM_TIMING_US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&lt;jsp:forward&gt;动作元素"/>
  <p:tag name="GENSWF_ADVANCE_TIME" val="0.00"/>
  <p:tag name="ISPRING_SLIDE_INDENT_LEVEL" val="0"/>
  <p:tag name="ISPRING_CUSTOM_TIMING_US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6-1】实现首页"/>
  <p:tag name="GENSWF_ADVANCE_TIME" val="0.00"/>
  <p:tag name="ISPRING_SLIDE_INDENT_LEVEL" val="0"/>
  <p:tag name="ISPRING_CUSTOM_TIMING_USED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6-2】实现注册页面"/>
  <p:tag name="GENSWF_ADVANCE_TIME" val="0.00"/>
  <p:tag name="ISPRING_SLIDE_INDENT_LEVEL" val="0"/>
  <p:tag name="ISPRING_CUSTOM_TIMING_USED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本章小结"/>
  <p:tag name="GENSWF_ADVANCE_TIME" val="0.00"/>
  <p:tag name="ISPRING_SLIDE_INDENT_LEVEL" val="0"/>
  <p:tag name="ISPRING_CUSTOM_TIMING_USED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"/>
  <p:tag name="GENSWF_ADVANCE_TIME" val="0.00"/>
  <p:tag name="ISPRING_SLIDE_INDENT_LEVEL" val="0"/>
  <p:tag name="ISPRING_CUSTOM_TIMING_USED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2695</TotalTime>
  <Words>3778</Words>
  <Application>Microsoft Office PowerPoint</Application>
  <PresentationFormat>全屏显示(4:3)</PresentationFormat>
  <Paragraphs>318</Paragraphs>
  <Slides>30</Slides>
  <Notes>30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1" baseType="lpstr">
      <vt:lpstr>Office 主题​​</vt:lpstr>
      <vt:lpstr>Java Web程序设计任务教程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JSP技术</dc:title>
  <dc:creator>admin</dc:creator>
  <cp:lastModifiedBy>石荣新</cp:lastModifiedBy>
  <cp:revision>250</cp:revision>
  <dcterms:created xsi:type="dcterms:W3CDTF">2015-06-29T07:19:00Z</dcterms:created>
  <dcterms:modified xsi:type="dcterms:W3CDTF">2018-01-09T09:34:50Z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
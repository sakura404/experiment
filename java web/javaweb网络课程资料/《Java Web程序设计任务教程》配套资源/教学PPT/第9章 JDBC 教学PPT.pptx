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20"/>
  </p:notesMasterIdLst>
  <p:sldIdLst>
    <p:sldId id="388" r:id="rId2"/>
    <p:sldId id="384" r:id="rId3"/>
    <p:sldId id="385" r:id="rId4"/>
    <p:sldId id="327" r:id="rId5"/>
    <p:sldId id="374" r:id="rId6"/>
    <p:sldId id="379" r:id="rId7"/>
    <p:sldId id="375" r:id="rId8"/>
    <p:sldId id="380" r:id="rId9"/>
    <p:sldId id="376" r:id="rId10"/>
    <p:sldId id="381" r:id="rId11"/>
    <p:sldId id="377" r:id="rId12"/>
    <p:sldId id="382" r:id="rId13"/>
    <p:sldId id="378" r:id="rId14"/>
    <p:sldId id="383" r:id="rId15"/>
    <p:sldId id="373" r:id="rId16"/>
    <p:sldId id="332" r:id="rId17"/>
    <p:sldId id="386" r:id="rId18"/>
    <p:sldId id="387" r:id="rId19"/>
  </p:sldIdLst>
  <p:sldSz cx="9144000" cy="6858000" type="screen4x3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066A1"/>
    <a:srgbClr val="01598B"/>
    <a:srgbClr val="009ED6"/>
    <a:srgbClr val="E7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57" autoAdjust="0"/>
    <p:restoredTop sz="98129" autoAdjust="0"/>
  </p:normalViewPr>
  <p:slideViewPr>
    <p:cSldViewPr>
      <p:cViewPr>
        <p:scale>
          <a:sx n="100" d="100"/>
          <a:sy n="100" d="100"/>
        </p:scale>
        <p:origin x="-1944" y="-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259762883621849"/>
          <c:y val="6.8138576695007141E-2"/>
          <c:w val="0.61861102362204723"/>
          <c:h val="0.7659264155486856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</c:dPt>
          <c:dPt>
            <c:idx val="1"/>
            <c:bubble3D val="0"/>
          </c:dPt>
          <c:dPt>
            <c:idx val="2"/>
            <c:bubble3D val="0"/>
          </c:dPt>
          <c:cat>
            <c:strRef>
              <c:f>Sheet1!$A$2:$A$4</c:f>
              <c:strCache>
                <c:ptCount val="3"/>
                <c:pt idx="0">
                  <c:v>掌握知识</c:v>
                </c:pt>
                <c:pt idx="1">
                  <c:v>理解知识</c:v>
                </c:pt>
                <c:pt idx="2">
                  <c:v>了解知识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3.3333333330000001</c:v>
                </c:pt>
                <c:pt idx="1">
                  <c:v>3.3333333330000001</c:v>
                </c:pt>
                <c:pt idx="2">
                  <c:v>3.3333333330000001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33EE4-7802-4038-A753-006452266733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B6886-6BC2-46E8-8C93-34D9D02FB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622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200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806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589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618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802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420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914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58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136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1250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5239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587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6608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339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818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9626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6886-6BC2-46E8-8C93-34D9D02FB81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1894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fld id="{A3DF5170-8A0D-43AE-A108-EB1D46CE06DD}" type="slidenum">
              <a:rPr lang="zh-CN" altLang="en-US"/>
              <a:pPr eaLnBrk="1" hangingPunct="1">
                <a:buFontTx/>
                <a:buNone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676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" y="-1"/>
            <a:ext cx="9140780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52281"/>
            <a:ext cx="7772400" cy="2157681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5371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1668532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6457290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8816717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0669611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2776142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" y="0"/>
            <a:ext cx="9146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457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01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7768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4439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4439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4439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358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1109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311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9381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937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0317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977156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52" r:id="rId10"/>
    <p:sldLayoutId id="2147483651" r:id="rId11"/>
    <p:sldLayoutId id="2147483674" r:id="rId12"/>
    <p:sldLayoutId id="2147483675" r:id="rId13"/>
    <p:sldLayoutId id="2147483676" r:id="rId14"/>
    <p:sldLayoutId id="2147483659" r:id="rId15"/>
    <p:sldLayoutId id="2147483660" r:id="rId16"/>
    <p:sldLayoutId id="2147483662" r:id="rId17"/>
    <p:sldLayoutId id="2147483677" r:id="rId18"/>
    <p:sldLayoutId id="2147483654" r:id="rId19"/>
    <p:sldLayoutId id="2147483655" r:id="rId20"/>
    <p:sldLayoutId id="2147483657" r:id="rId2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39552" y="1352281"/>
            <a:ext cx="8136904" cy="2157681"/>
          </a:xfrm>
        </p:spPr>
        <p:txBody>
          <a:bodyPr/>
          <a:lstStyle/>
          <a:p>
            <a:r>
              <a:rPr lang="en-US" altLang="zh-CN" b="1" dirty="0" smtClean="0"/>
              <a:t>Java Web</a:t>
            </a:r>
            <a:r>
              <a:rPr lang="zh-CN" altLang="en-US" b="1" dirty="0" smtClean="0"/>
              <a:t>程序设计任务教程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861470"/>
            <a:ext cx="6858000" cy="1655762"/>
          </a:xfrm>
        </p:spPr>
        <p:txBody>
          <a:bodyPr>
            <a:normAutofit/>
          </a:bodyPr>
          <a:lstStyle/>
          <a:p>
            <a:r>
              <a:rPr lang="zh-CN" altLang="en-US" sz="3200" b="1" dirty="0" smtClean="0"/>
              <a:t>第</a:t>
            </a:r>
            <a:r>
              <a:rPr lang="en-US" altLang="zh-CN" sz="3200" b="1" dirty="0" smtClean="0"/>
              <a:t>9</a:t>
            </a:r>
            <a:r>
              <a:rPr lang="zh-CN" altLang="en-US" sz="3200" b="1" dirty="0" smtClean="0"/>
              <a:t>章 </a:t>
            </a:r>
            <a:r>
              <a:rPr lang="en-US" altLang="zh-CN" sz="3200" b="1" dirty="0" smtClean="0"/>
              <a:t>JDBC</a:t>
            </a:r>
            <a:endParaRPr lang="zh-CN" altLang="en-US" sz="3200" b="1" dirty="0"/>
          </a:p>
        </p:txBody>
      </p:sp>
      <p:sp>
        <p:nvSpPr>
          <p:cNvPr id="4" name="TextBox 13"/>
          <p:cNvSpPr>
            <a:spLocks noChangeArrowheads="1"/>
          </p:cNvSpPr>
          <p:nvPr/>
        </p:nvSpPr>
        <p:spPr bwMode="auto">
          <a:xfrm>
            <a:off x="5292080" y="5517232"/>
            <a:ext cx="36004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使</a:t>
            </a:r>
            <a:r>
              <a:rPr lang="en-US" altLang="zh-CN" dirty="0" err="1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PreparedStatement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对象</a:t>
            </a:r>
            <a:endParaRPr lang="en-US" altLang="zh-CN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使用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JDBC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完成数据的增删改查</a:t>
            </a:r>
            <a:endParaRPr lang="en-US" altLang="zh-CN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52725" y="5538788"/>
            <a:ext cx="4572000" cy="9239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实现第一个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JDBC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程序  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dirty="0" err="1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ResultSet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对象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301208"/>
            <a:ext cx="947906" cy="119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203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</a:rPr>
              <a:t>简述过滤器的作用</a:t>
            </a:r>
            <a:r>
              <a:rPr lang="zh-CN" altLang="en-US" sz="2400" smtClean="0">
                <a:solidFill>
                  <a:prstClr val="black"/>
                </a:solidFill>
              </a:rPr>
              <a:t>。</a:t>
            </a:r>
            <a:endParaRPr lang="en-US" altLang="zh-CN" sz="2400" smtClean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</a:rPr>
              <a:t>简述</a:t>
            </a:r>
            <a:r>
              <a:rPr lang="en-US" altLang="zh-CN" sz="2400">
                <a:solidFill>
                  <a:prstClr val="black"/>
                </a:solidFill>
              </a:rPr>
              <a:t>Servlet</a:t>
            </a:r>
            <a:r>
              <a:rPr lang="zh-CN" altLang="en-US" sz="2400">
                <a:solidFill>
                  <a:prstClr val="black"/>
                </a:solidFill>
              </a:rPr>
              <a:t>事件监听器的作用。（写出三点</a:t>
            </a:r>
            <a:r>
              <a:rPr lang="zh-CN" altLang="en-US" sz="2400" smtClean="0">
                <a:solidFill>
                  <a:prstClr val="black"/>
                </a:solidFill>
              </a:rPr>
              <a:t>）</a:t>
            </a:r>
            <a:endParaRPr lang="en-US" altLang="zh-CN" sz="2400">
              <a:solidFill>
                <a:prstClr val="black"/>
              </a:solidFill>
            </a:endParaRPr>
          </a:p>
        </p:txBody>
      </p:sp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作业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点评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469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400">
                <a:solidFill>
                  <a:prstClr val="black"/>
                </a:solidFill>
              </a:rPr>
              <a:t>JDBC</a:t>
            </a:r>
            <a:r>
              <a:rPr lang="zh-CN" altLang="en-US" sz="2400">
                <a:solidFill>
                  <a:prstClr val="black"/>
                </a:solidFill>
              </a:rPr>
              <a:t>的概念、作用以及其常用</a:t>
            </a:r>
            <a:r>
              <a:rPr lang="en-US" altLang="zh-CN" sz="2400" smtClean="0">
                <a:solidFill>
                  <a:prstClr val="black"/>
                </a:solidFill>
              </a:rPr>
              <a:t>API</a:t>
            </a:r>
            <a:r>
              <a:rPr lang="zh-CN" altLang="en-US" sz="2400" smtClean="0">
                <a:solidFill>
                  <a:prstClr val="black"/>
                </a:solidFill>
              </a:rPr>
              <a:t>。</a:t>
            </a:r>
            <a:endParaRPr lang="en-US" altLang="zh-CN" sz="2400" smtClean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</a:rPr>
              <a:t>使用</a:t>
            </a:r>
            <a:r>
              <a:rPr lang="en-US" altLang="zh-CN" sz="2400">
                <a:solidFill>
                  <a:prstClr val="black"/>
                </a:solidFill>
              </a:rPr>
              <a:t>JDBC</a:t>
            </a:r>
            <a:r>
              <a:rPr lang="zh-CN" altLang="en-US" sz="2400">
                <a:solidFill>
                  <a:prstClr val="black"/>
                </a:solidFill>
              </a:rPr>
              <a:t>连接并操作数据库的步骤</a:t>
            </a:r>
            <a:r>
              <a:rPr lang="zh-CN" altLang="en-US" sz="2400" smtClean="0">
                <a:solidFill>
                  <a:prstClr val="black"/>
                </a:solidFill>
              </a:rPr>
              <a:t>。</a:t>
            </a:r>
            <a:endParaRPr lang="en-US" altLang="zh-CN" sz="2400" dirty="0">
              <a:solidFill>
                <a:prstClr val="black"/>
              </a:solidFill>
            </a:endParaRPr>
          </a:p>
        </p:txBody>
      </p:sp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预习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检查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5042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 flipH="1" flipV="1">
            <a:off x="323528" y="2194584"/>
            <a:ext cx="2710153" cy="1139825"/>
            <a:chOff x="5320409" y="4225925"/>
            <a:chExt cx="3351604" cy="1209015"/>
          </a:xfrm>
        </p:grpSpPr>
        <p:grpSp>
          <p:nvGrpSpPr>
            <p:cNvPr id="3" name="组合 38"/>
            <p:cNvGrpSpPr>
              <a:grpSpLocks/>
            </p:cNvGrpSpPr>
            <p:nvPr/>
          </p:nvGrpSpPr>
          <p:grpSpPr bwMode="auto">
            <a:xfrm rot="10800000">
              <a:off x="5687902" y="4225925"/>
              <a:ext cx="2669052" cy="686411"/>
              <a:chOff x="934464" y="2318309"/>
              <a:chExt cx="2669329" cy="686148"/>
            </a:xfrm>
          </p:grpSpPr>
          <p:cxnSp>
            <p:nvCxnSpPr>
              <p:cNvPr id="8" name="直接连接符 39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934464" y="2318309"/>
                <a:ext cx="298001" cy="686148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" name="直接连接符 40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1222939" y="3004457"/>
                <a:ext cx="2380854" cy="0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4" name="组合 41"/>
            <p:cNvGrpSpPr>
              <a:grpSpLocks/>
            </p:cNvGrpSpPr>
            <p:nvPr/>
          </p:nvGrpSpPr>
          <p:grpSpPr bwMode="auto">
            <a:xfrm flipH="1">
              <a:off x="8082606" y="4880949"/>
              <a:ext cx="589407" cy="553991"/>
              <a:chOff x="1256847" y="3607535"/>
              <a:chExt cx="591076" cy="553298"/>
            </a:xfrm>
          </p:grpSpPr>
          <p:sp>
            <p:nvSpPr>
              <p:cNvPr id="6" name="椭圆 5"/>
              <p:cNvSpPr/>
              <p:nvPr/>
            </p:nvSpPr>
            <p:spPr bwMode="auto">
              <a:xfrm>
                <a:off x="1256847" y="3647898"/>
                <a:ext cx="591076" cy="474256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 rot="10800000">
                <a:off x="1327723" y="3607535"/>
                <a:ext cx="334694" cy="553298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 smtClean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矩形 51"/>
            <p:cNvSpPr>
              <a:spLocks noChangeArrowheads="1"/>
            </p:cNvSpPr>
            <p:nvPr/>
          </p:nvSpPr>
          <p:spPr bwMode="auto">
            <a:xfrm rot="10800000">
              <a:off x="5320409" y="4397203"/>
              <a:ext cx="2762196" cy="523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zh-CN" altLang="en-US" b="1" smtClean="0">
                  <a:solidFill>
                    <a:srgbClr val="006BA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什么是</a:t>
              </a:r>
              <a:r>
                <a:rPr lang="en-US" altLang="zh-CN" b="1" smtClean="0">
                  <a:solidFill>
                    <a:srgbClr val="006BA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JDBC</a:t>
              </a:r>
              <a:endParaRPr lang="en-US" altLang="zh-CN" b="1">
                <a:solidFill>
                  <a:srgbClr val="006BA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570070" y="1316729"/>
            <a:ext cx="5245036" cy="4035361"/>
            <a:chOff x="1398367" y="1722062"/>
            <a:chExt cx="5245036" cy="4035172"/>
          </a:xfrm>
        </p:grpSpPr>
        <p:graphicFrame>
          <p:nvGraphicFramePr>
            <p:cNvPr id="11" name="图表 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92531024"/>
                </p:ext>
              </p:extLst>
            </p:nvPr>
          </p:nvGraphicFramePr>
          <p:xfrm>
            <a:off x="1398367" y="1722062"/>
            <a:ext cx="5245036" cy="403517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2" name="TextBox 11"/>
            <p:cNvSpPr txBox="1"/>
            <p:nvPr/>
          </p:nvSpPr>
          <p:spPr bwMode="auto">
            <a:xfrm rot="2719682">
              <a:off x="4600346" y="2872905"/>
              <a:ext cx="1042938" cy="3698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</a:p>
          </p:txBody>
        </p:sp>
        <p:sp>
          <p:nvSpPr>
            <p:cNvPr id="13" name="TextBox 12"/>
            <p:cNvSpPr txBox="1"/>
            <p:nvPr/>
          </p:nvSpPr>
          <p:spPr bwMode="auto">
            <a:xfrm rot="6997465" flipV="1">
              <a:off x="2748528" y="2675271"/>
              <a:ext cx="1041351" cy="3698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</a:p>
          </p:txBody>
        </p:sp>
        <p:sp>
          <p:nvSpPr>
            <p:cNvPr id="14" name="TextBox 13"/>
            <p:cNvSpPr txBox="1"/>
            <p:nvPr/>
          </p:nvSpPr>
          <p:spPr bwMode="auto">
            <a:xfrm rot="10800000" flipH="1" flipV="1">
              <a:off x="3819272" y="4427003"/>
              <a:ext cx="1041400" cy="3682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>
                  <a:latin typeface="微软雅黑" panose="020B0503020204020204" pitchFamily="34" charset="-122"/>
                  <a:ea typeface="微软雅黑" panose="020B0503020204020204" pitchFamily="34" charset="-122"/>
                </a:rPr>
                <a:t>熟悉</a:t>
              </a:r>
            </a:p>
          </p:txBody>
        </p:sp>
      </p:grpSp>
      <p:grpSp>
        <p:nvGrpSpPr>
          <p:cNvPr id="15" name="组合 2"/>
          <p:cNvGrpSpPr>
            <a:grpSpLocks/>
          </p:cNvGrpSpPr>
          <p:nvPr/>
        </p:nvGrpSpPr>
        <p:grpSpPr bwMode="auto">
          <a:xfrm>
            <a:off x="3692525" y="2547010"/>
            <a:ext cx="1203325" cy="1201737"/>
            <a:chOff x="3692088" y="2878838"/>
            <a:chExt cx="1203191" cy="1201737"/>
          </a:xfrm>
        </p:grpSpPr>
        <p:sp>
          <p:nvSpPr>
            <p:cNvPr id="16" name="弧形 15"/>
            <p:cNvSpPr/>
            <p:nvPr/>
          </p:nvSpPr>
          <p:spPr bwMode="auto">
            <a:xfrm rot="5400000">
              <a:off x="3692815" y="2878111"/>
              <a:ext cx="1201737" cy="1203191"/>
            </a:xfrm>
            <a:prstGeom prst="arc">
              <a:avLst>
                <a:gd name="adj1" fmla="val 5382197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" name="弧形 16"/>
            <p:cNvSpPr/>
            <p:nvPr/>
          </p:nvSpPr>
          <p:spPr bwMode="auto">
            <a:xfrm>
              <a:off x="3795265" y="2996313"/>
              <a:ext cx="990490" cy="992187"/>
            </a:xfrm>
            <a:prstGeom prst="arc">
              <a:avLst>
                <a:gd name="adj1" fmla="val 10763236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" name="弧形 17"/>
            <p:cNvSpPr/>
            <p:nvPr/>
          </p:nvSpPr>
          <p:spPr bwMode="auto">
            <a:xfrm rot="16200000">
              <a:off x="3891251" y="3136849"/>
              <a:ext cx="822325" cy="753978"/>
            </a:xfrm>
            <a:prstGeom prst="arc">
              <a:avLst>
                <a:gd name="adj1" fmla="val 16251812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4604978" y="4706679"/>
            <a:ext cx="3687726" cy="1082410"/>
            <a:chOff x="4241881" y="5106728"/>
            <a:chExt cx="2034493" cy="1075694"/>
          </a:xfrm>
        </p:grpSpPr>
        <p:grpSp>
          <p:nvGrpSpPr>
            <p:cNvPr id="20" name="组合 38"/>
            <p:cNvGrpSpPr>
              <a:grpSpLocks/>
            </p:cNvGrpSpPr>
            <p:nvPr/>
          </p:nvGrpSpPr>
          <p:grpSpPr bwMode="auto">
            <a:xfrm rot="5400000" flipV="1">
              <a:off x="4703914" y="4644695"/>
              <a:ext cx="1075694" cy="1999759"/>
              <a:chOff x="6453791" y="4116789"/>
              <a:chExt cx="1526764" cy="915993"/>
            </a:xfrm>
          </p:grpSpPr>
          <p:grpSp>
            <p:nvGrpSpPr>
              <p:cNvPr id="22" name="组合 38"/>
              <p:cNvGrpSpPr>
                <a:grpSpLocks/>
              </p:cNvGrpSpPr>
              <p:nvPr/>
            </p:nvGrpSpPr>
            <p:grpSpPr bwMode="auto">
              <a:xfrm rot="10800000">
                <a:off x="6453791" y="4116789"/>
                <a:ext cx="1212473" cy="810510"/>
                <a:chOff x="1625229" y="2303341"/>
                <a:chExt cx="1212595" cy="810196"/>
              </a:xfrm>
            </p:grpSpPr>
            <p:cxnSp>
              <p:nvCxnSpPr>
                <p:cNvPr id="26" name="直接连接符 39"/>
                <p:cNvCxnSpPr>
                  <a:cxnSpLocks noChangeShapeType="1"/>
                </p:cNvCxnSpPr>
                <p:nvPr/>
              </p:nvCxnSpPr>
              <p:spPr bwMode="auto">
                <a:xfrm rot="16200000" flipH="1" flipV="1">
                  <a:off x="1232572" y="2695997"/>
                  <a:ext cx="785314" cy="1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7" name="直接连接符 40"/>
                <p:cNvCxnSpPr>
                  <a:cxnSpLocks noChangeShapeType="1"/>
                </p:cNvCxnSpPr>
                <p:nvPr/>
              </p:nvCxnSpPr>
              <p:spPr bwMode="auto">
                <a:xfrm rot="16200000" flipH="1">
                  <a:off x="2219087" y="2494799"/>
                  <a:ext cx="24880" cy="1212595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 type="oval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23" name="组合 41"/>
              <p:cNvGrpSpPr>
                <a:grpSpLocks/>
              </p:cNvGrpSpPr>
              <p:nvPr/>
            </p:nvGrpSpPr>
            <p:grpSpPr bwMode="auto">
              <a:xfrm flipH="1">
                <a:off x="7292398" y="4920843"/>
                <a:ext cx="688157" cy="111939"/>
                <a:chOff x="1950262" y="3647353"/>
                <a:chExt cx="690106" cy="111798"/>
              </a:xfrm>
            </p:grpSpPr>
            <p:sp>
              <p:nvSpPr>
                <p:cNvPr id="24" name="椭圆 23"/>
                <p:cNvSpPr/>
                <p:nvPr/>
              </p:nvSpPr>
              <p:spPr bwMode="auto">
                <a:xfrm rot="5400000">
                  <a:off x="2204742" y="3392873"/>
                  <a:ext cx="111798" cy="620757"/>
                </a:xfrm>
                <a:prstGeom prst="ellipse">
                  <a:avLst/>
                </a:prstGeom>
                <a:solidFill>
                  <a:srgbClr val="006BA9"/>
                </a:solidFill>
                <a:ln w="28575" cap="flat" cmpd="sng" algn="ctr">
                  <a:solidFill>
                    <a:srgbClr val="006BA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25400" dist="12700" dir="2700000" algn="tl" rotWithShape="0">
                    <a:prstClr val="black">
                      <a:alpha val="40000"/>
                    </a:prstClr>
                  </a:outerShdw>
                </a:effectLst>
                <a:extLst/>
              </p:spPr>
              <p:txBody>
                <a:bodyPr/>
                <a:lstStyle/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 rot="5400000">
                  <a:off x="2258983" y="3365770"/>
                  <a:ext cx="93355" cy="669415"/>
                </a:xfrm>
                <a:prstGeom prst="rect">
                  <a:avLst/>
                </a:prstGeom>
                <a:noFill/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800" b="1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1" name="矩形 4"/>
            <p:cNvSpPr>
              <a:spLocks noChangeArrowheads="1"/>
            </p:cNvSpPr>
            <p:nvPr/>
          </p:nvSpPr>
          <p:spPr bwMode="auto">
            <a:xfrm>
              <a:off x="4296212" y="5411323"/>
              <a:ext cx="1980162" cy="495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zh-CN" altLang="en-US" b="1" smtClean="0">
                  <a:solidFill>
                    <a:srgbClr val="006BA9"/>
                  </a:solidFill>
                  <a:ea typeface="微软雅黑" pitchFamily="34" charset="-122"/>
                  <a:sym typeface="宋体" charset="-122"/>
                </a:rPr>
                <a:t>   </a:t>
              </a:r>
              <a:r>
                <a:rPr lang="en-US" altLang="zh-CN" b="1" smtClean="0">
                  <a:solidFill>
                    <a:srgbClr val="006BA9"/>
                  </a:solidFill>
                  <a:ea typeface="微软雅黑" pitchFamily="34" charset="-122"/>
                  <a:sym typeface="宋体" charset="-122"/>
                </a:rPr>
                <a:t>JDBC</a:t>
              </a:r>
              <a:r>
                <a:rPr lang="zh-CN" altLang="en-US" b="1" smtClean="0">
                  <a:solidFill>
                    <a:srgbClr val="006BA9"/>
                  </a:solidFill>
                  <a:ea typeface="微软雅黑" pitchFamily="34" charset="-122"/>
                  <a:sym typeface="宋体" charset="-122"/>
                </a:rPr>
                <a:t>的常用</a:t>
              </a:r>
              <a:r>
                <a:rPr lang="en-US" altLang="zh-CN" b="1" smtClean="0">
                  <a:solidFill>
                    <a:srgbClr val="006BA9"/>
                  </a:solidFill>
                  <a:ea typeface="微软雅黑" pitchFamily="34" charset="-122"/>
                  <a:sym typeface="宋体" charset="-122"/>
                </a:rPr>
                <a:t>API</a:t>
              </a:r>
              <a:endParaRPr lang="en-US" altLang="zh-CN" b="1" dirty="0">
                <a:solidFill>
                  <a:srgbClr val="006BA9"/>
                </a:solidFill>
                <a:ea typeface="微软雅黑" pitchFamily="34" charset="-122"/>
                <a:sym typeface="宋体" charset="-122"/>
              </a:endParaRPr>
            </a:p>
          </p:txBody>
        </p:sp>
      </p:grpSp>
      <p:grpSp>
        <p:nvGrpSpPr>
          <p:cNvPr id="28" name="组合 6"/>
          <p:cNvGrpSpPr>
            <a:grpSpLocks/>
          </p:cNvGrpSpPr>
          <p:nvPr/>
        </p:nvGrpSpPr>
        <p:grpSpPr bwMode="auto">
          <a:xfrm>
            <a:off x="5802344" y="1802813"/>
            <a:ext cx="3522185" cy="906105"/>
            <a:chOff x="5947990" y="1827378"/>
            <a:chExt cx="3525360" cy="906134"/>
          </a:xfrm>
        </p:grpSpPr>
        <p:sp>
          <p:nvSpPr>
            <p:cNvPr id="29" name="矩形 5"/>
            <p:cNvSpPr>
              <a:spLocks noChangeArrowheads="1"/>
            </p:cNvSpPr>
            <p:nvPr/>
          </p:nvSpPr>
          <p:spPr bwMode="auto">
            <a:xfrm flipH="1">
              <a:off x="5962724" y="2050904"/>
              <a:ext cx="3510626" cy="493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en-US" altLang="zh-CN" b="1" smtClean="0">
                  <a:solidFill>
                    <a:srgbClr val="01598B"/>
                  </a:solidFill>
                  <a:latin typeface="微软雅黑" pitchFamily="34" charset="-122"/>
                  <a:ea typeface="微软雅黑" pitchFamily="34" charset="-122"/>
                </a:rPr>
                <a:t>JDBC</a:t>
              </a:r>
              <a:r>
                <a:rPr lang="zh-CN" altLang="en-US" b="1" smtClean="0">
                  <a:solidFill>
                    <a:srgbClr val="01598B"/>
                  </a:solidFill>
                  <a:latin typeface="微软雅黑" pitchFamily="34" charset="-122"/>
                  <a:ea typeface="微软雅黑" pitchFamily="34" charset="-122"/>
                </a:rPr>
                <a:t>操作数据库的步骤</a:t>
              </a:r>
              <a:endParaRPr lang="en-US" altLang="zh-CN" b="1" smtClean="0">
                <a:solidFill>
                  <a:srgbClr val="0159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0" name="组合 16"/>
            <p:cNvGrpSpPr>
              <a:grpSpLocks/>
            </p:cNvGrpSpPr>
            <p:nvPr/>
          </p:nvGrpSpPr>
          <p:grpSpPr bwMode="auto">
            <a:xfrm flipH="1">
              <a:off x="5947990" y="2286831"/>
              <a:ext cx="3039273" cy="446681"/>
              <a:chOff x="980659" y="2862509"/>
              <a:chExt cx="3177995" cy="446892"/>
            </a:xfrm>
          </p:grpSpPr>
          <p:cxnSp>
            <p:nvCxnSpPr>
              <p:cNvPr id="34" name="直接连接符 7"/>
              <p:cNvCxnSpPr>
                <a:cxnSpLocks noChangeShapeType="1"/>
              </p:cNvCxnSpPr>
              <p:nvPr/>
            </p:nvCxnSpPr>
            <p:spPr bwMode="auto">
              <a:xfrm>
                <a:off x="980659" y="2862509"/>
                <a:ext cx="255076" cy="446892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直接连接符 10"/>
              <p:cNvCxnSpPr>
                <a:cxnSpLocks noChangeShapeType="1"/>
              </p:cNvCxnSpPr>
              <p:nvPr/>
            </p:nvCxnSpPr>
            <p:spPr bwMode="auto">
              <a:xfrm>
                <a:off x="1235735" y="3294594"/>
                <a:ext cx="2922919" cy="14807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1" name="组合 15"/>
            <p:cNvGrpSpPr>
              <a:grpSpLocks/>
            </p:cNvGrpSpPr>
            <p:nvPr/>
          </p:nvGrpSpPr>
          <p:grpSpPr bwMode="auto">
            <a:xfrm flipH="1">
              <a:off x="8767739" y="1827378"/>
              <a:ext cx="489391" cy="520715"/>
              <a:chOff x="1383068" y="4069721"/>
              <a:chExt cx="511727" cy="520961"/>
            </a:xfrm>
          </p:grpSpPr>
          <p:sp>
            <p:nvSpPr>
              <p:cNvPr id="32" name="椭圆 31"/>
              <p:cNvSpPr/>
              <p:nvPr/>
            </p:nvSpPr>
            <p:spPr bwMode="auto">
              <a:xfrm>
                <a:off x="1383068" y="4085604"/>
                <a:ext cx="511727" cy="473312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491055" y="4069721"/>
                <a:ext cx="335613" cy="520961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 smtClean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6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学习目标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585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755576" y="2051556"/>
            <a:ext cx="4896544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1097740" y="2186280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.1    </a:t>
            </a:r>
            <a:r>
              <a:rPr lang="zh-CN" altLang="en-US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什么是</a:t>
            </a:r>
            <a:r>
              <a:rPr lang="en-US" altLang="zh-CN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JDBC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2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10"/>
          <p:cNvSpPr txBox="1"/>
          <p:nvPr/>
        </p:nvSpPr>
        <p:spPr>
          <a:xfrm>
            <a:off x="1097740" y="2786347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.2</a:t>
            </a:r>
            <a:r>
              <a:rPr lang="en-US" altLang="zh-CN" sz="240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smtClean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JDBC</a:t>
            </a:r>
            <a:r>
              <a:rPr lang="zh-CN" altLang="en-US" sz="2400" smtClean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常用</a:t>
            </a:r>
            <a:r>
              <a:rPr lang="en-US" altLang="zh-CN" sz="2400" smtClean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API</a:t>
            </a:r>
            <a:endParaRPr lang="zh-CN" altLang="en-US" sz="2400" dirty="0">
              <a:solidFill>
                <a:prstClr val="white">
                  <a:lumMod val="50000"/>
                </a:prst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1097740" y="333840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.3    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实现第一个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JDBC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程序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897998" y="1712810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4860032" y="2492896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1097740" y="3851756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.4    </a:t>
            </a:r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PreparedStatement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对象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1097740" y="435581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.5    ResultSet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对象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378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875928" y="2056060"/>
            <a:ext cx="7646987" cy="1327150"/>
          </a:xfrm>
          <a:prstGeom prst="rect">
            <a:avLst/>
          </a:prstGeom>
          <a:ln w="19050">
            <a:solidFill>
              <a:srgbClr val="0066A1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955303" y="2132856"/>
            <a:ext cx="75771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JDBC</a:t>
            </a:r>
            <a:r>
              <a:rPr lang="zh-CN" altLang="zh-CN" sz="1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全称</a:t>
            </a: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数据库连接（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 Database Connectivity</a:t>
            </a:r>
            <a:r>
              <a:rPr lang="zh-CN" altLang="zh-CN" sz="1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</a:t>
            </a:r>
            <a:r>
              <a:rPr lang="zh-CN" altLang="en-US" sz="1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它是</a:t>
            </a: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一套用于执行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语句的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 </a:t>
            </a:r>
            <a:r>
              <a:rPr lang="en-US" altLang="zh-CN" sz="1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API</a:t>
            </a:r>
            <a:r>
              <a:rPr lang="zh-CN" altLang="en-US" sz="1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1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应用程序</a:t>
            </a: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可通过这套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API</a:t>
            </a: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连接到关系数据库，并使用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语句来完成对数据库中数据的查询、</a:t>
            </a:r>
            <a:r>
              <a:rPr lang="zh-CN" altLang="zh-CN" sz="1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更新</a:t>
            </a:r>
            <a:r>
              <a:rPr lang="zh-CN" altLang="en-US" sz="1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、新增和</a:t>
            </a:r>
            <a:r>
              <a:rPr lang="zh-CN" altLang="zh-CN" sz="1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删除</a:t>
            </a:r>
            <a:r>
              <a:rPr lang="zh-CN" altLang="en-US" sz="1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1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操作。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628" y="1024876"/>
            <a:ext cx="9144000" cy="891956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D1ECFF">
                  <a:alpha val="0"/>
                </a:srgbClr>
              </a:gs>
              <a:gs pos="49000">
                <a:srgbClr val="D1ECFF"/>
              </a:gs>
            </a:gsLst>
            <a:lin ang="0" scaled="0"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dirty="0"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1749425" y="1162847"/>
            <a:ext cx="30210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什么是</a:t>
            </a:r>
            <a:r>
              <a:rPr lang="en-US" altLang="zh-CN" sz="280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JDBC</a:t>
            </a:r>
            <a:r>
              <a:rPr lang="zh-CN" altLang="zh-CN" sz="2800">
                <a:latin typeface="微软雅黑" pitchFamily="34" charset="-122"/>
                <a:ea typeface="微软雅黑" pitchFamily="34" charset="-122"/>
              </a:rPr>
              <a:t>？</a:t>
            </a:r>
            <a:endParaRPr lang="zh-CN" altLang="en-US" sz="28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任意多边形 5"/>
          <p:cNvSpPr/>
          <p:nvPr/>
        </p:nvSpPr>
        <p:spPr bwMode="auto">
          <a:xfrm>
            <a:off x="5686053" y="1827039"/>
            <a:ext cx="2552700" cy="344487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6A1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7" name="矩形 75"/>
          <p:cNvSpPr>
            <a:spLocks noChangeArrowheads="1"/>
          </p:cNvSpPr>
          <p:nvPr/>
        </p:nvSpPr>
        <p:spPr bwMode="auto">
          <a:xfrm>
            <a:off x="5874965" y="1836564"/>
            <a:ext cx="21097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知识点概述</a:t>
            </a:r>
          </a:p>
        </p:txBody>
      </p:sp>
      <p:sp>
        <p:nvSpPr>
          <p:cNvPr id="10" name="圆角矩形 9"/>
          <p:cNvSpPr>
            <a:spLocks noChangeArrowheads="1"/>
          </p:cNvSpPr>
          <p:nvPr/>
        </p:nvSpPr>
        <p:spPr bwMode="auto">
          <a:xfrm>
            <a:off x="1552575" y="3497510"/>
            <a:ext cx="2552700" cy="3492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buFont typeface="Arial" charset="0"/>
              <a:buNone/>
            </a:pPr>
            <a:r>
              <a:rPr lang="zh-CN" altLang="en-US" sz="2000" b="1"/>
              <a:t>应用程序</a:t>
            </a:r>
          </a:p>
        </p:txBody>
      </p:sp>
      <p:sp>
        <p:nvSpPr>
          <p:cNvPr id="11" name="上下箭头 10"/>
          <p:cNvSpPr>
            <a:spLocks noChangeArrowheads="1"/>
          </p:cNvSpPr>
          <p:nvPr/>
        </p:nvSpPr>
        <p:spPr bwMode="auto">
          <a:xfrm>
            <a:off x="2686050" y="3878510"/>
            <a:ext cx="285750" cy="390525"/>
          </a:xfrm>
          <a:prstGeom prst="upDownArrow">
            <a:avLst>
              <a:gd name="adj1" fmla="val 50000"/>
              <a:gd name="adj2" fmla="val 49997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2" name="圆角矩形 11"/>
          <p:cNvSpPr>
            <a:spLocks noChangeArrowheads="1"/>
          </p:cNvSpPr>
          <p:nvPr/>
        </p:nvSpPr>
        <p:spPr bwMode="auto">
          <a:xfrm>
            <a:off x="1571625" y="4307135"/>
            <a:ext cx="2552700" cy="31432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buFont typeface="Arial" charset="0"/>
              <a:buNone/>
            </a:pPr>
            <a:r>
              <a:rPr lang="en-US" altLang="zh-CN" sz="2000" b="1"/>
              <a:t>JDBC</a:t>
            </a:r>
            <a:endParaRPr lang="zh-CN" altLang="en-US" sz="2000" b="1"/>
          </a:p>
        </p:txBody>
      </p:sp>
      <p:sp>
        <p:nvSpPr>
          <p:cNvPr id="13" name="圆角矩形 12"/>
          <p:cNvSpPr>
            <a:spLocks noChangeArrowheads="1"/>
          </p:cNvSpPr>
          <p:nvPr/>
        </p:nvSpPr>
        <p:spPr bwMode="auto">
          <a:xfrm>
            <a:off x="1590675" y="5107235"/>
            <a:ext cx="1095375" cy="29368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ctr" eaLnBrk="1" hangingPunct="1">
              <a:buFont typeface="Arial" charset="0"/>
              <a:buNone/>
            </a:pPr>
            <a:endParaRPr lang="en-US" altLang="zh-CN" sz="1200"/>
          </a:p>
          <a:p>
            <a:pPr algn="ctr" eaLnBrk="1" hangingPunct="1">
              <a:buFont typeface="Arial" charset="0"/>
              <a:buNone/>
            </a:pPr>
            <a:r>
              <a:rPr lang="en-US" altLang="zh-CN" sz="1200" b="1"/>
              <a:t>MySQL</a:t>
            </a:r>
            <a:r>
              <a:rPr lang="zh-CN" altLang="en-US" sz="1200" b="1"/>
              <a:t>驱动</a:t>
            </a:r>
          </a:p>
        </p:txBody>
      </p:sp>
      <p:sp>
        <p:nvSpPr>
          <p:cNvPr id="14" name="圆角矩形 13"/>
          <p:cNvSpPr>
            <a:spLocks noChangeArrowheads="1"/>
          </p:cNvSpPr>
          <p:nvPr/>
        </p:nvSpPr>
        <p:spPr bwMode="auto">
          <a:xfrm>
            <a:off x="3124200" y="5107235"/>
            <a:ext cx="1047750" cy="29368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eaLnBrk="1" hangingPunct="1">
              <a:buFont typeface="Arial" charset="0"/>
              <a:buNone/>
            </a:pPr>
            <a:endParaRPr lang="en-US" altLang="zh-CN" sz="1200"/>
          </a:p>
          <a:p>
            <a:pPr eaLnBrk="1" hangingPunct="1">
              <a:buFont typeface="Arial" charset="0"/>
              <a:buNone/>
            </a:pPr>
            <a:r>
              <a:rPr lang="en-US" altLang="zh-CN" sz="1200" b="1"/>
              <a:t>Oracle</a:t>
            </a:r>
            <a:r>
              <a:rPr lang="zh-CN" altLang="en-US" sz="1200" b="1"/>
              <a:t>驱动</a:t>
            </a:r>
          </a:p>
        </p:txBody>
      </p:sp>
      <p:sp>
        <p:nvSpPr>
          <p:cNvPr id="15" name="上下箭头 14"/>
          <p:cNvSpPr>
            <a:spLocks noChangeArrowheads="1"/>
          </p:cNvSpPr>
          <p:nvPr/>
        </p:nvSpPr>
        <p:spPr bwMode="auto">
          <a:xfrm>
            <a:off x="1976438" y="4659560"/>
            <a:ext cx="285750" cy="390525"/>
          </a:xfrm>
          <a:prstGeom prst="upDownArrow">
            <a:avLst>
              <a:gd name="adj1" fmla="val 50000"/>
              <a:gd name="adj2" fmla="val 49997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6" name="上下箭头 15"/>
          <p:cNvSpPr>
            <a:spLocks noChangeArrowheads="1"/>
          </p:cNvSpPr>
          <p:nvPr/>
        </p:nvSpPr>
        <p:spPr bwMode="auto">
          <a:xfrm>
            <a:off x="3500438" y="4678610"/>
            <a:ext cx="285750" cy="390525"/>
          </a:xfrm>
          <a:prstGeom prst="upDownArrow">
            <a:avLst>
              <a:gd name="adj1" fmla="val 50000"/>
              <a:gd name="adj2" fmla="val 49997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7" name="上下箭头 16"/>
          <p:cNvSpPr>
            <a:spLocks noChangeArrowheads="1"/>
          </p:cNvSpPr>
          <p:nvPr/>
        </p:nvSpPr>
        <p:spPr bwMode="auto">
          <a:xfrm>
            <a:off x="2005013" y="5450135"/>
            <a:ext cx="285750" cy="390525"/>
          </a:xfrm>
          <a:prstGeom prst="upDownArrow">
            <a:avLst>
              <a:gd name="adj1" fmla="val 50000"/>
              <a:gd name="adj2" fmla="val 49997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8" name="上下箭头 17"/>
          <p:cNvSpPr>
            <a:spLocks noChangeArrowheads="1"/>
          </p:cNvSpPr>
          <p:nvPr/>
        </p:nvSpPr>
        <p:spPr bwMode="auto">
          <a:xfrm>
            <a:off x="3529013" y="5459660"/>
            <a:ext cx="285750" cy="390525"/>
          </a:xfrm>
          <a:prstGeom prst="upDownArrow">
            <a:avLst>
              <a:gd name="adj1" fmla="val 50000"/>
              <a:gd name="adj2" fmla="val 49997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9" name="流程图: 磁盘 18"/>
          <p:cNvSpPr>
            <a:spLocks noChangeArrowheads="1"/>
          </p:cNvSpPr>
          <p:nvPr/>
        </p:nvSpPr>
        <p:spPr bwMode="auto">
          <a:xfrm>
            <a:off x="1590675" y="5859710"/>
            <a:ext cx="1095375" cy="609600"/>
          </a:xfrm>
          <a:prstGeom prst="flowChartMagneticDisk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>
              <a:buFont typeface="Arial" charset="0"/>
              <a:buNone/>
            </a:pPr>
            <a:r>
              <a:rPr lang="en-US" altLang="zh-CN" b="1"/>
              <a:t>MySQL</a:t>
            </a:r>
            <a:endParaRPr lang="zh-CN" altLang="en-US" b="1"/>
          </a:p>
        </p:txBody>
      </p:sp>
      <p:sp>
        <p:nvSpPr>
          <p:cNvPr id="20" name="流程图: 磁盘 19"/>
          <p:cNvSpPr>
            <a:spLocks noChangeArrowheads="1"/>
          </p:cNvSpPr>
          <p:nvPr/>
        </p:nvSpPr>
        <p:spPr bwMode="auto">
          <a:xfrm>
            <a:off x="3100388" y="5878760"/>
            <a:ext cx="1095375" cy="609600"/>
          </a:xfrm>
          <a:prstGeom prst="flowChartMagneticDisk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>
              <a:buFont typeface="Arial" charset="0"/>
              <a:buNone/>
            </a:pPr>
            <a:r>
              <a:rPr lang="en-US" altLang="zh-CN" b="1"/>
              <a:t>Oracle</a:t>
            </a:r>
            <a:endParaRPr lang="zh-CN" altLang="en-US" b="1"/>
          </a:p>
        </p:txBody>
      </p:sp>
      <p:sp>
        <p:nvSpPr>
          <p:cNvPr id="21" name="圆角矩形标注 20"/>
          <p:cNvSpPr/>
          <p:nvPr/>
        </p:nvSpPr>
        <p:spPr bwMode="auto">
          <a:xfrm>
            <a:off x="4594225" y="3497510"/>
            <a:ext cx="3506167" cy="2421161"/>
          </a:xfrm>
          <a:prstGeom prst="wedgeRoundRectCallout">
            <a:avLst>
              <a:gd name="adj1" fmla="val -59086"/>
              <a:gd name="adj2" fmla="val -4627"/>
              <a:gd name="adj3" fmla="val 16667"/>
            </a:avLst>
          </a:prstGeom>
          <a:solidFill>
            <a:srgbClr val="0070C0"/>
          </a:solidFill>
          <a:ln w="25400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zh-CN" sz="1400" b="1" dirty="0">
                <a:solidFill>
                  <a:schemeClr val="bg1"/>
                </a:solidFill>
                <a:latin typeface="+mn-ea"/>
              </a:rPr>
              <a:t>应用程序使用</a:t>
            </a:r>
            <a:r>
              <a:rPr lang="en-US" altLang="zh-CN" sz="1400" b="1" dirty="0">
                <a:solidFill>
                  <a:schemeClr val="bg1"/>
                </a:solidFill>
                <a:latin typeface="+mn-ea"/>
              </a:rPr>
              <a:t>JDBC</a:t>
            </a:r>
            <a:r>
              <a:rPr lang="zh-CN" altLang="zh-CN" sz="1400" b="1" dirty="0">
                <a:solidFill>
                  <a:schemeClr val="bg1"/>
                </a:solidFill>
                <a:latin typeface="+mn-ea"/>
              </a:rPr>
              <a:t>访问特定的数据库时，需要与不同的数据库驱动进行连接。由于不同数据库厂商提供的数据库驱动不同，因此，为了使应用程序与数据库真正建立连接，</a:t>
            </a:r>
            <a:r>
              <a:rPr lang="en-US" altLang="zh-CN" sz="1400" b="1" dirty="0">
                <a:solidFill>
                  <a:schemeClr val="bg1"/>
                </a:solidFill>
                <a:latin typeface="+mn-ea"/>
              </a:rPr>
              <a:t>JDBC</a:t>
            </a:r>
            <a:r>
              <a:rPr lang="zh-CN" altLang="zh-CN" sz="1400" b="1" dirty="0">
                <a:solidFill>
                  <a:schemeClr val="bg1"/>
                </a:solidFill>
                <a:latin typeface="+mn-ea"/>
              </a:rPr>
              <a:t>不仅需要提供访问数据库的</a:t>
            </a:r>
            <a:r>
              <a:rPr lang="en-US" altLang="zh-CN" sz="1400" b="1" dirty="0">
                <a:solidFill>
                  <a:schemeClr val="bg1"/>
                </a:solidFill>
                <a:latin typeface="+mn-ea"/>
              </a:rPr>
              <a:t>API</a:t>
            </a:r>
            <a:r>
              <a:rPr lang="zh-CN" altLang="zh-CN" sz="1400" b="1" dirty="0">
                <a:solidFill>
                  <a:schemeClr val="bg1"/>
                </a:solidFill>
                <a:latin typeface="+mn-ea"/>
              </a:rPr>
              <a:t>，还需要封装与各种数据库服务器通信的细节。</a:t>
            </a:r>
          </a:p>
          <a:p>
            <a:pPr eaLnBrk="1" hangingPunct="1">
              <a:lnSpc>
                <a:spcPct val="150000"/>
              </a:lnSpc>
              <a:defRPr/>
            </a:pPr>
            <a:endParaRPr lang="zh-CN" altLang="en-US" sz="1400" dirty="0">
              <a:latin typeface="+mn-ea"/>
              <a:ea typeface="+mn-ea"/>
            </a:endParaRPr>
          </a:p>
        </p:txBody>
      </p:sp>
      <p:pic>
        <p:nvPicPr>
          <p:cNvPr id="22" name="Picture 8" descr="问小人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909588"/>
            <a:ext cx="1460500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什么是</a:t>
            </a:r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JDBC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638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500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 animBg="1"/>
      <p:bldP spid="7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755576" y="2636912"/>
            <a:ext cx="4896544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1097740" y="2186280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9.1    </a:t>
            </a:r>
            <a:r>
              <a:rPr lang="zh-CN" altLang="en-US" sz="240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什么是</a:t>
            </a:r>
            <a:r>
              <a:rPr lang="en-US" altLang="zh-CN" sz="240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JDBC</a:t>
            </a:r>
            <a:r>
              <a:rPr lang="zh-CN" altLang="en-US" sz="240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 </a:t>
            </a:r>
            <a:endParaRPr lang="zh-CN" altLang="en-US" sz="2400" dirty="0">
              <a:solidFill>
                <a:prstClr val="white">
                  <a:lumMod val="50000"/>
                </a:prst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4" name="TextBox 10"/>
          <p:cNvSpPr txBox="1"/>
          <p:nvPr/>
        </p:nvSpPr>
        <p:spPr>
          <a:xfrm>
            <a:off x="1097740" y="2786347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9.2    JDBC</a:t>
            </a:r>
            <a:r>
              <a:rPr lang="zh-CN" altLang="en-US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常用</a:t>
            </a:r>
            <a:r>
              <a:rPr lang="en-US" altLang="zh-CN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API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1097740" y="333840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.3    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实现第一个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JDBC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程序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897998" y="1712810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4860032" y="2492896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1097740" y="3851756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.4    </a:t>
            </a:r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PreparedStatement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对象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1097740" y="435581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.5    ResultSet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对象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803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5"/>
          <p:cNvSpPr>
            <a:spLocks noChangeArrowheads="1"/>
          </p:cNvSpPr>
          <p:nvPr/>
        </p:nvSpPr>
        <p:spPr bwMode="auto">
          <a:xfrm>
            <a:off x="2746946" y="2725440"/>
            <a:ext cx="1841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 altLang="zh-CN" sz="1600">
              <a:solidFill>
                <a:schemeClr val="bg1"/>
              </a:solidFill>
            </a:endParaRPr>
          </a:p>
          <a:p>
            <a:endParaRPr lang="zh-CN" altLang="zh-CN" sz="1600"/>
          </a:p>
          <a:p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3" name="矩形 9"/>
          <p:cNvSpPr>
            <a:spLocks noChangeArrowheads="1"/>
          </p:cNvSpPr>
          <p:nvPr/>
        </p:nvSpPr>
        <p:spPr bwMode="auto">
          <a:xfrm>
            <a:off x="2826321" y="4501853"/>
            <a:ext cx="37893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</a:rPr>
              <a:t>JDBC</a:t>
            </a:r>
            <a:r>
              <a:rPr lang="zh-CN" altLang="zh-CN" sz="1600">
                <a:solidFill>
                  <a:schemeClr val="bg1"/>
                </a:solidFill>
              </a:rPr>
              <a:t>驱动器：由数据库厂商创建，也称为</a:t>
            </a:r>
            <a:r>
              <a:rPr lang="en-US" altLang="zh-CN" sz="1600">
                <a:solidFill>
                  <a:schemeClr val="bg1"/>
                </a:solidFill>
              </a:rPr>
              <a:t>JDBC</a:t>
            </a:r>
            <a:r>
              <a:rPr lang="zh-CN" altLang="zh-CN" sz="1600">
                <a:solidFill>
                  <a:schemeClr val="bg1"/>
                </a:solidFill>
              </a:rPr>
              <a:t>驱动程序。负责与特定的数据库连接，以及处理通信细节。</a:t>
            </a:r>
          </a:p>
        </p:txBody>
      </p:sp>
      <p:sp>
        <p:nvSpPr>
          <p:cNvPr id="4" name="AutoShape 2"/>
          <p:cNvSpPr>
            <a:spLocks noChangeArrowheads="1"/>
          </p:cNvSpPr>
          <p:nvPr/>
        </p:nvSpPr>
        <p:spPr bwMode="grayWhite">
          <a:xfrm>
            <a:off x="847725" y="1268760"/>
            <a:ext cx="7058025" cy="4635500"/>
          </a:xfrm>
          <a:prstGeom prst="roundRect">
            <a:avLst>
              <a:gd name="adj" fmla="val 9583"/>
            </a:avLst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9050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rgbClr val="C0C0C0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zh-CN"/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1243583" y="2057103"/>
            <a:ext cx="5921375" cy="228600"/>
            <a:chOff x="1392" y="2775"/>
            <a:chExt cx="3730" cy="144"/>
          </a:xfrm>
        </p:grpSpPr>
        <p:sp>
          <p:nvSpPr>
            <p:cNvPr id="6" name="Line 20"/>
            <p:cNvSpPr>
              <a:spLocks noChangeShapeType="1"/>
            </p:cNvSpPr>
            <p:nvPr/>
          </p:nvSpPr>
          <p:spPr bwMode="auto">
            <a:xfrm>
              <a:off x="1536" y="2847"/>
              <a:ext cx="3586" cy="8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Oval 21"/>
            <p:cNvSpPr>
              <a:spLocks noChangeArrowheads="1"/>
            </p:cNvSpPr>
            <p:nvPr/>
          </p:nvSpPr>
          <p:spPr bwMode="gray">
            <a:xfrm>
              <a:off x="1392" y="2775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66C5F4"/>
                </a:gs>
                <a:gs pos="100000">
                  <a:srgbClr val="4483A3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1234058" y="2715915"/>
            <a:ext cx="5930900" cy="228600"/>
            <a:chOff x="1392" y="1848"/>
            <a:chExt cx="3736" cy="144"/>
          </a:xfrm>
        </p:grpSpPr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1536" y="1920"/>
              <a:ext cx="3592" cy="0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gray">
            <a:xfrm>
              <a:off x="1392" y="1848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DCDC48"/>
                </a:gs>
                <a:gs pos="100000">
                  <a:srgbClr val="93933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3"/>
          <p:cNvGrpSpPr>
            <a:grpSpLocks/>
          </p:cNvGrpSpPr>
          <p:nvPr/>
        </p:nvGrpSpPr>
        <p:grpSpPr bwMode="auto">
          <a:xfrm>
            <a:off x="1243583" y="3330278"/>
            <a:ext cx="5921375" cy="228600"/>
            <a:chOff x="1392" y="1536"/>
            <a:chExt cx="3730" cy="144"/>
          </a:xfrm>
        </p:grpSpPr>
        <p:sp>
          <p:nvSpPr>
            <p:cNvPr id="12" name="Line 4"/>
            <p:cNvSpPr>
              <a:spLocks noChangeShapeType="1"/>
            </p:cNvSpPr>
            <p:nvPr/>
          </p:nvSpPr>
          <p:spPr bwMode="auto">
            <a:xfrm>
              <a:off x="1536" y="1608"/>
              <a:ext cx="3586" cy="8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Oval 5"/>
            <p:cNvSpPr>
              <a:spLocks noChangeArrowheads="1"/>
            </p:cNvSpPr>
            <p:nvPr/>
          </p:nvSpPr>
          <p:spPr bwMode="gray">
            <a:xfrm>
              <a:off x="1392" y="15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E96E29"/>
                </a:gs>
                <a:gs pos="100000">
                  <a:srgbClr val="9B491B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19"/>
          <p:cNvGrpSpPr>
            <a:grpSpLocks/>
          </p:cNvGrpSpPr>
          <p:nvPr/>
        </p:nvGrpSpPr>
        <p:grpSpPr bwMode="auto">
          <a:xfrm>
            <a:off x="1243583" y="3933528"/>
            <a:ext cx="5921375" cy="228600"/>
            <a:chOff x="1392" y="2775"/>
            <a:chExt cx="3730" cy="144"/>
          </a:xfrm>
        </p:grpSpPr>
        <p:sp>
          <p:nvSpPr>
            <p:cNvPr id="15" name="Line 20"/>
            <p:cNvSpPr>
              <a:spLocks noChangeShapeType="1"/>
            </p:cNvSpPr>
            <p:nvPr/>
          </p:nvSpPr>
          <p:spPr bwMode="auto">
            <a:xfrm>
              <a:off x="1536" y="2847"/>
              <a:ext cx="3586" cy="1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Oval 21"/>
            <p:cNvSpPr>
              <a:spLocks noChangeArrowheads="1"/>
            </p:cNvSpPr>
            <p:nvPr/>
          </p:nvSpPr>
          <p:spPr bwMode="gray">
            <a:xfrm>
              <a:off x="1392" y="2775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66C5F4"/>
                </a:gs>
                <a:gs pos="100000">
                  <a:srgbClr val="4483A3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7"/>
          <p:cNvGrpSpPr>
            <a:grpSpLocks/>
          </p:cNvGrpSpPr>
          <p:nvPr/>
        </p:nvGrpSpPr>
        <p:grpSpPr bwMode="auto">
          <a:xfrm>
            <a:off x="1243583" y="4549478"/>
            <a:ext cx="5921375" cy="228600"/>
            <a:chOff x="1392" y="1848"/>
            <a:chExt cx="3730" cy="144"/>
          </a:xfrm>
        </p:grpSpPr>
        <p:sp>
          <p:nvSpPr>
            <p:cNvPr id="18" name="Line 8"/>
            <p:cNvSpPr>
              <a:spLocks noChangeShapeType="1"/>
            </p:cNvSpPr>
            <p:nvPr/>
          </p:nvSpPr>
          <p:spPr bwMode="auto">
            <a:xfrm>
              <a:off x="1536" y="1920"/>
              <a:ext cx="3586" cy="0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Oval 9"/>
            <p:cNvSpPr>
              <a:spLocks noChangeArrowheads="1"/>
            </p:cNvSpPr>
            <p:nvPr/>
          </p:nvSpPr>
          <p:spPr bwMode="gray">
            <a:xfrm>
              <a:off x="1392" y="1848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DCDC48"/>
                </a:gs>
                <a:gs pos="100000">
                  <a:srgbClr val="93933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619672" y="1815803"/>
            <a:ext cx="548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/>
              <a:t>Driver</a:t>
            </a:r>
            <a:r>
              <a:rPr lang="zh-CN" altLang="zh-CN" smtClean="0"/>
              <a:t>接口</a:t>
            </a:r>
            <a:r>
              <a:rPr lang="zh-CN" altLang="en-US" smtClean="0"/>
              <a:t>：所有</a:t>
            </a:r>
            <a:r>
              <a:rPr lang="en-US" altLang="zh-CN" smtClean="0"/>
              <a:t>JDBC</a:t>
            </a:r>
            <a:r>
              <a:rPr lang="zh-CN" altLang="en-US" smtClean="0"/>
              <a:t>驱动必须实现的接口。</a:t>
            </a:r>
            <a:endParaRPr lang="zh-CN" altLang="zh-CN"/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1619672" y="2477790"/>
            <a:ext cx="60215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/>
              <a:t>DriverManager</a:t>
            </a:r>
            <a:r>
              <a:rPr lang="zh-CN" altLang="zh-CN" smtClean="0"/>
              <a:t>类</a:t>
            </a:r>
            <a:r>
              <a:rPr lang="zh-CN" altLang="en-US" smtClean="0"/>
              <a:t>：加载</a:t>
            </a:r>
            <a:r>
              <a:rPr lang="en-US" altLang="zh-CN" smtClean="0"/>
              <a:t>JDBC</a:t>
            </a:r>
            <a:r>
              <a:rPr lang="zh-CN" altLang="en-US" smtClean="0"/>
              <a:t>驱动并创建与数据库的连接。</a:t>
            </a:r>
            <a:endParaRPr lang="zh-CN" altLang="zh-CN"/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1637283" y="3087390"/>
            <a:ext cx="5527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/>
              <a:t>Connection</a:t>
            </a:r>
            <a:r>
              <a:rPr lang="zh-CN" altLang="zh-CN" smtClean="0"/>
              <a:t>接口</a:t>
            </a:r>
            <a:r>
              <a:rPr lang="zh-CN" altLang="en-US" smtClean="0"/>
              <a:t>：代表</a:t>
            </a:r>
            <a:r>
              <a:rPr lang="en-US" altLang="zh-CN" smtClean="0"/>
              <a:t>Java</a:t>
            </a:r>
            <a:r>
              <a:rPr lang="zh-CN" altLang="en-US" smtClean="0"/>
              <a:t>程序和数据库的连接。</a:t>
            </a:r>
            <a:endParaRPr lang="zh-CN" altLang="zh-CN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08708" y="3679528"/>
            <a:ext cx="6275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/>
              <a:t>Statement</a:t>
            </a:r>
            <a:r>
              <a:rPr lang="zh-CN" altLang="zh-CN" smtClean="0"/>
              <a:t>接口</a:t>
            </a:r>
            <a:r>
              <a:rPr lang="zh-CN" altLang="en-US" smtClean="0"/>
              <a:t>：执行静态的</a:t>
            </a:r>
            <a:r>
              <a:rPr lang="en-US" altLang="zh-CN" smtClean="0"/>
              <a:t>SQL</a:t>
            </a:r>
            <a:r>
              <a:rPr lang="zh-CN" altLang="en-US" smtClean="0"/>
              <a:t>语句，并返回一个结果对象。</a:t>
            </a:r>
            <a:endParaRPr lang="zh-CN" altLang="zh-CN"/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1600770" y="4322465"/>
            <a:ext cx="55641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/>
              <a:t>PreparedStatement</a:t>
            </a:r>
            <a:r>
              <a:rPr lang="zh-CN" altLang="zh-CN" smtClean="0"/>
              <a:t>接口</a:t>
            </a:r>
            <a:r>
              <a:rPr lang="zh-CN" altLang="en-US" smtClean="0"/>
              <a:t>：执行预编译的</a:t>
            </a:r>
            <a:r>
              <a:rPr lang="en-US" altLang="zh-CN" smtClean="0"/>
              <a:t>SQL</a:t>
            </a:r>
            <a:r>
              <a:rPr lang="zh-CN" altLang="en-US" smtClean="0"/>
              <a:t>语句。</a:t>
            </a:r>
            <a:endParaRPr lang="zh-CN" altLang="zh-CN"/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1691680" y="1814934"/>
            <a:ext cx="1263650" cy="344488"/>
          </a:xfrm>
          <a:prstGeom prst="rect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cxnSp>
        <p:nvCxnSpPr>
          <p:cNvPr id="30" name="直接连接符 29"/>
          <p:cNvCxnSpPr>
            <a:cxnSpLocks noChangeShapeType="1"/>
            <a:stCxn id="29" idx="3"/>
          </p:cNvCxnSpPr>
          <p:nvPr/>
        </p:nvCxnSpPr>
        <p:spPr bwMode="auto">
          <a:xfrm>
            <a:off x="2955330" y="1987178"/>
            <a:ext cx="1702395" cy="0"/>
          </a:xfrm>
          <a:prstGeom prst="line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1680220" y="2519462"/>
            <a:ext cx="1920875" cy="373062"/>
          </a:xfrm>
          <a:prstGeom prst="rect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pic>
        <p:nvPicPr>
          <p:cNvPr id="32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268" y="2231430"/>
            <a:ext cx="5002212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3" name="直接连接符 32"/>
          <p:cNvCxnSpPr>
            <a:cxnSpLocks noChangeShapeType="1"/>
            <a:stCxn id="31" idx="3"/>
          </p:cNvCxnSpPr>
          <p:nvPr/>
        </p:nvCxnSpPr>
        <p:spPr bwMode="auto">
          <a:xfrm>
            <a:off x="3601095" y="2705199"/>
            <a:ext cx="250825" cy="0"/>
          </a:xfrm>
          <a:prstGeom prst="line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1679342" y="3116411"/>
            <a:ext cx="1812538" cy="411163"/>
          </a:xfrm>
          <a:prstGeom prst="rect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2462734"/>
            <a:ext cx="4965700" cy="171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" name="直接连接符 35"/>
          <p:cNvCxnSpPr>
            <a:cxnSpLocks noChangeShapeType="1"/>
            <a:stCxn id="34" idx="3"/>
          </p:cNvCxnSpPr>
          <p:nvPr/>
        </p:nvCxnSpPr>
        <p:spPr bwMode="auto">
          <a:xfrm>
            <a:off x="3491880" y="3321993"/>
            <a:ext cx="360040" cy="793"/>
          </a:xfrm>
          <a:prstGeom prst="line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1679342" y="3663330"/>
            <a:ext cx="1698377" cy="368300"/>
          </a:xfrm>
          <a:prstGeom prst="rect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1679342" y="4311402"/>
            <a:ext cx="2532618" cy="352376"/>
          </a:xfrm>
          <a:prstGeom prst="rect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pic>
        <p:nvPicPr>
          <p:cNvPr id="40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316" y="2879502"/>
            <a:ext cx="5056188" cy="190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641" y="2015406"/>
            <a:ext cx="4741863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2" name="Group 19"/>
          <p:cNvGrpSpPr>
            <a:grpSpLocks/>
          </p:cNvGrpSpPr>
          <p:nvPr/>
        </p:nvGrpSpPr>
        <p:grpSpPr bwMode="auto">
          <a:xfrm>
            <a:off x="1234058" y="5171182"/>
            <a:ext cx="5930900" cy="228600"/>
            <a:chOff x="1392" y="2775"/>
            <a:chExt cx="3736" cy="144"/>
          </a:xfrm>
        </p:grpSpPr>
        <p:sp>
          <p:nvSpPr>
            <p:cNvPr id="43" name="Line 20"/>
            <p:cNvSpPr>
              <a:spLocks noChangeShapeType="1"/>
            </p:cNvSpPr>
            <p:nvPr/>
          </p:nvSpPr>
          <p:spPr bwMode="auto">
            <a:xfrm>
              <a:off x="1536" y="2847"/>
              <a:ext cx="3592" cy="23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Oval 21"/>
            <p:cNvSpPr>
              <a:spLocks noChangeArrowheads="1"/>
            </p:cNvSpPr>
            <p:nvPr/>
          </p:nvSpPr>
          <p:spPr bwMode="gray">
            <a:xfrm>
              <a:off x="1392" y="2775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66C5F4"/>
                </a:gs>
                <a:gs pos="100000">
                  <a:srgbClr val="4483A3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cxnSp>
        <p:nvCxnSpPr>
          <p:cNvPr id="45" name="直接连接符 44"/>
          <p:cNvCxnSpPr>
            <a:cxnSpLocks noChangeShapeType="1"/>
          </p:cNvCxnSpPr>
          <p:nvPr/>
        </p:nvCxnSpPr>
        <p:spPr bwMode="auto">
          <a:xfrm flipV="1">
            <a:off x="3401333" y="3847480"/>
            <a:ext cx="594603" cy="1"/>
          </a:xfrm>
          <a:prstGeom prst="line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1637283" y="4952107"/>
            <a:ext cx="55276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/>
              <a:t>ResultSet</a:t>
            </a:r>
            <a:r>
              <a:rPr lang="zh-CN" altLang="zh-CN" smtClean="0"/>
              <a:t>接口</a:t>
            </a:r>
            <a:r>
              <a:rPr lang="zh-CN" altLang="en-US" smtClean="0"/>
              <a:t>：保存</a:t>
            </a:r>
            <a:r>
              <a:rPr lang="en-US" altLang="zh-CN" smtClean="0"/>
              <a:t>JDBC</a:t>
            </a:r>
            <a:r>
              <a:rPr lang="zh-CN" altLang="en-US" smtClean="0"/>
              <a:t>执行查询时返回的结果集。</a:t>
            </a:r>
            <a:endParaRPr lang="zh-CN" altLang="zh-CN"/>
          </a:p>
        </p:txBody>
      </p:sp>
      <p:sp>
        <p:nvSpPr>
          <p:cNvPr id="50" name="矩形 49"/>
          <p:cNvSpPr>
            <a:spLocks noChangeArrowheads="1"/>
          </p:cNvSpPr>
          <p:nvPr/>
        </p:nvSpPr>
        <p:spPr bwMode="auto">
          <a:xfrm>
            <a:off x="1679342" y="4967734"/>
            <a:ext cx="1590314" cy="369887"/>
          </a:xfrm>
          <a:prstGeom prst="rect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cxnSp>
        <p:nvCxnSpPr>
          <p:cNvPr id="52" name="直接连接符 51"/>
          <p:cNvCxnSpPr>
            <a:cxnSpLocks noChangeShapeType="1"/>
          </p:cNvCxnSpPr>
          <p:nvPr/>
        </p:nvCxnSpPr>
        <p:spPr bwMode="auto">
          <a:xfrm>
            <a:off x="3269655" y="5186809"/>
            <a:ext cx="726281" cy="0"/>
          </a:xfrm>
          <a:prstGeom prst="line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剪去单角的矩形 53"/>
          <p:cNvSpPr/>
          <p:nvPr/>
        </p:nvSpPr>
        <p:spPr bwMode="auto">
          <a:xfrm>
            <a:off x="4624388" y="1519784"/>
            <a:ext cx="3838575" cy="855662"/>
          </a:xfrm>
          <a:prstGeom prst="snip1Rect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defRPr/>
            </a:pPr>
            <a:r>
              <a:rPr lang="zh-CN" altLang="zh-CN" sz="1400" smtClean="0">
                <a:latin typeface="黑体" panose="02010609060101010101" pitchFamily="49" charset="-122"/>
                <a:ea typeface="黑体" panose="02010609060101010101" pitchFamily="49" charset="-122"/>
              </a:rPr>
              <a:t>该</a:t>
            </a:r>
            <a:r>
              <a:rPr lang="zh-CN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接口专门提供给数据库厂商使用。在编写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JDBC</a:t>
            </a:r>
            <a:r>
              <a:rPr lang="zh-CN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程序时，必须要把指定数据库驱动程序或类库加载到项目的</a:t>
            </a:r>
            <a:r>
              <a:rPr lang="en-US" altLang="zh-CN" sz="1400" dirty="0" err="1">
                <a:latin typeface="黑体" panose="02010609060101010101" pitchFamily="49" charset="-122"/>
                <a:ea typeface="黑体" panose="02010609060101010101" pitchFamily="49" charset="-122"/>
              </a:rPr>
              <a:t>classpath</a:t>
            </a:r>
            <a:r>
              <a:rPr lang="zh-CN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7" name="直接连接符 46"/>
          <p:cNvCxnSpPr>
            <a:cxnSpLocks noChangeShapeType="1"/>
          </p:cNvCxnSpPr>
          <p:nvPr/>
        </p:nvCxnSpPr>
        <p:spPr bwMode="auto">
          <a:xfrm>
            <a:off x="4211960" y="4487590"/>
            <a:ext cx="147737" cy="0"/>
          </a:xfrm>
          <a:prstGeom prst="line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1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559421"/>
            <a:ext cx="5029200" cy="39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JDBC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常用</a:t>
            </a:r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API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375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9" grpId="0" animBg="1"/>
      <p:bldP spid="29" grpId="1" animBg="1"/>
      <p:bldP spid="31" grpId="0" animBg="1"/>
      <p:bldP spid="31" grpId="1" animBg="1"/>
      <p:bldP spid="34" grpId="0" animBg="1"/>
      <p:bldP spid="34" grpId="1" animBg="1"/>
      <p:bldP spid="37" grpId="0" animBg="1"/>
      <p:bldP spid="37" grpId="1" animBg="1"/>
      <p:bldP spid="38" grpId="0" animBg="1"/>
      <p:bldP spid="38" grpId="1" animBg="1"/>
      <p:bldP spid="46" grpId="0"/>
      <p:bldP spid="50" grpId="0" animBg="1"/>
      <p:bldP spid="54" grpId="0" animBg="1"/>
      <p:bldP spid="5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755576" y="3212976"/>
            <a:ext cx="4896544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1097740" y="2186280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9.1    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什么是</a:t>
            </a:r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JDBC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 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4" name="TextBox 10"/>
          <p:cNvSpPr txBox="1"/>
          <p:nvPr/>
        </p:nvSpPr>
        <p:spPr>
          <a:xfrm>
            <a:off x="1097740" y="2786347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9.2</a:t>
            </a:r>
            <a:r>
              <a:rPr lang="en-US" altLang="zh-CN" sz="240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smtClean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JDBC</a:t>
            </a:r>
            <a:r>
              <a:rPr lang="zh-CN" altLang="en-US" sz="2400" smtClean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常用</a:t>
            </a:r>
            <a:r>
              <a:rPr lang="en-US" altLang="zh-CN" sz="2400" smtClean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API</a:t>
            </a:r>
            <a:endParaRPr lang="zh-CN" altLang="en-US" sz="2400" dirty="0">
              <a:solidFill>
                <a:prstClr val="white">
                  <a:lumMod val="50000"/>
                </a:prst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1097740" y="333840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.3    </a:t>
            </a:r>
            <a:r>
              <a:rPr lang="zh-CN" altLang="en-US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实现第一个</a:t>
            </a:r>
            <a:r>
              <a:rPr lang="en-US" altLang="zh-CN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JDBC</a:t>
            </a:r>
            <a:r>
              <a:rPr lang="zh-CN" altLang="en-US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程序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897998" y="1712810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4860032" y="2492896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1097740" y="3851756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.4    </a:t>
            </a:r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PreparedStatement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对象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1097740" y="435581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.5    ResultSet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对象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803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527050" y="1827212"/>
            <a:ext cx="8137525" cy="4698131"/>
          </a:xfrm>
          <a:prstGeom prst="rect">
            <a:avLst/>
          </a:prstGeom>
          <a:ln w="19050">
            <a:solidFill>
              <a:srgbClr val="0066A1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" name="矩形 8"/>
          <p:cNvSpPr>
            <a:spLocks noChangeArrowheads="1"/>
          </p:cNvSpPr>
          <p:nvPr/>
        </p:nvSpPr>
        <p:spPr bwMode="auto">
          <a:xfrm>
            <a:off x="628650" y="1900238"/>
            <a:ext cx="7996238" cy="2723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lvl="4">
              <a:lnSpc>
                <a:spcPct val="150000"/>
              </a:lnSpc>
            </a:pPr>
            <a:r>
              <a:rPr lang="zh-CN" altLang="zh-CN" dirty="0">
                <a:latin typeface="宋体" charset="-122"/>
              </a:rPr>
              <a:t>通常，</a:t>
            </a:r>
            <a:r>
              <a:rPr lang="en-US" altLang="zh-CN" dirty="0">
                <a:latin typeface="宋体" charset="-122"/>
              </a:rPr>
              <a:t>JDBC</a:t>
            </a:r>
            <a:r>
              <a:rPr lang="zh-CN" altLang="zh-CN" dirty="0">
                <a:latin typeface="宋体" charset="-122"/>
              </a:rPr>
              <a:t>的使用可以按照以下几个步骤进行</a:t>
            </a:r>
            <a:r>
              <a:rPr lang="zh-CN" altLang="en-US" dirty="0">
                <a:latin typeface="宋体" charset="-122"/>
              </a:rPr>
              <a:t>：</a:t>
            </a:r>
            <a:endParaRPr lang="en-US" altLang="zh-CN" dirty="0">
              <a:latin typeface="宋体" charset="-122"/>
            </a:endParaRPr>
          </a:p>
          <a:p>
            <a:pPr marL="457200" lvl="4">
              <a:lnSpc>
                <a:spcPct val="150000"/>
              </a:lnSpc>
            </a:pPr>
            <a:r>
              <a:rPr lang="zh-CN" altLang="en-US" sz="1600" dirty="0">
                <a:latin typeface="宋体" charset="-122"/>
              </a:rPr>
              <a:t>（</a:t>
            </a:r>
            <a:r>
              <a:rPr lang="en-US" altLang="zh-CN" sz="1600" dirty="0">
                <a:latin typeface="宋体" charset="-122"/>
              </a:rPr>
              <a:t>1</a:t>
            </a:r>
            <a:r>
              <a:rPr lang="zh-CN" altLang="en-US" sz="1600" dirty="0">
                <a:latin typeface="宋体" charset="-122"/>
              </a:rPr>
              <a:t>）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加载并注册数据库驱动。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4"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DriverManager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获取数据库连接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4"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对象获取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4"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4"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操作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结果集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4"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关闭连接，释放资源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剪去对角的矩形 3"/>
          <p:cNvSpPr/>
          <p:nvPr/>
        </p:nvSpPr>
        <p:spPr bwMode="auto">
          <a:xfrm>
            <a:off x="539552" y="1128713"/>
            <a:ext cx="3454400" cy="577850"/>
          </a:xfrm>
          <a:prstGeom prst="snip2DiagRect">
            <a:avLst/>
          </a:prstGeom>
          <a:solidFill>
            <a:srgbClr val="0066A1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矩形 7"/>
          <p:cNvSpPr>
            <a:spLocks noChangeArrowheads="1"/>
          </p:cNvSpPr>
          <p:nvPr/>
        </p:nvSpPr>
        <p:spPr bwMode="auto">
          <a:xfrm>
            <a:off x="728465" y="1128713"/>
            <a:ext cx="3206750" cy="539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5000"/>
              </a:lnSpc>
            </a:pP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JDBC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的使用步骤</a:t>
            </a:r>
            <a:endParaRPr lang="zh-CN" altLang="zh-CN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剪去对角的矩形 3"/>
          <p:cNvSpPr>
            <a:spLocks/>
          </p:cNvSpPr>
          <p:nvPr/>
        </p:nvSpPr>
        <p:spPr bwMode="auto">
          <a:xfrm>
            <a:off x="892175" y="4549775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rgbClr val="0066A1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  <a:ex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案例代码</a:t>
            </a:r>
          </a:p>
        </p:txBody>
      </p:sp>
      <p:sp>
        <p:nvSpPr>
          <p:cNvPr id="7" name="矩形 1"/>
          <p:cNvSpPr>
            <a:spLocks noChangeArrowheads="1"/>
          </p:cNvSpPr>
          <p:nvPr/>
        </p:nvSpPr>
        <p:spPr bwMode="auto">
          <a:xfrm>
            <a:off x="808038" y="5200650"/>
            <a:ext cx="7708900" cy="87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    </a:t>
            </a:r>
            <a:r>
              <a:rPr lang="zh-CN" altLang="en-US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接下来通过一个案例来演示</a:t>
            </a:r>
            <a:r>
              <a:rPr lang="en-US" altLang="zh-CN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JDBC</a:t>
            </a:r>
            <a:r>
              <a:rPr lang="zh-CN" altLang="en-US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的具体使用。</a:t>
            </a:r>
            <a:r>
              <a:rPr lang="zh-CN" altLang="zh-CN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该程序从</a:t>
            </a:r>
            <a:r>
              <a:rPr lang="en-US" altLang="zh-CN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users</a:t>
            </a:r>
            <a:r>
              <a:rPr lang="zh-CN" altLang="zh-CN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表中读取数据，并将结果打印在控制台。</a:t>
            </a:r>
            <a:r>
              <a:rPr lang="zh-CN" altLang="en-US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请查看教材</a:t>
            </a:r>
            <a:r>
              <a:rPr lang="en-US" altLang="zh-CN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9.3</a:t>
            </a:r>
            <a:r>
              <a:rPr lang="zh-CN" altLang="en-US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小节的案例代码。</a:t>
            </a:r>
            <a:r>
              <a:rPr lang="en-US" altLang="zh-CN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lang="zh-CN" altLang="en-US" dirty="0">
              <a:solidFill>
                <a:srgbClr val="0066A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" name="直线连接符 9"/>
          <p:cNvCxnSpPr>
            <a:cxnSpLocks noChangeShapeType="1"/>
          </p:cNvCxnSpPr>
          <p:nvPr/>
        </p:nvCxnSpPr>
        <p:spPr bwMode="auto">
          <a:xfrm>
            <a:off x="808038" y="5124450"/>
            <a:ext cx="77089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实现第一个</a:t>
            </a:r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JDBC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程序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50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755576" y="3717032"/>
            <a:ext cx="4896544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1097740" y="2186280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9.1    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什么是</a:t>
            </a:r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JDBC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 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4" name="TextBox 10"/>
          <p:cNvSpPr txBox="1"/>
          <p:nvPr/>
        </p:nvSpPr>
        <p:spPr>
          <a:xfrm>
            <a:off x="1097740" y="2786347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8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.2</a:t>
            </a:r>
            <a:r>
              <a:rPr lang="en-US" altLang="zh-CN" sz="240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smtClean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JDBC</a:t>
            </a:r>
            <a:r>
              <a:rPr lang="zh-CN" altLang="en-US" sz="2400" smtClean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常用</a:t>
            </a:r>
            <a:r>
              <a:rPr lang="en-US" altLang="zh-CN" sz="2400" smtClean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API</a:t>
            </a:r>
            <a:endParaRPr lang="zh-CN" altLang="en-US" sz="2400" dirty="0">
              <a:solidFill>
                <a:prstClr val="white">
                  <a:lumMod val="50000"/>
                </a:prst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1097740" y="333840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.3    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实现第一个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JDBC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程序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897998" y="1712810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4860032" y="2492896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1097740" y="3851756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.4    </a:t>
            </a:r>
            <a:r>
              <a:rPr lang="en-US" altLang="zh-CN"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PreparedStatement</a:t>
            </a:r>
            <a:r>
              <a:rPr lang="zh-CN" altLang="en-US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对象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1097740" y="435581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.5    ResultSet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对象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803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504825" y="1625600"/>
            <a:ext cx="8229600" cy="3908425"/>
          </a:xfrm>
          <a:prstGeom prst="rect">
            <a:avLst/>
          </a:prstGeom>
          <a:ln w="19050">
            <a:solidFill>
              <a:srgbClr val="0066A1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" name="任意多边形 2"/>
          <p:cNvSpPr/>
          <p:nvPr/>
        </p:nvSpPr>
        <p:spPr bwMode="auto">
          <a:xfrm>
            <a:off x="4570611" y="1268760"/>
            <a:ext cx="3457773" cy="494382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6A1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0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PreparedStatement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对象</a:t>
            </a:r>
            <a:endParaRPr lang="zh-CN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8"/>
          <p:cNvSpPr>
            <a:spLocks noChangeArrowheads="1"/>
          </p:cNvSpPr>
          <p:nvPr/>
        </p:nvSpPr>
        <p:spPr bwMode="auto">
          <a:xfrm>
            <a:off x="552450" y="1772816"/>
            <a:ext cx="8143875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    </a:t>
            </a:r>
            <a:r>
              <a:rPr lang="en-US" altLang="zh-CN" dirty="0" smtClean="0"/>
              <a:t>   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PreparedStatement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对象可以对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语句进行预编译，预编译的信息会存储在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对象中。当相同的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语句再次执行时，程序会使用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PreparedStatement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对象中的数据，而不需要对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语句再次编译去查询数据库，这样就大大的提高了数据的访问效率。</a:t>
            </a:r>
          </a:p>
        </p:txBody>
      </p:sp>
      <p:sp>
        <p:nvSpPr>
          <p:cNvPr id="6" name="剪去对角的矩形 3"/>
          <p:cNvSpPr>
            <a:spLocks/>
          </p:cNvSpPr>
          <p:nvPr/>
        </p:nvSpPr>
        <p:spPr bwMode="auto">
          <a:xfrm>
            <a:off x="773113" y="3867150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rgbClr val="0066A1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  <a:ex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案例代码</a:t>
            </a:r>
          </a:p>
        </p:txBody>
      </p:sp>
      <p:sp>
        <p:nvSpPr>
          <p:cNvPr id="7" name="矩形 1"/>
          <p:cNvSpPr>
            <a:spLocks noChangeArrowheads="1"/>
          </p:cNvSpPr>
          <p:nvPr/>
        </p:nvSpPr>
        <p:spPr bwMode="auto">
          <a:xfrm>
            <a:off x="820738" y="4416425"/>
            <a:ext cx="75453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B0F0"/>
                </a:solidFill>
                <a:latin typeface="+mn-ea"/>
                <a:ea typeface="+mn-ea"/>
              </a:rPr>
              <a:t>    </a:t>
            </a:r>
            <a:r>
              <a:rPr lang="zh-CN" altLang="en-US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了解完</a:t>
            </a:r>
            <a:r>
              <a:rPr lang="en-US" altLang="zh-CN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PreparedStatement</a:t>
            </a:r>
            <a:r>
              <a:rPr lang="zh-CN" altLang="en-US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对象的作用后，接下来通过一个案例来演示</a:t>
            </a:r>
            <a:r>
              <a:rPr lang="en-US" altLang="zh-CN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PreparedStatement</a:t>
            </a:r>
            <a:r>
              <a:rPr lang="zh-CN" altLang="en-US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对象的使用</a:t>
            </a:r>
            <a:r>
              <a:rPr lang="zh-CN" altLang="zh-CN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请查看教材文件</a:t>
            </a:r>
            <a:r>
              <a:rPr lang="en-US" altLang="zh-CN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9-2</a:t>
            </a:r>
            <a:r>
              <a:rPr lang="zh-CN" altLang="en-US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</a:t>
            </a:r>
            <a:endParaRPr lang="zh-CN" altLang="en-US" dirty="0">
              <a:solidFill>
                <a:srgbClr val="00B0F0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线连接符 9"/>
          <p:cNvCxnSpPr>
            <a:cxnSpLocks noChangeShapeType="1"/>
          </p:cNvCxnSpPr>
          <p:nvPr/>
        </p:nvCxnSpPr>
        <p:spPr bwMode="auto">
          <a:xfrm>
            <a:off x="708025" y="4397375"/>
            <a:ext cx="7708900" cy="0"/>
          </a:xfrm>
          <a:prstGeom prst="line">
            <a:avLst/>
          </a:prstGeom>
          <a:noFill/>
          <a:ln w="28575">
            <a:solidFill>
              <a:srgbClr val="0066A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标题 1"/>
          <p:cNvSpPr>
            <a:spLocks noChangeArrowheads="1"/>
          </p:cNvSpPr>
          <p:nvPr/>
        </p:nvSpPr>
        <p:spPr bwMode="auto">
          <a:xfrm>
            <a:off x="1643733" y="389681"/>
            <a:ext cx="5376539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 err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PreparedStatement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对象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6276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755576" y="4221088"/>
            <a:ext cx="4896544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1097740" y="2186280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9.1    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什么是</a:t>
            </a:r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JDBC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 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4" name="TextBox 10"/>
          <p:cNvSpPr txBox="1"/>
          <p:nvPr/>
        </p:nvSpPr>
        <p:spPr>
          <a:xfrm>
            <a:off x="1097740" y="2786347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9.2</a:t>
            </a:r>
            <a:r>
              <a:rPr lang="en-US" altLang="zh-CN" sz="240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smtClean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JDBC</a:t>
            </a:r>
            <a:r>
              <a:rPr lang="zh-CN" altLang="en-US" sz="2400" smtClean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常用</a:t>
            </a:r>
            <a:r>
              <a:rPr lang="en-US" altLang="zh-CN" sz="2400" smtClean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API</a:t>
            </a:r>
            <a:endParaRPr lang="zh-CN" altLang="en-US" sz="2400" dirty="0">
              <a:solidFill>
                <a:prstClr val="white">
                  <a:lumMod val="50000"/>
                </a:prst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1097740" y="333840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.3    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实现第一个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JDBC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程序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897998" y="1712810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4860032" y="2492896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1097740" y="3851756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.4    </a:t>
            </a:r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PreparedStatement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对象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1097740" y="435581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9</a:t>
            </a:r>
            <a:r>
              <a:rPr lang="en-US" altLang="zh-CN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.5    ResultSet</a:t>
            </a:r>
            <a:r>
              <a:rPr lang="zh-CN" altLang="en-US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对象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803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296863" y="1400770"/>
            <a:ext cx="8524875" cy="5052418"/>
          </a:xfrm>
          <a:prstGeom prst="rect">
            <a:avLst/>
          </a:prstGeom>
          <a:ln w="19050">
            <a:solidFill>
              <a:srgbClr val="0066A1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" name="任意多边形 2"/>
          <p:cNvSpPr/>
          <p:nvPr/>
        </p:nvSpPr>
        <p:spPr bwMode="auto">
          <a:xfrm>
            <a:off x="5727402" y="1052736"/>
            <a:ext cx="2012950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6A1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>
              <a:solidFill>
                <a:prstClr val="white"/>
              </a:solidFill>
            </a:endParaRPr>
          </a:p>
        </p:txBody>
      </p:sp>
      <p:sp>
        <p:nvSpPr>
          <p:cNvPr id="4" name="矩形 7"/>
          <p:cNvSpPr>
            <a:spLocks noChangeArrowheads="1"/>
          </p:cNvSpPr>
          <p:nvPr/>
        </p:nvSpPr>
        <p:spPr bwMode="auto">
          <a:xfrm>
            <a:off x="5795665" y="1108299"/>
            <a:ext cx="1735137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 dirty="0" err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ResultSet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对象</a:t>
            </a:r>
            <a:endParaRPr lang="zh-CN" altLang="zh-CN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8"/>
          <p:cNvSpPr>
            <a:spLocks noChangeArrowheads="1"/>
          </p:cNvSpPr>
          <p:nvPr/>
        </p:nvSpPr>
        <p:spPr bwMode="auto">
          <a:xfrm>
            <a:off x="485775" y="1642070"/>
            <a:ext cx="82581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主要用于存储结果集，可以通过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next()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方法由前向后逐个获取结果集中的数据，如果想获取结果集中任意位置的数据，则需要在创建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对象时，设置两个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定义的常量，具体设置方式如下：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矩形 16"/>
          <p:cNvSpPr>
            <a:spLocks noChangeArrowheads="1"/>
          </p:cNvSpPr>
          <p:nvPr/>
        </p:nvSpPr>
        <p:spPr bwMode="auto">
          <a:xfrm>
            <a:off x="561975" y="3070820"/>
            <a:ext cx="8062913" cy="144780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1600" dirty="0"/>
              <a:t> Statement </a:t>
            </a:r>
            <a:r>
              <a:rPr lang="en-US" altLang="zh-CN" sz="1600" dirty="0" err="1"/>
              <a:t>st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conn.createStatement</a:t>
            </a:r>
            <a:r>
              <a:rPr lang="en-US" altLang="zh-CN" sz="1600" dirty="0"/>
              <a:t>(</a:t>
            </a:r>
            <a:endParaRPr lang="zh-CN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ResultSet.TYPE_SCROLL_INSENITIVE</a:t>
            </a:r>
            <a:r>
              <a:rPr lang="en-US" altLang="zh-CN" sz="1600" dirty="0"/>
              <a:t>, </a:t>
            </a:r>
            <a:endParaRPr lang="zh-CN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ResultSet.CONCUR_READ_ONLY</a:t>
            </a:r>
            <a:endParaRPr lang="zh-CN" altLang="zh-CN" sz="1600" dirty="0"/>
          </a:p>
          <a:p>
            <a:r>
              <a:rPr lang="en-US" altLang="zh-CN" sz="1600" dirty="0"/>
              <a:t>);</a:t>
            </a:r>
            <a:endParaRPr lang="zh-CN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ResultSet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rs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st.excuteQuery</a:t>
            </a:r>
            <a:r>
              <a:rPr lang="en-US" altLang="zh-CN" sz="1600" dirty="0"/>
              <a:t>(</a:t>
            </a:r>
            <a:r>
              <a:rPr lang="en-US" altLang="zh-CN" sz="1600" dirty="0" err="1"/>
              <a:t>sql</a:t>
            </a:r>
            <a:r>
              <a:rPr lang="en-US" altLang="zh-CN" sz="1600" dirty="0"/>
              <a:t>);</a:t>
            </a:r>
            <a:endParaRPr lang="zh-CN" altLang="zh-CN" sz="1600" dirty="0"/>
          </a:p>
        </p:txBody>
      </p:sp>
      <p:sp>
        <p:nvSpPr>
          <p:cNvPr id="7" name="剪去对角的矩形 3"/>
          <p:cNvSpPr>
            <a:spLocks/>
          </p:cNvSpPr>
          <p:nvPr/>
        </p:nvSpPr>
        <p:spPr bwMode="auto">
          <a:xfrm>
            <a:off x="639763" y="4691658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rgbClr val="0066A1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  <a:ex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0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案例</a:t>
            </a:r>
            <a:r>
              <a:rPr lang="zh-CN" altLang="en-US" sz="20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代码</a:t>
            </a:r>
          </a:p>
        </p:txBody>
      </p:sp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639763" y="5326658"/>
            <a:ext cx="77089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dirty="0" smtClean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接下来</a:t>
            </a:r>
            <a:r>
              <a:rPr lang="zh-CN" altLang="en-US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通过一个案例来演示</a:t>
            </a:r>
            <a:r>
              <a:rPr lang="zh-CN" altLang="zh-CN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如何使用</a:t>
            </a:r>
            <a:r>
              <a:rPr lang="en-US" altLang="zh-CN" dirty="0" err="1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ResultSet</a:t>
            </a:r>
            <a:r>
              <a:rPr lang="zh-CN" altLang="zh-CN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对象滚动读取结果集中的数据。</a:t>
            </a:r>
            <a:r>
              <a:rPr lang="zh-CN" altLang="en-US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请查看教材文件</a:t>
            </a:r>
            <a:r>
              <a:rPr lang="en-US" altLang="zh-CN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9-3</a:t>
            </a:r>
            <a:r>
              <a:rPr lang="zh-CN" altLang="en-US" dirty="0">
                <a:solidFill>
                  <a:srgbClr val="0066A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cxnSp>
        <p:nvCxnSpPr>
          <p:cNvPr id="9" name="直线连接符 9"/>
          <p:cNvCxnSpPr>
            <a:cxnSpLocks noChangeShapeType="1"/>
          </p:cNvCxnSpPr>
          <p:nvPr/>
        </p:nvCxnSpPr>
        <p:spPr bwMode="auto">
          <a:xfrm>
            <a:off x="639763" y="5221883"/>
            <a:ext cx="7708900" cy="0"/>
          </a:xfrm>
          <a:prstGeom prst="line">
            <a:avLst/>
          </a:prstGeom>
          <a:noFill/>
          <a:ln w="28575">
            <a:solidFill>
              <a:srgbClr val="0066A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0" name="组合 11"/>
          <p:cNvGrpSpPr>
            <a:grpSpLocks/>
          </p:cNvGrpSpPr>
          <p:nvPr/>
        </p:nvGrpSpPr>
        <p:grpSpPr bwMode="auto">
          <a:xfrm>
            <a:off x="3563888" y="3756621"/>
            <a:ext cx="5370562" cy="1169988"/>
            <a:chOff x="1202517" y="3664119"/>
            <a:chExt cx="5819775" cy="1281113"/>
          </a:xfrm>
        </p:grpSpPr>
        <p:sp>
          <p:nvSpPr>
            <p:cNvPr id="11" name="圆角矩形标注 14"/>
            <p:cNvSpPr>
              <a:spLocks noChangeArrowheads="1"/>
            </p:cNvSpPr>
            <p:nvPr/>
          </p:nvSpPr>
          <p:spPr bwMode="auto">
            <a:xfrm>
              <a:off x="1202517" y="3664119"/>
              <a:ext cx="5729288" cy="1281113"/>
            </a:xfrm>
            <a:prstGeom prst="wedgeRoundRectCallout">
              <a:avLst>
                <a:gd name="adj1" fmla="val -45940"/>
                <a:gd name="adj2" fmla="val -56745"/>
                <a:gd name="adj3" fmla="val 16667"/>
              </a:avLst>
            </a:prstGeom>
            <a:solidFill>
              <a:srgbClr val="0070C0"/>
            </a:solidFill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矩形 15"/>
            <p:cNvSpPr>
              <a:spLocks noChangeArrowheads="1"/>
            </p:cNvSpPr>
            <p:nvPr/>
          </p:nvSpPr>
          <p:spPr bwMode="auto">
            <a:xfrm>
              <a:off x="1316818" y="3756384"/>
              <a:ext cx="5705474" cy="11795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zh-CN" altLang="zh-CN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在上述方式中，常量“</a:t>
              </a:r>
              <a:r>
                <a:rPr lang="en-US" altLang="zh-CN" sz="16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Result.TYPE_SCROLL_INSENITIVE</a:t>
              </a:r>
              <a:r>
                <a:rPr lang="zh-CN" altLang="zh-CN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”表示结果集可滚动，常量“</a:t>
              </a:r>
              <a:r>
                <a:rPr lang="en-US" altLang="zh-CN" sz="16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ResultSet.CONCUR_READ_ONLY</a:t>
              </a:r>
              <a:r>
                <a:rPr lang="zh-CN" altLang="zh-CN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”表示以只读形式打开结果集。</a:t>
              </a:r>
            </a:p>
          </p:txBody>
        </p:sp>
      </p:grpSp>
      <p:sp>
        <p:nvSpPr>
          <p:cNvPr id="13" name="标题 1"/>
          <p:cNvSpPr>
            <a:spLocks noChangeArrowheads="1"/>
          </p:cNvSpPr>
          <p:nvPr/>
        </p:nvSpPr>
        <p:spPr bwMode="auto">
          <a:xfrm>
            <a:off x="1643733" y="389681"/>
            <a:ext cx="5376539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 err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ResultSet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对象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61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62646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 rot="574600">
            <a:off x="1327821" y="3950469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40124" y="3933056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宋体" charset="-122"/>
              </a:rPr>
              <a:t>2</a:t>
            </a:r>
            <a:endParaRPr kumimoji="0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 pitchFamily="34" charset="0"/>
              <a:ea typeface="宋体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9064" y="2415197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任务目标：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411958" y="4691514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案例代码（详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见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教材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【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任务</a:t>
            </a:r>
            <a:r>
              <a:rPr lang="en-US" altLang="zh-CN" b="1" kern="0" noProof="0" smtClean="0">
                <a:solidFill>
                  <a:sysClr val="window" lastClr="FFFFFF"/>
                </a:solidFill>
                <a:latin typeface="Arial"/>
                <a:ea typeface="宋体"/>
              </a:rPr>
              <a:t>9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-1】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中的实现步骤）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宋体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6758" y="3936182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539677" y="2802547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9" name="直接连接符 8"/>
          <p:cNvCxnSpPr/>
          <p:nvPr/>
        </p:nvCxnSpPr>
        <p:spPr>
          <a:xfrm>
            <a:off x="1474664" y="4306069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0" name="椭圆 9"/>
          <p:cNvSpPr/>
          <p:nvPr/>
        </p:nvSpPr>
        <p:spPr bwMode="auto">
          <a:xfrm rot="574600">
            <a:off x="1305584" y="2461823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312728" y="2452503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88345" y="3125084"/>
            <a:ext cx="3671887" cy="11680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JavaBean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创建工具类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DAO</a:t>
            </a: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创建测试类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699792" y="2470759"/>
            <a:ext cx="4254691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通过所学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JDBC</a:t>
            </a: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知识，完成对数据库中数据表的增删改查操作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标题 1"/>
          <p:cNvSpPr>
            <a:spLocks noChangeArrowheads="1"/>
          </p:cNvSpPr>
          <p:nvPr/>
        </p:nvSpPr>
        <p:spPr bwMode="auto">
          <a:xfrm>
            <a:off x="1643733" y="389681"/>
            <a:ext cx="7392763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9-1</a:t>
            </a:r>
            <a:r>
              <a:rPr lang="en-US" altLang="zh-CN" sz="28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】</a:t>
            </a:r>
            <a:r>
              <a:rPr lang="zh-CN" altLang="en-US" sz="28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使用</a:t>
            </a:r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JDBC</a:t>
            </a:r>
            <a:r>
              <a:rPr lang="zh-CN" altLang="en-US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完成数据的增删改查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906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10" grpId="0" animBg="1"/>
      <p:bldP spid="11" grpId="0"/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2676525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2768600" y="1404060"/>
            <a:ext cx="5331792" cy="4545220"/>
            <a:chOff x="2488655" y="2664328"/>
            <a:chExt cx="5371070" cy="4823221"/>
          </a:xfrm>
        </p:grpSpPr>
        <p:sp>
          <p:nvSpPr>
            <p:cNvPr id="4" name="圆角矩形 1"/>
            <p:cNvSpPr>
              <a:spLocks noChangeArrowheads="1"/>
            </p:cNvSpPr>
            <p:nvPr/>
          </p:nvSpPr>
          <p:spPr bwMode="auto">
            <a:xfrm>
              <a:off x="2488655" y="2668586"/>
              <a:ext cx="5371070" cy="4818963"/>
            </a:xfrm>
            <a:prstGeom prst="roundRect">
              <a:avLst>
                <a:gd name="adj" fmla="val 16667"/>
              </a:avLst>
            </a:prstGeom>
            <a:noFill/>
            <a:ln w="31750">
              <a:solidFill>
                <a:srgbClr val="006BA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 2"/>
            <p:cNvSpPr>
              <a:spLocks noChangeArrowheads="1"/>
            </p:cNvSpPr>
            <p:nvPr/>
          </p:nvSpPr>
          <p:spPr bwMode="auto">
            <a:xfrm>
              <a:off x="2709494" y="2664328"/>
              <a:ext cx="4937684" cy="4670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indent="457200">
                <a:lnSpc>
                  <a:spcPct val="200000"/>
                </a:lnSpc>
              </a:pP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本章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主要讲解了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JDBC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的基本知识，包括</a:t>
              </a:r>
              <a:r>
                <a:rPr lang="zh-CN" altLang="en-US" sz="2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什么是</a:t>
              </a:r>
              <a:r>
                <a:rPr lang="en-US" altLang="zh-CN" sz="2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JDBC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lang="en-US" altLang="zh-CN" sz="2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JDBC</a:t>
              </a:r>
              <a:r>
                <a:rPr lang="zh-CN" altLang="en-US" sz="2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的常用</a:t>
              </a:r>
              <a:r>
                <a:rPr lang="en-US" altLang="zh-CN" sz="2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API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lang="zh-CN" altLang="en-US" sz="2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如何使用</a:t>
              </a:r>
              <a:r>
                <a:rPr lang="en-US" altLang="zh-CN" sz="2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JDBC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，以及</a:t>
              </a:r>
              <a:r>
                <a:rPr lang="zh-CN" altLang="en-US" sz="2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使用</a:t>
              </a:r>
              <a:r>
                <a:rPr lang="en-US" altLang="zh-CN" sz="2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JDBC</a:t>
              </a:r>
              <a:r>
                <a:rPr lang="zh-CN" altLang="en-US" sz="2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实现对数据的增删改查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等知识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。</a:t>
              </a:r>
              <a:endPara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indent="457200">
                <a:lnSpc>
                  <a:spcPct val="200000"/>
                </a:lnSpc>
              </a:pP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通过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本章的学习，读者可以了解到什么是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JDBC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，熟悉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JDBC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的常用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API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，并能够掌握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JDBC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操作数据库的步骤。</a:t>
              </a:r>
              <a:endParaRPr lang="en-US" altLang="zh-CN" sz="2000" dirty="0">
                <a:ea typeface="微软雅黑" pitchFamily="34" charset="-122"/>
              </a:endParaRPr>
            </a:p>
          </p:txBody>
        </p:sp>
      </p:grp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643733" y="389681"/>
            <a:ext cx="7392763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本章小</a:t>
            </a:r>
            <a:r>
              <a:rPr lang="zh-CN" altLang="en-US" sz="3200" b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结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645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 bwMode="auto">
          <a:xfrm>
            <a:off x="481013" y="1300163"/>
            <a:ext cx="7975600" cy="472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71500" indent="-571500" eaLnBrk="1" hangingPunct="1">
              <a:buFont typeface="Wingdings" pitchFamily="2" charset="2"/>
              <a:buNone/>
            </a:pPr>
            <a:r>
              <a:rPr lang="zh-CN" altLang="en-US" sz="2400" b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</a:t>
            </a:r>
            <a:r>
              <a:rPr lang="zh-CN" altLang="en-US" sz="24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本章作业 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400">
                <a:solidFill>
                  <a:prstClr val="black"/>
                </a:solidFill>
              </a:rPr>
              <a:t>请简述什么是</a:t>
            </a:r>
            <a:r>
              <a:rPr lang="en-US" altLang="zh-CN" sz="2400">
                <a:solidFill>
                  <a:prstClr val="black"/>
                </a:solidFill>
              </a:rPr>
              <a:t>JDBC</a:t>
            </a:r>
            <a:r>
              <a:rPr lang="zh-CN" altLang="en-US" sz="2400">
                <a:solidFill>
                  <a:prstClr val="black"/>
                </a:solidFill>
              </a:rPr>
              <a:t>。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400">
                <a:solidFill>
                  <a:prstClr val="black"/>
                </a:solidFill>
              </a:rPr>
              <a:t>简述</a:t>
            </a:r>
            <a:r>
              <a:rPr lang="en-US" altLang="zh-CN" sz="2400">
                <a:solidFill>
                  <a:prstClr val="black"/>
                </a:solidFill>
              </a:rPr>
              <a:t>JDBC</a:t>
            </a:r>
            <a:r>
              <a:rPr lang="zh-CN" altLang="en-US" sz="2400">
                <a:solidFill>
                  <a:prstClr val="black"/>
                </a:solidFill>
              </a:rPr>
              <a:t>的实现</a:t>
            </a:r>
            <a:r>
              <a:rPr lang="zh-CN" altLang="en-US" sz="2400" smtClean="0">
                <a:solidFill>
                  <a:prstClr val="black"/>
                </a:solidFill>
              </a:rPr>
              <a:t>步骤</a:t>
            </a:r>
            <a:r>
              <a:rPr lang="zh-CN" altLang="en-US" sz="2400">
                <a:solidFill>
                  <a:prstClr val="black"/>
                </a:solidFill>
              </a:rPr>
              <a:t>。</a:t>
            </a:r>
            <a:endParaRPr lang="en-US" altLang="zh-CN" sz="2400">
              <a:solidFill>
                <a:prstClr val="black"/>
              </a:solidFill>
            </a:endParaRPr>
          </a:p>
          <a:p>
            <a:pPr marL="571500" lvl="1" indent="-571500" eaLnBrk="1" hangingPunct="1">
              <a:lnSpc>
                <a:spcPct val="150000"/>
              </a:lnSpc>
              <a:buNone/>
              <a:defRPr/>
            </a:pPr>
            <a:r>
              <a:rPr lang="zh-CN" altLang="en-US" sz="2400" b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</a:t>
            </a:r>
            <a:r>
              <a:rPr lang="zh-CN" altLang="en-US" sz="2400" b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预习作业</a:t>
            </a:r>
            <a:endParaRPr lang="en-US" altLang="zh-CN" sz="2400" b="1">
              <a:solidFill>
                <a:srgbClr val="006BA9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400" smtClean="0">
                <a:solidFill>
                  <a:prstClr val="black"/>
                </a:solidFill>
              </a:rPr>
              <a:t>数据库连接池的概念、作用及其常用的数据源。</a:t>
            </a:r>
            <a:endParaRPr lang="zh-CN" altLang="en-US" sz="240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2400" smtClean="0">
                <a:solidFill>
                  <a:prstClr val="black"/>
                </a:solidFill>
              </a:rPr>
              <a:t>DBUtils</a:t>
            </a:r>
            <a:r>
              <a:rPr lang="zh-CN" altLang="en-US" sz="2400" smtClean="0">
                <a:solidFill>
                  <a:prstClr val="black"/>
                </a:solidFill>
              </a:rPr>
              <a:t>工具的作用及其常用</a:t>
            </a:r>
            <a:r>
              <a:rPr lang="en-US" altLang="zh-CN" sz="2400" smtClean="0">
                <a:solidFill>
                  <a:prstClr val="black"/>
                </a:solidFill>
              </a:rPr>
              <a:t>API</a:t>
            </a:r>
            <a:r>
              <a:rPr lang="zh-CN" altLang="en-US" sz="2400" smtClean="0">
                <a:solidFill>
                  <a:prstClr val="black"/>
                </a:solidFill>
              </a:rPr>
              <a:t>有哪些。</a:t>
            </a:r>
            <a:endParaRPr lang="zh-CN" altLang="en-US" sz="2400">
              <a:solidFill>
                <a:prstClr val="black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202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75183373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E7ACC3BD-D061-46C8-946C-0AD0B5B417C8"/>
  <p:tag name="ISPRING_SCORM_RATE_SLIDES" val="1"/>
  <p:tag name="ISPRING_SCORM_RATE_QUIZZES" val="0"/>
  <p:tag name="ISPRING_SCORM_PASSING_SCORE" val="100.0000000000"/>
  <p:tag name="ISPRINGONLINEFOLDERID" val="0"/>
  <p:tag name="ISPRINGONLINEFOLDERPATH" val="Content List"/>
  <p:tag name="ISPRINGCLOUDFOLDERID" val="0"/>
  <p:tag name="ISPRINGCLOUDFOLDERPATH" val="Content List"/>
  <p:tag name="ISPRING_PLAYERS_CUSTOMIZATION" val="UEsDBBQAAgAIAMWLWEkYJkPyLgQAAH8OAAAdAAAAdW5pdmVyc2FsL2NvbW1vbl9tZXNzYWdlcy5sbmetl19v21QUwN8n7TtcWRqCB7INadMk0kw38W1izbEz+6Z/QMi6je8ya45vsZ2w8jQQTBQJbdIGGmNQFZUWiRHQJNBYYZ+mcbonvgLHdrIlGRC73YOlXCvnd/4fn1u8eL3joh73A0d4C9LZwhkJca8lbMdrL0hNuvjmBQkFIfNs5gqPL0iekNDF0skTRZd57S5rc/h98gRCxQ4PAjgGpfj04owce0FqlK2KXm9gbdVS9apulZWqVKqIzjrzNpAq2uL1t85fuH723Pk3iqdHclkwZh2r6jQIJaRzZzKANGroqgU0oloaWaFS6bV2+Pbsk4+jN6mqaEQqDXb2hk8eHe7dHHzzNB+iYZAlMMUF9TPPXE7TMIhGLVNVZGIppqXpNAmYSiiRpVJ075fB7d3h/t5w/+eDx58fPL4RPdwe3v8k+u3W4d5nh/1fB399+fefW/PUyAZeVrSqRXVdNS2iyeM3Umm4fyf6dmt4d3/48G5OjIFNYoCNd3affb1zBFkrKYVUPNq8ET3YzAepKdWaCg+NrXj2072DJ/18gAbRIADz/a4T08RVYpX1FUgQVMrt3Twi+iXQst0f9O/nkVolZpL/eTIaXlKqmCq6FtePQUxqKJWkeFZFF7WYh4TnbiDWaoEcWvd5zxHdAN70HP4Bt1HgOjYP8mkxyeUmlK2C1VTLVdbjKBQJcgREjofCqxy1nR4HE3yb+/N0QBtViByn53JTecdaxIpKZAvyJevLFk3aPVbGfI48ESLmuiJ2APQyu8e8FkdrvMW6AUcb8DfbsZO/rTNwO7bk/a7zIWJhah86NWo5TSYrpwrHM02hKsyPZeZ7MIJzoqYa/mVnO90APA1D3lkP53kxEYnCK7HiuH41sGn+p1NZ8nJMj2b053XHhBInBnz5oOXLjsguQepQH1KJdJjjZpdStEVQ1PB5wL2Q+0jxruTQqekjgCbQURlLEPkpE5YgIznkl0nZVGgcY74WOCGfJ5kkKs33v9dIC9YEl4f8RZ2s8SsC+t/lrAdJhPdOkBZO4QjKchXEeLLGI3ByTo8oGhjUZiGsZAhMcp0O+G9nYDbrZBzBdLxOReIVff//T09qfvTR94OdL1LsPJpJsFGpWRWsVQiU+eDWV9HvWYWgTGNjVGpaKi7H4tGjbfjyRx//GG39EG0+BecGNz8d9P/ICEw3MJksYoCOo5aQCoVCRsasRakhsBh99yAXATownjvkOeldTYQ8eG8ehOLytFxyyCI1Wl7HcnlW2CTxo/BhSnGlVofagJ3D4IHo+q35O8EkoY6NSzABkr1KKtWZfw3GBxXCzUVJ/I5HWJhP+5F2+EnA8aZw7DVVGhaW5eSWA/cb12ldS79eNmLJHIuvOy5cd7LCKjWswYiZ4XHbCXMCk6k+bnfov/Q8rrR4aXtpyD8/BclVsXh64ub4D1BLAwQUAAIACADFi1hJCswVnxYEAAALEAAAJwAAAHVuaXZlcnNhbC9mbGFzaF9wdWJsaXNoaW5nX3NldHRpbmdzLnhtbNVXUW8bRRB+969YHSpv9SVtQtJwdhUltmrhOKE+RCuEovXdxLdkb/e43bPrPhVUKoqEqISQUKiogkrCAwRUCakQ6I9BtZ03/gJzPseJY6ecVQVSWSfrZr/5dmZ29ttb6+otn5MGhIpJkTOms1MGAeFIl4l6znjHLl6cN4jSVLiUSwE5Q0iDXM1nrCCqcaa8KmiNUEWQRqiFQOcMT+tgwTSbzWaWqSCMRyWPNPKrrCN9MwhBgdAQmgGnLfzTrQCUkc9kCLES04p0Iw6EuRiCYHF0lBc5VZ5hJrAadTbroYyEuyS5DElYr+WM1+YX498hJqFaZj6IODmVR2Ns1gvUdVkcD+VVdhuIB6zuYeBzMwZpMld7OePy1KWYBuHmKE2PPEmCxjRLErMRus/vg6Yu1TR5TSbUcEurQ0NicluC+syxcYTEBcgZy/Z6tVxaLqxXVu1Cdf2avVJOYpjAyS7csCdwskt2uTAJPi39tZtrhevlUuWtdXt1tWyX1o68sKJDBbHM4YpZWFkZhQ4MCmZpL/JrgjKO3XaijAo09iunYR1sWWS4ihuUKzDIBwHU344oZ7qFbT2Fbb0JECyqABx9PV62nKHDCIwjuoQQA8O1HPTE7JVBT8zND6VuJrMfpTU2SotqTR0PmwdtvdAs87jpELYhxVBq8TupSe4OEgK/Bm6F+nBsT1Q3mSgictogG7gIHFNdDBnlBmEaU3cGziqqKc10bxcWjyMJcuFuB7JSHSmF49FQDVV8UPW48Z38exWpQb2flCIxnQbtfP1z+8FOd3+3u//T86efPX96p/PjdnfrbufXLw52Pz3Y+6X951d///EoDdVNGRE/UpqgmAQcNBDtAfkwYrdJDTZkCIQDbaDsoJ0pojhzITsRcUCVOiKlOuEgF5JNUKosF25cIFoS6jaocCYkx9UHP9BnwU8xdyFxCs5lE9xjFFgZh0YKSAthLnN7sDRpZv+HxXWoIFLwFqEOqoAiqLUNJiOFlgaDOLFeoCotn0cbENcidu67EiZ6mddxI+FkoQthGrap6UuXZ2bfmJu/spA1/7qzc/GFTn1lXOM0ni2RxqVTpTed1wkB/henF8jwiG9Rhn7cm+7IpOOPlr4EjoqEZcbiNV7LepJ7HqWs8+j7zv1n3f0vO98+TNXyT7Y7D+93Pv6h77h1t33vk/beb2l82493u78/Odi91/7mWRp8r/5pgK9z/ebJJ5VfHbEnnpT7PlW+D3bSwLrbe+29rVTzfvRd+/Hnibqkwb9LQ4HnwSsBreDRVe99VhI8vDjzGW7JV0KbTpOJl5e1/0SaXuozK9G1s5SmbDZ7Zl1w7qX/LMt7niqWvA0uRkM3Icsce+eMR3wmmI91jD9tBhfV/OzMFN6txg5lMsg2fIHPZ/4BUEsDBBQAAgAIAMWLWEkE5wPRtgIAAFMKAAAhAAAAdW5pdmVyc2FsL2ZsYXNoX3NraW5fc2V0dGluZ3MueG1slVZtT9swEP6+X1F13wl7LZNMJSidhMQGGojvTnJNrDp2ZDtl/ffzK7HbpM16Qqrvnsd3vreC5Jaw5YfZDBWccvEMShFWSaMJuhkpr+d5pxRnFwVnCpi6YFw0mM6XH3/aD8os8hyL70BM5WxwAb2bhf1MoXgf3xZGxggFb1rM9g+84hc5LraV4B0rz4ZW71sQlLCtRl7+WKzWow4okepeQZPEtL4yMo3SCpASTEjf10bOsijOgQZPl/YzkdO7Ov36A9qOSKIs7eaTkTFaiytIk3x1Y2Qcz/TtaVUWRk4TFPxVGvrls5FRKMV7EOnld1+NjDJ427X/0yOt4JVJaMo5XcR3DuW41ONnoro0cpZgHmQcna2CT499610E8l/juUdmXAWnTyavBwvBFD2nsFSiA5SFk7PJmr89dkrPByw3mEoNiFU96EkH/YQ7Ga5JdT3uD7wRVkYgr+gRr5x2DaxcvLHT1NATVqtbuyti7LsuilDAziujEHtlj/yt83qEjJQ98pmSEh4Z3R/BDy2OE2p8i301T6dfW4FhfQwJC6dgNZ4ezOTKyLVXBEzDS1hKE84LacCUDWVW50LKjmJCDO9IhRXh7JfB5Xv7GImyA4NvteHGQoooCkP9ZmPUWzqulz2n7eitaT+6X4X+ce48U3qJX8+xUrioG/2rJOczz9NTohMzz4YZZk1qOIh7tuERx/oeIzVYbEG8cE6numFcgZx6PXezNQZHWZQDlA1nGflLhtLPuiYHsdZVIxDaJtU5XE2qmuo/9UrgDcqUMGJ0TFXr6xgm710ZKXwLABZFHXrWHZyl6agiFHZAvTVS2AePvQxJ3aNj7XajHmCj4obzmkkd6RdF3ykxLjUMEF51XMMMZzm/hBXOpX1ZMvdhB/eDn2zlsMtM68XencK3UnKzth+nUCvNP5P/AFBLAwQUAAIACADFi1hJagDFHuoDAAAcDwAAJgAAAHVuaXZlcnNhbC9odG1sX3B1Ymxpc2hpbmdfc2V0dGluZ3MueG1s1Vfvb9tEGP6ev+JkNL7NbveDdsXJVLWpGpGlZTViE0LVxXexj53vjO+cLPs00JgYEmISQkJlYioaLR+goElIg8L+GLQk/ca/wHtxmi5NWxyxH0yRFfn1+z73Ps+9fmy7F69HHDVpopgURWvanrIQFb4kTARF6x1v6fSshZTGgmAuBS1aQlroYqngxmmdMxWuUa0hVSGAEWou1kUr1Dqec5xWq2UzFSfmquSpBnxl+zJy4oQqKjRNnJjjNvzpdkyVVSoUEHKz0CVJUk4RI9CCYKY7zJd1xC0ny6pj/1qQyFSQBcllgpKgXrRem503v/2cDGmRRVQYbqoEQRPWc5gQZtrBfI3doCikLAih75lzFmoxosOidXbqjIGBdGccpg+eccAGZkECGaEH+BHVmGCNs9NsQU2va7UfyEKkLXDEfA+uIMO/aC1662vVymJ5vbbildfWl71L1ayHCYq88hVvgiKv4lXLk+TnhV++ulq+XK3U3lr3VlaqXmX1oAoUHRHEdUYVc0FZmSY+HQrm6jCN6gIzDsN2SEZFNYwrx0lAPbnEYBcbmCtqoQ9iGrydYs50G6Z6Cqb6GqXxvIqpry+bbStaOkmpdQCXAUJjsJfDmTh/YTgTM7Mj1J1s9QNaR3bpYq2xH8LwQKzfmus8HdpPa0gxQs2co7rkZEioASpz4DKfMMwtxDRw84dXtVFALzEO+pvaabsh9Bg5P8SJGtFwqKMZZb/0Xk1qqt7PyGWh41K7X//cubvV293u7f705NFnTx7d7P642du41f31i73tT/d2fun8+dXff9zPA3VVpihKlUbgDjGnmiIdUvRhym6gOm3IhCJOcRN8BOJMIcUZofZEwDFW6gAU6wwDncrGulJbLF85hbREmDSx8CcEh/2kUayfBz4G7kLCEpzLFiVPQYAyPk4VRW1II4z00/LQtF/C5vpYICl4G2Ef7muFwD2bTKYKIk1GDbF+oyovXoib1GhhigeliIk+8wCeFrBYQmiSB21q+szZc+ffmJm9MGc7f93cOn1i0cDrVjk2q2Vmt3CsmearOmSp/1J0grGO1S7JJDKzScYWPfphMTC1cZNwHWMpR7tT30RfjDl173/fvfO4t/tl99t7uYb44Wb33p3uxz8MCjdudW5/0tn5LU9t58F27/eHe9u3O988zpPfVzRP4utcv3n4yFUXQO6hI+ednIvv3a08ab3Nnc7ORq51P/qu8+DzzC/y5L+LEwEO/0qk1uBhFPRf/RA8jjiLGNxkr4TbHHfj/3ejeiFmc/KrUGZFz9RsbNt+bvv68u35mQr2f9IgOxt+YIx8UbjOkd9uBYiPftGWCv8AUEsDBBQAAgAIAMWLWEkP5FkgmQEAAB0GAAAfAAAAdW5pdmVyc2FsL2h0bWxfc2tpbl9zZXR0aW5ncy5qc42UTW/CMAyG7/wKlF0nxD677YYGkyZxmDRu0w5pMaUiTaIkdDDEf18dvprWHcSX5u3T17ErZ9PploslrPvS3fhnv/8I914D1JxZwnWoixY9R51ZkU1hkuUgMgmshhSHT4/y9kRQxkx603j9iba24scUvplxYau4JiwMoVlCKwjth0qyosTfoLR9WbuSKn2Ol84p2UuUdCBdTyqTc8+wqze/qhXWYFWAOYPOeAKBaeRXG3lyfIgwqlyics3leqxS1Yt5skiNWsppW/75WoMp//hiB/Sfo9dRYCcy694d5PXEoyeMdlIbsBb2eR9HGCQseAyi4tv36x80MG4WVKOLzGbuQA9uMKq05ik0uvQ0wAgxWXo1uhlhNDkHK7cj7m4xAkLwNZiG1fAeIwCVXuoLfqA2KsWONNBmz4+oUHyayXSfuo9BcnhYtG3r3qlQf/whC0ZI1UZoToxp3nZzXDD2jhxcW8s6pmZeUKKkREUk1hRYkKdx9WsE919dxp3jyTwvb4fyaizbwM0CzEQpUR7/+9xBi6O4y9XZ/gFQSwMEFAACAAgAxYtYSRra6juqAAAAHwEAABoAAAB1bml2ZXJzYWwvaTE4bl9wcmVzZXRzLnhtbJ2PMQ/CIBCFd34FuV2wW9MA3UzcHHQ2FVFJ6NFw1PrzhdQYZ4dL7l3e915O9a8x8KdL5CNqaMQWuEMbrx7vGk7H3aYFTnnA6xAiOg0YgfeGKd+0eEiOXCZeIpA0PHKeOimXZRGeplQSKIY5l2ASNo6yzBhRVlJOKwor2/m/6M8NDGOcq8vsQ96jKXtRq4VTshoqc3YoPN4iyGpQ8uuuys6US0URSv48ZtgbUEsDBBQAAgAIAMWLWEl0Pke4XQAAAGIAAAAcAAAAdW5pdmVyc2FsL2xvY2FsX3NldHRpbmdzLnhtbBXKOw5AQBAA0N4pJtP7dQpLp9TgABMmIpmdEbvxuT26V7y6vb3AyUfYTB2WWYHAOtuy6epwGru0QgiRdCExZYdqCG2T1GIzycAxfjHALvTwMbL/ELkn/0++MG+SF1BLAwQUAAIACAB2uMNEzoIJN+wCAACICAAAFAAAAHVuaXZlcnNhbC9wbGF5ZXIueG1srVVNb9swDD2nwP6DoXutpF3XNJBbdAWKHdahQNZtt0C1GVuLbXmSXDf99aP8bc/pVmAHAzbF90jxkTS7ek5i5wmUFjL1yMKdEwdSXwYiDT3y8PX2eEmuLt8dsSzme1COCDySp8ICeEycALSvRGYQfM9N5JGewUVm4mRKSCXMHrnPkLuLtCTvjmbokmqPRMZkK0qLonCFRkQaahnnlkS7vkxopkBDakDRKg3iNNiV+Tsan0Sm1Owz0D1kZt4euCZpOZ61GJAUp65UIT2Zzxf0x93ntR9Bwo9Fqg1PfSAOVnJWlvKR+7s7GeQxaGubsSrJNRhjkyhtM2ZWYrFMHa18j1QOmwS05iFoN05DQissnQCzbcx1VPPoAa3l1TtR85Z+G/u9adxK5WjnnOWPsdARHvUhnXUSyOgwKkvK65Yd9NB00K1lIo6CX7lQEJSf39oWmS9IFbDtuDJPVxc+HuDbLfeNVPsbhGEX1Qq6rWhuJZpbgloOt42+7ihIc9stcJMraEo1Y08iAPmFK8VtW1walQOjI2ONpUMwo9WVa5E6QVhkkvjsH7SxfiNpfurXlCkB/0OYT0jU1kSkATzfCvQxkGBNDWCxrc01WezamF1OOn9Men09MFU51qLgRRzDVQg4hgE3nHZ2eggKimt08XM1wvYODoIjEUYxPmaSYXx6kCbhajfJ0Ds4CI6lv5uAtua2jHRcx1EztR3E6MQ6YX6ujUzES9megz1jVmUfvjZyzdF1JtqD8/kfoziI0QzmlkysLvvW21fN4b2dU6M7n01WWQbdivMAJs8qr2YW8mzkE8CW57G56efU7MMedJTz1HRMc33HfpfFWryAU4jA/ukWp7YmEdie8ciH5WmPAfXE7TIIX5qmIjJaS1KpeUg5hrV5ElBUmGpWPqLqoZJ5Goy0cbPu56Bj3FXXCrgTwxYzXZxg88nMI+/xpb7LxdlFd5XzxUWDLfO6rwJXubxhVdcJd51B635tL8LqmcfX31BLAwQUAAIACADFi1hJcYP8DhoIAADbHQAAKQAAAHVuaXZlcnNhbC9za2luX2N1c3RvbWl6YXRpb25fc2V0dGluZ3MueG1srVlbb+PGFX7vrxioSNG+WBfqZkQrgJeRTUSiFJG2d1sUAiWNZcIUqZIjex3oIS3aIBsgSICkRZqmXWyx3S3Q1C0CtEizbX7NWt485S/0DC8WScsyubsiCJhnzvedM2fOnLm44R4bljh3qT013tGpYVsqodSwJm7zBwg1RrZpOz2HuIS6+ZXkwLDG9qlsHdpMBlKX6tZYd8Yia3WbBdTyfqhe4+tSHb7KQrmEamVcwnUk4YoIbductM2J0CaVimIjn6DweR0yIhZdz9rIx1qvA2TLJQ6VrTG53+Ti2tGmeA92HH1sgJ7brJbZswitLqQye1C5WKlV8KLEcxxXRWJFKkqFRa22XeOLCBfKlQK3EOolrsShYqVS3K4uirVShYOv1nYVWMp4u4rKtXK5JC1KuARoxPOCVBIXNW67WOTBGq5vi4tWS6gVCqhYLHJlaVGpci2hgECbAw6eq7MAchIncNUFL/DFOodaYktolRdYwlWxguolXC0UFmVB4AqFVXBXvYuGayVN3Z0wnLcQrh2Cta0st/JrkqsxmjsOKGtkOjN1SpClT8mdnEVOc0FCeskbNod+xKW+EMQM3ARsI+/9FYo9u9HEj8qRMb6TG84pta2tkW1RcGbLsp2pbuaaP/RzI/A8DdI+IU4W3KE+IitzNe+XFhbYgnyFZxNoZE9nunXWtif21lAfHU8ce26NU7l5dDYjjmlYx6Bd2K6JeKMh03CpTMk05h+usyc9bAb1yCXMvSpmTyqkqQ+JGVoseL8MuJXJ2yOSgJ4YrkE9KF9kzyboTJ+Q+ADUefZsxlhgJT5qNfbcDqLkPgV1jk3v0kZ1Uz8jTtyIXw43ouzZfJY1n2aOPWHBjuNuH+grnGlDdbEmzMMCe1KBWAeZwVSjFITN67+UUAw+k7WkMQUrMLjR4hKIPMqeMBC7nR6v3Bu0uzvdgSDv5JqiPysRm5Y/LlXr94uV6k8a+QCXkknt8O12nAt5ZJVCOi5F63fbAyDE7YGC72q55o8m9M3km5mqu6e1ZQXnmhePn15+89WLp+9d/OHbzCy9Pt4Hh0xwIvGmodrr97GiDdS2LOGBrA6UruYFr401LOWay8/+cfHxk8tnTy+f/f351x88//rd5ZePLj//9fJfH714+v6L839e/O+33//3YQpLUp8/kJWdgdbtttUBVqRQkmtePvtk+ceHl58+u/zy0+xMfV7FffD0kyff/f7xy8EHXn74DMsH7y6/eJCZZ1fe2W3DqzFfvvvbZ8+/Oc/M0cMKBCNVDDpYVfkdPBC6d2HIIIM+fpIR1X0LbD06vzj/PCPwHla9vEgBU/h9eYfX5K7CUquPVa0vi15e3bPnaKRbyLbMM6SPRoBDsMCcGPbcBcmJQU7JGLmmMSZuZkMqfnsPklrm276hI/2EIGp7rAEnMixEjwiaGCcEvHDGxElhBqaaiCU2YG/vyT8dtHi5jaUBjKDUPRhoXmFg9nQHtmg2Rbpp2qwbYFofn+jWiKAhGelzl6AzUBsbY09tpkPnmTO/mBvvIJ36LqI3gjmpSPjuG1uv7J2staHSHOiOBUU5O1usLlzv8hT2muA6LPkzeltfIvHYel2OvIbe9XhVvbFracbo1fuVcOElOqVC3uM+rJ1QEwTDzgTCHciYXBNPdcPMBJSVFpjzjsiwwXcQO7dkIlC6AYdio1eg2YexiDmyD2OUjeIAC6qssaiTIduzpgB7o+fnwfrcYScLk8Cx7Sp/huTQhhphEv0ERhbkhusn1NbL2cuaKGElZvUyWtoDIgXcmngXIQgcM40p27yno93r4DCafjmOheT17SY2mfI7sfzlny8ef+gzpyBUMd8Xdwcir4gYJsHFR79b/jsDDjKYudTW1EGbFxjD8qtHsI9Y/uqvy4d/WT74Fnp58d5vLs7/k57T395JuMUDbxhBj2xrays9TdIv3x3Ycv3pi6wkMEtZncJXZD9TbErcn6fg0XghDvU+UgKDjXIIzbhd9hIiiCavaby424GcgU1Mn7j23Bml2mFESTp8/y2oFd6mLdfs6M4x1BrNts2sRF4MWNWjmX142bNDlOOVKziLgCb3BrwkeSctOGOZxujYXwjHSEfBpQoy4ciVgU/c5RUoSQlKMjZodk5vUQhrA0xT/ztMQrYpXLdGXAlWx1c4HttzGjsNW9SxzR67R7h+cQYK7NpjaJImdeawkIRfUQ33yD7tzqlpWKR5qJsuqEVFSdUe+NBj+8eAMi5LavfJqWGNI6qBIKm3b5vzKRH93kTdiDckYaIoePdsUcSV7JrnsLcPmiKur4RJfYXcp9f0I8KkvspWzy4cJq6Bki1RZHj3IehOVJ5m6ECHWDoIwwCHX3Ed5kGb3YG5EZcCQVxzao9J09sEaMaUsOGHHGSyqMP5GzxuWFdLdodhhmdqcHRKNKyyN785fRvUoCa5Obe9fsAMjI6+971uAgQ662aAf1ebDIYvRfRsRu7k4Fihj46m7LY8hwKOOzkWTv/6+ybcLCxnrJpFkJ43m6FTr6Z7JT2TSYtV8mymbH+ubwY18tfi1MhvGqFGQHvzAFrz6ZA4GHLAIGFyxmVR7SNjcmTCS/e9k3kcdkNjFE+PgNqCg0WIiQhiaUV0Z3QUzhX/I9o+nZvUMMkJMQOdiCASms29b7gwNzanNk/b5JBGkzuQZJ4DQaFbZWJUO95wI8w7x6zF+S3ZFh2qD12v92tqVbjyrIrVmrUorNEs2aNe+YJY2q6xBbo3hb+Rjy6yUKKu/QcrKQMo8N34/9v/A1BLAwQUAAIACADFi1hJM91K5mcaAADkRQAAFwAAAHVuaXZlcnNhbC91bml2ZXJzYWwucG5n7XwLVBPXvjc9nlbbqrTH26Ko5LT09OGDV0VUSFLrA6tVqqjIKxERUo0QlZd523KvtlVMrUqwlqS+eIdRkAQSkmhRUIPEB0kIIYkejJEMSYQwiZmQyU2gx6Keb63vrnXv/e5dH6ywZs1k//b+/V97//+Z2fP9V+tip7wR+Iafn9+UL1Yt3+Dn92qmn9+E3Emvea9EMQbmew+v5GyI/dyvtmNWn/fkz4Sla5f6+V1kvTmc9qr3/PXdqxJz/Pymtvj+X2kjVWz381tB/mL50o37cGZt6qHag4nIA9qH2P2ozx4f+fbdPbF1H/1FsODSD8D8HUu/n/95eFLge+fOFP88qXhr5LehlVsqDmz7fuGtlTPjibgLWdumzbV58Pfy2qILaps6ThKUlIgcbJv/VOXNZiCRWFvXgTnZU8A3FUXpFrlaoyR77A0A3dzDlg5n+Pn+pl7or2loUtqFFnOaXe9x6zUJPqn87sM7C1OXoDLxdEhhf/UV36VG6s5DaFSmnma7ZX91BNzo2nlMDEikSx1fjpxbJN3brVRLk7Gb8Cff+W6H4kMq3jF59MvZLfN8x8tHZ2SO9HekPezNkVbbDyT6jvuDP20fgc06mfau9/DXp6YEKcVuqgY4dIdIjz52Tvhq3jTTwtyo3ojJ9b6GhUwnm7mYarsVZW0P/2mIqciqmHlHe+TqSL9hTwEPDERPO/yBWCR8W2teNYqZ8MXqPEFw+MhIkz/4RPGs+Y/nNhZE/2WE4+XPftowDvgfBiisFOgoYH+DChdNhRQJcqQXi0zoOgl31wIDcBLXlB27rcTnltO/dBuZiFENAlKG/dEpko78wzn0JrwGisThwfgx3VGWl55zsyVKkebo9BGPfC3+QGLfgogRSrPUx9M2LykabRu7MKPkxLrgUU5H187IPH/v+gjZ3dtfhAiddCtVH021qwlypN/7yYpDQ53qHDm6wPi3vSOOvj/4VET76igRienSEFgY+LE6mBVzFz6GdR6LDl1MGBFiUd0nLTW5OdWxN5VPkib0B0ifXrMxcVVX+EGRyXIq3FdujYH+PoZcdnZk67oWkNJIH7gWYI1pkI+h98j+tJfFZc4shIIzBIq/Uk/G3gockffIrpthc7U9O3fzPLcTTBGhzw09Gos920Z64NM8XX3JM5qf/PamMdTmYHocBZy7zzUX3WQOgwY2XmLrxIzR0yltRLNSMGcLdi//QBfMKlTYVot7hq4n/aPJ7CXtylVDPTnyUk/za2dgo+FtqoZZnLsvko+BOuNJ/heO7fgl8nftdr7X0i+Qus22B9C1AHyMxxj4Nchl8z3z+mCF4yceUL2CTi2Ek6hDd2JDIzv+IaLpdmz7auEMRfA9Ve8udzP1knBkcrl/vWxy/V0zaQYhNDBj7v+NZf+jztBZDUgodhgE9M6PvqDWSFpBIr1KNPv7keG3hkHKZFIpHUzWL2EumH0h7gXv/J8esBtIzQOtajxiwHPciNWDqEnIIxLHfTfU/ZfdMoVqL32tSpVPLyoX/hFbodLhQXWhP2af/fIEf7/oTfheqAHzx7AllP6Lbd3vTexiPx/M5Evzfjnw/KW8CVMvxI2N5OzmV+w7xuhWURRliGUOxaqbLI5S+qmx0N61lQ8sJxJwaeUc2uAN+8tfh7dbTqXZF6z9Q9Yy4UDZ9EzHrTDqz2Vj5NHui59c78osQa99nsonB9T0T9s5ZZWW/A9G4/3Kxijdv7T0S2Zkxt37Q7dbq2aSfkjL10+uL3+B+7UwEemA+t6CMcoxtZ7aVqKNaunf8fM43XG6/wvpCsDJ9Sy0vavJQk725mUeOCQO6x7SyDUS2uAAi9lMh1eY6PShsyi0x7nCap0j5VzzThZP7ZpUKQIgJoCjwbjLSl6SV3O6pZ+AsZ20YaO8iz5Th2FWV4XnZc1YACypK66iwit2Hk7VyVdYAcZ8thuapwTqg9JVVuuPAirwsprMP6bZuR4nVy5BIIDr2ae+sgf+lB+0EDx6XuqgSgswO0NYK1MP3IKNlCbKySqqHoqAhik4camhT3M6l0wRyykw7J4nry5X2IpZGWT4DE6gswzyVTiG01AfSnvgXT3r6SKQnSwVp79sO413gRtcpTLfX1SpLNye2NpRxagpV/yauLO/Zr0NUuGxTBTEm2QyQpconk3iYZh+PHAZ+0pjay8kWLMFJ6lCge7QCTsri/Fx6PcbdXgxMsgvxjvO4JhkLeSXjAXYgGB9aH2MGFeO4VO4snsmo/bxP1XDEn16PnrRh4rBx3evReRuhtKnlCsiNiovJC57NLhQGF5Q3dppMIcEZ7ubZ2aC6XimVRW4hY2Pm1KmMZ4wcANA+RXYCDoEMWIMp4qRgmO6GEcyXnaTtlmZonK2gRy5XflrUwydvHxnEQ8agvY3NXdspru+pVwyDa7qyviz+YAauncTVt1rQLqEqkQPzc1nl6uwBfOBnC9f9l7RjZb+JDTwmirjl1Sc8f3I68rgbOKvPKblgDowW6U/mO8GE3EfJko7YGPAlPoAN3wk62VmBTklvPBct5x4j3vRQNY8qDtwLzCdzawlEb9KJ7qbkw7Irw3y/lR8sUFStBTdzWfoptTLBKu3BG1KDrYMDoTqy/OdytehPfP0QD4Pl0nenu2mkd0UptZRwmMRnE9NZAVlFqb45SBLJZTwYoFaqfizKacD0O/nUs49HmymuKGniS0ZU86sgfbKvkpq6YO5AdDAPMUkIY0G5av0pHyykwIP1kVeCAnFkwS6tg1RN4sDN4FmxSQRQut8KzkOMAJcHKplkJjEpLUt/KeR2YMbn7fG6Y7T/X9BN7K9Do8dmIa9g0jqSWO/m4iiXZi9ez+9EoDGyNKZzkIrjyy6LOlUwWOEMXmLL3tFYlcTHAiMbb/UBOI9sLoNiwzk334lWzBSL/9XlART+3y/t6gX70h91vb+jzsbqYYTCV2VH3Fpgx3WS0OFfyjk4HafPmv4Y3q44dN7Yhb4TMGzfhqxT7fyGZVFH4zYsYH3zGC7V43Ye2fymGFHFK3g/6G092b4DFKd9Yd2l0X4DLdZM07ofxUhX44UJXXeqpczERuBhUWeNhm5TKQjJ8RyksBZ7Lp9EJNr/8afdr8nmBWz17jYmgrtwRt6t0hp7n13ABGDLmh6fghfzoe4rFhUJpduV9vS7BHLHk7wj9mNyVSCx2HylAZrBrQnJWN5qpRWVKd3dhR0MCVm3288pVxtx/OqEVRPrY9chxl+0lKA9E08/15dUFpyaDy2Npl1JnJvyFmz/WgFRAlAk8gwnKXa0tzcMWg7D7k+8eYhEKM49s+hE/phA7EEJ9UazApZLRYFsujuwagX+Qr16fzXbspiTJeCwpNDE/R3tyYXnYQ+7qEwppwGY++FyKvDGzkOxCH1mPc0MCTedO/R9x9xFjFLA1eCbsU90NxpKzbRO8FOV4XKirEHfgWSZW0bsPjXlAYD2AYbq3DZZCYkKU7jt2ph52C4EpyH6l1b+7zxRB1hyS3pU45qYi/mK0qEk0siNyvB+S2ZRSJw4NLK25ST8EVcOUe6sSVbLA2MVsXhD3RXeXNh/d2I40pZJzg/dcEc1T4hsvBNiCKb3jOlXtuGU7i6JVJIput8QanLDqoztje3f6zZxFrOe6W+9VYgHjQmy94STv4VFJarwBpmShLSpItLTNIh/MA04lepQetFky+DbLyO6VhY7EiIA7gk7dCLvXrzwTlsptgToZAVeE4DBrxHP7UMLH4lt5KBIwEcCcKfFFlWiwoXZTuNlA92TfltjbZCyMOVYTooXG/fmFp4VqdNNd9Kcl3UF7/sBzJpFT6YUHTkkIGsvSw8XCYLjqsO3MTeU+Ca/7ZSnizhfeZurrpYr2uz90GTVBm54q9LvHXK4BII1oYlk4hovlI2X6ozhyUr2oSHr0LEFP8rIOsiRmL+jjrthWCrXdKu7Npy9uHmTS3GQVtW5Drlx4lnMyqv7HVnvVUczucI3O++Hnk8BBAwroJwH2Qvts4VuacrPSktO8RuQxZPr9sgLoXakgB8XDVrB9kJ73FOB9sMWdltusCjApKxTPV8KKcasch5+n9KfJuFLf31cgzVSLD2nykHH70w0uyIdsb9CahGW/0hJiJxiK0d8lyN6Xnpp87IDA1MVcVFtet0L5uBFTN43flYGLMkf8bWUAoFujot7hesmPZ4GWowa2r2vhfmljxU+CkGMmyTcz20GekgV+9BHFxPSlT9C6xx/vW+mUftduiZSO82dKfpkeIF5uklPFLahaBMmW+yshnBFxtowTS7jesZVrf4Y2mIzRStdx5Jsx94UQFL2vM9RwFLX+RVzJPLE4yeO0DgdtAJnt4cBbw0jfGRCTgIvY2Ym8oEug5xcOiBq9OMLbvQ326OEr3UeLOrdnzBGif030xIESZjuHuxSG+pfkffxPGbXuOAccA4YBwwDhgHjAPGAeOAccA4YBwwDhgHjAPGAeOAccA4YBwwDhgHjAP+vwU8tRRIqQTK0XMFCVFnnt1yeaIAGFC/S+9BSl9f+RMCCKfkBT+7sfOtkUO19BdF6Ro/vbbqrtq5tkJzW3tYFvbcDiu/+9dHR/aLzRy51eO3KOI/uEnrn3RR50JcUo9rZNfX/t7w/7wR1Utb+omAON/eJKdb+qdxn15VL/NH59rvF/rrFkF7FG0JKAK9WQtMGNnYdlHXJswyLazCr3H2E7DU82gejo8jkN2WLP1KiNjE1vz9xEE1G0fp609gGBK6/e1lVSwBxmJRjcATBn57M7Sna+Jc3fyGcgVQ74IAhayHz3tSZXLAEdxD1cLBMFdfHFPo9iMJ4UYRXp5Hf/Qpd7EKTQIDmAMBcom9ARCDfUxHAbPAHi21RRuD6EN3CtBcqlFN4NJdOZ7O+DhxLxnUsylNkE1pcuwiN5HoYLJ1n25wSIZIcEOEh9nNrKG9KOf12Fa8MY/n4V4VDWBxBzFzkDLaLN/unHXQfalowHFDcz+eC290Ld5Sze7DFZBMjuFs7BPbzZb+rNTLYK+FgVatn6Dyd9/2L2Wlam0Ci9SDFKB5K7UUStF+QyzjYWwHs0cyy7GSbiH+yJM75e4euRjdoXzaNIw7jvIMoKS7NwKqahSYBxqKjQruocBokCyTqwBNH3K4p8gRLk5xJ4FmFddAQWDIUkx1r3JRNOzFR6IMvT6b51dNfBgz/KTFrH/dUeWKqckD6hMgKjMKdTzPkMZ3/Zp9yKLKqQis2/nXahTxsQmXyVspzl5QHbuqtu0CJZlNpqbg6TpVMAGddKm1C3bmN9e8LWEAJmNkWaiUILsgak5xk7cELU1dZoTv8LDDLdieI6JDh5DDs2CMSXVhmEZpgiNDmRyrIox6OLYb/2j9wDNizOQ6l+g+J497sMGSZ69BJudyDy6bnul/aXiunj17A7ErmUUMGPhO3VupP2a2pk4pgXrzwwBuKCuTN5A7YyXxfgqubB4zaOdQDwZuQMiwWPxYfv209SwDx1x3TzZ/ghneUaAR046bzuhiHRJV9s02r5NfNsfr0y+5qPd1edxDo+PqmAKJvibN/nPx0RqqLgn9/h73d9fWFX0jOxvR5BDqRRkl2iPHIZu5MbGYjZ9Hqqc6F9B8HiK09taFsjES8LEkyPpvFjqQB+SE5lpneuNGU41AULxTUpesNabzqKXiatKO2/SQ2pth1LWyVUo0KSv6ME8xPUEedTMowUF14KbWazWhB9QyUOdIciwJgHxbaMwy/EqHxMu5UbzOgN2t6MOgiFrwl2/lDHu92dg7Z3K96tLh7VrbuxBQjh+KiLypdNj7JYKPHZvp0d9C0yVIUD00ZNC8cxxylKRWs/GSdz5LlHiI6Cxy8qE+avs65spaFybEtdcKhbkmMp9MJOCRQbacw0SchbF3RsS5l1e6nv+7RH0nCZwdHkvBHKH8hpdi+d/X4OENrsVNNY5dJdp8tTE11gE21com10cKQ/TH8qtbJQas8FLX1MyemRC59pu9TnGl/lAGjfegnoHfuQjfasuo4KHYr+S4l0D5ykJC0WlQpT5yltgnv/6e9SySgjOkk4EDaj1i1mOovo11tAbPr9Knh6Rf4xf2jShJM5WuJ2pdr3l9yU7uO88+Mqif23RDKJf52J1BdnVyj1pse2ccUBOrjhJnNIfUuVXXA2SCsK7VJJaoHKOCeH+6GXHV98xWLhmHXp1HhmEs0nCYL5PxmNbitxs4OOy6swS3pCAu9KCERTkl66KeZGUEHgSqXZR5eZdxdEgRje8jGLHWoHDXw2NxHCzAwbj9t3ldTahS21tnkn5hXdPKcJtHbUg3Ub/PZ1qj/6Y1Zng9In5vqTWKWPKqpckCXuycJFqA3tAguXZFGMoYOGTe1y22Nphl7POUU2siO3BGz9tmXZQ3aARr6P53LFaaar3/DyaOpITDLFXxpL1BsKPHklOvFHdULh5y3QrM/IZa66LUxEpDFB93i9v/foafnu1lpQwVVRTHPq7FlsH2Nxwm5iXfNmK1ZPAEcImpj+60IharxL3/V7PNZOXIpJ90o7/eQdFuYLJ50hZlIZcvr77IxwmC9m8kEVzDsscYrNcZvzSptvhfFj7uTcT4a/U37oFKm0mlKeqElkDkpIX7RTykPZfL9S6ajUYh0GZYfyFvd/krl5CzW0ET80vTWwWxfKqeqGGHagpTWFd5jj2l3jARk7y8sllxdFO8We+orULWiRDBCuL0FE4CE+BJ9Uo9thre4y7o7MtbI97lLqX0+TbA6Ri6iOshCpm2WtqbD3xayaI6I1Vtm84OUQIq8MYN7kBl8C6KFp41L0u6aZsbZssTxEUUdXbyoo3uk30Y7LSWebvleXjWGtDz4HGN5+C5bsT/TtKIKfs6L2KGmBdWj5oRLZSCqSuKvgffvoBkixDqI9gqlJ1dxP4mXJxddBTcs9d9/zy8B/1IWXhm5/1UnOMtrZHgNfc5Bg8i4lZ2GVRNMVKGGJLLgHpc9oyv74EhhY7BxTUoMIcfI8WgZIXXqmCnNvBrkVx+NSz6qYDpEtTHBpEfDkcReJzNchA3cZ/AAu6pPJLhGF6Blh7JdDd2ilNGI4KddyJY+7v6LFZKwsXh2fyVV7Knp1Yt9U5p8p9wBTNwxJIeJLWhVVbVenPIYZaZRsyYstndDeZcuERneDXzTZ4L/AJI5p7KaObJ1XYnZC9+UOCu6AEf+9S06+xKFXyLev+biR0Y+A6LQ+9PR1EP+jOfthCwtk+xOUjEa0nXvbY+P/Sd+hqMj33MwQsdYq9rZszzhGrt6y8FoKu8RvetoEH+6KGvXA6xrOpWBRIkmsyUnV3IfpsfNNDE2E50i3NmTPT6k4w38QYkrcOHxoeKDp+EFpqyFJoaI+qMa9i7lB1LMarCxNlNHUb7EpP8S4fz5PTMKBzZcKLet5UIi8ITT0ivf4R13rCxK9k8VZ/u3ScTtKrevR+Ak/Ll+iQEXwtfpDJGlffFbOv5JT2y6clYJZaEl/w+6/X2lXOzPZKCTZFPFV81Dpfyk7BMF9APoN75GSdY2UpxZlyukRIALt6lgPFqfOuNatPvgZFea1KlSO3mQk6xSZUqRaCvf8YViCM7ZbUT+yC91doq2NdVhf3U6x7bSrQVsVcZTwpRtLZJ0WOIps9WnYc8T3JNxKxKhFtjyVg94pBNh6G2pDYpQnaiblkMIscU36o2+H0c7Yw7Wn+6OJaSL08O+lsSU9/PwYqzK1Wix1al7OxyQfCjjDzuKe+a9yF0cR1rAw9vXBG81xcTKUOLa/CePBSadhSuv0vP/ktL/03fo4HI/Df4vcTBeCwUT2DC5UyKPc4zFNcTwRxuY9KQ+XMbt8yutYCGOV5z1w1LKYoVngkb8OmySUlYXC5tzSjXmiX9qVpZ/qg2DQ0q3EzPVIp3Dbnlm6XPIYc7uScsOcemZyaYsKZN+vj86Gbl1iGf1xtNRo3R00oablUD7m6goQUVhY9aObhOq5JtysWzzq/UZ+TyTPj4CuCi18+aKkwgjxp9aHQVfgcKzwJxtaNuhsE7byZ0Sx2lP1lsdV5H/MR5ly3pZOBCetEzM/VvagGCmcC0E+SoOeKgVPDBHc17AIfPOElpHIxDHsZJQEPjbOF7PxWYJLjaMy5KSqf08wsIY3FqpA43BITX5Fmp3vCWdR+5vuaZmH05XFeKq0Aaf4e+TilULX6HiwyVa+Q3MmZkJozkf5Nrz88cvGk3MPrbGDX0xdmS7O8elgoBdrU3k1CZ0jwQc1+NtGHpJg/thNVz17sWWPJCes+s55twklGZcP7Y4d0uhzT+Nh3jG+FVbyjdvqL/bWtaSWp4O6dsTH8vZibgeTZuidoapfkdGdr85HOXs/GNlv7VDt5kE3V19sFmSjecQZtbqOHNfJ9c7rPwEW/uC2G8gZwfj5nqm1+4MO6MVj/BUetK8aWUBfIY25eupsY5Xs9pw9gv2rEIlMCEEkisfd7EyQZ6T6/4M57MTkcJYqOWjxqx05HSJ/nQWiaj4dmnBvf4yo7o2b3WE1FrHeQtII4gtzzSu4CYdp3yYJY3b9yFf/pbQEdshfnJz8NDXj9Uo5AHKP5ZVJTGl3U2E//1YSnjQQDjtJvS9APVDdA6NbWOO17V/d41VSFdrHWX7maZXBX53MIGyklLnqOCYRXJr5yu9Q3iIdyvI9pDPYOhXPrTFlT2xK514l3idQ7+fk+8nmrADbMSxLeqx3Atves4JW7n5M9hvS8J8G/1FiXUmZ4nqYZpjiISrXeYeguBAQ8l+moIxnkjjiP9crQ3X4HTxaVs7dC1qWWWHeVhG1WAFRczHbzZsqspgbVIFDCV/C/JU3iQOxPEP6hFCc72k9xKUqlnrg6KOTtSt/Y1rXV1bUrNi7M1LWr31mWV++C+cjlm8CjrFy3T47Z+FVdtzButxH6c/n8q7ERWqt6Fc00e8/IQkCcY+/IQb3Fr9fDlfx4pHS3Va+2Seg839tZIgx5qw7XNxpZdENZjw5rfHAXRG66EiNHtm32P7sp1vleVnBh9VYmwO4VIdUs7OhDUciYh7YK7DPFd/2LFuuW1n2/99t8BUEsDBBQAAgAIAMWLWEmJd2BCSgAAAGsAAAAbAAAAdW5pdmVyc2FsL3VuaXZlcnNhbC5wbmcueG1ss7GvyM1RKEstKs7Mz7NVMtQzULK34+WyKShKLctMLVeoAIoBBSFASaESyDVCcMszU0oygEIGFgYIwYzUzPSMElslC0OEoD7QTABQSwECAAAUAAIACADFi1hJGCZD8i4EAAB/DgAAHQAAAAAAAAABAAAAAAAAAAAAdW5pdmVyc2FsL2NvbW1vbl9tZXNzYWdlcy5sbmdQSwECAAAUAAIACADFi1hJCswVnxYEAAALEAAAJwAAAAAAAAABAAAAAABpBAAAdW5pdmVyc2FsL2ZsYXNoX3B1Ymxpc2hpbmdfc2V0dGluZ3MueG1sUEsBAgAAFAACAAgAxYtYSQTnA9G2AgAAUwoAACEAAAAAAAAAAQAAAAAAxAgAAHVuaXZlcnNhbC9mbGFzaF9za2luX3NldHRpbmdzLnhtbFBLAQIAABQAAgAIAMWLWElqAMUe6gMAABwPAAAmAAAAAAAAAAEAAAAAALkLAAB1bml2ZXJzYWwvaHRtbF9wdWJsaXNoaW5nX3NldHRpbmdzLnhtbFBLAQIAABQAAgAIAMWLWEkP5FkgmQEAAB0GAAAfAAAAAAAAAAEAAAAAAOcPAAB1bml2ZXJzYWwvaHRtbF9za2luX3NldHRpbmdzLmpzUEsBAgAAFAACAAgAxYtYSRra6juqAAAAHwEAABoAAAAAAAAAAQAAAAAAvREAAHVuaXZlcnNhbC9pMThuX3ByZXNldHMueG1sUEsBAgAAFAACAAgAxYtYSXQ+R7hdAAAAYgAAABwAAAAAAAAAAQAAAAAAnxIAAHVuaXZlcnNhbC9sb2NhbF9zZXR0aW5ncy54bWxQSwECAAAUAAIACAB2uMNEzoIJN+wCAACICAAAFAAAAAAAAAABAAAAAAA2EwAAdW5pdmVyc2FsL3BsYXllci54bWxQSwECAAAUAAIACADFi1hJcYP8DhoIAADbHQAAKQAAAAAAAAABAAAAAABUFgAAdW5pdmVyc2FsL3NraW5fY3VzdG9taXphdGlvbl9zZXR0aW5ncy54bWxQSwECAAAUAAIACADFi1hJM91K5mcaAADkRQAAFwAAAAAAAAAAAAAAAAC1HgAAdW5pdmVyc2FsL3VuaXZlcnNhbC5wbmdQSwECAAAUAAIACADFi1hJiXdgQkoAAABrAAAAGwAAAAAAAAABAAAAAABROQAAdW5pdmVyc2FsL3VuaXZlcnNhbC5wbmcueG1sUEsFBgAAAAALAAsASQMAANQ5AAAAAA=="/>
  <p:tag name="ISPRING_PRESENTATION_TITLE" val="第9章 JDBC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RESOURCE_PATHS_HASH_PRESENTER" val="98fb7ff2e0aa5ce0de24e2cd425d55e242cedec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第9章 JDBC"/>
  <p:tag name="GENSWF_ADVANCE_TIME" val="0.00"/>
  <p:tag name="ISPRING_SLIDE_INDENT_LEVEL" val="0"/>
  <p:tag name="ISPRING_CUSTOM_TIMING_US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点评"/>
  <p:tag name="GENSWF_ADVANCE_TIME" val="0.00"/>
  <p:tag name="ISPRING_SLIDE_INDENT_LEVEL" val="0"/>
  <p:tag name="ISPRING_CUSTOM_TIMING_US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预习检查"/>
  <p:tag name="GENSWF_ADVANCE_TIME" val="0.00"/>
  <p:tag name="ISPRING_SLIDE_INDENT_LEVEL" val="0"/>
  <p:tag name="ISPRING_CUSTOM_TIMING_US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学习目标"/>
  <p:tag name="GENSWF_ADVANCE_TIME" val="0.00"/>
  <p:tag name="ISPRING_SLIDE_INDENT_LEVEL" val="0"/>
  <p:tag name="ISPRING_CUSTOM_TIMING_US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什么是JDBC"/>
  <p:tag name="GENSWF_ADVANCE_TIME" val="0.00"/>
  <p:tag name="ISPRING_SLIDE_INDENT_LEVEL" val="0"/>
  <p:tag name="ISPRING_CUSTOM_TIMING_US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JDBC常用API"/>
  <p:tag name="GENSWF_ADVANCE_TIME" val="0.00"/>
  <p:tag name="ISPRING_SLIDE_INDENT_LEVEL" val="0"/>
  <p:tag name="ISPRING_CUSTOM_TIMING_US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实现第一个JDBC程序"/>
  <p:tag name="GENSWF_ADVANCE_TIME" val="0.00"/>
  <p:tag name="ISPRING_SLIDE_INDENT_LEVEL" val="0"/>
  <p:tag name="ISPRING_CUSTOM_TIMING_US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PreparedStatement对象"/>
  <p:tag name="GENSWF_ADVANCE_TIME" val="0.00"/>
  <p:tag name="ISPRING_SLIDE_INDENT_LEVEL" val="0"/>
  <p:tag name="ISPRING_CUSTOM_TIMING_US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ResultSet对象"/>
  <p:tag name="GENSWF_ADVANCE_TIME" val="0.00"/>
  <p:tag name="ISPRING_SLIDE_INDENT_LEVEL" val="0"/>
  <p:tag name="ISPRING_CUSTOM_TIMING_US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9-1】使用JDBC完成数据的增删改查"/>
  <p:tag name="GENSWF_ADVANCE_TIME" val="0.00"/>
  <p:tag name="ISPRING_SLIDE_INDENT_LEVEL" val="0"/>
  <p:tag name="ISPRING_CUSTOM_TIMING_US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本章小结"/>
  <p:tag name="GENSWF_ADVANCE_TIME" val="0.00"/>
  <p:tag name="ISPRING_SLIDE_INDENT_LEVEL" val="0"/>
  <p:tag name="ISPRING_CUSTOM_TIMING_US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"/>
  <p:tag name="GENSWF_ADVANCE_TIME" val="0.00"/>
  <p:tag name="ISPRING_SLIDE_INDENT_LEVEL" val="0"/>
  <p:tag name="ISPRING_CUSTOM_TIMING_US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3414</TotalTime>
  <Words>1529</Words>
  <Application>Microsoft Office PowerPoint</Application>
  <PresentationFormat>全屏显示(4:3)</PresentationFormat>
  <Paragraphs>154</Paragraphs>
  <Slides>18</Slides>
  <Notes>18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19" baseType="lpstr">
      <vt:lpstr>Office 主题​​</vt:lpstr>
      <vt:lpstr>Java Web程序设计任务教程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第9章 JDBC</dc:title>
  <dc:creator>admin</dc:creator>
  <cp:lastModifiedBy>石荣新</cp:lastModifiedBy>
  <cp:revision>285</cp:revision>
  <dcterms:created xsi:type="dcterms:W3CDTF">2015-06-29T07:19:00Z</dcterms:created>
  <dcterms:modified xsi:type="dcterms:W3CDTF">2018-01-09T09:37:47Z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
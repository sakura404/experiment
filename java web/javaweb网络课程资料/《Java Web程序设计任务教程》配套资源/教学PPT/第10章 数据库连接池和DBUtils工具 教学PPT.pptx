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sldIdLst>
    <p:sldId id="380" r:id="rId2"/>
    <p:sldId id="274" r:id="rId3"/>
    <p:sldId id="275" r:id="rId4"/>
    <p:sldId id="273" r:id="rId5"/>
    <p:sldId id="367" r:id="rId6"/>
    <p:sldId id="279" r:id="rId7"/>
    <p:sldId id="366" r:id="rId8"/>
    <p:sldId id="368" r:id="rId9"/>
    <p:sldId id="369" r:id="rId10"/>
    <p:sldId id="370" r:id="rId11"/>
    <p:sldId id="371" r:id="rId12"/>
    <p:sldId id="372" r:id="rId13"/>
    <p:sldId id="373" r:id="rId14"/>
    <p:sldId id="365" r:id="rId15"/>
    <p:sldId id="374" r:id="rId16"/>
    <p:sldId id="375" r:id="rId17"/>
    <p:sldId id="376" r:id="rId18"/>
    <p:sldId id="378" r:id="rId19"/>
    <p:sldId id="379" r:id="rId20"/>
    <p:sldId id="308" r:id="rId21"/>
    <p:sldId id="309" r:id="rId22"/>
    <p:sldId id="381" r:id="rId23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ACC6"/>
    <a:srgbClr val="5767B4"/>
    <a:srgbClr val="0070C0"/>
    <a:srgbClr val="006BA9"/>
    <a:srgbClr val="4F81BD"/>
    <a:srgbClr val="5185BD"/>
    <a:srgbClr val="685DAB"/>
    <a:srgbClr val="8064A2"/>
    <a:srgbClr val="E9EDF4"/>
    <a:srgbClr val="006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  <c:spPr>
              <a:solidFill>
                <a:srgbClr val="0070C0"/>
              </a:solidFill>
            </c:spPr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E3A0C-2756-49CA-AE13-410589007B77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84784-494E-439C-883F-119A301A5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9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75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76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6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229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570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26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690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706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035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044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431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8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86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705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715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047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799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36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104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32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E84784-494E-439C-883F-119A301A597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49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065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5137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05726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03172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09671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00178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99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0103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76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6035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52" r:id="rId28"/>
    <p:sldLayoutId id="2147483651" r:id="rId2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0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10</a:t>
            </a:r>
            <a:r>
              <a:rPr lang="zh-CN" altLang="en-US" sz="3200" b="1" dirty="0" smtClean="0"/>
              <a:t>章 数据库连接池和</a:t>
            </a:r>
            <a:r>
              <a:rPr lang="en-US" altLang="zh-CN" sz="3200" b="1" dirty="0" err="1" smtClean="0"/>
              <a:t>DBUtils</a:t>
            </a:r>
            <a:r>
              <a:rPr lang="zh-CN" altLang="en-US" sz="3200" b="1" dirty="0" smtClean="0"/>
              <a:t>工具</a:t>
            </a:r>
            <a:endParaRPr lang="zh-CN" altLang="en-US" sz="3200" b="1" dirty="0"/>
          </a:p>
        </p:txBody>
      </p:sp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430838" y="5517232"/>
            <a:ext cx="346164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DBCP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数据源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DBUtils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工具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52725" y="5538788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什么是数据库连接池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C3P0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数据源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597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请简述什么是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 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简述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的实现步骤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181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 eaLnBrk="1" hangingPunct="1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数据库连接池的概念、作用及其常用的数据源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DBUtils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工具的作用及其常用</a:t>
            </a:r>
            <a:r>
              <a:rPr lang="en-US" altLang="zh-CN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zh-CN" altLang="en-US" sz="2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有哪些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35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250855" y="2194585"/>
            <a:ext cx="2833123" cy="1139825"/>
            <a:chOff x="5168334" y="4225925"/>
            <a:chExt cx="3503679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168334" y="4354731"/>
              <a:ext cx="3057600" cy="528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 eaLnBrk="1" hangingPunct="1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latin typeface="+mn-lt"/>
                  <a:ea typeface="微软雅黑" pitchFamily="34" charset="-122"/>
                  <a:sym typeface="宋体" pitchFamily="2" charset="-122"/>
                </a:rPr>
                <a:t>什么是数据库连接</a:t>
              </a:r>
              <a:r>
                <a:rPr lang="zh-CN" altLang="en-US" b="1" smtClean="0">
                  <a:solidFill>
                    <a:srgbClr val="006BA9"/>
                  </a:solidFill>
                  <a:latin typeface="+mn-lt"/>
                  <a:ea typeface="微软雅黑" pitchFamily="34" charset="-122"/>
                  <a:sym typeface="宋体" pitchFamily="2" charset="-122"/>
                </a:rPr>
                <a:t>池，</a:t>
              </a:r>
              <a:endParaRPr lang="en-US" altLang="zh-CN" b="1" smtClean="0">
                <a:solidFill>
                  <a:srgbClr val="006BA9"/>
                </a:solidFill>
                <a:latin typeface="+mn-lt"/>
                <a:ea typeface="微软雅黑" pitchFamily="34" charset="-122"/>
                <a:sym typeface="宋体" pitchFamily="2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36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2434982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3586674">
              <a:off x="4661170" y="3033606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endPara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790945" y="4474016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熟悉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59" y="4754052"/>
            <a:ext cx="3334301" cy="1123215"/>
            <a:chOff x="4241870" y="5106723"/>
            <a:chExt cx="2195178" cy="942278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838005" y="4510588"/>
              <a:ext cx="942278" cy="2134547"/>
              <a:chOff x="6453786" y="4116787"/>
              <a:chExt cx="1337402" cy="97773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86" y="4116787"/>
                <a:ext cx="1070796" cy="815236"/>
                <a:chOff x="1766924" y="2298618"/>
                <a:chExt cx="1070903" cy="814920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425516" y="2646176"/>
                  <a:ext cx="695116" cy="0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44643" y="2520354"/>
                  <a:ext cx="115465" cy="1070903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169302" y="4932019"/>
                <a:ext cx="621886" cy="162501"/>
                <a:chOff x="2140164" y="3658531"/>
                <a:chExt cx="623648" cy="162297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374843" y="3423852"/>
                  <a:ext cx="151397" cy="620755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381465" y="3438481"/>
                  <a:ext cx="141050" cy="623644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457207" y="5263697"/>
              <a:ext cx="1979841" cy="419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dirty="0" err="1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DBUtils</a:t>
              </a: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工具中常见的</a:t>
              </a:r>
              <a:r>
                <a:rPr lang="en-US" altLang="zh-CN" b="1" dirty="0" smtClean="0">
                  <a:solidFill>
                    <a:srgbClr val="006BA9"/>
                  </a:solidFill>
                  <a:ea typeface="微软雅黑" pitchFamily="34" charset="-122"/>
                  <a:sym typeface="宋体" charset="-122"/>
                </a:rPr>
                <a:t>API</a:t>
              </a: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895978" y="1678449"/>
            <a:ext cx="3366812" cy="1477328"/>
            <a:chOff x="5947984" y="1317590"/>
            <a:chExt cx="3369846" cy="1477373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992198" y="1317590"/>
              <a:ext cx="3325632" cy="1477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>
                  <a:solidFill>
                    <a:srgbClr val="006BA9"/>
                  </a:solidFill>
                  <a:ea typeface="微软雅黑" pitchFamily="34" charset="-122"/>
                  <a:sym typeface="宋体" pitchFamily="2" charset="-122"/>
                </a:rPr>
                <a:t>DBCP</a:t>
              </a:r>
              <a:r>
                <a:rPr lang="zh-CN" altLang="en-US" b="1">
                  <a:solidFill>
                    <a:srgbClr val="006BA9"/>
                  </a:solidFill>
                  <a:ea typeface="微软雅黑" pitchFamily="34" charset="-122"/>
                  <a:sym typeface="宋体" pitchFamily="2" charset="-122"/>
                </a:rPr>
                <a:t>和</a:t>
              </a:r>
              <a:r>
                <a:rPr lang="en-US" altLang="zh-CN" b="1">
                  <a:solidFill>
                    <a:srgbClr val="006BA9"/>
                  </a:solidFill>
                  <a:ea typeface="微软雅黑" pitchFamily="34" charset="-122"/>
                  <a:sym typeface="宋体" pitchFamily="2" charset="-122"/>
                </a:rPr>
                <a:t>C3P0</a:t>
              </a:r>
              <a:r>
                <a:rPr lang="zh-CN" altLang="en-US" b="1" smtClean="0">
                  <a:solidFill>
                    <a:srgbClr val="006BA9"/>
                  </a:solidFill>
                  <a:ea typeface="微软雅黑" pitchFamily="34" charset="-122"/>
                  <a:sym typeface="宋体" pitchFamily="2" charset="-122"/>
                </a:rPr>
                <a:t>数据源的使用</a:t>
              </a:r>
              <a:endParaRPr lang="en-US" altLang="zh-CN" b="1" smtClean="0">
                <a:solidFill>
                  <a:srgbClr val="006BA9"/>
                </a:solidFill>
                <a:ea typeface="微软雅黑" pitchFamily="34" charset="-122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06BA9"/>
                  </a:solidFill>
                  <a:ea typeface="微软雅黑" pitchFamily="34" charset="-122"/>
                  <a:sym typeface="微软雅黑" pitchFamily="34" charset="-122"/>
                </a:rPr>
                <a:t>DBUtils</a:t>
              </a: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微软雅黑" pitchFamily="34" charset="-122"/>
                </a:rPr>
                <a:t>工具对数据库</a:t>
              </a:r>
              <a:endParaRPr lang="en-US" altLang="zh-CN" b="1" dirty="0" smtClean="0">
                <a:solidFill>
                  <a:srgbClr val="006BA9"/>
                </a:solidFill>
                <a:ea typeface="微软雅黑" pitchFamily="34" charset="-122"/>
                <a:sym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zh-CN" altLang="en-US" b="1" dirty="0" smtClean="0">
                  <a:solidFill>
                    <a:srgbClr val="006BA9"/>
                  </a:solidFill>
                  <a:ea typeface="微软雅黑" pitchFamily="34" charset="-122"/>
                  <a:sym typeface="微软雅黑" pitchFamily="34" charset="-122"/>
                </a:rPr>
                <a:t>进行增删改查的操作</a:t>
              </a:r>
              <a:endParaRPr lang="zh-CN" altLang="en-US" b="1" dirty="0">
                <a:solidFill>
                  <a:srgbClr val="006BA9"/>
                </a:solidFill>
                <a:ea typeface="微软雅黑" pitchFamily="34" charset="-122"/>
                <a:sym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84" y="2286831"/>
              <a:ext cx="2585191" cy="446681"/>
              <a:chOff x="1455470" y="2862509"/>
              <a:chExt cx="270318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1455470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714278" y="3309401"/>
                <a:ext cx="2444377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313653" y="1827378"/>
              <a:ext cx="489391" cy="520715"/>
              <a:chOff x="1857876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857876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965869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3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5397500" y="3539009"/>
            <a:ext cx="492125" cy="493713"/>
          </a:xfrm>
          <a:prstGeom prst="downArrow">
            <a:avLst>
              <a:gd name="adj1" fmla="val 50000"/>
              <a:gd name="adj2" fmla="val 50161"/>
            </a:avLst>
          </a:prstGeom>
          <a:noFill/>
          <a:ln w="28575" algn="ctr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  <a:defRPr/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" name="圆角矩形 2"/>
          <p:cNvSpPr>
            <a:spLocks noChangeArrowheads="1"/>
          </p:cNvSpPr>
          <p:nvPr/>
        </p:nvSpPr>
        <p:spPr bwMode="auto">
          <a:xfrm>
            <a:off x="3333750" y="4110509"/>
            <a:ext cx="4724400" cy="1046683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70C0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zh-CN" dirty="0" smtClean="0">
                <a:latin typeface="+mn-ea"/>
                <a:ea typeface="+mn-ea"/>
              </a:rPr>
              <a:t>为了</a:t>
            </a:r>
            <a:r>
              <a:rPr lang="zh-CN" altLang="zh-CN" dirty="0">
                <a:latin typeface="+mn-ea"/>
                <a:ea typeface="+mn-ea"/>
              </a:rPr>
              <a:t>避免频繁的创建数据库连接，工程师们提出</a:t>
            </a:r>
            <a:r>
              <a:rPr lang="zh-CN" altLang="en-US" dirty="0">
                <a:latin typeface="+mn-ea"/>
                <a:ea typeface="+mn-ea"/>
              </a:rPr>
              <a:t>了数据库</a:t>
            </a:r>
            <a:r>
              <a:rPr lang="zh-CN" altLang="zh-CN" dirty="0">
                <a:latin typeface="+mn-ea"/>
                <a:ea typeface="+mn-ea"/>
              </a:rPr>
              <a:t>连接池技术。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圆角矩形 3"/>
          <p:cNvSpPr>
            <a:spLocks noChangeArrowheads="1"/>
          </p:cNvSpPr>
          <p:nvPr/>
        </p:nvSpPr>
        <p:spPr bwMode="auto">
          <a:xfrm>
            <a:off x="2967038" y="1484784"/>
            <a:ext cx="5387975" cy="1930400"/>
          </a:xfrm>
          <a:prstGeom prst="roundRect">
            <a:avLst>
              <a:gd name="adj" fmla="val 16667"/>
            </a:avLst>
          </a:prstGeom>
          <a:noFill/>
          <a:ln w="31750" algn="ctr">
            <a:solidFill>
              <a:srgbClr val="0070C0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zh-CN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JDBC</a:t>
            </a:r>
            <a:r>
              <a:rPr lang="zh-CN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编程中，每次创建和断开</a:t>
            </a:r>
            <a:r>
              <a:rPr lang="en-US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Connection</a:t>
            </a:r>
            <a:r>
              <a:rPr lang="zh-CN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对象都会消耗一定的时间和</a:t>
            </a:r>
            <a:r>
              <a:rPr lang="en-US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IO</a:t>
            </a:r>
            <a:r>
              <a:rPr lang="zh-CN" altLang="zh-CN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资源。频繁地创建、断开数据库连接势必会影响数据库的访问效率，甚至导致数据库崩溃。</a:t>
            </a:r>
            <a:endParaRPr lang="zh-CN" altLang="en-US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dirty="0" smtClean="0">
              <a:solidFill>
                <a:srgbClr val="000000"/>
              </a:solidFill>
            </a:endParaRPr>
          </a:p>
        </p:txBody>
      </p:sp>
      <p:pic>
        <p:nvPicPr>
          <p:cNvPr id="5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2635722"/>
            <a:ext cx="19875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616862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数据库连接池和</a:t>
            </a:r>
            <a:r>
              <a:rPr lang="en-US" altLang="zh-CN" sz="3200" b="1" dirty="0" err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DBUtils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工具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565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1988840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635732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10.2</a:t>
            </a:r>
            <a:r>
              <a:rPr lang="en-US" altLang="zh-CN" sz="2400" dirty="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dirty="0" err="1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DBUtils</a:t>
            </a:r>
            <a:r>
              <a:rPr lang="zh-CN" altLang="en-US" sz="2400" dirty="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工具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2132856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10.1    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数据库连接池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028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2102421"/>
            <a:ext cx="8137525" cy="1470595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18542" y="2143264"/>
            <a:ext cx="8102600" cy="13577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800" dirty="0" smtClean="0">
                <a:latin typeface="+mn-ea"/>
              </a:rPr>
              <a:t>数据库</a:t>
            </a:r>
            <a:r>
              <a:rPr lang="zh-CN" altLang="zh-CN" sz="1800" dirty="0">
                <a:latin typeface="+mn-ea"/>
              </a:rPr>
              <a:t>连接池负责分配、管理和释放数据库连接，它允许</a:t>
            </a:r>
            <a:r>
              <a:rPr lang="zh-CN" altLang="en-US" sz="1800" dirty="0">
                <a:latin typeface="+mn-ea"/>
              </a:rPr>
              <a:t>应用程序</a:t>
            </a:r>
            <a:r>
              <a:rPr lang="zh-CN" altLang="zh-CN" sz="1800" dirty="0">
                <a:latin typeface="+mn-ea"/>
              </a:rPr>
              <a:t>重复使用现有的数据库连接，而不是重新建立。</a:t>
            </a:r>
            <a:r>
              <a:rPr lang="zh-CN" altLang="en-US" sz="1800" dirty="0">
                <a:latin typeface="+mn-ea"/>
              </a:rPr>
              <a:t>下面</a:t>
            </a:r>
            <a:r>
              <a:rPr lang="zh-CN" altLang="zh-CN" sz="1800" dirty="0">
                <a:latin typeface="+mn-ea"/>
              </a:rPr>
              <a:t>通过一张图来简单描述应用程序如何通过连接池连接数据库</a:t>
            </a:r>
            <a:r>
              <a:rPr lang="zh-CN" altLang="en-US" sz="1800" dirty="0">
                <a:latin typeface="+mn-ea"/>
              </a:rPr>
              <a:t>。</a:t>
            </a:r>
            <a:endParaRPr lang="zh-CN" altLang="zh-CN" sz="1800" dirty="0">
              <a:latin typeface="+mn-ea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676744"/>
              </p:ext>
            </p:extLst>
          </p:nvPr>
        </p:nvGraphicFramePr>
        <p:xfrm>
          <a:off x="2213024" y="3789040"/>
          <a:ext cx="45720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Visio" r:id="rId5" imgW="4558076" imgH="2060517" progId="Visio.Drawing.11">
                  <p:embed/>
                </p:oleObj>
              </mc:Choice>
              <mc:Fallback>
                <p:oleObj name="Visio" r:id="rId5" imgW="4558076" imgH="2060517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024" y="3789040"/>
                        <a:ext cx="4572000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10.1.1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什么是数据库连接池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93529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772816"/>
            <a:ext cx="8137525" cy="2592288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8542" y="1813659"/>
            <a:ext cx="8102600" cy="895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为了获取数据库连接对象（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提供了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javax.sql.DataSource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接口，它负责与数据库建立连接，并定义了返回值为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对象的方法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我们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习惯性的把实现了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javax.sql.DataSource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接口的类称为数据源，顾名思义，数据源即数据的来源。在数据源中存储了所有建立数据库连接的信息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800" dirty="0">
              <a:latin typeface="+mn-ea"/>
            </a:endParaRPr>
          </a:p>
        </p:txBody>
      </p: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490165" y="2708920"/>
            <a:ext cx="8042275" cy="64807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en-US" altLang="zh-CN" sz="1600" smtClean="0"/>
              <a:t>        Connection </a:t>
            </a:r>
            <a:r>
              <a:rPr lang="en-US" altLang="zh-CN" sz="1600" dirty="0" err="1"/>
              <a:t>getConnection</a:t>
            </a:r>
            <a:r>
              <a:rPr lang="en-US" altLang="zh-CN" sz="1600" dirty="0"/>
              <a:t>() </a:t>
            </a:r>
            <a:endParaRPr lang="zh-CN" altLang="zh-CN" sz="1600" dirty="0"/>
          </a:p>
          <a:p>
            <a:pPr lvl="0"/>
            <a:r>
              <a:rPr lang="en-US" altLang="zh-CN" sz="1600" smtClean="0"/>
              <a:t>        Connection </a:t>
            </a:r>
            <a:r>
              <a:rPr lang="en-US" altLang="zh-CN" sz="1600" dirty="0" err="1"/>
              <a:t>getConnection</a:t>
            </a:r>
            <a:r>
              <a:rPr lang="en-US" altLang="zh-CN" sz="1600" dirty="0"/>
              <a:t>(String username, String password)</a:t>
            </a:r>
            <a:endParaRPr lang="zh-CN" altLang="zh-CN" sz="1600" dirty="0"/>
          </a:p>
          <a:p>
            <a:pPr marL="742950" lvl="1" indent="-285750"/>
            <a:endParaRPr lang="zh-CN" altLang="zh-CN" sz="1400" dirty="0"/>
          </a:p>
        </p:txBody>
      </p:sp>
      <p:sp>
        <p:nvSpPr>
          <p:cNvPr id="6" name="任意多边形 5"/>
          <p:cNvSpPr/>
          <p:nvPr/>
        </p:nvSpPr>
        <p:spPr bwMode="auto">
          <a:xfrm>
            <a:off x="3773237" y="4437112"/>
            <a:ext cx="1514978" cy="495300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349899" y="4660979"/>
            <a:ext cx="1397790" cy="1528453"/>
            <a:chOff x="2193925" y="4406803"/>
            <a:chExt cx="1836738" cy="1822547"/>
          </a:xfrm>
        </p:grpSpPr>
        <p:sp>
          <p:nvSpPr>
            <p:cNvPr id="8" name="圆角右箭头 7"/>
            <p:cNvSpPr/>
            <p:nvPr/>
          </p:nvSpPr>
          <p:spPr bwMode="auto">
            <a:xfrm rot="5400000" flipV="1">
              <a:off x="2905164" y="4419465"/>
              <a:ext cx="1085883" cy="1060559"/>
            </a:xfrm>
            <a:prstGeom prst="bentArrow">
              <a:avLst/>
            </a:prstGeom>
            <a:noFill/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 bwMode="auto">
            <a:xfrm>
              <a:off x="2193925" y="5152928"/>
              <a:ext cx="1836738" cy="1076422"/>
            </a:xfrm>
            <a:custGeom>
              <a:avLst/>
              <a:gdLst>
                <a:gd name="connsiteX0" fmla="*/ 0 w 1836805"/>
                <a:gd name="connsiteY0" fmla="*/ 179372 h 1076213"/>
                <a:gd name="connsiteX1" fmla="*/ 179372 w 1836805"/>
                <a:gd name="connsiteY1" fmla="*/ 0 h 1076213"/>
                <a:gd name="connsiteX2" fmla="*/ 1657433 w 1836805"/>
                <a:gd name="connsiteY2" fmla="*/ 0 h 1076213"/>
                <a:gd name="connsiteX3" fmla="*/ 1836805 w 1836805"/>
                <a:gd name="connsiteY3" fmla="*/ 179372 h 1076213"/>
                <a:gd name="connsiteX4" fmla="*/ 1836805 w 1836805"/>
                <a:gd name="connsiteY4" fmla="*/ 896841 h 1076213"/>
                <a:gd name="connsiteX5" fmla="*/ 1657433 w 1836805"/>
                <a:gd name="connsiteY5" fmla="*/ 1076213 h 1076213"/>
                <a:gd name="connsiteX6" fmla="*/ 179372 w 1836805"/>
                <a:gd name="connsiteY6" fmla="*/ 1076213 h 1076213"/>
                <a:gd name="connsiteX7" fmla="*/ 0 w 1836805"/>
                <a:gd name="connsiteY7" fmla="*/ 896841 h 1076213"/>
                <a:gd name="connsiteX8" fmla="*/ 0 w 1836805"/>
                <a:gd name="connsiteY8" fmla="*/ 179372 h 107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36805" h="1076213">
                  <a:moveTo>
                    <a:pt x="0" y="179372"/>
                  </a:moveTo>
                  <a:cubicBezTo>
                    <a:pt x="0" y="80308"/>
                    <a:pt x="80308" y="0"/>
                    <a:pt x="179372" y="0"/>
                  </a:cubicBezTo>
                  <a:lnTo>
                    <a:pt x="1657433" y="0"/>
                  </a:lnTo>
                  <a:cubicBezTo>
                    <a:pt x="1756497" y="0"/>
                    <a:pt x="1836805" y="80308"/>
                    <a:pt x="1836805" y="179372"/>
                  </a:cubicBezTo>
                  <a:lnTo>
                    <a:pt x="1836805" y="896841"/>
                  </a:lnTo>
                  <a:cubicBezTo>
                    <a:pt x="1836805" y="995905"/>
                    <a:pt x="1756497" y="1076213"/>
                    <a:pt x="1657433" y="1076213"/>
                  </a:cubicBezTo>
                  <a:lnTo>
                    <a:pt x="179372" y="1076213"/>
                  </a:lnTo>
                  <a:cubicBezTo>
                    <a:pt x="80308" y="1076213"/>
                    <a:pt x="0" y="995905"/>
                    <a:pt x="0" y="896841"/>
                  </a:cubicBezTo>
                  <a:lnTo>
                    <a:pt x="0" y="179372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3986" tIns="138261" rIns="223986" bIns="138261" spcCol="1270" anchor="ctr"/>
            <a:lstStyle/>
            <a:p>
              <a:pPr algn="ctr" defTabSz="200025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4500" dirty="0"/>
            </a:p>
          </p:txBody>
        </p:sp>
        <p:sp>
          <p:nvSpPr>
            <p:cNvPr id="10" name="矩形 11"/>
            <p:cNvSpPr>
              <a:spLocks noChangeArrowheads="1"/>
            </p:cNvSpPr>
            <p:nvPr/>
          </p:nvSpPr>
          <p:spPr bwMode="auto">
            <a:xfrm>
              <a:off x="2369833" y="5430291"/>
              <a:ext cx="1474897" cy="623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DBCP</a:t>
              </a: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5279356" y="4660979"/>
            <a:ext cx="1380876" cy="1528708"/>
            <a:chOff x="5012341" y="4407239"/>
            <a:chExt cx="1814512" cy="1822825"/>
          </a:xfrm>
        </p:grpSpPr>
        <p:sp>
          <p:nvSpPr>
            <p:cNvPr id="12" name="圆角右箭头 11"/>
            <p:cNvSpPr/>
            <p:nvPr/>
          </p:nvSpPr>
          <p:spPr bwMode="auto">
            <a:xfrm rot="5400000">
              <a:off x="5059119" y="4471801"/>
              <a:ext cx="1089346" cy="960222"/>
            </a:xfrm>
            <a:prstGeom prst="bentArrow">
              <a:avLst/>
            </a:prstGeom>
            <a:noFill/>
            <a:ln w="28575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 bwMode="auto">
            <a:xfrm>
              <a:off x="5012341" y="5153658"/>
              <a:ext cx="1814512" cy="1076406"/>
            </a:xfrm>
            <a:custGeom>
              <a:avLst/>
              <a:gdLst>
                <a:gd name="connsiteX0" fmla="*/ 0 w 1815032"/>
                <a:gd name="connsiteY0" fmla="*/ 179372 h 1076213"/>
                <a:gd name="connsiteX1" fmla="*/ 179372 w 1815032"/>
                <a:gd name="connsiteY1" fmla="*/ 0 h 1076213"/>
                <a:gd name="connsiteX2" fmla="*/ 1635660 w 1815032"/>
                <a:gd name="connsiteY2" fmla="*/ 0 h 1076213"/>
                <a:gd name="connsiteX3" fmla="*/ 1815032 w 1815032"/>
                <a:gd name="connsiteY3" fmla="*/ 179372 h 1076213"/>
                <a:gd name="connsiteX4" fmla="*/ 1815032 w 1815032"/>
                <a:gd name="connsiteY4" fmla="*/ 896841 h 1076213"/>
                <a:gd name="connsiteX5" fmla="*/ 1635660 w 1815032"/>
                <a:gd name="connsiteY5" fmla="*/ 1076213 h 1076213"/>
                <a:gd name="connsiteX6" fmla="*/ 179372 w 1815032"/>
                <a:gd name="connsiteY6" fmla="*/ 1076213 h 1076213"/>
                <a:gd name="connsiteX7" fmla="*/ 0 w 1815032"/>
                <a:gd name="connsiteY7" fmla="*/ 896841 h 1076213"/>
                <a:gd name="connsiteX8" fmla="*/ 0 w 1815032"/>
                <a:gd name="connsiteY8" fmla="*/ 179372 h 107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5032" h="1076213">
                  <a:moveTo>
                    <a:pt x="0" y="179372"/>
                  </a:moveTo>
                  <a:cubicBezTo>
                    <a:pt x="0" y="80308"/>
                    <a:pt x="80308" y="0"/>
                    <a:pt x="179372" y="0"/>
                  </a:cubicBezTo>
                  <a:lnTo>
                    <a:pt x="1635660" y="0"/>
                  </a:lnTo>
                  <a:cubicBezTo>
                    <a:pt x="1734724" y="0"/>
                    <a:pt x="1815032" y="80308"/>
                    <a:pt x="1815032" y="179372"/>
                  </a:cubicBezTo>
                  <a:lnTo>
                    <a:pt x="1815032" y="896841"/>
                  </a:lnTo>
                  <a:cubicBezTo>
                    <a:pt x="1815032" y="995905"/>
                    <a:pt x="1734724" y="1076213"/>
                    <a:pt x="1635660" y="1076213"/>
                  </a:cubicBezTo>
                  <a:lnTo>
                    <a:pt x="179372" y="1076213"/>
                  </a:lnTo>
                  <a:cubicBezTo>
                    <a:pt x="80308" y="1076213"/>
                    <a:pt x="0" y="995905"/>
                    <a:pt x="0" y="896841"/>
                  </a:cubicBezTo>
                  <a:lnTo>
                    <a:pt x="0" y="179372"/>
                  </a:lnTo>
                  <a:close/>
                </a:path>
              </a:pathLst>
            </a:custGeom>
            <a:solidFill>
              <a:srgbClr val="4BACC6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1856823"/>
                <a:satOff val="-56410"/>
                <a:lumOff val="18628"/>
                <a:alphaOff val="0"/>
              </a:schemeClr>
            </a:fillRef>
            <a:effectRef idx="1">
              <a:schemeClr val="accent4">
                <a:hueOff val="1856823"/>
                <a:satOff val="-56410"/>
                <a:lumOff val="18628"/>
                <a:alphaOff val="0"/>
              </a:schemeClr>
            </a:effectRef>
            <a:fontRef idx="minor">
              <a:schemeClr val="lt1"/>
            </a:fontRef>
          </p:style>
          <p:txBody>
            <a:bodyPr lIns="220176" tIns="136356" rIns="220176" bIns="136356" spcCol="1270" anchor="ctr"/>
            <a:lstStyle/>
            <a:p>
              <a:pPr algn="ctr" defTabSz="19558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4400"/>
            </a:p>
          </p:txBody>
        </p:sp>
        <p:sp>
          <p:nvSpPr>
            <p:cNvPr id="14" name="矩形 25"/>
            <p:cNvSpPr>
              <a:spLocks noChangeArrowheads="1"/>
            </p:cNvSpPr>
            <p:nvPr/>
          </p:nvSpPr>
          <p:spPr bwMode="auto">
            <a:xfrm>
              <a:off x="5288655" y="5430265"/>
              <a:ext cx="1291640" cy="623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C3P0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3923928" y="4509120"/>
            <a:ext cx="1316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常用数据源</a:t>
            </a: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10.1.2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DataSource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541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628801"/>
            <a:ext cx="8137525" cy="1368152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8542" y="1669643"/>
            <a:ext cx="8102600" cy="1213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DBCP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数据库连接池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Connection Pool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）的简称，是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组织下的开源连接池实现，也是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服务器使用的连接池组件。单独使用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DBCP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数据源时，需要在应用程序中导入两个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323528" y="3861048"/>
            <a:ext cx="25288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kern="0" dirty="0">
                <a:solidFill>
                  <a:srgbClr val="0070C0"/>
                </a:solidFill>
                <a:latin typeface="Broadway BT"/>
                <a:ea typeface="微软雅黑"/>
              </a:rPr>
              <a:t>需导入的</a:t>
            </a:r>
            <a:r>
              <a:rPr lang="en-US" altLang="zh-CN" sz="24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jar</a:t>
            </a:r>
            <a:r>
              <a:rPr lang="zh-CN" altLang="en-US" sz="2400" b="1" kern="0" dirty="0">
                <a:solidFill>
                  <a:srgbClr val="0070C0"/>
                </a:solidFill>
                <a:latin typeface="Broadway BT"/>
                <a:ea typeface="微软雅黑"/>
              </a:rPr>
              <a:t>包</a:t>
            </a:r>
          </a:p>
        </p:txBody>
      </p:sp>
      <p:sp>
        <p:nvSpPr>
          <p:cNvPr id="6" name="矩形 61"/>
          <p:cNvSpPr/>
          <p:nvPr/>
        </p:nvSpPr>
        <p:spPr>
          <a:xfrm>
            <a:off x="2725415" y="3572619"/>
            <a:ext cx="482600" cy="1152525"/>
          </a:xfrm>
          <a:custGeom>
            <a:avLst/>
            <a:gdLst>
              <a:gd name="connsiteX0" fmla="*/ 0 w 1368152"/>
              <a:gd name="connsiteY0" fmla="*/ 0 h 2160240"/>
              <a:gd name="connsiteX1" fmla="*/ 1368152 w 1368152"/>
              <a:gd name="connsiteY1" fmla="*/ 0 h 2160240"/>
              <a:gd name="connsiteX2" fmla="*/ 1368152 w 1368152"/>
              <a:gd name="connsiteY2" fmla="*/ 2160240 h 2160240"/>
              <a:gd name="connsiteX3" fmla="*/ 0 w 1368152"/>
              <a:gd name="connsiteY3" fmla="*/ 2160240 h 2160240"/>
              <a:gd name="connsiteX4" fmla="*/ 0 w 1368152"/>
              <a:gd name="connsiteY4" fmla="*/ 0 h 2160240"/>
              <a:gd name="connsiteX0" fmla="*/ 1368152 w 1459592"/>
              <a:gd name="connsiteY0" fmla="*/ 0 h 2160240"/>
              <a:gd name="connsiteX1" fmla="*/ 1368152 w 1459592"/>
              <a:gd name="connsiteY1" fmla="*/ 2160240 h 2160240"/>
              <a:gd name="connsiteX2" fmla="*/ 0 w 1459592"/>
              <a:gd name="connsiteY2" fmla="*/ 2160240 h 2160240"/>
              <a:gd name="connsiteX3" fmla="*/ 0 w 1459592"/>
              <a:gd name="connsiteY3" fmla="*/ 0 h 2160240"/>
              <a:gd name="connsiteX4" fmla="*/ 1459592 w 1459592"/>
              <a:gd name="connsiteY4" fmla="*/ 91440 h 2160240"/>
              <a:gd name="connsiteX0" fmla="*/ 1368152 w 1459592"/>
              <a:gd name="connsiteY0" fmla="*/ 0 h 2160240"/>
              <a:gd name="connsiteX1" fmla="*/ 1368152 w 1459592"/>
              <a:gd name="connsiteY1" fmla="*/ 2160240 h 2160240"/>
              <a:gd name="connsiteX2" fmla="*/ 0 w 1459592"/>
              <a:gd name="connsiteY2" fmla="*/ 2160240 h 2160240"/>
              <a:gd name="connsiteX3" fmla="*/ 0 w 1459592"/>
              <a:gd name="connsiteY3" fmla="*/ 0 h 2160240"/>
              <a:gd name="connsiteX4" fmla="*/ 1459592 w 1459592"/>
              <a:gd name="connsiteY4" fmla="*/ 1129 h 2160240"/>
              <a:gd name="connsiteX0" fmla="*/ 1368152 w 1459592"/>
              <a:gd name="connsiteY0" fmla="*/ 2160240 h 2160240"/>
              <a:gd name="connsiteX1" fmla="*/ 0 w 1459592"/>
              <a:gd name="connsiteY1" fmla="*/ 2160240 h 2160240"/>
              <a:gd name="connsiteX2" fmla="*/ 0 w 1459592"/>
              <a:gd name="connsiteY2" fmla="*/ 0 h 2160240"/>
              <a:gd name="connsiteX3" fmla="*/ 1459592 w 1459592"/>
              <a:gd name="connsiteY3" fmla="*/ 1129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9592" h="2160240">
                <a:moveTo>
                  <a:pt x="1368152" y="2160240"/>
                </a:moveTo>
                <a:lnTo>
                  <a:pt x="0" y="2160240"/>
                </a:lnTo>
                <a:lnTo>
                  <a:pt x="0" y="0"/>
                </a:lnTo>
                <a:lnTo>
                  <a:pt x="1459592" y="1129"/>
                </a:lnTo>
              </a:path>
            </a:pathLst>
          </a:custGeom>
          <a:noFill/>
          <a:ln w="25400" cap="flat" cmpd="sng" algn="ctr">
            <a:solidFill>
              <a:sysClr val="window" lastClr="FFFFFF">
                <a:lumMod val="50000"/>
              </a:sysClr>
            </a:solidFill>
            <a:prstDash val="dashDot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14378" y="3140968"/>
            <a:ext cx="3802062" cy="863600"/>
          </a:xfrm>
          <a:prstGeom prst="rect">
            <a:avLst/>
          </a:prstGeom>
          <a:solidFill>
            <a:srgbClr val="ADDFE9"/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58840" y="3283843"/>
            <a:ext cx="3395663" cy="606425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27673" y="4221088"/>
            <a:ext cx="3763962" cy="876300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27103" y="4364931"/>
            <a:ext cx="3395662" cy="59055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Broadway BT"/>
              <a:ea typeface="微软雅黑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579490" y="3347343"/>
            <a:ext cx="3175000" cy="4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commons-pool.jar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包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591396" y="4423692"/>
            <a:ext cx="2998787" cy="4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commons-dbcp.jar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包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1043608" y="5373216"/>
            <a:ext cx="4680349" cy="936104"/>
          </a:xfrm>
          <a:prstGeom prst="wedgeRoundRectCallout">
            <a:avLst>
              <a:gd name="adj1" fmla="val 14119"/>
              <a:gd name="adj2" fmla="val -72644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1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commons-dbcp.jar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包中包含两个核心类，分别是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BasicDataSourceFactory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BasicDataSource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，它们都包含获取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DBCP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数据源对象的方法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10.1.3 DBCP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74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1" grpId="0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880828"/>
            <a:ext cx="8137525" cy="684076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8542" y="1957675"/>
            <a:ext cx="8102600" cy="4992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接口的实现类，主要包括设置数据源对象的方法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517739"/>
              </p:ext>
            </p:extLst>
          </p:nvPr>
        </p:nvGraphicFramePr>
        <p:xfrm>
          <a:off x="395536" y="3301154"/>
          <a:ext cx="8280920" cy="275617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248472"/>
                <a:gridCol w="4032448"/>
              </a:tblGrid>
              <a:tr h="35810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方法名称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功能描述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237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effectLst/>
                          <a:latin typeface="Times New Roman"/>
                          <a:ea typeface="宋体"/>
                        </a:rPr>
                        <a:t>void </a:t>
                      </a:r>
                      <a:r>
                        <a:rPr lang="en-US" sz="1400" u="none" kern="1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</a:rPr>
                        <a:t>setDriverClassName</a:t>
                      </a:r>
                      <a:r>
                        <a:rPr lang="en-US" sz="1400" u="none" kern="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宋体"/>
                        </a:rPr>
                        <a:t>(String</a:t>
                      </a:r>
                      <a:r>
                        <a:rPr lang="en-US" sz="1400" u="none" kern="100" dirty="0">
                          <a:effectLst/>
                          <a:latin typeface="Times New Roman"/>
                          <a:ea typeface="宋体"/>
                        </a:rPr>
                        <a:t> </a:t>
                      </a:r>
                      <a:r>
                        <a:rPr lang="en-US" sz="1400" u="none" kern="100" dirty="0" err="1">
                          <a:effectLst/>
                          <a:latin typeface="Times New Roman"/>
                          <a:ea typeface="宋体"/>
                        </a:rPr>
                        <a:t>driverClassName</a:t>
                      </a:r>
                      <a:r>
                        <a:rPr lang="en-US" sz="1400" u="none" kern="100" dirty="0">
                          <a:effectLst/>
                          <a:latin typeface="Times New Roman"/>
                          <a:ea typeface="宋体"/>
                        </a:rPr>
                        <a:t>)</a:t>
                      </a:r>
                      <a:endParaRPr lang="zh-CN" sz="1400" u="none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设置连接数据库的驱动名称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 </a:t>
                      </a:r>
                      <a:r>
                        <a:rPr lang="en-US" sz="1400" u="none" strike="noStrike" kern="100" dirty="0" err="1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setUrl</a:t>
                      </a:r>
                      <a:r>
                        <a:rPr lang="en-US" sz="1400" u="none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</a:t>
                      </a:r>
                      <a:r>
                        <a:rPr lang="en-US" sz="1400" u="non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url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)</a:t>
                      </a:r>
                      <a:endParaRPr lang="zh-CN" sz="1400" u="none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设置连接数据库的路径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 </a:t>
                      </a:r>
                      <a:r>
                        <a:rPr lang="en-US" sz="14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setUsername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username)</a:t>
                      </a:r>
                      <a:endParaRPr lang="zh-CN" sz="1400" u="none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设置数据库的登陆账号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 </a:t>
                      </a:r>
                      <a:r>
                        <a:rPr lang="en-US" sz="14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setPassword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strike="noStrik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String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password)</a:t>
                      </a:r>
                      <a:endParaRPr lang="zh-CN" sz="1400" u="none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设置数据库的登录密码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4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setInitialSize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</a:t>
                      </a:r>
                      <a:r>
                        <a:rPr lang="en-US" sz="1400" u="non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initialSize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)</a:t>
                      </a:r>
                      <a:endParaRPr lang="zh-CN" sz="1400" u="none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设置数据库连接池初始化的连接数目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 setMaxActive (int maxIdle) </a:t>
                      </a:r>
                      <a:endParaRPr lang="zh-CN" sz="1400" u="none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设置数据库连接池最大活跃的连接数目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void </a:t>
                      </a:r>
                      <a:r>
                        <a:rPr lang="en-US" sz="1400" u="none" strike="noStrik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setMinIdle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(</a:t>
                      </a:r>
                      <a:r>
                        <a:rPr lang="en-US" sz="1400" u="non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int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 </a:t>
                      </a:r>
                      <a:r>
                        <a:rPr lang="en-US" sz="1400" u="none" kern="1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minIdle</a:t>
                      </a:r>
                      <a:r>
                        <a:rPr lang="en-US" sz="1400" u="none" kern="1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</a:rPr>
                        <a:t>) </a:t>
                      </a:r>
                      <a:endParaRPr lang="zh-CN" sz="1400" u="none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设置数据库连接池最小闲置的连接数目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52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876300" algn="l"/>
                        </a:tabLst>
                      </a:pPr>
                      <a:r>
                        <a:rPr lang="en-US" sz="1400" u="none" kern="100" dirty="0">
                          <a:effectLst/>
                          <a:latin typeface="Times New Roman"/>
                          <a:ea typeface="宋体"/>
                        </a:rPr>
                        <a:t>Connection </a:t>
                      </a:r>
                      <a:r>
                        <a:rPr lang="en-US" sz="1400" u="none" kern="100" dirty="0" err="1">
                          <a:effectLst/>
                          <a:latin typeface="Times New Roman"/>
                          <a:ea typeface="宋体"/>
                        </a:rPr>
                        <a:t>getConnection</a:t>
                      </a:r>
                      <a:r>
                        <a:rPr lang="en-US" sz="1400" u="none" kern="100" dirty="0">
                          <a:effectLst/>
                          <a:latin typeface="Times New Roman"/>
                          <a:ea typeface="宋体"/>
                        </a:rPr>
                        <a:t>()</a:t>
                      </a:r>
                      <a:endParaRPr lang="zh-CN" sz="1400" u="none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从连接池中获取一个数据库连接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 bwMode="auto">
          <a:xfrm>
            <a:off x="395536" y="2708920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 smtClean="0">
                <a:solidFill>
                  <a:srgbClr val="0070C0"/>
                </a:solidFill>
                <a:latin typeface="Arial"/>
                <a:ea typeface="宋体"/>
              </a:rPr>
              <a:t>BasicDataSource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类的常用方法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10.1.3 DBCP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02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467544" y="2528900"/>
            <a:ext cx="8137525" cy="1044116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18542" y="2605747"/>
            <a:ext cx="8102600" cy="895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BasicDataSource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类创建一个数据源对象，手动给数据源对象设置属性值，然后获取数据库连接对象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任意多边形 5"/>
          <p:cNvSpPr/>
          <p:nvPr/>
        </p:nvSpPr>
        <p:spPr bwMode="auto">
          <a:xfrm>
            <a:off x="5757689" y="2132856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156176" y="2190006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方式一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67544" y="4185084"/>
            <a:ext cx="8137525" cy="1044116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18542" y="4261931"/>
            <a:ext cx="8102600" cy="895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BasicDataSourceFactory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工厂类读取配置文件，创建数据源对象，然后获取数据库连接对象。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800" dirty="0">
              <a:latin typeface="+mn-ea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5757689" y="378904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156176" y="3846190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创建方式二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539552" y="5373216"/>
            <a:ext cx="79756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，通过案例分别来演示这两种方式的使用，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10.1.3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小节内容。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395536" y="1556792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数据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源对象创建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的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两种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方式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10.1.3 DBCP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81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9" grpId="0"/>
      <p:bldP spid="10" grpId="0" animBg="1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268760"/>
            <a:ext cx="8137525" cy="1332148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7544" y="1345607"/>
            <a:ext cx="8137525" cy="1147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C3P0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是目前最流行的开源数据库连接池之一，它实现了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数据源接口，支持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JDBC2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JDBC3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的标准规范，易于扩展并且性能优越，著名的开源框架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使用的都是该数据源。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2555947" y="2888940"/>
            <a:ext cx="5040389" cy="936104"/>
          </a:xfrm>
          <a:prstGeom prst="wedgeRoundRectCallout">
            <a:avLst>
              <a:gd name="adj1" fmla="val -13233"/>
              <a:gd name="adj2" fmla="val -61899"/>
              <a:gd name="adj3" fmla="val 16667"/>
            </a:avLst>
          </a:prstGeom>
          <a:solidFill>
            <a:srgbClr val="0070C0"/>
          </a:solidFill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zh-CN" sz="16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我们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在使用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C3P0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数据源开发时，需要了解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C3P0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DataSource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接口的实现类</a:t>
            </a:r>
            <a:r>
              <a:rPr lang="en-US" altLang="zh-CN" sz="16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ComboPooledDataSource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，它是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C3P0</a:t>
            </a:r>
            <a:r>
              <a:rPr lang="zh-CN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的核心类，提供了数据源对象的相关方法</a:t>
            </a:r>
            <a:r>
              <a:rPr lang="zh-CN" altLang="zh-CN" sz="16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12824" y="2708920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000" b="1" kern="0" dirty="0" err="1" smtClean="0">
                <a:solidFill>
                  <a:srgbClr val="0070C0"/>
                </a:solidFill>
                <a:latin typeface="Arial"/>
                <a:ea typeface="宋体"/>
              </a:rPr>
              <a:t>ComboPooledDataSource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类的</a:t>
            </a:r>
            <a:r>
              <a:rPr lang="zh-CN" altLang="zh-CN" sz="2000" b="1" kern="0">
                <a:solidFill>
                  <a:srgbClr val="0070C0"/>
                </a:solidFill>
                <a:latin typeface="Arial"/>
                <a:ea typeface="宋体"/>
              </a:rPr>
              <a:t>常用</a:t>
            </a:r>
            <a:r>
              <a:rPr lang="zh-CN" altLang="zh-CN" sz="2000" b="1" kern="0" smtClean="0">
                <a:solidFill>
                  <a:srgbClr val="0070C0"/>
                </a:solidFill>
                <a:latin typeface="Arial"/>
                <a:ea typeface="宋体"/>
              </a:rPr>
              <a:t>方法</a:t>
            </a:r>
            <a:endParaRPr lang="zh-CN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182155"/>
              </p:ext>
            </p:extLst>
          </p:nvPr>
        </p:nvGraphicFramePr>
        <p:xfrm>
          <a:off x="395536" y="3284984"/>
          <a:ext cx="8225606" cy="2475118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220094"/>
                <a:gridCol w="4005512"/>
              </a:tblGrid>
              <a:tr h="322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方法名称</a:t>
                      </a:r>
                      <a:endParaRPr lang="zh-CN" altLang="en-US" dirty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功能描述</a:t>
                      </a:r>
                      <a:endParaRPr lang="en-US" altLang="zh-CN" sz="1800" dirty="0" smtClean="0"/>
                    </a:p>
                  </a:txBody>
                  <a:tcPr marL="91432" marR="91432" marT="45767" marB="45767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856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setDriverClass()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设置连接数据库的驱动名称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setJdbcUrl()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设置连接数据库的路径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setUser()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设置数据库的登陆账号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setPassword()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设置数据库的登录密码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setMaxPoolSize()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设置数据库连接池最大的连接数目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setMinPoolSize()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设置数据库连接池最小的连接数目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void setInitialPoolSize()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</a:rPr>
                        <a:t>设置数据库连接池初始化的连接数目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605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</a:rPr>
                        <a:t>Connection getConnection()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</a:rPr>
                        <a:t>从数据库连接池中获取一个连接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10.1.4 C3P0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413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7" grpId="1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 bwMode="auto">
          <a:xfrm>
            <a:off x="395536" y="1556792"/>
            <a:ext cx="7975600" cy="68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zh-CN" sz="2000" b="1" kern="0" dirty="0" smtClean="0">
                <a:solidFill>
                  <a:srgbClr val="0070C0"/>
                </a:solidFill>
                <a:latin typeface="Arial"/>
                <a:ea typeface="宋体"/>
              </a:rPr>
              <a:t>数据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源对象创建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的</a:t>
            </a:r>
            <a:r>
              <a:rPr lang="zh-CN" altLang="zh-CN" sz="2000" b="1" kern="0" dirty="0">
                <a:solidFill>
                  <a:srgbClr val="0070C0"/>
                </a:solidFill>
                <a:latin typeface="Arial"/>
                <a:ea typeface="宋体"/>
              </a:rPr>
              <a:t>两种</a:t>
            </a:r>
            <a:r>
              <a:rPr lang="zh-CN" altLang="en-US" sz="2000" b="1" kern="0" dirty="0">
                <a:solidFill>
                  <a:srgbClr val="0070C0"/>
                </a:solidFill>
                <a:latin typeface="Arial"/>
                <a:ea typeface="宋体"/>
              </a:rPr>
              <a:t>方式</a:t>
            </a:r>
            <a:endParaRPr lang="en-US" altLang="zh-CN" sz="2000" b="1" kern="0" dirty="0">
              <a:solidFill>
                <a:srgbClr val="0070C0"/>
              </a:solidFill>
              <a:latin typeface="Arial"/>
              <a:ea typeface="宋体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467544" y="2528900"/>
            <a:ext cx="8137525" cy="1044116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18542" y="2605747"/>
            <a:ext cx="8102600" cy="895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ComboPooledDataSource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构造方法创建数据源对象，需要手动给数据源对象设置属性值，然后获取数据库连接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任意多边形 5"/>
          <p:cNvSpPr/>
          <p:nvPr/>
        </p:nvSpPr>
        <p:spPr bwMode="auto">
          <a:xfrm>
            <a:off x="5757689" y="2132856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156176" y="2190006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方式一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67544" y="4185084"/>
            <a:ext cx="8137525" cy="1044116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518542" y="4261931"/>
            <a:ext cx="8102600" cy="8952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ComboPooledDataSource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configName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构造方法读取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c3p0-config.xml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配置文件，从而创建数据源对象，然后获取数据库连接对象。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800" dirty="0">
              <a:latin typeface="+mn-ea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5757689" y="3789040"/>
            <a:ext cx="2198687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6BA9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156176" y="3846190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创建方式二</a:t>
            </a:r>
            <a:endParaRPr lang="zh-CN" altLang="zh-CN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84832" y="5373216"/>
            <a:ext cx="79756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，通过案例分别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来演示这两种方式的使用，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10.1.4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小节内容。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10.1.4 C3P0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数据源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277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/>
      <p:bldP spid="9" grpId="0"/>
      <p:bldP spid="10" grpId="0" animBg="1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对角圆角矩形 10"/>
          <p:cNvSpPr/>
          <p:nvPr/>
        </p:nvSpPr>
        <p:spPr>
          <a:xfrm>
            <a:off x="827584" y="3501008"/>
            <a:ext cx="5719539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0"/>
          <p:cNvSpPr txBox="1"/>
          <p:nvPr/>
        </p:nvSpPr>
        <p:spPr>
          <a:xfrm>
            <a:off x="1230152" y="3635732"/>
            <a:ext cx="4223084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10.2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DBUtils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工具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7998" y="1756903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4860032" y="2749857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1230152" y="2132856"/>
            <a:ext cx="434996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10.1    </a:t>
            </a:r>
            <a:r>
              <a:rPr lang="zh-CN" altLang="en-US" sz="2400" dirty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数据库连接池</a:t>
            </a: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643733" y="389681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064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99197"/>
            <a:ext cx="4550268" cy="24850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8" name="组合 17"/>
          <p:cNvGrpSpPr/>
          <p:nvPr/>
        </p:nvGrpSpPr>
        <p:grpSpPr>
          <a:xfrm>
            <a:off x="5110457" y="2420888"/>
            <a:ext cx="3857598" cy="1293772"/>
            <a:chOff x="4834127" y="2999135"/>
            <a:chExt cx="3857598" cy="1499579"/>
          </a:xfrm>
          <a:solidFill>
            <a:srgbClr val="00B0F0"/>
          </a:solidFill>
        </p:grpSpPr>
        <p:sp>
          <p:nvSpPr>
            <p:cNvPr id="19" name="云形标注 18"/>
            <p:cNvSpPr/>
            <p:nvPr/>
          </p:nvSpPr>
          <p:spPr>
            <a:xfrm>
              <a:off x="4834127" y="2999135"/>
              <a:ext cx="3624751" cy="1499579"/>
            </a:xfrm>
            <a:prstGeom prst="cloudCallout">
              <a:avLst>
                <a:gd name="adj1" fmla="val -60309"/>
                <a:gd name="adj2" fmla="val 3599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15750" y="3332986"/>
              <a:ext cx="3675975" cy="6421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为什么要使用</a:t>
              </a:r>
              <a:r>
                <a:rPr lang="en-US" altLang="zh-CN" sz="2000" b="1" dirty="0" err="1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DBUtils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工具？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74663" y="2358181"/>
            <a:ext cx="7318375" cy="2150939"/>
            <a:chOff x="484632" y="1063625"/>
            <a:chExt cx="6046343" cy="3432969"/>
          </a:xfrm>
        </p:grpSpPr>
        <p:sp>
          <p:nvSpPr>
            <p:cNvPr id="22" name="单圆角矩形 21"/>
            <p:cNvSpPr/>
            <p:nvPr/>
          </p:nvSpPr>
          <p:spPr bwMode="auto">
            <a:xfrm>
              <a:off x="1142686" y="1192563"/>
              <a:ext cx="5388289" cy="3304031"/>
            </a:xfrm>
            <a:prstGeom prst="round1Rect">
              <a:avLst/>
            </a:prstGeom>
            <a:solidFill>
              <a:schemeClr val="accent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3" name="矩形 2"/>
            <p:cNvSpPr>
              <a:spLocks noChangeArrowheads="1"/>
            </p:cNvSpPr>
            <p:nvPr/>
          </p:nvSpPr>
          <p:spPr bwMode="auto">
            <a:xfrm>
              <a:off x="566738" y="1438274"/>
              <a:ext cx="5776857" cy="43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2" eaLnBrk="1" hangingPunct="1"/>
              <a:endParaRPr lang="zh-CN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pic>
          <p:nvPicPr>
            <p:cNvPr id="24" name="Picture 17" descr="C:\Users\admin\Desktop\8879-12030919353077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32" y="1063625"/>
              <a:ext cx="1169542" cy="1471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矩形 24"/>
          <p:cNvSpPr/>
          <p:nvPr/>
        </p:nvSpPr>
        <p:spPr>
          <a:xfrm>
            <a:off x="1763689" y="2564904"/>
            <a:ext cx="58326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    </a:t>
            </a:r>
            <a:r>
              <a:rPr lang="zh-CN" alt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为了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更加简单地使用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组织提供了一个工具类库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commons-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dbutils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组件</a:t>
            </a:r>
            <a:r>
              <a:rPr lang="zh-CN" alt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该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组件实现了对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的简单封装，可以在不影响性能的情况下极大简化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的编码工作量。</a:t>
            </a:r>
            <a:endParaRPr lang="zh-CN" altLang="zh-C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2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10.2.1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DBUtils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工具介绍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26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67544" y="1916832"/>
            <a:ext cx="8137525" cy="3528392"/>
          </a:xfrm>
          <a:prstGeom prst="rect">
            <a:avLst/>
          </a:prstGeom>
          <a:noFill/>
          <a:ln w="19050" algn="ctr">
            <a:solidFill>
              <a:srgbClr val="006B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518542" y="1957675"/>
            <a:ext cx="8102600" cy="19753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QueryRunner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类简化了执行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语句的代码，它与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ResultSetHandler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组合在一起就能完成大部分的数据库操作，大大的减少了编码量。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QueryRunner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类提供了带有一个参数的构造方法，该方法以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javax.sql.DataSource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作为参数传递到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QueryRunner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的构造方法中来获取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对象。针对不同的数据库操作，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QueryRunner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类提供了几种常见的方法，具体如下：</a:t>
            </a: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alibri" panose="020F0502020204030204" pitchFamily="34" charset="0"/>
              <a:buChar char="–"/>
            </a:pP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490165" y="4005064"/>
            <a:ext cx="8042275" cy="1224136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742950" lvl="1" indent="-285750">
              <a:lnSpc>
                <a:spcPct val="150000"/>
              </a:lnSpc>
            </a:pPr>
            <a:r>
              <a:rPr lang="en-US" altLang="zh-CN" sz="1600" dirty="0">
                <a:latin typeface="+mj-lt"/>
              </a:rPr>
              <a:t>query(String </a:t>
            </a:r>
            <a:r>
              <a:rPr lang="en-US" altLang="zh-CN" sz="1600" dirty="0" err="1">
                <a:latin typeface="+mj-lt"/>
              </a:rPr>
              <a:t>sql</a:t>
            </a:r>
            <a:r>
              <a:rPr lang="en-US" altLang="zh-CN" sz="1600" dirty="0">
                <a:latin typeface="+mj-lt"/>
              </a:rPr>
              <a:t>, </a:t>
            </a:r>
            <a:r>
              <a:rPr lang="en-US" altLang="zh-CN" sz="1600" dirty="0" err="1">
                <a:latin typeface="+mj-lt"/>
              </a:rPr>
              <a:t>ResultSetHandler</a:t>
            </a:r>
            <a:r>
              <a:rPr lang="en-US" altLang="zh-CN" sz="1600" dirty="0">
                <a:latin typeface="+mj-lt"/>
              </a:rPr>
              <a:t> </a:t>
            </a:r>
            <a:r>
              <a:rPr lang="en-US" altLang="zh-CN" sz="1600" dirty="0" err="1">
                <a:latin typeface="+mj-lt"/>
              </a:rPr>
              <a:t>rsh</a:t>
            </a:r>
            <a:r>
              <a:rPr lang="en-US" altLang="zh-CN" sz="1600" dirty="0">
                <a:latin typeface="+mj-lt"/>
              </a:rPr>
              <a:t>, Object… </a:t>
            </a:r>
            <a:r>
              <a:rPr lang="en-US" altLang="zh-CN" sz="1600" dirty="0" err="1">
                <a:latin typeface="+mj-lt"/>
              </a:rPr>
              <a:t>params</a:t>
            </a:r>
            <a:r>
              <a:rPr lang="en-US" altLang="zh-CN" sz="1600" dirty="0">
                <a:latin typeface="+mj-lt"/>
              </a:rPr>
              <a:t>)</a:t>
            </a:r>
            <a:r>
              <a:rPr lang="zh-CN" altLang="zh-CN" sz="1600" dirty="0">
                <a:latin typeface="+mj-lt"/>
              </a:rPr>
              <a:t>方法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altLang="zh-CN" sz="1600" dirty="0">
                <a:latin typeface="+mj-lt"/>
              </a:rPr>
              <a:t>update(String </a:t>
            </a:r>
            <a:r>
              <a:rPr lang="en-US" altLang="zh-CN" sz="1600" dirty="0" err="1">
                <a:latin typeface="+mj-lt"/>
              </a:rPr>
              <a:t>sql</a:t>
            </a:r>
            <a:r>
              <a:rPr lang="en-US" altLang="zh-CN" sz="1600" dirty="0">
                <a:latin typeface="+mj-lt"/>
              </a:rPr>
              <a:t>, Object… </a:t>
            </a:r>
            <a:r>
              <a:rPr lang="en-US" altLang="zh-CN" sz="1600" dirty="0" err="1">
                <a:latin typeface="+mj-lt"/>
              </a:rPr>
              <a:t>params</a:t>
            </a:r>
            <a:r>
              <a:rPr lang="en-US" altLang="zh-CN" sz="1600" dirty="0">
                <a:latin typeface="+mj-lt"/>
              </a:rPr>
              <a:t>)</a:t>
            </a:r>
            <a:r>
              <a:rPr lang="zh-CN" altLang="zh-CN" sz="1600" dirty="0">
                <a:latin typeface="+mj-lt"/>
              </a:rPr>
              <a:t>方法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altLang="zh-CN" sz="1600" dirty="0">
                <a:latin typeface="+mj-lt"/>
              </a:rPr>
              <a:t>update(String </a:t>
            </a:r>
            <a:r>
              <a:rPr lang="en-US" altLang="zh-CN" sz="1600" dirty="0" err="1">
                <a:latin typeface="+mj-lt"/>
              </a:rPr>
              <a:t>sql</a:t>
            </a:r>
            <a:r>
              <a:rPr lang="en-US" altLang="zh-CN" sz="1600" dirty="0">
                <a:latin typeface="+mj-lt"/>
              </a:rPr>
              <a:t>)</a:t>
            </a:r>
            <a:r>
              <a:rPr lang="zh-CN" altLang="zh-CN" sz="1600" dirty="0">
                <a:latin typeface="+mj-lt"/>
              </a:rPr>
              <a:t>方法</a:t>
            </a:r>
          </a:p>
          <a:p>
            <a:pPr marL="742950" lvl="1" indent="-285750"/>
            <a:endParaRPr lang="zh-CN" altLang="zh-CN" sz="1400" dirty="0"/>
          </a:p>
        </p:txBody>
      </p: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5952603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10.2.2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QueryRunner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91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08000" y="1340768"/>
            <a:ext cx="8137525" cy="4477768"/>
          </a:xfrm>
          <a:prstGeom prst="rect">
            <a:avLst/>
          </a:prstGeom>
          <a:ln w="19050">
            <a:solidFill>
              <a:srgbClr val="006BA9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矩形 15"/>
          <p:cNvSpPr>
            <a:spLocks noChangeArrowheads="1"/>
          </p:cNvSpPr>
          <p:nvPr/>
        </p:nvSpPr>
        <p:spPr bwMode="auto">
          <a:xfrm>
            <a:off x="571500" y="1354040"/>
            <a:ext cx="80406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ResultSetHandler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接口用于处理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结果集，它可以将结果集中的数据转为不同的形式。根据结果集中数据类型的不同，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ResultSetHandler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提供了几种常见的实现类，具体如下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75"/>
          <p:cNvSpPr>
            <a:spLocks noChangeArrowheads="1"/>
          </p:cNvSpPr>
          <p:nvPr/>
        </p:nvSpPr>
        <p:spPr bwMode="auto">
          <a:xfrm>
            <a:off x="5224463" y="2578747"/>
            <a:ext cx="21097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知识点概述</a:t>
            </a:r>
          </a:p>
        </p:txBody>
      </p:sp>
      <p:sp>
        <p:nvSpPr>
          <p:cNvPr id="6" name="任意多边形 5"/>
          <p:cNvSpPr/>
          <p:nvPr/>
        </p:nvSpPr>
        <p:spPr bwMode="auto">
          <a:xfrm>
            <a:off x="1041400" y="2751785"/>
            <a:ext cx="2143125" cy="547687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8064A2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7" name="矩形 11"/>
          <p:cNvSpPr>
            <a:spLocks noChangeArrowheads="1"/>
          </p:cNvSpPr>
          <p:nvPr/>
        </p:nvSpPr>
        <p:spPr bwMode="auto">
          <a:xfrm>
            <a:off x="1302874" y="2826397"/>
            <a:ext cx="1651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BeanHandler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1039813" y="3934472"/>
            <a:ext cx="2135187" cy="557213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5767B4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43608" y="4015435"/>
            <a:ext cx="21323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BeanListHandler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任意多边形 9"/>
          <p:cNvSpPr/>
          <p:nvPr/>
        </p:nvSpPr>
        <p:spPr bwMode="auto">
          <a:xfrm>
            <a:off x="1070248" y="5135639"/>
            <a:ext cx="2133600" cy="585788"/>
          </a:xfrm>
          <a:custGeom>
            <a:avLst/>
            <a:gdLst>
              <a:gd name="connsiteX0" fmla="*/ 0 w 1836805"/>
              <a:gd name="connsiteY0" fmla="*/ 179372 h 1076213"/>
              <a:gd name="connsiteX1" fmla="*/ 179372 w 1836805"/>
              <a:gd name="connsiteY1" fmla="*/ 0 h 1076213"/>
              <a:gd name="connsiteX2" fmla="*/ 1657433 w 1836805"/>
              <a:gd name="connsiteY2" fmla="*/ 0 h 1076213"/>
              <a:gd name="connsiteX3" fmla="*/ 1836805 w 1836805"/>
              <a:gd name="connsiteY3" fmla="*/ 179372 h 1076213"/>
              <a:gd name="connsiteX4" fmla="*/ 1836805 w 1836805"/>
              <a:gd name="connsiteY4" fmla="*/ 896841 h 1076213"/>
              <a:gd name="connsiteX5" fmla="*/ 1657433 w 1836805"/>
              <a:gd name="connsiteY5" fmla="*/ 1076213 h 1076213"/>
              <a:gd name="connsiteX6" fmla="*/ 179372 w 1836805"/>
              <a:gd name="connsiteY6" fmla="*/ 1076213 h 1076213"/>
              <a:gd name="connsiteX7" fmla="*/ 0 w 1836805"/>
              <a:gd name="connsiteY7" fmla="*/ 896841 h 1076213"/>
              <a:gd name="connsiteX8" fmla="*/ 0 w 1836805"/>
              <a:gd name="connsiteY8" fmla="*/ 179372 h 10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6805" h="1076213">
                <a:moveTo>
                  <a:pt x="0" y="179372"/>
                </a:moveTo>
                <a:cubicBezTo>
                  <a:pt x="0" y="80308"/>
                  <a:pt x="80308" y="0"/>
                  <a:pt x="179372" y="0"/>
                </a:cubicBezTo>
                <a:lnTo>
                  <a:pt x="1657433" y="0"/>
                </a:lnTo>
                <a:cubicBezTo>
                  <a:pt x="1756497" y="0"/>
                  <a:pt x="1836805" y="80308"/>
                  <a:pt x="1836805" y="179372"/>
                </a:cubicBezTo>
                <a:lnTo>
                  <a:pt x="1836805" y="896841"/>
                </a:lnTo>
                <a:cubicBezTo>
                  <a:pt x="1836805" y="995905"/>
                  <a:pt x="1756497" y="1076213"/>
                  <a:pt x="1657433" y="1076213"/>
                </a:cubicBezTo>
                <a:lnTo>
                  <a:pt x="179372" y="1076213"/>
                </a:lnTo>
                <a:cubicBezTo>
                  <a:pt x="80308" y="1076213"/>
                  <a:pt x="0" y="995905"/>
                  <a:pt x="0" y="896841"/>
                </a:cubicBezTo>
                <a:lnTo>
                  <a:pt x="0" y="179372"/>
                </a:lnTo>
                <a:close/>
              </a:path>
            </a:pathLst>
          </a:custGeom>
          <a:solidFill>
            <a:srgbClr val="4BACC6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3986" tIns="138261" rIns="223986" bIns="138261" spcCol="1270" anchor="ctr"/>
          <a:lstStyle/>
          <a:p>
            <a:pPr algn="ctr" defTabSz="2000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4500" dirty="0"/>
          </a:p>
        </p:txBody>
      </p:sp>
      <p:sp>
        <p:nvSpPr>
          <p:cNvPr id="11" name="矩形 11"/>
          <p:cNvSpPr>
            <a:spLocks noChangeArrowheads="1"/>
          </p:cNvSpPr>
          <p:nvPr/>
        </p:nvSpPr>
        <p:spPr bwMode="auto">
          <a:xfrm>
            <a:off x="1259632" y="5217371"/>
            <a:ext cx="17924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ScalarHandler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左大括号 11"/>
          <p:cNvSpPr>
            <a:spLocks/>
          </p:cNvSpPr>
          <p:nvPr/>
        </p:nvSpPr>
        <p:spPr bwMode="auto">
          <a:xfrm>
            <a:off x="536575" y="2966097"/>
            <a:ext cx="503238" cy="2590800"/>
          </a:xfrm>
          <a:prstGeom prst="leftBrace">
            <a:avLst>
              <a:gd name="adj1" fmla="val 8342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itchFamily="34" charset="0"/>
              <a:buNone/>
            </a:pPr>
            <a:endParaRPr lang="zh-CN" altLang="en-US"/>
          </a:p>
        </p:txBody>
      </p:sp>
      <p:sp>
        <p:nvSpPr>
          <p:cNvPr id="13" name="右箭头 12"/>
          <p:cNvSpPr>
            <a:spLocks noChangeArrowheads="1"/>
          </p:cNvSpPr>
          <p:nvPr/>
        </p:nvSpPr>
        <p:spPr bwMode="auto">
          <a:xfrm>
            <a:off x="3298825" y="2961335"/>
            <a:ext cx="552450" cy="157162"/>
          </a:xfrm>
          <a:prstGeom prst="rightArrow">
            <a:avLst>
              <a:gd name="adj1" fmla="val 50000"/>
              <a:gd name="adj2" fmla="val 49749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>
            <a:spLocks noChangeArrowheads="1"/>
          </p:cNvSpPr>
          <p:nvPr/>
        </p:nvSpPr>
        <p:spPr bwMode="auto">
          <a:xfrm>
            <a:off x="3308350" y="4147197"/>
            <a:ext cx="552450" cy="155575"/>
          </a:xfrm>
          <a:prstGeom prst="rightArrow">
            <a:avLst>
              <a:gd name="adj1" fmla="val 50000"/>
              <a:gd name="adj2" fmla="val 502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>
            <a:spLocks noChangeArrowheads="1"/>
          </p:cNvSpPr>
          <p:nvPr/>
        </p:nvSpPr>
        <p:spPr bwMode="auto">
          <a:xfrm>
            <a:off x="3308350" y="5349828"/>
            <a:ext cx="552450" cy="155575"/>
          </a:xfrm>
          <a:prstGeom prst="rightArrow">
            <a:avLst>
              <a:gd name="adj1" fmla="val 50000"/>
              <a:gd name="adj2" fmla="val 5025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79863" y="2647010"/>
            <a:ext cx="4511675" cy="86518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 algn="ctr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3979863" y="2656535"/>
            <a:ext cx="42481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/>
              <a:t>       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结果集中的第一行数据封装到一个对应的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实例中。</a:t>
            </a:r>
            <a:endParaRPr lang="zh-CN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79863" y="3792489"/>
            <a:ext cx="4511675" cy="87391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 algn="ctr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962400" y="3805594"/>
            <a:ext cx="4413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1600" dirty="0" smtClean="0"/>
              <a:t>       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结果集中的每一行数据都封装到一个对应的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实例中，并存放到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里。</a:t>
            </a:r>
            <a:endParaRPr lang="zh-CN" altLang="zh-CN" sz="16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71925" y="4949143"/>
            <a:ext cx="4519613" cy="83185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  <a:prstDash val="sysDash"/>
          </a:ln>
        </p:spPr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smtClean="0"/>
              <a:t>         </a:t>
            </a:r>
            <a:r>
              <a:rPr lang="zh-CN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结果集中某一条记录的其中某一列的数据存储成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对象。</a:t>
            </a:r>
            <a:endParaRPr lang="zh-CN" altLang="zh-CN" sz="1600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标题 1"/>
          <p:cNvSpPr>
            <a:spLocks noChangeArrowheads="1"/>
          </p:cNvSpPr>
          <p:nvPr/>
        </p:nvSpPr>
        <p:spPr bwMode="auto">
          <a:xfrm>
            <a:off x="1643733" y="389681"/>
            <a:ext cx="684780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10.2.3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ResultSetHandler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32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8" name="任意多边形 37"/>
          <p:cNvSpPr/>
          <p:nvPr/>
        </p:nvSpPr>
        <p:spPr bwMode="auto">
          <a:xfrm>
            <a:off x="827584" y="1988840"/>
            <a:ext cx="2278220" cy="1076161"/>
          </a:xfrm>
          <a:custGeom>
            <a:avLst/>
            <a:gdLst>
              <a:gd name="connsiteX0" fmla="*/ 0 w 1903809"/>
              <a:gd name="connsiteY0" fmla="*/ 0 h 761523"/>
              <a:gd name="connsiteX1" fmla="*/ 1903809 w 1903809"/>
              <a:gd name="connsiteY1" fmla="*/ 0 h 761523"/>
              <a:gd name="connsiteX2" fmla="*/ 1903809 w 1903809"/>
              <a:gd name="connsiteY2" fmla="*/ 761523 h 761523"/>
              <a:gd name="connsiteX3" fmla="*/ 0 w 1903809"/>
              <a:gd name="connsiteY3" fmla="*/ 761523 h 761523"/>
              <a:gd name="connsiteX4" fmla="*/ 0 w 1903809"/>
              <a:gd name="connsiteY4" fmla="*/ 0 h 761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761523">
                <a:moveTo>
                  <a:pt x="0" y="0"/>
                </a:moveTo>
                <a:lnTo>
                  <a:pt x="1903809" y="0"/>
                </a:lnTo>
                <a:lnTo>
                  <a:pt x="1903809" y="761523"/>
                </a:lnTo>
                <a:lnTo>
                  <a:pt x="0" y="7615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72" tIns="125984" rIns="220472" bIns="125984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100"/>
          </a:p>
        </p:txBody>
      </p:sp>
      <p:sp>
        <p:nvSpPr>
          <p:cNvPr id="39" name="任意多边形 38"/>
          <p:cNvSpPr/>
          <p:nvPr/>
        </p:nvSpPr>
        <p:spPr bwMode="auto">
          <a:xfrm>
            <a:off x="827584" y="3065001"/>
            <a:ext cx="2278220" cy="2046947"/>
          </a:xfrm>
          <a:custGeom>
            <a:avLst/>
            <a:gdLst>
              <a:gd name="connsiteX0" fmla="*/ 0 w 1903809"/>
              <a:gd name="connsiteY0" fmla="*/ 0 h 1449360"/>
              <a:gd name="connsiteX1" fmla="*/ 1903809 w 1903809"/>
              <a:gd name="connsiteY1" fmla="*/ 0 h 1449360"/>
              <a:gd name="connsiteX2" fmla="*/ 1903809 w 1903809"/>
              <a:gd name="connsiteY2" fmla="*/ 1449360 h 1449360"/>
              <a:gd name="connsiteX3" fmla="*/ 0 w 1903809"/>
              <a:gd name="connsiteY3" fmla="*/ 1449360 h 1449360"/>
              <a:gd name="connsiteX4" fmla="*/ 0 w 1903809"/>
              <a:gd name="connsiteY4" fmla="*/ 0 h 144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1449360">
                <a:moveTo>
                  <a:pt x="0" y="0"/>
                </a:moveTo>
                <a:lnTo>
                  <a:pt x="1903809" y="0"/>
                </a:lnTo>
                <a:lnTo>
                  <a:pt x="1903809" y="1449360"/>
                </a:lnTo>
                <a:lnTo>
                  <a:pt x="0" y="14493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65354" tIns="165354" rIns="220472" bIns="248031" spcCol="1270"/>
          <a:lstStyle/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/>
          </a:p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/>
          </a:p>
        </p:txBody>
      </p:sp>
      <p:sp>
        <p:nvSpPr>
          <p:cNvPr id="40" name="任意多边形 39"/>
          <p:cNvSpPr/>
          <p:nvPr/>
        </p:nvSpPr>
        <p:spPr bwMode="auto">
          <a:xfrm>
            <a:off x="3425020" y="1988840"/>
            <a:ext cx="2280119" cy="1076161"/>
          </a:xfrm>
          <a:custGeom>
            <a:avLst/>
            <a:gdLst>
              <a:gd name="connsiteX0" fmla="*/ 0 w 1903809"/>
              <a:gd name="connsiteY0" fmla="*/ 0 h 761523"/>
              <a:gd name="connsiteX1" fmla="*/ 1903809 w 1903809"/>
              <a:gd name="connsiteY1" fmla="*/ 0 h 761523"/>
              <a:gd name="connsiteX2" fmla="*/ 1903809 w 1903809"/>
              <a:gd name="connsiteY2" fmla="*/ 761523 h 761523"/>
              <a:gd name="connsiteX3" fmla="*/ 0 w 1903809"/>
              <a:gd name="connsiteY3" fmla="*/ 761523 h 761523"/>
              <a:gd name="connsiteX4" fmla="*/ 0 w 1903809"/>
              <a:gd name="connsiteY4" fmla="*/ 0 h 761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761523">
                <a:moveTo>
                  <a:pt x="0" y="0"/>
                </a:moveTo>
                <a:lnTo>
                  <a:pt x="1903809" y="0"/>
                </a:lnTo>
                <a:lnTo>
                  <a:pt x="1903809" y="761523"/>
                </a:lnTo>
                <a:lnTo>
                  <a:pt x="0" y="761523"/>
                </a:lnTo>
                <a:lnTo>
                  <a:pt x="0" y="0"/>
                </a:lnTo>
                <a:close/>
              </a:path>
            </a:pathLst>
          </a:custGeom>
          <a:solidFill>
            <a:srgbClr val="5767B4"/>
          </a:solidFill>
          <a:ln>
            <a:solidFill>
              <a:srgbClr val="5767B4"/>
            </a:solidFill>
          </a:ln>
        </p:spPr>
        <p:style>
          <a:lnRef idx="2">
            <a:schemeClr val="accent4">
              <a:hueOff val="928412"/>
              <a:satOff val="-28205"/>
              <a:lumOff val="9314"/>
              <a:alphaOff val="0"/>
            </a:schemeClr>
          </a:lnRef>
          <a:fillRef idx="1">
            <a:schemeClr val="accent4">
              <a:hueOff val="928412"/>
              <a:satOff val="-28205"/>
              <a:lumOff val="9314"/>
              <a:alphaOff val="0"/>
            </a:schemeClr>
          </a:fillRef>
          <a:effectRef idx="0">
            <a:schemeClr val="accent4">
              <a:hueOff val="928412"/>
              <a:satOff val="-28205"/>
              <a:lumOff val="9314"/>
              <a:alphaOff val="0"/>
            </a:schemeClr>
          </a:effectRef>
          <a:fontRef idx="minor">
            <a:schemeClr val="lt1"/>
          </a:fontRef>
        </p:style>
        <p:txBody>
          <a:bodyPr lIns="220472" tIns="125984" rIns="220472" bIns="125984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100" dirty="0"/>
          </a:p>
        </p:txBody>
      </p:sp>
      <p:sp>
        <p:nvSpPr>
          <p:cNvPr id="41" name="任意多边形 40"/>
          <p:cNvSpPr/>
          <p:nvPr/>
        </p:nvSpPr>
        <p:spPr bwMode="auto">
          <a:xfrm>
            <a:off x="3425020" y="3065001"/>
            <a:ext cx="2280119" cy="2046947"/>
          </a:xfrm>
          <a:custGeom>
            <a:avLst/>
            <a:gdLst>
              <a:gd name="connsiteX0" fmla="*/ 0 w 1903809"/>
              <a:gd name="connsiteY0" fmla="*/ 0 h 1449360"/>
              <a:gd name="connsiteX1" fmla="*/ 1903809 w 1903809"/>
              <a:gd name="connsiteY1" fmla="*/ 0 h 1449360"/>
              <a:gd name="connsiteX2" fmla="*/ 1903809 w 1903809"/>
              <a:gd name="connsiteY2" fmla="*/ 1449360 h 1449360"/>
              <a:gd name="connsiteX3" fmla="*/ 0 w 1903809"/>
              <a:gd name="connsiteY3" fmla="*/ 1449360 h 1449360"/>
              <a:gd name="connsiteX4" fmla="*/ 0 w 1903809"/>
              <a:gd name="connsiteY4" fmla="*/ 0 h 144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1449360">
                <a:moveTo>
                  <a:pt x="0" y="0"/>
                </a:moveTo>
                <a:lnTo>
                  <a:pt x="1903809" y="0"/>
                </a:lnTo>
                <a:lnTo>
                  <a:pt x="1903809" y="1449360"/>
                </a:lnTo>
                <a:lnTo>
                  <a:pt x="0" y="1449360"/>
                </a:lnTo>
                <a:lnTo>
                  <a:pt x="0" y="0"/>
                </a:lnTo>
                <a:close/>
              </a:path>
            </a:pathLst>
          </a:custGeom>
          <a:solidFill>
            <a:srgbClr val="5767B4">
              <a:alpha val="29000"/>
            </a:srgbClr>
          </a:solidFill>
          <a:ln>
            <a:noFill/>
          </a:ln>
        </p:spPr>
        <p:style>
          <a:lnRef idx="2">
            <a:schemeClr val="accent4">
              <a:tint val="40000"/>
              <a:alpha val="90000"/>
              <a:hueOff val="714003"/>
              <a:satOff val="-12085"/>
              <a:lumOff val="319"/>
              <a:alphaOff val="0"/>
            </a:schemeClr>
          </a:lnRef>
          <a:fillRef idx="1">
            <a:schemeClr val="accent4">
              <a:tint val="40000"/>
              <a:alpha val="90000"/>
              <a:hueOff val="714003"/>
              <a:satOff val="-12085"/>
              <a:lumOff val="319"/>
              <a:alphaOff val="0"/>
            </a:schemeClr>
          </a:fillRef>
          <a:effectRef idx="0">
            <a:schemeClr val="accent4">
              <a:tint val="40000"/>
              <a:alpha val="90000"/>
              <a:hueOff val="714003"/>
              <a:satOff val="-12085"/>
              <a:lumOff val="319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65354" tIns="165354" rIns="220472" bIns="248031" spcCol="1270"/>
          <a:lstStyle/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 dirty="0"/>
          </a:p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 dirty="0"/>
          </a:p>
        </p:txBody>
      </p:sp>
      <p:sp>
        <p:nvSpPr>
          <p:cNvPr id="42" name="任意多边形 41"/>
          <p:cNvSpPr/>
          <p:nvPr/>
        </p:nvSpPr>
        <p:spPr bwMode="auto">
          <a:xfrm>
            <a:off x="6024355" y="1988840"/>
            <a:ext cx="2278219" cy="1076161"/>
          </a:xfrm>
          <a:custGeom>
            <a:avLst/>
            <a:gdLst>
              <a:gd name="connsiteX0" fmla="*/ 0 w 1903809"/>
              <a:gd name="connsiteY0" fmla="*/ 0 h 761523"/>
              <a:gd name="connsiteX1" fmla="*/ 1903809 w 1903809"/>
              <a:gd name="connsiteY1" fmla="*/ 0 h 761523"/>
              <a:gd name="connsiteX2" fmla="*/ 1903809 w 1903809"/>
              <a:gd name="connsiteY2" fmla="*/ 761523 h 761523"/>
              <a:gd name="connsiteX3" fmla="*/ 0 w 1903809"/>
              <a:gd name="connsiteY3" fmla="*/ 761523 h 761523"/>
              <a:gd name="connsiteX4" fmla="*/ 0 w 1903809"/>
              <a:gd name="connsiteY4" fmla="*/ 0 h 761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761523">
                <a:moveTo>
                  <a:pt x="0" y="0"/>
                </a:moveTo>
                <a:lnTo>
                  <a:pt x="1903809" y="0"/>
                </a:lnTo>
                <a:lnTo>
                  <a:pt x="1903809" y="761523"/>
                </a:lnTo>
                <a:lnTo>
                  <a:pt x="0" y="761523"/>
                </a:lnTo>
                <a:lnTo>
                  <a:pt x="0" y="0"/>
                </a:lnTo>
                <a:close/>
              </a:path>
            </a:pathLst>
          </a:custGeom>
          <a:solidFill>
            <a:srgbClr val="4BACC6"/>
          </a:solidFill>
          <a:ln>
            <a:noFill/>
          </a:ln>
        </p:spPr>
        <p:style>
          <a:lnRef idx="2">
            <a:schemeClr val="accent4">
              <a:hueOff val="1856823"/>
              <a:satOff val="-56410"/>
              <a:lumOff val="18628"/>
              <a:alphaOff val="0"/>
            </a:schemeClr>
          </a:lnRef>
          <a:fillRef idx="1">
            <a:schemeClr val="accent4">
              <a:hueOff val="1856823"/>
              <a:satOff val="-56410"/>
              <a:lumOff val="18628"/>
              <a:alphaOff val="0"/>
            </a:schemeClr>
          </a:fillRef>
          <a:effectRef idx="0">
            <a:schemeClr val="accent4">
              <a:hueOff val="1856823"/>
              <a:satOff val="-56410"/>
              <a:lumOff val="18628"/>
              <a:alphaOff val="0"/>
            </a:schemeClr>
          </a:effectRef>
          <a:fontRef idx="minor">
            <a:schemeClr val="lt1"/>
          </a:fontRef>
        </p:style>
        <p:txBody>
          <a:bodyPr lIns="220472" tIns="125984" rIns="220472" bIns="125984" spcCol="1270" anchor="ctr"/>
          <a:lstStyle/>
          <a:p>
            <a:pPr algn="ctr" defTabSz="13779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100"/>
          </a:p>
        </p:txBody>
      </p:sp>
      <p:sp>
        <p:nvSpPr>
          <p:cNvPr id="43" name="任意多边形 42"/>
          <p:cNvSpPr/>
          <p:nvPr/>
        </p:nvSpPr>
        <p:spPr bwMode="auto">
          <a:xfrm>
            <a:off x="6024355" y="3065001"/>
            <a:ext cx="2278219" cy="2046947"/>
          </a:xfrm>
          <a:custGeom>
            <a:avLst/>
            <a:gdLst>
              <a:gd name="connsiteX0" fmla="*/ 0 w 1903809"/>
              <a:gd name="connsiteY0" fmla="*/ 0 h 1449360"/>
              <a:gd name="connsiteX1" fmla="*/ 1903809 w 1903809"/>
              <a:gd name="connsiteY1" fmla="*/ 0 h 1449360"/>
              <a:gd name="connsiteX2" fmla="*/ 1903809 w 1903809"/>
              <a:gd name="connsiteY2" fmla="*/ 1449360 h 1449360"/>
              <a:gd name="connsiteX3" fmla="*/ 0 w 1903809"/>
              <a:gd name="connsiteY3" fmla="*/ 1449360 h 1449360"/>
              <a:gd name="connsiteX4" fmla="*/ 0 w 1903809"/>
              <a:gd name="connsiteY4" fmla="*/ 0 h 144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3809" h="1449360">
                <a:moveTo>
                  <a:pt x="0" y="0"/>
                </a:moveTo>
                <a:lnTo>
                  <a:pt x="1903809" y="0"/>
                </a:lnTo>
                <a:lnTo>
                  <a:pt x="1903809" y="1449360"/>
                </a:lnTo>
                <a:lnTo>
                  <a:pt x="0" y="144936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tint val="40000"/>
              <a:alpha val="90000"/>
              <a:hueOff val="1428006"/>
              <a:satOff val="-24171"/>
              <a:lumOff val="639"/>
              <a:alphaOff val="0"/>
            </a:schemeClr>
          </a:lnRef>
          <a:fillRef idx="1">
            <a:schemeClr val="accent4">
              <a:tint val="40000"/>
              <a:alpha val="90000"/>
              <a:hueOff val="1428006"/>
              <a:satOff val="-24171"/>
              <a:lumOff val="639"/>
              <a:alphaOff val="0"/>
            </a:schemeClr>
          </a:fillRef>
          <a:effectRef idx="0">
            <a:schemeClr val="accent4">
              <a:tint val="40000"/>
              <a:alpha val="90000"/>
              <a:hueOff val="1428006"/>
              <a:satOff val="-24171"/>
              <a:lumOff val="639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65354" tIns="165354" rIns="220472" bIns="248031" spcCol="1270"/>
          <a:lstStyle/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/>
          </a:p>
          <a:p>
            <a:pPr marL="285750" lvl="1" indent="-285750" defTabSz="13779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zh-CN" altLang="en-US" sz="3100"/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1159145" y="2348880"/>
            <a:ext cx="16846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BeanHandler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667241" y="2411596"/>
            <a:ext cx="24169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BeanListHandler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6414749" y="2379275"/>
            <a:ext cx="18296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ScalarHandler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矩形 70"/>
          <p:cNvSpPr>
            <a:spLocks noChangeArrowheads="1"/>
          </p:cNvSpPr>
          <p:nvPr/>
        </p:nvSpPr>
        <p:spPr bwMode="auto">
          <a:xfrm>
            <a:off x="971599" y="3212976"/>
            <a:ext cx="2016224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    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结果集中的数据封装到对应的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实例中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>
            <a:spLocks noChangeArrowheads="1"/>
          </p:cNvSpPr>
          <p:nvPr/>
        </p:nvSpPr>
        <p:spPr bwMode="auto">
          <a:xfrm>
            <a:off x="3563887" y="3212976"/>
            <a:ext cx="201622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结果集中的数据封装到对应的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JavaBean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实例中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并存放到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里。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6156175" y="3212976"/>
            <a:ext cx="201622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         </a:t>
            </a:r>
            <a:r>
              <a:rPr lang="zh-CN" altLang="zh-CN" dirty="0" smtClean="0"/>
              <a:t>将</a:t>
            </a:r>
            <a:r>
              <a:rPr lang="zh-CN" altLang="zh-CN" dirty="0"/>
              <a:t>结果集中某一条记录的其中某一列的数据存储成</a:t>
            </a:r>
            <a:r>
              <a:rPr lang="en-US" altLang="zh-CN" dirty="0"/>
              <a:t>Object</a:t>
            </a:r>
            <a:r>
              <a:rPr lang="zh-CN" altLang="zh-CN" dirty="0"/>
              <a:t>对象。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74" name="内容占位符 2"/>
          <p:cNvSpPr txBox="1">
            <a:spLocks/>
          </p:cNvSpPr>
          <p:nvPr/>
        </p:nvSpPr>
        <p:spPr bwMode="auto">
          <a:xfrm>
            <a:off x="827584" y="5373216"/>
            <a:ext cx="747499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接下来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，通过案例分别</a:t>
            </a:r>
            <a:r>
              <a:rPr lang="zh-CN" altLang="en-US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来演示这几个类的使用，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请参见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教材</a:t>
            </a:r>
            <a:r>
              <a:rPr lang="en-US" altLang="zh-CN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10.2.4</a:t>
            </a:r>
            <a:r>
              <a:rPr lang="zh-CN" altLang="en-US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小节</a:t>
            </a:r>
            <a:r>
              <a:rPr lang="zh-CN" altLang="en-US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684780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10.2.4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ResultSetHandler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438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71" grpId="0"/>
      <p:bldP spid="72" grpId="0"/>
      <p:bldP spid="73" grpId="0"/>
      <p:bldP spid="7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336704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 rot="574600">
            <a:off x="1255813" y="3308088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68116" y="3290675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44750" y="2132856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任务目标</a:t>
            </a: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331640" y="4049133"/>
            <a:ext cx="5472608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案例代码（详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见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kumimoji="0" lang="en-US" altLang="zh-CN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10-1】</a:t>
            </a:r>
            <a:r>
              <a:rPr kumimoji="0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中的实现步骤）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44750" y="3293801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465363" y="2520206"/>
            <a:ext cx="5287129" cy="11979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0" name="直接连接符 9"/>
          <p:cNvCxnSpPr/>
          <p:nvPr/>
        </p:nvCxnSpPr>
        <p:spPr>
          <a:xfrm>
            <a:off x="1402656" y="3663688"/>
            <a:ext cx="5349836" cy="11497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1" name="椭圆 10"/>
          <p:cNvSpPr/>
          <p:nvPr/>
        </p:nvSpPr>
        <p:spPr bwMode="auto">
          <a:xfrm rot="574600">
            <a:off x="1231270" y="2179482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238414" y="2170162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16337" y="2755550"/>
            <a:ext cx="3671887" cy="8894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C3p0Utils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类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DBUtilsDao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类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测试</a:t>
            </a:r>
            <a:r>
              <a:rPr lang="en-US" altLang="zh-CN" sz="1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DBUtilsDao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类的增删改查操作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16338" y="2188418"/>
            <a:ext cx="4083169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如何使用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DBUtils</a:t>
            </a:r>
            <a:r>
              <a:rPr lang="zh-CN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工具对数据库进行增删改查的基本操作</a:t>
            </a:r>
            <a:r>
              <a:rPr lang="zh-CN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zh-CN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684780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10-1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使用</a:t>
            </a:r>
            <a:r>
              <a:rPr lang="en-US" altLang="zh-CN" sz="28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DBUtils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实现增删改查</a:t>
            </a:r>
          </a:p>
        </p:txBody>
      </p:sp>
    </p:spTree>
    <p:extLst>
      <p:ext uri="{BB962C8B-B14F-4D97-AF65-F5344CB8AC3E}">
        <p14:creationId xmlns:p14="http://schemas.microsoft.com/office/powerpoint/2010/main" val="24020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11" grpId="0" animBg="1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1"/>
          <p:cNvSpPr>
            <a:spLocks noChangeArrowheads="1"/>
          </p:cNvSpPr>
          <p:nvPr/>
        </p:nvSpPr>
        <p:spPr bwMode="auto">
          <a:xfrm>
            <a:off x="2555776" y="1052736"/>
            <a:ext cx="5544616" cy="5040560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6B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38438" y="1268760"/>
            <a:ext cx="514593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zh-CN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主要讲解了数据库连接池和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DBUtils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工具的使用，首先讲解了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什么是数据库连接池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，并介绍了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两种常用的数据源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DBCP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数据源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C3P0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数据源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。然后讲解了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DBUtils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工具中</a:t>
            </a:r>
            <a:r>
              <a:rPr lang="en-US" altLang="zh-CN" dirty="0" err="1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QueryRunner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ResultSetHandler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接口及其实现类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的常见操作。最后通过一个具体的任务，详细讲解了如何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 err="1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DBUtils</a:t>
            </a:r>
            <a:r>
              <a:rPr lang="zh-CN" altLang="zh-CN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实现对数据的增删改查等基本</a:t>
            </a:r>
            <a:r>
              <a:rPr lang="zh-CN" altLang="zh-CN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</a:t>
            </a:r>
            <a:r>
              <a:rPr lang="zh-CN" altLang="zh-CN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本章的学习，读者应该熟悉如何通过数据源获取数据库连接的方法，并需要重点掌握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QueryRunner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类和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ResultSetHandler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接口的实现类的使用</a:t>
            </a:r>
            <a:r>
              <a:rPr lang="zh-CN" altLang="zh-CN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847805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15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14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请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思考数据库连接池的工作机制是什么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简述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DataSource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getConnection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方法的区别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1" indent="-571500" eaLnBrk="1" hangingPunct="1">
              <a:lnSpc>
                <a:spcPct val="150000"/>
              </a:lnSpc>
              <a:buNone/>
              <a:defRPr/>
            </a:pPr>
            <a:r>
              <a:rPr lang="zh-CN" altLang="en-US" sz="2400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宋体" charset="-122"/>
              </a:rPr>
              <a:t>✎ </a:t>
            </a:r>
            <a:r>
              <a:rPr lang="zh-CN" altLang="en-US" sz="2400" b="1" dirty="0" smtClean="0">
                <a:solidFill>
                  <a:srgbClr val="006BA9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预习作业</a:t>
            </a:r>
            <a:endParaRPr lang="en-US" altLang="zh-CN" sz="2400" b="1" dirty="0" smtClean="0">
              <a:solidFill>
                <a:srgbClr val="006BA9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什么是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JSP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开发模型？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设计模型</a:t>
            </a:r>
            <a:r>
              <a:rPr lang="zh-CN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的原理。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marL="457200" lvl="1" indent="0">
              <a:lnSpc>
                <a:spcPct val="150000"/>
              </a:lnSpc>
              <a:buFontTx/>
              <a:buNone/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28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4376569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2EA1B9C6-CD07-4538-8803-E07C73F2F3F0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10章 数据库连接池和DBUtils工具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384ba87d22d51129179bd315f7e821852a7e99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10章 数据库连接池和DBUtils工具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数据库连接池和DBUtils工具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什么是数据库连接池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DataSource接口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DBCP数据源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DBCP数据源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DBCP数据源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C3P0数据源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C3P0数据源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DBUtils工具介绍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QueryRunner类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ResultSetHandler接口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ResultSetHandler实现类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10-1】使用DBUtils实现增删改查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5380</TotalTime>
  <Words>2212</Words>
  <Application>Microsoft Office PowerPoint</Application>
  <PresentationFormat>全屏显示(4:3)</PresentationFormat>
  <Paragraphs>183</Paragraphs>
  <Slides>22</Slides>
  <Notes>22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Office 主题​​</vt:lpstr>
      <vt:lpstr>Visio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数据库连接池和DBUtils工具</dc:title>
  <dc:creator>admin</dc:creator>
  <cp:lastModifiedBy>石荣新</cp:lastModifiedBy>
  <cp:revision>331</cp:revision>
  <dcterms:created xsi:type="dcterms:W3CDTF">2015-06-29T07:19:00Z</dcterms:created>
  <dcterms:modified xsi:type="dcterms:W3CDTF">2018-01-09T09:38:47Z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
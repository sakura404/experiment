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ppt/notesSlides/notesSlide27.xml" ContentType="application/vnd.openxmlformats-officedocument.presentationml.notesSlide+xml"/>
  <Override PartName="/ppt/tags/tag29.xml" ContentType="application/vnd.openxmlformats-officedocument.presentationml.tags+xml"/>
  <Override PartName="/ppt/notesSlides/notesSlide28.xml" ContentType="application/vnd.openxmlformats-officedocument.presentationml.notesSlide+xml"/>
  <Override PartName="/ppt/tags/tag30.xml" ContentType="application/vnd.openxmlformats-officedocument.presentationml.tags+xml"/>
  <Override PartName="/ppt/notesSlides/notesSlide29.xml" ContentType="application/vnd.openxmlformats-officedocument.presentationml.notesSlide+xml"/>
  <Override PartName="/ppt/tags/tag31.xml" ContentType="application/vnd.openxmlformats-officedocument.presentationml.tags+xml"/>
  <Override PartName="/ppt/notesSlides/notesSlide30.xml" ContentType="application/vnd.openxmlformats-officedocument.presentationml.notesSlide+xml"/>
  <Override PartName="/ppt/tags/tag32.xml" ContentType="application/vnd.openxmlformats-officedocument.presentationml.tags+xml"/>
  <Override PartName="/ppt/notesSlides/notesSlide31.xml" ContentType="application/vnd.openxmlformats-officedocument.presentationml.notesSlide+xml"/>
  <Override PartName="/ppt/tags/tag33.xml" ContentType="application/vnd.openxmlformats-officedocument.presentationml.tags+xml"/>
  <Override PartName="/ppt/notesSlides/notesSlide32.xml" ContentType="application/vnd.openxmlformats-officedocument.presentationml.notesSlide+xml"/>
  <Override PartName="/ppt/tags/tag34.xml" ContentType="application/vnd.openxmlformats-officedocument.presentationml.tags+xml"/>
  <Override PartName="/ppt/notesSlides/notesSlide33.xml" ContentType="application/vnd.openxmlformats-officedocument.presentationml.notesSlide+xml"/>
  <Override PartName="/ppt/tags/tag35.xml" ContentType="application/vnd.openxmlformats-officedocument.presentationml.tags+xml"/>
  <Override PartName="/ppt/notesSlides/notesSlide34.xml" ContentType="application/vnd.openxmlformats-officedocument.presentationml.notesSlide+xml"/>
  <Override PartName="/ppt/tags/tag36.xml" ContentType="application/vnd.openxmlformats-officedocument.presentationml.tags+xml"/>
  <Override PartName="/ppt/notesSlides/notesSlide35.xml" ContentType="application/vnd.openxmlformats-officedocument.presentationml.notesSlide+xml"/>
  <Override PartName="/ppt/tags/tag37.xml" ContentType="application/vnd.openxmlformats-officedocument.presentationml.tags+xml"/>
  <Override PartName="/ppt/notesSlides/notesSlide36.xml" ContentType="application/vnd.openxmlformats-officedocument.presentationml.notesSlide+xml"/>
  <Override PartName="/ppt/tags/tag38.xml" ContentType="application/vnd.openxmlformats-officedocument.presentationml.tags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9"/>
  </p:notesMasterIdLst>
  <p:sldIdLst>
    <p:sldId id="365" r:id="rId2"/>
    <p:sldId id="274" r:id="rId3"/>
    <p:sldId id="275" r:id="rId4"/>
    <p:sldId id="273" r:id="rId5"/>
    <p:sldId id="279" r:id="rId6"/>
    <p:sldId id="336" r:id="rId7"/>
    <p:sldId id="339" r:id="rId8"/>
    <p:sldId id="340" r:id="rId9"/>
    <p:sldId id="337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52" r:id="rId22"/>
    <p:sldId id="353" r:id="rId23"/>
    <p:sldId id="354" r:id="rId24"/>
    <p:sldId id="355" r:id="rId25"/>
    <p:sldId id="356" r:id="rId26"/>
    <p:sldId id="338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308" r:id="rId36"/>
    <p:sldId id="309" r:id="rId37"/>
    <p:sldId id="366" r:id="rId38"/>
  </p:sldIdLst>
  <p:sldSz cx="9144000" cy="6858000" type="screen4x3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06BA9"/>
    <a:srgbClr val="4F81BD"/>
    <a:srgbClr val="5185BD"/>
    <a:srgbClr val="5767B4"/>
    <a:srgbClr val="685DAB"/>
    <a:srgbClr val="8064A2"/>
    <a:srgbClr val="E9EDF4"/>
    <a:srgbClr val="4BACC6"/>
    <a:srgbClr val="006B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259762883621849"/>
          <c:y val="6.8138576695007141E-2"/>
          <c:w val="0.61861102362204723"/>
          <c:h val="0.7659264155486856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</c:dPt>
          <c:dPt>
            <c:idx val="1"/>
            <c:bubble3D val="0"/>
            <c:spPr>
              <a:solidFill>
                <a:srgbClr val="0070C0"/>
              </a:solidFill>
            </c:spPr>
          </c:dPt>
          <c:dPt>
            <c:idx val="2"/>
            <c:bubble3D val="0"/>
          </c:dPt>
          <c:cat>
            <c:strRef>
              <c:f>Sheet1!$A$2:$A$4</c:f>
              <c:strCache>
                <c:ptCount val="3"/>
                <c:pt idx="0">
                  <c:v>掌握知识</c:v>
                </c:pt>
                <c:pt idx="1">
                  <c:v>理解知识</c:v>
                </c:pt>
                <c:pt idx="2">
                  <c:v>了解知识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3.3333333330000001</c:v>
                </c:pt>
                <c:pt idx="1">
                  <c:v>3.3333333330000001</c:v>
                </c:pt>
                <c:pt idx="2">
                  <c:v>3.3333333330000001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E3A0C-2756-49CA-AE13-410589007B77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84784-494E-439C-883F-119A301A59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194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163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81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416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783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430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964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122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406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073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97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2745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146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724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7606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04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8498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369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8618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8504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5354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664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5351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3683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3524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0970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3739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5423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466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4946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4622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4933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4586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0643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2510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2447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5429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fld id="{A3DF5170-8A0D-43AE-A108-EB1D46CE06DD}" type="slidenum">
              <a:rPr lang="zh-CN" altLang="en-US"/>
              <a:pPr eaLnBrk="1" hangingPunct="1">
                <a:buFontTx/>
                <a:buNone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676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" y="-1"/>
            <a:ext cx="9140780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52281"/>
            <a:ext cx="7772400" cy="2157681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0621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396098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3744084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9108652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5174183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7101069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" y="0"/>
            <a:ext cx="9146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1833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0103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7768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jp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73486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3" r:id="rId29"/>
    <p:sldLayoutId id="2147483684" r:id="rId30"/>
    <p:sldLayoutId id="2147483685" r:id="rId31"/>
    <p:sldLayoutId id="2147483686" r:id="rId32"/>
    <p:sldLayoutId id="2147483687" r:id="rId33"/>
    <p:sldLayoutId id="2147483688" r:id="rId34"/>
    <p:sldLayoutId id="2147483689" r:id="rId35"/>
    <p:sldLayoutId id="2147483690" r:id="rId36"/>
    <p:sldLayoutId id="2147483691" r:id="rId37"/>
    <p:sldLayoutId id="2147483692" r:id="rId38"/>
    <p:sldLayoutId id="2147483693" r:id="rId39"/>
    <p:sldLayoutId id="2147483694" r:id="rId40"/>
    <p:sldLayoutId id="2147483695" r:id="rId41"/>
    <p:sldLayoutId id="2147483696" r:id="rId42"/>
    <p:sldLayoutId id="2147483652" r:id="rId43"/>
    <p:sldLayoutId id="2147483651" r:id="rId4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20.xml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0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33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35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36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37.xml"/><Relationship Id="rId1" Type="http://schemas.openxmlformats.org/officeDocument/2006/relationships/tags" Target="../tags/tag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38.xml"/><Relationship Id="rId1" Type="http://schemas.openxmlformats.org/officeDocument/2006/relationships/tags" Target="../tags/tag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39.xml"/><Relationship Id="rId1" Type="http://schemas.openxmlformats.org/officeDocument/2006/relationships/tags" Target="../tags/tag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3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41.xml"/><Relationship Id="rId1" Type="http://schemas.openxmlformats.org/officeDocument/2006/relationships/tags" Target="../tags/tag36.xml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42.xml"/><Relationship Id="rId1" Type="http://schemas.openxmlformats.org/officeDocument/2006/relationships/tags" Target="../tags/tag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39552" y="1352281"/>
            <a:ext cx="8136904" cy="2157681"/>
          </a:xfrm>
        </p:spPr>
        <p:txBody>
          <a:bodyPr/>
          <a:lstStyle/>
          <a:p>
            <a:r>
              <a:rPr lang="en-US" altLang="zh-CN" b="1" dirty="0" smtClean="0"/>
              <a:t>Java Web</a:t>
            </a:r>
            <a:r>
              <a:rPr lang="zh-CN" altLang="en-US" b="1" smtClean="0"/>
              <a:t>程序设计任务教程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861470"/>
            <a:ext cx="6858000" cy="1655762"/>
          </a:xfrm>
        </p:spPr>
        <p:txBody>
          <a:bodyPr>
            <a:normAutofit/>
          </a:bodyPr>
          <a:lstStyle/>
          <a:p>
            <a:r>
              <a:rPr lang="zh-CN" altLang="en-US" sz="3200" b="1" dirty="0" smtClean="0"/>
              <a:t>第</a:t>
            </a:r>
            <a:r>
              <a:rPr lang="en-US" altLang="zh-CN" sz="3200" b="1" dirty="0" smtClean="0"/>
              <a:t>7</a:t>
            </a:r>
            <a:r>
              <a:rPr lang="zh-CN" altLang="en-US" sz="3200" b="1" dirty="0" smtClean="0"/>
              <a:t>章 </a:t>
            </a:r>
            <a:r>
              <a:rPr lang="en-US" altLang="zh-CN" sz="3200" b="1" dirty="0" smtClean="0"/>
              <a:t>EL</a:t>
            </a:r>
            <a:r>
              <a:rPr lang="zh-CN" altLang="en-US" sz="3200" b="1" dirty="0" smtClean="0"/>
              <a:t>表达式和</a:t>
            </a:r>
            <a:r>
              <a:rPr lang="en-US" altLang="zh-CN" sz="3200" b="1" dirty="0" smtClean="0"/>
              <a:t>JSTL</a:t>
            </a:r>
            <a:endParaRPr lang="zh-CN" altLang="en-US" sz="3200" b="1" dirty="0"/>
          </a:p>
        </p:txBody>
      </p:sp>
      <p:sp>
        <p:nvSpPr>
          <p:cNvPr id="4" name="TextBox 13"/>
          <p:cNvSpPr>
            <a:spLocks noChangeArrowheads="1"/>
          </p:cNvSpPr>
          <p:nvPr/>
        </p:nvSpPr>
        <p:spPr bwMode="auto">
          <a:xfrm>
            <a:off x="5718870" y="5517232"/>
            <a:ext cx="3461642" cy="874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dirty="0" err="1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BeanUtils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工具的使用</a:t>
            </a:r>
            <a:endParaRPr lang="en-US" altLang="zh-CN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JSTL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标签的使用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52725" y="5538788"/>
            <a:ext cx="4572000" cy="9239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访问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JavaBean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的属性  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EL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表达式的定义和使用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301208"/>
            <a:ext cx="947906" cy="119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5249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请简述</a:t>
            </a:r>
            <a:r>
              <a:rPr lang="en-US" altLang="zh-CN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的运行原理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请简述</a:t>
            </a:r>
            <a:r>
              <a:rPr lang="en-US" altLang="zh-CN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en-US" altLang="zh-CN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个隐式对象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作业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点评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181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JavaBean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的概念和作用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表达式和</a:t>
            </a:r>
            <a:r>
              <a:rPr lang="en-US" altLang="zh-CN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JSTL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的概念和作用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endParaRPr lang="en-US" altLang="zh-CN" sz="2400" dirty="0"/>
          </a:p>
        </p:txBody>
      </p:sp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预习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检查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35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 flipH="1" flipV="1">
            <a:off x="322863" y="1807655"/>
            <a:ext cx="2880985" cy="1526755"/>
            <a:chOff x="5109144" y="4225925"/>
            <a:chExt cx="3562869" cy="1619432"/>
          </a:xfrm>
        </p:grpSpPr>
        <p:grpSp>
          <p:nvGrpSpPr>
            <p:cNvPr id="3" name="组合 38"/>
            <p:cNvGrpSpPr>
              <a:grpSpLocks/>
            </p:cNvGrpSpPr>
            <p:nvPr/>
          </p:nvGrpSpPr>
          <p:grpSpPr bwMode="auto">
            <a:xfrm rot="10800000">
              <a:off x="5687902" y="4225925"/>
              <a:ext cx="2669052" cy="686411"/>
              <a:chOff x="934464" y="2318309"/>
              <a:chExt cx="2669329" cy="686148"/>
            </a:xfrm>
          </p:grpSpPr>
          <p:cxnSp>
            <p:nvCxnSpPr>
              <p:cNvPr id="8" name="直接连接符 39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934464" y="2318309"/>
                <a:ext cx="298001" cy="686148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" name="直接连接符 40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1222939" y="3004457"/>
                <a:ext cx="2380854" cy="0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4" name="组合 41"/>
            <p:cNvGrpSpPr>
              <a:grpSpLocks/>
            </p:cNvGrpSpPr>
            <p:nvPr/>
          </p:nvGrpSpPr>
          <p:grpSpPr bwMode="auto">
            <a:xfrm flipH="1">
              <a:off x="8082606" y="4880949"/>
              <a:ext cx="589407" cy="553991"/>
              <a:chOff x="1256847" y="3607535"/>
              <a:chExt cx="591076" cy="553298"/>
            </a:xfrm>
          </p:grpSpPr>
          <p:sp>
            <p:nvSpPr>
              <p:cNvPr id="6" name="椭圆 5"/>
              <p:cNvSpPr/>
              <p:nvPr/>
            </p:nvSpPr>
            <p:spPr bwMode="auto">
              <a:xfrm>
                <a:off x="1256847" y="3647898"/>
                <a:ext cx="591076" cy="474256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 rot="10800000">
                <a:off x="1327723" y="3607535"/>
                <a:ext cx="334694" cy="553298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矩形 51"/>
            <p:cNvSpPr>
              <a:spLocks noChangeArrowheads="1"/>
            </p:cNvSpPr>
            <p:nvPr/>
          </p:nvSpPr>
          <p:spPr bwMode="auto">
            <a:xfrm rot="10800000">
              <a:off x="5109144" y="4278352"/>
              <a:ext cx="2762196" cy="15670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457200" indent="-457200" eaLnBrk="1" hangingPunct="1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宋体" pitchFamily="2" charset="-122"/>
                </a:rPr>
                <a:t>什么是</a:t>
              </a:r>
              <a:r>
                <a:rPr lang="en-US" altLang="zh-CN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宋体" pitchFamily="2" charset="-122"/>
                </a:rPr>
                <a:t>JavaBean</a:t>
              </a:r>
              <a:r>
                <a:rPr lang="zh-CN" altLang="en-US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宋体" pitchFamily="2" charset="-122"/>
                </a:rPr>
                <a:t>、</a:t>
              </a:r>
              <a:endParaRPr lang="en-US" altLang="zh-CN" b="1" dirty="0" smtClean="0">
                <a:solidFill>
                  <a:srgbClr val="006BA9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宋体" pitchFamily="2" charset="-122"/>
              </a:endParaRPr>
            </a:p>
            <a:p>
              <a:pPr marL="457200" indent="-457200" eaLnBrk="1" hangingPunct="1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宋体" pitchFamily="2" charset="-122"/>
                </a:rPr>
                <a:t>什么是</a:t>
              </a:r>
              <a:r>
                <a:rPr lang="en-US" altLang="zh-CN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宋体" pitchFamily="2" charset="-122"/>
                </a:rPr>
                <a:t>EL</a:t>
              </a:r>
              <a:r>
                <a:rPr lang="zh-CN" altLang="en-US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宋体" pitchFamily="2" charset="-122"/>
                </a:rPr>
                <a:t>表达式</a:t>
              </a:r>
              <a:endParaRPr lang="en-US" altLang="zh-CN" b="1" dirty="0" smtClean="0">
                <a:solidFill>
                  <a:srgbClr val="006BA9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宋体" pitchFamily="2" charset="-122"/>
              </a:endParaRPr>
            </a:p>
            <a:p>
              <a:pPr marL="457200" indent="-457200" eaLnBrk="1" hangingPunct="1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宋体" pitchFamily="2" charset="-122"/>
                </a:rPr>
                <a:t>和</a:t>
              </a:r>
              <a:r>
                <a:rPr lang="en-US" altLang="zh-CN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宋体" pitchFamily="2" charset="-122"/>
                </a:rPr>
                <a:t>JSTL</a:t>
              </a:r>
              <a:r>
                <a:rPr lang="zh-CN" altLang="en-US" b="1" dirty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宋体" pitchFamily="2" charset="-122"/>
                </a:rPr>
                <a:t>标签库</a:t>
              </a:r>
              <a:endParaRPr lang="en-US" altLang="zh-CN" b="1" dirty="0">
                <a:solidFill>
                  <a:srgbClr val="006BA9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宋体" pitchFamily="2" charset="-122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570070" y="1316729"/>
            <a:ext cx="5245036" cy="4035361"/>
            <a:chOff x="1398367" y="1722062"/>
            <a:chExt cx="5245036" cy="4035172"/>
          </a:xfrm>
        </p:grpSpPr>
        <p:graphicFrame>
          <p:nvGraphicFramePr>
            <p:cNvPr id="36" name="图表 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2434982"/>
                </p:ext>
              </p:extLst>
            </p:nvPr>
          </p:nvGraphicFramePr>
          <p:xfrm>
            <a:off x="1398367" y="1722062"/>
            <a:ext cx="5245036" cy="403517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2" name="TextBox 11"/>
            <p:cNvSpPr txBox="1"/>
            <p:nvPr/>
          </p:nvSpPr>
          <p:spPr bwMode="auto">
            <a:xfrm rot="3586674">
              <a:off x="4661170" y="3033606"/>
              <a:ext cx="1042938" cy="3698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  <a:endParaRPr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Box 12"/>
            <p:cNvSpPr txBox="1"/>
            <p:nvPr/>
          </p:nvSpPr>
          <p:spPr bwMode="auto">
            <a:xfrm rot="6997465" flipV="1">
              <a:off x="2748528" y="2675271"/>
              <a:ext cx="1041351" cy="3698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  <a:endParaRPr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Box 13"/>
            <p:cNvSpPr txBox="1"/>
            <p:nvPr/>
          </p:nvSpPr>
          <p:spPr bwMode="auto">
            <a:xfrm rot="10800000" flipH="1" flipV="1">
              <a:off x="3790945" y="4474016"/>
              <a:ext cx="1041400" cy="3682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熟悉</a:t>
              </a:r>
            </a:p>
          </p:txBody>
        </p:sp>
      </p:grpSp>
      <p:grpSp>
        <p:nvGrpSpPr>
          <p:cNvPr id="15" name="组合 2"/>
          <p:cNvGrpSpPr>
            <a:grpSpLocks/>
          </p:cNvGrpSpPr>
          <p:nvPr/>
        </p:nvGrpSpPr>
        <p:grpSpPr bwMode="auto">
          <a:xfrm>
            <a:off x="3692525" y="2547010"/>
            <a:ext cx="1203325" cy="1201737"/>
            <a:chOff x="3692088" y="2878838"/>
            <a:chExt cx="1203191" cy="1201737"/>
          </a:xfrm>
        </p:grpSpPr>
        <p:sp>
          <p:nvSpPr>
            <p:cNvPr id="16" name="弧形 15"/>
            <p:cNvSpPr/>
            <p:nvPr/>
          </p:nvSpPr>
          <p:spPr bwMode="auto">
            <a:xfrm rot="5400000">
              <a:off x="3692815" y="2878111"/>
              <a:ext cx="1201737" cy="1203191"/>
            </a:xfrm>
            <a:prstGeom prst="arc">
              <a:avLst>
                <a:gd name="adj1" fmla="val 5382197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" name="弧形 16"/>
            <p:cNvSpPr/>
            <p:nvPr/>
          </p:nvSpPr>
          <p:spPr bwMode="auto">
            <a:xfrm>
              <a:off x="3795265" y="2996313"/>
              <a:ext cx="990490" cy="992187"/>
            </a:xfrm>
            <a:prstGeom prst="arc">
              <a:avLst>
                <a:gd name="adj1" fmla="val 10763236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" name="弧形 17"/>
            <p:cNvSpPr/>
            <p:nvPr/>
          </p:nvSpPr>
          <p:spPr bwMode="auto">
            <a:xfrm rot="16200000">
              <a:off x="3891251" y="3136849"/>
              <a:ext cx="822325" cy="753978"/>
            </a:xfrm>
            <a:prstGeom prst="arc">
              <a:avLst>
                <a:gd name="adj1" fmla="val 16251812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4604959" y="4682049"/>
            <a:ext cx="3406310" cy="1123215"/>
            <a:chOff x="4241870" y="5106723"/>
            <a:chExt cx="2242586" cy="942278"/>
          </a:xfrm>
        </p:grpSpPr>
        <p:grpSp>
          <p:nvGrpSpPr>
            <p:cNvPr id="20" name="组合 38"/>
            <p:cNvGrpSpPr>
              <a:grpSpLocks/>
            </p:cNvGrpSpPr>
            <p:nvPr/>
          </p:nvGrpSpPr>
          <p:grpSpPr bwMode="auto">
            <a:xfrm rot="5400000" flipV="1">
              <a:off x="4838005" y="4510588"/>
              <a:ext cx="942278" cy="2134547"/>
              <a:chOff x="6453786" y="4116787"/>
              <a:chExt cx="1337402" cy="977733"/>
            </a:xfrm>
          </p:grpSpPr>
          <p:grpSp>
            <p:nvGrpSpPr>
              <p:cNvPr id="22" name="组合 38"/>
              <p:cNvGrpSpPr>
                <a:grpSpLocks/>
              </p:cNvGrpSpPr>
              <p:nvPr/>
            </p:nvGrpSpPr>
            <p:grpSpPr bwMode="auto">
              <a:xfrm rot="10800000">
                <a:off x="6453786" y="4116787"/>
                <a:ext cx="1070796" cy="815236"/>
                <a:chOff x="1766924" y="2298618"/>
                <a:chExt cx="1070903" cy="814920"/>
              </a:xfrm>
            </p:grpSpPr>
            <p:cxnSp>
              <p:nvCxnSpPr>
                <p:cNvPr id="26" name="直接连接符 39"/>
                <p:cNvCxnSpPr>
                  <a:cxnSpLocks noChangeShapeType="1"/>
                </p:cNvCxnSpPr>
                <p:nvPr/>
              </p:nvCxnSpPr>
              <p:spPr bwMode="auto">
                <a:xfrm rot="16200000" flipH="1" flipV="1">
                  <a:off x="1425516" y="2646176"/>
                  <a:ext cx="695116" cy="0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7" name="直接连接符 40"/>
                <p:cNvCxnSpPr>
                  <a:cxnSpLocks noChangeShapeType="1"/>
                </p:cNvCxnSpPr>
                <p:nvPr/>
              </p:nvCxnSpPr>
              <p:spPr bwMode="auto">
                <a:xfrm rot="16200000" flipH="1">
                  <a:off x="2244643" y="2520354"/>
                  <a:ext cx="115465" cy="1070903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 type="oval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23" name="组合 41"/>
              <p:cNvGrpSpPr>
                <a:grpSpLocks/>
              </p:cNvGrpSpPr>
              <p:nvPr/>
            </p:nvGrpSpPr>
            <p:grpSpPr bwMode="auto">
              <a:xfrm flipH="1">
                <a:off x="7169302" y="4932019"/>
                <a:ext cx="621886" cy="162501"/>
                <a:chOff x="2140164" y="3658531"/>
                <a:chExt cx="623648" cy="162297"/>
              </a:xfrm>
            </p:grpSpPr>
            <p:sp>
              <p:nvSpPr>
                <p:cNvPr id="24" name="椭圆 23"/>
                <p:cNvSpPr/>
                <p:nvPr/>
              </p:nvSpPr>
              <p:spPr bwMode="auto">
                <a:xfrm rot="5400000">
                  <a:off x="2374843" y="3423852"/>
                  <a:ext cx="151397" cy="620755"/>
                </a:xfrm>
                <a:prstGeom prst="ellipse">
                  <a:avLst/>
                </a:prstGeom>
                <a:solidFill>
                  <a:srgbClr val="006BA9"/>
                </a:solidFill>
                <a:ln w="28575" cap="flat" cmpd="sng" algn="ctr">
                  <a:solidFill>
                    <a:srgbClr val="006BA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25400" dist="12700" dir="2700000" algn="tl" rotWithShape="0">
                    <a:prstClr val="black">
                      <a:alpha val="40000"/>
                    </a:prstClr>
                  </a:outerShdw>
                </a:effectLst>
                <a:extLst/>
              </p:spPr>
              <p:txBody>
                <a:bodyPr/>
                <a:lstStyle/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 rot="5400000">
                  <a:off x="2381465" y="3438481"/>
                  <a:ext cx="141050" cy="623644"/>
                </a:xfrm>
                <a:prstGeom prst="rect">
                  <a:avLst/>
                </a:prstGeom>
                <a:noFill/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800" b="1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1" name="矩形 4"/>
            <p:cNvSpPr>
              <a:spLocks noChangeArrowheads="1"/>
            </p:cNvSpPr>
            <p:nvPr/>
          </p:nvSpPr>
          <p:spPr bwMode="auto">
            <a:xfrm>
              <a:off x="4504615" y="5240836"/>
              <a:ext cx="1979841" cy="464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en-US" altLang="zh-CN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宋体" charset="-122"/>
                </a:rPr>
                <a:t>EL</a:t>
              </a:r>
              <a:r>
                <a:rPr lang="zh-CN" altLang="en-US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宋体" charset="-122"/>
                </a:rPr>
                <a:t>中的常见隐式对象</a:t>
              </a:r>
              <a:endParaRPr lang="en-US" altLang="zh-CN" b="1" dirty="0">
                <a:solidFill>
                  <a:srgbClr val="006BA9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宋体" charset="-122"/>
              </a:endParaRPr>
            </a:p>
          </p:txBody>
        </p:sp>
      </p:grpSp>
      <p:grpSp>
        <p:nvGrpSpPr>
          <p:cNvPr id="28" name="组合 6"/>
          <p:cNvGrpSpPr>
            <a:grpSpLocks/>
          </p:cNvGrpSpPr>
          <p:nvPr/>
        </p:nvGrpSpPr>
        <p:grpSpPr bwMode="auto">
          <a:xfrm>
            <a:off x="5895978" y="1556793"/>
            <a:ext cx="3510829" cy="1537534"/>
            <a:chOff x="5947984" y="1195931"/>
            <a:chExt cx="3513993" cy="1537581"/>
          </a:xfrm>
        </p:grpSpPr>
        <p:sp>
          <p:nvSpPr>
            <p:cNvPr id="29" name="矩形 5"/>
            <p:cNvSpPr>
              <a:spLocks noChangeArrowheads="1"/>
            </p:cNvSpPr>
            <p:nvPr/>
          </p:nvSpPr>
          <p:spPr bwMode="auto">
            <a:xfrm flipH="1">
              <a:off x="6136345" y="1195931"/>
              <a:ext cx="3325632" cy="1477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微软雅黑" pitchFamily="34" charset="-122"/>
                </a:rPr>
                <a:t>如何使用</a:t>
              </a:r>
              <a:r>
                <a:rPr lang="en-US" altLang="zh-CN" b="1" dirty="0" err="1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微软雅黑" pitchFamily="34" charset="-122"/>
                </a:rPr>
                <a:t>BeanUtils</a:t>
              </a:r>
              <a:endParaRPr lang="en-US" altLang="zh-CN" b="1" dirty="0" smtClean="0">
                <a:solidFill>
                  <a:srgbClr val="006BA9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微软雅黑" pitchFamily="34" charset="-122"/>
              </a:endParaRPr>
            </a:p>
            <a:p>
              <a:pPr marL="457200" indent="-457200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微软雅黑" pitchFamily="34" charset="-122"/>
                </a:rPr>
                <a:t>工具和</a:t>
              </a:r>
              <a:r>
                <a:rPr lang="en-US" altLang="zh-CN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微软雅黑" pitchFamily="34" charset="-122"/>
                </a:rPr>
                <a:t>JSTL</a:t>
              </a:r>
              <a:r>
                <a:rPr lang="zh-CN" altLang="en-US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微软雅黑" pitchFamily="34" charset="-122"/>
                </a:rPr>
                <a:t>中常见</a:t>
              </a:r>
              <a:endParaRPr lang="en-US" altLang="zh-CN" b="1" dirty="0" smtClean="0">
                <a:solidFill>
                  <a:srgbClr val="006BA9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微软雅黑" pitchFamily="34" charset="-122"/>
              </a:endParaRPr>
            </a:p>
            <a:p>
              <a:pPr marL="457200" indent="-457200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微软雅黑" pitchFamily="34" charset="-122"/>
                </a:rPr>
                <a:t>的</a:t>
              </a:r>
              <a:r>
                <a:rPr lang="en-US" altLang="zh-CN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微软雅黑" pitchFamily="34" charset="-122"/>
                </a:rPr>
                <a:t>Core</a:t>
              </a:r>
              <a:r>
                <a:rPr lang="zh-CN" altLang="en-US" b="1" dirty="0" smtClean="0">
                  <a:solidFill>
                    <a:srgbClr val="006BA9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  <a:sym typeface="微软雅黑" pitchFamily="34" charset="-122"/>
                </a:rPr>
                <a:t>标签库</a:t>
              </a:r>
              <a:endParaRPr lang="zh-CN" altLang="en-US" b="1" dirty="0">
                <a:solidFill>
                  <a:srgbClr val="006BA9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微软雅黑" pitchFamily="34" charset="-122"/>
              </a:endParaRPr>
            </a:p>
          </p:txBody>
        </p:sp>
        <p:grpSp>
          <p:nvGrpSpPr>
            <p:cNvPr id="30" name="组合 16"/>
            <p:cNvGrpSpPr>
              <a:grpSpLocks/>
            </p:cNvGrpSpPr>
            <p:nvPr/>
          </p:nvGrpSpPr>
          <p:grpSpPr bwMode="auto">
            <a:xfrm flipH="1">
              <a:off x="5947984" y="2286831"/>
              <a:ext cx="2585191" cy="446681"/>
              <a:chOff x="1455470" y="2862509"/>
              <a:chExt cx="2703185" cy="446892"/>
            </a:xfrm>
          </p:grpSpPr>
          <p:cxnSp>
            <p:nvCxnSpPr>
              <p:cNvPr id="34" name="直接连接符 7"/>
              <p:cNvCxnSpPr>
                <a:cxnSpLocks noChangeShapeType="1"/>
              </p:cNvCxnSpPr>
              <p:nvPr/>
            </p:nvCxnSpPr>
            <p:spPr bwMode="auto">
              <a:xfrm>
                <a:off x="1455470" y="2862509"/>
                <a:ext cx="255076" cy="446892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直接连接符 10"/>
              <p:cNvCxnSpPr>
                <a:cxnSpLocks noChangeShapeType="1"/>
              </p:cNvCxnSpPr>
              <p:nvPr/>
            </p:nvCxnSpPr>
            <p:spPr bwMode="auto">
              <a:xfrm>
                <a:off x="1714278" y="3309401"/>
                <a:ext cx="2444377" cy="0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1" name="组合 15"/>
            <p:cNvGrpSpPr>
              <a:grpSpLocks/>
            </p:cNvGrpSpPr>
            <p:nvPr/>
          </p:nvGrpSpPr>
          <p:grpSpPr bwMode="auto">
            <a:xfrm flipH="1">
              <a:off x="8313653" y="1827379"/>
              <a:ext cx="489391" cy="520715"/>
              <a:chOff x="1857876" y="4069722"/>
              <a:chExt cx="511727" cy="520961"/>
            </a:xfrm>
          </p:grpSpPr>
          <p:sp>
            <p:nvSpPr>
              <p:cNvPr id="32" name="椭圆 31"/>
              <p:cNvSpPr/>
              <p:nvPr/>
            </p:nvSpPr>
            <p:spPr bwMode="auto">
              <a:xfrm>
                <a:off x="1857876" y="4085605"/>
                <a:ext cx="511727" cy="473312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965869" y="4069722"/>
                <a:ext cx="335613" cy="520961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7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学习目标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632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对角圆角矩形 10"/>
          <p:cNvSpPr/>
          <p:nvPr/>
        </p:nvSpPr>
        <p:spPr>
          <a:xfrm>
            <a:off x="827584" y="1844824"/>
            <a:ext cx="5719539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10"/>
          <p:cNvSpPr txBox="1"/>
          <p:nvPr/>
        </p:nvSpPr>
        <p:spPr>
          <a:xfrm>
            <a:off x="1230152" y="3068960"/>
            <a:ext cx="4223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7.2</a:t>
            </a:r>
            <a:r>
              <a:rPr lang="en-US" altLang="zh-CN" sz="2400" dirty="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EL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表达式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230152" y="4149080"/>
            <a:ext cx="379103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7.3    JSTL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7998" y="1756903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749857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dirty="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</a:p>
        </p:txBody>
      </p:sp>
      <p:sp>
        <p:nvSpPr>
          <p:cNvPr id="12" name="TextBox 6"/>
          <p:cNvSpPr txBox="1"/>
          <p:nvPr/>
        </p:nvSpPr>
        <p:spPr>
          <a:xfrm>
            <a:off x="1230152" y="1988840"/>
            <a:ext cx="4349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7.1    </a:t>
            </a:r>
            <a:r>
              <a:rPr lang="zh-CN" altLang="en-US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初始</a:t>
            </a:r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JavaBean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028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54" y="3177890"/>
            <a:ext cx="1210442" cy="1275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矩形 17"/>
          <p:cNvSpPr/>
          <p:nvPr/>
        </p:nvSpPr>
        <p:spPr>
          <a:xfrm>
            <a:off x="4791002" y="3355330"/>
            <a:ext cx="3960440" cy="86518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sysDash"/>
          </a:ln>
        </p:spPr>
        <p:txBody>
          <a:bodyPr anchor="ctr"/>
          <a:lstStyle/>
          <a:p>
            <a:pPr algn="ctr">
              <a:defRPr/>
            </a:pPr>
            <a:endParaRPr lang="zh-CN" altLang="en-US" dirty="0">
              <a:latin typeface="Arial" charset="0"/>
            </a:endParaRPr>
          </a:p>
        </p:txBody>
      </p:sp>
      <p:sp>
        <p:nvSpPr>
          <p:cNvPr id="2" name="矩形 75"/>
          <p:cNvSpPr>
            <a:spLocks noChangeArrowheads="1"/>
          </p:cNvSpPr>
          <p:nvPr/>
        </p:nvSpPr>
        <p:spPr bwMode="auto">
          <a:xfrm>
            <a:off x="6019528" y="2132856"/>
            <a:ext cx="21097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知识点概述</a:t>
            </a:r>
          </a:p>
        </p:txBody>
      </p:sp>
      <p:sp>
        <p:nvSpPr>
          <p:cNvPr id="3" name="任意多边形 2"/>
          <p:cNvSpPr/>
          <p:nvPr/>
        </p:nvSpPr>
        <p:spPr bwMode="auto">
          <a:xfrm>
            <a:off x="1836465" y="2276872"/>
            <a:ext cx="2143125" cy="547687"/>
          </a:xfrm>
          <a:custGeom>
            <a:avLst/>
            <a:gdLst>
              <a:gd name="connsiteX0" fmla="*/ 0 w 1836805"/>
              <a:gd name="connsiteY0" fmla="*/ 179372 h 1076213"/>
              <a:gd name="connsiteX1" fmla="*/ 179372 w 1836805"/>
              <a:gd name="connsiteY1" fmla="*/ 0 h 1076213"/>
              <a:gd name="connsiteX2" fmla="*/ 1657433 w 1836805"/>
              <a:gd name="connsiteY2" fmla="*/ 0 h 1076213"/>
              <a:gd name="connsiteX3" fmla="*/ 1836805 w 1836805"/>
              <a:gd name="connsiteY3" fmla="*/ 179372 h 1076213"/>
              <a:gd name="connsiteX4" fmla="*/ 1836805 w 1836805"/>
              <a:gd name="connsiteY4" fmla="*/ 896841 h 1076213"/>
              <a:gd name="connsiteX5" fmla="*/ 1657433 w 1836805"/>
              <a:gd name="connsiteY5" fmla="*/ 1076213 h 1076213"/>
              <a:gd name="connsiteX6" fmla="*/ 179372 w 1836805"/>
              <a:gd name="connsiteY6" fmla="*/ 1076213 h 1076213"/>
              <a:gd name="connsiteX7" fmla="*/ 0 w 1836805"/>
              <a:gd name="connsiteY7" fmla="*/ 896841 h 1076213"/>
              <a:gd name="connsiteX8" fmla="*/ 0 w 1836805"/>
              <a:gd name="connsiteY8" fmla="*/ 179372 h 10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6805" h="1076213">
                <a:moveTo>
                  <a:pt x="0" y="179372"/>
                </a:moveTo>
                <a:cubicBezTo>
                  <a:pt x="0" y="80308"/>
                  <a:pt x="80308" y="0"/>
                  <a:pt x="179372" y="0"/>
                </a:cubicBezTo>
                <a:lnTo>
                  <a:pt x="1657433" y="0"/>
                </a:lnTo>
                <a:cubicBezTo>
                  <a:pt x="1756497" y="0"/>
                  <a:pt x="1836805" y="80308"/>
                  <a:pt x="1836805" y="179372"/>
                </a:cubicBezTo>
                <a:lnTo>
                  <a:pt x="1836805" y="896841"/>
                </a:lnTo>
                <a:cubicBezTo>
                  <a:pt x="1836805" y="995905"/>
                  <a:pt x="1756497" y="1076213"/>
                  <a:pt x="1657433" y="1076213"/>
                </a:cubicBezTo>
                <a:lnTo>
                  <a:pt x="179372" y="1076213"/>
                </a:lnTo>
                <a:cubicBezTo>
                  <a:pt x="80308" y="1076213"/>
                  <a:pt x="0" y="995905"/>
                  <a:pt x="0" y="896841"/>
                </a:cubicBezTo>
                <a:lnTo>
                  <a:pt x="0" y="179372"/>
                </a:lnTo>
                <a:close/>
              </a:path>
            </a:pathLst>
          </a:custGeom>
          <a:solidFill>
            <a:srgbClr val="8064A2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3986" tIns="138261" rIns="223986" bIns="138261" spcCol="1270" anchor="ctr"/>
          <a:lstStyle/>
          <a:p>
            <a:pPr algn="ctr" defTabSz="2000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4500" dirty="0"/>
          </a:p>
        </p:txBody>
      </p:sp>
      <p:sp>
        <p:nvSpPr>
          <p:cNvPr id="4" name="矩形 11"/>
          <p:cNvSpPr>
            <a:spLocks noChangeArrowheads="1"/>
          </p:cNvSpPr>
          <p:nvPr/>
        </p:nvSpPr>
        <p:spPr bwMode="auto">
          <a:xfrm>
            <a:off x="2346888" y="2348880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软件组件</a:t>
            </a:r>
            <a:endParaRPr lang="zh-CN" altLang="en-US" sz="2000" b="1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任意多边形 4"/>
          <p:cNvSpPr/>
          <p:nvPr/>
        </p:nvSpPr>
        <p:spPr bwMode="auto">
          <a:xfrm>
            <a:off x="1834878" y="3519288"/>
            <a:ext cx="2135187" cy="557213"/>
          </a:xfrm>
          <a:custGeom>
            <a:avLst/>
            <a:gdLst>
              <a:gd name="connsiteX0" fmla="*/ 0 w 1836805"/>
              <a:gd name="connsiteY0" fmla="*/ 179372 h 1076213"/>
              <a:gd name="connsiteX1" fmla="*/ 179372 w 1836805"/>
              <a:gd name="connsiteY1" fmla="*/ 0 h 1076213"/>
              <a:gd name="connsiteX2" fmla="*/ 1657433 w 1836805"/>
              <a:gd name="connsiteY2" fmla="*/ 0 h 1076213"/>
              <a:gd name="connsiteX3" fmla="*/ 1836805 w 1836805"/>
              <a:gd name="connsiteY3" fmla="*/ 179372 h 1076213"/>
              <a:gd name="connsiteX4" fmla="*/ 1836805 w 1836805"/>
              <a:gd name="connsiteY4" fmla="*/ 896841 h 1076213"/>
              <a:gd name="connsiteX5" fmla="*/ 1657433 w 1836805"/>
              <a:gd name="connsiteY5" fmla="*/ 1076213 h 1076213"/>
              <a:gd name="connsiteX6" fmla="*/ 179372 w 1836805"/>
              <a:gd name="connsiteY6" fmla="*/ 1076213 h 1076213"/>
              <a:gd name="connsiteX7" fmla="*/ 0 w 1836805"/>
              <a:gd name="connsiteY7" fmla="*/ 896841 h 1076213"/>
              <a:gd name="connsiteX8" fmla="*/ 0 w 1836805"/>
              <a:gd name="connsiteY8" fmla="*/ 179372 h 10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6805" h="1076213">
                <a:moveTo>
                  <a:pt x="0" y="179372"/>
                </a:moveTo>
                <a:cubicBezTo>
                  <a:pt x="0" y="80308"/>
                  <a:pt x="80308" y="0"/>
                  <a:pt x="179372" y="0"/>
                </a:cubicBezTo>
                <a:lnTo>
                  <a:pt x="1657433" y="0"/>
                </a:lnTo>
                <a:cubicBezTo>
                  <a:pt x="1756497" y="0"/>
                  <a:pt x="1836805" y="80308"/>
                  <a:pt x="1836805" y="179372"/>
                </a:cubicBezTo>
                <a:lnTo>
                  <a:pt x="1836805" y="896841"/>
                </a:lnTo>
                <a:cubicBezTo>
                  <a:pt x="1836805" y="995905"/>
                  <a:pt x="1756497" y="1076213"/>
                  <a:pt x="1657433" y="1076213"/>
                </a:cubicBezTo>
                <a:lnTo>
                  <a:pt x="179372" y="1076213"/>
                </a:lnTo>
                <a:cubicBezTo>
                  <a:pt x="80308" y="1076213"/>
                  <a:pt x="0" y="995905"/>
                  <a:pt x="0" y="896841"/>
                </a:cubicBezTo>
                <a:lnTo>
                  <a:pt x="0" y="179372"/>
                </a:lnTo>
                <a:close/>
              </a:path>
            </a:pathLst>
          </a:custGeom>
          <a:solidFill>
            <a:srgbClr val="5767B4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3986" tIns="138261" rIns="223986" bIns="138261" spcCol="1270" anchor="ctr"/>
          <a:lstStyle/>
          <a:p>
            <a:pPr algn="ctr" defTabSz="2000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4500" dirty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301603" y="3600251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编码规范</a:t>
            </a:r>
            <a:endParaRPr lang="zh-CN" altLang="en-US" sz="2000" b="1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任意多边形 6"/>
          <p:cNvSpPr/>
          <p:nvPr/>
        </p:nvSpPr>
        <p:spPr bwMode="auto">
          <a:xfrm>
            <a:off x="1865313" y="4689748"/>
            <a:ext cx="2133600" cy="585788"/>
          </a:xfrm>
          <a:custGeom>
            <a:avLst/>
            <a:gdLst>
              <a:gd name="connsiteX0" fmla="*/ 0 w 1836805"/>
              <a:gd name="connsiteY0" fmla="*/ 179372 h 1076213"/>
              <a:gd name="connsiteX1" fmla="*/ 179372 w 1836805"/>
              <a:gd name="connsiteY1" fmla="*/ 0 h 1076213"/>
              <a:gd name="connsiteX2" fmla="*/ 1657433 w 1836805"/>
              <a:gd name="connsiteY2" fmla="*/ 0 h 1076213"/>
              <a:gd name="connsiteX3" fmla="*/ 1836805 w 1836805"/>
              <a:gd name="connsiteY3" fmla="*/ 179372 h 1076213"/>
              <a:gd name="connsiteX4" fmla="*/ 1836805 w 1836805"/>
              <a:gd name="connsiteY4" fmla="*/ 896841 h 1076213"/>
              <a:gd name="connsiteX5" fmla="*/ 1657433 w 1836805"/>
              <a:gd name="connsiteY5" fmla="*/ 1076213 h 1076213"/>
              <a:gd name="connsiteX6" fmla="*/ 179372 w 1836805"/>
              <a:gd name="connsiteY6" fmla="*/ 1076213 h 1076213"/>
              <a:gd name="connsiteX7" fmla="*/ 0 w 1836805"/>
              <a:gd name="connsiteY7" fmla="*/ 896841 h 1076213"/>
              <a:gd name="connsiteX8" fmla="*/ 0 w 1836805"/>
              <a:gd name="connsiteY8" fmla="*/ 179372 h 10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6805" h="1076213">
                <a:moveTo>
                  <a:pt x="0" y="179372"/>
                </a:moveTo>
                <a:cubicBezTo>
                  <a:pt x="0" y="80308"/>
                  <a:pt x="80308" y="0"/>
                  <a:pt x="179372" y="0"/>
                </a:cubicBezTo>
                <a:lnTo>
                  <a:pt x="1657433" y="0"/>
                </a:lnTo>
                <a:cubicBezTo>
                  <a:pt x="1756497" y="0"/>
                  <a:pt x="1836805" y="80308"/>
                  <a:pt x="1836805" y="179372"/>
                </a:cubicBezTo>
                <a:lnTo>
                  <a:pt x="1836805" y="896841"/>
                </a:lnTo>
                <a:cubicBezTo>
                  <a:pt x="1836805" y="995905"/>
                  <a:pt x="1756497" y="1076213"/>
                  <a:pt x="1657433" y="1076213"/>
                </a:cubicBezTo>
                <a:lnTo>
                  <a:pt x="179372" y="1076213"/>
                </a:lnTo>
                <a:cubicBezTo>
                  <a:pt x="80308" y="1076213"/>
                  <a:pt x="0" y="995905"/>
                  <a:pt x="0" y="896841"/>
                </a:cubicBezTo>
                <a:lnTo>
                  <a:pt x="0" y="179372"/>
                </a:lnTo>
                <a:close/>
              </a:path>
            </a:pathLst>
          </a:custGeom>
          <a:solidFill>
            <a:srgbClr val="4BACC6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3986" tIns="138261" rIns="223986" bIns="138261" spcCol="1270" anchor="ctr"/>
          <a:lstStyle/>
          <a:p>
            <a:pPr algn="ctr" defTabSz="2000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4500" dirty="0"/>
          </a:p>
        </p:txBody>
      </p:sp>
      <p:sp>
        <p:nvSpPr>
          <p:cNvPr id="8" name="矩形 11"/>
          <p:cNvSpPr>
            <a:spLocks noChangeArrowheads="1"/>
          </p:cNvSpPr>
          <p:nvPr/>
        </p:nvSpPr>
        <p:spPr bwMode="auto">
          <a:xfrm>
            <a:off x="1926265" y="4771480"/>
            <a:ext cx="20281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简单的</a:t>
            </a:r>
            <a:r>
              <a:rPr lang="en-US" altLang="zh-CN" sz="2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JavaBean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左大括号 8"/>
          <p:cNvSpPr>
            <a:spLocks/>
          </p:cNvSpPr>
          <p:nvPr/>
        </p:nvSpPr>
        <p:spPr bwMode="auto">
          <a:xfrm>
            <a:off x="1331640" y="2520206"/>
            <a:ext cx="503238" cy="2590800"/>
          </a:xfrm>
          <a:prstGeom prst="leftBrace">
            <a:avLst>
              <a:gd name="adj1" fmla="val 8342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0" name="右箭头 9"/>
          <p:cNvSpPr>
            <a:spLocks noChangeArrowheads="1"/>
          </p:cNvSpPr>
          <p:nvPr/>
        </p:nvSpPr>
        <p:spPr bwMode="auto">
          <a:xfrm>
            <a:off x="4093890" y="2515444"/>
            <a:ext cx="552450" cy="157162"/>
          </a:xfrm>
          <a:prstGeom prst="rightArrow">
            <a:avLst>
              <a:gd name="adj1" fmla="val 50000"/>
              <a:gd name="adj2" fmla="val 49749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>
            <a:spLocks noChangeArrowheads="1"/>
          </p:cNvSpPr>
          <p:nvPr/>
        </p:nvSpPr>
        <p:spPr bwMode="auto">
          <a:xfrm>
            <a:off x="4103415" y="3716461"/>
            <a:ext cx="552450" cy="155575"/>
          </a:xfrm>
          <a:prstGeom prst="rightArrow">
            <a:avLst>
              <a:gd name="adj1" fmla="val 50000"/>
              <a:gd name="adj2" fmla="val 50257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>
            <a:spLocks noChangeArrowheads="1"/>
          </p:cNvSpPr>
          <p:nvPr/>
        </p:nvSpPr>
        <p:spPr bwMode="auto">
          <a:xfrm>
            <a:off x="4103415" y="4903937"/>
            <a:ext cx="552450" cy="155575"/>
          </a:xfrm>
          <a:prstGeom prst="rightArrow">
            <a:avLst>
              <a:gd name="adj1" fmla="val 50000"/>
              <a:gd name="adj2" fmla="val 50257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774928" y="2203202"/>
            <a:ext cx="3976513" cy="86518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sysDash"/>
          </a:ln>
        </p:spPr>
        <p:txBody>
          <a:bodyPr anchor="ctr"/>
          <a:lstStyle/>
          <a:p>
            <a:pPr algn="ctr">
              <a:defRPr/>
            </a:pPr>
            <a:endParaRPr lang="zh-CN" altLang="en-US" dirty="0">
              <a:latin typeface="Arial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774928" y="2210644"/>
            <a:ext cx="397651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zh-CN" altLang="en-US" sz="1600" dirty="0" smtClean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在</a:t>
            </a:r>
            <a:r>
              <a:rPr lang="zh-CN" altLang="en-US" sz="1600" dirty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开发中可以重复使用</a:t>
            </a:r>
            <a:r>
              <a:rPr lang="zh-CN" altLang="en-US" sz="1600" dirty="0" smtClean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，本质</a:t>
            </a:r>
            <a:r>
              <a:rPr lang="zh-CN" altLang="en-US" sz="1600" dirty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是一个</a:t>
            </a:r>
            <a:r>
              <a:rPr lang="en-US" altLang="zh-CN" sz="1600" dirty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Java</a:t>
            </a:r>
            <a:r>
              <a:rPr lang="zh-CN" altLang="en-US" sz="1600" dirty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类</a:t>
            </a:r>
            <a:endParaRPr lang="en-US" altLang="zh-CN" sz="1600" dirty="0">
              <a:solidFill>
                <a:srgbClr val="7F7F7F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757465" y="3356992"/>
            <a:ext cx="399397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zh-CN" sz="1600" dirty="0" smtClean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具有</a:t>
            </a:r>
            <a:r>
              <a:rPr lang="zh-CN" altLang="zh-CN" sz="1600" dirty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一个公共的、无参的</a:t>
            </a:r>
            <a:r>
              <a:rPr lang="zh-CN" altLang="zh-CN" sz="160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构造</a:t>
            </a:r>
            <a:r>
              <a:rPr lang="zh-CN" altLang="zh-CN" sz="1600" smtClean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方法</a:t>
            </a:r>
            <a:r>
              <a:rPr lang="zh-CN" altLang="en-US" sz="160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600" smtClean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提供</a:t>
            </a:r>
            <a:r>
              <a:rPr lang="zh-CN" altLang="zh-CN" sz="1600" dirty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公共的</a:t>
            </a:r>
            <a:r>
              <a:rPr lang="en-US" altLang="zh-CN" sz="1600" dirty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setter</a:t>
            </a:r>
            <a:r>
              <a:rPr lang="zh-CN" altLang="zh-CN" sz="1600" dirty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方法和</a:t>
            </a:r>
            <a:r>
              <a:rPr lang="en-US" altLang="zh-CN" sz="1600" dirty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getter</a:t>
            </a:r>
            <a:r>
              <a:rPr lang="zh-CN" altLang="zh-CN" sz="1600" dirty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方法</a:t>
            </a:r>
            <a:endParaRPr lang="en-US" altLang="zh-CN" sz="1600" dirty="0">
              <a:solidFill>
                <a:srgbClr val="7F7F7F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774929" y="4579466"/>
            <a:ext cx="3976514" cy="86518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sysDash"/>
          </a:ln>
        </p:spPr>
        <p:txBody>
          <a:bodyPr anchor="ctr"/>
          <a:lstStyle/>
          <a:p>
            <a:pPr algn="ctr">
              <a:defRPr/>
            </a:pPr>
            <a:endParaRPr lang="zh-CN" altLang="en-US" dirty="0">
              <a:latin typeface="Arial" charset="0"/>
            </a:endParaRPr>
          </a:p>
        </p:txBody>
      </p:sp>
      <p:sp>
        <p:nvSpPr>
          <p:cNvPr id="21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785834" y="4581128"/>
            <a:ext cx="39656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 smtClean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1600" dirty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编</a:t>
            </a:r>
            <a:r>
              <a:rPr lang="zh-CN" altLang="zh-CN" sz="1600" dirty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写一个简单的</a:t>
            </a:r>
            <a:r>
              <a:rPr lang="en-US" altLang="zh-CN" sz="1600" dirty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JavaBean</a:t>
            </a:r>
            <a:r>
              <a:rPr lang="zh-CN" altLang="en-US" sz="1600" dirty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，请参见</a:t>
            </a:r>
            <a:r>
              <a:rPr lang="zh-CN" altLang="en-US" sz="1600" dirty="0" smtClean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教材</a:t>
            </a:r>
            <a:r>
              <a:rPr lang="en-US" altLang="zh-CN" sz="1600" dirty="0" smtClean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7.1.1</a:t>
            </a:r>
            <a:r>
              <a:rPr lang="zh-CN" altLang="en-US" sz="1600" dirty="0" smtClean="0">
                <a:solidFill>
                  <a:srgbClr val="7F7F7F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小节</a:t>
            </a:r>
            <a:endParaRPr lang="zh-CN" altLang="zh-CN" sz="1600" dirty="0">
              <a:solidFill>
                <a:srgbClr val="7F7F7F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7.1.1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什么是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JavaBean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407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" grpId="0"/>
      <p:bldP spid="6" grpId="0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6" grpId="0"/>
      <p:bldP spid="19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AutoShape 6"/>
          <p:cNvSpPr>
            <a:spLocks noChangeArrowheads="1"/>
          </p:cNvSpPr>
          <p:nvPr/>
        </p:nvSpPr>
        <p:spPr bwMode="ltGray">
          <a:xfrm>
            <a:off x="915988" y="1484784"/>
            <a:ext cx="2137877" cy="594913"/>
          </a:xfrm>
          <a:prstGeom prst="roundRect">
            <a:avLst>
              <a:gd name="adj" fmla="val 5979"/>
            </a:avLst>
          </a:prstGeom>
          <a:solidFill>
            <a:srgbClr val="006BA9"/>
          </a:solidFill>
          <a:ln w="9525" cap="flat" cmpd="sng" algn="ctr">
            <a:noFill/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lIns="91429" tIns="45715" rIns="91429" bIns="45715" anchor="ctr"/>
          <a:lstStyle/>
          <a:p>
            <a:pPr algn="ctr">
              <a:defRPr/>
            </a:pPr>
            <a:r>
              <a:rPr lang="zh-CN" altLang="en-US" sz="2200" kern="0" dirty="0">
                <a:solidFill>
                  <a:sysClr val="window" lastClr="FFFFFF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第一步</a:t>
            </a:r>
            <a:endParaRPr lang="en-US" altLang="zh-CN" sz="2200" kern="0" dirty="0">
              <a:solidFill>
                <a:sysClr val="window" lastClr="FFFFFF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4" name="AutoShape 7"/>
          <p:cNvSpPr>
            <a:spLocks noChangeArrowheads="1"/>
          </p:cNvSpPr>
          <p:nvPr/>
        </p:nvSpPr>
        <p:spPr bwMode="ltGray">
          <a:xfrm>
            <a:off x="3366179" y="1484784"/>
            <a:ext cx="2139603" cy="594913"/>
          </a:xfrm>
          <a:prstGeom prst="roundRect">
            <a:avLst>
              <a:gd name="adj" fmla="val 5979"/>
            </a:avLst>
          </a:prstGeom>
          <a:solidFill>
            <a:srgbClr val="006BA9"/>
          </a:solidFill>
          <a:ln w="9525" cap="flat" cmpd="sng" algn="ctr">
            <a:noFill/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lIns="91429" tIns="45715" rIns="91429" bIns="45715" anchor="ctr"/>
          <a:lstStyle/>
          <a:p>
            <a:pPr algn="ctr">
              <a:defRPr/>
            </a:pPr>
            <a:r>
              <a:rPr lang="zh-CN" altLang="en-US" sz="2200" kern="0" dirty="0">
                <a:solidFill>
                  <a:sysClr val="window" lastClr="FFFFFF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第二步</a:t>
            </a:r>
            <a:endParaRPr lang="en-US" altLang="zh-CN" sz="2200" kern="0" dirty="0">
              <a:solidFill>
                <a:sysClr val="window" lastClr="FFFFFF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5" name="AutoShape 8"/>
          <p:cNvSpPr>
            <a:spLocks noChangeArrowheads="1"/>
          </p:cNvSpPr>
          <p:nvPr/>
        </p:nvSpPr>
        <p:spPr bwMode="ltGray">
          <a:xfrm>
            <a:off x="5818094" y="1484784"/>
            <a:ext cx="2137878" cy="594913"/>
          </a:xfrm>
          <a:prstGeom prst="roundRect">
            <a:avLst>
              <a:gd name="adj" fmla="val 5979"/>
            </a:avLst>
          </a:prstGeom>
          <a:solidFill>
            <a:srgbClr val="006BA9"/>
          </a:solidFill>
          <a:ln w="9525" cap="flat" cmpd="sng" algn="ctr">
            <a:noFill/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lIns="91429" tIns="45715" rIns="91429" bIns="45715" anchor="ctr"/>
          <a:lstStyle/>
          <a:p>
            <a:pPr algn="ctr">
              <a:defRPr/>
            </a:pPr>
            <a:r>
              <a:rPr lang="zh-CN" altLang="en-US" sz="2200" kern="0" dirty="0">
                <a:solidFill>
                  <a:sysClr val="window" lastClr="FFFFFF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第三步</a:t>
            </a:r>
            <a:endParaRPr lang="en-US" altLang="zh-CN" sz="2200" kern="0" dirty="0">
              <a:solidFill>
                <a:sysClr val="window" lastClr="FFFFFF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916391" y="2242495"/>
            <a:ext cx="2138191" cy="1952136"/>
          </a:xfrm>
          <a:prstGeom prst="roundRect">
            <a:avLst>
              <a:gd name="adj" fmla="val 128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rgbClr val="006BA9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txBody>
          <a:bodyPr lIns="91429" tIns="45715" rIns="91429" bIns="45715" anchor="ctr"/>
          <a:lstStyle/>
          <a:p>
            <a:pPr>
              <a:lnSpc>
                <a:spcPct val="1200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3362622" y="2242495"/>
            <a:ext cx="2138191" cy="1952136"/>
          </a:xfrm>
          <a:prstGeom prst="roundRect">
            <a:avLst>
              <a:gd name="adj" fmla="val 1939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rgbClr val="006BA9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txBody>
          <a:bodyPr lIns="91429" tIns="45715" rIns="91429" bIns="45715" anchor="ctr"/>
          <a:lstStyle/>
          <a:p>
            <a:pPr>
              <a:lnSpc>
                <a:spcPct val="1200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5818185" y="2242495"/>
            <a:ext cx="2138191" cy="1952136"/>
          </a:xfrm>
          <a:prstGeom prst="roundRect">
            <a:avLst>
              <a:gd name="adj" fmla="val 1280"/>
            </a:avLst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rgbClr val="006BA9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txBody>
          <a:bodyPr lIns="91429" tIns="45715" rIns="91429" bIns="45715" anchor="ctr"/>
          <a:lstStyle/>
          <a:p>
            <a:pPr>
              <a:lnSpc>
                <a:spcPct val="1200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流程图: 摘录 8"/>
          <p:cNvSpPr/>
          <p:nvPr/>
        </p:nvSpPr>
        <p:spPr bwMode="auto">
          <a:xfrm rot="5400000">
            <a:off x="3040794" y="3064099"/>
            <a:ext cx="362614" cy="308863"/>
          </a:xfrm>
          <a:prstGeom prst="flowChartExtract">
            <a:avLst/>
          </a:prstGeom>
          <a:solidFill>
            <a:srgbClr val="006BA9"/>
          </a:solidFill>
          <a:ln w="9525" cap="flat" cmpd="sng" algn="ctr">
            <a:noFill/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sp>
      <p:sp>
        <p:nvSpPr>
          <p:cNvPr id="10" name="流程图: 摘录 9"/>
          <p:cNvSpPr/>
          <p:nvPr/>
        </p:nvSpPr>
        <p:spPr bwMode="auto">
          <a:xfrm rot="5400000">
            <a:off x="5471142" y="3064962"/>
            <a:ext cx="362614" cy="307137"/>
          </a:xfrm>
          <a:prstGeom prst="flowChartExtract">
            <a:avLst/>
          </a:prstGeom>
          <a:solidFill>
            <a:srgbClr val="006BA9"/>
          </a:solidFill>
          <a:ln w="9525" cap="flat" cmpd="sng" algn="ctr">
            <a:noFill/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sp>
      <p:sp>
        <p:nvSpPr>
          <p:cNvPr id="11" name="矩形 10"/>
          <p:cNvSpPr/>
          <p:nvPr/>
        </p:nvSpPr>
        <p:spPr bwMode="auto">
          <a:xfrm>
            <a:off x="993634" y="2555627"/>
            <a:ext cx="2124074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JavaBean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中的属性是以方法定义的形式出现的</a:t>
            </a:r>
          </a:p>
        </p:txBody>
      </p:sp>
      <p:sp>
        <p:nvSpPr>
          <p:cNvPr id="12" name="矩形 11"/>
          <p:cNvSpPr/>
          <p:nvPr/>
        </p:nvSpPr>
        <p:spPr bwMode="auto">
          <a:xfrm>
            <a:off x="5830173" y="2334660"/>
            <a:ext cx="2125799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通过具体的案例来实现一个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JavaBean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</a:t>
            </a:r>
            <a:r>
              <a:rPr lang="zh-CN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，请查看教材</a:t>
            </a:r>
            <a:r>
              <a:rPr lang="en-US" altLang="zh-CN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7.1.2</a:t>
            </a:r>
            <a:r>
              <a:rPr lang="zh-CN" alt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小节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90336" y="2345992"/>
            <a:ext cx="2174113" cy="17081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</a:t>
            </a:r>
            <a:r>
              <a:rPr lang="en-US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JavaBean</a:t>
            </a:r>
            <a:r>
              <a:rPr lang="zh-CN" altLang="en-US" sz="14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中包含一</a:t>
            </a: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String</a:t>
            </a: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类型的属性</a:t>
            </a:r>
            <a:r>
              <a:rPr lang="en-US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name</a:t>
            </a: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，在</a:t>
            </a:r>
            <a:r>
              <a:rPr lang="en-US" altLang="zh-CN" sz="1400" ker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JavaBean</a:t>
            </a:r>
            <a:r>
              <a:rPr lang="zh-CN" altLang="en-US" sz="14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中至少</a:t>
            </a: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en-US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getName()</a:t>
            </a: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setName</a:t>
            </a: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方法中的一个</a:t>
            </a:r>
          </a:p>
        </p:txBody>
      </p:sp>
      <p:sp>
        <p:nvSpPr>
          <p:cNvPr id="16" name="圆角矩形标注 15"/>
          <p:cNvSpPr>
            <a:spLocks noChangeArrowheads="1"/>
          </p:cNvSpPr>
          <p:nvPr/>
        </p:nvSpPr>
        <p:spPr bwMode="auto">
          <a:xfrm>
            <a:off x="1115786" y="4653136"/>
            <a:ext cx="6723211" cy="1224136"/>
          </a:xfrm>
          <a:prstGeom prst="wedgeRoundRectCallout">
            <a:avLst>
              <a:gd name="adj1" fmla="val -13233"/>
              <a:gd name="adj2" fmla="val -61899"/>
              <a:gd name="adj3" fmla="val 16667"/>
            </a:avLst>
          </a:prstGeom>
          <a:solidFill>
            <a:srgbClr val="0070C0"/>
          </a:solidFill>
          <a:ln w="1905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如果一个属性只有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getter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方法，则该属性为只读属性，如果一个属性只有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setter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方法，则该属性为只写属性，如果一个属性既有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getter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方法，又有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setter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方法，则该属性为读写属性</a:t>
            </a:r>
            <a:r>
              <a:rPr lang="zh-CN" altLang="zh-CN" sz="1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。如果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属性的类型为</a:t>
            </a:r>
            <a:r>
              <a:rPr lang="en-US" altLang="zh-CN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，它的命名方式应该使用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is/set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而不是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get/set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5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7.1.2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访问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JavaBean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的属性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32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1" grpId="0"/>
      <p:bldP spid="12" grpId="0"/>
      <p:bldP spid="13" grpId="0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 bwMode="auto">
          <a:xfrm>
            <a:off x="542925" y="1424211"/>
            <a:ext cx="8102600" cy="121937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由于各种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工具和框架层出不穷，并不能保证属性对应的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方法总能被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调用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，因此动态访问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对象的属性是十分必要的，为此，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软件基金会提供了一套简单、易用的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BeanUtils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工具。</a:t>
            </a:r>
          </a:p>
        </p:txBody>
      </p:sp>
      <p:sp>
        <p:nvSpPr>
          <p:cNvPr id="3" name="矩形 24"/>
          <p:cNvSpPr>
            <a:spLocks noChangeArrowheads="1"/>
          </p:cNvSpPr>
          <p:nvPr/>
        </p:nvSpPr>
        <p:spPr bwMode="auto">
          <a:xfrm>
            <a:off x="542925" y="1341795"/>
            <a:ext cx="8102600" cy="1439133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" name="任意多边形 3"/>
          <p:cNvSpPr/>
          <p:nvPr/>
        </p:nvSpPr>
        <p:spPr bwMode="auto">
          <a:xfrm>
            <a:off x="5940152" y="1052736"/>
            <a:ext cx="2016224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6" name="圆角矩形标注 5"/>
          <p:cNvSpPr>
            <a:spLocks noChangeArrowheads="1"/>
          </p:cNvSpPr>
          <p:nvPr/>
        </p:nvSpPr>
        <p:spPr bwMode="auto">
          <a:xfrm>
            <a:off x="1979712" y="2708920"/>
            <a:ext cx="4968382" cy="936104"/>
          </a:xfrm>
          <a:prstGeom prst="wedgeRoundRectCallout">
            <a:avLst>
              <a:gd name="adj1" fmla="val -13233"/>
              <a:gd name="adj2" fmla="val -72074"/>
              <a:gd name="adj3" fmla="val 16667"/>
            </a:avLst>
          </a:prstGeom>
          <a:solidFill>
            <a:srgbClr val="0070C0"/>
          </a:solidFill>
          <a:ln w="1905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600" b="1" dirty="0">
                <a:solidFill>
                  <a:schemeClr val="bg1"/>
                </a:solidFill>
              </a:rPr>
              <a:t>需要注意的是，</a:t>
            </a:r>
            <a:r>
              <a:rPr lang="en-US" altLang="zh-CN" sz="1600" b="1" dirty="0" err="1">
                <a:solidFill>
                  <a:schemeClr val="bg1"/>
                </a:solidFill>
              </a:rPr>
              <a:t>BeanUtils</a:t>
            </a:r>
            <a:r>
              <a:rPr lang="zh-CN" altLang="en-US" sz="1600" b="1" dirty="0">
                <a:solidFill>
                  <a:schemeClr val="bg1"/>
                </a:solidFill>
              </a:rPr>
              <a:t>工具包还需要一个</a:t>
            </a:r>
            <a:r>
              <a:rPr lang="en-US" altLang="zh-CN" sz="1600" b="1" dirty="0">
                <a:solidFill>
                  <a:schemeClr val="bg1"/>
                </a:solidFill>
              </a:rPr>
              <a:t>logging</a:t>
            </a:r>
            <a:r>
              <a:rPr lang="zh-CN" altLang="en-US" sz="1600" b="1" dirty="0">
                <a:solidFill>
                  <a:schemeClr val="bg1"/>
                </a:solidFill>
              </a:rPr>
              <a:t>包来配合使用，</a:t>
            </a:r>
            <a:r>
              <a:rPr lang="en-US" altLang="zh-CN" sz="1600" b="1" dirty="0">
                <a:solidFill>
                  <a:schemeClr val="bg1"/>
                </a:solidFill>
              </a:rPr>
              <a:t>logging</a:t>
            </a:r>
            <a:r>
              <a:rPr lang="zh-CN" altLang="en-US" sz="1600" b="1" dirty="0">
                <a:solidFill>
                  <a:schemeClr val="bg1"/>
                </a:solidFill>
              </a:rPr>
              <a:t>包中包装了各种日志</a:t>
            </a:r>
            <a:r>
              <a:rPr lang="en-US" altLang="zh-CN" sz="1600" b="1" dirty="0">
                <a:solidFill>
                  <a:schemeClr val="bg1"/>
                </a:solidFill>
              </a:rPr>
              <a:t>API</a:t>
            </a:r>
            <a:r>
              <a:rPr lang="zh-CN" altLang="en-US" sz="1600" b="1" dirty="0">
                <a:solidFill>
                  <a:schemeClr val="bg1"/>
                </a:solidFill>
              </a:rPr>
              <a:t>的实现。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716822"/>
              </p:ext>
            </p:extLst>
          </p:nvPr>
        </p:nvGraphicFramePr>
        <p:xfrm>
          <a:off x="395536" y="3356992"/>
          <a:ext cx="8280920" cy="216293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240360"/>
                <a:gridCol w="5040560"/>
              </a:tblGrid>
              <a:tr h="2572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 smtClean="0"/>
                        <a:t>方法声明</a:t>
                      </a:r>
                      <a:endParaRPr lang="en-US" altLang="zh-CN" sz="20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功能描述</a:t>
                      </a:r>
                      <a:endParaRPr lang="en-US" altLang="zh-CN" sz="20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6699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static void </a:t>
                      </a:r>
                      <a:r>
                        <a:rPr lang="en-US" sz="1400" u="none" strike="noStrike" kern="10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populate</a:t>
                      </a:r>
                      <a:r>
                        <a:rPr lang="en-US" sz="1400" kern="10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(</a:t>
                      </a:r>
                      <a:r>
                        <a:rPr lang="en-US" sz="1400" u="none" strike="noStrike" kern="10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Object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 bean, </a:t>
                      </a:r>
                      <a:r>
                        <a:rPr lang="en-US" sz="1400" u="none" strike="noStrik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Map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&lt;</a:t>
                      </a:r>
                      <a:r>
                        <a:rPr lang="en-US" sz="1400" u="none" strike="noStrik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String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,? extends </a:t>
                      </a:r>
                      <a:r>
                        <a:rPr lang="en-US" sz="1400" u="none" strike="noStrik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Object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&gt; properties)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根据指定的名称</a:t>
                      </a:r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/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值对为相应</a:t>
                      </a:r>
                      <a:r>
                        <a:rPr lang="zh-CN" sz="1400" kern="10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的</a:t>
                      </a:r>
                      <a:r>
                        <a:rPr lang="en-US" altLang="zh-CN" sz="1400" kern="10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J</a:t>
                      </a:r>
                      <a:r>
                        <a:rPr lang="en-US" sz="1400" kern="10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ava</a:t>
                      </a:r>
                      <a:r>
                        <a:rPr lang="en-US" altLang="zh-CN" sz="1400" kern="10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1400" kern="10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ean</a:t>
                      </a: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属性设置值。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6699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static void </a:t>
                      </a:r>
                      <a:r>
                        <a:rPr lang="en-US" sz="1400" u="none" strike="noStrike" kern="100" dirty="0" err="1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setProperty</a:t>
                      </a:r>
                      <a:r>
                        <a:rPr lang="en-US" sz="1400" kern="10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(</a:t>
                      </a:r>
                      <a:r>
                        <a:rPr lang="en-US" sz="1400" u="none" strike="noStrike" kern="10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Object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 bean, </a:t>
                      </a:r>
                      <a:r>
                        <a:rPr lang="en-US" sz="1400" u="none" strike="noStrik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String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 name, </a:t>
                      </a:r>
                      <a:r>
                        <a:rPr lang="en-US" sz="1400" u="none" strike="noStrik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Object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 value)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设置指定的属性值，传入的类型要求能转换成相应属性的类型。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800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static </a:t>
                      </a:r>
                      <a:r>
                        <a:rPr lang="en-US" sz="1400" u="none" strike="noStrik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String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 </a:t>
                      </a:r>
                      <a:r>
                        <a:rPr lang="en-US" sz="1400" u="none" strike="noStrike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getProperty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(</a:t>
                      </a:r>
                      <a:r>
                        <a:rPr lang="en-US" sz="1400" u="none" strike="noStrik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Object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 bean, </a:t>
                      </a:r>
                      <a:r>
                        <a:rPr lang="en-US" sz="1400" u="none" strike="noStrik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String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 name)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返回指定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bean</a:t>
                      </a:r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指定属性的值，返回值类型为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String</a:t>
                      </a:r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类型。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8" name="内容占位符 2"/>
          <p:cNvSpPr txBox="1">
            <a:spLocks/>
          </p:cNvSpPr>
          <p:nvPr/>
        </p:nvSpPr>
        <p:spPr bwMode="auto">
          <a:xfrm>
            <a:off x="395536" y="2780928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000" b="1" kern="0" dirty="0" err="1" smtClean="0">
                <a:solidFill>
                  <a:srgbClr val="0070C0"/>
                </a:solidFill>
                <a:latin typeface="Arial"/>
                <a:ea typeface="宋体"/>
              </a:rPr>
              <a:t>BeanUtils</a:t>
            </a:r>
            <a:r>
              <a:rPr lang="zh-CN" altLang="zh-CN" sz="2000" b="1" kern="0" dirty="0">
                <a:solidFill>
                  <a:srgbClr val="0070C0"/>
                </a:solidFill>
                <a:latin typeface="Arial"/>
                <a:ea typeface="宋体"/>
              </a:rPr>
              <a:t>类的常用方法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395535" y="5589240"/>
            <a:ext cx="8249989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案例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接下来通过一个案例</a:t>
            </a:r>
            <a:r>
              <a:rPr lang="zh-CN" altLang="en-US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来</a:t>
            </a:r>
            <a:r>
              <a:rPr lang="zh-CN" altLang="en-US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演示这三个方法的使用，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请参见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教材</a:t>
            </a:r>
            <a:r>
              <a:rPr lang="en-US" altLang="zh-CN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7.1.3</a:t>
            </a:r>
            <a:r>
              <a:rPr lang="zh-CN" altLang="en-US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小节内容。</a:t>
            </a:r>
            <a:endParaRPr lang="zh-CN" altLang="zh-CN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7.1.3 </a:t>
            </a:r>
            <a:r>
              <a:rPr lang="en-US" altLang="zh-CN" sz="3200" b="1" dirty="0" err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BeanUtils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工具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229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6" grpId="0" animBg="1"/>
      <p:bldP spid="6" grpId="1" animBg="1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对角圆角矩形 10"/>
          <p:cNvSpPr/>
          <p:nvPr/>
        </p:nvSpPr>
        <p:spPr>
          <a:xfrm>
            <a:off x="827584" y="2924944"/>
            <a:ext cx="5719539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10"/>
          <p:cNvSpPr txBox="1"/>
          <p:nvPr/>
        </p:nvSpPr>
        <p:spPr>
          <a:xfrm>
            <a:off x="1230152" y="3068960"/>
            <a:ext cx="4223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7.2    EL</a:t>
            </a:r>
            <a:r>
              <a:rPr lang="zh-CN" altLang="en-US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表达式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230152" y="4149080"/>
            <a:ext cx="379103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7.3    JSTL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7998" y="1756903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749857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dirty="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</a:p>
        </p:txBody>
      </p:sp>
      <p:sp>
        <p:nvSpPr>
          <p:cNvPr id="12" name="TextBox 6"/>
          <p:cNvSpPr txBox="1"/>
          <p:nvPr/>
        </p:nvSpPr>
        <p:spPr>
          <a:xfrm>
            <a:off x="1230152" y="1988840"/>
            <a:ext cx="4349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7.1    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初始</a:t>
            </a:r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JavaBean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68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2360315"/>
            <a:ext cx="8102600" cy="12127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800" dirty="0"/>
              <a:t>EL</a:t>
            </a:r>
            <a:r>
              <a:rPr lang="zh-CN" altLang="zh-CN" sz="1800" dirty="0"/>
              <a:t>表达式的</a:t>
            </a:r>
            <a:r>
              <a:rPr lang="zh-CN" altLang="zh-CN" sz="1800" dirty="0" smtClean="0"/>
              <a:t>语法</a:t>
            </a:r>
            <a:r>
              <a:rPr lang="zh-CN" altLang="zh-CN" sz="1800" dirty="0"/>
              <a:t>是以“</a:t>
            </a:r>
            <a:r>
              <a:rPr lang="en-US" altLang="zh-CN" sz="1800" dirty="0"/>
              <a:t>${</a:t>
            </a:r>
            <a:r>
              <a:rPr lang="zh-CN" altLang="zh-CN" sz="1800" dirty="0"/>
              <a:t>”符号开始，以“</a:t>
            </a:r>
            <a:r>
              <a:rPr lang="en-US" altLang="zh-CN" sz="1800" dirty="0"/>
              <a:t>}</a:t>
            </a:r>
            <a:r>
              <a:rPr lang="zh-CN" altLang="zh-CN" sz="1800" dirty="0"/>
              <a:t>”符号结束的，具体格式如下</a:t>
            </a:r>
            <a:r>
              <a:rPr lang="zh-CN" altLang="zh-CN" sz="1800" dirty="0" smtClean="0"/>
              <a:t>：</a:t>
            </a:r>
            <a:endParaRPr lang="en-US" altLang="zh-CN" sz="1800" dirty="0" smtClean="0"/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dirty="0"/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dirty="0" smtClean="0"/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2925" y="2277899"/>
            <a:ext cx="8102600" cy="1295117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6084168" y="1988840"/>
            <a:ext cx="1800200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</a:p>
        </p:txBody>
      </p:sp>
      <p:sp>
        <p:nvSpPr>
          <p:cNvPr id="6" name="矩形 16"/>
          <p:cNvSpPr>
            <a:spLocks noChangeArrowheads="1"/>
          </p:cNvSpPr>
          <p:nvPr/>
        </p:nvSpPr>
        <p:spPr bwMode="auto">
          <a:xfrm>
            <a:off x="563563" y="2924944"/>
            <a:ext cx="8042275" cy="43204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     ${</a:t>
            </a:r>
            <a:r>
              <a:rPr lang="zh-CN" altLang="zh-CN" dirty="0"/>
              <a:t>表达式</a:t>
            </a:r>
            <a:r>
              <a:rPr lang="en-US" altLang="zh-CN" dirty="0"/>
              <a:t>}</a:t>
            </a:r>
            <a:endParaRPr lang="zh-CN" altLang="zh-CN" dirty="0"/>
          </a:p>
          <a:p>
            <a:pPr marL="742950" lvl="1" indent="-285750"/>
            <a:endParaRPr lang="zh-CN" altLang="zh-CN" sz="1400" dirty="0"/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827584" y="3717033"/>
            <a:ext cx="79756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案例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接下来通过一个案例</a:t>
            </a:r>
            <a:r>
              <a:rPr lang="zh-CN" altLang="en-US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来</a:t>
            </a:r>
            <a:r>
              <a:rPr lang="zh-CN" altLang="en-US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演示</a:t>
            </a:r>
            <a:r>
              <a:rPr lang="en-US" altLang="zh-CN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EL</a:t>
            </a:r>
            <a:r>
              <a:rPr lang="zh-CN" altLang="en-US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表达式的使用，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请参见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教材</a:t>
            </a:r>
            <a:r>
              <a:rPr lang="en-US" altLang="zh-CN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7.2.1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小节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zh-CN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7.2.1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初始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EL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7510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2674938" y="3190007"/>
            <a:ext cx="2667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</a:rPr>
              <a:t>init(FilterConfig filterConfig)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754313" y="4718770"/>
            <a:ext cx="18859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</a:rPr>
              <a:t>destroy()</a:t>
            </a:r>
            <a:endParaRPr lang="zh-CN" altLang="en-US" sz="1600">
              <a:solidFill>
                <a:schemeClr val="bg1"/>
              </a:solidFill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68463" y="1916832"/>
            <a:ext cx="5954712" cy="1249363"/>
            <a:chOff x="1910363" y="2286295"/>
            <a:chExt cx="6096000" cy="1127125"/>
          </a:xfrm>
        </p:grpSpPr>
        <p:sp>
          <p:nvSpPr>
            <p:cNvPr id="7" name="任意多边形 6"/>
            <p:cNvSpPr/>
            <p:nvPr/>
          </p:nvSpPr>
          <p:spPr>
            <a:xfrm>
              <a:off x="1910363" y="2286295"/>
              <a:ext cx="788205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064A2"/>
            </a:solidFill>
            <a:ln w="3175">
              <a:solidFill>
                <a:srgbClr val="8064A2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1</a:t>
              </a:r>
              <a:endParaRPr lang="zh-CN" altLang="en-US" sz="3200" dirty="0"/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2698568" y="2286295"/>
              <a:ext cx="5307795" cy="73327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 dirty="0"/>
            </a:p>
            <a:p>
              <a:pPr marL="0" lvl="1" defTabSz="84455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1900" dirty="0"/>
                <a:t>         </a:t>
              </a:r>
            </a:p>
          </p:txBody>
        </p:sp>
        <p:sp>
          <p:nvSpPr>
            <p:cNvPr id="9" name="矩形 19"/>
            <p:cNvSpPr>
              <a:spLocks noChangeArrowheads="1"/>
            </p:cNvSpPr>
            <p:nvPr/>
          </p:nvSpPr>
          <p:spPr bwMode="auto">
            <a:xfrm>
              <a:off x="2892690" y="2447433"/>
              <a:ext cx="5113673" cy="360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zh-CN" altLang="en-US" sz="2000" dirty="0">
                  <a:latin typeface="+mn-ea"/>
                </a:rPr>
                <a:t>不能以数字开头</a:t>
              </a:r>
              <a:endParaRPr lang="zh-CN" altLang="zh-CN" sz="2000" dirty="0">
                <a:latin typeface="+mn-ea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668463" y="2910607"/>
            <a:ext cx="5954712" cy="1262063"/>
            <a:chOff x="1910363" y="3265414"/>
            <a:chExt cx="6096000" cy="1126563"/>
          </a:xfrm>
        </p:grpSpPr>
        <p:sp>
          <p:nvSpPr>
            <p:cNvPr id="11" name="任意多边形 10"/>
            <p:cNvSpPr/>
            <p:nvPr/>
          </p:nvSpPr>
          <p:spPr>
            <a:xfrm>
              <a:off x="1910363" y="3265414"/>
              <a:ext cx="788205" cy="112656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685DAB"/>
            </a:solidFill>
            <a:ln w="3175">
              <a:solidFill>
                <a:srgbClr val="685DAB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2</a:t>
              </a:r>
              <a:endParaRPr lang="zh-CN" altLang="en-US" sz="3200" dirty="0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2698568" y="3265414"/>
              <a:ext cx="5307795" cy="731203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  <a:p>
              <a:pPr marL="171450" lvl="1" indent="-171450" defTabSz="8445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</p:txBody>
        </p:sp>
        <p:sp>
          <p:nvSpPr>
            <p:cNvPr id="13" name="矩形 20"/>
            <p:cNvSpPr>
              <a:spLocks noChangeArrowheads="1"/>
            </p:cNvSpPr>
            <p:nvPr/>
          </p:nvSpPr>
          <p:spPr bwMode="auto">
            <a:xfrm>
              <a:off x="2892689" y="3409277"/>
              <a:ext cx="5113673" cy="357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不能是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中的保留字，如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or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gt</a:t>
              </a:r>
              <a:endPara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1668463" y="3910732"/>
            <a:ext cx="6246812" cy="1295400"/>
            <a:chOff x="1910363" y="4185270"/>
            <a:chExt cx="6395030" cy="1127269"/>
          </a:xfrm>
        </p:grpSpPr>
        <p:sp>
          <p:nvSpPr>
            <p:cNvPr id="15" name="任意多边形 14"/>
            <p:cNvSpPr/>
            <p:nvPr/>
          </p:nvSpPr>
          <p:spPr>
            <a:xfrm>
              <a:off x="1910363" y="4185270"/>
              <a:ext cx="788205" cy="1127269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5767B4"/>
            </a:solidFill>
            <a:ln w="3175">
              <a:solidFill>
                <a:srgbClr val="5767B4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3</a:t>
              </a:r>
              <a:endParaRPr lang="zh-CN" altLang="en-US" sz="3200" dirty="0"/>
            </a:p>
          </p:txBody>
        </p:sp>
        <p:sp>
          <p:nvSpPr>
            <p:cNvPr id="16" name="同侧圆角矩形 15"/>
            <p:cNvSpPr/>
            <p:nvPr/>
          </p:nvSpPr>
          <p:spPr>
            <a:xfrm rot="5400000">
              <a:off x="4985688" y="1956171"/>
              <a:ext cx="733554" cy="5307794"/>
            </a:xfrm>
            <a:prstGeom prst="round2SameRect">
              <a:avLst/>
            </a:pr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矩形 21"/>
            <p:cNvSpPr>
              <a:spLocks noChangeArrowheads="1"/>
            </p:cNvSpPr>
            <p:nvPr/>
          </p:nvSpPr>
          <p:spPr bwMode="auto">
            <a:xfrm>
              <a:off x="2892689" y="4389335"/>
              <a:ext cx="5412704" cy="348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 eaLnBrk="1" hangingPunct="1">
                <a:buFont typeface="Wingdings" pitchFamily="2" charset="2"/>
                <a:buChar char="Ø"/>
              </a:pP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不能是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</a:t>
              </a: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隐式对象，如</a:t>
              </a:r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pageContext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1662113" y="4923557"/>
            <a:ext cx="5954712" cy="1287463"/>
            <a:chOff x="1910363" y="4243265"/>
            <a:chExt cx="6096000" cy="1676489"/>
          </a:xfrm>
        </p:grpSpPr>
        <p:sp>
          <p:nvSpPr>
            <p:cNvPr id="19" name="任意多边形 18"/>
            <p:cNvSpPr/>
            <p:nvPr/>
          </p:nvSpPr>
          <p:spPr>
            <a:xfrm>
              <a:off x="1910363" y="4243265"/>
              <a:ext cx="788205" cy="1676489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5185BD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4</a:t>
              </a:r>
              <a:endParaRPr lang="zh-CN" altLang="en-US" sz="3200" dirty="0"/>
            </a:p>
          </p:txBody>
        </p:sp>
        <p:sp>
          <p:nvSpPr>
            <p:cNvPr id="20" name="同侧圆角矩形 19"/>
            <p:cNvSpPr/>
            <p:nvPr/>
          </p:nvSpPr>
          <p:spPr>
            <a:xfrm rot="5400000">
              <a:off x="4804661" y="2137172"/>
              <a:ext cx="1095609" cy="5307795"/>
            </a:xfrm>
            <a:prstGeom prst="round2SameRect">
              <a:avLst/>
            </a:pr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矩形 21"/>
            <p:cNvSpPr>
              <a:spLocks noChangeArrowheads="1"/>
            </p:cNvSpPr>
            <p:nvPr/>
          </p:nvSpPr>
          <p:spPr bwMode="auto">
            <a:xfrm>
              <a:off x="2893025" y="4270416"/>
              <a:ext cx="5113338" cy="1122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itchFamily="2" charset="2"/>
                <a:buChar char="Ø"/>
              </a:pPr>
              <a:r>
                <a:rPr lang="zh-CN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不能包含单引号（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'</a:t>
              </a:r>
              <a:r>
                <a:rPr lang="zh-CN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）、双引号（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"</a:t>
              </a:r>
              <a:r>
                <a:rPr lang="zh-CN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）、减号（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zh-CN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）和正斜线等特殊字符。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-365705" y="2217837"/>
            <a:ext cx="1625337" cy="3018458"/>
            <a:chOff x="-365705" y="2348880"/>
            <a:chExt cx="1625337" cy="3018458"/>
          </a:xfrm>
        </p:grpSpPr>
        <p:sp>
          <p:nvSpPr>
            <p:cNvPr id="5" name="剪去对角的矩形 4"/>
            <p:cNvSpPr/>
            <p:nvPr/>
          </p:nvSpPr>
          <p:spPr bwMode="auto">
            <a:xfrm>
              <a:off x="467544" y="2868587"/>
              <a:ext cx="661988" cy="2360613"/>
            </a:xfrm>
            <a:prstGeom prst="snip2DiagRect">
              <a:avLst/>
            </a:prstGeom>
            <a:solidFill>
              <a:srgbClr val="006BA9"/>
            </a:solidFill>
            <a:ln w="28575" cap="flat" cmpd="sng" algn="ctr">
              <a:solidFill>
                <a:srgbClr val="006BA9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2" name="矩形 1"/>
            <p:cNvSpPr>
              <a:spLocks noChangeArrowheads="1"/>
            </p:cNvSpPr>
            <p:nvPr/>
          </p:nvSpPr>
          <p:spPr bwMode="auto">
            <a:xfrm>
              <a:off x="562015" y="2348880"/>
              <a:ext cx="553998" cy="30184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square">
              <a:spAutoFit/>
            </a:bodyPr>
            <a:lstStyle/>
            <a:p>
              <a:pPr lvl="2" eaLnBrk="1" hangingPunct="1"/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标识符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的规范</a:t>
              </a:r>
              <a:endPara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1"/>
            <p:cNvSpPr>
              <a:spLocks noChangeArrowheads="1"/>
            </p:cNvSpPr>
            <p:nvPr/>
          </p:nvSpPr>
          <p:spPr bwMode="auto">
            <a:xfrm>
              <a:off x="-365705" y="2895327"/>
              <a:ext cx="16253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>
              <a:spAutoFit/>
            </a:bodyPr>
            <a:lstStyle/>
            <a:p>
              <a:pPr lvl="2" eaLnBrk="1" hangingPunct="1"/>
              <a:r>
                <a:rPr lang="en-US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EL</a:t>
              </a:r>
              <a:endPara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5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7.2.2 EL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中的标识符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4490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25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508000" y="2097088"/>
            <a:ext cx="8137525" cy="1484312"/>
          </a:xfrm>
          <a:prstGeom prst="rect">
            <a:avLst/>
          </a:prstGeom>
          <a:ln w="19050">
            <a:solidFill>
              <a:srgbClr val="006BA9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61975" y="2290763"/>
            <a:ext cx="8040688" cy="1214437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4" name="任意多边形 3"/>
          <p:cNvSpPr/>
          <p:nvPr/>
        </p:nvSpPr>
        <p:spPr bwMode="auto">
          <a:xfrm>
            <a:off x="5757689" y="1717675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868144" y="1774825"/>
            <a:ext cx="1979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  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合法的</a:t>
            </a:r>
            <a:r>
              <a:rPr lang="en-US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EL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标识符</a:t>
            </a:r>
            <a:endParaRPr lang="zh-CN" altLang="zh-CN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109663" y="2262188"/>
            <a:ext cx="4572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username123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user_name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47688" y="4284663"/>
            <a:ext cx="8137525" cy="1484312"/>
          </a:xfrm>
          <a:prstGeom prst="rect">
            <a:avLst/>
          </a:prstGeom>
          <a:ln w="19050">
            <a:solidFill>
              <a:srgbClr val="006BA9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01663" y="4440238"/>
            <a:ext cx="8040687" cy="1214437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9" name="任意多边形 8"/>
          <p:cNvSpPr/>
          <p:nvPr/>
        </p:nvSpPr>
        <p:spPr bwMode="auto">
          <a:xfrm>
            <a:off x="5805661" y="4049713"/>
            <a:ext cx="2198688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796136" y="4106863"/>
            <a:ext cx="2082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不合法的</a:t>
            </a:r>
            <a:r>
              <a:rPr lang="en-US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EL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标识符</a:t>
            </a:r>
            <a:endParaRPr lang="zh-CN" altLang="zh-CN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149350" y="4449763"/>
            <a:ext cx="4572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123username</a:t>
            </a:r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user"name</a:t>
            </a:r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pageContext</a:t>
            </a:r>
            <a:endParaRPr lang="zh-CN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7.2.2 EL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中的标识符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994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8" grpId="0" animBg="1"/>
      <p:bldP spid="9" grpId="0" animBg="1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1988840"/>
            <a:ext cx="8102600" cy="12137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保留字就是编程语言里事先定义好并赋予了特殊含义的单词，和其他语言一样，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表达式中也定义了许多保留字，如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等，接下来就列举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中所有的保留字，具体如下：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dirty="0"/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dirty="0" smtClean="0"/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2925" y="1988840"/>
            <a:ext cx="8102600" cy="2592288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6" name="矩形 16"/>
          <p:cNvSpPr>
            <a:spLocks noChangeArrowheads="1"/>
          </p:cNvSpPr>
          <p:nvPr/>
        </p:nvSpPr>
        <p:spPr bwMode="auto">
          <a:xfrm>
            <a:off x="563563" y="3356992"/>
            <a:ext cx="8042275" cy="1008112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     and</a:t>
            </a:r>
            <a:r>
              <a:rPr lang="en-US" altLang="zh-CN" dirty="0"/>
              <a:t>	     </a:t>
            </a:r>
            <a:r>
              <a:rPr lang="en-US" altLang="zh-CN" dirty="0" err="1"/>
              <a:t>eq</a:t>
            </a:r>
            <a:r>
              <a:rPr lang="en-US" altLang="zh-CN" dirty="0"/>
              <a:t>	       </a:t>
            </a:r>
            <a:r>
              <a:rPr lang="en-US" altLang="zh-CN" dirty="0" err="1"/>
              <a:t>gt</a:t>
            </a:r>
            <a:r>
              <a:rPr lang="en-US" altLang="zh-CN" dirty="0"/>
              <a:t>	       true	       </a:t>
            </a:r>
            <a:r>
              <a:rPr lang="en-US" altLang="zh-CN" dirty="0" err="1"/>
              <a:t>instanceof</a:t>
            </a:r>
            <a:r>
              <a:rPr lang="en-US" altLang="zh-CN" dirty="0"/>
              <a:t>	</a:t>
            </a:r>
            <a:endParaRPr lang="zh-CN" altLang="zh-CN" dirty="0"/>
          </a:p>
          <a:p>
            <a:r>
              <a:rPr lang="en-US" altLang="zh-CN" dirty="0" smtClean="0"/>
              <a:t>     or</a:t>
            </a:r>
            <a:r>
              <a:rPr lang="en-US" altLang="zh-CN" dirty="0"/>
              <a:t>	     ne	       le	       false	       empty	</a:t>
            </a:r>
            <a:endParaRPr lang="zh-CN" altLang="zh-CN" dirty="0"/>
          </a:p>
          <a:p>
            <a:r>
              <a:rPr lang="en-US" altLang="zh-CN" dirty="0" smtClean="0"/>
              <a:t>     not</a:t>
            </a:r>
            <a:r>
              <a:rPr lang="en-US" altLang="zh-CN" dirty="0"/>
              <a:t>	     </a:t>
            </a:r>
            <a:r>
              <a:rPr lang="en-US" altLang="zh-CN" dirty="0" err="1"/>
              <a:t>lt</a:t>
            </a:r>
            <a:r>
              <a:rPr lang="en-US" altLang="zh-CN" dirty="0"/>
              <a:t>	       </a:t>
            </a:r>
            <a:r>
              <a:rPr lang="en-US" altLang="zh-CN" dirty="0" err="1"/>
              <a:t>ge</a:t>
            </a:r>
            <a:r>
              <a:rPr lang="en-US" altLang="zh-CN" dirty="0"/>
              <a:t>	       null	       div	       mod</a:t>
            </a:r>
            <a:endParaRPr lang="zh-CN" altLang="zh-CN" dirty="0"/>
          </a:p>
          <a:p>
            <a:pPr marL="742950" lvl="1" indent="-285750"/>
            <a:endParaRPr lang="zh-CN" altLang="zh-CN" sz="1400" dirty="0"/>
          </a:p>
        </p:txBody>
      </p:sp>
      <p:sp>
        <p:nvSpPr>
          <p:cNvPr id="7" name="圆角矩形标注 6"/>
          <p:cNvSpPr>
            <a:spLocks noChangeArrowheads="1"/>
          </p:cNvSpPr>
          <p:nvPr/>
        </p:nvSpPr>
        <p:spPr bwMode="auto">
          <a:xfrm>
            <a:off x="2123728" y="4797152"/>
            <a:ext cx="4680349" cy="648072"/>
          </a:xfrm>
          <a:prstGeom prst="wedgeRoundRectCallout">
            <a:avLst>
              <a:gd name="adj1" fmla="val -13233"/>
              <a:gd name="adj2" fmla="val -61899"/>
              <a:gd name="adj3" fmla="val 16667"/>
            </a:avLst>
          </a:prstGeom>
          <a:solidFill>
            <a:srgbClr val="0070C0"/>
          </a:solidFill>
          <a:ln w="1905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zh-CN" sz="1600" b="1" dirty="0">
                <a:solidFill>
                  <a:schemeClr val="bg1"/>
                </a:solidFill>
              </a:rPr>
              <a:t>需要注意的是，</a:t>
            </a:r>
            <a:r>
              <a:rPr lang="en-US" altLang="zh-CN" sz="1600" b="1" dirty="0">
                <a:solidFill>
                  <a:schemeClr val="bg1"/>
                </a:solidFill>
              </a:rPr>
              <a:t>EL</a:t>
            </a:r>
            <a:r>
              <a:rPr lang="zh-CN" altLang="zh-CN" sz="1600" b="1" dirty="0">
                <a:solidFill>
                  <a:schemeClr val="bg1"/>
                </a:solidFill>
              </a:rPr>
              <a:t>表达式中的这些保留字不能被作为标识符，以免在程序编译时发生错误。</a:t>
            </a:r>
          </a:p>
        </p:txBody>
      </p:sp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7.2.3 EL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中的保留字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9761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 bwMode="auto">
          <a:xfrm>
            <a:off x="542925" y="2071257"/>
            <a:ext cx="8102600" cy="8536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表达式中的变量就是一个基本的存储单元，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表达式可以将变量映射到一个对象上，具体示例如下所示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dirty="0" smtClean="0"/>
          </a:p>
          <a:p>
            <a:pPr marL="0" indent="0">
              <a:lnSpc>
                <a:spcPct val="150000"/>
              </a:lnSpc>
              <a:buNone/>
            </a:pPr>
            <a:endParaRPr lang="zh-CN" altLang="zh-CN" sz="1600" dirty="0"/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</p:txBody>
      </p:sp>
      <p:sp>
        <p:nvSpPr>
          <p:cNvPr id="3" name="矩形 24"/>
          <p:cNvSpPr>
            <a:spLocks noChangeArrowheads="1"/>
          </p:cNvSpPr>
          <p:nvPr/>
        </p:nvSpPr>
        <p:spPr bwMode="auto">
          <a:xfrm>
            <a:off x="542925" y="1988840"/>
            <a:ext cx="8102600" cy="1656184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" name="矩形 16"/>
          <p:cNvSpPr>
            <a:spLocks noChangeArrowheads="1"/>
          </p:cNvSpPr>
          <p:nvPr/>
        </p:nvSpPr>
        <p:spPr bwMode="auto">
          <a:xfrm>
            <a:off x="563563" y="2996952"/>
            <a:ext cx="8042275" cy="43371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     ${</a:t>
            </a:r>
            <a:r>
              <a:rPr lang="en-US" altLang="zh-CN" dirty="0"/>
              <a:t>product}</a:t>
            </a:r>
            <a:endParaRPr lang="zh-CN" altLang="zh-CN" dirty="0"/>
          </a:p>
          <a:p>
            <a:pPr marL="742950" lvl="1" indent="-285750"/>
            <a:endParaRPr lang="zh-CN" altLang="zh-CN" sz="1400" dirty="0"/>
          </a:p>
        </p:txBody>
      </p:sp>
      <p:sp>
        <p:nvSpPr>
          <p:cNvPr id="5" name="圆角矩形标注 4"/>
          <p:cNvSpPr>
            <a:spLocks noChangeArrowheads="1"/>
          </p:cNvSpPr>
          <p:nvPr/>
        </p:nvSpPr>
        <p:spPr bwMode="auto">
          <a:xfrm>
            <a:off x="1979712" y="3861048"/>
            <a:ext cx="4968552" cy="936104"/>
          </a:xfrm>
          <a:prstGeom prst="wedgeRoundRectCallout">
            <a:avLst>
              <a:gd name="adj1" fmla="val -13233"/>
              <a:gd name="adj2" fmla="val -61899"/>
              <a:gd name="adj3" fmla="val 16667"/>
            </a:avLst>
          </a:prstGeom>
          <a:solidFill>
            <a:srgbClr val="0070C0"/>
          </a:solidFill>
          <a:ln w="1905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就是一个变量。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表达式中的变量不用事先定义就可以直接使用，例如，表达式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${product}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就可以访问变量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的值。</a:t>
            </a:r>
          </a:p>
        </p:txBody>
      </p:sp>
      <p:sp>
        <p:nvSpPr>
          <p:cNvPr id="6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7.2.4 EL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中的变量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928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466924" y="1576164"/>
            <a:ext cx="8137524" cy="1038225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4" name="任意多边形 3"/>
          <p:cNvSpPr/>
          <p:nvPr/>
        </p:nvSpPr>
        <p:spPr bwMode="auto">
          <a:xfrm>
            <a:off x="5684315" y="1196752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636318" y="1253902"/>
            <a:ext cx="16589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zh-CN" altLang="zh-CN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布尔常量</a:t>
            </a:r>
            <a:endParaRPr lang="zh-CN" altLang="zh-CN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466923" y="3776514"/>
            <a:ext cx="8137525" cy="1236662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8" name="任意多边形 7"/>
          <p:cNvSpPr/>
          <p:nvPr/>
        </p:nvSpPr>
        <p:spPr bwMode="auto">
          <a:xfrm>
            <a:off x="5685681" y="3397101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822975" y="3454251"/>
            <a:ext cx="1557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 dirty="0">
                <a:solidFill>
                  <a:schemeClr val="bg1"/>
                </a:solidFill>
              </a:rPr>
              <a:t>       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整型</a:t>
            </a:r>
            <a:r>
              <a:rPr lang="zh-CN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常量</a:t>
            </a:r>
            <a:endParaRPr lang="zh-CN" altLang="zh-CN" dirty="0">
              <a:solidFill>
                <a:schemeClr val="bg1"/>
              </a:solidFill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466924" y="1639208"/>
            <a:ext cx="8137524" cy="8536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800" dirty="0"/>
              <a:t>布尔常量用于区分一个事物的正反两面，它的值只有两个，分别是</a:t>
            </a:r>
            <a:r>
              <a:rPr lang="en-US" altLang="zh-CN" sz="1800" dirty="0"/>
              <a:t>true</a:t>
            </a:r>
            <a:r>
              <a:rPr lang="zh-CN" altLang="zh-CN" sz="1800" dirty="0"/>
              <a:t>和</a:t>
            </a:r>
            <a:r>
              <a:rPr lang="en-US" altLang="zh-CN" sz="1800" dirty="0"/>
              <a:t>false</a:t>
            </a:r>
            <a:r>
              <a:rPr lang="zh-CN" altLang="zh-CN" sz="1800" dirty="0"/>
              <a:t>。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</p:txBody>
      </p:sp>
      <p:sp>
        <p:nvSpPr>
          <p:cNvPr id="13" name="内容占位符 2"/>
          <p:cNvSpPr txBox="1">
            <a:spLocks/>
          </p:cNvSpPr>
          <p:nvPr/>
        </p:nvSpPr>
        <p:spPr bwMode="auto">
          <a:xfrm>
            <a:off x="464963" y="3933056"/>
            <a:ext cx="8102600" cy="8536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800" dirty="0"/>
              <a:t>整型常量</a:t>
            </a:r>
            <a:r>
              <a:rPr lang="zh-CN" altLang="en-US" sz="1800" dirty="0"/>
              <a:t>的</a:t>
            </a:r>
            <a:r>
              <a:rPr lang="zh-CN" altLang="zh-CN" sz="1800" dirty="0"/>
              <a:t>取值范围是</a:t>
            </a:r>
            <a:r>
              <a:rPr lang="en-US" altLang="zh-CN" sz="1800" dirty="0"/>
              <a:t>Java</a:t>
            </a:r>
            <a:r>
              <a:rPr lang="zh-CN" altLang="zh-CN" sz="1800" dirty="0"/>
              <a:t>语言中定义的常量</a:t>
            </a:r>
            <a:r>
              <a:rPr lang="en-US" altLang="zh-CN" sz="1800" dirty="0" err="1"/>
              <a:t>Long.MIN_VALUE</a:t>
            </a:r>
            <a:r>
              <a:rPr lang="zh-CN" altLang="en-US" sz="1800" dirty="0"/>
              <a:t>和</a:t>
            </a:r>
            <a:r>
              <a:rPr lang="en-US" altLang="zh-CN" sz="1800" dirty="0" err="1"/>
              <a:t>Long.MAX_VALUE</a:t>
            </a:r>
            <a:r>
              <a:rPr lang="zh-CN" altLang="zh-CN" sz="1800" dirty="0"/>
              <a:t>之间，即（</a:t>
            </a:r>
            <a:r>
              <a:rPr lang="en-US" altLang="zh-CN" sz="1800" dirty="0"/>
              <a:t>-2</a:t>
            </a:r>
            <a:r>
              <a:rPr lang="zh-CN" altLang="zh-CN" sz="1800" dirty="0"/>
              <a:t>）</a:t>
            </a:r>
            <a:r>
              <a:rPr lang="en-US" altLang="zh-CN" sz="1800" dirty="0"/>
              <a:t>63~263-1</a:t>
            </a:r>
            <a:r>
              <a:rPr lang="zh-CN" altLang="zh-CN" sz="1800" dirty="0"/>
              <a:t>之间的整数。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</p:txBody>
      </p:sp>
      <p:sp>
        <p:nvSpPr>
          <p:cNvPr id="26" name="矩形 25"/>
          <p:cNvSpPr/>
          <p:nvPr/>
        </p:nvSpPr>
        <p:spPr bwMode="auto">
          <a:xfrm>
            <a:off x="450850" y="1598365"/>
            <a:ext cx="8137525" cy="1254571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7" name="任意多边形 26"/>
          <p:cNvSpPr/>
          <p:nvPr/>
        </p:nvSpPr>
        <p:spPr bwMode="auto">
          <a:xfrm>
            <a:off x="5685681" y="1196752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28" name="矩形 27"/>
          <p:cNvSpPr>
            <a:spLocks noChangeArrowheads="1"/>
          </p:cNvSpPr>
          <p:nvPr/>
        </p:nvSpPr>
        <p:spPr bwMode="auto">
          <a:xfrm>
            <a:off x="5515818" y="1255490"/>
            <a:ext cx="18907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浮点数</a:t>
            </a:r>
            <a:r>
              <a:rPr lang="zh-CN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常量</a:t>
            </a:r>
            <a:endParaRPr lang="zh-CN" altLang="zh-CN" dirty="0">
              <a:solidFill>
                <a:schemeClr val="bg1"/>
              </a:solidFill>
            </a:endParaRPr>
          </a:p>
        </p:txBody>
      </p:sp>
      <p:sp>
        <p:nvSpPr>
          <p:cNvPr id="29" name="内容占位符 2"/>
          <p:cNvSpPr txBox="1">
            <a:spLocks/>
          </p:cNvSpPr>
          <p:nvPr/>
        </p:nvSpPr>
        <p:spPr bwMode="auto">
          <a:xfrm>
            <a:off x="501848" y="1711216"/>
            <a:ext cx="8102600" cy="12137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浮点数常量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的取值范围是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语言中定义</a:t>
            </a:r>
            <a:r>
              <a:rPr lang="zh-CN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常</a:t>
            </a:r>
            <a:r>
              <a:rPr lang="zh-CN" alt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量</a:t>
            </a:r>
            <a:r>
              <a:rPr lang="en-US" altLang="zh-CN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Double.MIN_VALUE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Double.MAX_VALUE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之间，即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4.9E-324~1.8E308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之间的整数。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</p:txBody>
      </p:sp>
      <p:sp>
        <p:nvSpPr>
          <p:cNvPr id="30" name="矩形 29"/>
          <p:cNvSpPr/>
          <p:nvPr/>
        </p:nvSpPr>
        <p:spPr bwMode="auto">
          <a:xfrm>
            <a:off x="466923" y="3443511"/>
            <a:ext cx="8137525" cy="2361753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1" name="任意多边形 30"/>
          <p:cNvSpPr/>
          <p:nvPr/>
        </p:nvSpPr>
        <p:spPr bwMode="auto">
          <a:xfrm>
            <a:off x="5685681" y="3064098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32" name="矩形 31"/>
          <p:cNvSpPr>
            <a:spLocks noChangeArrowheads="1"/>
          </p:cNvSpPr>
          <p:nvPr/>
        </p:nvSpPr>
        <p:spPr bwMode="auto">
          <a:xfrm>
            <a:off x="5676156" y="3121248"/>
            <a:ext cx="1787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 dirty="0">
                <a:solidFill>
                  <a:schemeClr val="bg1"/>
                </a:solidFill>
              </a:rPr>
              <a:t>       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字符串</a:t>
            </a:r>
            <a:r>
              <a:rPr lang="zh-CN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常量</a:t>
            </a:r>
            <a:endParaRPr lang="zh-CN" altLang="zh-CN" dirty="0">
              <a:solidFill>
                <a:schemeClr val="bg1"/>
              </a:solidFill>
            </a:endParaRPr>
          </a:p>
        </p:txBody>
      </p:sp>
      <p:sp>
        <p:nvSpPr>
          <p:cNvPr id="33" name="内容占位符 2"/>
          <p:cNvSpPr txBox="1">
            <a:spLocks/>
          </p:cNvSpPr>
          <p:nvPr/>
        </p:nvSpPr>
        <p:spPr bwMode="auto">
          <a:xfrm>
            <a:off x="484013" y="3583424"/>
            <a:ext cx="8102600" cy="20778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字符串常量是用单引号或双引号引起来的一连串字符。由于字符串常量需要用单引号或双引号引起来，所以字符串本身包含的单引号或双引号需要用反斜杠（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）进行转义，即用“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\‘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”表示字面意义上的单引号，用“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\”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”表示字面意义上的双引号。如果字符串本身包含反斜杠（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），也要进行转义，即用“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”表示字面意义上的一个反斜杠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</p:txBody>
      </p:sp>
      <p:sp>
        <p:nvSpPr>
          <p:cNvPr id="34" name="矩形 33"/>
          <p:cNvSpPr/>
          <p:nvPr/>
        </p:nvSpPr>
        <p:spPr bwMode="auto">
          <a:xfrm>
            <a:off x="467544" y="1598365"/>
            <a:ext cx="8137525" cy="894531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5" name="任意多边形 34"/>
          <p:cNvSpPr/>
          <p:nvPr/>
        </p:nvSpPr>
        <p:spPr bwMode="auto">
          <a:xfrm>
            <a:off x="5685681" y="1196752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5658493" y="1255490"/>
            <a:ext cx="1649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Null</a:t>
            </a:r>
            <a:r>
              <a:rPr lang="zh-CN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常量</a:t>
            </a:r>
            <a:endParaRPr lang="zh-CN" altLang="zh-CN" dirty="0">
              <a:solidFill>
                <a:schemeClr val="bg1"/>
              </a:solidFill>
            </a:endParaRPr>
          </a:p>
        </p:txBody>
      </p:sp>
      <p:sp>
        <p:nvSpPr>
          <p:cNvPr id="37" name="内容占位符 2"/>
          <p:cNvSpPr txBox="1">
            <a:spLocks/>
          </p:cNvSpPr>
          <p:nvPr/>
        </p:nvSpPr>
        <p:spPr bwMode="auto">
          <a:xfrm>
            <a:off x="518542" y="1711216"/>
            <a:ext cx="8102600" cy="12137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常量用于表示变量引用的对象为空，它只有一个值，用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表示。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7.2.5 EL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中的常量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150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6" grpId="0"/>
      <p:bldP spid="6" grpId="1"/>
      <p:bldP spid="6" grpId="2"/>
      <p:bldP spid="8" grpId="0" animBg="1"/>
      <p:bldP spid="8" grpId="1" animBg="1"/>
      <p:bldP spid="8" grpId="2" animBg="1"/>
      <p:bldP spid="10" grpId="0"/>
      <p:bldP spid="10" grpId="1"/>
      <p:bldP spid="10" grpId="2"/>
      <p:bldP spid="12" grpId="0"/>
      <p:bldP spid="12" grpId="1"/>
      <p:bldP spid="12" grpId="2"/>
      <p:bldP spid="13" grpId="0"/>
      <p:bldP spid="13" grpId="1"/>
      <p:bldP spid="13" grpId="2"/>
      <p:bldP spid="27" grpId="0" animBg="1"/>
      <p:bldP spid="27" grpId="1" animBg="1"/>
      <p:bldP spid="28" grpId="0"/>
      <p:bldP spid="28" grpId="1"/>
      <p:bldP spid="29" grpId="0"/>
      <p:bldP spid="29" grpId="1"/>
      <p:bldP spid="31" grpId="0" animBg="1"/>
      <p:bldP spid="31" grpId="1" animBg="1"/>
      <p:bldP spid="32" grpId="0"/>
      <p:bldP spid="32" grpId="1"/>
      <p:bldP spid="33" grpId="0"/>
      <p:bldP spid="33" grpId="1"/>
      <p:bldP spid="35" grpId="0" animBg="1"/>
      <p:bldP spid="36" grpId="0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14" name="TextBox 1"/>
          <p:cNvSpPr txBox="1">
            <a:spLocks noChangeArrowheads="1"/>
          </p:cNvSpPr>
          <p:nvPr/>
        </p:nvSpPr>
        <p:spPr bwMode="auto">
          <a:xfrm>
            <a:off x="611560" y="1700808"/>
            <a:ext cx="7920880" cy="923330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</a:t>
            </a:r>
            <a:r>
              <a:rPr lang="zh-CN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表达式支持简单的运算，例如，加（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</a:t>
            </a:r>
            <a:r>
              <a:rPr lang="zh-CN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）、减（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lang="zh-CN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）、乘（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r>
              <a:rPr lang="zh-CN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）、除（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）等。为此，在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</a:t>
            </a:r>
            <a:r>
              <a:rPr lang="zh-CN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中提供了多种运算符，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</a:t>
            </a:r>
            <a:r>
              <a:rPr lang="zh-CN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中的运算符包括以下几种：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右箭头 21"/>
          <p:cNvSpPr>
            <a:spLocks noChangeArrowheads="1"/>
          </p:cNvSpPr>
          <p:nvPr/>
        </p:nvSpPr>
        <p:spPr bwMode="auto">
          <a:xfrm rot="12803726">
            <a:off x="3081338" y="3748683"/>
            <a:ext cx="606425" cy="417513"/>
          </a:xfrm>
          <a:prstGeom prst="rightArrow">
            <a:avLst>
              <a:gd name="adj1" fmla="val 50000"/>
              <a:gd name="adj2" fmla="val 50023"/>
            </a:avLst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6" name="右箭头 22"/>
          <p:cNvSpPr>
            <a:spLocks noChangeArrowheads="1"/>
          </p:cNvSpPr>
          <p:nvPr/>
        </p:nvSpPr>
        <p:spPr bwMode="auto">
          <a:xfrm rot="1841202">
            <a:off x="4787900" y="5013921"/>
            <a:ext cx="585788" cy="355600"/>
          </a:xfrm>
          <a:prstGeom prst="rightArrow">
            <a:avLst>
              <a:gd name="adj1" fmla="val 50000"/>
              <a:gd name="adj2" fmla="val 50060"/>
            </a:avLst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7" name="右箭头 23"/>
          <p:cNvSpPr>
            <a:spLocks noChangeArrowheads="1"/>
          </p:cNvSpPr>
          <p:nvPr/>
        </p:nvSpPr>
        <p:spPr bwMode="auto">
          <a:xfrm rot="8368767">
            <a:off x="3240088" y="5104408"/>
            <a:ext cx="558800" cy="395288"/>
          </a:xfrm>
          <a:prstGeom prst="rightArrow">
            <a:avLst>
              <a:gd name="adj1" fmla="val 50000"/>
              <a:gd name="adj2" fmla="val 50080"/>
            </a:avLst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8" name="右箭头 24"/>
          <p:cNvSpPr>
            <a:spLocks noChangeArrowheads="1"/>
          </p:cNvSpPr>
          <p:nvPr/>
        </p:nvSpPr>
        <p:spPr bwMode="auto">
          <a:xfrm rot="18900000">
            <a:off x="4784725" y="3720108"/>
            <a:ext cx="522288" cy="395288"/>
          </a:xfrm>
          <a:prstGeom prst="rightArrow">
            <a:avLst>
              <a:gd name="adj1" fmla="val 50000"/>
              <a:gd name="adj2" fmla="val 50013"/>
            </a:avLst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9" name="右箭头 19"/>
          <p:cNvSpPr>
            <a:spLocks noChangeArrowheads="1"/>
          </p:cNvSpPr>
          <p:nvPr/>
        </p:nvSpPr>
        <p:spPr bwMode="auto">
          <a:xfrm rot="16200000">
            <a:off x="3990975" y="3388321"/>
            <a:ext cx="508000" cy="361950"/>
          </a:xfrm>
          <a:prstGeom prst="rightArrow">
            <a:avLst>
              <a:gd name="adj1" fmla="val 50000"/>
              <a:gd name="adj2" fmla="val 50065"/>
            </a:avLst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20" name="右箭头 20"/>
          <p:cNvSpPr>
            <a:spLocks noChangeArrowheads="1"/>
          </p:cNvSpPr>
          <p:nvPr/>
        </p:nvSpPr>
        <p:spPr bwMode="auto">
          <a:xfrm rot="5400000">
            <a:off x="4078287" y="5328246"/>
            <a:ext cx="447675" cy="361950"/>
          </a:xfrm>
          <a:prstGeom prst="rightArrow">
            <a:avLst>
              <a:gd name="adj1" fmla="val 50000"/>
              <a:gd name="adj2" fmla="val 49966"/>
            </a:avLst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21" name="右箭头 18"/>
          <p:cNvSpPr>
            <a:spLocks noChangeArrowheads="1"/>
          </p:cNvSpPr>
          <p:nvPr/>
        </p:nvSpPr>
        <p:spPr bwMode="auto">
          <a:xfrm rot="10800000">
            <a:off x="2959100" y="4361458"/>
            <a:ext cx="579438" cy="361950"/>
          </a:xfrm>
          <a:prstGeom prst="rightArrow">
            <a:avLst>
              <a:gd name="adj1" fmla="val 50000"/>
              <a:gd name="adj2" fmla="val 49976"/>
            </a:avLst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22" name="右箭头 5"/>
          <p:cNvSpPr>
            <a:spLocks noChangeArrowheads="1"/>
          </p:cNvSpPr>
          <p:nvPr/>
        </p:nvSpPr>
        <p:spPr bwMode="auto">
          <a:xfrm>
            <a:off x="4965700" y="4342408"/>
            <a:ext cx="596900" cy="361950"/>
          </a:xfrm>
          <a:prstGeom prst="rightArrow">
            <a:avLst>
              <a:gd name="adj1" fmla="val 50000"/>
              <a:gd name="adj2" fmla="val 49909"/>
            </a:avLst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grpSp>
        <p:nvGrpSpPr>
          <p:cNvPr id="23" name="组合 15"/>
          <p:cNvGrpSpPr>
            <a:grpSpLocks/>
          </p:cNvGrpSpPr>
          <p:nvPr/>
        </p:nvGrpSpPr>
        <p:grpSpPr bwMode="auto">
          <a:xfrm>
            <a:off x="3603625" y="3916958"/>
            <a:ext cx="1308100" cy="1282700"/>
            <a:chOff x="3822409" y="3155555"/>
            <a:chExt cx="1307937" cy="1283282"/>
          </a:xfrm>
        </p:grpSpPr>
        <p:sp>
          <p:nvSpPr>
            <p:cNvPr id="24" name="椭圆 14"/>
            <p:cNvSpPr>
              <a:spLocks noChangeArrowheads="1"/>
            </p:cNvSpPr>
            <p:nvPr/>
          </p:nvSpPr>
          <p:spPr bwMode="auto">
            <a:xfrm>
              <a:off x="3822409" y="3155555"/>
              <a:ext cx="1283282" cy="1283282"/>
            </a:xfrm>
            <a:prstGeom prst="ellipse">
              <a:avLst/>
            </a:prstGeom>
            <a:solidFill>
              <a:srgbClr val="006BA9"/>
            </a:solidFill>
            <a:ln w="28575" algn="ctr">
              <a:solidFill>
                <a:srgbClr val="006BA9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pitchFamily="34" charset="0"/>
                <a:buNone/>
              </a:pPr>
              <a:endParaRPr lang="zh-CN" altLang="en-US"/>
            </a:p>
          </p:txBody>
        </p:sp>
        <p:sp>
          <p:nvSpPr>
            <p:cNvPr id="25" name="矩形 4"/>
            <p:cNvSpPr>
              <a:spLocks noChangeArrowheads="1"/>
            </p:cNvSpPr>
            <p:nvPr/>
          </p:nvSpPr>
          <p:spPr bwMode="auto">
            <a:xfrm>
              <a:off x="3867889" y="3501384"/>
              <a:ext cx="1262457" cy="523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运算符</a:t>
              </a:r>
            </a:p>
          </p:txBody>
        </p:sp>
      </p:grpSp>
      <p:sp>
        <p:nvSpPr>
          <p:cNvPr id="26" name="圆角矩形 11"/>
          <p:cNvSpPr>
            <a:spLocks noChangeArrowheads="1"/>
          </p:cNvSpPr>
          <p:nvPr/>
        </p:nvSpPr>
        <p:spPr bwMode="auto">
          <a:xfrm>
            <a:off x="3282950" y="2704108"/>
            <a:ext cx="1882775" cy="5334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27" name="圆角矩形 27"/>
          <p:cNvSpPr>
            <a:spLocks noChangeArrowheads="1"/>
          </p:cNvSpPr>
          <p:nvPr/>
        </p:nvSpPr>
        <p:spPr bwMode="auto">
          <a:xfrm>
            <a:off x="5456238" y="3347046"/>
            <a:ext cx="2135187" cy="53181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28" name="圆角矩形 28"/>
          <p:cNvSpPr>
            <a:spLocks noChangeArrowheads="1"/>
          </p:cNvSpPr>
          <p:nvPr/>
        </p:nvSpPr>
        <p:spPr bwMode="auto">
          <a:xfrm>
            <a:off x="5721350" y="4155083"/>
            <a:ext cx="1685925" cy="5524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29" name="圆角矩形 31"/>
          <p:cNvSpPr>
            <a:spLocks noChangeArrowheads="1"/>
          </p:cNvSpPr>
          <p:nvPr/>
        </p:nvSpPr>
        <p:spPr bwMode="auto">
          <a:xfrm>
            <a:off x="5437188" y="5136158"/>
            <a:ext cx="2001837" cy="4762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30" name="圆角矩形 32"/>
          <p:cNvSpPr>
            <a:spLocks noChangeArrowheads="1"/>
          </p:cNvSpPr>
          <p:nvPr/>
        </p:nvSpPr>
        <p:spPr bwMode="auto">
          <a:xfrm>
            <a:off x="3467100" y="5802908"/>
            <a:ext cx="1685925" cy="6159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31" name="圆角矩形 33"/>
          <p:cNvSpPr>
            <a:spLocks noChangeArrowheads="1"/>
          </p:cNvSpPr>
          <p:nvPr/>
        </p:nvSpPr>
        <p:spPr bwMode="auto">
          <a:xfrm>
            <a:off x="1433513" y="5191721"/>
            <a:ext cx="1685925" cy="5413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32" name="圆角矩形 34"/>
          <p:cNvSpPr>
            <a:spLocks noChangeArrowheads="1"/>
          </p:cNvSpPr>
          <p:nvPr/>
        </p:nvSpPr>
        <p:spPr bwMode="auto">
          <a:xfrm>
            <a:off x="1217613" y="4224933"/>
            <a:ext cx="1685925" cy="5556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33" name="圆角矩形 35"/>
          <p:cNvSpPr>
            <a:spLocks noChangeArrowheads="1"/>
          </p:cNvSpPr>
          <p:nvPr/>
        </p:nvSpPr>
        <p:spPr bwMode="auto">
          <a:xfrm>
            <a:off x="1292225" y="3413721"/>
            <a:ext cx="1685925" cy="4762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34" name="矩形 13"/>
          <p:cNvSpPr>
            <a:spLocks noChangeArrowheads="1"/>
          </p:cNvSpPr>
          <p:nvPr/>
        </p:nvSpPr>
        <p:spPr bwMode="auto">
          <a:xfrm>
            <a:off x="1300163" y="3451821"/>
            <a:ext cx="16287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marL="342900" indent="-342900"/>
            <a:r>
              <a:rPr lang="zh-CN" altLang="zh-CN" b="1" dirty="0"/>
              <a:t>“</a:t>
            </a:r>
            <a:r>
              <a:rPr lang="en-US" altLang="zh-CN" b="1" dirty="0"/>
              <a:t>( ) </a:t>
            </a:r>
            <a:r>
              <a:rPr lang="zh-CN" altLang="zh-CN" b="1" dirty="0"/>
              <a:t>”运算符</a:t>
            </a:r>
            <a:endParaRPr lang="zh-CN" altLang="zh-CN" dirty="0"/>
          </a:p>
        </p:txBody>
      </p:sp>
      <p:sp>
        <p:nvSpPr>
          <p:cNvPr id="35" name="矩形 38"/>
          <p:cNvSpPr>
            <a:spLocks noChangeArrowheads="1"/>
          </p:cNvSpPr>
          <p:nvPr/>
        </p:nvSpPr>
        <p:spPr bwMode="auto">
          <a:xfrm>
            <a:off x="1433513" y="4310658"/>
            <a:ext cx="1346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marL="342900" indent="-342900"/>
            <a:r>
              <a:rPr lang="zh-CN" altLang="zh-CN" b="1" dirty="0"/>
              <a:t>条件运算符</a:t>
            </a:r>
            <a:endParaRPr lang="zh-CN" altLang="zh-CN" dirty="0"/>
          </a:p>
        </p:txBody>
      </p:sp>
      <p:sp>
        <p:nvSpPr>
          <p:cNvPr id="36" name="矩形 39"/>
          <p:cNvSpPr>
            <a:spLocks noChangeArrowheads="1"/>
          </p:cNvSpPr>
          <p:nvPr/>
        </p:nvSpPr>
        <p:spPr bwMode="auto">
          <a:xfrm>
            <a:off x="1531938" y="5285383"/>
            <a:ext cx="15621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marL="342900" indent="-342900"/>
            <a:r>
              <a:rPr lang="en-US" altLang="zh-CN" b="1" dirty="0"/>
              <a:t>empty</a:t>
            </a:r>
            <a:r>
              <a:rPr lang="zh-CN" altLang="zh-CN" b="1" dirty="0"/>
              <a:t>运算符</a:t>
            </a:r>
            <a:endParaRPr lang="zh-CN" altLang="zh-CN" dirty="0"/>
          </a:p>
        </p:txBody>
      </p:sp>
      <p:sp>
        <p:nvSpPr>
          <p:cNvPr id="37" name="矩形 40"/>
          <p:cNvSpPr>
            <a:spLocks noChangeArrowheads="1"/>
          </p:cNvSpPr>
          <p:nvPr/>
        </p:nvSpPr>
        <p:spPr bwMode="auto">
          <a:xfrm>
            <a:off x="3384550" y="2777133"/>
            <a:ext cx="16430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marL="342900" indent="-342900"/>
            <a:r>
              <a:rPr lang="zh-CN" altLang="zh-CN" b="1" dirty="0"/>
              <a:t>点运算符（</a:t>
            </a:r>
            <a:r>
              <a:rPr lang="en-US" altLang="zh-CN" b="1" dirty="0"/>
              <a:t>.</a:t>
            </a:r>
            <a:r>
              <a:rPr lang="zh-CN" altLang="zh-CN" b="1" dirty="0"/>
              <a:t>）</a:t>
            </a:r>
            <a:endParaRPr lang="zh-CN" altLang="zh-CN" dirty="0"/>
          </a:p>
        </p:txBody>
      </p:sp>
      <p:sp>
        <p:nvSpPr>
          <p:cNvPr id="38" name="矩形 41"/>
          <p:cNvSpPr>
            <a:spLocks noChangeArrowheads="1"/>
          </p:cNvSpPr>
          <p:nvPr/>
        </p:nvSpPr>
        <p:spPr bwMode="auto">
          <a:xfrm>
            <a:off x="3617913" y="5931496"/>
            <a:ext cx="13477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marL="342900" indent="-342900"/>
            <a:r>
              <a:rPr lang="zh-CN" altLang="zh-CN" b="1"/>
              <a:t>逻辑运算符</a:t>
            </a:r>
            <a:endParaRPr lang="zh-CN" altLang="zh-CN"/>
          </a:p>
        </p:txBody>
      </p:sp>
      <p:sp>
        <p:nvSpPr>
          <p:cNvPr id="39" name="矩形 42"/>
          <p:cNvSpPr>
            <a:spLocks noChangeArrowheads="1"/>
          </p:cNvSpPr>
          <p:nvPr/>
        </p:nvSpPr>
        <p:spPr bwMode="auto">
          <a:xfrm>
            <a:off x="5541963" y="3439121"/>
            <a:ext cx="21986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marL="342900" indent="-342900"/>
            <a:r>
              <a:rPr lang="zh-CN" altLang="zh-CN" b="1" dirty="0"/>
              <a:t>方括号运算符（</a:t>
            </a:r>
            <a:r>
              <a:rPr lang="en-US" altLang="zh-CN" b="1" dirty="0"/>
              <a:t>[]</a:t>
            </a:r>
            <a:r>
              <a:rPr lang="zh-CN" altLang="zh-CN" b="1" dirty="0"/>
              <a:t>）</a:t>
            </a:r>
            <a:endParaRPr lang="zh-CN" altLang="zh-CN" dirty="0"/>
          </a:p>
        </p:txBody>
      </p:sp>
      <p:sp>
        <p:nvSpPr>
          <p:cNvPr id="40" name="矩形 43"/>
          <p:cNvSpPr>
            <a:spLocks noChangeArrowheads="1"/>
          </p:cNvSpPr>
          <p:nvPr/>
        </p:nvSpPr>
        <p:spPr bwMode="auto">
          <a:xfrm>
            <a:off x="5945188" y="4237633"/>
            <a:ext cx="1346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marL="342900" indent="-342900"/>
            <a:r>
              <a:rPr lang="zh-CN" altLang="zh-CN" b="1" dirty="0"/>
              <a:t>算术运算符</a:t>
            </a:r>
            <a:endParaRPr lang="zh-CN" altLang="zh-CN" dirty="0"/>
          </a:p>
        </p:txBody>
      </p:sp>
      <p:sp>
        <p:nvSpPr>
          <p:cNvPr id="41" name="矩形 44"/>
          <p:cNvSpPr>
            <a:spLocks noChangeArrowheads="1"/>
          </p:cNvSpPr>
          <p:nvPr/>
        </p:nvSpPr>
        <p:spPr bwMode="auto">
          <a:xfrm>
            <a:off x="5705475" y="5186958"/>
            <a:ext cx="1346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marL="342900" indent="-342900"/>
            <a:r>
              <a:rPr lang="zh-CN" altLang="zh-CN" b="1" dirty="0"/>
              <a:t>比较运算符</a:t>
            </a:r>
            <a:endParaRPr lang="zh-CN" altLang="zh-CN" dirty="0"/>
          </a:p>
        </p:txBody>
      </p:sp>
      <p:sp>
        <p:nvSpPr>
          <p:cNvPr id="42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7.2.6 EL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中的运算符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69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000"/>
                            </p:stCondLst>
                            <p:childTnLst>
                              <p:par>
                                <p:cTn id="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500"/>
                            </p:stCondLst>
                            <p:childTnLst>
                              <p:par>
                                <p:cTn id="8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000"/>
                            </p:stCondLst>
                            <p:childTnLst>
                              <p:par>
                                <p:cTn id="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500"/>
                            </p:stCondLst>
                            <p:childTnLst>
                              <p:par>
                                <p:cTn id="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8000"/>
                            </p:stCondLst>
                            <p:childTnLst>
                              <p:par>
                                <p:cTn id="9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2000275"/>
            <a:ext cx="8102600" cy="11829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表达式中的点运算符，用于访问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页面中某些对象的属性，如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JavaBean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对象、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对象、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对象等，其语法格式如下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 smtClean="0"/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2925" y="1917859"/>
            <a:ext cx="8102600" cy="1583149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5868144" y="1628800"/>
            <a:ext cx="194421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点运算符（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16"/>
          <p:cNvSpPr>
            <a:spLocks noChangeArrowheads="1"/>
          </p:cNvSpPr>
          <p:nvPr/>
        </p:nvSpPr>
        <p:spPr bwMode="auto">
          <a:xfrm>
            <a:off x="563563" y="2924944"/>
            <a:ext cx="8042275" cy="43204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     ${</a:t>
            </a:r>
            <a:r>
              <a:rPr lang="en-US" altLang="zh-CN" dirty="0"/>
              <a:t>customer.name}</a:t>
            </a:r>
          </a:p>
          <a:p>
            <a:pPr marL="742950" lvl="1" indent="-285750"/>
            <a:endParaRPr lang="zh-CN" altLang="zh-CN" sz="1400" dirty="0"/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573856" y="3944491"/>
            <a:ext cx="8102600" cy="16447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表达式中的方括号运算符与点运算符的功能相同，都用于访问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页面中某些对象的属性，当获取的属性名中包含一些特殊符号，如“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”或“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”等并非字母或数字的符号，就只能使用方括号运算符来访问该属性，其语法格式如下：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dirty="0" smtClean="0"/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</p:txBody>
      </p:sp>
      <p:sp>
        <p:nvSpPr>
          <p:cNvPr id="8" name="矩形 24"/>
          <p:cNvSpPr>
            <a:spLocks noChangeArrowheads="1"/>
          </p:cNvSpPr>
          <p:nvPr/>
        </p:nvSpPr>
        <p:spPr bwMode="auto">
          <a:xfrm>
            <a:off x="573856" y="3862075"/>
            <a:ext cx="8102600" cy="2375237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" name="任意多边形 8"/>
          <p:cNvSpPr/>
          <p:nvPr/>
        </p:nvSpPr>
        <p:spPr bwMode="auto">
          <a:xfrm>
            <a:off x="5580112" y="3573016"/>
            <a:ext cx="2335187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方括号运算符（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[]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16"/>
          <p:cNvSpPr>
            <a:spLocks noChangeArrowheads="1"/>
          </p:cNvSpPr>
          <p:nvPr/>
        </p:nvSpPr>
        <p:spPr bwMode="auto">
          <a:xfrm>
            <a:off x="594494" y="5661248"/>
            <a:ext cx="8042275" cy="43204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     ${</a:t>
            </a:r>
            <a:r>
              <a:rPr lang="en-US" altLang="zh-CN" dirty="0"/>
              <a:t>user["My-Name"]}</a:t>
            </a:r>
          </a:p>
          <a:p>
            <a:pPr marL="742950" lvl="1" indent="-285750"/>
            <a:endParaRPr lang="zh-CN" altLang="zh-CN" sz="1400" dirty="0"/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7.2.6 EL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中的运算符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152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 bwMode="auto">
          <a:xfrm>
            <a:off x="542925" y="2000275"/>
            <a:ext cx="8102600" cy="11829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表达式中的算术运算符用于对整数和浮点数的值进行算术运算。使用这些算术运算符可以非常方便地在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页面进行算术运算，并且可以简化页面的代码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量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如 “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、*、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”。</a:t>
            </a:r>
            <a:endParaRPr lang="en-US" altLang="zh-C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 smtClean="0"/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</p:txBody>
      </p:sp>
      <p:sp>
        <p:nvSpPr>
          <p:cNvPr id="3" name="矩形 24"/>
          <p:cNvSpPr>
            <a:spLocks noChangeArrowheads="1"/>
          </p:cNvSpPr>
          <p:nvPr/>
        </p:nvSpPr>
        <p:spPr bwMode="auto">
          <a:xfrm>
            <a:off x="542925" y="1917859"/>
            <a:ext cx="8102600" cy="1583149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" name="任意多边形 3"/>
          <p:cNvSpPr/>
          <p:nvPr/>
        </p:nvSpPr>
        <p:spPr bwMode="auto">
          <a:xfrm>
            <a:off x="5868144" y="1628800"/>
            <a:ext cx="194421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算术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内容占位符 2"/>
          <p:cNvSpPr txBox="1">
            <a:spLocks/>
          </p:cNvSpPr>
          <p:nvPr/>
        </p:nvSpPr>
        <p:spPr bwMode="auto">
          <a:xfrm>
            <a:off x="542925" y="4088507"/>
            <a:ext cx="7989515" cy="11829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表达式中的比较运算符用于比较两个操作数的大小，操作数可以是各种常量、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变量或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表达式，所有的运算符执行的结果都是布尔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类型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，如“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、！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&lt;=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zh-CN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800" dirty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</p:txBody>
      </p:sp>
      <p:sp>
        <p:nvSpPr>
          <p:cNvPr id="15" name="矩形 24"/>
          <p:cNvSpPr>
            <a:spLocks noChangeArrowheads="1"/>
          </p:cNvSpPr>
          <p:nvPr/>
        </p:nvSpPr>
        <p:spPr bwMode="auto">
          <a:xfrm>
            <a:off x="542925" y="4006091"/>
            <a:ext cx="8102600" cy="1511141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6" name="任意多边形 15"/>
          <p:cNvSpPr/>
          <p:nvPr/>
        </p:nvSpPr>
        <p:spPr bwMode="auto">
          <a:xfrm>
            <a:off x="5868144" y="3717032"/>
            <a:ext cx="194421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比较运算符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7.2.6 EL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中的运算符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225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14" grpId="0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2101999"/>
            <a:ext cx="8102600" cy="11829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表达式中的逻辑运算符用于对结果为布尔类型的表达式进行运算，运算的结果仍为布尔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类型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，如“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&amp;&amp;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||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、！”。</a:t>
            </a:r>
            <a:endParaRPr lang="zh-CN" altLang="zh-C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2925" y="2019583"/>
            <a:ext cx="8102600" cy="1151101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5868144" y="1730524"/>
            <a:ext cx="194421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逻辑运算符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42925" y="4005064"/>
            <a:ext cx="8102600" cy="10160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表达式中的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运算符用于判断某个对象是否为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””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，结果为布尔类型，其基本的语法格式如下所示：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</p:txBody>
      </p:sp>
      <p:sp>
        <p:nvSpPr>
          <p:cNvPr id="7" name="矩形 24"/>
          <p:cNvSpPr>
            <a:spLocks noChangeArrowheads="1"/>
          </p:cNvSpPr>
          <p:nvPr/>
        </p:nvSpPr>
        <p:spPr bwMode="auto">
          <a:xfrm>
            <a:off x="542925" y="3922648"/>
            <a:ext cx="8102600" cy="1738600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8" name="任意多边形 7"/>
          <p:cNvSpPr/>
          <p:nvPr/>
        </p:nvSpPr>
        <p:spPr bwMode="auto">
          <a:xfrm>
            <a:off x="5868144" y="3633589"/>
            <a:ext cx="194421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empty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63761" y="5013176"/>
            <a:ext cx="8040687" cy="417512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74018" y="5021113"/>
            <a:ext cx="34099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dirty="0"/>
              <a:t>${empty </a:t>
            </a:r>
            <a:r>
              <a:rPr lang="en-US" altLang="zh-CN" dirty="0" err="1"/>
              <a:t>var</a:t>
            </a:r>
            <a:r>
              <a:rPr lang="en-US" altLang="zh-CN" dirty="0"/>
              <a:t>}</a:t>
            </a:r>
            <a:endParaRPr lang="zh-CN" altLang="zh-CN" dirty="0"/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7.2.6 EL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中的运算符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0022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2101999"/>
            <a:ext cx="8102600" cy="103896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表达式中条件运算符用于执行某种条件判断，它类似于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语言中的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if-else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语句，其语法格式如下：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/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2925" y="2019583"/>
            <a:ext cx="8102600" cy="1697449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5868144" y="1730524"/>
            <a:ext cx="194421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条件运算符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42925" y="4448547"/>
            <a:ext cx="8102600" cy="128470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表达式中的圆括号用于改变其它运算符的优先级，例如表达式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${a*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b+c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，正常情况下会先计算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a*b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的积，将表达式修改为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${a*(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b+c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，这样则先计算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的和，再将计算的结果与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相乘</a:t>
            </a:r>
            <a:r>
              <a:rPr lang="zh-CN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24"/>
          <p:cNvSpPr>
            <a:spLocks noChangeArrowheads="1"/>
          </p:cNvSpPr>
          <p:nvPr/>
        </p:nvSpPr>
        <p:spPr bwMode="auto">
          <a:xfrm>
            <a:off x="542925" y="4366131"/>
            <a:ext cx="8102600" cy="1511141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8" name="任意多边形 7"/>
          <p:cNvSpPr/>
          <p:nvPr/>
        </p:nvSpPr>
        <p:spPr bwMode="auto">
          <a:xfrm>
            <a:off x="5724128" y="4077072"/>
            <a:ext cx="2088232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“（）”运算符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16"/>
          <p:cNvSpPr>
            <a:spLocks noChangeArrowheads="1"/>
          </p:cNvSpPr>
          <p:nvPr/>
        </p:nvSpPr>
        <p:spPr bwMode="auto">
          <a:xfrm>
            <a:off x="563563" y="3140968"/>
            <a:ext cx="8042275" cy="43204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     ${</a:t>
            </a:r>
            <a:r>
              <a:rPr lang="en-US" altLang="zh-CN" dirty="0"/>
              <a:t>A?B:C}</a:t>
            </a:r>
            <a:endParaRPr lang="zh-CN" altLang="zh-CN" dirty="0"/>
          </a:p>
          <a:p>
            <a:pPr marL="742950" lvl="1" indent="-285750"/>
            <a:endParaRPr lang="zh-CN" altLang="zh-CN" sz="1400" dirty="0"/>
          </a:p>
        </p:txBody>
      </p:sp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7.2.6 EL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中的运算符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270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/>
      <p:bldP spid="7" grpId="0" animBg="1"/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497541"/>
              </p:ext>
            </p:extLst>
          </p:nvPr>
        </p:nvGraphicFramePr>
        <p:xfrm>
          <a:off x="395536" y="1988840"/>
          <a:ext cx="8280920" cy="377334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92288"/>
                <a:gridCol w="5688632"/>
              </a:tblGrid>
              <a:tr h="35810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隐含对象名称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功能描述</a:t>
                      </a:r>
                      <a:endParaRPr lang="en-US" altLang="zh-CN" sz="18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237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  <a:latin typeface="Times New Roman"/>
                          <a:ea typeface="宋体"/>
                        </a:rPr>
                        <a:t>pageContext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对应于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JSP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页面中的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pageContext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对象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pageScope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</a:rPr>
                        <a:t>代表</a:t>
                      </a:r>
                      <a:r>
                        <a:rPr lang="en-US" sz="1400" kern="100" dirty="0">
                          <a:effectLst/>
                          <a:latin typeface="Times New Roman"/>
                          <a:ea typeface="宋体"/>
                        </a:rPr>
                        <a:t>page</a:t>
                      </a: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</a:rPr>
                        <a:t>域中用于保存属性的</a:t>
                      </a:r>
                      <a:r>
                        <a:rPr lang="en-US" sz="1400" kern="100" dirty="0">
                          <a:effectLst/>
                          <a:latin typeface="Times New Roman"/>
                          <a:ea typeface="宋体"/>
                        </a:rPr>
                        <a:t>Map</a:t>
                      </a: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</a:rPr>
                        <a:t>对象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requestScope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代表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request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域中用于保存属性的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Map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对象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sessionScope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代表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session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域中用于保存属性的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Map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对象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applicationScope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代表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application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域中用于保存属性的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Map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对象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param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表示一个保存了所有请求参数的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Map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对象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paramValues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表示一个保存了所有请求参数的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Map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对象，它对于某个请求参数，返回的是一个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String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类型数组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header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表示一个保存了所有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http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请求头字段的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Map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对象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headerValues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表示一个保存了所有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http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请求头字段的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Map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对象，返回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String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类型数组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cookie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用来取得使用者的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cookie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值，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cookie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的类型是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Map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initParam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</a:rPr>
                        <a:t>表示一个保存了所有</a:t>
                      </a:r>
                      <a:r>
                        <a:rPr lang="en-US" sz="1400" kern="100" dirty="0">
                          <a:effectLst/>
                          <a:latin typeface="Times New Roman"/>
                          <a:ea typeface="宋体"/>
                        </a:rPr>
                        <a:t>Web</a:t>
                      </a: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</a:rPr>
                        <a:t>应用初始化参数的</a:t>
                      </a:r>
                      <a:r>
                        <a:rPr lang="en-US" sz="1400" kern="100" dirty="0">
                          <a:effectLst/>
                          <a:latin typeface="Times New Roman"/>
                          <a:ea typeface="宋体"/>
                        </a:rPr>
                        <a:t>Map</a:t>
                      </a: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</a:rPr>
                        <a:t>对象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95536" y="1340768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EL</a:t>
            </a:r>
            <a:r>
              <a:rPr lang="zh-CN" altLang="en-US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中</a:t>
            </a:r>
            <a:r>
              <a:rPr lang="en-US" altLang="zh-CN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11</a:t>
            </a:r>
            <a:r>
              <a:rPr lang="zh-CN" altLang="en-US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个隐式对象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</p:txBody>
      </p:sp>
      <p:sp>
        <p:nvSpPr>
          <p:cNvPr id="5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7.2.7 EL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隐式对象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258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1856259"/>
            <a:ext cx="8102600" cy="89495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为了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获取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页面的隐式对象，可以使用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表达式中的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pageContext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隐式对象。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pageContext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隐式对象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的示例代码如下：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2925" y="1773843"/>
            <a:ext cx="8102600" cy="1511141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5508104" y="1484784"/>
            <a:ext cx="230425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pageContext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对象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16"/>
          <p:cNvSpPr>
            <a:spLocks noChangeArrowheads="1"/>
          </p:cNvSpPr>
          <p:nvPr/>
        </p:nvSpPr>
        <p:spPr bwMode="auto">
          <a:xfrm>
            <a:off x="563563" y="2708920"/>
            <a:ext cx="8042275" cy="43204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     ${</a:t>
            </a:r>
            <a:r>
              <a:rPr lang="en-US" altLang="zh-CN" dirty="0" err="1"/>
              <a:t>pageContext.response.characterEncoding</a:t>
            </a:r>
            <a:r>
              <a:rPr lang="en-US" altLang="zh-CN" dirty="0"/>
              <a:t>}</a:t>
            </a:r>
            <a:endParaRPr lang="zh-CN" altLang="zh-CN" dirty="0"/>
          </a:p>
          <a:p>
            <a:pPr marL="742950" lvl="1" indent="-285750"/>
            <a:endParaRPr lang="zh-CN" altLang="zh-CN" sz="1400" dirty="0"/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542925" y="3872483"/>
            <a:ext cx="8102600" cy="15727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HttpRequest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对象存储的数据只在当前请求中可以获取到。习惯性的，我们把这些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集合称为域，这些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集合所在的对象称为域对象。在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表达式中，为了获取指定域中的数据，提供了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pageScope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requestScope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sessionScope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applicationScope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四个隐式对象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示例代码如下：</a:t>
            </a:r>
          </a:p>
        </p:txBody>
      </p:sp>
      <p:sp>
        <p:nvSpPr>
          <p:cNvPr id="8" name="矩形 24"/>
          <p:cNvSpPr>
            <a:spLocks noChangeArrowheads="1"/>
          </p:cNvSpPr>
          <p:nvPr/>
        </p:nvSpPr>
        <p:spPr bwMode="auto">
          <a:xfrm>
            <a:off x="542925" y="3790067"/>
            <a:ext cx="8102600" cy="2519253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" name="任意多边形 8"/>
          <p:cNvSpPr/>
          <p:nvPr/>
        </p:nvSpPr>
        <p:spPr bwMode="auto">
          <a:xfrm>
            <a:off x="5508104" y="3501008"/>
            <a:ext cx="230425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Web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域相关对象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16"/>
          <p:cNvSpPr>
            <a:spLocks noChangeArrowheads="1"/>
          </p:cNvSpPr>
          <p:nvPr/>
        </p:nvSpPr>
        <p:spPr bwMode="auto">
          <a:xfrm>
            <a:off x="563562" y="5445224"/>
            <a:ext cx="8042275" cy="72008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     ${</a:t>
            </a:r>
            <a:r>
              <a:rPr lang="en-US" altLang="zh-CN" dirty="0" err="1"/>
              <a:t>pageScope.userName</a:t>
            </a:r>
            <a:r>
              <a:rPr lang="en-US" altLang="zh-CN" dirty="0"/>
              <a:t>} </a:t>
            </a:r>
            <a:r>
              <a:rPr lang="en-US" altLang="zh-CN" dirty="0" smtClean="0"/>
              <a:t>		${</a:t>
            </a:r>
            <a:r>
              <a:rPr lang="en-US" altLang="zh-CN" dirty="0" err="1"/>
              <a:t>requestScope.userName</a:t>
            </a:r>
            <a:r>
              <a:rPr lang="en-US" altLang="zh-CN" dirty="0"/>
              <a:t>} </a:t>
            </a:r>
            <a:endParaRPr lang="en-US" altLang="zh-CN" dirty="0" smtClean="0"/>
          </a:p>
          <a:p>
            <a:r>
              <a:rPr lang="en-US" altLang="zh-CN" dirty="0" smtClean="0"/>
              <a:t>     ${</a:t>
            </a:r>
            <a:r>
              <a:rPr lang="en-US" altLang="zh-CN" dirty="0" err="1"/>
              <a:t>sessionScope.userName</a:t>
            </a:r>
            <a:r>
              <a:rPr lang="en-US" altLang="zh-CN" dirty="0"/>
              <a:t>} </a:t>
            </a:r>
            <a:r>
              <a:rPr lang="en-US" altLang="zh-CN" dirty="0" smtClean="0"/>
              <a:t>	${</a:t>
            </a:r>
            <a:r>
              <a:rPr lang="en-US" altLang="zh-CN" dirty="0" err="1"/>
              <a:t>applicationScope.userName</a:t>
            </a:r>
            <a:r>
              <a:rPr lang="en-US" altLang="zh-CN" dirty="0"/>
              <a:t>}</a:t>
            </a:r>
            <a:endParaRPr lang="zh-CN" altLang="zh-CN" sz="1400" dirty="0"/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7.2.7 EL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隐式对象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0006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/>
      <p:bldP spid="8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1856259"/>
            <a:ext cx="8102600" cy="1140693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对象用于获取请求参数的某个值，它是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类型，与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request.getParameter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方法相同，在使用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获取参数时，如果参数不存在，返回的是空字符串，而不是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具体示例如下：</a:t>
            </a:r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2925" y="1773843"/>
            <a:ext cx="8102600" cy="1871181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5508104" y="1484784"/>
            <a:ext cx="230425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param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对象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16"/>
          <p:cNvSpPr>
            <a:spLocks noChangeArrowheads="1"/>
          </p:cNvSpPr>
          <p:nvPr/>
        </p:nvSpPr>
        <p:spPr bwMode="auto">
          <a:xfrm>
            <a:off x="563563" y="3068960"/>
            <a:ext cx="8042275" cy="43204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     ${</a:t>
            </a:r>
            <a:r>
              <a:rPr lang="en-US" altLang="zh-CN" dirty="0" err="1"/>
              <a:t>param.num</a:t>
            </a:r>
            <a:r>
              <a:rPr lang="en-US" altLang="zh-CN" dirty="0"/>
              <a:t>}</a:t>
            </a:r>
            <a:endParaRPr lang="zh-CN" altLang="zh-CN" dirty="0"/>
          </a:p>
          <a:p>
            <a:pPr marL="742950" lvl="1" indent="-285750"/>
            <a:endParaRPr lang="zh-CN" altLang="zh-CN" sz="1400" dirty="0"/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523826" y="4168046"/>
            <a:ext cx="8102600" cy="1212701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如果一个请求参数有多个值，可以使用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paramValues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对象来获取请求参数的所有值，该对象用于返回请求参数所有值组成的数组，如果要获取某个请求参数的第一个值，可以使用如下代码：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>
              <a:latin typeface="+mn-ea"/>
            </a:endParaRPr>
          </a:p>
        </p:txBody>
      </p:sp>
      <p:sp>
        <p:nvSpPr>
          <p:cNvPr id="8" name="矩形 24"/>
          <p:cNvSpPr>
            <a:spLocks noChangeArrowheads="1"/>
          </p:cNvSpPr>
          <p:nvPr/>
        </p:nvSpPr>
        <p:spPr bwMode="auto">
          <a:xfrm>
            <a:off x="523826" y="4085630"/>
            <a:ext cx="8102600" cy="1871181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" name="任意多边形 8"/>
          <p:cNvSpPr/>
          <p:nvPr/>
        </p:nvSpPr>
        <p:spPr bwMode="auto">
          <a:xfrm>
            <a:off x="5489005" y="3796571"/>
            <a:ext cx="230425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paramValues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对象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16"/>
          <p:cNvSpPr>
            <a:spLocks noChangeArrowheads="1"/>
          </p:cNvSpPr>
          <p:nvPr/>
        </p:nvSpPr>
        <p:spPr bwMode="auto">
          <a:xfrm>
            <a:off x="544464" y="5380747"/>
            <a:ext cx="8042275" cy="43204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      </a:t>
            </a:r>
            <a:r>
              <a:rPr lang="en-US" altLang="zh-CN" dirty="0"/>
              <a:t>${</a:t>
            </a:r>
            <a:r>
              <a:rPr lang="en-US" altLang="zh-CN" dirty="0" err="1"/>
              <a:t>paramValues.nums</a:t>
            </a:r>
            <a:r>
              <a:rPr lang="en-US" altLang="zh-CN" dirty="0"/>
              <a:t>[0]} </a:t>
            </a:r>
            <a:endParaRPr lang="zh-CN" altLang="zh-CN" dirty="0"/>
          </a:p>
          <a:p>
            <a:pPr marL="742950" lvl="1" indent="-285750"/>
            <a:endParaRPr lang="zh-CN" altLang="zh-CN" sz="1400" dirty="0"/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7.2.7 EL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隐式对象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575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/>
      <p:bldP spid="8" grpId="0" animBg="1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2000275"/>
            <a:ext cx="8102600" cy="894953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对象用于获取请求头字段的某个值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具体示例如下：</a:t>
            </a:r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2925" y="1917859"/>
            <a:ext cx="8102600" cy="1223109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5508104" y="1628800"/>
            <a:ext cx="230425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header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对象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16"/>
          <p:cNvSpPr>
            <a:spLocks noChangeArrowheads="1"/>
          </p:cNvSpPr>
          <p:nvPr/>
        </p:nvSpPr>
        <p:spPr bwMode="auto">
          <a:xfrm>
            <a:off x="563563" y="2492896"/>
            <a:ext cx="8042275" cy="43204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      </a:t>
            </a:r>
            <a:r>
              <a:rPr lang="en-US" altLang="zh-CN" dirty="0"/>
              <a:t>${header["user-agent"]}</a:t>
            </a:r>
            <a:endParaRPr lang="zh-CN" altLang="zh-CN" dirty="0"/>
          </a:p>
          <a:p>
            <a:pPr marL="742950" lvl="1" indent="-285750"/>
            <a:endParaRPr lang="zh-CN" altLang="zh-CN" sz="1400" dirty="0"/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523826" y="4016499"/>
            <a:ext cx="8102600" cy="1212701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如果一个请求头字段有多个值，可以使用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headerValues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对象，该对象用于返回请求头字符的所有值组成的数组，如果要获取某个请求头字段的第一个值，可以使用如下代码：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>
              <a:latin typeface="+mn-ea"/>
            </a:endParaRPr>
          </a:p>
        </p:txBody>
      </p:sp>
      <p:sp>
        <p:nvSpPr>
          <p:cNvPr id="8" name="矩形 24"/>
          <p:cNvSpPr>
            <a:spLocks noChangeArrowheads="1"/>
          </p:cNvSpPr>
          <p:nvPr/>
        </p:nvSpPr>
        <p:spPr bwMode="auto">
          <a:xfrm>
            <a:off x="523826" y="3934083"/>
            <a:ext cx="8102600" cy="1871181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" name="任意多边形 8"/>
          <p:cNvSpPr/>
          <p:nvPr/>
        </p:nvSpPr>
        <p:spPr bwMode="auto">
          <a:xfrm>
            <a:off x="5364088" y="3645024"/>
            <a:ext cx="2429173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headerValues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对象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16"/>
          <p:cNvSpPr>
            <a:spLocks noChangeArrowheads="1"/>
          </p:cNvSpPr>
          <p:nvPr/>
        </p:nvSpPr>
        <p:spPr bwMode="auto">
          <a:xfrm>
            <a:off x="544464" y="5229200"/>
            <a:ext cx="8042275" cy="43204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     ${</a:t>
            </a:r>
            <a:r>
              <a:rPr lang="en-US" altLang="zh-CN" dirty="0" err="1"/>
              <a:t>headerValues</a:t>
            </a:r>
            <a:r>
              <a:rPr lang="en-US" altLang="zh-CN" dirty="0"/>
              <a:t>["Accept-Language"][0]}</a:t>
            </a:r>
          </a:p>
          <a:p>
            <a:pPr marL="742950" lvl="1" indent="-285750"/>
            <a:endParaRPr lang="zh-CN" altLang="zh-CN" sz="1400" dirty="0"/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7.2.7 EL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隐式对象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0388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/>
      <p:bldP spid="8" grpId="0" animBg="1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1856258"/>
            <a:ext cx="8102600" cy="1212701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开发中，经常需要获取客户端的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信息，为此，在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表达式中，提供了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隐式对象，该对象是一个代表所有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信息的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集合中元素的关键字为各个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的名称，值则为对应的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具体示例如下：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>
              <a:latin typeface="+mn-ea"/>
            </a:endParaRPr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2925" y="1773843"/>
            <a:ext cx="8102600" cy="2303229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5508104" y="1484784"/>
            <a:ext cx="230425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cookie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对象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16"/>
          <p:cNvSpPr>
            <a:spLocks noChangeArrowheads="1"/>
          </p:cNvSpPr>
          <p:nvPr/>
        </p:nvSpPr>
        <p:spPr bwMode="auto">
          <a:xfrm>
            <a:off x="563563" y="3068960"/>
            <a:ext cx="8042275" cy="864096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1600" dirty="0" smtClean="0">
                <a:latin typeface="+mn-ea"/>
              </a:rPr>
              <a:t>   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获取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对象的信息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${</a:t>
            </a:r>
            <a:r>
              <a:rPr lang="en-US" altLang="zh-CN" sz="1600" dirty="0" err="1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cookie.userName</a:t>
            </a:r>
            <a:r>
              <a:rPr lang="en-US" altLang="zh-CN" sz="16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}</a:t>
            </a:r>
            <a:endParaRPr lang="zh-CN" altLang="zh-CN" sz="1600" dirty="0"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  <a:p>
            <a:r>
              <a:rPr lang="en-US" altLang="zh-CN" sz="1600" smtClean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zh-C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获取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对象的名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称：</a:t>
            </a:r>
            <a:r>
              <a:rPr lang="en-US" altLang="zh-CN" sz="16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${cookie.userName.name}</a:t>
            </a:r>
            <a:endParaRPr lang="zh-CN" altLang="zh-CN" sz="1600" dirty="0"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  <a:p>
            <a:r>
              <a:rPr lang="en-US" altLang="zh-CN" sz="1600" smtClean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zh-C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获取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对象的值：</a:t>
            </a:r>
            <a:r>
              <a:rPr lang="en-US" altLang="zh-CN" sz="16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${</a:t>
            </a:r>
            <a:r>
              <a:rPr lang="en-US" altLang="zh-CN" sz="1600" dirty="0" err="1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cookie.userName.value</a:t>
            </a:r>
            <a:r>
              <a:rPr lang="en-US" altLang="zh-CN" sz="16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}</a:t>
            </a:r>
            <a:endParaRPr lang="zh-CN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523826" y="4592563"/>
            <a:ext cx="8102600" cy="1212701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开发一个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应用程序时，通常会在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web.xml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文件中配置一些初始化参数，为了方便获取这些参数，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表达式提供了一个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initParam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隐式对象，该对象可以获取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应用程序中全局初始化参数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，具体示例如下所示：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24"/>
          <p:cNvSpPr>
            <a:spLocks noChangeArrowheads="1"/>
          </p:cNvSpPr>
          <p:nvPr/>
        </p:nvSpPr>
        <p:spPr bwMode="auto">
          <a:xfrm>
            <a:off x="523826" y="4510147"/>
            <a:ext cx="8102600" cy="1871181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" name="任意多边形 8"/>
          <p:cNvSpPr/>
          <p:nvPr/>
        </p:nvSpPr>
        <p:spPr bwMode="auto">
          <a:xfrm>
            <a:off x="5489005" y="4221088"/>
            <a:ext cx="230425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initParam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对象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16"/>
          <p:cNvSpPr>
            <a:spLocks noChangeArrowheads="1"/>
          </p:cNvSpPr>
          <p:nvPr/>
        </p:nvSpPr>
        <p:spPr bwMode="auto">
          <a:xfrm>
            <a:off x="544464" y="5805264"/>
            <a:ext cx="8042275" cy="43204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     ${</a:t>
            </a:r>
            <a:r>
              <a:rPr lang="en-US" altLang="zh-CN" dirty="0" err="1"/>
              <a:t>initParam.count</a:t>
            </a:r>
            <a:r>
              <a:rPr lang="en-US" altLang="zh-CN" dirty="0"/>
              <a:t>} </a:t>
            </a:r>
            <a:endParaRPr lang="zh-CN" altLang="zh-CN" dirty="0"/>
          </a:p>
          <a:p>
            <a:pPr marL="742950" lvl="1" indent="-285750"/>
            <a:endParaRPr lang="zh-CN" altLang="zh-CN" sz="1400" dirty="0"/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7.2.7 EL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隐式对象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3407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/>
      <p:bldP spid="8" grpId="0" animBg="1"/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对角圆角矩形 10"/>
          <p:cNvSpPr/>
          <p:nvPr/>
        </p:nvSpPr>
        <p:spPr>
          <a:xfrm>
            <a:off x="827584" y="4005064"/>
            <a:ext cx="5719539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10"/>
          <p:cNvSpPr txBox="1"/>
          <p:nvPr/>
        </p:nvSpPr>
        <p:spPr>
          <a:xfrm>
            <a:off x="1230152" y="3068960"/>
            <a:ext cx="4223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7.2</a:t>
            </a:r>
            <a:r>
              <a:rPr lang="en-US" altLang="zh-CN" sz="2400" dirty="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EL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表达式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230152" y="4149080"/>
            <a:ext cx="379103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7.3    JSTL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7998" y="1756903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749857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dirty="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</a:p>
        </p:txBody>
      </p:sp>
      <p:sp>
        <p:nvSpPr>
          <p:cNvPr id="12" name="TextBox 6"/>
          <p:cNvSpPr txBox="1"/>
          <p:nvPr/>
        </p:nvSpPr>
        <p:spPr>
          <a:xfrm>
            <a:off x="1230152" y="1988840"/>
            <a:ext cx="4349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7.1    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初始</a:t>
            </a:r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JavaBean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087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828675" y="1974428"/>
            <a:ext cx="3327400" cy="1962150"/>
          </a:xfrm>
          <a:prstGeom prst="rect">
            <a:avLst/>
          </a:prstGeom>
          <a:solidFill>
            <a:srgbClr val="E9EDF4"/>
          </a:solidFill>
          <a:ln w="9525">
            <a:solidFill>
              <a:srgbClr val="006BA9"/>
            </a:solidFill>
            <a:prstDash val="sysDash"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dirty="0">
                <a:latin typeface="+mn-ea"/>
              </a:rPr>
              <a:t>    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JSP1.1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规范开始，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就支持使用自定义标签，使用自定义标签大大降低了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页面的复杂度，同时增强了代码的重用性。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068888" y="3117428"/>
            <a:ext cx="3327400" cy="2709863"/>
          </a:xfrm>
          <a:prstGeom prst="rect">
            <a:avLst/>
          </a:prstGeom>
          <a:solidFill>
            <a:srgbClr val="E9EDF4"/>
          </a:solidFill>
          <a:ln>
            <a:solidFill>
              <a:srgbClr val="006BA9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dirty="0">
                <a:latin typeface="+mn-ea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为此，许多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应用厂商都定制了自身应用的标签库，然而同一功能的标签由不同的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应用厂商制定可能是不同的，这就导致市面上出现了很多功能相同的标签，令网页制作者无从选择。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828675" y="4193753"/>
            <a:ext cx="3327400" cy="1962150"/>
          </a:xfrm>
          <a:prstGeom prst="rect">
            <a:avLst/>
          </a:prstGeom>
          <a:solidFill>
            <a:srgbClr val="E9EDF4"/>
          </a:solidFill>
          <a:ln w="9525">
            <a:solidFill>
              <a:srgbClr val="006BA9"/>
            </a:solidFill>
            <a:prstDash val="sysDash"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dirty="0">
                <a:latin typeface="+mn-ea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为了解决同一功能标签的不统一问题，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公司制定了一套标准标签库（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JavaServer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Pages Standard Tag Library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，简称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JSTL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cxnSp>
        <p:nvCxnSpPr>
          <p:cNvPr id="6" name="直接连接符 5"/>
          <p:cNvCxnSpPr>
            <a:cxnSpLocks noChangeShapeType="1"/>
          </p:cNvCxnSpPr>
          <p:nvPr/>
        </p:nvCxnSpPr>
        <p:spPr bwMode="auto">
          <a:xfrm>
            <a:off x="4652963" y="1772816"/>
            <a:ext cx="0" cy="4445000"/>
          </a:xfrm>
          <a:prstGeom prst="line">
            <a:avLst/>
          </a:prstGeom>
          <a:noFill/>
          <a:ln w="28575" algn="ctr">
            <a:solidFill>
              <a:srgbClr val="006BA9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4510088" y="2626891"/>
            <a:ext cx="279400" cy="279400"/>
            <a:chOff x="4368800" y="2501900"/>
            <a:chExt cx="279400" cy="279400"/>
          </a:xfrm>
        </p:grpSpPr>
        <p:sp>
          <p:nvSpPr>
            <p:cNvPr id="8" name="椭圆 17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6BA9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9" name="椭圆 18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4510088" y="3673053"/>
            <a:ext cx="279400" cy="279400"/>
            <a:chOff x="4368800" y="2501900"/>
            <a:chExt cx="279400" cy="279400"/>
          </a:xfrm>
        </p:grpSpPr>
        <p:sp>
          <p:nvSpPr>
            <p:cNvPr id="11" name="椭圆 21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6BA9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2" name="椭圆 22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4510088" y="4701753"/>
            <a:ext cx="279400" cy="279400"/>
            <a:chOff x="4368800" y="2501900"/>
            <a:chExt cx="279400" cy="279400"/>
          </a:xfrm>
        </p:grpSpPr>
        <p:sp>
          <p:nvSpPr>
            <p:cNvPr id="14" name="椭圆 24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6BA9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5" name="椭圆 25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sp>
        <p:nvSpPr>
          <p:cNvPr id="16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7.3.1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什么是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JSTL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429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 bwMode="auto">
          <a:xfrm>
            <a:off x="542925" y="1928267"/>
            <a:ext cx="8102600" cy="894953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JSTL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虽然被称为标准标签库，而实际上这个标签库是由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个不同功能的标签库共同组成。在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JSTL1.1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规范中，为这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个标签库分别指定了不同的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以及建议使用的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前缀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4"/>
          <p:cNvSpPr>
            <a:spLocks noChangeArrowheads="1"/>
          </p:cNvSpPr>
          <p:nvPr/>
        </p:nvSpPr>
        <p:spPr bwMode="auto">
          <a:xfrm>
            <a:off x="548823" y="1845851"/>
            <a:ext cx="8102600" cy="977370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40223"/>
              </p:ext>
            </p:extLst>
          </p:nvPr>
        </p:nvGraphicFramePr>
        <p:xfrm>
          <a:off x="395536" y="3790748"/>
          <a:ext cx="8280921" cy="18705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944216"/>
                <a:gridCol w="3960440"/>
                <a:gridCol w="2376265"/>
              </a:tblGrid>
              <a:tr h="35810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标签库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标签库的</a:t>
                      </a:r>
                      <a:r>
                        <a:rPr lang="en-US" altLang="zh-CN" dirty="0" smtClean="0"/>
                        <a:t>URI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前缀</a:t>
                      </a:r>
                      <a:endParaRPr lang="en-US" altLang="zh-CN" sz="18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237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/>
                          <a:ea typeface="宋体"/>
                        </a:rPr>
                        <a:t>Core 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smtClean="0">
                          <a:effectLst/>
                          <a:latin typeface="Times New Roman"/>
                          <a:ea typeface="宋体"/>
                        </a:rPr>
                        <a:t>  http</a:t>
                      </a:r>
                      <a:r>
                        <a:rPr lang="en-US" sz="1600" kern="100" dirty="0">
                          <a:effectLst/>
                          <a:latin typeface="Times New Roman"/>
                          <a:ea typeface="宋体"/>
                        </a:rPr>
                        <a:t>://java.sun.com/jsp/jstl/core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/>
                          <a:ea typeface="宋体"/>
                        </a:rPr>
                        <a:t>c</a:t>
                      </a:r>
                      <a:endParaRPr lang="zh-CN" sz="1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/>
                          <a:ea typeface="宋体"/>
                        </a:rPr>
                        <a:t>I18N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smtClean="0">
                          <a:effectLst/>
                          <a:latin typeface="Times New Roman"/>
                          <a:ea typeface="宋体"/>
                        </a:rPr>
                        <a:t> http</a:t>
                      </a:r>
                      <a:r>
                        <a:rPr lang="en-US" sz="1600" kern="100">
                          <a:effectLst/>
                          <a:latin typeface="Times New Roman"/>
                          <a:ea typeface="宋体"/>
                        </a:rPr>
                        <a:t>://java.sun.com/jsp/jstl/fmt</a:t>
                      </a:r>
                      <a:endParaRPr lang="zh-CN" sz="1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/>
                          <a:ea typeface="宋体"/>
                        </a:rPr>
                        <a:t>fmt</a:t>
                      </a:r>
                      <a:endParaRPr lang="zh-CN" sz="1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/>
                          <a:ea typeface="宋体"/>
                        </a:rPr>
                        <a:t>SQL</a:t>
                      </a:r>
                      <a:endParaRPr lang="zh-CN" sz="1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/>
                          <a:ea typeface="宋体"/>
                        </a:rPr>
                        <a:t>http://java.sun.com/jsp/jstl/sql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/>
                          <a:ea typeface="宋体"/>
                        </a:rPr>
                        <a:t>sql</a:t>
                      </a:r>
                      <a:endParaRPr lang="zh-CN" sz="1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/>
                          <a:ea typeface="宋体"/>
                        </a:rPr>
                        <a:t>XML</a:t>
                      </a:r>
                      <a:endParaRPr lang="zh-CN" sz="1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smtClean="0">
                          <a:effectLst/>
                          <a:latin typeface="Times New Roman"/>
                          <a:ea typeface="宋体"/>
                        </a:rPr>
                        <a:t>  http</a:t>
                      </a:r>
                      <a:r>
                        <a:rPr lang="en-US" sz="1600" kern="100" dirty="0">
                          <a:effectLst/>
                          <a:latin typeface="Times New Roman"/>
                          <a:ea typeface="宋体"/>
                        </a:rPr>
                        <a:t>://java.sun.com/jsp/jstl/xml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endParaRPr lang="zh-CN" sz="1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Times New Roman"/>
                          <a:ea typeface="宋体"/>
                        </a:rPr>
                        <a:t>Functions</a:t>
                      </a:r>
                      <a:endParaRPr lang="zh-CN" sz="1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smtClean="0">
                          <a:effectLst/>
                          <a:latin typeface="Times New Roman"/>
                          <a:ea typeface="宋体"/>
                        </a:rPr>
                        <a:t>          http</a:t>
                      </a:r>
                      <a:r>
                        <a:rPr lang="en-US" sz="1600" kern="100" dirty="0">
                          <a:effectLst/>
                          <a:latin typeface="Times New Roman"/>
                          <a:ea typeface="宋体"/>
                        </a:rPr>
                        <a:t>://java.sun.com/jsp/jstl/functions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  <a:latin typeface="Times New Roman"/>
                          <a:ea typeface="宋体"/>
                        </a:rPr>
                        <a:t>fn</a:t>
                      </a:r>
                      <a:endParaRPr lang="zh-CN" sz="1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8" name="内容占位符 2"/>
          <p:cNvSpPr txBox="1">
            <a:spLocks/>
          </p:cNvSpPr>
          <p:nvPr/>
        </p:nvSpPr>
        <p:spPr bwMode="auto">
          <a:xfrm>
            <a:off x="395536" y="3176935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JSTL</a:t>
            </a:r>
            <a:r>
              <a:rPr lang="zh-CN" altLang="en-US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包含的标签库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87825" y="4167860"/>
            <a:ext cx="2952327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 flipV="1">
            <a:off x="5076055" y="3697334"/>
            <a:ext cx="540061" cy="470526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圆角矩形 10"/>
          <p:cNvSpPr/>
          <p:nvPr/>
        </p:nvSpPr>
        <p:spPr>
          <a:xfrm>
            <a:off x="4803172" y="2725623"/>
            <a:ext cx="3441236" cy="919401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Core</a:t>
            </a: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是一个核心标签库，它包含了实现</a:t>
            </a:r>
            <a:r>
              <a:rPr lang="en-US" altLang="zh-CN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Web</a:t>
            </a: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应用中通用操作的标签。</a:t>
            </a:r>
          </a:p>
        </p:txBody>
      </p:sp>
      <p:sp>
        <p:nvSpPr>
          <p:cNvPr id="14" name="矩形 13"/>
          <p:cNvSpPr/>
          <p:nvPr/>
        </p:nvSpPr>
        <p:spPr>
          <a:xfrm>
            <a:off x="2987824" y="4475591"/>
            <a:ext cx="2952327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 bwMode="auto">
          <a:xfrm flipV="1">
            <a:off x="5076055" y="3697333"/>
            <a:ext cx="792089" cy="687471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圆角矩形 16"/>
          <p:cNvSpPr/>
          <p:nvPr/>
        </p:nvSpPr>
        <p:spPr>
          <a:xfrm>
            <a:off x="4283968" y="2725623"/>
            <a:ext cx="4356484" cy="919401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I18N</a:t>
            </a: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是一个国际化</a:t>
            </a:r>
            <a:r>
              <a:rPr lang="en-US" altLang="zh-CN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格式化标签库，它包含实现</a:t>
            </a:r>
            <a:r>
              <a:rPr lang="en-US" altLang="zh-CN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Web</a:t>
            </a: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应用程序的国际化标签和格式化标签。</a:t>
            </a:r>
          </a:p>
        </p:txBody>
      </p:sp>
      <p:sp>
        <p:nvSpPr>
          <p:cNvPr id="18" name="矩形 17"/>
          <p:cNvSpPr/>
          <p:nvPr/>
        </p:nvSpPr>
        <p:spPr>
          <a:xfrm>
            <a:off x="2987824" y="4783322"/>
            <a:ext cx="2952327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 bwMode="auto">
          <a:xfrm flipV="1">
            <a:off x="5076055" y="3697333"/>
            <a:ext cx="1080121" cy="995203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圆角矩形 20"/>
          <p:cNvSpPr/>
          <p:nvPr/>
        </p:nvSpPr>
        <p:spPr>
          <a:xfrm>
            <a:off x="4283968" y="2757547"/>
            <a:ext cx="4356484" cy="855553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是一个数据库标签库，它包含了用于访问数据库和对数据库中的数据进行操作的标签。</a:t>
            </a:r>
          </a:p>
        </p:txBody>
      </p:sp>
      <p:sp>
        <p:nvSpPr>
          <p:cNvPr id="22" name="矩形 21"/>
          <p:cNvSpPr/>
          <p:nvPr/>
        </p:nvSpPr>
        <p:spPr>
          <a:xfrm>
            <a:off x="2987824" y="5094735"/>
            <a:ext cx="2952327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 bwMode="auto">
          <a:xfrm flipV="1">
            <a:off x="5076055" y="3697333"/>
            <a:ext cx="1386155" cy="1306617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圆角矩形 23"/>
          <p:cNvSpPr/>
          <p:nvPr/>
        </p:nvSpPr>
        <p:spPr>
          <a:xfrm>
            <a:off x="4283968" y="2780928"/>
            <a:ext cx="4356484" cy="855553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XML</a:t>
            </a: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是一个操作</a:t>
            </a:r>
            <a:r>
              <a:rPr lang="en-US" altLang="zh-CN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XML</a:t>
            </a: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文档的标签库，它包含对</a:t>
            </a:r>
            <a:r>
              <a:rPr lang="en-US" altLang="zh-CN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XML</a:t>
            </a: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文档中的数据进行操作的标签。</a:t>
            </a:r>
          </a:p>
        </p:txBody>
      </p:sp>
      <p:sp>
        <p:nvSpPr>
          <p:cNvPr id="26" name="矩形 25"/>
          <p:cNvSpPr/>
          <p:nvPr/>
        </p:nvSpPr>
        <p:spPr>
          <a:xfrm>
            <a:off x="2987824" y="5391996"/>
            <a:ext cx="3096344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27" name="直接箭头连接符 26"/>
          <p:cNvCxnSpPr/>
          <p:nvPr/>
        </p:nvCxnSpPr>
        <p:spPr bwMode="auto">
          <a:xfrm flipV="1">
            <a:off x="5130061" y="3697333"/>
            <a:ext cx="1674187" cy="1603879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圆角矩形 27"/>
          <p:cNvSpPr/>
          <p:nvPr/>
        </p:nvSpPr>
        <p:spPr>
          <a:xfrm>
            <a:off x="3995936" y="2780929"/>
            <a:ext cx="4644516" cy="855553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Function</a:t>
            </a: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是一个函数标签库，它提供了一套自定义</a:t>
            </a:r>
            <a:r>
              <a:rPr lang="en-US" altLang="zh-CN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EL</a:t>
            </a: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函数，包含了</a:t>
            </a:r>
            <a:r>
              <a:rPr lang="en-US" altLang="zh-CN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JSP</a:t>
            </a: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网页</a:t>
            </a:r>
            <a:r>
              <a:rPr lang="zh-CN" altLang="en-US" sz="16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制作用到的</a:t>
            </a:r>
            <a:r>
              <a: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字符串操作。</a:t>
            </a:r>
          </a:p>
        </p:txBody>
      </p:sp>
      <p:sp>
        <p:nvSpPr>
          <p:cNvPr id="25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7.3.1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什么是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JSTL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255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8" grpId="0"/>
      <p:bldP spid="9" grpId="0" animBg="1"/>
      <p:bldP spid="9" grpId="1" animBg="1"/>
      <p:bldP spid="11" grpId="0" animBg="1"/>
      <p:bldP spid="11" grpId="1" animBg="1"/>
      <p:bldP spid="14" grpId="0" animBg="1"/>
      <p:bldP spid="14" grpId="1" animBg="1"/>
      <p:bldP spid="17" grpId="0" animBg="1"/>
      <p:bldP spid="17" grpId="1" animBg="1"/>
      <p:bldP spid="18" grpId="0" animBg="1"/>
      <p:bldP spid="18" grpId="1" animBg="1"/>
      <p:bldP spid="21" grpId="0" animBg="1"/>
      <p:bldP spid="21" grpId="1" animBg="1"/>
      <p:bldP spid="22" grpId="0" animBg="1"/>
      <p:bldP spid="22" grpId="1" animBg="1"/>
      <p:bldP spid="24" grpId="0" animBg="1"/>
      <p:bldP spid="24" grpId="1" animBg="1"/>
      <p:bldP spid="26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直接连接符 45"/>
          <p:cNvSpPr>
            <a:spLocks noChangeShapeType="1"/>
          </p:cNvSpPr>
          <p:nvPr/>
        </p:nvSpPr>
        <p:spPr bwMode="auto">
          <a:xfrm>
            <a:off x="1435100" y="3913188"/>
            <a:ext cx="7078663" cy="0"/>
          </a:xfrm>
          <a:prstGeom prst="line">
            <a:avLst/>
          </a:prstGeom>
          <a:noFill/>
          <a:ln w="3175" algn="ctr">
            <a:solidFill>
              <a:srgbClr val="C3F7FD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直接连接符 46"/>
          <p:cNvSpPr>
            <a:spLocks noChangeShapeType="1"/>
          </p:cNvSpPr>
          <p:nvPr/>
        </p:nvSpPr>
        <p:spPr bwMode="auto">
          <a:xfrm>
            <a:off x="1435100" y="4476750"/>
            <a:ext cx="7078663" cy="0"/>
          </a:xfrm>
          <a:prstGeom prst="line">
            <a:avLst/>
          </a:prstGeom>
          <a:noFill/>
          <a:ln w="3175" algn="ctr">
            <a:solidFill>
              <a:srgbClr val="C3F7FD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直接连接符 47"/>
          <p:cNvSpPr>
            <a:spLocks noChangeShapeType="1"/>
          </p:cNvSpPr>
          <p:nvPr/>
        </p:nvSpPr>
        <p:spPr bwMode="auto">
          <a:xfrm>
            <a:off x="1435100" y="3382963"/>
            <a:ext cx="7078663" cy="0"/>
          </a:xfrm>
          <a:prstGeom prst="line">
            <a:avLst/>
          </a:prstGeom>
          <a:noFill/>
          <a:ln w="3175" algn="ctr">
            <a:solidFill>
              <a:srgbClr val="C3F7FD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直接连接符 48"/>
          <p:cNvSpPr>
            <a:spLocks noChangeShapeType="1"/>
          </p:cNvSpPr>
          <p:nvPr/>
        </p:nvSpPr>
        <p:spPr bwMode="auto">
          <a:xfrm>
            <a:off x="1435100" y="2825750"/>
            <a:ext cx="7078663" cy="0"/>
          </a:xfrm>
          <a:prstGeom prst="line">
            <a:avLst/>
          </a:prstGeom>
          <a:noFill/>
          <a:ln w="3175" algn="ctr">
            <a:solidFill>
              <a:srgbClr val="C3F7FD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932674" y="3787251"/>
            <a:ext cx="1601215" cy="825627"/>
          </a:xfrm>
          <a:custGeom>
            <a:avLst/>
            <a:gdLst>
              <a:gd name="connsiteX0" fmla="*/ 0 w 1950720"/>
              <a:gd name="connsiteY0" fmla="*/ 0 h 1005840"/>
              <a:gd name="connsiteX1" fmla="*/ 1950720 w 1950720"/>
              <a:gd name="connsiteY1" fmla="*/ 0 h 1005840"/>
              <a:gd name="connsiteX2" fmla="*/ 1950720 w 1950720"/>
              <a:gd name="connsiteY2" fmla="*/ 1005840 h 1005840"/>
              <a:gd name="connsiteX3" fmla="*/ 0 w 1950720"/>
              <a:gd name="connsiteY3" fmla="*/ 1005840 h 1005840"/>
              <a:gd name="connsiteX4" fmla="*/ 0 w 1950720"/>
              <a:gd name="connsiteY4" fmla="*/ 0 h 100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0720" h="1005840">
                <a:moveTo>
                  <a:pt x="0" y="0"/>
                </a:moveTo>
                <a:lnTo>
                  <a:pt x="1950720" y="0"/>
                </a:lnTo>
                <a:lnTo>
                  <a:pt x="195072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noFill/>
          <a:ln w="25400" cap="flat" cmpd="sng" algn="ctr">
            <a:noFill/>
            <a:prstDash val="solid"/>
          </a:ln>
          <a:effectLst/>
          <a:sp3d/>
        </p:spPr>
        <p:txBody>
          <a:bodyPr lIns="0" tIns="0" rIns="0" bIns="0" spcCol="1270" anchor="b"/>
          <a:lstStyle/>
          <a:p>
            <a:pPr algn="ctr" defTabSz="2889250" eaLnBrk="1" fontAlgn="auto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defRPr/>
            </a:pPr>
            <a:endParaRPr lang="zh-CN" altLang="en-US" sz="6500" kern="0">
              <a:solidFill>
                <a:prstClr val="white"/>
              </a:solidFill>
              <a:latin typeface="Arial"/>
              <a:ea typeface="宋体"/>
            </a:endParaRPr>
          </a:p>
        </p:txBody>
      </p:sp>
      <p:grpSp>
        <p:nvGrpSpPr>
          <p:cNvPr id="8" name="组合 13"/>
          <p:cNvGrpSpPr>
            <a:grpSpLocks/>
          </p:cNvGrpSpPr>
          <p:nvPr/>
        </p:nvGrpSpPr>
        <p:grpSpPr bwMode="auto">
          <a:xfrm>
            <a:off x="482600" y="2459038"/>
            <a:ext cx="2501900" cy="2501900"/>
            <a:chOff x="482600" y="2373313"/>
            <a:chExt cx="2501900" cy="2501900"/>
          </a:xfrm>
        </p:grpSpPr>
        <p:sp>
          <p:nvSpPr>
            <p:cNvPr id="9" name="椭圆 51"/>
            <p:cNvSpPr>
              <a:spLocks noChangeArrowheads="1"/>
            </p:cNvSpPr>
            <p:nvPr/>
          </p:nvSpPr>
          <p:spPr bwMode="auto">
            <a:xfrm>
              <a:off x="482600" y="2373313"/>
              <a:ext cx="2501900" cy="2501900"/>
            </a:xfrm>
            <a:prstGeom prst="ellipse">
              <a:avLst/>
            </a:prstGeom>
            <a:solidFill>
              <a:srgbClr val="006BA9"/>
            </a:solidFill>
            <a:ln w="25400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684269" y="2570359"/>
              <a:ext cx="2101549" cy="2101549"/>
            </a:xfrm>
            <a:prstGeom prst="ellipse">
              <a:avLst/>
            </a:prstGeom>
            <a:solidFill>
              <a:sysClr val="window" lastClr="FFFFFF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innerShdw blurRad="76200" dist="50800" dir="16200000">
                <a:prstClr val="black">
                  <a:alpha val="34000"/>
                </a:prstClr>
              </a:innerShdw>
            </a:effectLst>
            <a:ex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Font typeface="Arial" pitchFamily="34" charset="0"/>
                <a:buNone/>
                <a:defRPr/>
              </a:pPr>
              <a:endParaRPr lang="zh-CN" altLang="en-US" kern="0">
                <a:solidFill>
                  <a:prstClr val="black"/>
                </a:solidFill>
                <a:ea typeface="宋体" pitchFamily="2" charset="-122"/>
              </a:endParaRPr>
            </a:p>
          </p:txBody>
        </p:sp>
        <p:sp>
          <p:nvSpPr>
            <p:cNvPr id="11" name="矩形 147"/>
            <p:cNvSpPr>
              <a:spLocks noChangeArrowheads="1"/>
            </p:cNvSpPr>
            <p:nvPr/>
          </p:nvSpPr>
          <p:spPr bwMode="auto">
            <a:xfrm>
              <a:off x="827088" y="3294063"/>
              <a:ext cx="1839912" cy="646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600" b="1" kern="0" dirty="0" smtClean="0">
                  <a:solidFill>
                    <a:srgbClr val="006BA9"/>
                  </a:solidFill>
                  <a:latin typeface="微软雅黑" pitchFamily="34" charset="-122"/>
                  <a:ea typeface="微软雅黑" pitchFamily="34" charset="-122"/>
                </a:rPr>
                <a:t>步 骤</a:t>
              </a:r>
            </a:p>
          </p:txBody>
        </p:sp>
      </p:grpSp>
      <p:sp>
        <p:nvSpPr>
          <p:cNvPr id="12" name="任意多边形 11"/>
          <p:cNvSpPr/>
          <p:nvPr/>
        </p:nvSpPr>
        <p:spPr>
          <a:xfrm>
            <a:off x="4575175" y="2932113"/>
            <a:ext cx="100013" cy="449262"/>
          </a:xfrm>
          <a:custGeom>
            <a:avLst/>
            <a:gdLst>
              <a:gd name="connsiteX0" fmla="*/ 0 w 120761"/>
              <a:gd name="connsiteY0" fmla="*/ 0 h 548640"/>
              <a:gd name="connsiteX1" fmla="*/ 120761 w 120761"/>
              <a:gd name="connsiteY1" fmla="*/ 0 h 548640"/>
              <a:gd name="connsiteX2" fmla="*/ 120761 w 120761"/>
              <a:gd name="connsiteY2" fmla="*/ 548640 h 548640"/>
              <a:gd name="connsiteX3" fmla="*/ 0 w 120761"/>
              <a:gd name="connsiteY3" fmla="*/ 548640 h 548640"/>
              <a:gd name="connsiteX4" fmla="*/ 0 w 120761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761" h="548640">
                <a:moveTo>
                  <a:pt x="0" y="0"/>
                </a:moveTo>
                <a:lnTo>
                  <a:pt x="120761" y="0"/>
                </a:lnTo>
                <a:lnTo>
                  <a:pt x="120761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19050" tIns="0" rIns="19050" bIns="0" spcCol="1270" anchor="ctr"/>
          <a:lstStyle/>
          <a:p>
            <a:pPr defTabSz="222250" eaLnBrk="1" fontAlgn="auto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defRPr/>
            </a:pPr>
            <a:endParaRPr lang="zh-CN" altLang="en-US" sz="500" kern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宋体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4159250" y="3403600"/>
            <a:ext cx="138113" cy="450850"/>
          </a:xfrm>
          <a:custGeom>
            <a:avLst/>
            <a:gdLst>
              <a:gd name="connsiteX0" fmla="*/ 0 w 168645"/>
              <a:gd name="connsiteY0" fmla="*/ 0 h 548640"/>
              <a:gd name="connsiteX1" fmla="*/ 168645 w 168645"/>
              <a:gd name="connsiteY1" fmla="*/ 0 h 548640"/>
              <a:gd name="connsiteX2" fmla="*/ 168645 w 168645"/>
              <a:gd name="connsiteY2" fmla="*/ 548640 h 548640"/>
              <a:gd name="connsiteX3" fmla="*/ 0 w 168645"/>
              <a:gd name="connsiteY3" fmla="*/ 548640 h 548640"/>
              <a:gd name="connsiteX4" fmla="*/ 0 w 168645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45" h="548640">
                <a:moveTo>
                  <a:pt x="0" y="0"/>
                </a:moveTo>
                <a:lnTo>
                  <a:pt x="168645" y="0"/>
                </a:lnTo>
                <a:lnTo>
                  <a:pt x="168645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lIns="19050" tIns="0" rIns="19050" bIns="0" spcCol="1270" anchor="ctr"/>
          <a:lstStyle/>
          <a:p>
            <a:pPr defTabSz="222250" eaLnBrk="1" fontAlgn="auto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defRPr/>
            </a:pPr>
            <a:endParaRPr lang="zh-CN" altLang="en-US" sz="500" kern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宋体"/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3567113" y="2894013"/>
            <a:ext cx="449262" cy="450850"/>
          </a:xfrm>
          <a:prstGeom prst="roundRect">
            <a:avLst/>
          </a:prstGeom>
          <a:solidFill>
            <a:srgbClr val="006BA9"/>
          </a:solidFill>
          <a:ln w="28575" cap="flat" cmpd="sng" algn="ctr">
            <a:solidFill>
              <a:srgbClr val="006BA9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zh-CN" altLang="en-US" kern="0">
              <a:solidFill>
                <a:prstClr val="black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6" name="矩形 5"/>
          <p:cNvSpPr>
            <a:spLocks noChangeArrowheads="1"/>
          </p:cNvSpPr>
          <p:nvPr/>
        </p:nvSpPr>
        <p:spPr bwMode="auto">
          <a:xfrm>
            <a:off x="4192588" y="2925763"/>
            <a:ext cx="1985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0" dirty="0" smtClean="0">
                <a:solidFill>
                  <a:srgbClr val="006B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</a:t>
            </a:r>
            <a:r>
              <a:rPr lang="en-US" altLang="zh-CN" sz="2000" b="1" kern="0" dirty="0" smtClean="0">
                <a:solidFill>
                  <a:srgbClr val="006B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JSTL</a:t>
            </a:r>
            <a:r>
              <a:rPr lang="zh-CN" altLang="en-US" sz="2000" b="1" kern="0" dirty="0" smtClean="0">
                <a:solidFill>
                  <a:srgbClr val="006B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  <a:endParaRPr lang="zh-CN" altLang="zh-CN" sz="2000" b="1" kern="0" dirty="0" smtClean="0">
              <a:solidFill>
                <a:srgbClr val="006BA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 bwMode="auto">
          <a:xfrm>
            <a:off x="3567113" y="3414713"/>
            <a:ext cx="449262" cy="450850"/>
          </a:xfrm>
          <a:prstGeom prst="roundRect">
            <a:avLst/>
          </a:prstGeom>
          <a:solidFill>
            <a:srgbClr val="006BA9"/>
          </a:solidFill>
          <a:ln w="28575" cap="flat" cmpd="sng" algn="ctr">
            <a:solidFill>
              <a:srgbClr val="006BA9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zh-CN" altLang="en-US" kern="0">
              <a:solidFill>
                <a:prstClr val="black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8" name="圆角矩形 17"/>
          <p:cNvSpPr/>
          <p:nvPr/>
        </p:nvSpPr>
        <p:spPr bwMode="auto">
          <a:xfrm>
            <a:off x="3567113" y="3960813"/>
            <a:ext cx="449262" cy="450850"/>
          </a:xfrm>
          <a:prstGeom prst="roundRect">
            <a:avLst/>
          </a:prstGeom>
          <a:solidFill>
            <a:srgbClr val="006BA9"/>
          </a:solidFill>
          <a:ln w="28575" cap="flat" cmpd="sng" algn="ctr">
            <a:solidFill>
              <a:srgbClr val="006BA9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zh-CN" altLang="en-US" kern="0">
              <a:solidFill>
                <a:prstClr val="black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9" name="矩形 7"/>
          <p:cNvSpPr>
            <a:spLocks noChangeArrowheads="1"/>
          </p:cNvSpPr>
          <p:nvPr/>
        </p:nvSpPr>
        <p:spPr bwMode="auto">
          <a:xfrm>
            <a:off x="4211960" y="4056063"/>
            <a:ext cx="1273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0" dirty="0" smtClean="0">
                <a:solidFill>
                  <a:srgbClr val="006B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lang="en-US" altLang="zh-CN" sz="2000" b="1" kern="0" dirty="0" smtClean="0">
                <a:solidFill>
                  <a:srgbClr val="006B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JSTL</a:t>
            </a:r>
            <a:endParaRPr lang="zh-CN" altLang="zh-CN" sz="2000" kern="0" dirty="0" smtClean="0">
              <a:solidFill>
                <a:srgbClr val="006BA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6"/>
          <p:cNvSpPr>
            <a:spLocks noChangeArrowheads="1"/>
          </p:cNvSpPr>
          <p:nvPr/>
        </p:nvSpPr>
        <p:spPr bwMode="auto">
          <a:xfrm>
            <a:off x="4211960" y="3494088"/>
            <a:ext cx="1273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0" dirty="0" smtClean="0">
                <a:solidFill>
                  <a:srgbClr val="006B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b="1" kern="0" dirty="0" smtClean="0">
                <a:solidFill>
                  <a:srgbClr val="006B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JSTL</a:t>
            </a:r>
            <a:endParaRPr lang="zh-CN" altLang="zh-CN" sz="2000" b="1" kern="0" dirty="0" smtClean="0">
              <a:solidFill>
                <a:srgbClr val="006BA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1"/>
          <p:cNvSpPr>
            <a:spLocks noChangeArrowheads="1"/>
          </p:cNvSpPr>
          <p:nvPr/>
        </p:nvSpPr>
        <p:spPr bwMode="auto">
          <a:xfrm>
            <a:off x="3635375" y="2932113"/>
            <a:ext cx="342900" cy="400050"/>
          </a:xfrm>
          <a:prstGeom prst="rect">
            <a:avLst/>
          </a:prstGeom>
          <a:solidFill>
            <a:srgbClr val="006BA9"/>
          </a:solidFill>
          <a:ln>
            <a:solidFill>
              <a:srgbClr val="006BA9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0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"/>
          <p:cNvSpPr>
            <a:spLocks noChangeArrowheads="1"/>
          </p:cNvSpPr>
          <p:nvPr/>
        </p:nvSpPr>
        <p:spPr bwMode="auto">
          <a:xfrm>
            <a:off x="3611563" y="3460750"/>
            <a:ext cx="404812" cy="400110"/>
          </a:xfrm>
          <a:prstGeom prst="rect">
            <a:avLst/>
          </a:prstGeom>
          <a:solidFill>
            <a:srgbClr val="006BA9"/>
          </a:solidFill>
          <a:ln>
            <a:solidFill>
              <a:srgbClr val="006BA9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mtClean="0"/>
              <a:t> </a:t>
            </a:r>
            <a:endParaRPr lang="zh-CN" altLang="en-US"/>
          </a:p>
        </p:txBody>
      </p:sp>
      <p:sp>
        <p:nvSpPr>
          <p:cNvPr id="24" name="矩形 3"/>
          <p:cNvSpPr>
            <a:spLocks noChangeArrowheads="1"/>
          </p:cNvSpPr>
          <p:nvPr/>
        </p:nvSpPr>
        <p:spPr bwMode="auto">
          <a:xfrm>
            <a:off x="3611562" y="3995738"/>
            <a:ext cx="384125" cy="400110"/>
          </a:xfrm>
          <a:prstGeom prst="rect">
            <a:avLst/>
          </a:prstGeom>
          <a:solidFill>
            <a:srgbClr val="006BA9"/>
          </a:solidFill>
          <a:ln>
            <a:solidFill>
              <a:srgbClr val="006BA9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endParaRPr lang="zh-CN" altLang="en-US" sz="20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 bwMode="auto">
          <a:xfrm>
            <a:off x="1187624" y="5157192"/>
            <a:ext cx="79756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接下来，</a:t>
            </a:r>
            <a:r>
              <a:rPr lang="zh-CN" altLang="zh-CN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分步骤演示</a:t>
            </a:r>
            <a:r>
              <a:rPr lang="en-US" altLang="zh-CN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JSTL</a:t>
            </a:r>
            <a:r>
              <a:rPr lang="zh-CN" altLang="zh-CN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的安装和测试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，请参见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教材</a:t>
            </a:r>
            <a:r>
              <a:rPr lang="en-US" altLang="zh-CN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7.3.2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小节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zh-CN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7.3.2 JSTL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的安装和测试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4716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15" grpId="0" animBg="1"/>
      <p:bldP spid="16" grpId="0"/>
      <p:bldP spid="17" grpId="0" animBg="1"/>
      <p:bldP spid="18" grpId="0" animBg="1"/>
      <p:bldP spid="19" grpId="0"/>
      <p:bldP spid="20" grpId="0"/>
      <p:bldP spid="22" grpId="0" animBg="1"/>
      <p:bldP spid="23" grpId="0" animBg="1"/>
      <p:bldP spid="24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1784251"/>
            <a:ext cx="8102600" cy="3660973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c:out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标签可以将一段文本内容或表达式的结果输出到客户端。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en-US" sz="1600" b="1" dirty="0">
                <a:latin typeface="+mn-ea"/>
              </a:rPr>
              <a:t>语法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：没有标签体的</a:t>
            </a:r>
            <a:r>
              <a:rPr lang="zh-CN" altLang="en-US" sz="1600" b="1" dirty="0" smtClean="0">
                <a:latin typeface="+mn-ea"/>
              </a:rPr>
              <a:t>情况</a:t>
            </a:r>
            <a:endParaRPr lang="en-US" altLang="zh-CN" sz="1600" b="1" dirty="0" smtClean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b="1" dirty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b="1" dirty="0" smtClean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b="1" dirty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en-US" sz="1600" b="1" dirty="0">
                <a:latin typeface="+mn-ea"/>
              </a:rPr>
              <a:t>语法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zh-CN" altLang="zh-CN" sz="1600" b="1" dirty="0">
                <a:latin typeface="+mn-ea"/>
              </a:rPr>
              <a:t>有标签体的情况，在标签体中指定输出的默认值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en-US" sz="1600" b="1" dirty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>
              <a:latin typeface="+mn-ea"/>
            </a:endParaRPr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8823" y="1701834"/>
            <a:ext cx="8102600" cy="3815397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5508104" y="1412776"/>
            <a:ext cx="230425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c:out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16"/>
          <p:cNvSpPr>
            <a:spLocks noChangeArrowheads="1"/>
          </p:cNvSpPr>
          <p:nvPr/>
        </p:nvSpPr>
        <p:spPr bwMode="auto">
          <a:xfrm>
            <a:off x="563563" y="2739207"/>
            <a:ext cx="8042275" cy="977825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600" dirty="0" smtClean="0"/>
              <a:t>      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c:out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value="value" [default="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defaultValue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 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escapeXml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="{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true|false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}"]/&gt;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/>
            <a:endParaRPr lang="zh-CN" altLang="zh-CN" sz="1400" dirty="0"/>
          </a:p>
        </p:txBody>
      </p:sp>
      <p:sp>
        <p:nvSpPr>
          <p:cNvPr id="10" name="矩形 16"/>
          <p:cNvSpPr>
            <a:spLocks noChangeArrowheads="1"/>
          </p:cNvSpPr>
          <p:nvPr/>
        </p:nvSpPr>
        <p:spPr bwMode="auto">
          <a:xfrm>
            <a:off x="562173" y="4437112"/>
            <a:ext cx="8042275" cy="977825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ts val="2200"/>
              </a:lnSpc>
            </a:pP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c:out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value="value" 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escapeXml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="{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true|false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}"]&gt;</a:t>
            </a:r>
          </a:p>
          <a:p>
            <a:pPr>
              <a:lnSpc>
                <a:spcPts val="2200"/>
              </a:lnSpc>
            </a:pP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defaultValue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&lt;/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c:out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742950" lvl="1" indent="-285750"/>
            <a:endParaRPr lang="zh-CN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27584" y="2871715"/>
            <a:ext cx="3960440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 bwMode="auto">
          <a:xfrm>
            <a:off x="3923928" y="3228119"/>
            <a:ext cx="1584176" cy="172843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圆角矩形 16"/>
          <p:cNvSpPr/>
          <p:nvPr/>
        </p:nvSpPr>
        <p:spPr>
          <a:xfrm>
            <a:off x="4144743" y="3501007"/>
            <a:ext cx="3811633" cy="936105"/>
          </a:xfrm>
          <a:prstGeom prst="roundRect">
            <a:avLst/>
          </a:prstGeom>
          <a:solidFill>
            <a:srgbClr val="0070C0"/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r>
              <a:rPr lang="en-US" altLang="zh-CN" sz="1600" b="1" dirty="0" smtClean="0">
                <a:solidFill>
                  <a:schemeClr val="bg1"/>
                </a:solidFill>
                <a:ea typeface="宋体" pitchFamily="2" charset="-122"/>
              </a:rPr>
              <a:t>value</a:t>
            </a:r>
            <a:r>
              <a:rPr lang="zh-CN" altLang="en-US" sz="1600" b="1" dirty="0" smtClean="0">
                <a:solidFill>
                  <a:schemeClr val="bg1"/>
                </a:solidFill>
                <a:ea typeface="宋体" pitchFamily="2" charset="-122"/>
              </a:rPr>
              <a:t>属性：</a:t>
            </a:r>
            <a:r>
              <a:rPr lang="zh-CN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用于指定输出的文本内容</a:t>
            </a:r>
            <a:endParaRPr lang="zh-CN" altLang="en-US" sz="1600" b="1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  <a:p>
            <a:r>
              <a:rPr lang="en-US" altLang="zh-CN" sz="1600" b="1" dirty="0" smtClean="0">
                <a:solidFill>
                  <a:schemeClr val="bg1"/>
                </a:solidFill>
                <a:ea typeface="宋体" pitchFamily="2" charset="-122"/>
              </a:rPr>
              <a:t>default</a:t>
            </a:r>
            <a:r>
              <a:rPr lang="zh-CN" altLang="en-US" sz="1600" b="1" dirty="0" smtClean="0">
                <a:solidFill>
                  <a:schemeClr val="bg1"/>
                </a:solidFill>
                <a:ea typeface="宋体" pitchFamily="2" charset="-122"/>
              </a:rPr>
              <a:t>属性：</a:t>
            </a:r>
            <a:r>
              <a:rPr lang="zh-CN" altLang="en-US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指定当</a:t>
            </a:r>
            <a:r>
              <a:rPr lang="en-US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value</a:t>
            </a:r>
            <a:r>
              <a:rPr lang="zh-CN" altLang="en-US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属性为</a:t>
            </a:r>
            <a:r>
              <a:rPr lang="en-US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null</a:t>
            </a:r>
            <a:r>
              <a:rPr lang="zh-CN" altLang="en-US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时所输出的默认</a:t>
            </a:r>
            <a:r>
              <a:rPr lang="zh-CN" altLang="en-US" sz="1600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值。</a:t>
            </a:r>
            <a:endParaRPr lang="en-US" altLang="zh-CN" sz="1600" b="1" dirty="0" smtClean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627784" y="4509119"/>
            <a:ext cx="2160240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21" name="直接箭头连接符 20"/>
          <p:cNvCxnSpPr/>
          <p:nvPr/>
        </p:nvCxnSpPr>
        <p:spPr bwMode="auto">
          <a:xfrm>
            <a:off x="3102124" y="4839602"/>
            <a:ext cx="1584176" cy="172843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圆角矩形 21"/>
          <p:cNvSpPr/>
          <p:nvPr/>
        </p:nvSpPr>
        <p:spPr>
          <a:xfrm>
            <a:off x="4788024" y="4839602"/>
            <a:ext cx="3811633" cy="936105"/>
          </a:xfrm>
          <a:prstGeom prst="roundRect">
            <a:avLst/>
          </a:prstGeom>
          <a:solidFill>
            <a:srgbClr val="0070C0"/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r>
              <a:rPr lang="zh-CN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用于指定是否将</a:t>
            </a:r>
            <a:r>
              <a:rPr lang="en-US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&gt;</a:t>
            </a:r>
            <a:r>
              <a:rPr lang="zh-CN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&lt;</a:t>
            </a:r>
            <a:r>
              <a:rPr lang="zh-CN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&amp;</a:t>
            </a:r>
            <a:r>
              <a:rPr lang="zh-CN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'</a:t>
            </a:r>
            <a:r>
              <a:rPr lang="zh-CN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" </a:t>
            </a:r>
            <a:r>
              <a:rPr lang="zh-CN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等特殊字符进行</a:t>
            </a:r>
            <a:r>
              <a:rPr lang="en-US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HTML</a:t>
            </a:r>
            <a:r>
              <a:rPr lang="zh-CN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编码转换后再进行输出，默认值为</a:t>
            </a:r>
            <a:r>
              <a:rPr lang="en-US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true</a:t>
            </a:r>
            <a:r>
              <a:rPr lang="zh-CN" altLang="zh-CN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。</a:t>
            </a:r>
            <a:endParaRPr lang="en-US" altLang="zh-CN" sz="1600" b="1" dirty="0" smtClean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14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7.3.3 JSTL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中的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Core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标签库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9571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9" grpId="0" animBg="1"/>
      <p:bldP spid="10" grpId="0" animBg="1"/>
      <p:bldP spid="11" grpId="0" animBg="1"/>
      <p:bldP spid="17" grpId="0" animBg="1"/>
      <p:bldP spid="20" grpId="0" animBg="1"/>
      <p:bldP spid="2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542925" y="1928268"/>
            <a:ext cx="8102600" cy="3660973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程序开发中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，需要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语句进行条件判断，如果要在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页面中进行条件判断，就需要使用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标签库提供的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c:if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，用于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页面中的条件判断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en-US" sz="1600" b="1" dirty="0">
                <a:latin typeface="+mn-ea"/>
              </a:rPr>
              <a:t>语法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zh-CN" altLang="zh-CN" sz="1600" b="1" dirty="0">
                <a:latin typeface="+mn-ea"/>
              </a:rPr>
              <a:t>没有标签体的情况</a:t>
            </a:r>
            <a:endParaRPr lang="zh-CN" altLang="en-US" sz="1600" b="1" dirty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b="1" dirty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b="1" dirty="0" smtClean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b="1" dirty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en-US" sz="1600" b="1" dirty="0">
                <a:latin typeface="+mn-ea"/>
              </a:rPr>
              <a:t>语法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zh-CN" altLang="zh-CN" sz="1600" b="1" dirty="0">
                <a:latin typeface="+mn-ea"/>
              </a:rPr>
              <a:t>有标签体的情况，在标签体中指定要输出的内容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en-US" sz="1600" b="1" dirty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>
              <a:latin typeface="+mn-ea"/>
            </a:endParaRPr>
          </a:p>
        </p:txBody>
      </p:sp>
      <p:sp>
        <p:nvSpPr>
          <p:cNvPr id="21" name="矩形 24"/>
          <p:cNvSpPr>
            <a:spLocks noChangeArrowheads="1"/>
          </p:cNvSpPr>
          <p:nvPr/>
        </p:nvSpPr>
        <p:spPr bwMode="auto">
          <a:xfrm>
            <a:off x="548823" y="1845851"/>
            <a:ext cx="8102600" cy="4535477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22" name="任意多边形 21"/>
          <p:cNvSpPr/>
          <p:nvPr/>
        </p:nvSpPr>
        <p:spPr bwMode="auto">
          <a:xfrm>
            <a:off x="5508104" y="1556793"/>
            <a:ext cx="230425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c:if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16"/>
          <p:cNvSpPr>
            <a:spLocks noChangeArrowheads="1"/>
          </p:cNvSpPr>
          <p:nvPr/>
        </p:nvSpPr>
        <p:spPr bwMode="auto">
          <a:xfrm>
            <a:off x="563563" y="3315271"/>
            <a:ext cx="8042275" cy="977825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600" dirty="0" smtClean="0"/>
              <a:t>     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c:if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test="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testCondition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resulst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[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scope="{</a:t>
            </a:r>
            <a:r>
              <a:rPr lang="en-US" altLang="zh-CN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page|request|session|application</a:t>
            </a:r>
            <a:r>
              <a:rPr lang="en-US" altLang="zh-C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}"]/&gt;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16"/>
          <p:cNvSpPr>
            <a:spLocks noChangeArrowheads="1"/>
          </p:cNvSpPr>
          <p:nvPr/>
        </p:nvSpPr>
        <p:spPr bwMode="auto">
          <a:xfrm>
            <a:off x="583660" y="4797152"/>
            <a:ext cx="8042275" cy="151216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600" dirty="0" smtClean="0"/>
              <a:t>     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c:if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test="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testCondition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resulst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[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scope="{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page|request|session|application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}"]&gt;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body content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&lt;/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c:if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742950" lvl="1" indent="-285750"/>
            <a:endParaRPr lang="zh-CN" altLang="zh-CN" sz="1400" dirty="0"/>
          </a:p>
        </p:txBody>
      </p:sp>
      <p:sp>
        <p:nvSpPr>
          <p:cNvPr id="33" name="矩形 32"/>
          <p:cNvSpPr/>
          <p:nvPr/>
        </p:nvSpPr>
        <p:spPr>
          <a:xfrm>
            <a:off x="1259632" y="3447780"/>
            <a:ext cx="1728192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34" name="直接箭头连接符 33"/>
          <p:cNvCxnSpPr/>
          <p:nvPr/>
        </p:nvCxnSpPr>
        <p:spPr bwMode="auto">
          <a:xfrm flipV="1">
            <a:off x="2378814" y="3192115"/>
            <a:ext cx="1185074" cy="246312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圆角矩形 36"/>
          <p:cNvSpPr/>
          <p:nvPr/>
        </p:nvSpPr>
        <p:spPr>
          <a:xfrm>
            <a:off x="3635896" y="2852936"/>
            <a:ext cx="1939425" cy="396556"/>
          </a:xfrm>
          <a:prstGeom prst="roundRect">
            <a:avLst/>
          </a:prstGeom>
          <a:solidFill>
            <a:srgbClr val="0070C0"/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r>
              <a:rPr lang="zh-CN" altLang="zh-CN" sz="1600" b="1" dirty="0">
                <a:solidFill>
                  <a:schemeClr val="bg1"/>
                </a:solidFill>
                <a:latin typeface="+mn-ea"/>
              </a:rPr>
              <a:t>用于</a:t>
            </a:r>
            <a:r>
              <a:rPr lang="zh-CN" altLang="en-US" sz="1600" b="1" dirty="0">
                <a:solidFill>
                  <a:schemeClr val="bg1"/>
                </a:solidFill>
                <a:latin typeface="+mn-ea"/>
              </a:rPr>
              <a:t>设置逻辑表达式</a:t>
            </a:r>
          </a:p>
        </p:txBody>
      </p:sp>
      <p:sp>
        <p:nvSpPr>
          <p:cNvPr id="38" name="矩形 37"/>
          <p:cNvSpPr/>
          <p:nvPr/>
        </p:nvSpPr>
        <p:spPr>
          <a:xfrm>
            <a:off x="3023828" y="3447780"/>
            <a:ext cx="1080120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39" name="直接箭头连接符 38"/>
          <p:cNvCxnSpPr/>
          <p:nvPr/>
        </p:nvCxnSpPr>
        <p:spPr bwMode="auto">
          <a:xfrm>
            <a:off x="4211960" y="3582407"/>
            <a:ext cx="720080" cy="0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" name="圆角矩形 42"/>
          <p:cNvSpPr/>
          <p:nvPr/>
        </p:nvSpPr>
        <p:spPr>
          <a:xfrm>
            <a:off x="4932040" y="3315271"/>
            <a:ext cx="2088232" cy="617785"/>
          </a:xfrm>
          <a:prstGeom prst="roundRect">
            <a:avLst/>
          </a:prstGeom>
          <a:solidFill>
            <a:srgbClr val="0070C0"/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+mn-ea"/>
              </a:rPr>
              <a:t>用于</a:t>
            </a:r>
            <a:r>
              <a:rPr lang="zh-CN" altLang="zh-CN" sz="1600" b="1" dirty="0">
                <a:solidFill>
                  <a:schemeClr val="bg1"/>
                </a:solidFill>
                <a:latin typeface="+mn-ea"/>
              </a:rPr>
              <a:t>用于指定逻辑表达式中变量的名字</a:t>
            </a:r>
            <a:endParaRPr lang="zh-CN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99592" y="5283984"/>
            <a:ext cx="3888432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45" name="直接箭头连接符 44"/>
          <p:cNvCxnSpPr/>
          <p:nvPr/>
        </p:nvCxnSpPr>
        <p:spPr bwMode="auto">
          <a:xfrm>
            <a:off x="4856486" y="5418610"/>
            <a:ext cx="720080" cy="0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" name="圆角矩形 45"/>
          <p:cNvSpPr/>
          <p:nvPr/>
        </p:nvSpPr>
        <p:spPr>
          <a:xfrm>
            <a:off x="5616116" y="5109717"/>
            <a:ext cx="2484276" cy="617785"/>
          </a:xfrm>
          <a:prstGeom prst="roundRect">
            <a:avLst/>
          </a:prstGeom>
          <a:solidFill>
            <a:srgbClr val="0070C0"/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>
              <a:lnSpc>
                <a:spcPts val="2200"/>
              </a:lnSpc>
            </a:pPr>
            <a:r>
              <a:rPr lang="zh-CN" altLang="zh-CN" sz="1600" b="1" dirty="0">
                <a:solidFill>
                  <a:schemeClr val="bg1"/>
                </a:solidFill>
                <a:latin typeface="+mn-ea"/>
              </a:rPr>
              <a:t>用于指定</a:t>
            </a:r>
            <a:r>
              <a:rPr lang="en-US" altLang="zh-CN" sz="1600" b="1" dirty="0" err="1">
                <a:solidFill>
                  <a:schemeClr val="bg1"/>
                </a:solidFill>
                <a:latin typeface="+mn-ea"/>
              </a:rPr>
              <a:t>var</a:t>
            </a:r>
            <a:r>
              <a:rPr lang="zh-CN" altLang="zh-CN" sz="1600" b="1" dirty="0">
                <a:solidFill>
                  <a:schemeClr val="bg1"/>
                </a:solidFill>
                <a:latin typeface="+mn-ea"/>
              </a:rPr>
              <a:t>变量的作用范围，默认值为</a:t>
            </a:r>
            <a:r>
              <a:rPr lang="en-US" altLang="zh-CN" sz="1600" b="1" dirty="0">
                <a:solidFill>
                  <a:schemeClr val="bg1"/>
                </a:solidFill>
                <a:latin typeface="+mn-ea"/>
              </a:rPr>
              <a:t>page</a:t>
            </a:r>
            <a:r>
              <a:rPr lang="zh-CN" altLang="zh-CN" sz="1600" b="1" dirty="0">
                <a:solidFill>
                  <a:schemeClr val="bg1"/>
                </a:solidFill>
                <a:latin typeface="+mn-ea"/>
              </a:rPr>
              <a:t>。</a:t>
            </a:r>
            <a:endParaRPr lang="zh-CN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7.3.3 JSTL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中的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Core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标签库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6920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 animBg="1"/>
      <p:bldP spid="31" grpId="0" animBg="1"/>
      <p:bldP spid="32" grpId="0" animBg="1"/>
      <p:bldP spid="33" grpId="0" animBg="1"/>
      <p:bldP spid="37" grpId="0" animBg="1"/>
      <p:bldP spid="38" grpId="0" animBg="1"/>
      <p:bldP spid="43" grpId="0" animBg="1"/>
      <p:bldP spid="44" grpId="0" animBg="1"/>
      <p:bldP spid="4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1928269"/>
            <a:ext cx="8102600" cy="2004788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标签库提供了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c:choose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标签，该标签用于指定多个条件选择的组合边界，它必须与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c:when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c:otherwise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标签一起使用。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c:choose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标签没有属性，在它的标签体中只能嵌套一个或多个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c:when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标签和零个或一个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c:otherwise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标签，并且同一个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c:choose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标签中所有的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c:when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子标签必须出现在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c:otherwise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子标签之前，其语法格式如下：</a:t>
            </a:r>
          </a:p>
          <a:p>
            <a:pPr marL="342900" lvl="1" indent="-342900"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en-US" sz="1600" dirty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>
              <a:latin typeface="+mn-ea"/>
            </a:endParaRPr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8823" y="1845851"/>
            <a:ext cx="8102600" cy="3455357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5508104" y="1556793"/>
            <a:ext cx="230425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c:choose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16"/>
          <p:cNvSpPr>
            <a:spLocks noChangeArrowheads="1"/>
          </p:cNvSpPr>
          <p:nvPr/>
        </p:nvSpPr>
        <p:spPr bwMode="auto">
          <a:xfrm>
            <a:off x="563563" y="3861048"/>
            <a:ext cx="8042275" cy="1224136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c:choose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Body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content(&lt;when&gt; and &lt;otherwise&gt;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subtags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&lt;/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c:choose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/>
            <a:endParaRPr lang="zh-CN" altLang="zh-CN" sz="1400" dirty="0"/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7.3.3 JSTL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中的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Core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标签库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8474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2072284"/>
            <a:ext cx="8102600" cy="1140691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c:when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标签只有一个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属性，该属性的值为布尔类型。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属性支持动态值，其值可以是一个条件表达式，如果条件表达式的值为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，就执行这个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c:when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标签体的内容，其语法格式如下：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>
              <a:latin typeface="+mn-ea"/>
            </a:endParaRPr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8823" y="1989866"/>
            <a:ext cx="8102600" cy="1799173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5508104" y="1700808"/>
            <a:ext cx="230425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c:when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16"/>
          <p:cNvSpPr>
            <a:spLocks noChangeArrowheads="1"/>
          </p:cNvSpPr>
          <p:nvPr/>
        </p:nvSpPr>
        <p:spPr bwMode="auto">
          <a:xfrm>
            <a:off x="563563" y="3284983"/>
            <a:ext cx="8042275" cy="43204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c:when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test="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testCondition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"&gt;Body content&lt;/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c:when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/>
            <a:endParaRPr lang="zh-CN" altLang="zh-CN" sz="1400" dirty="0"/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539552" y="4304531"/>
            <a:ext cx="8102600" cy="1140691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c:otherwise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标签没有属性，它必须作为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c:choose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标签最后分支出现，当所有的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c:when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条件都不成立时，才执行和输出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c:otherwise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标签体的内容，其语法格式如下：</a:t>
            </a:r>
          </a:p>
        </p:txBody>
      </p:sp>
      <p:sp>
        <p:nvSpPr>
          <p:cNvPr id="8" name="矩形 24"/>
          <p:cNvSpPr>
            <a:spLocks noChangeArrowheads="1"/>
          </p:cNvSpPr>
          <p:nvPr/>
        </p:nvSpPr>
        <p:spPr bwMode="auto">
          <a:xfrm>
            <a:off x="545450" y="4222114"/>
            <a:ext cx="8102600" cy="1799174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" name="任意多边形 8"/>
          <p:cNvSpPr/>
          <p:nvPr/>
        </p:nvSpPr>
        <p:spPr bwMode="auto">
          <a:xfrm>
            <a:off x="5196011" y="3933055"/>
            <a:ext cx="2612975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c:otherwise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16"/>
          <p:cNvSpPr>
            <a:spLocks noChangeArrowheads="1"/>
          </p:cNvSpPr>
          <p:nvPr/>
        </p:nvSpPr>
        <p:spPr bwMode="auto">
          <a:xfrm>
            <a:off x="560190" y="5517230"/>
            <a:ext cx="8042275" cy="378624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1600" dirty="0" smtClean="0"/>
              <a:t>     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c:otherwise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&gt;conditional block&lt;/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c:otherwise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/>
            <a:endParaRPr lang="zh-CN" altLang="zh-CN" sz="1400" dirty="0"/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7.3.3 JSTL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中的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Core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标签库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4316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/>
      <p:bldP spid="8" grpId="0" animBg="1"/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 bwMode="auto">
          <a:xfrm>
            <a:off x="542925" y="1928268"/>
            <a:ext cx="8102600" cy="1140691"/>
          </a:xfrm>
          <a:prstGeom prst="rect">
            <a:avLst/>
          </a:prstGeom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页面中，经常需要对集合对象进行循环迭代操作，为此，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标签库提供了一个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c:forEach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标签，该标签专门用于迭代集合对象中的元素，如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、数组等，并且能重复执行标签体中的内容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en-US" sz="1600" b="1" dirty="0">
                <a:latin typeface="+mn-ea"/>
              </a:rPr>
              <a:t>语法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zh-CN" altLang="zh-CN" sz="1600" b="1" dirty="0">
                <a:latin typeface="+mn-ea"/>
              </a:rPr>
              <a:t>迭代包含多个对象的</a:t>
            </a:r>
            <a:r>
              <a:rPr lang="zh-CN" altLang="zh-CN" sz="1600" b="1" dirty="0" smtClean="0">
                <a:latin typeface="+mn-ea"/>
              </a:rPr>
              <a:t>集合</a:t>
            </a:r>
            <a:endParaRPr lang="en-US" altLang="zh-CN" sz="1600" b="1" dirty="0" smtClean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b="1" dirty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b="1" dirty="0" smtClean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b="1" dirty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en-US" sz="1600" b="1" dirty="0">
                <a:latin typeface="+mn-ea"/>
              </a:rPr>
              <a:t>语法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zh-CN" altLang="zh-CN" sz="1600" b="1" dirty="0">
                <a:latin typeface="+mn-ea"/>
              </a:rPr>
              <a:t>迭代指定范围内的集合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en-US" sz="1600" b="1" dirty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600" dirty="0">
              <a:latin typeface="+mn-ea"/>
            </a:endParaRPr>
          </a:p>
        </p:txBody>
      </p:sp>
      <p:sp>
        <p:nvSpPr>
          <p:cNvPr id="4" name="矩形 24"/>
          <p:cNvSpPr>
            <a:spLocks noChangeArrowheads="1"/>
          </p:cNvSpPr>
          <p:nvPr/>
        </p:nvSpPr>
        <p:spPr bwMode="auto">
          <a:xfrm>
            <a:off x="548823" y="1845850"/>
            <a:ext cx="8102600" cy="4535478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" name="任意多边形 4"/>
          <p:cNvSpPr/>
          <p:nvPr/>
        </p:nvSpPr>
        <p:spPr bwMode="auto">
          <a:xfrm>
            <a:off x="5508104" y="1556792"/>
            <a:ext cx="2304256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en-US" altLang="zh-CN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c:foreach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16"/>
          <p:cNvSpPr>
            <a:spLocks noChangeArrowheads="1"/>
          </p:cNvSpPr>
          <p:nvPr/>
        </p:nvSpPr>
        <p:spPr bwMode="auto">
          <a:xfrm>
            <a:off x="578985" y="3645023"/>
            <a:ext cx="8042275" cy="1080121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1600" dirty="0" smtClean="0"/>
              <a:t>     &lt;</a:t>
            </a:r>
            <a:r>
              <a:rPr lang="en-US" altLang="zh-CN" sz="1600" dirty="0" err="1"/>
              <a:t>c:forEach</a:t>
            </a:r>
            <a:r>
              <a:rPr lang="en-US" altLang="zh-CN" sz="1600" dirty="0"/>
              <a:t> [</a:t>
            </a:r>
            <a:r>
              <a:rPr lang="en-US" altLang="zh-CN" sz="1600" dirty="0" err="1"/>
              <a:t>var</a:t>
            </a:r>
            <a:r>
              <a:rPr lang="en-US" altLang="zh-CN" sz="1600" dirty="0"/>
              <a:t>="</a:t>
            </a:r>
            <a:r>
              <a:rPr lang="en-US" altLang="zh-CN" sz="1600" dirty="0" err="1"/>
              <a:t>varName</a:t>
            </a:r>
            <a:r>
              <a:rPr lang="en-US" altLang="zh-CN" sz="1600" dirty="0"/>
              <a:t>"] items="collection" [</a:t>
            </a:r>
            <a:r>
              <a:rPr lang="en-US" altLang="zh-CN" sz="1600" dirty="0" err="1"/>
              <a:t>varStatus</a:t>
            </a:r>
            <a:r>
              <a:rPr lang="en-US" altLang="zh-CN" sz="1600" dirty="0"/>
              <a:t>="</a:t>
            </a:r>
            <a:r>
              <a:rPr lang="en-US" altLang="zh-CN" sz="1600" dirty="0" err="1"/>
              <a:t>varStatusName</a:t>
            </a:r>
            <a:r>
              <a:rPr lang="en-US" altLang="zh-CN" sz="1600" dirty="0"/>
              <a:t>"]</a:t>
            </a:r>
            <a:endParaRPr lang="zh-CN" altLang="zh-CN" sz="1600" dirty="0"/>
          </a:p>
          <a:p>
            <a:r>
              <a:rPr lang="en-US" altLang="zh-CN" sz="1600" dirty="0" smtClean="0"/>
              <a:t>     [</a:t>
            </a:r>
            <a:r>
              <a:rPr lang="en-US" altLang="zh-CN" sz="1600" dirty="0"/>
              <a:t>begin="begin"] [end="end"] [step="step"]&gt;</a:t>
            </a:r>
            <a:endParaRPr lang="zh-CN" altLang="zh-CN" sz="1600" dirty="0"/>
          </a:p>
          <a:p>
            <a:r>
              <a:rPr lang="en-US" altLang="zh-CN" sz="1600" dirty="0"/>
              <a:t>	body content</a:t>
            </a:r>
            <a:endParaRPr lang="zh-CN" altLang="zh-CN" sz="1600" dirty="0"/>
          </a:p>
          <a:p>
            <a:r>
              <a:rPr lang="en-US" altLang="zh-CN" sz="1600" dirty="0" smtClean="0"/>
              <a:t>     &lt;/</a:t>
            </a:r>
            <a:r>
              <a:rPr lang="en-US" altLang="zh-CN" sz="1600" dirty="0" err="1"/>
              <a:t>c:forEach</a:t>
            </a:r>
            <a:r>
              <a:rPr lang="en-US" altLang="zh-CN" sz="1600" dirty="0"/>
              <a:t>&gt;</a:t>
            </a:r>
          </a:p>
          <a:p>
            <a:pPr marL="742950" lvl="1" indent="-285750"/>
            <a:endParaRPr lang="zh-CN" altLang="zh-CN" sz="1400" dirty="0"/>
          </a:p>
        </p:txBody>
      </p:sp>
      <p:sp>
        <p:nvSpPr>
          <p:cNvPr id="7" name="矩形 16"/>
          <p:cNvSpPr>
            <a:spLocks noChangeArrowheads="1"/>
          </p:cNvSpPr>
          <p:nvPr/>
        </p:nvSpPr>
        <p:spPr bwMode="auto">
          <a:xfrm>
            <a:off x="562173" y="5229199"/>
            <a:ext cx="8042275" cy="1080121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1600" dirty="0" smtClean="0"/>
              <a:t>     &lt;</a:t>
            </a:r>
            <a:r>
              <a:rPr lang="en-US" altLang="zh-CN" sz="1600" dirty="0" err="1"/>
              <a:t>c:forEach</a:t>
            </a:r>
            <a:r>
              <a:rPr lang="en-US" altLang="zh-CN" sz="1600" dirty="0"/>
              <a:t> [</a:t>
            </a:r>
            <a:r>
              <a:rPr lang="en-US" altLang="zh-CN" sz="1600" dirty="0" err="1"/>
              <a:t>var</a:t>
            </a:r>
            <a:r>
              <a:rPr lang="en-US" altLang="zh-CN" sz="1600" dirty="0"/>
              <a:t>="</a:t>
            </a:r>
            <a:r>
              <a:rPr lang="en-US" altLang="zh-CN" sz="1600" dirty="0" err="1"/>
              <a:t>varName</a:t>
            </a:r>
            <a:r>
              <a:rPr lang="en-US" altLang="zh-CN" sz="1600" dirty="0"/>
              <a:t>"] [</a:t>
            </a:r>
            <a:r>
              <a:rPr lang="en-US" altLang="zh-CN" sz="1600" dirty="0" err="1"/>
              <a:t>varStatus</a:t>
            </a:r>
            <a:r>
              <a:rPr lang="en-US" altLang="zh-CN" sz="1600" dirty="0"/>
              <a:t>="</a:t>
            </a:r>
            <a:r>
              <a:rPr lang="en-US" altLang="zh-CN" sz="1600" dirty="0" err="1"/>
              <a:t>varStatusName</a:t>
            </a:r>
            <a:r>
              <a:rPr lang="en-US" altLang="zh-CN" sz="1600" dirty="0"/>
              <a:t>"] begin="begin" </a:t>
            </a:r>
            <a:endParaRPr lang="zh-CN" altLang="zh-CN" sz="1600" dirty="0" smtClean="0"/>
          </a:p>
          <a:p>
            <a:r>
              <a:rPr lang="en-US" altLang="zh-CN" sz="1600" dirty="0" smtClean="0"/>
              <a:t>     end="end" [step="step"]&gt;</a:t>
            </a:r>
            <a:endParaRPr lang="zh-CN" altLang="zh-CN" sz="1600" dirty="0" smtClean="0"/>
          </a:p>
          <a:p>
            <a:r>
              <a:rPr lang="en-US" altLang="zh-CN" sz="1600" dirty="0"/>
              <a:t>	body content</a:t>
            </a:r>
            <a:endParaRPr lang="zh-CN" altLang="zh-CN" sz="1600" dirty="0"/>
          </a:p>
          <a:p>
            <a:r>
              <a:rPr lang="en-US" altLang="zh-CN" sz="1600" dirty="0" smtClean="0"/>
              <a:t>     &lt;/</a:t>
            </a:r>
            <a:r>
              <a:rPr lang="en-US" altLang="zh-CN" sz="1600" dirty="0" err="1"/>
              <a:t>c:forEach</a:t>
            </a:r>
            <a:r>
              <a:rPr lang="en-US" altLang="zh-CN" sz="1600" dirty="0"/>
              <a:t>&gt;</a:t>
            </a:r>
          </a:p>
          <a:p>
            <a:pPr marL="742950" lvl="1" indent="-285750"/>
            <a:endParaRPr lang="zh-CN" altLang="zh-CN" sz="1400" dirty="0"/>
          </a:p>
        </p:txBody>
      </p:sp>
      <p:sp>
        <p:nvSpPr>
          <p:cNvPr id="8" name="矩形 7"/>
          <p:cNvSpPr/>
          <p:nvPr/>
        </p:nvSpPr>
        <p:spPr>
          <a:xfrm>
            <a:off x="1763688" y="3691841"/>
            <a:ext cx="1440160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 bwMode="auto">
          <a:xfrm flipV="1">
            <a:off x="3022616" y="3407461"/>
            <a:ext cx="1117336" cy="201610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圆角矩形 11"/>
          <p:cNvSpPr/>
          <p:nvPr/>
        </p:nvSpPr>
        <p:spPr>
          <a:xfrm>
            <a:off x="4211960" y="2991286"/>
            <a:ext cx="2448272" cy="617785"/>
          </a:xfrm>
          <a:prstGeom prst="roundRect">
            <a:avLst/>
          </a:prstGeom>
          <a:solidFill>
            <a:srgbClr val="0070C0"/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r>
              <a:rPr lang="zh-CN" altLang="zh-CN" sz="1600" b="1" dirty="0">
                <a:solidFill>
                  <a:schemeClr val="bg1"/>
                </a:solidFill>
                <a:latin typeface="+mn-ea"/>
              </a:rPr>
              <a:t>用于指将当前迭代到的元素保存到</a:t>
            </a:r>
            <a:r>
              <a:rPr lang="en-US" altLang="zh-CN" sz="1600" b="1" dirty="0">
                <a:solidFill>
                  <a:schemeClr val="bg1"/>
                </a:solidFill>
                <a:latin typeface="+mn-ea"/>
              </a:rPr>
              <a:t>page</a:t>
            </a:r>
            <a:r>
              <a:rPr lang="zh-CN" altLang="zh-CN" sz="1600" b="1" dirty="0">
                <a:solidFill>
                  <a:schemeClr val="bg1"/>
                </a:solidFill>
                <a:latin typeface="+mn-ea"/>
              </a:rPr>
              <a:t>域中的名称</a:t>
            </a:r>
            <a:endParaRPr lang="zh-CN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232002" y="3702636"/>
            <a:ext cx="1556021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 bwMode="auto">
          <a:xfrm flipV="1">
            <a:off x="3923928" y="3300178"/>
            <a:ext cx="864095" cy="344845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圆角矩形 15"/>
          <p:cNvSpPr/>
          <p:nvPr/>
        </p:nvSpPr>
        <p:spPr>
          <a:xfrm>
            <a:off x="4788022" y="2901421"/>
            <a:ext cx="2808313" cy="398758"/>
          </a:xfrm>
          <a:prstGeom prst="roundRect">
            <a:avLst/>
          </a:prstGeom>
          <a:solidFill>
            <a:srgbClr val="0070C0"/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>
              <a:lnSpc>
                <a:spcPts val="2200"/>
              </a:lnSpc>
            </a:pPr>
            <a:r>
              <a:rPr lang="zh-CN" altLang="zh-CN" sz="1600" b="1" dirty="0">
                <a:solidFill>
                  <a:schemeClr val="bg1"/>
                </a:solidFill>
                <a:latin typeface="+mn-ea"/>
              </a:rPr>
              <a:t>用于指定将要迭代的集合对象</a:t>
            </a:r>
            <a:endParaRPr lang="zh-CN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788023" y="3694539"/>
            <a:ext cx="2520281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 bwMode="auto">
          <a:xfrm>
            <a:off x="5868144" y="4005064"/>
            <a:ext cx="504055" cy="288033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圆角矩形 20"/>
          <p:cNvSpPr/>
          <p:nvPr/>
        </p:nvSpPr>
        <p:spPr>
          <a:xfrm>
            <a:off x="5175423" y="4332380"/>
            <a:ext cx="2808313" cy="608788"/>
          </a:xfrm>
          <a:prstGeom prst="roundRect">
            <a:avLst/>
          </a:prstGeom>
          <a:solidFill>
            <a:srgbClr val="0070C0"/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>
              <a:lnSpc>
                <a:spcPts val="2200"/>
              </a:lnSpc>
            </a:pPr>
            <a:r>
              <a:rPr lang="zh-CN" altLang="zh-CN" sz="1600" b="1" dirty="0">
                <a:solidFill>
                  <a:schemeClr val="bg1"/>
                </a:solidFill>
                <a:latin typeface="+mn-ea"/>
              </a:rPr>
              <a:t>用于指定当前迭代状态信息的对象保存到</a:t>
            </a:r>
            <a:r>
              <a:rPr lang="en-US" altLang="zh-CN" sz="1600" b="1" dirty="0">
                <a:solidFill>
                  <a:schemeClr val="bg1"/>
                </a:solidFill>
                <a:latin typeface="+mn-ea"/>
              </a:rPr>
              <a:t>page</a:t>
            </a:r>
            <a:r>
              <a:rPr lang="zh-CN" altLang="zh-CN" sz="1600" b="1" dirty="0">
                <a:solidFill>
                  <a:schemeClr val="bg1"/>
                </a:solidFill>
                <a:latin typeface="+mn-ea"/>
              </a:rPr>
              <a:t>域中的名称</a:t>
            </a:r>
            <a:endParaRPr lang="zh-CN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652121" y="5247980"/>
            <a:ext cx="1368152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 bwMode="auto">
          <a:xfrm flipH="1">
            <a:off x="5292080" y="5589240"/>
            <a:ext cx="792089" cy="144016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圆角矩形 24"/>
          <p:cNvSpPr/>
          <p:nvPr/>
        </p:nvSpPr>
        <p:spPr>
          <a:xfrm>
            <a:off x="3615307" y="5769259"/>
            <a:ext cx="3332957" cy="608788"/>
          </a:xfrm>
          <a:prstGeom prst="roundRect">
            <a:avLst/>
          </a:prstGeom>
          <a:solidFill>
            <a:srgbClr val="0070C0"/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>
              <a:lnSpc>
                <a:spcPts val="2200"/>
              </a:lnSpc>
            </a:pPr>
            <a:r>
              <a:rPr lang="zh-CN" altLang="zh-CN" sz="1600" b="1" dirty="0">
                <a:solidFill>
                  <a:schemeClr val="bg1"/>
                </a:solidFill>
                <a:latin typeface="+mn-ea"/>
              </a:rPr>
              <a:t>用于指定从集合中第几个元素开始进行迭代，</a:t>
            </a:r>
            <a:r>
              <a:rPr lang="en-US" altLang="zh-CN" sz="1600" b="1" dirty="0">
                <a:solidFill>
                  <a:schemeClr val="bg1"/>
                </a:solidFill>
                <a:latin typeface="+mn-ea"/>
              </a:rPr>
              <a:t>begin</a:t>
            </a:r>
            <a:r>
              <a:rPr lang="zh-CN" altLang="zh-CN" sz="1600" b="1" dirty="0">
                <a:solidFill>
                  <a:schemeClr val="bg1"/>
                </a:solidFill>
                <a:latin typeface="+mn-ea"/>
              </a:rPr>
              <a:t>的索引值从</a:t>
            </a:r>
            <a:r>
              <a:rPr lang="en-US" altLang="zh-CN" sz="1600" b="1" dirty="0">
                <a:solidFill>
                  <a:schemeClr val="bg1"/>
                </a:solidFill>
                <a:latin typeface="+mn-ea"/>
              </a:rPr>
              <a:t>0</a:t>
            </a:r>
            <a:r>
              <a:rPr lang="zh-CN" altLang="zh-CN" sz="1600" b="1" dirty="0">
                <a:solidFill>
                  <a:schemeClr val="bg1"/>
                </a:solidFill>
                <a:latin typeface="+mn-ea"/>
              </a:rPr>
              <a:t>开始</a:t>
            </a:r>
            <a:endParaRPr lang="zh-CN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763688" y="5534008"/>
            <a:ext cx="1152128" cy="269252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zh-CN" altLang="en-US" dirty="0">
              <a:ea typeface="宋体" pitchFamily="2" charset="-122"/>
            </a:endParaRPr>
          </a:p>
        </p:txBody>
      </p:sp>
      <p:cxnSp>
        <p:nvCxnSpPr>
          <p:cNvPr id="27" name="直接箭头连接符 26"/>
          <p:cNvCxnSpPr/>
          <p:nvPr/>
        </p:nvCxnSpPr>
        <p:spPr bwMode="auto">
          <a:xfrm>
            <a:off x="2723765" y="5914789"/>
            <a:ext cx="857627" cy="118067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圆角矩形 29"/>
          <p:cNvSpPr/>
          <p:nvPr/>
        </p:nvSpPr>
        <p:spPr>
          <a:xfrm>
            <a:off x="3767707" y="5921659"/>
            <a:ext cx="3828628" cy="387661"/>
          </a:xfrm>
          <a:prstGeom prst="roundRect">
            <a:avLst/>
          </a:prstGeom>
          <a:solidFill>
            <a:srgbClr val="0070C0"/>
          </a:soli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>
              <a:lnSpc>
                <a:spcPts val="2200"/>
              </a:lnSpc>
            </a:pPr>
            <a:r>
              <a:rPr lang="zh-CN" altLang="zh-CN" sz="1600" b="1" dirty="0">
                <a:solidFill>
                  <a:schemeClr val="bg1"/>
                </a:solidFill>
                <a:latin typeface="+mn-ea"/>
              </a:rPr>
              <a:t>用于指定</a:t>
            </a:r>
            <a:r>
              <a:rPr lang="zh-CN" altLang="zh-CN" sz="1600" b="1" dirty="0" smtClean="0">
                <a:solidFill>
                  <a:schemeClr val="bg1"/>
                </a:solidFill>
                <a:latin typeface="+mn-ea"/>
              </a:rPr>
              <a:t>迭代的</a:t>
            </a:r>
            <a:r>
              <a:rPr lang="zh-CN" altLang="zh-CN" sz="1600" b="1" dirty="0">
                <a:solidFill>
                  <a:schemeClr val="bg1"/>
                </a:solidFill>
                <a:latin typeface="+mn-ea"/>
              </a:rPr>
              <a:t>步长，即迭代因子的</a:t>
            </a:r>
            <a:r>
              <a:rPr lang="zh-CN" altLang="zh-CN" sz="1600" b="1" dirty="0" smtClean="0">
                <a:solidFill>
                  <a:schemeClr val="bg1"/>
                </a:solidFill>
                <a:latin typeface="+mn-ea"/>
              </a:rPr>
              <a:t>增量</a:t>
            </a:r>
            <a:endParaRPr lang="zh-CN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7.3.3 JSTL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中的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Core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标签库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7298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8" grpId="1" animBg="1"/>
      <p:bldP spid="12" grpId="0" animBg="1"/>
      <p:bldP spid="12" grpId="1" animBg="1"/>
      <p:bldP spid="13" grpId="0" animBg="1"/>
      <p:bldP spid="13" grpId="1" animBg="1"/>
      <p:bldP spid="16" grpId="0" animBg="1"/>
      <p:bldP spid="16" grpId="1" animBg="1"/>
      <p:bldP spid="17" grpId="0" animBg="1"/>
      <p:bldP spid="17" grpId="1" animBg="1"/>
      <p:bldP spid="21" grpId="0" animBg="1"/>
      <p:bldP spid="21" grpId="1" animBg="1"/>
      <p:bldP spid="22" grpId="0" animBg="1"/>
      <p:bldP spid="22" grpId="1" animBg="1"/>
      <p:bldP spid="25" grpId="0" animBg="1"/>
      <p:bldP spid="25" grpId="1" animBg="1"/>
      <p:bldP spid="26" grpId="0" animBg="1"/>
      <p:bldP spid="3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2676525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圆角矩形 1"/>
          <p:cNvSpPr>
            <a:spLocks noChangeArrowheads="1"/>
          </p:cNvSpPr>
          <p:nvPr/>
        </p:nvSpPr>
        <p:spPr bwMode="auto">
          <a:xfrm>
            <a:off x="2555776" y="1268760"/>
            <a:ext cx="5616624" cy="4464496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6B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699792" y="1434256"/>
            <a:ext cx="5256584" cy="4573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z="20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本章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主要讲解了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JavaBean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BeanUtils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的基本语法、常见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表达式隐式对象、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JSTL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的安装和测试以及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JSTL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常见标签库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zh-CN" sz="20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知识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本章的学习，读者能够了解什么是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JavaBean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、什么是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JSTL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，可以熟练掌握通过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BeanUtils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工具访问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JavaBean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表达式的基本语法的格式、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的常见隐式对象以及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JSTL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中的常见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Core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标签库等操作。</a:t>
            </a:r>
          </a:p>
          <a:p>
            <a:pPr>
              <a:lnSpc>
                <a:spcPct val="150000"/>
              </a:lnSpc>
            </a:pP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1"/>
          <p:cNvSpPr>
            <a:spLocks noChangeArrowheads="1"/>
          </p:cNvSpPr>
          <p:nvPr/>
        </p:nvSpPr>
        <p:spPr bwMode="auto">
          <a:xfrm>
            <a:off x="1643733" y="389681"/>
            <a:ext cx="619526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本章小结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915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 bwMode="auto">
          <a:xfrm>
            <a:off x="481013" y="1300163"/>
            <a:ext cx="7975600" cy="414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71500" indent="-571500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</a:t>
            </a:r>
            <a:r>
              <a:rPr lang="zh-CN" altLang="en-US" sz="24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本章作业 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请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简述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Javabean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规范都有哪些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（至少写出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请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简述定义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标识符的规范</a:t>
            </a: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-571500" eaLnBrk="1" hangingPunct="1">
              <a:lnSpc>
                <a:spcPct val="150000"/>
              </a:lnSpc>
              <a:buNone/>
              <a:defRPr/>
            </a:pPr>
            <a:r>
              <a:rPr lang="zh-CN" altLang="en-US" sz="2400" b="1" dirty="0" smtClean="0">
                <a:solidFill>
                  <a:srgbClr val="006BA9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宋体" charset="-122"/>
              </a:rPr>
              <a:t>✎ </a:t>
            </a:r>
            <a:r>
              <a:rPr lang="zh-CN" altLang="en-US" sz="2400" b="1" dirty="0" smtClean="0">
                <a:solidFill>
                  <a:srgbClr val="006BA9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预习作业</a:t>
            </a:r>
            <a:endParaRPr lang="en-US" altLang="zh-CN" sz="2400" b="1" dirty="0" smtClean="0">
              <a:solidFill>
                <a:srgbClr val="006BA9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什么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如何监听器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对象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的生命周期？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endParaRPr lang="en-US" altLang="zh-CN" sz="2400" dirty="0" smtClean="0"/>
          </a:p>
          <a:p>
            <a:pPr lvl="1">
              <a:lnSpc>
                <a:spcPct val="150000"/>
              </a:lnSpc>
              <a:defRPr/>
            </a:pPr>
            <a:endParaRPr lang="en-US" altLang="zh-CN" sz="2400" dirty="0" smtClean="0"/>
          </a:p>
          <a:p>
            <a:pPr lvl="1">
              <a:lnSpc>
                <a:spcPct val="150000"/>
              </a:lnSpc>
              <a:defRPr/>
            </a:pPr>
            <a:endParaRPr lang="en-US" altLang="zh-CN" sz="2400" dirty="0" smtClean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028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58612358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964CF19-ABE8-4E0C-86CA-A466E7C83F89"/>
  <p:tag name="ISPRING_SCORM_RATE_SLIDES" val="1"/>
  <p:tag name="ISPRING_SCORM_RATE_QUIZZES" val="0"/>
  <p:tag name="ISPRING_SCORM_PASSING_SCORE" val="100.0000000000"/>
  <p:tag name="ISPRINGONLINEFOLDERID" val="0"/>
  <p:tag name="ISPRINGONLINEFOLDERPATH" val="Content List"/>
  <p:tag name="ISPRINGCLOUDFOLDERID" val="0"/>
  <p:tag name="ISPRINGCLOUDFOLDERPATH" val="Content List"/>
  <p:tag name="ISPRING_PLAYERS_CUSTOMIZATION" val="UEsDBBQAAgAIAMWLWEkYJkPyLgQAAH8OAAAdAAAAdW5pdmVyc2FsL2NvbW1vbl9tZXNzYWdlcy5sbmetl19v21QUwN8n7TtcWRqCB7INadMk0kw38W1izbEz+6Z/QMi6je8ya45vsZ2w8jQQTBQJbdIGGmNQFZUWiRHQJNBYYZ+mcbonvgLHdrIlGRC73YOlXCvnd/4fn1u8eL3joh73A0d4C9LZwhkJca8lbMdrL0hNuvjmBQkFIfNs5gqPL0iekNDF0skTRZd57S5rc/h98gRCxQ4PAjgGpfj04owce0FqlK2KXm9gbdVS9apulZWqVKqIzjrzNpAq2uL1t85fuH723Pk3iqdHclkwZh2r6jQIJaRzZzKANGroqgU0oloaWaFS6bV2+Pbsk4+jN6mqaEQqDXb2hk8eHe7dHHzzNB+iYZAlMMUF9TPPXE7TMIhGLVNVZGIppqXpNAmYSiiRpVJ075fB7d3h/t5w/+eDx58fPL4RPdwe3v8k+u3W4d5nh/1fB399+fefW/PUyAZeVrSqRXVdNS2iyeM3Umm4fyf6dmt4d3/48G5OjIFNYoCNd3affb1zBFkrKYVUPNq8ET3YzAepKdWaCg+NrXj2072DJ/18gAbRIADz/a4T08RVYpX1FUgQVMrt3Twi+iXQst0f9O/nkVolZpL/eTIaXlKqmCq6FtePQUxqKJWkeFZFF7WYh4TnbiDWaoEcWvd5zxHdAN70HP4Bt1HgOjYP8mkxyeUmlK2C1VTLVdbjKBQJcgREjofCqxy1nR4HE3yb+/N0QBtViByn53JTecdaxIpKZAvyJevLFk3aPVbGfI48ESLmuiJ2APQyu8e8FkdrvMW6AUcb8DfbsZO/rTNwO7bk/a7zIWJhah86NWo5TSYrpwrHM02hKsyPZeZ7MIJzoqYa/mVnO90APA1D3lkP53kxEYnCK7HiuH41sGn+p1NZ8nJMj2b053XHhBInBnz5oOXLjsguQepQH1KJdJjjZpdStEVQ1PB5wL2Q+0jxruTQqekjgCbQURlLEPkpE5YgIznkl0nZVGgcY74WOCGfJ5kkKs33v9dIC9YEl4f8RZ2s8SsC+t/lrAdJhPdOkBZO4QjKchXEeLLGI3ByTo8oGhjUZiGsZAhMcp0O+G9nYDbrZBzBdLxOReIVff//T09qfvTR94OdL1LsPJpJsFGpWRWsVQiU+eDWV9HvWYWgTGNjVGpaKi7H4tGjbfjyRx//GG39EG0+BecGNz8d9P/ICEw3MJksYoCOo5aQCoVCRsasRakhsBh99yAXATownjvkOeldTYQ8eG8ehOLytFxyyCI1Wl7HcnlW2CTxo/BhSnGlVofagJ3D4IHo+q35O8EkoY6NSzABkr1KKtWZfw3GBxXCzUVJ/I5HWJhP+5F2+EnA8aZw7DVVGhaW5eSWA/cb12ldS79eNmLJHIuvOy5cd7LCKjWswYiZ4XHbCXMCk6k+bnfov/Q8rrR4aXtpyD8/BclVsXh64ub4D1BLAwQUAAIACADFi1hJCswVnxYEAAALEAAAJwAAAHVuaXZlcnNhbC9mbGFzaF9wdWJsaXNoaW5nX3NldHRpbmdzLnhtbNVXUW8bRRB+969YHSpv9SVtQtJwdhUltmrhOKE+RCuEovXdxLdkb/e43bPrPhVUKoqEqISQUKiogkrCAwRUCakQ6I9BtZ03/gJzPseJY6ecVQVSWSfrZr/5dmZ29ttb6+otn5MGhIpJkTOms1MGAeFIl4l6znjHLl6cN4jSVLiUSwE5Q0iDXM1nrCCqcaa8KmiNUEWQRqiFQOcMT+tgwTSbzWaWqSCMRyWPNPKrrCN9MwhBgdAQmgGnLfzTrQCUkc9kCLES04p0Iw6EuRiCYHF0lBc5VZ5hJrAadTbroYyEuyS5DElYr+WM1+YX498hJqFaZj6IODmVR2Ns1gvUdVkcD+VVdhuIB6zuYeBzMwZpMld7OePy1KWYBuHmKE2PPEmCxjRLErMRus/vg6Yu1TR5TSbUcEurQ0NicluC+syxcYTEBcgZy/Z6tVxaLqxXVu1Cdf2avVJOYpjAyS7csCdwskt2uTAJPi39tZtrhevlUuWtdXt1tWyX1o68sKJDBbHM4YpZWFkZhQ4MCmZpL/JrgjKO3XaijAo09iunYR1sWWS4ihuUKzDIBwHU344oZ7qFbT2Fbb0JECyqABx9PV62nKHDCIwjuoQQA8O1HPTE7JVBT8zND6VuJrMfpTU2SotqTR0PmwdtvdAs87jpELYhxVBq8TupSe4OEgK/Bm6F+nBsT1Q3mSgictogG7gIHFNdDBnlBmEaU3cGziqqKc10bxcWjyMJcuFuB7JSHSmF49FQDVV8UPW48Z38exWpQb2flCIxnQbtfP1z+8FOd3+3u//T86efPX96p/PjdnfrbufXLw52Pz3Y+6X951d///EoDdVNGRE/UpqgmAQcNBDtAfkwYrdJDTZkCIQDbaDsoJ0pojhzITsRcUCVOiKlOuEgF5JNUKosF25cIFoS6jaocCYkx9UHP9BnwU8xdyFxCs5lE9xjFFgZh0YKSAthLnN7sDRpZv+HxXWoIFLwFqEOqoAiqLUNJiOFlgaDOLFeoCotn0cbENcidu67EiZ6mddxI+FkoQthGrap6UuXZ2bfmJu/spA1/7qzc/GFTn1lXOM0ni2RxqVTpTed1wkB/henF8jwiG9Rhn7cm+7IpOOPlr4EjoqEZcbiNV7LepJ7HqWs8+j7zv1n3f0vO98+TNXyT7Y7D+93Pv6h77h1t33vk/beb2l82493u78/Odi91/7mWRp8r/5pgK9z/ebJJ5VfHbEnnpT7PlW+D3bSwLrbe+29rVTzfvRd+/Hnibqkwb9LQ4HnwSsBreDRVe99VhI8vDjzGW7JV0KbTpOJl5e1/0SaXuozK9G1s5SmbDZ7Zl1w7qX/LMt7niqWvA0uRkM3Icsce+eMR3wmmI91jD9tBhfV/OzMFN6txg5lMsg2fIHPZ/4BUEsDBBQAAgAIAMWLWEkE5wPRtgIAAFMKAAAhAAAAdW5pdmVyc2FsL2ZsYXNoX3NraW5fc2V0dGluZ3MueG1slVZtT9swEP6+X1F13wl7LZNMJSidhMQGGojvTnJNrDp2ZDtl/ffzK7HbpM16Qqrvnsd3vreC5Jaw5YfZDBWccvEMShFWSaMJuhkpr+d5pxRnFwVnCpi6YFw0mM6XH3/aD8os8hyL70BM5WxwAb2bhf1MoXgf3xZGxggFb1rM9g+84hc5LraV4B0rz4ZW71sQlLCtRl7+WKzWow4okepeQZPEtL4yMo3SCpASTEjf10bOsijOgQZPl/YzkdO7Ov36A9qOSKIs7eaTkTFaiytIk3x1Y2Qcz/TtaVUWRk4TFPxVGvrls5FRKMV7EOnld1+NjDJ427X/0yOt4JVJaMo5XcR3DuW41ONnoro0cpZgHmQcna2CT499610E8l/juUdmXAWnTyavBwvBFD2nsFSiA5SFk7PJmr89dkrPByw3mEoNiFU96EkH/YQ7Ga5JdT3uD7wRVkYgr+gRr5x2DaxcvLHT1NATVqtbuyti7LsuilDAziujEHtlj/yt83qEjJQ98pmSEh4Z3R/BDy2OE2p8i301T6dfW4FhfQwJC6dgNZ4ezOTKyLVXBEzDS1hKE84LacCUDWVW50LKjmJCDO9IhRXh7JfB5Xv7GImyA4NvteHGQoooCkP9ZmPUWzqulz2n7eitaT+6X4X+ce48U3qJX8+xUrioG/2rJOczz9NTohMzz4YZZk1qOIh7tuERx/oeIzVYbEG8cE6numFcgZx6PXezNQZHWZQDlA1nGflLhtLPuiYHsdZVIxDaJtU5XE2qmuo/9UrgDcqUMGJ0TFXr6xgm710ZKXwLABZFHXrWHZyl6agiFHZAvTVS2AePvQxJ3aNj7XajHmCj4obzmkkd6RdF3ykxLjUMEF51XMMMZzm/hBXOpX1ZMvdhB/eDn2zlsMtM68XencK3UnKzth+nUCvNP5P/AFBLAwQUAAIACADFi1hJagDFHuoDAAAcDwAAJgAAAHVuaXZlcnNhbC9odG1sX3B1Ymxpc2hpbmdfc2V0dGluZ3MueG1s1Vfvb9tEGP6ev+JkNL7NbveDdsXJVLWpGpGlZTViE0LVxXexj53vjO+cLPs00JgYEmISQkJlYioaLR+goElIg8L+GLQk/ca/wHtxmi5NWxyxH0yRFfn1+z73Ps+9fmy7F69HHDVpopgURWvanrIQFb4kTARF6x1v6fSshZTGgmAuBS1aQlroYqngxmmdMxWuUa0hVSGAEWou1kUr1Dqec5xWq2UzFSfmquSpBnxl+zJy4oQqKjRNnJjjNvzpdkyVVSoUEHKz0CVJUk4RI9CCYKY7zJd1xC0ny6pj/1qQyFSQBcllgpKgXrRem503v/2cDGmRRVQYbqoEQRPWc5gQZtrBfI3doCikLAih75lzFmoxosOidXbqjIGBdGccpg+eccAGZkECGaEH+BHVmGCNs9NsQU2va7UfyEKkLXDEfA+uIMO/aC1662vVymJ5vbbildfWl71L1ayHCYq88hVvgiKv4lXLk+TnhV++ulq+XK3U3lr3VlaqXmX1oAoUHRHEdUYVc0FZmSY+HQrm6jCN6gIzDsN2SEZFNYwrx0lAPbnEYBcbmCtqoQ9iGrydYs50G6Z6Cqb6GqXxvIqpry+bbStaOkmpdQCXAUJjsJfDmTh/YTgTM7Mj1J1s9QNaR3bpYq2xH8LwQKzfmus8HdpPa0gxQs2co7rkZEioASpz4DKfMMwtxDRw84dXtVFALzEO+pvaabsh9Bg5P8SJGtFwqKMZZb/0Xk1qqt7PyGWh41K7X//cubvV293u7f705NFnTx7d7P642du41f31i73tT/d2fun8+dXff9zPA3VVpihKlUbgDjGnmiIdUvRhym6gOm3IhCJOcRN8BOJMIcUZofZEwDFW6gAU6wwDncrGulJbLF85hbREmDSx8CcEh/2kUayfBz4G7kLCEpzLFiVPQYAyPk4VRW1II4z00/LQtF/C5vpYICl4G2Ef7muFwD2bTKYKIk1GDbF+oyovXoib1GhhigeliIk+8wCeFrBYQmiSB21q+szZc+ffmJm9MGc7f93cOn1i0cDrVjk2q2Vmt3CsmearOmSp/1J0grGO1S7JJDKzScYWPfphMTC1cZNwHWMpR7tT30RfjDl173/fvfO4t/tl99t7uYb44Wb33p3uxz8MCjdudW5/0tn5LU9t58F27/eHe9u3O988zpPfVzRP4utcv3n4yFUXQO6hI+ednIvv3a08ab3Nnc7ORq51P/qu8+DzzC/y5L+LEwEO/0qk1uBhFPRf/RA8jjiLGNxkr4TbHHfj/3ejeiFmc/KrUGZFz9RsbNt+bvv68u35mQr2f9IgOxt+YIx8UbjOkd9uBYiPftGWCv8AUEsDBBQAAgAIAMWLWEkP5FkgmQEAAB0GAAAfAAAAdW5pdmVyc2FsL2h0bWxfc2tpbl9zZXR0aW5ncy5qc42UTW/CMAyG7/wKlF0nxD677YYGkyZxmDRu0w5pMaUiTaIkdDDEf18dvprWHcSX5u3T17ErZ9PploslrPvS3fhnv/8I914D1JxZwnWoixY9R51ZkU1hkuUgMgmshhSHT4/y9kRQxkx603j9iba24scUvplxYau4JiwMoVlCKwjth0qyosTfoLR9WbuSKn2Ol84p2UuUdCBdTyqTc8+wqze/qhXWYFWAOYPOeAKBaeRXG3lyfIgwqlyics3leqxS1Yt5skiNWsppW/75WoMp//hiB/Sfo9dRYCcy694d5PXEoyeMdlIbsBb2eR9HGCQseAyi4tv36x80MG4WVKOLzGbuQA9uMKq05ik0uvQ0wAgxWXo1uhlhNDkHK7cj7m4xAkLwNZiG1fAeIwCVXuoLfqA2KsWONNBmz4+oUHyayXSfuo9BcnhYtG3r3qlQf/whC0ZI1UZoToxp3nZzXDD2jhxcW8s6pmZeUKKkREUk1hRYkKdx9WsE919dxp3jyTwvb4fyaizbwM0CzEQpUR7/+9xBi6O4y9XZ/gFQSwMEFAACAAgAxYtYSRra6juqAAAAHwEAABoAAAB1bml2ZXJzYWwvaTE4bl9wcmVzZXRzLnhtbJ2PMQ/CIBCFd34FuV2wW9MA3UzcHHQ2FVFJ6NFw1PrzhdQYZ4dL7l3e915O9a8x8KdL5CNqaMQWuEMbrx7vGk7H3aYFTnnA6xAiOg0YgfeGKd+0eEiOXCZeIpA0PHKeOimXZRGeplQSKIY5l2ASNo6yzBhRVlJOKwor2/m/6M8NDGOcq8vsQ96jKXtRq4VTshoqc3YoPN4iyGpQ8uuuys6US0URSv48ZtgbUEsDBBQAAgAIAMWLWEl0Pke4XQAAAGIAAAAcAAAAdW5pdmVyc2FsL2xvY2FsX3NldHRpbmdzLnhtbBXKOw5AQBAA0N4pJtP7dQpLp9TgABMmIpmdEbvxuT26V7y6vb3AyUfYTB2WWYHAOtuy6epwGru0QgiRdCExZYdqCG2T1GIzycAxfjHALvTwMbL/ELkn/0++MG+SF1BLAwQUAAIACAB2uMNEzoIJN+wCAACICAAAFAAAAHVuaXZlcnNhbC9wbGF5ZXIueG1srVVNb9swDD2nwP6DoXutpF3XNJBbdAWKHdahQNZtt0C1GVuLbXmSXDf99aP8bc/pVmAHAzbF90jxkTS7ek5i5wmUFjL1yMKdEwdSXwYiDT3y8PX2eEmuLt8dsSzme1COCDySp8ICeEycALSvRGYQfM9N5JGewUVm4mRKSCXMHrnPkLuLtCTvjmbokmqPRMZkK0qLonCFRkQaahnnlkS7vkxopkBDakDRKg3iNNiV+Tsan0Sm1Owz0D1kZt4euCZpOZ61GJAUp65UIT2Zzxf0x93ntR9Bwo9Fqg1PfSAOVnJWlvKR+7s7GeQxaGubsSrJNRhjkyhtM2ZWYrFMHa18j1QOmwS05iFoN05DQissnQCzbcx1VPPoAa3l1TtR85Z+G/u9adxK5WjnnOWPsdARHvUhnXUSyOgwKkvK65Yd9NB00K1lIo6CX7lQEJSf39oWmS9IFbDtuDJPVxc+HuDbLfeNVPsbhGEX1Qq6rWhuJZpbgloOt42+7ihIc9stcJMraEo1Y08iAPmFK8VtW1walQOjI2ONpUMwo9WVa5E6QVhkkvjsH7SxfiNpfurXlCkB/0OYT0jU1kSkATzfCvQxkGBNDWCxrc01WezamF1OOn9Men09MFU51qLgRRzDVQg4hgE3nHZ2eggKimt08XM1wvYODoIjEUYxPmaSYXx6kCbhajfJ0Ds4CI6lv5uAtua2jHRcx1EztR3E6MQ6YX6ujUzES9megz1jVmUfvjZyzdF1JtqD8/kfoziI0QzmlkysLvvW21fN4b2dU6M7n01WWQbdivMAJs8qr2YW8mzkE8CW57G56efU7MMedJTz1HRMc33HfpfFWryAU4jA/ukWp7YmEdie8ciH5WmPAfXE7TIIX5qmIjJaS1KpeUg5hrV5ElBUmGpWPqLqoZJ5Goy0cbPu56Bj3FXXCrgTwxYzXZxg88nMI+/xpb7LxdlFd5XzxUWDLfO6rwJXubxhVdcJd51B635tL8LqmcfX31BLAwQUAAIACADFi1hJcYP8DhoIAADbHQAAKQAAAHVuaXZlcnNhbC9za2luX2N1c3RvbWl6YXRpb25fc2V0dGluZ3MueG1srVlbb+PGFX7vrxioSNG+WBfqZkQrgJeRTUSiFJG2d1sUAiWNZcIUqZIjex3oIS3aIBsgSICkRZqmXWyx3S3Q1C0CtEizbX7NWt485S/0DC8WScsyubsiCJhnzvedM2fOnLm44R4bljh3qT013tGpYVsqodSwJm7zBwg1RrZpOz2HuIS6+ZXkwLDG9qlsHdpMBlKX6tZYd8Yia3WbBdTyfqhe4+tSHb7KQrmEamVcwnUk4YoIbductM2J0CaVimIjn6DweR0yIhZdz9rIx1qvA2TLJQ6VrTG53+Ti2tGmeA92HH1sgJ7brJbZswitLqQye1C5WKlV8KLEcxxXRWJFKkqFRa22XeOLCBfKlQK3EOolrsShYqVS3K4uirVShYOv1nYVWMp4u4rKtXK5JC1KuARoxPOCVBIXNW67WOTBGq5vi4tWS6gVCqhYLHJlaVGpci2hgECbAw6eq7MAchIncNUFL/DFOodaYktolRdYwlWxguolXC0UFmVB4AqFVXBXvYuGayVN3Z0wnLcQrh2Cta0st/JrkqsxmjsOKGtkOjN1SpClT8mdnEVOc0FCeskbNod+xKW+EMQM3ARsI+/9FYo9u9HEj8qRMb6TG84pta2tkW1RcGbLsp2pbuaaP/RzI/A8DdI+IU4W3KE+IitzNe+XFhbYgnyFZxNoZE9nunXWtif21lAfHU8ce26NU7l5dDYjjmlYx6Bd2K6JeKMh03CpTMk05h+usyc9bAb1yCXMvSpmTyqkqQ+JGVoseL8MuJXJ2yOSgJ4YrkE9KF9kzyboTJ+Q+ADUefZsxlhgJT5qNfbcDqLkPgV1jk3v0kZ1Uz8jTtyIXw43ouzZfJY1n2aOPWHBjuNuH+grnGlDdbEmzMMCe1KBWAeZwVSjFITN67+UUAw+k7WkMQUrMLjR4hKIPMqeMBC7nR6v3Bu0uzvdgSDv5JqiPysRm5Y/LlXr94uV6k8a+QCXkknt8O12nAt5ZJVCOi5F63fbAyDE7YGC72q55o8m9M3km5mqu6e1ZQXnmhePn15+89WLp+9d/OHbzCy9Pt4Hh0xwIvGmodrr97GiDdS2LOGBrA6UruYFr401LOWay8/+cfHxk8tnTy+f/f351x88//rd5ZePLj//9fJfH714+v6L839e/O+33//3YQpLUp8/kJWdgdbtttUBVqRQkmtePvtk+ceHl58+u/zy0+xMfV7FffD0kyff/f7xy8EHXn74DMsH7y6/eJCZZ1fe2W3DqzFfvvvbZ8+/Oc/M0cMKBCNVDDpYVfkdPBC6d2HIIIM+fpIR1X0LbD06vzj/PCPwHla9vEgBU/h9eYfX5K7CUquPVa0vi15e3bPnaKRbyLbMM6SPRoBDsMCcGPbcBcmJQU7JGLmmMSZuZkMqfnsPklrm276hI/2EIGp7rAEnMixEjwiaGCcEvHDGxElhBqaaiCU2YG/vyT8dtHi5jaUBjKDUPRhoXmFg9nQHtmg2Rbpp2qwbYFofn+jWiKAhGelzl6AzUBsbY09tpkPnmTO/mBvvIJ36LqI3gjmpSPjuG1uv7J2staHSHOiOBUU5O1usLlzv8hT2muA6LPkzeltfIvHYel2OvIbe9XhVvbFracbo1fuVcOElOqVC3uM+rJ1QEwTDzgTCHciYXBNPdcPMBJSVFpjzjsiwwXcQO7dkIlC6AYdio1eg2YexiDmyD2OUjeIAC6qssaiTIduzpgB7o+fnwfrcYScLk8Cx7Sp/huTQhhphEv0ERhbkhusn1NbL2cuaKGElZvUyWtoDIgXcmngXIQgcM40p27yno93r4DCafjmOheT17SY2mfI7sfzlny8ef+gzpyBUMd8Xdwcir4gYJsHFR79b/jsDDjKYudTW1EGbFxjD8qtHsI9Y/uqvy4d/WT74Fnp58d5vLs7/k57T395JuMUDbxhBj2xrays9TdIv3x3Ycv3pi6wkMEtZncJXZD9TbErcn6fg0XghDvU+UgKDjXIIzbhd9hIiiCavaby424GcgU1Mn7j23Bml2mFESTp8/y2oFd6mLdfs6M4x1BrNts2sRF4MWNWjmX142bNDlOOVKziLgCb3BrwkeSctOGOZxujYXwjHSEfBpQoy4ciVgU/c5RUoSQlKMjZodk5vUQhrA0xT/ztMQrYpXLdGXAlWx1c4HttzGjsNW9SxzR67R7h+cQYK7NpjaJImdeawkIRfUQ33yD7tzqlpWKR5qJsuqEVFSdUe+NBj+8eAMi5LavfJqWGNI6qBIKm3b5vzKRH93kTdiDckYaIoePdsUcSV7JrnsLcPmiKur4RJfYXcp9f0I8KkvspWzy4cJq6Bki1RZHj3IehOVJ5m6ECHWDoIwwCHX3Ed5kGb3YG5EZcCQVxzao9J09sEaMaUsOGHHGSyqMP5GzxuWFdLdodhhmdqcHRKNKyyN785fRvUoCa5Obe9fsAMjI6+971uAgQ662aAf1ebDIYvRfRsRu7k4Fihj46m7LY8hwKOOzkWTv/6+ybcLCxnrJpFkJ43m6FTr6Z7JT2TSYtV8mymbH+ubwY18tfi1MhvGqFGQHvzAFrz6ZA4GHLAIGFyxmVR7SNjcmTCS/e9k3kcdkNjFE+PgNqCg0WIiQhiaUV0Z3QUzhX/I9o+nZvUMMkJMQOdiCASms29b7gwNzanNk/b5JBGkzuQZJ4DQaFbZWJUO95wI8w7x6zF+S3ZFh2qD12v92tqVbjyrIrVmrUorNEs2aNe+YJY2q6xBbo3hb+Rjy6yUKKu/QcrKQMo8N34/9v/A1BLAwQUAAIACADFi1hJM91K5mcaAADkRQAAFwAAAHVuaXZlcnNhbC91bml2ZXJzYWwucG5n7XwLVBPXvjc9nlbbqrTH26Ko5LT09OGDV0VUSFLrA6tVqqjIKxERUo0QlZd523KvtlVMrUqwlqS+eIdRkAQSkmhRUIPEB0kIIYkejJEMSYQwiZmQyU2gx6Keb63vrnXv/e5dH6ywZs1k//b+/V97//+Z2fP9V+tip7wR+Iafn9+UL1Yt3+Dn92qmn9+E3Emvea9EMQbmew+v5GyI/dyvtmNWn/fkz4Sla5f6+V1kvTmc9qr3/PXdqxJz/Pymtvj+X2kjVWz381tB/mL50o37cGZt6qHag4nIA9qH2P2ozx4f+fbdPbF1H/1FsODSD8D8HUu/n/95eFLge+fOFP88qXhr5LehlVsqDmz7fuGtlTPjibgLWdumzbV58Pfy2qILaps6ThKUlIgcbJv/VOXNZiCRWFvXgTnZU8A3FUXpFrlaoyR77A0A3dzDlg5n+Pn+pl7or2loUtqFFnOaXe9x6zUJPqn87sM7C1OXoDLxdEhhf/UV36VG6s5DaFSmnma7ZX91BNzo2nlMDEikSx1fjpxbJN3brVRLk7Gb8Cff+W6H4kMq3jF59MvZLfN8x8tHZ2SO9HekPezNkVbbDyT6jvuDP20fgc06mfau9/DXp6YEKcVuqgY4dIdIjz52Tvhq3jTTwtyo3ojJ9b6GhUwnm7mYarsVZW0P/2mIqciqmHlHe+TqSL9hTwEPDERPO/yBWCR8W2teNYqZ8MXqPEFw+MhIkz/4RPGs+Y/nNhZE/2WE4+XPftowDvgfBiisFOgoYH+DChdNhRQJcqQXi0zoOgl31wIDcBLXlB27rcTnltO/dBuZiFENAlKG/dEpko78wzn0JrwGisThwfgx3VGWl55zsyVKkebo9BGPfC3+QGLfgogRSrPUx9M2LykabRu7MKPkxLrgUU5H187IPH/v+gjZ3dtfhAiddCtVH021qwlypN/7yYpDQ53qHDm6wPi3vSOOvj/4VET76igRienSEFgY+LE6mBVzFz6GdR6LDl1MGBFiUd0nLTW5OdWxN5VPkib0B0ifXrMxcVVX+EGRyXIq3FdujYH+PoZcdnZk67oWkNJIH7gWYI1pkI+h98j+tJfFZc4shIIzBIq/Uk/G3gockffIrpthc7U9O3fzPLcTTBGhzw09Gos920Z64NM8XX3JM5qf/PamMdTmYHocBZy7zzUX3WQOgwY2XmLrxIzR0yltRLNSMGcLdi//QBfMKlTYVot7hq4n/aPJ7CXtylVDPTnyUk/za2dgo+FtqoZZnLsvko+BOuNJ/heO7fgl8nftdr7X0i+Qus22B9C1AHyMxxj4Nchl8z3z+mCF4yceUL2CTi2Ek6hDd2JDIzv+IaLpdmz7auEMRfA9Ve8udzP1knBkcrl/vWxy/V0zaQYhNDBj7v+NZf+jztBZDUgodhgE9M6PvqDWSFpBIr1KNPv7keG3hkHKZFIpHUzWL2EumH0h7gXv/J8esBtIzQOtajxiwHPciNWDqEnIIxLHfTfU/ZfdMoVqL32tSpVPLyoX/hFbodLhQXWhP2af/fIEf7/oTfheqAHzx7AllP6Lbd3vTexiPx/M5Evzfjnw/KW8CVMvxI2N5OzmV+w7xuhWURRliGUOxaqbLI5S+qmx0N61lQ8sJxJwaeUc2uAN+8tfh7dbTqXZF6z9Q9Yy4UDZ9EzHrTDqz2Vj5NHui59c78osQa99nsonB9T0T9s5ZZWW/A9G4/3Kxijdv7T0S2Zkxt37Q7dbq2aSfkjL10+uL3+B+7UwEemA+t6CMcoxtZ7aVqKNaunf8fM43XG6/wvpCsDJ9Sy0vavJQk725mUeOCQO6x7SyDUS2uAAi9lMh1eY6PShsyi0x7nCap0j5VzzThZP7ZpUKQIgJoCjwbjLSl6SV3O6pZ+AsZ20YaO8iz5Th2FWV4XnZc1YACypK66iwit2Hk7VyVdYAcZ8thuapwTqg9JVVuuPAirwsprMP6bZuR4nVy5BIIDr2ae+sgf+lB+0EDx6XuqgSgswO0NYK1MP3IKNlCbKySqqHoqAhik4camhT3M6l0wRyykw7J4nry5X2IpZGWT4DE6gswzyVTiG01AfSnvgXT3r6SKQnSwVp79sO413gRtcpTLfX1SpLNye2NpRxagpV/yauLO/Zr0NUuGxTBTEm2QyQpconk3iYZh+PHAZ+0pjay8kWLMFJ6lCge7QCTsri/Fx6PcbdXgxMsgvxjvO4JhkLeSXjAXYgGB9aH2MGFeO4VO4snsmo/bxP1XDEn16PnrRh4rBx3evReRuhtKnlCsiNiovJC57NLhQGF5Q3dppMIcEZ7ubZ2aC6XimVRW4hY2Pm1KmMZ4wcANA+RXYCDoEMWIMp4qRgmO6GEcyXnaTtlmZonK2gRy5XflrUwydvHxnEQ8agvY3NXdspru+pVwyDa7qyviz+YAauncTVt1rQLqEqkQPzc1nl6uwBfOBnC9f9l7RjZb+JDTwmirjl1Sc8f3I68rgbOKvPKblgDowW6U/mO8GE3EfJko7YGPAlPoAN3wk62VmBTklvPBct5x4j3vRQNY8qDtwLzCdzawlEb9KJ7qbkw7Irw3y/lR8sUFStBTdzWfoptTLBKu3BG1KDrYMDoTqy/OdytehPfP0QD4Pl0nenu2mkd0UptZRwmMRnE9NZAVlFqb45SBLJZTwYoFaqfizKacD0O/nUs49HmymuKGniS0ZU86sgfbKvkpq6YO5AdDAPMUkIY0G5av0pHyykwIP1kVeCAnFkwS6tg1RN4sDN4FmxSQRQut8KzkOMAJcHKplkJjEpLUt/KeR2YMbn7fG6Y7T/X9BN7K9Do8dmIa9g0jqSWO/m4iiXZi9ez+9EoDGyNKZzkIrjyy6LOlUwWOEMXmLL3tFYlcTHAiMbb/UBOI9sLoNiwzk334lWzBSL/9XlART+3y/t6gX70h91vb+jzsbqYYTCV2VH3Fpgx3WS0OFfyjk4HafPmv4Y3q44dN7Yhb4TMGzfhqxT7fyGZVFH4zYsYH3zGC7V43Ye2fymGFHFK3g/6G092b4DFKd9Yd2l0X4DLdZM07ofxUhX44UJXXeqpczERuBhUWeNhm5TKQjJ8RyksBZ7Lp9EJNr/8afdr8nmBWz17jYmgrtwRt6t0hp7n13ABGDLmh6fghfzoe4rFhUJpduV9vS7BHLHk7wj9mNyVSCx2HylAZrBrQnJWN5qpRWVKd3dhR0MCVm3288pVxtx/OqEVRPrY9chxl+0lKA9E08/15dUFpyaDy2Npl1JnJvyFmz/WgFRAlAk8gwnKXa0tzcMWg7D7k+8eYhEKM49s+hE/phA7EEJ9UazApZLRYFsujuwagX+Qr16fzXbspiTJeCwpNDE/R3tyYXnYQ+7qEwppwGY++FyKvDGzkOxCH1mPc0MCTedO/R9x9xFjFLA1eCbsU90NxpKzbRO8FOV4XKirEHfgWSZW0bsPjXlAYD2AYbq3DZZCYkKU7jt2ph52C4EpyH6l1b+7zxRB1hyS3pU45qYi/mK0qEk0siNyvB+S2ZRSJw4NLK25ST8EVcOUe6sSVbLA2MVsXhD3RXeXNh/d2I40pZJzg/dcEc1T4hsvBNiCKb3jOlXtuGU7i6JVJIput8QanLDqoztje3f6zZxFrOe6W+9VYgHjQmy94STv4VFJarwBpmShLSpItLTNIh/MA04lepQetFky+DbLyO6VhY7EiIA7gk7dCLvXrzwTlsptgToZAVeE4DBrxHP7UMLH4lt5KBIwEcCcKfFFlWiwoXZTuNlA92TfltjbZCyMOVYTooXG/fmFp4VqdNNd9Kcl3UF7/sBzJpFT6YUHTkkIGsvSw8XCYLjqsO3MTeU+Ca/7ZSnizhfeZurrpYr2uz90GTVBm54q9LvHXK4BII1oYlk4hovlI2X6ozhyUr2oSHr0LEFP8rIOsiRmL+jjrthWCrXdKu7Npy9uHmTS3GQVtW5Drlx4lnMyqv7HVnvVUczucI3O++Hnk8BBAwroJwH2Qvts4VuacrPSktO8RuQxZPr9sgLoXakgB8XDVrB9kJ73FOB9sMWdltusCjApKxTPV8KKcasch5+n9KfJuFLf31cgzVSLD2nykHH70w0uyIdsb9CahGW/0hJiJxiK0d8lyN6Xnpp87IDA1MVcVFtet0L5uBFTN43flYGLMkf8bWUAoFujot7hesmPZ4GWowa2r2vhfmljxU+CkGMmyTcz20GekgV+9BHFxPSlT9C6xx/vW+mUftduiZSO82dKfpkeIF5uklPFLahaBMmW+yshnBFxtowTS7jesZVrf4Y2mIzRStdx5Jsx94UQFL2vM9RwFLX+RVzJPLE4yeO0DgdtAJnt4cBbw0jfGRCTgIvY2Ym8oEug5xcOiBq9OMLbvQ326OEr3UeLOrdnzBGif030xIESZjuHuxSG+pfkffxPGbXuOAccA4YBwwDhgHjAPGAeOAccA4YBwwDhgHjAPGAeOAccA4YBwwDhgHjAP+vwU8tRRIqQTK0XMFCVFnnt1yeaIAGFC/S+9BSl9f+RMCCKfkBT+7sfOtkUO19BdF6Ro/vbbqrtq5tkJzW3tYFvbcDiu/+9dHR/aLzRy51eO3KOI/uEnrn3RR50JcUo9rZNfX/t7w/7wR1Utb+omAON/eJKdb+qdxn15VL/NH59rvF/rrFkF7FG0JKAK9WQtMGNnYdlHXJswyLazCr3H2E7DU82gejo8jkN2WLP1KiNjE1vz9xEE1G0fp609gGBK6/e1lVSwBxmJRjcATBn57M7Sna+Jc3fyGcgVQ74IAhayHz3tSZXLAEdxD1cLBMFdfHFPo9iMJ4UYRXp5Hf/Qpd7EKTQIDmAMBcom9ARCDfUxHAbPAHi21RRuD6EN3CtBcqlFN4NJdOZ7O+DhxLxnUsylNkE1pcuwiN5HoYLJ1n25wSIZIcEOEh9nNrKG9KOf12Fa8MY/n4V4VDWBxBzFzkDLaLN/unHXQfalowHFDcz+eC290Ld5Sze7DFZBMjuFs7BPbzZb+rNTLYK+FgVatn6Dyd9/2L2Wlam0Ci9SDFKB5K7UUStF+QyzjYWwHs0cyy7GSbiH+yJM75e4euRjdoXzaNIw7jvIMoKS7NwKqahSYBxqKjQruocBokCyTqwBNH3K4p8gRLk5xJ4FmFddAQWDIUkx1r3JRNOzFR6IMvT6b51dNfBgz/KTFrH/dUeWKqckD6hMgKjMKdTzPkMZ3/Zp9yKLKqQis2/nXahTxsQmXyVspzl5QHbuqtu0CJZlNpqbg6TpVMAGddKm1C3bmN9e8LWEAJmNkWaiUILsgak5xk7cELU1dZoTv8LDDLdieI6JDh5DDs2CMSXVhmEZpgiNDmRyrIox6OLYb/2j9wDNizOQ6l+g+J497sMGSZ69BJudyDy6bnul/aXiunj17A7ErmUUMGPhO3VupP2a2pk4pgXrzwwBuKCuTN5A7YyXxfgqubB4zaOdQDwZuQMiwWPxYfv209SwDx1x3TzZ/ghneUaAR046bzuhiHRJV9s02r5NfNsfr0y+5qPd1edxDo+PqmAKJvibN/nPx0RqqLgn9/h73d9fWFX0jOxvR5BDqRRkl2iPHIZu5MbGYjZ9Hqqc6F9B8HiK09taFsjES8LEkyPpvFjqQB+SE5lpneuNGU41AULxTUpesNabzqKXiatKO2/SQ2pth1LWyVUo0KSv6ME8xPUEedTMowUF14KbWazWhB9QyUOdIciwJgHxbaMwy/EqHxMu5UbzOgN2t6MOgiFrwl2/lDHu92dg7Z3K96tLh7VrbuxBQjh+KiLypdNj7JYKPHZvp0d9C0yVIUD00ZNC8cxxylKRWs/GSdz5LlHiI6Cxy8qE+avs65spaFybEtdcKhbkmMp9MJOCRQbacw0SchbF3RsS5l1e6nv+7RH0nCZwdHkvBHKH8hpdi+d/X4OENrsVNNY5dJdp8tTE11gE21com10cKQ/TH8qtbJQas8FLX1MyemRC59pu9TnGl/lAGjfegnoHfuQjfasuo4KHYr+S4l0D5ykJC0WlQpT5yltgnv/6e9SySgjOkk4EDaj1i1mOovo11tAbPr9Knh6Rf4xf2jShJM5WuJ2pdr3l9yU7uO88+Mqif23RDKJf52J1BdnVyj1pse2ccUBOrjhJnNIfUuVXXA2SCsK7VJJaoHKOCeH+6GXHV98xWLhmHXp1HhmEs0nCYL5PxmNbitxs4OOy6swS3pCAu9KCERTkl66KeZGUEHgSqXZR5eZdxdEgRje8jGLHWoHDXw2NxHCzAwbj9t3ldTahS21tnkn5hXdPKcJtHbUg3Ub/PZ1qj/6Y1Zng9In5vqTWKWPKqpckCXuycJFqA3tAguXZFGMoYOGTe1y22Nphl7POUU2siO3BGz9tmXZQ3aARr6P53LFaaar3/DyaOpITDLFXxpL1BsKPHklOvFHdULh5y3QrM/IZa66LUxEpDFB93i9v/foafnu1lpQwVVRTHPq7FlsH2Nxwm5iXfNmK1ZPAEcImpj+60IharxL3/V7PNZOXIpJ90o7/eQdFuYLJ50hZlIZcvr77IxwmC9m8kEVzDsscYrNcZvzSptvhfFj7uTcT4a/U37oFKm0mlKeqElkDkpIX7RTykPZfL9S6ajUYh0GZYfyFvd/krl5CzW0ET80vTWwWxfKqeqGGHagpTWFd5jj2l3jARk7y8sllxdFO8We+orULWiRDBCuL0FE4CE+BJ9Uo9thre4y7o7MtbI97lLqX0+TbA6Ri6iOshCpm2WtqbD3xayaI6I1Vtm84OUQIq8MYN7kBl8C6KFp41L0u6aZsbZssTxEUUdXbyoo3uk30Y7LSWebvleXjWGtDz4HGN5+C5bsT/TtKIKfs6L2KGmBdWj5oRLZSCqSuKvgffvoBkixDqI9gqlJ1dxP4mXJxddBTcs9d9/zy8B/1IWXhm5/1UnOMtrZHgNfc5Bg8i4lZ2GVRNMVKGGJLLgHpc9oyv74EhhY7BxTUoMIcfI8WgZIXXqmCnNvBrkVx+NSz6qYDpEtTHBpEfDkcReJzNchA3cZ/AAu6pPJLhGF6Blh7JdDd2ilNGI4KddyJY+7v6LFZKwsXh2fyVV7Knp1Yt9U5p8p9wBTNwxJIeJLWhVVbVenPIYZaZRsyYstndDeZcuERneDXzTZ4L/AJI5p7KaObJ1XYnZC9+UOCu6AEf+9S06+xKFXyLev+biR0Y+A6LQ+9PR1EP+jOfthCwtk+xOUjEa0nXvbY+P/Sd+hqMj33MwQsdYq9rZszzhGrt6y8FoKu8RvetoEH+6KGvXA6xrOpWBRIkmsyUnV3IfpsfNNDE2E50i3NmTPT6k4w38QYkrcOHxoeKDp+EFpqyFJoaI+qMa9i7lB1LMarCxNlNHUb7EpP8S4fz5PTMKBzZcKLet5UIi8ITT0ivf4R13rCxK9k8VZ/u3ScTtKrevR+Ak/Ll+iQEXwtfpDJGlffFbOv5JT2y6clYJZaEl/w+6/X2lXOzPZKCTZFPFV81Dpfyk7BMF9APoN75GSdY2UpxZlyukRIALt6lgPFqfOuNatPvgZFea1KlSO3mQk6xSZUqRaCvf8YViCM7ZbUT+yC91doq2NdVhf3U6x7bSrQVsVcZTwpRtLZJ0WOIps9WnYc8T3JNxKxKhFtjyVg94pBNh6G2pDYpQnaiblkMIscU36o2+H0c7Yw7Wn+6OJaSL08O+lsSU9/PwYqzK1Wix1al7OxyQfCjjDzuKe+a9yF0cR1rAw9vXBG81xcTKUOLa/CePBSadhSuv0vP/ktL/03fo4HI/Df4vcTBeCwUT2DC5UyKPc4zFNcTwRxuY9KQ+XMbt8yutYCGOV5z1w1LKYoVngkb8OmySUlYXC5tzSjXmiX9qVpZ/qg2DQ0q3EzPVIp3Dbnlm6XPIYc7uScsOcemZyaYsKZN+vj86Gbl1iGf1xtNRo3R00oablUD7m6goQUVhY9aObhOq5JtysWzzq/UZ+TyTPj4CuCi18+aKkwgjxp9aHQVfgcKzwJxtaNuhsE7byZ0Sx2lP1lsdV5H/MR5ly3pZOBCetEzM/VvagGCmcC0E+SoOeKgVPDBHc17AIfPOElpHIxDHsZJQEPjbOF7PxWYJLjaMy5KSqf08wsIY3FqpA43BITX5Fmp3vCWdR+5vuaZmH05XFeKq0Aaf4e+TilULX6HiwyVa+Q3MmZkJozkf5Nrz88cvGk3MPrbGDX0xdmS7O8elgoBdrU3k1CZ0jwQc1+NtGHpJg/thNVz17sWWPJCes+s55twklGZcP7Y4d0uhzT+Nh3jG+FVbyjdvqL/bWtaSWp4O6dsTH8vZibgeTZuidoapfkdGdr85HOXs/GNlv7VDt5kE3V19sFmSjecQZtbqOHNfJ9c7rPwEW/uC2G8gZwfj5nqm1+4MO6MVj/BUetK8aWUBfIY25eupsY5Xs9pw9gv2rEIlMCEEkisfd7EyQZ6T6/4M57MTkcJYqOWjxqx05HSJ/nQWiaj4dmnBvf4yo7o2b3WE1FrHeQtII4gtzzSu4CYdp3yYJY3b9yFf/pbQEdshfnJz8NDXj9Uo5AHKP5ZVJTGl3U2E//1YSnjQQDjtJvS9APVDdA6NbWOO17V/d41VSFdrHWX7maZXBX53MIGyklLnqOCYRXJr5yu9Q3iIdyvI9pDPYOhXPrTFlT2xK514l3idQ7+fk+8nmrADbMSxLeqx3Atves4JW7n5M9hvS8J8G/1FiXUmZ4nqYZpjiISrXeYeguBAQ8l+moIxnkjjiP9crQ3X4HTxaVs7dC1qWWWHeVhG1WAFRczHbzZsqspgbVIFDCV/C/JU3iQOxPEP6hFCc72k9xKUqlnrg6KOTtSt/Y1rXV1bUrNi7M1LWr31mWV++C+cjlm8CjrFy3T47Z+FVdtzButxH6c/n8q7ERWqt6Fc00e8/IQkCcY+/IQb3Fr9fDlfx4pHS3Va+2Seg839tZIgx5qw7XNxpZdENZjw5rfHAXRG66EiNHtm32P7sp1vleVnBh9VYmwO4VIdUs7OhDUciYh7YK7DPFd/2LFuuW1n2/99t8BUEsDBBQAAgAIAMWLWEmJd2BCSgAAAGsAAAAbAAAAdW5pdmVyc2FsL3VuaXZlcnNhbC5wbmcueG1ss7GvyM1RKEstKs7Mz7NVMtQzULK34+WyKShKLctMLVeoAIoBBSFASaESyDVCcMszU0oygEIGFgYIwYzUzPSMElslC0OEoD7QTABQSwECAAAUAAIACADFi1hJGCZD8i4EAAB/DgAAHQAAAAAAAAABAAAAAAAAAAAAdW5pdmVyc2FsL2NvbW1vbl9tZXNzYWdlcy5sbmdQSwECAAAUAAIACADFi1hJCswVnxYEAAALEAAAJwAAAAAAAAABAAAAAABpBAAAdW5pdmVyc2FsL2ZsYXNoX3B1Ymxpc2hpbmdfc2V0dGluZ3MueG1sUEsBAgAAFAACAAgAxYtYSQTnA9G2AgAAUwoAACEAAAAAAAAAAQAAAAAAxAgAAHVuaXZlcnNhbC9mbGFzaF9za2luX3NldHRpbmdzLnhtbFBLAQIAABQAAgAIAMWLWElqAMUe6gMAABwPAAAmAAAAAAAAAAEAAAAAALkLAAB1bml2ZXJzYWwvaHRtbF9wdWJsaXNoaW5nX3NldHRpbmdzLnhtbFBLAQIAABQAAgAIAMWLWEkP5FkgmQEAAB0GAAAfAAAAAAAAAAEAAAAAAOcPAAB1bml2ZXJzYWwvaHRtbF9za2luX3NldHRpbmdzLmpzUEsBAgAAFAACAAgAxYtYSRra6juqAAAAHwEAABoAAAAAAAAAAQAAAAAAvREAAHVuaXZlcnNhbC9pMThuX3ByZXNldHMueG1sUEsBAgAAFAACAAgAxYtYSXQ+R7hdAAAAYgAAABwAAAAAAAAAAQAAAAAAnxIAAHVuaXZlcnNhbC9sb2NhbF9zZXR0aW5ncy54bWxQSwECAAAUAAIACAB2uMNEzoIJN+wCAACICAAAFAAAAAAAAAABAAAAAAA2EwAAdW5pdmVyc2FsL3BsYXllci54bWxQSwECAAAUAAIACADFi1hJcYP8DhoIAADbHQAAKQAAAAAAAAABAAAAAABUFgAAdW5pdmVyc2FsL3NraW5fY3VzdG9taXphdGlvbl9zZXR0aW5ncy54bWxQSwECAAAUAAIACADFi1hJM91K5mcaAADkRQAAFwAAAAAAAAAAAAAAAAC1HgAAdW5pdmVyc2FsL3VuaXZlcnNhbC5wbmdQSwECAAAUAAIACADFi1hJiXdgQkoAAABrAAAAGwAAAAAAAAABAAAAAABROQAAdW5pdmVyc2FsL3VuaXZlcnNhbC5wbmcueG1sUEsFBgAAAAALAAsASQMAANQ5AAAAAA=="/>
  <p:tag name="ISPRING_PRESENTATION_TITLE" val="第7章 EL表达式和JSTL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RESOURCE_PATHS_HASH_PRESENTER" val="4bdf934b3038a225fdfe9f84b3b2dc03284e6d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第7章 EL表达式和JSTL"/>
  <p:tag name="GENSWF_ADVANCE_TIME" val="0.00"/>
  <p:tag name="ISPRING_SLIDE_INDENT_LEVEL" val="0"/>
  <p:tag name="ISPRING_CUSTOM_TIMING_US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点评"/>
  <p:tag name="GENSWF_ADVANCE_TIME" val="0.00"/>
  <p:tag name="ISPRING_SLIDE_INDENT_LEVEL" val="0"/>
  <p:tag name="ISPRING_CUSTOM_TIMING_US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预习检查"/>
  <p:tag name="GENSWF_ADVANCE_TIME" val="0.00"/>
  <p:tag name="ISPRING_SLIDE_INDENT_LEVEL" val="0"/>
  <p:tag name="ISPRING_CUSTOM_TIMING_US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学习目标"/>
  <p:tag name="GENSWF_ADVANCE_TIME" val="0.00"/>
  <p:tag name="ISPRING_SLIDE_INDENT_LEVEL" val="0"/>
  <p:tag name="ISPRING_CUSTOM_TIMING_US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什么是JavaBean"/>
  <p:tag name="GENSWF_ADVANCE_TIME" val="0.00"/>
  <p:tag name="ISPRING_SLIDE_INDENT_LEVEL" val="0"/>
  <p:tag name="ISPRING_CUSTOM_TIMING_US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访问JavaBean的属性"/>
  <p:tag name="GENSWF_ADVANCE_TIME" val="0.00"/>
  <p:tag name="ISPRING_SLIDE_INDENT_LEVEL" val="0"/>
  <p:tag name="ISPRING_CUSTOM_TIMING_US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BeanUtils工具"/>
  <p:tag name="GENSWF_ADVANCE_TIME" val="0.00"/>
  <p:tag name="ISPRING_SLIDE_INDENT_LEVEL" val="0"/>
  <p:tag name="ISPRING_CUSTOM_TIMING_US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初始EL"/>
  <p:tag name="GENSWF_ADVANCE_TIME" val="0.00"/>
  <p:tag name="ISPRING_SLIDE_INDENT_LEVEL" val="0"/>
  <p:tag name="ISPRING_CUSTOM_TIMING_US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L中的标识符"/>
  <p:tag name="GENSWF_ADVANCE_TIME" val="0.00"/>
  <p:tag name="ISPRING_SLIDE_INDENT_LEVEL" val="0"/>
  <p:tag name="ISPRING_CUSTOM_TIMING_US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L中的标识符"/>
  <p:tag name="GENSWF_ADVANCE_TIME" val="0.00"/>
  <p:tag name="ISPRING_SLIDE_INDENT_LEVEL" val="0"/>
  <p:tag name="ISPRING_CUSTOM_TIMING_US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L中的保留字"/>
  <p:tag name="GENSWF_ADVANCE_TIME" val="0.00"/>
  <p:tag name="ISPRING_SLIDE_INDENT_LEVEL" val="0"/>
  <p:tag name="ISPRING_CUSTOM_TIMING_US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L中的变量"/>
  <p:tag name="GENSWF_ADVANCE_TIME" val="0.00"/>
  <p:tag name="ISPRING_SLIDE_INDENT_LEVEL" val="0"/>
  <p:tag name="ISPRING_CUSTOM_TIMING_US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L中的常量"/>
  <p:tag name="GENSWF_ADVANCE_TIME" val="0.00"/>
  <p:tag name="ISPRING_SLIDE_INDENT_LEVEL" val="0"/>
  <p:tag name="ISPRING_CUSTOM_TIMING_US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L中的运算符"/>
  <p:tag name="GENSWF_ADVANCE_TIME" val="0.00"/>
  <p:tag name="ISPRING_SLIDE_INDENT_LEVEL" val="0"/>
  <p:tag name="ISPRING_CUSTOM_TIMING_US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L中的运算符"/>
  <p:tag name="GENSWF_ADVANCE_TIME" val="0.00"/>
  <p:tag name="ISPRING_SLIDE_INDENT_LEVEL" val="0"/>
  <p:tag name="ISPRING_CUSTOM_TIMING_US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L中的运算符"/>
  <p:tag name="GENSWF_ADVANCE_TIME" val="0.00"/>
  <p:tag name="ISPRING_SLIDE_INDENT_LEVEL" val="0"/>
  <p:tag name="ISPRING_CUSTOM_TIMING_US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L中的运算符"/>
  <p:tag name="GENSWF_ADVANCE_TIME" val="0.00"/>
  <p:tag name="ISPRING_SLIDE_INDENT_LEVEL" val="0"/>
  <p:tag name="ISPRING_CUSTOM_TIMING_US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L中的运算符"/>
  <p:tag name="GENSWF_ADVANCE_TIME" val="0.00"/>
  <p:tag name="ISPRING_SLIDE_INDENT_LEVEL" val="0"/>
  <p:tag name="ISPRING_CUSTOM_TIMING_US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L隐式对象"/>
  <p:tag name="GENSWF_ADVANCE_TIME" val="0.00"/>
  <p:tag name="ISPRING_SLIDE_INDENT_LEVEL" val="0"/>
  <p:tag name="ISPRING_CUSTOM_TIMING_US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L隐式对象"/>
  <p:tag name="GENSWF_ADVANCE_TIME" val="0.00"/>
  <p:tag name="ISPRING_SLIDE_INDENT_LEVEL" val="0"/>
  <p:tag name="ISPRING_CUSTOM_TIMING_US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L隐式对象"/>
  <p:tag name="GENSWF_ADVANCE_TIME" val="0.00"/>
  <p:tag name="ISPRING_SLIDE_INDENT_LEVEL" val="0"/>
  <p:tag name="ISPRING_CUSTOM_TIMING_US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L隐式对象"/>
  <p:tag name="GENSWF_ADVANCE_TIME" val="0.00"/>
  <p:tag name="ISPRING_SLIDE_INDENT_LEVEL" val="0"/>
  <p:tag name="ISPRING_CUSTOM_TIMING_US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L隐式对象"/>
  <p:tag name="GENSWF_ADVANCE_TIME" val="0.00"/>
  <p:tag name="ISPRING_SLIDE_INDENT_LEVEL" val="0"/>
  <p:tag name="ISPRING_CUSTOM_TIMING_US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什么是JSTL"/>
  <p:tag name="GENSWF_ADVANCE_TIME" val="0.00"/>
  <p:tag name="ISPRING_SLIDE_INDENT_LEVEL" val="0"/>
  <p:tag name="ISPRING_CUSTOM_TIMING_USED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什么是JSTL"/>
  <p:tag name="GENSWF_ADVANCE_TIME" val="0.00"/>
  <p:tag name="ISPRING_SLIDE_INDENT_LEVEL" val="0"/>
  <p:tag name="ISPRING_CUSTOM_TIMING_USED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JSTL的安装和测试"/>
  <p:tag name="GENSWF_ADVANCE_TIME" val="0.00"/>
  <p:tag name="ISPRING_SLIDE_INDENT_LEVEL" val="0"/>
  <p:tag name="ISPRING_CUSTOM_TIMING_USED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JSTL中的Core标签库"/>
  <p:tag name="GENSWF_ADVANCE_TIME" val="0.00"/>
  <p:tag name="ISPRING_SLIDE_INDENT_LEVEL" val="0"/>
  <p:tag name="ISPRING_CUSTOM_TIMING_USED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JSTL中的Core标签库"/>
  <p:tag name="GENSWF_ADVANCE_TIME" val="0.00"/>
  <p:tag name="ISPRING_SLIDE_INDENT_LEVEL" val="0"/>
  <p:tag name="ISPRING_CUSTOM_TIMING_USED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JSTL中的Core标签库"/>
  <p:tag name="GENSWF_ADVANCE_TIME" val="0.00"/>
  <p:tag name="ISPRING_SLIDE_INDENT_LEVEL" val="0"/>
  <p:tag name="ISPRING_CUSTOM_TIMING_USED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JSTL中的Core标签库"/>
  <p:tag name="GENSWF_ADVANCE_TIME" val="0.00"/>
  <p:tag name="ISPRING_SLIDE_INDENT_LEVEL" val="0"/>
  <p:tag name="ISPRING_CUSTOM_TIMING_USED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JSTL中的Core标签库"/>
  <p:tag name="GENSWF_ADVANCE_TIME" val="0.00"/>
  <p:tag name="ISPRING_SLIDE_INDENT_LEVEL" val="0"/>
  <p:tag name="ISPRING_CUSTOM_TIMING_USED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本章小结"/>
  <p:tag name="GENSWF_ADVANCE_TIME" val="0.00"/>
  <p:tag name="ISPRING_SLIDE_INDENT_LEVEL" val="0"/>
  <p:tag name="ISPRING_CUSTOM_TIMING_USED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"/>
  <p:tag name="GENSWF_ADVANCE_TIME" val="0.00"/>
  <p:tag name="ISPRING_SLIDE_INDENT_LEVEL" val="0"/>
  <p:tag name="ISPRING_CUSTOM_TIMING_USED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4568</TotalTime>
  <Words>4961</Words>
  <Application>Microsoft Office PowerPoint</Application>
  <PresentationFormat>全屏显示(4:3)</PresentationFormat>
  <Paragraphs>382</Paragraphs>
  <Slides>37</Slides>
  <Notes>37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38" baseType="lpstr">
      <vt:lpstr>Office 主题​​</vt:lpstr>
      <vt:lpstr>Java Web程序设计任务教程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EL表达式和JSTL</dc:title>
  <dc:creator>admin</dc:creator>
  <cp:lastModifiedBy>石荣新</cp:lastModifiedBy>
  <cp:revision>308</cp:revision>
  <dcterms:created xsi:type="dcterms:W3CDTF">2015-06-29T07:19:00Z</dcterms:created>
  <dcterms:modified xsi:type="dcterms:W3CDTF">2018-01-09T09:36:00Z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
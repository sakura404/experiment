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ppt/tags/tag17.xml" ContentType="application/vnd.openxmlformats-officedocument.presentationml.tags+xml"/>
  <Override PartName="/ppt/notesSlides/notesSlide16.xml" ContentType="application/vnd.openxmlformats-officedocument.presentationml.notesSlide+xml"/>
  <Override PartName="/ppt/tags/tag18.xml" ContentType="application/vnd.openxmlformats-officedocument.presentationml.tags+xml"/>
  <Override PartName="/ppt/notesSlides/notesSlide17.xml" ContentType="application/vnd.openxmlformats-officedocument.presentationml.notesSlide+xml"/>
  <Override PartName="/ppt/tags/tag19.xml" ContentType="application/vnd.openxmlformats-officedocument.presentationml.tags+xml"/>
  <Override PartName="/ppt/notesSlides/notesSlide18.xml" ContentType="application/vnd.openxmlformats-officedocument.presentationml.notesSlide+xml"/>
  <Override PartName="/ppt/tags/tag20.xml" ContentType="application/vnd.openxmlformats-officedocument.presentationml.tags+xml"/>
  <Override PartName="/ppt/notesSlides/notesSlide19.xml" ContentType="application/vnd.openxmlformats-officedocument.presentationml.notesSlide+xml"/>
  <Override PartName="/ppt/tags/tag21.xml" ContentType="application/vnd.openxmlformats-officedocument.presentationml.tags+xml"/>
  <Override PartName="/ppt/notesSlides/notesSlide20.xml" ContentType="application/vnd.openxmlformats-officedocument.presentationml.notesSlide+xml"/>
  <Override PartName="/ppt/tags/tag22.xml" ContentType="application/vnd.openxmlformats-officedocument.presentationml.tags+xml"/>
  <Override PartName="/ppt/notesSlides/notesSlide21.xml" ContentType="application/vnd.openxmlformats-officedocument.presentationml.notesSlide+xml"/>
  <Override PartName="/ppt/tags/tag23.xml" ContentType="application/vnd.openxmlformats-officedocument.presentationml.tags+xml"/>
  <Override PartName="/ppt/notesSlides/notesSlide22.xml" ContentType="application/vnd.openxmlformats-officedocument.presentationml.notesSlide+xml"/>
  <Override PartName="/ppt/tags/tag24.xml" ContentType="application/vnd.openxmlformats-officedocument.presentationml.tags+xml"/>
  <Override PartName="/ppt/notesSlides/notesSlide23.xml" ContentType="application/vnd.openxmlformats-officedocument.presentationml.notesSlide+xml"/>
  <Override PartName="/ppt/tags/tag25.xml" ContentType="application/vnd.openxmlformats-officedocument.presentationml.tags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3" r:id="rId1"/>
  </p:sldMasterIdLst>
  <p:notesMasterIdLst>
    <p:notesMasterId r:id="rId26"/>
  </p:notesMasterIdLst>
  <p:sldIdLst>
    <p:sldId id="349" r:id="rId2"/>
    <p:sldId id="346" r:id="rId3"/>
    <p:sldId id="347" r:id="rId4"/>
    <p:sldId id="327" r:id="rId5"/>
    <p:sldId id="329" r:id="rId6"/>
    <p:sldId id="259" r:id="rId7"/>
    <p:sldId id="265" r:id="rId8"/>
    <p:sldId id="266" r:id="rId9"/>
    <p:sldId id="335" r:id="rId10"/>
    <p:sldId id="267" r:id="rId11"/>
    <p:sldId id="336" r:id="rId12"/>
    <p:sldId id="268" r:id="rId13"/>
    <p:sldId id="269" r:id="rId14"/>
    <p:sldId id="339" r:id="rId15"/>
    <p:sldId id="338" r:id="rId16"/>
    <p:sldId id="340" r:id="rId17"/>
    <p:sldId id="341" r:id="rId18"/>
    <p:sldId id="342" r:id="rId19"/>
    <p:sldId id="343" r:id="rId20"/>
    <p:sldId id="345" r:id="rId21"/>
    <p:sldId id="344" r:id="rId22"/>
    <p:sldId id="332" r:id="rId23"/>
    <p:sldId id="348" r:id="rId24"/>
    <p:sldId id="350" r:id="rId25"/>
  </p:sldIdLst>
  <p:sldSz cx="9144000" cy="6858000" type="screen4x3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ED6"/>
    <a:srgbClr val="0066A1"/>
    <a:srgbClr val="01598B"/>
    <a:srgbClr val="E7F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257" autoAdjust="0"/>
    <p:restoredTop sz="98129" autoAdjust="0"/>
  </p:normalViewPr>
  <p:slideViewPr>
    <p:cSldViewPr>
      <p:cViewPr>
        <p:scale>
          <a:sx n="100" d="100"/>
          <a:sy n="100" d="100"/>
        </p:scale>
        <p:origin x="-1944" y="-3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19"/>
    </mc:Choice>
    <mc:Fallback>
      <c:style val="19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259762883621849"/>
          <c:y val="6.8138576695007141E-2"/>
          <c:w val="0.61861102362204723"/>
          <c:h val="0.76592641554868568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</c:dPt>
          <c:dPt>
            <c:idx val="1"/>
            <c:bubble3D val="0"/>
          </c:dPt>
          <c:dPt>
            <c:idx val="2"/>
            <c:bubble3D val="0"/>
          </c:dPt>
          <c:cat>
            <c:strRef>
              <c:f>Sheet1!$A$2:$A$4</c:f>
              <c:strCache>
                <c:ptCount val="3"/>
                <c:pt idx="0">
                  <c:v>掌握知识</c:v>
                </c:pt>
                <c:pt idx="1">
                  <c:v>理解知识</c:v>
                </c:pt>
                <c:pt idx="2">
                  <c:v>了解知识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3.3333333330000001</c:v>
                </c:pt>
                <c:pt idx="1">
                  <c:v>3.3333333330000001</c:v>
                </c:pt>
                <c:pt idx="2">
                  <c:v>3.3333333330000001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3A523D-10FA-4AF8-876D-793F2499E973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FBC746-E7F2-445D-B261-C69D09CCE1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3488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FBC746-E7F2-445D-B261-C69D09CCE1B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67039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FBC746-E7F2-445D-B261-C69D09CCE1B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33262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FBC746-E7F2-445D-B261-C69D09CCE1B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35424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FBC746-E7F2-445D-B261-C69D09CCE1B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70985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FBC746-E7F2-445D-B261-C69D09CCE1B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76540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FBC746-E7F2-445D-B261-C69D09CCE1B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00340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FBC746-E7F2-445D-B261-C69D09CCE1B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48563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FBC746-E7F2-445D-B261-C69D09CCE1B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78788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FBC746-E7F2-445D-B261-C69D09CCE1B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37385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FBC746-E7F2-445D-B261-C69D09CCE1B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32849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FBC746-E7F2-445D-B261-C69D09CCE1B7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31625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FBC746-E7F2-445D-B261-C69D09CCE1B7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13408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FBC746-E7F2-445D-B261-C69D09CCE1B7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8729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FBC746-E7F2-445D-B261-C69D09CCE1B7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93240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FBC746-E7F2-445D-B261-C69D09CCE1B7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12308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FBC746-E7F2-445D-B261-C69D09CCE1B7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88590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FBC746-E7F2-445D-B261-C69D09CCE1B7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97707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FBC746-E7F2-445D-B261-C69D09CCE1B7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16117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FBC746-E7F2-445D-B261-C69D09CCE1B7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6441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FBC746-E7F2-445D-B261-C69D09CCE1B7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09015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FBC746-E7F2-445D-B261-C69D09CCE1B7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29569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FBC746-E7F2-445D-B261-C69D09CCE1B7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99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FBC746-E7F2-445D-B261-C69D09CCE1B7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17300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717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fld id="{A3DF5170-8A0D-43AE-A108-EB1D46CE06DD}" type="slidenum">
              <a:rPr lang="zh-CN" altLang="en-US"/>
              <a:pPr eaLnBrk="1" hangingPunct="1">
                <a:buFontTx/>
                <a:buNone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1676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0" y="-1"/>
            <a:ext cx="9140780" cy="685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52281"/>
            <a:ext cx="7772400" cy="2157681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00819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657350" y="154546"/>
            <a:ext cx="4716082" cy="776289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8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6296106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657350" y="154546"/>
            <a:ext cx="4716082" cy="776289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9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3532752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57350" y="154546"/>
            <a:ext cx="4716082" cy="776289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1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4376927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7350" y="154546"/>
            <a:ext cx="4716082" cy="776289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7138694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657350" y="154546"/>
            <a:ext cx="4716082" cy="776289"/>
          </a:xfrm>
        </p:spPr>
        <p:txBody>
          <a:bodyPr>
            <a:norm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8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6311615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52" y="0"/>
            <a:ext cx="91463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6897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9391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9391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8427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8427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8427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8427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8427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8427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84277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9391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88397-7984-4816-A3BC-987D45041CB5}" type="datetimeFigureOut">
              <a:rPr lang="zh-CN" altLang="en-US" smtClean="0"/>
              <a:t>2018/1/9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4C423-1280-4737-888E-126E3DA98E0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1"/>
          <p:cNvSpPr>
            <a:spLocks noChangeArrowheads="1"/>
          </p:cNvSpPr>
          <p:nvPr userDrawn="1"/>
        </p:nvSpPr>
        <p:spPr bwMode="auto">
          <a:xfrm>
            <a:off x="691076" y="221355"/>
            <a:ext cx="7858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414214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  <p:sldLayoutId id="2147483748" r:id="rId15"/>
    <p:sldLayoutId id="2147483749" r:id="rId16"/>
    <p:sldLayoutId id="2147483750" r:id="rId17"/>
    <p:sldLayoutId id="2147483751" r:id="rId18"/>
    <p:sldLayoutId id="2147483752" r:id="rId19"/>
    <p:sldLayoutId id="2147483753" r:id="rId20"/>
    <p:sldLayoutId id="2147483754" r:id="rId21"/>
    <p:sldLayoutId id="2147483755" r:id="rId22"/>
    <p:sldLayoutId id="2147483756" r:id="rId23"/>
    <p:sldLayoutId id="2147483757" r:id="rId24"/>
    <p:sldLayoutId id="2147483758" r:id="rId25"/>
    <p:sldLayoutId id="2147483759" r:id="rId26"/>
    <p:sldLayoutId id="2147483760" r:id="rId27"/>
    <p:sldLayoutId id="2147483761" r:id="rId28"/>
    <p:sldLayoutId id="2147483762" r:id="rId29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Relationship Id="rId5" Type="http://schemas.openxmlformats.org/officeDocument/2006/relationships/image" Target="../media/image6.jpeg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3.xml"/><Relationship Id="rId4" Type="http://schemas.openxmlformats.org/officeDocument/2006/relationships/image" Target="../media/image1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14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20.xml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6.xml"/><Relationship Id="rId1" Type="http://schemas.openxmlformats.org/officeDocument/2006/relationships/tags" Target="../tags/tag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7.xml"/><Relationship Id="rId1" Type="http://schemas.openxmlformats.org/officeDocument/2006/relationships/tags" Target="../tags/tag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23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3"/>
          <p:cNvSpPr>
            <a:spLocks noChangeArrowheads="1"/>
          </p:cNvSpPr>
          <p:nvPr/>
        </p:nvSpPr>
        <p:spPr bwMode="auto">
          <a:xfrm>
            <a:off x="5292080" y="5622339"/>
            <a:ext cx="403244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</a:t>
            </a:r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</a:t>
            </a:r>
            <a:r>
              <a:rPr lang="en-US" altLang="zh-CN" sz="1600" dirty="0" err="1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HttpServlet</a:t>
            </a:r>
            <a:r>
              <a:rPr lang="zh-CN" altLang="en-US" sz="1600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类</a:t>
            </a:r>
            <a:endParaRPr lang="en-US" altLang="zh-CN" sz="1600" dirty="0" smtClean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sz="1600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sz="1600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在</a:t>
            </a:r>
            <a:r>
              <a:rPr lang="en-US" altLang="zh-CN" sz="1600" dirty="0" err="1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ServletConfig</a:t>
            </a:r>
            <a:r>
              <a:rPr lang="zh-CN" altLang="en-US" sz="1600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和</a:t>
            </a:r>
            <a:r>
              <a:rPr lang="en-US" altLang="zh-CN" sz="1600" dirty="0" err="1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ServletContext</a:t>
            </a:r>
            <a:r>
              <a:rPr lang="zh-CN" altLang="en-US" sz="1600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接口</a:t>
            </a:r>
            <a:endParaRPr lang="en-US" altLang="zh-CN" sz="1600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395339" y="5622339"/>
            <a:ext cx="505698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en-US" altLang="zh-CN" sz="1600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Servlet</a:t>
            </a:r>
            <a:r>
              <a:rPr lang="zh-CN" altLang="en-US" sz="1600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接口以及实现类</a:t>
            </a:r>
            <a:endParaRPr lang="zh-CN" altLang="en-US" sz="1600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</a:t>
            </a:r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</a:t>
            </a:r>
            <a:r>
              <a:rPr lang="zh-CN" altLang="en-US" sz="1600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使用</a:t>
            </a:r>
            <a:r>
              <a:rPr lang="en-US" altLang="zh-CN" sz="1600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Eclipse</a:t>
            </a:r>
            <a:r>
              <a:rPr lang="zh-CN" altLang="en-US" sz="1600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工具开发</a:t>
            </a:r>
            <a:r>
              <a:rPr lang="en-US" altLang="zh-CN" sz="1600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Servlet</a:t>
            </a:r>
            <a:endParaRPr lang="zh-CN" altLang="en-US" sz="1600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9" name="标题 1"/>
          <p:cNvSpPr>
            <a:spLocks noGrp="1"/>
          </p:cNvSpPr>
          <p:nvPr>
            <p:ph type="ctrTitle"/>
          </p:nvPr>
        </p:nvSpPr>
        <p:spPr>
          <a:xfrm>
            <a:off x="539552" y="1352281"/>
            <a:ext cx="8136904" cy="2157681"/>
          </a:xfrm>
        </p:spPr>
        <p:txBody>
          <a:bodyPr/>
          <a:lstStyle/>
          <a:p>
            <a:r>
              <a:rPr lang="en-US" altLang="zh-CN" b="1" dirty="0" smtClean="0"/>
              <a:t>Java Web</a:t>
            </a:r>
            <a:r>
              <a:rPr lang="zh-CN" altLang="en-US" b="1" dirty="0" smtClean="0"/>
              <a:t>程序设计任务教程</a:t>
            </a:r>
            <a:endParaRPr lang="zh-CN" altLang="en-US" b="1" dirty="0"/>
          </a:p>
        </p:txBody>
      </p:sp>
      <p:sp>
        <p:nvSpPr>
          <p:cNvPr id="10" name="副标题 2"/>
          <p:cNvSpPr>
            <a:spLocks noGrp="1"/>
          </p:cNvSpPr>
          <p:nvPr>
            <p:ph type="subTitle" idx="1"/>
          </p:nvPr>
        </p:nvSpPr>
        <p:spPr>
          <a:xfrm>
            <a:off x="1143000" y="3861470"/>
            <a:ext cx="6858000" cy="1655762"/>
          </a:xfrm>
        </p:spPr>
        <p:txBody>
          <a:bodyPr>
            <a:normAutofit/>
          </a:bodyPr>
          <a:lstStyle/>
          <a:p>
            <a:r>
              <a:rPr lang="zh-CN" altLang="en-US" sz="3200" b="1" dirty="0" smtClean="0"/>
              <a:t>第</a:t>
            </a:r>
            <a:r>
              <a:rPr lang="en-US" altLang="zh-CN" sz="3200" b="1" dirty="0" smtClean="0"/>
              <a:t>3</a:t>
            </a:r>
            <a:r>
              <a:rPr lang="zh-CN" altLang="en-US" sz="3200" b="1" dirty="0" smtClean="0"/>
              <a:t>章 </a:t>
            </a:r>
            <a:r>
              <a:rPr lang="en-US" altLang="zh-CN" sz="3200" b="1" dirty="0" smtClean="0"/>
              <a:t>Servlet</a:t>
            </a:r>
            <a:r>
              <a:rPr lang="zh-CN" altLang="en-US" sz="3200" b="1" dirty="0" smtClean="0"/>
              <a:t>基础</a:t>
            </a:r>
            <a:endParaRPr lang="zh-CN" altLang="en-US" sz="3200" b="1" dirty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5301208"/>
            <a:ext cx="947906" cy="1199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04479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ChangeArrowheads="1"/>
          </p:cNvSpPr>
          <p:nvPr/>
        </p:nvSpPr>
        <p:spPr bwMode="auto">
          <a:xfrm>
            <a:off x="827584" y="1052736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>
              <a:buFont typeface="Wingdings" pitchFamily="2" charset="2"/>
              <a:buNone/>
            </a:pPr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 bwMode="auto">
          <a:xfrm>
            <a:off x="481013" y="2024807"/>
            <a:ext cx="7975600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zh-CN" altLang="en-US" sz="2400" smtClean="0">
                <a:solidFill>
                  <a:prstClr val="black"/>
                </a:solidFill>
              </a:rPr>
              <a:t>请</a:t>
            </a:r>
            <a:r>
              <a:rPr lang="zh-CN" altLang="en-US" sz="2400">
                <a:solidFill>
                  <a:prstClr val="black"/>
                </a:solidFill>
              </a:rPr>
              <a:t>简简述</a:t>
            </a:r>
            <a:r>
              <a:rPr lang="en-US" altLang="zh-CN" sz="2400">
                <a:solidFill>
                  <a:prstClr val="black"/>
                </a:solidFill>
              </a:rPr>
              <a:t>HTTP1.1</a:t>
            </a:r>
            <a:r>
              <a:rPr lang="zh-CN" altLang="en-US" sz="2400">
                <a:solidFill>
                  <a:prstClr val="black"/>
                </a:solidFill>
              </a:rPr>
              <a:t>协议的通信过程</a:t>
            </a:r>
            <a:r>
              <a:rPr lang="zh-CN" altLang="en-US" sz="2400" smtClean="0">
                <a:solidFill>
                  <a:prstClr val="black"/>
                </a:solidFill>
              </a:rPr>
              <a:t>？</a:t>
            </a:r>
          </a:p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zh-CN" altLang="en-US" sz="2400" smtClean="0">
                <a:solidFill>
                  <a:prstClr val="black"/>
                </a:solidFill>
              </a:rPr>
              <a:t>简述</a:t>
            </a:r>
            <a:r>
              <a:rPr lang="en-US" altLang="zh-CN" sz="2400">
                <a:solidFill>
                  <a:prstClr val="black"/>
                </a:solidFill>
              </a:rPr>
              <a:t>POST</a:t>
            </a:r>
            <a:r>
              <a:rPr lang="zh-CN" altLang="en-US" sz="2400">
                <a:solidFill>
                  <a:prstClr val="black"/>
                </a:solidFill>
              </a:rPr>
              <a:t>请求和</a:t>
            </a:r>
            <a:r>
              <a:rPr lang="en-US" altLang="zh-CN" sz="2400">
                <a:solidFill>
                  <a:prstClr val="black"/>
                </a:solidFill>
              </a:rPr>
              <a:t>GET</a:t>
            </a:r>
            <a:r>
              <a:rPr lang="zh-CN" altLang="en-US" sz="2400">
                <a:solidFill>
                  <a:prstClr val="black"/>
                </a:solidFill>
              </a:rPr>
              <a:t>请求有什么不同？（至少</a:t>
            </a:r>
            <a:r>
              <a:rPr lang="en-US" altLang="zh-CN" sz="2400">
                <a:solidFill>
                  <a:prstClr val="black"/>
                </a:solidFill>
              </a:rPr>
              <a:t>2</a:t>
            </a:r>
            <a:r>
              <a:rPr lang="zh-CN" altLang="en-US" sz="2400">
                <a:solidFill>
                  <a:prstClr val="black"/>
                </a:solidFill>
              </a:rPr>
              <a:t>点</a:t>
            </a:r>
            <a:r>
              <a:rPr lang="zh-CN" altLang="en-US" sz="2400" smtClean="0">
                <a:solidFill>
                  <a:prstClr val="black"/>
                </a:solidFill>
              </a:rPr>
              <a:t>）</a:t>
            </a:r>
            <a:endParaRPr lang="en-US" altLang="zh-CN" sz="2400">
              <a:solidFill>
                <a:prstClr val="black"/>
              </a:solidFill>
            </a:endParaRPr>
          </a:p>
        </p:txBody>
      </p:sp>
      <p:sp>
        <p:nvSpPr>
          <p:cNvPr id="5" name="标题 1"/>
          <p:cNvSpPr>
            <a:spLocks noChangeArrowheads="1"/>
          </p:cNvSpPr>
          <p:nvPr/>
        </p:nvSpPr>
        <p:spPr bwMode="auto">
          <a:xfrm>
            <a:off x="1643733" y="389681"/>
            <a:ext cx="624123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>
              <a:buFont typeface="Wingdings" pitchFamily="2" charset="2"/>
              <a:buNone/>
            </a:pPr>
            <a:r>
              <a:rPr lang="zh-CN" altLang="en-US" sz="3200" b="1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作业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点评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34521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827584" y="1052736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>
              <a:buFont typeface="Wingdings" pitchFamily="2" charset="2"/>
              <a:buNone/>
            </a:pPr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内容占位符 2"/>
          <p:cNvSpPr txBox="1">
            <a:spLocks/>
          </p:cNvSpPr>
          <p:nvPr/>
        </p:nvSpPr>
        <p:spPr bwMode="auto">
          <a:xfrm>
            <a:off x="481013" y="2024807"/>
            <a:ext cx="7975600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en-US" altLang="zh-CN" sz="2400" smtClean="0">
                <a:solidFill>
                  <a:prstClr val="black"/>
                </a:solidFill>
              </a:rPr>
              <a:t>Servlet</a:t>
            </a:r>
            <a:r>
              <a:rPr lang="zh-CN" altLang="en-US" sz="2400">
                <a:solidFill>
                  <a:prstClr val="black"/>
                </a:solidFill>
              </a:rPr>
              <a:t>的概念、作用和</a:t>
            </a:r>
            <a:r>
              <a:rPr lang="zh-CN" altLang="en-US" sz="2400" smtClean="0">
                <a:solidFill>
                  <a:prstClr val="black"/>
                </a:solidFill>
              </a:rPr>
              <a:t>特点。</a:t>
            </a:r>
            <a:endParaRPr lang="en-US" altLang="zh-CN" sz="2400" smtClean="0">
              <a:solidFill>
                <a:prstClr val="black"/>
              </a:solidFill>
            </a:endParaRPr>
          </a:p>
          <a:p>
            <a:pPr lvl="1">
              <a:lnSpc>
                <a:spcPct val="150000"/>
              </a:lnSpc>
              <a:spcBef>
                <a:spcPct val="20000"/>
              </a:spcBef>
              <a:buFontTx/>
              <a:buChar char="–"/>
            </a:pPr>
            <a:r>
              <a:rPr lang="zh-CN" altLang="en-US" sz="2400">
                <a:solidFill>
                  <a:prstClr val="black"/>
                </a:solidFill>
              </a:rPr>
              <a:t>如何创建和使用</a:t>
            </a:r>
            <a:r>
              <a:rPr lang="en-US" altLang="zh-CN" sz="2400" smtClean="0">
                <a:solidFill>
                  <a:prstClr val="black"/>
                </a:solidFill>
              </a:rPr>
              <a:t>Servlet</a:t>
            </a:r>
            <a:r>
              <a:rPr lang="zh-CN" altLang="en-US" sz="2400" smtClean="0">
                <a:solidFill>
                  <a:prstClr val="black"/>
                </a:solidFill>
              </a:rPr>
              <a:t>？</a:t>
            </a:r>
            <a:endParaRPr lang="en-US" altLang="zh-CN" sz="2400" dirty="0">
              <a:solidFill>
                <a:prstClr val="black"/>
              </a:solidFill>
            </a:endParaRPr>
          </a:p>
        </p:txBody>
      </p:sp>
      <p:sp>
        <p:nvSpPr>
          <p:cNvPr id="5" name="标题 1"/>
          <p:cNvSpPr>
            <a:spLocks noChangeArrowheads="1"/>
          </p:cNvSpPr>
          <p:nvPr/>
        </p:nvSpPr>
        <p:spPr bwMode="auto">
          <a:xfrm>
            <a:off x="1643733" y="389681"/>
            <a:ext cx="624123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>
              <a:buFont typeface="Wingdings" pitchFamily="2" charset="2"/>
              <a:buNone/>
            </a:pPr>
            <a:r>
              <a:rPr lang="zh-CN" altLang="en-US" sz="3200" b="1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预习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检查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63845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/>
          </p:cNvGrpSpPr>
          <p:nvPr/>
        </p:nvGrpSpPr>
        <p:grpSpPr bwMode="auto">
          <a:xfrm flipH="1" flipV="1">
            <a:off x="321561" y="2194584"/>
            <a:ext cx="2595557" cy="1139825"/>
            <a:chOff x="5462128" y="4225925"/>
            <a:chExt cx="3209885" cy="1209015"/>
          </a:xfrm>
        </p:grpSpPr>
        <p:grpSp>
          <p:nvGrpSpPr>
            <p:cNvPr id="3" name="组合 38"/>
            <p:cNvGrpSpPr>
              <a:grpSpLocks/>
            </p:cNvGrpSpPr>
            <p:nvPr/>
          </p:nvGrpSpPr>
          <p:grpSpPr bwMode="auto">
            <a:xfrm rot="10800000">
              <a:off x="5687902" y="4225925"/>
              <a:ext cx="2669052" cy="686411"/>
              <a:chOff x="934464" y="2318309"/>
              <a:chExt cx="2669329" cy="686148"/>
            </a:xfrm>
          </p:grpSpPr>
          <p:cxnSp>
            <p:nvCxnSpPr>
              <p:cNvPr id="8" name="直接连接符 39"/>
              <p:cNvCxnSpPr>
                <a:cxnSpLocks noChangeShapeType="1"/>
              </p:cNvCxnSpPr>
              <p:nvPr/>
            </p:nvCxnSpPr>
            <p:spPr bwMode="auto">
              <a:xfrm rot="10800000" flipH="1" flipV="1">
                <a:off x="934464" y="2318309"/>
                <a:ext cx="298001" cy="686148"/>
              </a:xfrm>
              <a:prstGeom prst="line">
                <a:avLst/>
              </a:prstGeom>
              <a:noFill/>
              <a:ln w="28575" algn="ctr">
                <a:solidFill>
                  <a:srgbClr val="006BA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9" name="直接连接符 40"/>
              <p:cNvCxnSpPr>
                <a:cxnSpLocks noChangeShapeType="1"/>
              </p:cNvCxnSpPr>
              <p:nvPr/>
            </p:nvCxnSpPr>
            <p:spPr bwMode="auto">
              <a:xfrm rot="10800000" flipH="1" flipV="1">
                <a:off x="1222939" y="3004457"/>
                <a:ext cx="2380854" cy="0"/>
              </a:xfrm>
              <a:prstGeom prst="line">
                <a:avLst/>
              </a:prstGeom>
              <a:noFill/>
              <a:ln w="28575" algn="ctr">
                <a:solidFill>
                  <a:srgbClr val="006BA9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4" name="组合 41"/>
            <p:cNvGrpSpPr>
              <a:grpSpLocks/>
            </p:cNvGrpSpPr>
            <p:nvPr/>
          </p:nvGrpSpPr>
          <p:grpSpPr bwMode="auto">
            <a:xfrm flipH="1">
              <a:off x="8082606" y="4880949"/>
              <a:ext cx="589407" cy="553991"/>
              <a:chOff x="1256847" y="3607535"/>
              <a:chExt cx="591076" cy="553298"/>
            </a:xfrm>
          </p:grpSpPr>
          <p:sp>
            <p:nvSpPr>
              <p:cNvPr id="6" name="椭圆 5"/>
              <p:cNvSpPr/>
              <p:nvPr/>
            </p:nvSpPr>
            <p:spPr bwMode="auto">
              <a:xfrm>
                <a:off x="1256847" y="3647898"/>
                <a:ext cx="591076" cy="474256"/>
              </a:xfrm>
              <a:prstGeom prst="ellipse">
                <a:avLst/>
              </a:prstGeom>
              <a:solidFill>
                <a:srgbClr val="006BA9"/>
              </a:solidFill>
              <a:ln w="28575" cap="flat" cmpd="sng" algn="ctr">
                <a:solidFill>
                  <a:srgbClr val="006BA9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25400" dist="12700" dir="2700000" algn="tl" rotWithShape="0">
                  <a:prstClr val="black">
                    <a:alpha val="40000"/>
                  </a:prstClr>
                </a:outerShdw>
              </a:effectLst>
              <a:extLst/>
            </p:spPr>
            <p:txBody>
              <a:bodyPr/>
              <a:lstStyle/>
              <a:p>
                <a:pPr eaLnBrk="1" hangingPunct="1">
                  <a:buFont typeface="Arial" pitchFamily="34" charset="0"/>
                  <a:buNone/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 rot="10800000">
                <a:off x="1327723" y="3607535"/>
                <a:ext cx="334694" cy="553298"/>
              </a:xfrm>
              <a:prstGeom prst="rect">
                <a:avLst/>
              </a:prstGeom>
              <a:noFill/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800" b="1" dirty="0" smtClean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" name="矩形 51"/>
            <p:cNvSpPr>
              <a:spLocks noChangeArrowheads="1"/>
            </p:cNvSpPr>
            <p:nvPr/>
          </p:nvSpPr>
          <p:spPr bwMode="auto">
            <a:xfrm rot="10800000">
              <a:off x="5462128" y="4278351"/>
              <a:ext cx="2762197" cy="5234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pPr marL="457200" indent="-457200">
                <a:lnSpc>
                  <a:spcPts val="3600"/>
                </a:lnSpc>
              </a:pPr>
              <a:r>
                <a:rPr lang="en-US" altLang="zh-CN" b="1" smtClean="0">
                  <a:solidFill>
                    <a:srgbClr val="006BA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宋体" pitchFamily="2" charset="-122"/>
                </a:rPr>
                <a:t>Servlet</a:t>
              </a:r>
              <a:r>
                <a:rPr lang="zh-CN" altLang="en-US" b="1" smtClean="0">
                  <a:solidFill>
                    <a:srgbClr val="006BA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宋体" pitchFamily="2" charset="-122"/>
                </a:rPr>
                <a:t>的生命周期</a:t>
              </a:r>
              <a:endParaRPr lang="en-US" altLang="zh-CN" b="1">
                <a:solidFill>
                  <a:srgbClr val="006BA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1570070" y="1316729"/>
            <a:ext cx="5245036" cy="4035361"/>
            <a:chOff x="1398367" y="1722062"/>
            <a:chExt cx="5245036" cy="4035172"/>
          </a:xfrm>
        </p:grpSpPr>
        <p:graphicFrame>
          <p:nvGraphicFramePr>
            <p:cNvPr id="11" name="图表 2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192531024"/>
                </p:ext>
              </p:extLst>
            </p:nvPr>
          </p:nvGraphicFramePr>
          <p:xfrm>
            <a:off x="1398367" y="1722062"/>
            <a:ext cx="5245036" cy="403517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2" name="TextBox 11"/>
            <p:cNvSpPr txBox="1"/>
            <p:nvPr/>
          </p:nvSpPr>
          <p:spPr bwMode="auto">
            <a:xfrm rot="2719682">
              <a:off x="4600346" y="2872905"/>
              <a:ext cx="1042938" cy="36988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pc="300">
                  <a:latin typeface="微软雅黑" panose="020B0503020204020204" pitchFamily="34" charset="-122"/>
                  <a:ea typeface="微软雅黑" panose="020B0503020204020204" pitchFamily="34" charset="-122"/>
                </a:rPr>
                <a:t>掌握</a:t>
              </a:r>
            </a:p>
          </p:txBody>
        </p:sp>
        <p:sp>
          <p:nvSpPr>
            <p:cNvPr id="13" name="TextBox 12"/>
            <p:cNvSpPr txBox="1"/>
            <p:nvPr/>
          </p:nvSpPr>
          <p:spPr bwMode="auto">
            <a:xfrm rot="6997465" flipV="1">
              <a:off x="2748528" y="2675271"/>
              <a:ext cx="1041351" cy="36988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pc="300">
                  <a:latin typeface="微软雅黑" panose="020B0503020204020204" pitchFamily="34" charset="-122"/>
                  <a:ea typeface="微软雅黑" panose="020B0503020204020204" pitchFamily="34" charset="-122"/>
                </a:rPr>
                <a:t>了解</a:t>
              </a:r>
            </a:p>
          </p:txBody>
        </p:sp>
        <p:sp>
          <p:nvSpPr>
            <p:cNvPr id="14" name="TextBox 13"/>
            <p:cNvSpPr txBox="1"/>
            <p:nvPr/>
          </p:nvSpPr>
          <p:spPr bwMode="auto">
            <a:xfrm rot="10800000" flipH="1" flipV="1">
              <a:off x="3819272" y="4427003"/>
              <a:ext cx="1041400" cy="36828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pc="300">
                  <a:latin typeface="微软雅黑" panose="020B0503020204020204" pitchFamily="34" charset="-122"/>
                  <a:ea typeface="微软雅黑" panose="020B0503020204020204" pitchFamily="34" charset="-122"/>
                </a:rPr>
                <a:t>熟练</a:t>
              </a:r>
            </a:p>
          </p:txBody>
        </p:sp>
      </p:grpSp>
      <p:grpSp>
        <p:nvGrpSpPr>
          <p:cNvPr id="15" name="组合 2"/>
          <p:cNvGrpSpPr>
            <a:grpSpLocks/>
          </p:cNvGrpSpPr>
          <p:nvPr/>
        </p:nvGrpSpPr>
        <p:grpSpPr bwMode="auto">
          <a:xfrm>
            <a:off x="3692525" y="2547010"/>
            <a:ext cx="1203325" cy="1201737"/>
            <a:chOff x="3692088" y="2878838"/>
            <a:chExt cx="1203191" cy="1201737"/>
          </a:xfrm>
        </p:grpSpPr>
        <p:sp>
          <p:nvSpPr>
            <p:cNvPr id="16" name="弧形 15"/>
            <p:cNvSpPr/>
            <p:nvPr/>
          </p:nvSpPr>
          <p:spPr bwMode="auto">
            <a:xfrm rot="5400000">
              <a:off x="3692815" y="2878111"/>
              <a:ext cx="1201737" cy="1203191"/>
            </a:xfrm>
            <a:prstGeom prst="arc">
              <a:avLst>
                <a:gd name="adj1" fmla="val 5382197"/>
                <a:gd name="adj2" fmla="val 0"/>
              </a:avLst>
            </a:prstGeom>
            <a:noFill/>
            <a:ln w="57150" cap="flat" cmpd="sng" algn="ctr">
              <a:solidFill>
                <a:srgbClr val="D5F4FF"/>
              </a:solidFill>
              <a:prstDash val="solid"/>
              <a:round/>
              <a:headEnd type="oval" w="sm" len="sm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7" name="弧形 16"/>
            <p:cNvSpPr/>
            <p:nvPr/>
          </p:nvSpPr>
          <p:spPr bwMode="auto">
            <a:xfrm>
              <a:off x="3795265" y="2996313"/>
              <a:ext cx="990490" cy="992187"/>
            </a:xfrm>
            <a:prstGeom prst="arc">
              <a:avLst>
                <a:gd name="adj1" fmla="val 10763236"/>
                <a:gd name="adj2" fmla="val 0"/>
              </a:avLst>
            </a:prstGeom>
            <a:noFill/>
            <a:ln w="57150" cap="flat" cmpd="sng" algn="ctr">
              <a:solidFill>
                <a:srgbClr val="D5F4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8" name="弧形 17"/>
            <p:cNvSpPr/>
            <p:nvPr/>
          </p:nvSpPr>
          <p:spPr bwMode="auto">
            <a:xfrm rot="16200000">
              <a:off x="3891251" y="3136849"/>
              <a:ext cx="822325" cy="753978"/>
            </a:xfrm>
            <a:prstGeom prst="arc">
              <a:avLst>
                <a:gd name="adj1" fmla="val 16251812"/>
                <a:gd name="adj2" fmla="val 0"/>
              </a:avLst>
            </a:prstGeom>
            <a:noFill/>
            <a:ln w="57150" cap="flat" cmpd="sng" algn="ctr">
              <a:solidFill>
                <a:srgbClr val="D5F4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>
                <a:ea typeface="宋体" pitchFamily="2" charset="-122"/>
              </a:endParaRPr>
            </a:p>
          </p:txBody>
        </p:sp>
      </p:grpSp>
      <p:grpSp>
        <p:nvGrpSpPr>
          <p:cNvPr id="19" name="组合 18"/>
          <p:cNvGrpSpPr>
            <a:grpSpLocks/>
          </p:cNvGrpSpPr>
          <p:nvPr/>
        </p:nvGrpSpPr>
        <p:grpSpPr bwMode="auto">
          <a:xfrm>
            <a:off x="4604978" y="4706681"/>
            <a:ext cx="3687726" cy="1314608"/>
            <a:chOff x="4241881" y="5106729"/>
            <a:chExt cx="2034493" cy="1306451"/>
          </a:xfrm>
        </p:grpSpPr>
        <p:grpSp>
          <p:nvGrpSpPr>
            <p:cNvPr id="20" name="组合 38"/>
            <p:cNvGrpSpPr>
              <a:grpSpLocks/>
            </p:cNvGrpSpPr>
            <p:nvPr/>
          </p:nvGrpSpPr>
          <p:grpSpPr bwMode="auto">
            <a:xfrm rot="5400000" flipV="1">
              <a:off x="4703914" y="4644696"/>
              <a:ext cx="1075694" cy="1999759"/>
              <a:chOff x="6453791" y="4116789"/>
              <a:chExt cx="1526764" cy="915993"/>
            </a:xfrm>
          </p:grpSpPr>
          <p:grpSp>
            <p:nvGrpSpPr>
              <p:cNvPr id="22" name="组合 38"/>
              <p:cNvGrpSpPr>
                <a:grpSpLocks/>
              </p:cNvGrpSpPr>
              <p:nvPr/>
            </p:nvGrpSpPr>
            <p:grpSpPr bwMode="auto">
              <a:xfrm rot="10800000">
                <a:off x="6453791" y="4116789"/>
                <a:ext cx="1212473" cy="810510"/>
                <a:chOff x="1625229" y="2303341"/>
                <a:chExt cx="1212595" cy="810196"/>
              </a:xfrm>
            </p:grpSpPr>
            <p:cxnSp>
              <p:nvCxnSpPr>
                <p:cNvPr id="26" name="直接连接符 39"/>
                <p:cNvCxnSpPr>
                  <a:cxnSpLocks noChangeShapeType="1"/>
                </p:cNvCxnSpPr>
                <p:nvPr/>
              </p:nvCxnSpPr>
              <p:spPr bwMode="auto">
                <a:xfrm rot="16200000" flipH="1" flipV="1">
                  <a:off x="1232572" y="2695997"/>
                  <a:ext cx="785314" cy="1"/>
                </a:xfrm>
                <a:prstGeom prst="line">
                  <a:avLst/>
                </a:prstGeom>
                <a:noFill/>
                <a:ln w="28575" algn="ctr">
                  <a:solidFill>
                    <a:srgbClr val="01598B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27" name="直接连接符 40"/>
                <p:cNvCxnSpPr>
                  <a:cxnSpLocks noChangeShapeType="1"/>
                </p:cNvCxnSpPr>
                <p:nvPr/>
              </p:nvCxnSpPr>
              <p:spPr bwMode="auto">
                <a:xfrm rot="16200000" flipH="1">
                  <a:off x="2219087" y="2494799"/>
                  <a:ext cx="24880" cy="1212595"/>
                </a:xfrm>
                <a:prstGeom prst="line">
                  <a:avLst/>
                </a:prstGeom>
                <a:noFill/>
                <a:ln w="28575" algn="ctr">
                  <a:solidFill>
                    <a:srgbClr val="01598B"/>
                  </a:solidFill>
                  <a:round/>
                  <a:headEnd/>
                  <a:tailEnd type="oval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grpSp>
            <p:nvGrpSpPr>
              <p:cNvPr id="23" name="组合 41"/>
              <p:cNvGrpSpPr>
                <a:grpSpLocks/>
              </p:cNvGrpSpPr>
              <p:nvPr/>
            </p:nvGrpSpPr>
            <p:grpSpPr bwMode="auto">
              <a:xfrm flipH="1">
                <a:off x="7292398" y="4920843"/>
                <a:ext cx="688157" cy="111939"/>
                <a:chOff x="1950262" y="3647353"/>
                <a:chExt cx="690106" cy="111798"/>
              </a:xfrm>
            </p:grpSpPr>
            <p:sp>
              <p:nvSpPr>
                <p:cNvPr id="24" name="椭圆 23"/>
                <p:cNvSpPr/>
                <p:nvPr/>
              </p:nvSpPr>
              <p:spPr bwMode="auto">
                <a:xfrm rot="5400000">
                  <a:off x="2204742" y="3392873"/>
                  <a:ext cx="111798" cy="620757"/>
                </a:xfrm>
                <a:prstGeom prst="ellipse">
                  <a:avLst/>
                </a:prstGeom>
                <a:solidFill>
                  <a:srgbClr val="006BA9"/>
                </a:solidFill>
                <a:ln w="28575" cap="flat" cmpd="sng" algn="ctr">
                  <a:solidFill>
                    <a:srgbClr val="006BA9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25400" dist="12700" dir="2700000" algn="tl" rotWithShape="0">
                    <a:prstClr val="black">
                      <a:alpha val="40000"/>
                    </a:prstClr>
                  </a:outerShdw>
                </a:effectLst>
                <a:extLst/>
              </p:spPr>
              <p:txBody>
                <a:bodyPr/>
                <a:lstStyle/>
                <a:p>
                  <a:pPr eaLnBrk="1" hangingPunct="1">
                    <a:buFont typeface="Arial" pitchFamily="34" charset="0"/>
                    <a:buNone/>
                    <a:defRPr/>
                  </a:pPr>
                  <a:endParaRPr lang="zh-CN" altLang="en-US">
                    <a:ea typeface="宋体" pitchFamily="2" charset="-122"/>
                  </a:endParaRPr>
                </a:p>
              </p:txBody>
            </p:sp>
            <p:sp>
              <p:nvSpPr>
                <p:cNvPr id="25" name="TextBox 24"/>
                <p:cNvSpPr txBox="1"/>
                <p:nvPr/>
              </p:nvSpPr>
              <p:spPr>
                <a:xfrm rot="5400000">
                  <a:off x="2258983" y="3365768"/>
                  <a:ext cx="93355" cy="669414"/>
                </a:xfrm>
                <a:prstGeom prst="rect">
                  <a:avLst/>
                </a:prstGeom>
                <a:noFill/>
                <a:effectLst>
                  <a:outerShdw blurRad="12700" dist="127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>
                  <a:spAutoFit/>
                </a:bodyPr>
                <a:lstStyle/>
                <a:p>
                  <a:pPr>
                    <a:defRPr/>
                  </a:pPr>
                  <a:r>
                    <a:rPr lang="en-US" altLang="zh-CN" sz="2800" b="1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lang="zh-CN" altLang="en-US" sz="2800" b="1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21" name="矩形 4"/>
            <p:cNvSpPr>
              <a:spLocks noChangeArrowheads="1"/>
            </p:cNvSpPr>
            <p:nvPr/>
          </p:nvSpPr>
          <p:spPr bwMode="auto">
            <a:xfrm>
              <a:off x="4296212" y="5403818"/>
              <a:ext cx="1980162" cy="1009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/>
            <a:p>
              <a:pPr marL="457200" indent="-457200">
                <a:lnSpc>
                  <a:spcPts val="3600"/>
                </a:lnSpc>
              </a:pPr>
              <a:r>
                <a:rPr lang="zh-CN" altLang="en-US" b="1" smtClean="0">
                  <a:solidFill>
                    <a:srgbClr val="0066A1"/>
                  </a:solidFill>
                  <a:latin typeface="微软雅黑" pitchFamily="34" charset="-122"/>
                  <a:ea typeface="微软雅黑" pitchFamily="34" charset="-122"/>
                  <a:sym typeface="宋体" pitchFamily="2" charset="-122"/>
                </a:rPr>
                <a:t>使用</a:t>
              </a:r>
              <a:r>
                <a:rPr lang="en-US" altLang="zh-CN" b="1" smtClean="0">
                  <a:solidFill>
                    <a:srgbClr val="0066A1"/>
                  </a:solidFill>
                  <a:latin typeface="微软雅黑" pitchFamily="34" charset="-122"/>
                  <a:ea typeface="微软雅黑" pitchFamily="34" charset="-122"/>
                  <a:sym typeface="宋体" pitchFamily="2" charset="-122"/>
                </a:rPr>
                <a:t>Eclipse</a:t>
              </a:r>
              <a:r>
                <a:rPr lang="zh-CN" altLang="en-US" b="1" smtClean="0">
                  <a:solidFill>
                    <a:srgbClr val="0066A1"/>
                  </a:solidFill>
                  <a:latin typeface="微软雅黑" pitchFamily="34" charset="-122"/>
                  <a:ea typeface="微软雅黑" pitchFamily="34" charset="-122"/>
                  <a:sym typeface="宋体" pitchFamily="2" charset="-122"/>
                </a:rPr>
                <a:t>工具开发</a:t>
              </a:r>
              <a:r>
                <a:rPr lang="en-US" altLang="zh-CN" b="1" smtClean="0">
                  <a:solidFill>
                    <a:srgbClr val="0066A1"/>
                  </a:solidFill>
                  <a:latin typeface="微软雅黑" pitchFamily="34" charset="-122"/>
                  <a:ea typeface="微软雅黑" pitchFamily="34" charset="-122"/>
                  <a:sym typeface="宋体" pitchFamily="2" charset="-122"/>
                </a:rPr>
                <a:t>Servlet</a:t>
              </a:r>
              <a:endParaRPr lang="en-US" altLang="zh-CN" b="1">
                <a:solidFill>
                  <a:srgbClr val="0066A1"/>
                </a:solidFill>
                <a:latin typeface="微软雅黑" pitchFamily="34" charset="-122"/>
                <a:ea typeface="微软雅黑" pitchFamily="34" charset="-122"/>
                <a:sym typeface="宋体" pitchFamily="2" charset="-122"/>
              </a:endParaRPr>
            </a:p>
            <a:p>
              <a:pPr marL="457200" indent="-457200">
                <a:lnSpc>
                  <a:spcPts val="3600"/>
                </a:lnSpc>
              </a:pPr>
              <a:endParaRPr lang="en-US" altLang="zh-CN" b="1" dirty="0">
                <a:solidFill>
                  <a:srgbClr val="006BA9"/>
                </a:solidFill>
                <a:ea typeface="微软雅黑" pitchFamily="34" charset="-122"/>
                <a:sym typeface="宋体" charset="-122"/>
              </a:endParaRPr>
            </a:p>
          </p:txBody>
        </p:sp>
      </p:grpSp>
      <p:grpSp>
        <p:nvGrpSpPr>
          <p:cNvPr id="28" name="组合 6"/>
          <p:cNvGrpSpPr>
            <a:grpSpLocks/>
          </p:cNvGrpSpPr>
          <p:nvPr/>
        </p:nvGrpSpPr>
        <p:grpSpPr bwMode="auto">
          <a:xfrm>
            <a:off x="5292080" y="1310534"/>
            <a:ext cx="3744413" cy="1159190"/>
            <a:chOff x="5509341" y="1574284"/>
            <a:chExt cx="3747790" cy="1159228"/>
          </a:xfrm>
        </p:grpSpPr>
        <p:sp>
          <p:nvSpPr>
            <p:cNvPr id="29" name="矩形 5"/>
            <p:cNvSpPr>
              <a:spLocks noChangeArrowheads="1"/>
            </p:cNvSpPr>
            <p:nvPr/>
          </p:nvSpPr>
          <p:spPr bwMode="auto">
            <a:xfrm flipH="1">
              <a:off x="5509341" y="1574284"/>
              <a:ext cx="3510626" cy="10156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/>
            <a:p>
              <a:pPr marL="457200" indent="-457200">
                <a:lnSpc>
                  <a:spcPts val="3600"/>
                </a:lnSpc>
              </a:pPr>
              <a:r>
                <a:rPr lang="en-US" altLang="zh-CN" b="1" smtClean="0">
                  <a:solidFill>
                    <a:srgbClr val="01598B"/>
                  </a:solidFill>
                  <a:latin typeface="微软雅黑" pitchFamily="34" charset="-122"/>
                  <a:ea typeface="微软雅黑" pitchFamily="34" charset="-122"/>
                </a:rPr>
                <a:t>Servlet</a:t>
              </a:r>
              <a:r>
                <a:rPr lang="zh-CN" altLang="en-US" b="1" smtClean="0">
                  <a:solidFill>
                    <a:srgbClr val="01598B"/>
                  </a:solidFill>
                  <a:latin typeface="微软雅黑" pitchFamily="34" charset="-122"/>
                  <a:ea typeface="微软雅黑" pitchFamily="34" charset="-122"/>
                </a:rPr>
                <a:t>接口及其实现类的使用</a:t>
              </a:r>
              <a:endParaRPr lang="en-US" altLang="zh-CN" b="1" smtClean="0">
                <a:solidFill>
                  <a:srgbClr val="01598B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marL="457200" indent="-457200">
                <a:lnSpc>
                  <a:spcPts val="3600"/>
                </a:lnSpc>
              </a:pPr>
              <a:r>
                <a:rPr lang="en-US" altLang="zh-CN" b="1" smtClean="0">
                  <a:solidFill>
                    <a:srgbClr val="01598B"/>
                  </a:solidFill>
                  <a:latin typeface="微软雅黑" pitchFamily="34" charset="-122"/>
                  <a:ea typeface="微软雅黑" pitchFamily="34" charset="-122"/>
                </a:rPr>
                <a:t> Servlet</a:t>
              </a:r>
              <a:r>
                <a:rPr lang="zh-CN" altLang="en-US" b="1" smtClean="0">
                  <a:solidFill>
                    <a:srgbClr val="01598B"/>
                  </a:solidFill>
                  <a:latin typeface="微软雅黑" pitchFamily="34" charset="-122"/>
                  <a:ea typeface="微软雅黑" pitchFamily="34" charset="-122"/>
                </a:rPr>
                <a:t>虚拟路径映射的配置</a:t>
              </a:r>
              <a:endParaRPr lang="zh-CN" altLang="zh-CN" b="1">
                <a:solidFill>
                  <a:srgbClr val="01598B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30" name="组合 16"/>
            <p:cNvGrpSpPr>
              <a:grpSpLocks/>
            </p:cNvGrpSpPr>
            <p:nvPr/>
          </p:nvGrpSpPr>
          <p:grpSpPr bwMode="auto">
            <a:xfrm flipH="1">
              <a:off x="5947990" y="2286831"/>
              <a:ext cx="3039273" cy="446681"/>
              <a:chOff x="980659" y="2862509"/>
              <a:chExt cx="3177995" cy="446892"/>
            </a:xfrm>
          </p:grpSpPr>
          <p:cxnSp>
            <p:nvCxnSpPr>
              <p:cNvPr id="34" name="直接连接符 7"/>
              <p:cNvCxnSpPr>
                <a:cxnSpLocks noChangeShapeType="1"/>
              </p:cNvCxnSpPr>
              <p:nvPr/>
            </p:nvCxnSpPr>
            <p:spPr bwMode="auto">
              <a:xfrm>
                <a:off x="980659" y="2862509"/>
                <a:ext cx="255076" cy="446892"/>
              </a:xfrm>
              <a:prstGeom prst="line">
                <a:avLst/>
              </a:prstGeom>
              <a:noFill/>
              <a:ln w="28575" algn="ctr">
                <a:solidFill>
                  <a:srgbClr val="006BA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5" name="直接连接符 10"/>
              <p:cNvCxnSpPr>
                <a:cxnSpLocks noChangeShapeType="1"/>
              </p:cNvCxnSpPr>
              <p:nvPr/>
            </p:nvCxnSpPr>
            <p:spPr bwMode="auto">
              <a:xfrm>
                <a:off x="1235735" y="3294594"/>
                <a:ext cx="2922919" cy="14807"/>
              </a:xfrm>
              <a:prstGeom prst="line">
                <a:avLst/>
              </a:prstGeom>
              <a:noFill/>
              <a:ln w="28575" algn="ctr">
                <a:solidFill>
                  <a:srgbClr val="006BA9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1" name="组合 15"/>
            <p:cNvGrpSpPr>
              <a:grpSpLocks/>
            </p:cNvGrpSpPr>
            <p:nvPr/>
          </p:nvGrpSpPr>
          <p:grpSpPr bwMode="auto">
            <a:xfrm flipH="1">
              <a:off x="8767740" y="1827378"/>
              <a:ext cx="489391" cy="520715"/>
              <a:chOff x="1383067" y="4069721"/>
              <a:chExt cx="511727" cy="520961"/>
            </a:xfrm>
          </p:grpSpPr>
          <p:sp>
            <p:nvSpPr>
              <p:cNvPr id="32" name="椭圆 31"/>
              <p:cNvSpPr/>
              <p:nvPr/>
            </p:nvSpPr>
            <p:spPr bwMode="auto">
              <a:xfrm>
                <a:off x="1383067" y="4085604"/>
                <a:ext cx="511727" cy="473312"/>
              </a:xfrm>
              <a:prstGeom prst="ellipse">
                <a:avLst/>
              </a:prstGeom>
              <a:solidFill>
                <a:srgbClr val="006BA9"/>
              </a:solidFill>
              <a:ln w="28575" cap="flat" cmpd="sng" algn="ctr">
                <a:solidFill>
                  <a:srgbClr val="006BA9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25400" dist="12700" dir="2700000" algn="tl" rotWithShape="0">
                  <a:prstClr val="black">
                    <a:alpha val="40000"/>
                  </a:prstClr>
                </a:outerShdw>
              </a:effectLst>
              <a:extLst/>
            </p:spPr>
            <p:txBody>
              <a:bodyPr/>
              <a:lstStyle/>
              <a:p>
                <a:pPr eaLnBrk="1" hangingPunct="1">
                  <a:buFont typeface="Arial" pitchFamily="34" charset="0"/>
                  <a:buNone/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1491055" y="4069721"/>
                <a:ext cx="335613" cy="520961"/>
              </a:xfrm>
              <a:prstGeom prst="rect">
                <a:avLst/>
              </a:prstGeom>
              <a:noFill/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800" b="1" dirty="0" smtClean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36" name="标题 1"/>
          <p:cNvSpPr>
            <a:spLocks noChangeArrowheads="1"/>
          </p:cNvSpPr>
          <p:nvPr/>
        </p:nvSpPr>
        <p:spPr bwMode="auto">
          <a:xfrm>
            <a:off x="1643733" y="389681"/>
            <a:ext cx="624123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学习目标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5850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5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/>
        </p:nvSpPr>
        <p:spPr>
          <a:xfrm>
            <a:off x="539552" y="1844824"/>
            <a:ext cx="5688632" cy="648072"/>
          </a:xfrm>
          <a:prstGeom prst="round2DiagRect">
            <a:avLst>
              <a:gd name="adj1" fmla="val 20943"/>
              <a:gd name="adj2" fmla="val 0"/>
            </a:avLst>
          </a:prstGeom>
          <a:solidFill>
            <a:srgbClr val="006BA9"/>
          </a:solidFill>
          <a:ln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" name="TextBox 6"/>
          <p:cNvSpPr txBox="1"/>
          <p:nvPr/>
        </p:nvSpPr>
        <p:spPr>
          <a:xfrm>
            <a:off x="881716" y="1979548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3</a:t>
            </a:r>
            <a:r>
              <a:rPr lang="en-US" altLang="zh-CN" sz="240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.1    Servlet</a:t>
            </a:r>
            <a:r>
              <a:rPr lang="zh-CN" altLang="en-US" sz="240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概述</a:t>
            </a:r>
            <a:r>
              <a:rPr lang="zh-CN" altLang="en-US" sz="240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endParaRPr lang="zh-CN" altLang="en-US" sz="24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Box 10"/>
          <p:cNvSpPr txBox="1"/>
          <p:nvPr/>
        </p:nvSpPr>
        <p:spPr>
          <a:xfrm>
            <a:off x="881716" y="2723631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3</a:t>
            </a:r>
            <a:r>
              <a:rPr lang="en-US" altLang="zh-CN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.2</a:t>
            </a:r>
            <a:r>
              <a:rPr lang="en-US" altLang="zh-CN" sz="2400" smtClean="0">
                <a:solidFill>
                  <a:srgbClr val="CD1F06"/>
                </a:solidFill>
                <a:latin typeface="Impact" pitchFamily="34" charset="0"/>
                <a:ea typeface="微软雅黑" pitchFamily="34" charset="-122"/>
              </a:rPr>
              <a:t>    </a:t>
            </a:r>
            <a:r>
              <a:rPr lang="en-US" altLang="zh-CN" sz="2400" smtClean="0">
                <a:solidFill>
                  <a:prstClr val="white">
                    <a:lumMod val="50000"/>
                  </a:prstClr>
                </a:solidFill>
                <a:latin typeface="Impact" pitchFamily="34" charset="0"/>
                <a:ea typeface="微软雅黑" pitchFamily="34" charset="-122"/>
              </a:rPr>
              <a:t>Servlet</a:t>
            </a:r>
            <a:r>
              <a:rPr lang="zh-CN" altLang="en-US" sz="2400" smtClean="0">
                <a:solidFill>
                  <a:prstClr val="white">
                    <a:lumMod val="50000"/>
                  </a:prstClr>
                </a:solidFill>
                <a:latin typeface="Impact" pitchFamily="34" charset="0"/>
                <a:ea typeface="微软雅黑" pitchFamily="34" charset="-122"/>
              </a:rPr>
              <a:t>开发入门</a:t>
            </a:r>
            <a:endParaRPr lang="zh-CN" altLang="en-US" sz="2400" dirty="0">
              <a:solidFill>
                <a:prstClr val="white">
                  <a:lumMod val="50000"/>
                </a:prstClr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6" name="TextBox 11"/>
          <p:cNvSpPr txBox="1"/>
          <p:nvPr/>
        </p:nvSpPr>
        <p:spPr>
          <a:xfrm>
            <a:off x="881716" y="3467714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3</a:t>
            </a:r>
            <a:r>
              <a:rPr lang="en-US" altLang="zh-CN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.3    Servlet</a:t>
            </a:r>
            <a:r>
              <a:rPr lang="zh-CN" altLang="en-US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应用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5220072" y="1484784"/>
            <a:ext cx="3444382" cy="344438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381000"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1"/>
          <p:cNvSpPr txBox="1"/>
          <p:nvPr/>
        </p:nvSpPr>
        <p:spPr>
          <a:xfrm>
            <a:off x="5182106" y="2264870"/>
            <a:ext cx="3566358" cy="18312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b="1" smtClean="0">
                <a:solidFill>
                  <a:srgbClr val="F2F2E6"/>
                </a:solidFill>
                <a:latin typeface="微软雅黑" pitchFamily="34" charset="-122"/>
                <a:ea typeface="微软雅黑" pitchFamily="34" charset="-122"/>
              </a:rPr>
              <a:t>主讲内容</a:t>
            </a:r>
            <a:endParaRPr lang="en-US" altLang="zh-CN" sz="5400" b="1" dirty="0" smtClean="0">
              <a:solidFill>
                <a:srgbClr val="F2F2E6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3200" smtClean="0">
                <a:solidFill>
                  <a:srgbClr val="F2F2E6"/>
                </a:solidFill>
                <a:latin typeface="Times New Roman" panose="02020603050405020304" pitchFamily="18" charset="0"/>
                <a:ea typeface="Adobe 宋体 Std L" pitchFamily="18" charset="-122"/>
                <a:cs typeface="Times New Roman" panose="02020603050405020304" pitchFamily="18" charset="0"/>
              </a:rPr>
              <a:t>Speech content</a:t>
            </a:r>
            <a:endParaRPr lang="en-US" altLang="zh-CN" sz="3200" dirty="0" smtClean="0">
              <a:solidFill>
                <a:srgbClr val="F2F2E6"/>
              </a:solidFill>
              <a:latin typeface="Times New Roman" panose="02020603050405020304" pitchFamily="18" charset="0"/>
              <a:ea typeface="Adobe 宋体 Std L" pitchFamily="18" charset="-122"/>
              <a:cs typeface="Times New Roman" panose="02020603050405020304" pitchFamily="18" charset="0"/>
            </a:endParaRPr>
          </a:p>
        </p:txBody>
      </p:sp>
      <p:sp>
        <p:nvSpPr>
          <p:cNvPr id="8" name="TextBox 11"/>
          <p:cNvSpPr txBox="1"/>
          <p:nvPr/>
        </p:nvSpPr>
        <p:spPr>
          <a:xfrm>
            <a:off x="881716" y="4139788"/>
            <a:ext cx="5346468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3.4    ServletConfig</a:t>
            </a:r>
            <a:r>
              <a:rPr lang="zh-CN" altLang="en-US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和</a:t>
            </a:r>
            <a:r>
              <a:rPr lang="en-US" altLang="zh-CN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ServletContext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11" name="标题 1"/>
          <p:cNvSpPr>
            <a:spLocks noChangeArrowheads="1"/>
          </p:cNvSpPr>
          <p:nvPr/>
        </p:nvSpPr>
        <p:spPr bwMode="auto">
          <a:xfrm>
            <a:off x="1643733" y="389681"/>
            <a:ext cx="624123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主讲内容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69197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椭圆 15"/>
          <p:cNvSpPr/>
          <p:nvPr/>
        </p:nvSpPr>
        <p:spPr>
          <a:xfrm>
            <a:off x="2915816" y="1556792"/>
            <a:ext cx="5976664" cy="3984247"/>
          </a:xfrm>
          <a:prstGeom prst="ellipse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-3" y="1052736"/>
            <a:ext cx="3707907" cy="1192802"/>
            <a:chOff x="-2" y="1921888"/>
            <a:chExt cx="3252572" cy="1192802"/>
          </a:xfrm>
          <a:solidFill>
            <a:srgbClr val="FFCC99"/>
          </a:solidFill>
        </p:grpSpPr>
        <p:sp>
          <p:nvSpPr>
            <p:cNvPr id="3" name="TextBox 2"/>
            <p:cNvSpPr txBox="1"/>
            <p:nvPr/>
          </p:nvSpPr>
          <p:spPr>
            <a:xfrm>
              <a:off x="-2" y="1921888"/>
              <a:ext cx="3252572" cy="1107996"/>
            </a:xfrm>
            <a:prstGeom prst="rect">
              <a:avLst/>
            </a:prstGeom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3175">
              <a:noFill/>
            </a:ln>
          </p:spPr>
          <p:txBody>
            <a:bodyPr wrap="square" anchor="ctr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2400" b="1">
                  <a:solidFill>
                    <a:srgbClr val="000000"/>
                  </a:solidFill>
                  <a:latin typeface="宋体"/>
                  <a:ea typeface="宋体"/>
                </a:rPr>
                <a:t>      思考</a:t>
              </a:r>
              <a:endParaRPr lang="en-US" altLang="zh-CN" sz="2400" b="1">
                <a:solidFill>
                  <a:srgbClr val="000000"/>
                </a:solidFill>
                <a:latin typeface="宋体"/>
                <a:ea typeface="宋体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zh-CN" altLang="en-US" sz="200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       </a:t>
              </a:r>
              <a:r>
                <a:rPr lang="zh-CN" altLang="en-US" sz="200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什么是</a:t>
              </a:r>
              <a:r>
                <a:rPr lang="en-US" altLang="zh-CN" sz="200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Servlet</a:t>
              </a:r>
              <a:r>
                <a:rPr lang="zh-CN" altLang="en-US" sz="200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？</a:t>
              </a:r>
              <a:endPara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175" y="1994481"/>
              <a:ext cx="762474" cy="1120209"/>
            </a:xfrm>
            <a:prstGeom prst="ellipse">
              <a:avLst/>
            </a:prstGeom>
            <a:grpFill/>
            <a:ln>
              <a:noFill/>
            </a:ln>
            <a:effectLst>
              <a:softEdge rad="112500"/>
            </a:effectLst>
          </p:spPr>
        </p:pic>
      </p:grpSp>
      <p:sp>
        <p:nvSpPr>
          <p:cNvPr id="15" name="TextBox 14"/>
          <p:cNvSpPr txBox="1"/>
          <p:nvPr/>
        </p:nvSpPr>
        <p:spPr>
          <a:xfrm>
            <a:off x="3456806" y="2348586"/>
            <a:ext cx="496855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</a:rPr>
              <a:t>Servlet</a:t>
            </a:r>
            <a:r>
              <a:rPr lang="zh-CN" altLang="zh-CN" sz="2000" dirty="0"/>
              <a:t>是使用</a:t>
            </a:r>
            <a:r>
              <a:rPr lang="en-US" altLang="zh-CN" sz="2000" dirty="0"/>
              <a:t>Java</a:t>
            </a:r>
            <a:r>
              <a:rPr lang="zh-CN" altLang="zh-CN" sz="2000" dirty="0"/>
              <a:t>语言编写的运行在</a:t>
            </a:r>
            <a:r>
              <a:rPr lang="zh-CN" altLang="zh-CN" sz="2000" dirty="0">
                <a:solidFill>
                  <a:srgbClr val="FF0000"/>
                </a:solidFill>
              </a:rPr>
              <a:t>服务器端的程序</a:t>
            </a:r>
            <a:r>
              <a:rPr lang="zh-CN" altLang="zh-CN" sz="2000" dirty="0" smtClean="0"/>
              <a:t>。狭义</a:t>
            </a:r>
            <a:r>
              <a:rPr lang="zh-CN" altLang="zh-CN" sz="2000" dirty="0"/>
              <a:t>的</a:t>
            </a:r>
            <a:r>
              <a:rPr lang="en-US" altLang="zh-CN" sz="2000" dirty="0"/>
              <a:t>Servlet</a:t>
            </a:r>
            <a:r>
              <a:rPr lang="zh-CN" altLang="zh-CN" sz="2000" dirty="0"/>
              <a:t>是指</a:t>
            </a:r>
            <a:r>
              <a:rPr lang="en-US" altLang="zh-CN" sz="2000" dirty="0"/>
              <a:t>Java</a:t>
            </a:r>
            <a:r>
              <a:rPr lang="zh-CN" altLang="zh-CN" sz="2000" dirty="0"/>
              <a:t>语言实现的一个</a:t>
            </a:r>
            <a:r>
              <a:rPr lang="zh-CN" altLang="zh-CN" sz="2000" dirty="0">
                <a:solidFill>
                  <a:srgbClr val="FF0000"/>
                </a:solidFill>
              </a:rPr>
              <a:t>接口</a:t>
            </a:r>
            <a:r>
              <a:rPr lang="zh-CN" altLang="zh-CN" sz="2000" dirty="0" smtClean="0"/>
              <a:t>，广义</a:t>
            </a:r>
            <a:r>
              <a:rPr lang="zh-CN" altLang="zh-CN" sz="2000" dirty="0"/>
              <a:t>的</a:t>
            </a:r>
            <a:r>
              <a:rPr lang="en-US" altLang="zh-CN" sz="2000" dirty="0"/>
              <a:t>Servlet</a:t>
            </a:r>
            <a:r>
              <a:rPr lang="zh-CN" altLang="zh-CN" sz="2000" dirty="0"/>
              <a:t>是指任何</a:t>
            </a:r>
            <a:r>
              <a:rPr lang="zh-CN" altLang="zh-CN" sz="2000" dirty="0">
                <a:solidFill>
                  <a:srgbClr val="FF0000"/>
                </a:solidFill>
              </a:rPr>
              <a:t>实现了这个</a:t>
            </a:r>
            <a:r>
              <a:rPr lang="en-US" altLang="zh-CN" sz="2000" dirty="0">
                <a:solidFill>
                  <a:srgbClr val="FF0000"/>
                </a:solidFill>
              </a:rPr>
              <a:t>Servlet</a:t>
            </a:r>
            <a:r>
              <a:rPr lang="zh-CN" altLang="zh-CN" sz="2000" dirty="0">
                <a:solidFill>
                  <a:srgbClr val="FF0000"/>
                </a:solidFill>
              </a:rPr>
              <a:t>接口的类</a:t>
            </a:r>
            <a:r>
              <a:rPr lang="zh-CN" altLang="zh-CN" sz="2000" dirty="0" smtClean="0"/>
              <a:t>，一般</a:t>
            </a:r>
            <a:r>
              <a:rPr lang="zh-CN" altLang="zh-CN" sz="2000" dirty="0"/>
              <a:t>情况下，人们将</a:t>
            </a:r>
            <a:r>
              <a:rPr lang="en-US" altLang="zh-CN" sz="2000" dirty="0"/>
              <a:t>Servlet</a:t>
            </a:r>
            <a:r>
              <a:rPr lang="zh-CN" altLang="zh-CN" sz="2000" dirty="0"/>
              <a:t>理解为后者。</a:t>
            </a:r>
            <a:endParaRPr lang="zh-CN" altLang="en-US"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804342" y="5529579"/>
            <a:ext cx="7488832" cy="870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solidFill>
                  <a:srgbClr val="FF0000"/>
                </a:solidFill>
              </a:rPr>
              <a:t>作用：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Servlet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主要用于</a:t>
            </a:r>
            <a:r>
              <a:rPr lang="zh-CN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处理客户端传来的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</a:t>
            </a:r>
            <a:r>
              <a:rPr lang="zh-CN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请求</a:t>
            </a:r>
            <a:r>
              <a:rPr lang="zh-CN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，并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返回一个响应，它能够处理的请求有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doGet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zh-CN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doPost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zh-C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等方法。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标题 1"/>
          <p:cNvSpPr>
            <a:spLocks noChangeArrowheads="1"/>
          </p:cNvSpPr>
          <p:nvPr/>
        </p:nvSpPr>
        <p:spPr bwMode="auto">
          <a:xfrm>
            <a:off x="1643733" y="389681"/>
            <a:ext cx="624123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Servlet</a:t>
            </a:r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概述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5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39553" y="1052736"/>
            <a:ext cx="7704856" cy="875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en-US" altLang="zh-CN" dirty="0"/>
              <a:t>Servlet</a:t>
            </a:r>
            <a:r>
              <a:rPr lang="zh-CN" altLang="zh-CN" dirty="0"/>
              <a:t>由</a:t>
            </a:r>
            <a:r>
              <a:rPr lang="en-US" altLang="zh-CN" dirty="0"/>
              <a:t>Servlet</a:t>
            </a:r>
            <a:r>
              <a:rPr lang="zh-CN" altLang="zh-CN" dirty="0"/>
              <a:t>容器提供，所谓的</a:t>
            </a:r>
            <a:r>
              <a:rPr lang="en-US" altLang="zh-CN" dirty="0"/>
              <a:t>Servlet</a:t>
            </a:r>
            <a:r>
              <a:rPr lang="zh-CN" altLang="zh-CN" dirty="0"/>
              <a:t>容器是指提供了</a:t>
            </a:r>
            <a:r>
              <a:rPr lang="en-US" altLang="zh-CN" dirty="0"/>
              <a:t>Servlet </a:t>
            </a:r>
            <a:r>
              <a:rPr lang="zh-CN" altLang="zh-CN" dirty="0"/>
              <a:t>功能的服务器（本书中指</a:t>
            </a:r>
            <a:r>
              <a:rPr lang="en-US" altLang="zh-CN" dirty="0"/>
              <a:t>Tomcat</a:t>
            </a:r>
            <a:r>
              <a:rPr lang="zh-CN" altLang="zh-CN" dirty="0"/>
              <a:t>），</a:t>
            </a:r>
            <a:r>
              <a:rPr lang="en-US" altLang="zh-CN" dirty="0"/>
              <a:t>Servlet</a:t>
            </a:r>
            <a:r>
              <a:rPr lang="zh-CN" altLang="zh-CN" dirty="0"/>
              <a:t>容器将</a:t>
            </a:r>
            <a:r>
              <a:rPr lang="en-US" altLang="zh-CN" dirty="0"/>
              <a:t>Servlet</a:t>
            </a:r>
            <a:r>
              <a:rPr lang="zh-CN" altLang="zh-CN" dirty="0"/>
              <a:t>动态的加载到服务器上。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539552" y="2360314"/>
            <a:ext cx="7704856" cy="3949005"/>
          </a:xfrm>
          <a:prstGeom prst="rect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1573" y="3077518"/>
            <a:ext cx="533400" cy="86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4973" y="3145928"/>
            <a:ext cx="809625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4598" y="3029893"/>
            <a:ext cx="771525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6123" y="3179265"/>
            <a:ext cx="352425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0524" y="3176436"/>
            <a:ext cx="352425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5409" y="2991991"/>
            <a:ext cx="781050" cy="95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7338" y="3020368"/>
            <a:ext cx="542925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8" name="Picture 1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438" y="3653582"/>
            <a:ext cx="342900" cy="18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9" name="Picture 13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6945" y="3653582"/>
            <a:ext cx="342900" cy="18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11" name="Picture 15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4498" y="3669209"/>
            <a:ext cx="8001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692362" y="4047739"/>
            <a:ext cx="7416824" cy="2261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 smtClean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Servlet</a:t>
            </a:r>
            <a:r>
              <a:rPr lang="zh-CN" altLang="zh-CN" sz="1600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的请求首先会被</a:t>
            </a:r>
            <a:r>
              <a:rPr lang="en-US" altLang="zh-CN" sz="1600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</a:t>
            </a:r>
            <a:r>
              <a:rPr lang="zh-CN" altLang="zh-CN" sz="1600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服务器接收</a:t>
            </a:r>
            <a:r>
              <a:rPr lang="zh-CN" altLang="zh-CN" sz="1600" dirty="0" smtClean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600" dirty="0" smtClean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</a:t>
            </a:r>
            <a:r>
              <a:rPr lang="zh-CN" altLang="zh-CN" sz="1600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服务器只负责静态</a:t>
            </a:r>
            <a:r>
              <a:rPr lang="en-US" altLang="zh-CN" sz="1600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</a:t>
            </a:r>
            <a:r>
              <a:rPr lang="zh-CN" altLang="zh-CN" sz="1600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ML页面的</a:t>
            </a:r>
            <a:r>
              <a:rPr lang="zh-CN" altLang="zh-CN" sz="1600" dirty="0" smtClean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解析</a:t>
            </a:r>
            <a:r>
              <a:rPr lang="zh-CN" altLang="en-US" sz="1600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1600" dirty="0" smtClean="0">
              <a:solidFill>
                <a:srgbClr val="0066A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600" dirty="0" smtClean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Servlet</a:t>
            </a:r>
            <a:r>
              <a:rPr lang="zh-CN" altLang="zh-CN" sz="1600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的请求转交给Servlet容器，</a:t>
            </a:r>
            <a:r>
              <a:rPr lang="en-US" altLang="zh-CN" sz="1600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Servlet</a:t>
            </a:r>
            <a:r>
              <a:rPr lang="zh-CN" altLang="zh-CN" sz="1600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容器会根据</a:t>
            </a:r>
            <a:r>
              <a:rPr lang="en-US" altLang="zh-CN" sz="1600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web.xml</a:t>
            </a:r>
            <a:r>
              <a:rPr lang="zh-CN" altLang="zh-CN" sz="1600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文件中的映射关系，调用相应的</a:t>
            </a:r>
            <a:r>
              <a:rPr lang="en-US" altLang="zh-CN" sz="1600" dirty="0" smtClean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Servlet</a:t>
            </a:r>
            <a:r>
              <a:rPr lang="zh-CN" altLang="en-US" sz="1600" dirty="0" smtClean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1600" dirty="0" smtClean="0">
              <a:solidFill>
                <a:srgbClr val="0066A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 smtClean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Servlet</a:t>
            </a:r>
            <a:r>
              <a:rPr lang="zh-CN" altLang="zh-CN" sz="1600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将处理的结果返回给</a:t>
            </a:r>
            <a:r>
              <a:rPr lang="en-US" altLang="zh-CN" sz="1600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Servlet</a:t>
            </a:r>
            <a:r>
              <a:rPr lang="zh-CN" altLang="zh-CN" sz="1600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容器，并通过</a:t>
            </a:r>
            <a:r>
              <a:rPr lang="en-US" altLang="zh-CN" sz="1600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</a:t>
            </a:r>
            <a:r>
              <a:rPr lang="zh-CN" altLang="zh-CN" sz="1600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服务器将响应传输给客户端。</a:t>
            </a:r>
            <a:endParaRPr lang="zh-CN" altLang="en-US" sz="1600" dirty="0">
              <a:solidFill>
                <a:srgbClr val="0066A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任意多边形 25"/>
          <p:cNvSpPr/>
          <p:nvPr/>
        </p:nvSpPr>
        <p:spPr bwMode="auto">
          <a:xfrm>
            <a:off x="4591243" y="2060848"/>
            <a:ext cx="3175205" cy="371475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70C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27" name="矩形 75"/>
          <p:cNvSpPr>
            <a:spLocks noChangeArrowheads="1"/>
          </p:cNvSpPr>
          <p:nvPr/>
        </p:nvSpPr>
        <p:spPr bwMode="auto">
          <a:xfrm>
            <a:off x="4591243" y="2095624"/>
            <a:ext cx="317520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0">
            <a:spAutoFit/>
          </a:bodyPr>
          <a:lstStyle/>
          <a:p>
            <a:pPr algn="ctr" eaLnBrk="1" hangingPunct="1"/>
            <a:r>
              <a:rPr lang="zh-CN" altLang="en-US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Servlet</a:t>
            </a:r>
            <a:r>
              <a:rPr lang="zh-CN" altLang="en-US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应用程序的体系结构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标题 1"/>
          <p:cNvSpPr>
            <a:spLocks noChangeArrowheads="1"/>
          </p:cNvSpPr>
          <p:nvPr/>
        </p:nvSpPr>
        <p:spPr bwMode="auto">
          <a:xfrm>
            <a:off x="1643733" y="389681"/>
            <a:ext cx="624123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Servlet</a:t>
            </a:r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概述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40119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0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4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4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4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26" grpId="0" animBg="1"/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539552" y="1928267"/>
            <a:ext cx="7704856" cy="3732982"/>
          </a:xfrm>
          <a:prstGeom prst="rect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/>
        </p:nvSpPr>
        <p:spPr bwMode="auto">
          <a:xfrm>
            <a:off x="5796136" y="1700808"/>
            <a:ext cx="1970312" cy="371475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70C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15" name="矩形 75"/>
          <p:cNvSpPr>
            <a:spLocks noChangeArrowheads="1"/>
          </p:cNvSpPr>
          <p:nvPr/>
        </p:nvSpPr>
        <p:spPr bwMode="auto">
          <a:xfrm>
            <a:off x="5724128" y="1735584"/>
            <a:ext cx="204232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0">
            <a:spAutoFit/>
          </a:bodyPr>
          <a:lstStyle/>
          <a:p>
            <a:pPr algn="ctr" eaLnBrk="1" hangingPunct="1"/>
            <a:r>
              <a:rPr lang="zh-CN" altLang="en-US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Servlet</a:t>
            </a:r>
            <a:r>
              <a:rPr lang="zh-CN" altLang="en-US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的特点</a:t>
            </a:r>
            <a:endParaRPr lang="zh-CN" altLang="en-US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6" name="组合 15"/>
          <p:cNvGrpSpPr>
            <a:grpSpLocks/>
          </p:cNvGrpSpPr>
          <p:nvPr/>
        </p:nvGrpSpPr>
        <p:grpSpPr bwMode="auto">
          <a:xfrm>
            <a:off x="899592" y="2204864"/>
            <a:ext cx="6984776" cy="1080120"/>
            <a:chOff x="2048782" y="2254824"/>
            <a:chExt cx="10798980" cy="925924"/>
          </a:xfrm>
        </p:grpSpPr>
        <p:sp>
          <p:nvSpPr>
            <p:cNvPr id="17" name="Rectangle 5"/>
            <p:cNvSpPr>
              <a:spLocks noChangeArrowheads="1"/>
            </p:cNvSpPr>
            <p:nvPr/>
          </p:nvSpPr>
          <p:spPr bwMode="auto">
            <a:xfrm>
              <a:off x="2048782" y="2254824"/>
              <a:ext cx="10798980" cy="865187"/>
            </a:xfrm>
            <a:prstGeom prst="rect">
              <a:avLst/>
            </a:prstGeom>
            <a:solidFill>
              <a:srgbClr val="DEDE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>
                <a:solidFill>
                  <a:srgbClr val="000000"/>
                </a:solidFill>
                <a:latin typeface="Calibri" pitchFamily="34" charset="0"/>
                <a:sym typeface="Calibri" pitchFamily="34" charset="0"/>
              </a:endParaRPr>
            </a:p>
          </p:txBody>
        </p:sp>
        <p:sp>
          <p:nvSpPr>
            <p:cNvPr id="18" name="矩形 3"/>
            <p:cNvSpPr>
              <a:spLocks noChangeArrowheads="1"/>
            </p:cNvSpPr>
            <p:nvPr/>
          </p:nvSpPr>
          <p:spPr bwMode="auto">
            <a:xfrm>
              <a:off x="2114566" y="2257419"/>
              <a:ext cx="10621866" cy="923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zh-CN" altLang="zh-CN" dirty="0">
                  <a:solidFill>
                    <a:srgbClr val="0066A1"/>
                  </a:solidFill>
                </a:rPr>
                <a:t>方便：</a:t>
              </a:r>
              <a:r>
                <a:rPr lang="en-US" altLang="zh-CN" dirty="0">
                  <a:solidFill>
                    <a:srgbClr val="0066A1"/>
                  </a:solidFill>
                </a:rPr>
                <a:t>Servlet</a:t>
              </a:r>
              <a:r>
                <a:rPr lang="zh-CN" altLang="zh-CN" dirty="0">
                  <a:solidFill>
                    <a:srgbClr val="0066A1"/>
                  </a:solidFill>
                </a:rPr>
                <a:t>提供了大量的实用工具例程，如处理很难完成的</a:t>
              </a:r>
              <a:r>
                <a:rPr lang="en-US" altLang="zh-CN" dirty="0">
                  <a:solidFill>
                    <a:srgbClr val="0066A1"/>
                  </a:solidFill>
                </a:rPr>
                <a:t>HTML</a:t>
              </a:r>
              <a:r>
                <a:rPr lang="zh-CN" altLang="zh-CN" dirty="0">
                  <a:solidFill>
                    <a:srgbClr val="0066A1"/>
                  </a:solidFill>
                </a:rPr>
                <a:t>表单数据、读取和设置</a:t>
              </a:r>
              <a:r>
                <a:rPr lang="en-US" altLang="zh-CN" dirty="0">
                  <a:solidFill>
                    <a:srgbClr val="0066A1"/>
                  </a:solidFill>
                </a:rPr>
                <a:t>HTTP</a:t>
              </a:r>
              <a:r>
                <a:rPr lang="zh-CN" altLang="zh-CN" dirty="0">
                  <a:solidFill>
                    <a:srgbClr val="0066A1"/>
                  </a:solidFill>
                </a:rPr>
                <a:t>头，以及处理</a:t>
              </a:r>
              <a:r>
                <a:rPr lang="en-US" altLang="zh-CN" dirty="0">
                  <a:solidFill>
                    <a:srgbClr val="0066A1"/>
                  </a:solidFill>
                </a:rPr>
                <a:t>Cookie</a:t>
              </a:r>
              <a:r>
                <a:rPr lang="zh-CN" altLang="zh-CN" dirty="0">
                  <a:solidFill>
                    <a:srgbClr val="0066A1"/>
                  </a:solidFill>
                </a:rPr>
                <a:t>和跟踪会话等。</a:t>
              </a:r>
            </a:p>
          </p:txBody>
        </p:sp>
      </p:grpSp>
      <p:grpSp>
        <p:nvGrpSpPr>
          <p:cNvPr id="19" name="组合 18"/>
          <p:cNvGrpSpPr>
            <a:grpSpLocks/>
          </p:cNvGrpSpPr>
          <p:nvPr/>
        </p:nvGrpSpPr>
        <p:grpSpPr bwMode="auto">
          <a:xfrm>
            <a:off x="899592" y="3356992"/>
            <a:ext cx="6984776" cy="1009268"/>
            <a:chOff x="2048782" y="2254824"/>
            <a:chExt cx="10798980" cy="865187"/>
          </a:xfrm>
        </p:grpSpPr>
        <p:sp>
          <p:nvSpPr>
            <p:cNvPr id="20" name="Rectangle 5"/>
            <p:cNvSpPr>
              <a:spLocks noChangeArrowheads="1"/>
            </p:cNvSpPr>
            <p:nvPr/>
          </p:nvSpPr>
          <p:spPr bwMode="auto">
            <a:xfrm>
              <a:off x="2048782" y="2254824"/>
              <a:ext cx="10798980" cy="865187"/>
            </a:xfrm>
            <a:prstGeom prst="rect">
              <a:avLst/>
            </a:prstGeom>
            <a:solidFill>
              <a:srgbClr val="DEDE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>
                <a:solidFill>
                  <a:srgbClr val="000000"/>
                </a:solidFill>
                <a:latin typeface="Calibri" pitchFamily="34" charset="0"/>
                <a:sym typeface="Calibri" pitchFamily="34" charset="0"/>
              </a:endParaRPr>
            </a:p>
          </p:txBody>
        </p:sp>
        <p:sp>
          <p:nvSpPr>
            <p:cNvPr id="21" name="矩形 3"/>
            <p:cNvSpPr>
              <a:spLocks noChangeArrowheads="1"/>
            </p:cNvSpPr>
            <p:nvPr/>
          </p:nvSpPr>
          <p:spPr bwMode="auto">
            <a:xfrm>
              <a:off x="2114566" y="2378281"/>
              <a:ext cx="10621866" cy="554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zh-CN" altLang="zh-CN">
                  <a:solidFill>
                    <a:srgbClr val="0066A1"/>
                  </a:solidFill>
                </a:rPr>
                <a:t>跨平台：</a:t>
              </a:r>
              <a:r>
                <a:rPr lang="en-US" altLang="zh-CN">
                  <a:solidFill>
                    <a:srgbClr val="0066A1"/>
                  </a:solidFill>
                </a:rPr>
                <a:t>Servlet</a:t>
              </a:r>
              <a:r>
                <a:rPr lang="zh-CN" altLang="zh-CN">
                  <a:solidFill>
                    <a:srgbClr val="0066A1"/>
                  </a:solidFill>
                </a:rPr>
                <a:t>用</a:t>
              </a:r>
              <a:r>
                <a:rPr lang="en-US" altLang="zh-CN">
                  <a:solidFill>
                    <a:srgbClr val="0066A1"/>
                  </a:solidFill>
                </a:rPr>
                <a:t>Java</a:t>
              </a:r>
              <a:r>
                <a:rPr lang="zh-CN" altLang="zh-CN">
                  <a:solidFill>
                    <a:srgbClr val="0066A1"/>
                  </a:solidFill>
                </a:rPr>
                <a:t>类编写，可以在不同操作系统平台和不同应用服务器平台下运行。</a:t>
              </a:r>
            </a:p>
          </p:txBody>
        </p:sp>
      </p:grpSp>
      <p:grpSp>
        <p:nvGrpSpPr>
          <p:cNvPr id="22" name="组合 21"/>
          <p:cNvGrpSpPr>
            <a:grpSpLocks/>
          </p:cNvGrpSpPr>
          <p:nvPr/>
        </p:nvGrpSpPr>
        <p:grpSpPr bwMode="auto">
          <a:xfrm>
            <a:off x="899592" y="4509120"/>
            <a:ext cx="6984776" cy="1009268"/>
            <a:chOff x="2048782" y="2254824"/>
            <a:chExt cx="10798980" cy="865187"/>
          </a:xfrm>
        </p:grpSpPr>
        <p:sp>
          <p:nvSpPr>
            <p:cNvPr id="23" name="Rectangle 5"/>
            <p:cNvSpPr>
              <a:spLocks noChangeArrowheads="1"/>
            </p:cNvSpPr>
            <p:nvPr/>
          </p:nvSpPr>
          <p:spPr bwMode="auto">
            <a:xfrm>
              <a:off x="2048782" y="2254824"/>
              <a:ext cx="10798980" cy="865187"/>
            </a:xfrm>
            <a:prstGeom prst="rect">
              <a:avLst/>
            </a:prstGeom>
            <a:solidFill>
              <a:srgbClr val="DEDE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endParaRPr lang="zh-CN" altLang="en-US">
                <a:solidFill>
                  <a:srgbClr val="000000"/>
                </a:solidFill>
                <a:latin typeface="Calibri" pitchFamily="34" charset="0"/>
                <a:sym typeface="Calibri" pitchFamily="34" charset="0"/>
              </a:endParaRPr>
            </a:p>
          </p:txBody>
        </p:sp>
        <p:sp>
          <p:nvSpPr>
            <p:cNvPr id="24" name="矩形 3"/>
            <p:cNvSpPr>
              <a:spLocks noChangeArrowheads="1"/>
            </p:cNvSpPr>
            <p:nvPr/>
          </p:nvSpPr>
          <p:spPr bwMode="auto">
            <a:xfrm>
              <a:off x="2114566" y="2379773"/>
              <a:ext cx="10621866" cy="554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zh-CN" altLang="zh-CN">
                  <a:solidFill>
                    <a:srgbClr val="0066A1"/>
                  </a:solidFill>
                </a:rPr>
                <a:t>灵活性和可扩展性：采用</a:t>
              </a:r>
              <a:r>
                <a:rPr lang="en-US" altLang="zh-CN">
                  <a:solidFill>
                    <a:srgbClr val="0066A1"/>
                  </a:solidFill>
                </a:rPr>
                <a:t>Servlet</a:t>
              </a:r>
              <a:r>
                <a:rPr lang="zh-CN" altLang="zh-CN">
                  <a:solidFill>
                    <a:srgbClr val="0066A1"/>
                  </a:solidFill>
                </a:rPr>
                <a:t>开发的</a:t>
              </a:r>
              <a:r>
                <a:rPr lang="en-US" altLang="zh-CN">
                  <a:solidFill>
                    <a:srgbClr val="0066A1"/>
                  </a:solidFill>
                </a:rPr>
                <a:t>Web</a:t>
              </a:r>
              <a:r>
                <a:rPr lang="zh-CN" altLang="zh-CN">
                  <a:solidFill>
                    <a:srgbClr val="0066A1"/>
                  </a:solidFill>
                </a:rPr>
                <a:t>应用程序，由于</a:t>
              </a:r>
              <a:r>
                <a:rPr lang="en-US" altLang="zh-CN">
                  <a:solidFill>
                    <a:srgbClr val="0066A1"/>
                  </a:solidFill>
                </a:rPr>
                <a:t>Java</a:t>
              </a:r>
              <a:r>
                <a:rPr lang="zh-CN" altLang="zh-CN">
                  <a:solidFill>
                    <a:srgbClr val="0066A1"/>
                  </a:solidFill>
                </a:rPr>
                <a:t>类的继承性及构造函数等特点，使得应用灵活，可随意扩展。</a:t>
              </a:r>
            </a:p>
          </p:txBody>
        </p:sp>
      </p:grpSp>
      <p:sp>
        <p:nvSpPr>
          <p:cNvPr id="25" name="燕尾形箭头 32"/>
          <p:cNvSpPr/>
          <p:nvPr/>
        </p:nvSpPr>
        <p:spPr bwMode="auto">
          <a:xfrm>
            <a:off x="0" y="836712"/>
            <a:ext cx="5842000" cy="963612"/>
          </a:xfrm>
          <a:custGeom>
            <a:avLst/>
            <a:gdLst>
              <a:gd name="connsiteX0" fmla="*/ 0 w 6096000"/>
              <a:gd name="connsiteY0" fmla="*/ 406400 h 1625600"/>
              <a:gd name="connsiteX1" fmla="*/ 5283200 w 6096000"/>
              <a:gd name="connsiteY1" fmla="*/ 406400 h 1625600"/>
              <a:gd name="connsiteX2" fmla="*/ 5283200 w 6096000"/>
              <a:gd name="connsiteY2" fmla="*/ 0 h 1625600"/>
              <a:gd name="connsiteX3" fmla="*/ 6096000 w 6096000"/>
              <a:gd name="connsiteY3" fmla="*/ 812800 h 1625600"/>
              <a:gd name="connsiteX4" fmla="*/ 5283200 w 6096000"/>
              <a:gd name="connsiteY4" fmla="*/ 1625600 h 1625600"/>
              <a:gd name="connsiteX5" fmla="*/ 5283200 w 6096000"/>
              <a:gd name="connsiteY5" fmla="*/ 1219200 h 1625600"/>
              <a:gd name="connsiteX6" fmla="*/ 0 w 6096000"/>
              <a:gd name="connsiteY6" fmla="*/ 1219200 h 1625600"/>
              <a:gd name="connsiteX7" fmla="*/ 406400 w 6096000"/>
              <a:gd name="connsiteY7" fmla="*/ 812800 h 1625600"/>
              <a:gd name="connsiteX8" fmla="*/ 0 w 6096000"/>
              <a:gd name="connsiteY8" fmla="*/ 406400 h 1625600"/>
              <a:gd name="connsiteX0" fmla="*/ 798285 w 6096000"/>
              <a:gd name="connsiteY0" fmla="*/ 420914 h 1625600"/>
              <a:gd name="connsiteX1" fmla="*/ 5283200 w 6096000"/>
              <a:gd name="connsiteY1" fmla="*/ 406400 h 1625600"/>
              <a:gd name="connsiteX2" fmla="*/ 5283200 w 6096000"/>
              <a:gd name="connsiteY2" fmla="*/ 0 h 1625600"/>
              <a:gd name="connsiteX3" fmla="*/ 6096000 w 6096000"/>
              <a:gd name="connsiteY3" fmla="*/ 812800 h 1625600"/>
              <a:gd name="connsiteX4" fmla="*/ 5283200 w 6096000"/>
              <a:gd name="connsiteY4" fmla="*/ 1625600 h 1625600"/>
              <a:gd name="connsiteX5" fmla="*/ 5283200 w 6096000"/>
              <a:gd name="connsiteY5" fmla="*/ 1219200 h 1625600"/>
              <a:gd name="connsiteX6" fmla="*/ 0 w 6096000"/>
              <a:gd name="connsiteY6" fmla="*/ 1219200 h 1625600"/>
              <a:gd name="connsiteX7" fmla="*/ 406400 w 6096000"/>
              <a:gd name="connsiteY7" fmla="*/ 812800 h 1625600"/>
              <a:gd name="connsiteX8" fmla="*/ 798285 w 6096000"/>
              <a:gd name="connsiteY8" fmla="*/ 420914 h 1625600"/>
              <a:gd name="connsiteX0" fmla="*/ 798285 w 6096000"/>
              <a:gd name="connsiteY0" fmla="*/ 420914 h 1625600"/>
              <a:gd name="connsiteX1" fmla="*/ 5283200 w 6096000"/>
              <a:gd name="connsiteY1" fmla="*/ 406400 h 1625600"/>
              <a:gd name="connsiteX2" fmla="*/ 5283200 w 6096000"/>
              <a:gd name="connsiteY2" fmla="*/ 0 h 1625600"/>
              <a:gd name="connsiteX3" fmla="*/ 6096000 w 6096000"/>
              <a:gd name="connsiteY3" fmla="*/ 812800 h 1625600"/>
              <a:gd name="connsiteX4" fmla="*/ 5283200 w 6096000"/>
              <a:gd name="connsiteY4" fmla="*/ 1625600 h 1625600"/>
              <a:gd name="connsiteX5" fmla="*/ 5283200 w 6096000"/>
              <a:gd name="connsiteY5" fmla="*/ 1219200 h 1625600"/>
              <a:gd name="connsiteX6" fmla="*/ 0 w 6096000"/>
              <a:gd name="connsiteY6" fmla="*/ 1219200 h 1625600"/>
              <a:gd name="connsiteX7" fmla="*/ 798285 w 6096000"/>
              <a:gd name="connsiteY7" fmla="*/ 420914 h 1625600"/>
              <a:gd name="connsiteX0" fmla="*/ 580571 w 6096000"/>
              <a:gd name="connsiteY0" fmla="*/ 420914 h 1625600"/>
              <a:gd name="connsiteX1" fmla="*/ 5283200 w 6096000"/>
              <a:gd name="connsiteY1" fmla="*/ 406400 h 1625600"/>
              <a:gd name="connsiteX2" fmla="*/ 5283200 w 6096000"/>
              <a:gd name="connsiteY2" fmla="*/ 0 h 1625600"/>
              <a:gd name="connsiteX3" fmla="*/ 6096000 w 6096000"/>
              <a:gd name="connsiteY3" fmla="*/ 812800 h 1625600"/>
              <a:gd name="connsiteX4" fmla="*/ 5283200 w 6096000"/>
              <a:gd name="connsiteY4" fmla="*/ 1625600 h 1625600"/>
              <a:gd name="connsiteX5" fmla="*/ 5283200 w 6096000"/>
              <a:gd name="connsiteY5" fmla="*/ 1219200 h 1625600"/>
              <a:gd name="connsiteX6" fmla="*/ 0 w 6096000"/>
              <a:gd name="connsiteY6" fmla="*/ 1219200 h 1625600"/>
              <a:gd name="connsiteX7" fmla="*/ 580571 w 6096000"/>
              <a:gd name="connsiteY7" fmla="*/ 420914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96000" h="1625600">
                <a:moveTo>
                  <a:pt x="580571" y="420914"/>
                </a:moveTo>
                <a:lnTo>
                  <a:pt x="5283200" y="406400"/>
                </a:lnTo>
                <a:lnTo>
                  <a:pt x="5283200" y="0"/>
                </a:lnTo>
                <a:lnTo>
                  <a:pt x="6096000" y="812800"/>
                </a:lnTo>
                <a:lnTo>
                  <a:pt x="5283200" y="1625600"/>
                </a:lnTo>
                <a:lnTo>
                  <a:pt x="5283200" y="1219200"/>
                </a:lnTo>
                <a:lnTo>
                  <a:pt x="0" y="1219200"/>
                </a:lnTo>
                <a:lnTo>
                  <a:pt x="580571" y="420914"/>
                </a:lnTo>
                <a:close/>
              </a:path>
            </a:pathLst>
          </a:cu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6" name="矩形 7"/>
          <p:cNvSpPr>
            <a:spLocks noChangeArrowheads="1"/>
          </p:cNvSpPr>
          <p:nvPr/>
        </p:nvSpPr>
        <p:spPr bwMode="auto">
          <a:xfrm>
            <a:off x="179511" y="1023119"/>
            <a:ext cx="367240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2" eaLnBrk="1" hangingPunct="1"/>
            <a:r>
              <a:rPr lang="en-US" altLang="zh-CN" sz="2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Servlet</a:t>
            </a:r>
            <a:r>
              <a:rPr lang="zh-CN" altLang="en-US" sz="2200" b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2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特点</a:t>
            </a:r>
            <a:endParaRPr lang="zh-CN" altLang="zh-CN" sz="2200" b="1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9552" y="5733256"/>
            <a:ext cx="77745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除了上述几点外，</a:t>
            </a:r>
            <a:r>
              <a:rPr lang="en-US" altLang="zh-CN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Servlet</a:t>
            </a:r>
            <a:r>
              <a:rPr lang="zh-CN" altLang="zh-CN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还具有</a:t>
            </a:r>
            <a:r>
              <a:rPr lang="zh-CN" altLang="zh-CN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功能强大</a:t>
            </a:r>
            <a:r>
              <a:rPr lang="zh-CN" altLang="zh-CN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、能够在各个程序之间</a:t>
            </a:r>
            <a:r>
              <a:rPr lang="zh-CN" altLang="zh-CN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共享数据</a:t>
            </a:r>
            <a:r>
              <a:rPr lang="zh-CN" altLang="zh-CN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zh-CN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安全性强</a:t>
            </a:r>
            <a:r>
              <a:rPr lang="zh-CN" altLang="zh-CN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</a:t>
            </a:r>
            <a:r>
              <a:rPr lang="zh-CN" altLang="zh-CN" smtClean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特点</a:t>
            </a:r>
            <a:r>
              <a:rPr lang="zh-CN" altLang="en-US" smtClean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>
              <a:solidFill>
                <a:srgbClr val="0066A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标题 1"/>
          <p:cNvSpPr>
            <a:spLocks noChangeArrowheads="1"/>
          </p:cNvSpPr>
          <p:nvPr/>
        </p:nvSpPr>
        <p:spPr bwMode="auto">
          <a:xfrm>
            <a:off x="1643733" y="389681"/>
            <a:ext cx="624123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Servlet</a:t>
            </a:r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概述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26639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/>
      <p:bldP spid="26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/>
        </p:nvSpPr>
        <p:spPr>
          <a:xfrm>
            <a:off x="539552" y="2564904"/>
            <a:ext cx="4896544" cy="648072"/>
          </a:xfrm>
          <a:prstGeom prst="round2DiagRect">
            <a:avLst>
              <a:gd name="adj1" fmla="val 20943"/>
              <a:gd name="adj2" fmla="val 0"/>
            </a:avLst>
          </a:prstGeom>
          <a:solidFill>
            <a:srgbClr val="006BA9"/>
          </a:solidFill>
          <a:ln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" name="TextBox 6"/>
          <p:cNvSpPr txBox="1"/>
          <p:nvPr/>
        </p:nvSpPr>
        <p:spPr>
          <a:xfrm>
            <a:off x="881716" y="1979548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3.1    Servlet</a:t>
            </a:r>
            <a:r>
              <a:rPr lang="zh-CN" altLang="en-US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概述 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5" name="TextBox 10"/>
          <p:cNvSpPr txBox="1"/>
          <p:nvPr/>
        </p:nvSpPr>
        <p:spPr>
          <a:xfrm>
            <a:off x="881716" y="2723631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3</a:t>
            </a:r>
            <a:r>
              <a:rPr lang="en-US" altLang="zh-CN" sz="240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.2    Servlet</a:t>
            </a:r>
            <a:r>
              <a:rPr lang="zh-CN" altLang="en-US" sz="240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开发入门</a:t>
            </a:r>
            <a:endParaRPr lang="zh-CN" altLang="en-US" sz="2400" dirty="0">
              <a:solidFill>
                <a:schemeClr val="bg1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6" name="TextBox 11"/>
          <p:cNvSpPr txBox="1"/>
          <p:nvPr/>
        </p:nvSpPr>
        <p:spPr>
          <a:xfrm>
            <a:off x="881716" y="3467714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3</a:t>
            </a:r>
            <a:r>
              <a:rPr lang="en-US" altLang="zh-CN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.3    Servlet</a:t>
            </a:r>
            <a:r>
              <a:rPr lang="zh-CN" altLang="en-US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应用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5220072" y="1484784"/>
            <a:ext cx="3444382" cy="344438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381000"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1"/>
          <p:cNvSpPr txBox="1"/>
          <p:nvPr/>
        </p:nvSpPr>
        <p:spPr>
          <a:xfrm>
            <a:off x="5182106" y="2264870"/>
            <a:ext cx="3566358" cy="18312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b="1" smtClean="0">
                <a:solidFill>
                  <a:srgbClr val="F2F2E6"/>
                </a:solidFill>
                <a:latin typeface="微软雅黑" pitchFamily="34" charset="-122"/>
                <a:ea typeface="微软雅黑" pitchFamily="34" charset="-122"/>
              </a:rPr>
              <a:t>主讲内容</a:t>
            </a:r>
            <a:endParaRPr lang="en-US" altLang="zh-CN" sz="5400" b="1" dirty="0" smtClean="0">
              <a:solidFill>
                <a:srgbClr val="F2F2E6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3200" smtClean="0">
                <a:solidFill>
                  <a:srgbClr val="F2F2E6"/>
                </a:solidFill>
                <a:latin typeface="Times New Roman" panose="02020603050405020304" pitchFamily="18" charset="0"/>
                <a:ea typeface="Adobe 宋体 Std L" pitchFamily="18" charset="-122"/>
                <a:cs typeface="Times New Roman" panose="02020603050405020304" pitchFamily="18" charset="0"/>
              </a:rPr>
              <a:t>Speech content</a:t>
            </a:r>
            <a:endParaRPr lang="en-US" altLang="zh-CN" sz="3200" dirty="0" smtClean="0">
              <a:solidFill>
                <a:srgbClr val="F2F2E6"/>
              </a:solidFill>
              <a:latin typeface="Times New Roman" panose="02020603050405020304" pitchFamily="18" charset="0"/>
              <a:ea typeface="Adobe 宋体 Std L" pitchFamily="18" charset="-122"/>
              <a:cs typeface="Times New Roman" panose="02020603050405020304" pitchFamily="18" charset="0"/>
            </a:endParaRPr>
          </a:p>
        </p:txBody>
      </p:sp>
      <p:sp>
        <p:nvSpPr>
          <p:cNvPr id="8" name="TextBox 11"/>
          <p:cNvSpPr txBox="1"/>
          <p:nvPr/>
        </p:nvSpPr>
        <p:spPr>
          <a:xfrm>
            <a:off x="881716" y="4139788"/>
            <a:ext cx="5346468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3.4    ServletConfig</a:t>
            </a:r>
            <a:r>
              <a:rPr lang="zh-CN" altLang="en-US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和</a:t>
            </a:r>
            <a:r>
              <a:rPr lang="en-US" altLang="zh-CN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ServletContext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11" name="标题 1"/>
          <p:cNvSpPr>
            <a:spLocks noChangeArrowheads="1"/>
          </p:cNvSpPr>
          <p:nvPr/>
        </p:nvSpPr>
        <p:spPr bwMode="auto">
          <a:xfrm>
            <a:off x="1643733" y="389681"/>
            <a:ext cx="624123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主讲内容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92143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1"/>
          <p:cNvSpPr txBox="1">
            <a:spLocks noChangeArrowheads="1"/>
          </p:cNvSpPr>
          <p:nvPr/>
        </p:nvSpPr>
        <p:spPr bwMode="auto">
          <a:xfrm>
            <a:off x="931863" y="1629961"/>
            <a:ext cx="712628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342900" indent="-342900">
              <a:buFont typeface="Calibri" panose="020F0502020204030204" pitchFamily="34" charset="0"/>
              <a:buChar char="–"/>
            </a:pPr>
            <a:r>
              <a:rPr lang="zh-CN" altLang="en-US" sz="2200" b="1" dirty="0" smtClean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200" b="1" dirty="0" smtClean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Servlet</a:t>
            </a:r>
            <a:r>
              <a:rPr lang="zh-CN" altLang="en-US" sz="2200" b="1" dirty="0" smtClean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接口中定义了</a:t>
            </a:r>
            <a:r>
              <a:rPr lang="en-US" altLang="zh-CN" sz="2200" b="1" dirty="0" smtClean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2200" b="1" dirty="0" smtClean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个抽象方法</a:t>
            </a:r>
            <a:endParaRPr lang="zh-CN" altLang="en-US" sz="2200" b="1" dirty="0">
              <a:solidFill>
                <a:srgbClr val="0066A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17" name="AutoShape 2"/>
          <p:cNvSpPr>
            <a:spLocks noChangeArrowheads="1"/>
          </p:cNvSpPr>
          <p:nvPr/>
        </p:nvSpPr>
        <p:spPr bwMode="grayWhite">
          <a:xfrm>
            <a:off x="539552" y="2270720"/>
            <a:ext cx="8136000" cy="3174504"/>
          </a:xfrm>
          <a:prstGeom prst="roundRect">
            <a:avLst>
              <a:gd name="adj" fmla="val 9583"/>
            </a:avLst>
          </a:prstGeom>
          <a:gradFill rotWithShape="1">
            <a:gsLst>
              <a:gs pos="0">
                <a:srgbClr val="5E9EFF"/>
              </a:gs>
              <a:gs pos="39999">
                <a:srgbClr val="85C2FF"/>
              </a:gs>
              <a:gs pos="0">
                <a:srgbClr val="C4D6EB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 w="19050">
            <a:solidFill>
              <a:srgbClr val="FFFFFF"/>
            </a:solidFill>
            <a:round/>
            <a:headEnd/>
            <a:tailEnd/>
          </a:ln>
          <a:effectLst>
            <a:outerShdw dist="107763" dir="2700000" algn="ctr" rotWithShape="0">
              <a:srgbClr val="C0C0C0">
                <a:alpha val="50000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-122"/>
            </a:endParaRPr>
          </a:p>
        </p:txBody>
      </p:sp>
      <p:grpSp>
        <p:nvGrpSpPr>
          <p:cNvPr id="19" name="Group 3"/>
          <p:cNvGrpSpPr>
            <a:grpSpLocks/>
          </p:cNvGrpSpPr>
          <p:nvPr/>
        </p:nvGrpSpPr>
        <p:grpSpPr bwMode="auto">
          <a:xfrm>
            <a:off x="1547664" y="2820888"/>
            <a:ext cx="6337300" cy="228600"/>
            <a:chOff x="1392" y="1536"/>
            <a:chExt cx="3992" cy="144"/>
          </a:xfrm>
        </p:grpSpPr>
        <p:sp>
          <p:nvSpPr>
            <p:cNvPr id="20" name="Line 4"/>
            <p:cNvSpPr>
              <a:spLocks noChangeShapeType="1"/>
            </p:cNvSpPr>
            <p:nvPr/>
          </p:nvSpPr>
          <p:spPr bwMode="auto">
            <a:xfrm>
              <a:off x="1536" y="1608"/>
              <a:ext cx="3848" cy="0"/>
            </a:xfrm>
            <a:prstGeom prst="line">
              <a:avLst/>
            </a:prstGeom>
            <a:noFill/>
            <a:ln w="12700" cap="rnd">
              <a:solidFill>
                <a:srgbClr val="FFFF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Oval 5"/>
            <p:cNvSpPr>
              <a:spLocks noChangeArrowheads="1"/>
            </p:cNvSpPr>
            <p:nvPr/>
          </p:nvSpPr>
          <p:spPr bwMode="gray">
            <a:xfrm>
              <a:off x="1392" y="1536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E96E29"/>
                </a:gs>
                <a:gs pos="100000">
                  <a:srgbClr val="9B491B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2" name="Group 7"/>
          <p:cNvGrpSpPr>
            <a:grpSpLocks/>
          </p:cNvGrpSpPr>
          <p:nvPr/>
        </p:nvGrpSpPr>
        <p:grpSpPr bwMode="auto">
          <a:xfrm>
            <a:off x="1547664" y="3316188"/>
            <a:ext cx="6337300" cy="228600"/>
            <a:chOff x="1392" y="1848"/>
            <a:chExt cx="3992" cy="144"/>
          </a:xfrm>
        </p:grpSpPr>
        <p:sp>
          <p:nvSpPr>
            <p:cNvPr id="23" name="Line 8"/>
            <p:cNvSpPr>
              <a:spLocks noChangeShapeType="1"/>
            </p:cNvSpPr>
            <p:nvPr/>
          </p:nvSpPr>
          <p:spPr bwMode="auto">
            <a:xfrm>
              <a:off x="1536" y="1920"/>
              <a:ext cx="3848" cy="0"/>
            </a:xfrm>
            <a:prstGeom prst="line">
              <a:avLst/>
            </a:prstGeom>
            <a:noFill/>
            <a:ln w="12700" cap="rnd">
              <a:solidFill>
                <a:srgbClr val="FFFF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Oval 9"/>
            <p:cNvSpPr>
              <a:spLocks noChangeArrowheads="1"/>
            </p:cNvSpPr>
            <p:nvPr/>
          </p:nvSpPr>
          <p:spPr bwMode="gray">
            <a:xfrm>
              <a:off x="1392" y="1848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DCDC48"/>
                </a:gs>
                <a:gs pos="100000">
                  <a:srgbClr val="93933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25" name="Group 11"/>
          <p:cNvGrpSpPr>
            <a:grpSpLocks/>
          </p:cNvGrpSpPr>
          <p:nvPr/>
        </p:nvGrpSpPr>
        <p:grpSpPr bwMode="auto">
          <a:xfrm>
            <a:off x="1547664" y="3811488"/>
            <a:ext cx="6337300" cy="228600"/>
            <a:chOff x="1392" y="2160"/>
            <a:chExt cx="3992" cy="144"/>
          </a:xfrm>
        </p:grpSpPr>
        <p:sp>
          <p:nvSpPr>
            <p:cNvPr id="26" name="Line 12"/>
            <p:cNvSpPr>
              <a:spLocks noChangeShapeType="1"/>
            </p:cNvSpPr>
            <p:nvPr/>
          </p:nvSpPr>
          <p:spPr bwMode="auto">
            <a:xfrm>
              <a:off x="1536" y="2232"/>
              <a:ext cx="3848" cy="15"/>
            </a:xfrm>
            <a:prstGeom prst="line">
              <a:avLst/>
            </a:prstGeom>
            <a:noFill/>
            <a:ln w="12700" cap="rnd">
              <a:solidFill>
                <a:srgbClr val="FFFF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Oval 13"/>
            <p:cNvSpPr>
              <a:spLocks noChangeArrowheads="1"/>
            </p:cNvSpPr>
            <p:nvPr/>
          </p:nvSpPr>
          <p:spPr bwMode="gray">
            <a:xfrm>
              <a:off x="1392" y="2160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A01DD5"/>
                </a:gs>
                <a:gs pos="100000">
                  <a:srgbClr val="6B138E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8" name="Group 15"/>
          <p:cNvGrpSpPr>
            <a:grpSpLocks/>
          </p:cNvGrpSpPr>
          <p:nvPr/>
        </p:nvGrpSpPr>
        <p:grpSpPr bwMode="auto">
          <a:xfrm>
            <a:off x="1547664" y="4254401"/>
            <a:ext cx="6337300" cy="228600"/>
            <a:chOff x="1392" y="2439"/>
            <a:chExt cx="3992" cy="144"/>
          </a:xfrm>
        </p:grpSpPr>
        <p:sp>
          <p:nvSpPr>
            <p:cNvPr id="29" name="Line 16"/>
            <p:cNvSpPr>
              <a:spLocks noChangeShapeType="1"/>
            </p:cNvSpPr>
            <p:nvPr/>
          </p:nvSpPr>
          <p:spPr bwMode="auto">
            <a:xfrm>
              <a:off x="1536" y="2511"/>
              <a:ext cx="3848" cy="0"/>
            </a:xfrm>
            <a:prstGeom prst="line">
              <a:avLst/>
            </a:prstGeom>
            <a:noFill/>
            <a:ln w="12700" cap="rnd">
              <a:solidFill>
                <a:srgbClr val="FFFF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Oval 17"/>
            <p:cNvSpPr>
              <a:spLocks noChangeArrowheads="1"/>
            </p:cNvSpPr>
            <p:nvPr/>
          </p:nvSpPr>
          <p:spPr bwMode="gray">
            <a:xfrm>
              <a:off x="1392" y="2439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FCC704"/>
                </a:gs>
                <a:gs pos="100000">
                  <a:srgbClr val="A88503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1" name="Group 19"/>
          <p:cNvGrpSpPr>
            <a:grpSpLocks/>
          </p:cNvGrpSpPr>
          <p:nvPr/>
        </p:nvGrpSpPr>
        <p:grpSpPr bwMode="auto">
          <a:xfrm>
            <a:off x="1547664" y="4725144"/>
            <a:ext cx="6337300" cy="228600"/>
            <a:chOff x="1392" y="2775"/>
            <a:chExt cx="3992" cy="144"/>
          </a:xfrm>
        </p:grpSpPr>
        <p:sp>
          <p:nvSpPr>
            <p:cNvPr id="32" name="Line 20"/>
            <p:cNvSpPr>
              <a:spLocks noChangeShapeType="1"/>
            </p:cNvSpPr>
            <p:nvPr/>
          </p:nvSpPr>
          <p:spPr bwMode="auto">
            <a:xfrm>
              <a:off x="1536" y="2847"/>
              <a:ext cx="3848" cy="0"/>
            </a:xfrm>
            <a:prstGeom prst="line">
              <a:avLst/>
            </a:prstGeom>
            <a:noFill/>
            <a:ln w="12700" cap="rnd">
              <a:solidFill>
                <a:srgbClr val="FFFF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Oval 21"/>
            <p:cNvSpPr>
              <a:spLocks noChangeArrowheads="1"/>
            </p:cNvSpPr>
            <p:nvPr/>
          </p:nvSpPr>
          <p:spPr bwMode="gray">
            <a:xfrm>
              <a:off x="1392" y="2775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66C5F4"/>
                </a:gs>
                <a:gs pos="100000">
                  <a:srgbClr val="4483A3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4" name="矩形 33"/>
          <p:cNvSpPr>
            <a:spLocks noChangeArrowheads="1"/>
          </p:cNvSpPr>
          <p:nvPr/>
        </p:nvSpPr>
        <p:spPr bwMode="auto">
          <a:xfrm>
            <a:off x="1979464" y="2563713"/>
            <a:ext cx="274626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16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oid </a:t>
            </a:r>
            <a:r>
              <a:rPr lang="en-US" altLang="zh-CN" sz="1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init(ServletConfig</a:t>
            </a:r>
            <a:r>
              <a:rPr lang="en-US" altLang="zh-CN" sz="16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config)</a:t>
            </a:r>
            <a:endParaRPr lang="zh-CN" altLang="en-US" sz="16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矩形 34"/>
          <p:cNvSpPr>
            <a:spLocks noChangeArrowheads="1"/>
          </p:cNvSpPr>
          <p:nvPr/>
        </p:nvSpPr>
        <p:spPr bwMode="auto">
          <a:xfrm>
            <a:off x="1998514" y="3060601"/>
            <a:ext cx="288572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ServletConfig</a:t>
            </a:r>
            <a:r>
              <a:rPr lang="en-US" altLang="zh-CN" sz="1600" smtClean="0">
                <a:solidFill>
                  <a:schemeClr val="bg1"/>
                </a:solidFill>
              </a:rPr>
              <a:t> getServletConfig</a:t>
            </a:r>
            <a:r>
              <a:rPr lang="en-US" altLang="zh-CN" sz="1600">
                <a:solidFill>
                  <a:schemeClr val="bg1"/>
                </a:solidFill>
              </a:rPr>
              <a:t>()</a:t>
            </a:r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36" name="矩形 35"/>
          <p:cNvSpPr>
            <a:spLocks noChangeArrowheads="1"/>
          </p:cNvSpPr>
          <p:nvPr/>
        </p:nvSpPr>
        <p:spPr bwMode="auto">
          <a:xfrm>
            <a:off x="2008039" y="3551138"/>
            <a:ext cx="201260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smtClean="0">
                <a:solidFill>
                  <a:schemeClr val="bg1"/>
                </a:solidFill>
              </a:rPr>
              <a:t>String </a:t>
            </a:r>
            <a:r>
              <a:rPr lang="en-US" altLang="zh-CN" sz="1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getServletInfo</a:t>
            </a:r>
            <a:r>
              <a:rPr lang="en-US" altLang="zh-CN" sz="1600">
                <a:solidFill>
                  <a:schemeClr val="bg1"/>
                </a:solidFill>
              </a:rPr>
              <a:t>()</a:t>
            </a:r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37" name="矩形 36"/>
          <p:cNvSpPr>
            <a:spLocks noChangeArrowheads="1"/>
          </p:cNvSpPr>
          <p:nvPr/>
        </p:nvSpPr>
        <p:spPr bwMode="auto">
          <a:xfrm>
            <a:off x="2034803" y="4026967"/>
            <a:ext cx="4985469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altLang="zh-CN" sz="1600" b="1" smtClean="0">
                <a:solidFill>
                  <a:schemeClr val="bg1"/>
                </a:solidFill>
              </a:rPr>
              <a:t> </a:t>
            </a:r>
            <a:r>
              <a:rPr lang="en-US" altLang="zh-CN" sz="1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service(ServletRequest</a:t>
            </a:r>
            <a:r>
              <a:rPr lang="en-US" altLang="zh-CN" sz="1600" b="1" smtClean="0">
                <a:solidFill>
                  <a:schemeClr val="bg1"/>
                </a:solidFill>
              </a:rPr>
              <a:t> </a:t>
            </a:r>
            <a:r>
              <a:rPr lang="en-US" altLang="zh-CN" sz="1600" b="1">
                <a:solidFill>
                  <a:schemeClr val="bg1"/>
                </a:solidFill>
              </a:rPr>
              <a:t>req</a:t>
            </a:r>
            <a:r>
              <a:rPr lang="zh-CN" altLang="zh-CN" sz="1600" b="1">
                <a:solidFill>
                  <a:schemeClr val="bg1"/>
                </a:solidFill>
              </a:rPr>
              <a:t>，</a:t>
            </a:r>
            <a:r>
              <a:rPr lang="en-US" altLang="zh-CN" sz="1600" b="1">
                <a:solidFill>
                  <a:schemeClr val="bg1"/>
                </a:solidFill>
              </a:rPr>
              <a:t>ServletResponse res)</a:t>
            </a:r>
            <a:endParaRPr lang="zh-CN" altLang="en-US" sz="1600" b="1">
              <a:solidFill>
                <a:schemeClr val="bg1"/>
              </a:solidFill>
            </a:endParaRPr>
          </a:p>
        </p:txBody>
      </p:sp>
      <p:sp>
        <p:nvSpPr>
          <p:cNvPr id="38" name="矩形 37"/>
          <p:cNvSpPr>
            <a:spLocks noChangeArrowheads="1"/>
          </p:cNvSpPr>
          <p:nvPr/>
        </p:nvSpPr>
        <p:spPr bwMode="auto">
          <a:xfrm>
            <a:off x="2049314" y="4530626"/>
            <a:ext cx="18859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altLang="zh-CN" sz="1600" b="1">
                <a:solidFill>
                  <a:schemeClr val="bg1"/>
                </a:solidFill>
              </a:rPr>
              <a:t> </a:t>
            </a:r>
            <a:r>
              <a:rPr lang="en-US" altLang="zh-CN" sz="1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destroy</a:t>
            </a:r>
            <a:r>
              <a:rPr lang="en-US" altLang="zh-CN" sz="1600">
                <a:solidFill>
                  <a:schemeClr val="bg1"/>
                </a:solidFill>
              </a:rPr>
              <a:t>()</a:t>
            </a:r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39" name="标题 1"/>
          <p:cNvSpPr>
            <a:spLocks noChangeArrowheads="1"/>
          </p:cNvSpPr>
          <p:nvPr/>
        </p:nvSpPr>
        <p:spPr bwMode="auto">
          <a:xfrm>
            <a:off x="1643733" y="389681"/>
            <a:ext cx="624123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3.2.1  Servlet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接口及其实现类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81399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500"/>
                            </p:stCondLst>
                            <p:childTnLst>
                              <p:par>
                                <p:cTn id="5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34" grpId="0"/>
      <p:bldP spid="35" grpId="0"/>
      <p:bldP spid="36" grpId="0"/>
      <p:bldP spid="37" grpId="0"/>
      <p:bldP spid="3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1"/>
          <p:cNvSpPr txBox="1">
            <a:spLocks noChangeArrowheads="1"/>
          </p:cNvSpPr>
          <p:nvPr/>
        </p:nvSpPr>
        <p:spPr bwMode="auto">
          <a:xfrm>
            <a:off x="931863" y="1629961"/>
            <a:ext cx="712628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342900" indent="-342900">
              <a:buFont typeface="Calibri" panose="020F0502020204030204" pitchFamily="34" charset="0"/>
              <a:buChar char="–"/>
            </a:pPr>
            <a:r>
              <a:rPr lang="en-US" altLang="zh-CN" sz="2200" b="1" dirty="0" err="1" smtClean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HttpServlet</a:t>
            </a:r>
            <a:r>
              <a:rPr lang="zh-CN" altLang="en-US" sz="2200" b="1" dirty="0" smtClean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类的常用方法</a:t>
            </a:r>
            <a:endParaRPr lang="zh-CN" altLang="en-US" sz="2200" b="1" dirty="0">
              <a:solidFill>
                <a:srgbClr val="0066A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17" name="AutoShape 2"/>
          <p:cNvSpPr>
            <a:spLocks noChangeArrowheads="1"/>
          </p:cNvSpPr>
          <p:nvPr/>
        </p:nvSpPr>
        <p:spPr bwMode="grayWhite">
          <a:xfrm>
            <a:off x="611560" y="2348880"/>
            <a:ext cx="8136904" cy="3174504"/>
          </a:xfrm>
          <a:prstGeom prst="roundRect">
            <a:avLst>
              <a:gd name="adj" fmla="val 9583"/>
            </a:avLst>
          </a:prstGeom>
          <a:gradFill rotWithShape="1">
            <a:gsLst>
              <a:gs pos="0">
                <a:srgbClr val="5E9EFF"/>
              </a:gs>
              <a:gs pos="39999">
                <a:srgbClr val="85C2FF"/>
              </a:gs>
              <a:gs pos="0">
                <a:srgbClr val="C4D6EB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 w="19050">
            <a:solidFill>
              <a:srgbClr val="FFFFFF"/>
            </a:solidFill>
            <a:round/>
            <a:headEnd/>
            <a:tailEnd/>
          </a:ln>
          <a:effectLst>
            <a:outerShdw dist="107763" dir="2700000" algn="ctr" rotWithShape="0">
              <a:srgbClr val="C0C0C0">
                <a:alpha val="50000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prstClr val="black"/>
              </a:solidFill>
              <a:latin typeface="Arial" charset="0"/>
            </a:endParaRPr>
          </a:p>
        </p:txBody>
      </p:sp>
      <p:grpSp>
        <p:nvGrpSpPr>
          <p:cNvPr id="22" name="Group 7"/>
          <p:cNvGrpSpPr>
            <a:grpSpLocks/>
          </p:cNvGrpSpPr>
          <p:nvPr/>
        </p:nvGrpSpPr>
        <p:grpSpPr bwMode="auto">
          <a:xfrm>
            <a:off x="1331640" y="3106316"/>
            <a:ext cx="6480175" cy="228600"/>
            <a:chOff x="1392" y="1848"/>
            <a:chExt cx="4082" cy="144"/>
          </a:xfrm>
        </p:grpSpPr>
        <p:sp>
          <p:nvSpPr>
            <p:cNvPr id="23" name="Line 8"/>
            <p:cNvSpPr>
              <a:spLocks noChangeShapeType="1"/>
            </p:cNvSpPr>
            <p:nvPr/>
          </p:nvSpPr>
          <p:spPr bwMode="auto">
            <a:xfrm>
              <a:off x="1536" y="1920"/>
              <a:ext cx="3938" cy="0"/>
            </a:xfrm>
            <a:prstGeom prst="line">
              <a:avLst/>
            </a:prstGeom>
            <a:noFill/>
            <a:ln w="12700" cap="rnd">
              <a:solidFill>
                <a:srgbClr val="FFFF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4" name="Oval 9"/>
            <p:cNvSpPr>
              <a:spLocks noChangeArrowheads="1"/>
            </p:cNvSpPr>
            <p:nvPr/>
          </p:nvSpPr>
          <p:spPr bwMode="gray">
            <a:xfrm>
              <a:off x="1392" y="1848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DCDC48"/>
                </a:gs>
                <a:gs pos="100000">
                  <a:srgbClr val="93933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28" name="Group 15"/>
          <p:cNvGrpSpPr>
            <a:grpSpLocks/>
          </p:cNvGrpSpPr>
          <p:nvPr/>
        </p:nvGrpSpPr>
        <p:grpSpPr bwMode="auto">
          <a:xfrm>
            <a:off x="1331640" y="3812754"/>
            <a:ext cx="6480175" cy="228600"/>
            <a:chOff x="1392" y="2439"/>
            <a:chExt cx="4082" cy="144"/>
          </a:xfrm>
        </p:grpSpPr>
        <p:sp>
          <p:nvSpPr>
            <p:cNvPr id="29" name="Line 16"/>
            <p:cNvSpPr>
              <a:spLocks noChangeShapeType="1"/>
            </p:cNvSpPr>
            <p:nvPr/>
          </p:nvSpPr>
          <p:spPr bwMode="auto">
            <a:xfrm>
              <a:off x="1536" y="2511"/>
              <a:ext cx="3938" cy="6"/>
            </a:xfrm>
            <a:prstGeom prst="line">
              <a:avLst/>
            </a:prstGeom>
            <a:noFill/>
            <a:ln w="12700" cap="rnd">
              <a:solidFill>
                <a:srgbClr val="FFFF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0" name="Oval 17"/>
            <p:cNvSpPr>
              <a:spLocks noChangeArrowheads="1"/>
            </p:cNvSpPr>
            <p:nvPr/>
          </p:nvSpPr>
          <p:spPr bwMode="gray">
            <a:xfrm>
              <a:off x="1392" y="2439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FCC704"/>
                </a:gs>
                <a:gs pos="100000">
                  <a:srgbClr val="A88503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31" name="Group 19"/>
          <p:cNvGrpSpPr>
            <a:grpSpLocks/>
          </p:cNvGrpSpPr>
          <p:nvPr/>
        </p:nvGrpSpPr>
        <p:grpSpPr bwMode="auto">
          <a:xfrm>
            <a:off x="1331640" y="4577929"/>
            <a:ext cx="6480175" cy="228600"/>
            <a:chOff x="1392" y="2775"/>
            <a:chExt cx="4082" cy="144"/>
          </a:xfrm>
        </p:grpSpPr>
        <p:sp>
          <p:nvSpPr>
            <p:cNvPr id="32" name="Line 20"/>
            <p:cNvSpPr>
              <a:spLocks noChangeShapeType="1"/>
            </p:cNvSpPr>
            <p:nvPr/>
          </p:nvSpPr>
          <p:spPr bwMode="auto">
            <a:xfrm flipV="1">
              <a:off x="1536" y="2826"/>
              <a:ext cx="3938" cy="21"/>
            </a:xfrm>
            <a:prstGeom prst="line">
              <a:avLst/>
            </a:prstGeom>
            <a:noFill/>
            <a:ln w="12700" cap="rnd">
              <a:solidFill>
                <a:srgbClr val="FFFF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3" name="Oval 21"/>
            <p:cNvSpPr>
              <a:spLocks noChangeArrowheads="1"/>
            </p:cNvSpPr>
            <p:nvPr/>
          </p:nvSpPr>
          <p:spPr bwMode="gray">
            <a:xfrm>
              <a:off x="1392" y="2775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66C5F4"/>
                </a:gs>
                <a:gs pos="100000">
                  <a:srgbClr val="4483A3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35" name="矩形 34"/>
          <p:cNvSpPr>
            <a:spLocks noChangeArrowheads="1"/>
          </p:cNvSpPr>
          <p:nvPr/>
        </p:nvSpPr>
        <p:spPr bwMode="auto">
          <a:xfrm>
            <a:off x="1619672" y="2850729"/>
            <a:ext cx="629768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protected</a:t>
            </a:r>
            <a:r>
              <a:rPr lang="en-US" altLang="zh-CN" sz="1600"/>
              <a:t> </a:t>
            </a:r>
            <a:r>
              <a:rPr lang="en-US" altLang="zh-CN" sz="160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void doGet(HttpServletRequest req, HttpServletResponse resp)</a:t>
            </a:r>
            <a:endParaRPr lang="zh-CN" altLang="en-US" sz="160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矩形 36"/>
          <p:cNvSpPr>
            <a:spLocks noChangeArrowheads="1"/>
          </p:cNvSpPr>
          <p:nvPr/>
        </p:nvSpPr>
        <p:spPr bwMode="auto">
          <a:xfrm>
            <a:off x="1619672" y="3507160"/>
            <a:ext cx="635711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160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protected void doPost(HttpServletRequest req, HttpServletResponse resp)</a:t>
            </a:r>
            <a:endParaRPr lang="zh-CN" altLang="en-US" sz="160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矩形 37"/>
          <p:cNvSpPr>
            <a:spLocks noChangeArrowheads="1"/>
          </p:cNvSpPr>
          <p:nvPr/>
        </p:nvSpPr>
        <p:spPr bwMode="auto">
          <a:xfrm>
            <a:off x="1689274" y="4320754"/>
            <a:ext cx="662714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160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protected void doPut(HttpServletRequest req, HttpServletResponse resp)</a:t>
            </a:r>
            <a:endParaRPr lang="zh-CN" altLang="en-US" sz="160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标题 1"/>
          <p:cNvSpPr>
            <a:spLocks noChangeArrowheads="1"/>
          </p:cNvSpPr>
          <p:nvPr/>
        </p:nvSpPr>
        <p:spPr bwMode="auto">
          <a:xfrm>
            <a:off x="1643733" y="389681"/>
            <a:ext cx="624123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3.2.1  Servlet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接口及其实现类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80567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7" grpId="0" animBg="1"/>
      <p:bldP spid="35" grpId="0"/>
      <p:bldP spid="37" grpId="0"/>
      <p:bldP spid="3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/>
        </p:nvSpPr>
        <p:spPr bwMode="auto">
          <a:xfrm>
            <a:off x="3491880" y="1467485"/>
            <a:ext cx="1915909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ker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创建</a:t>
            </a:r>
            <a:r>
              <a:rPr lang="en-US" altLang="zh-CN" ker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Servlet</a:t>
            </a:r>
            <a:r>
              <a:rPr lang="zh-CN" altLang="en-US" ker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endParaRPr lang="zh-CN" altLang="en-US" kern="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2790869" y="1412776"/>
            <a:ext cx="567291" cy="568325"/>
          </a:xfrm>
          <a:prstGeom prst="ellipse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defRPr/>
            </a:pPr>
            <a:endParaRPr lang="zh-CN" altLang="en-US" kern="0">
              <a:solidFill>
                <a:srgbClr val="FF0000"/>
              </a:solidFill>
              <a:latin typeface="Calibri"/>
              <a:ea typeface="宋体"/>
            </a:endParaRPr>
          </a:p>
        </p:txBody>
      </p:sp>
      <p:cxnSp>
        <p:nvCxnSpPr>
          <p:cNvPr id="27" name="直接连接符 34"/>
          <p:cNvCxnSpPr>
            <a:cxnSpLocks noChangeShapeType="1"/>
          </p:cNvCxnSpPr>
          <p:nvPr/>
        </p:nvCxnSpPr>
        <p:spPr bwMode="auto">
          <a:xfrm>
            <a:off x="3393827" y="1926393"/>
            <a:ext cx="3760788" cy="0"/>
          </a:xfrm>
          <a:prstGeom prst="line">
            <a:avLst/>
          </a:prstGeom>
          <a:noFill/>
          <a:ln w="28575" algn="ctr">
            <a:solidFill>
              <a:srgbClr val="537709"/>
            </a:solidFill>
            <a:prstDash val="sysDot"/>
            <a:round/>
            <a:headEnd/>
            <a:tailEnd/>
          </a:ln>
        </p:spPr>
      </p:cxnSp>
      <p:sp>
        <p:nvSpPr>
          <p:cNvPr id="29" name="椭圆 28"/>
          <p:cNvSpPr/>
          <p:nvPr/>
        </p:nvSpPr>
        <p:spPr>
          <a:xfrm>
            <a:off x="2931066" y="1553490"/>
            <a:ext cx="286895" cy="286895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537709"/>
            </a:solidFill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kern="0" smtClean="0">
                <a:latin typeface="Calibri"/>
                <a:ea typeface="宋体"/>
              </a:rPr>
              <a:t>1</a:t>
            </a:r>
            <a:endParaRPr lang="zh-CN" altLang="en-US" kern="0">
              <a:latin typeface="Calibri"/>
              <a:ea typeface="宋体"/>
            </a:endParaRPr>
          </a:p>
        </p:txBody>
      </p:sp>
      <p:sp>
        <p:nvSpPr>
          <p:cNvPr id="33" name="矩形 22"/>
          <p:cNvSpPr>
            <a:spLocks noChangeArrowheads="1"/>
          </p:cNvSpPr>
          <p:nvPr/>
        </p:nvSpPr>
        <p:spPr bwMode="auto">
          <a:xfrm>
            <a:off x="2771800" y="2043461"/>
            <a:ext cx="1915909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ker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编译</a:t>
            </a:r>
            <a:r>
              <a:rPr lang="en-US" altLang="zh-CN" ker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Servlet</a:t>
            </a:r>
            <a:r>
              <a:rPr lang="zh-CN" altLang="en-US" ker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endParaRPr lang="zh-CN" altLang="en-US" kern="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2123728" y="1988752"/>
            <a:ext cx="567291" cy="568325"/>
          </a:xfrm>
          <a:prstGeom prst="ellipse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defRPr/>
            </a:pPr>
            <a:endParaRPr lang="zh-CN" altLang="en-US" kern="0">
              <a:solidFill>
                <a:srgbClr val="FF0000"/>
              </a:solidFill>
              <a:latin typeface="Calibri"/>
              <a:ea typeface="宋体"/>
            </a:endParaRPr>
          </a:p>
        </p:txBody>
      </p:sp>
      <p:cxnSp>
        <p:nvCxnSpPr>
          <p:cNvPr id="35" name="直接连接符 34"/>
          <p:cNvCxnSpPr>
            <a:cxnSpLocks noChangeShapeType="1"/>
          </p:cNvCxnSpPr>
          <p:nvPr/>
        </p:nvCxnSpPr>
        <p:spPr bwMode="auto">
          <a:xfrm>
            <a:off x="2726686" y="2502369"/>
            <a:ext cx="3760788" cy="0"/>
          </a:xfrm>
          <a:prstGeom prst="line">
            <a:avLst/>
          </a:prstGeom>
          <a:noFill/>
          <a:ln w="28575" algn="ctr">
            <a:solidFill>
              <a:srgbClr val="537709"/>
            </a:solidFill>
            <a:prstDash val="sysDot"/>
            <a:round/>
            <a:headEnd/>
            <a:tailEnd/>
          </a:ln>
        </p:spPr>
      </p:cxnSp>
      <p:sp>
        <p:nvSpPr>
          <p:cNvPr id="36" name="椭圆 35"/>
          <p:cNvSpPr/>
          <p:nvPr/>
        </p:nvSpPr>
        <p:spPr>
          <a:xfrm>
            <a:off x="2263925" y="2129466"/>
            <a:ext cx="286895" cy="286895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537709"/>
            </a:solidFill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kern="0">
                <a:latin typeface="Calibri"/>
                <a:ea typeface="宋体"/>
              </a:rPr>
              <a:t>2</a:t>
            </a:r>
            <a:endParaRPr lang="zh-CN" altLang="en-US" kern="0">
              <a:latin typeface="Calibri"/>
              <a:ea typeface="宋体"/>
            </a:endParaRPr>
          </a:p>
        </p:txBody>
      </p:sp>
      <p:sp>
        <p:nvSpPr>
          <p:cNvPr id="37" name="矩形 22"/>
          <p:cNvSpPr>
            <a:spLocks noChangeArrowheads="1"/>
          </p:cNvSpPr>
          <p:nvPr/>
        </p:nvSpPr>
        <p:spPr bwMode="auto">
          <a:xfrm>
            <a:off x="3491880" y="2611874"/>
            <a:ext cx="2262158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ker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查找</a:t>
            </a:r>
            <a:r>
              <a:rPr lang="en-US" altLang="zh-CN" ker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Servlet</a:t>
            </a:r>
            <a:r>
              <a:rPr lang="zh-CN" altLang="en-US" ker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ker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JAR</a:t>
            </a:r>
            <a:r>
              <a:rPr lang="zh-CN" altLang="en-US" ker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包</a:t>
            </a:r>
            <a:endParaRPr lang="zh-CN" altLang="en-US" kern="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2800542" y="2557165"/>
            <a:ext cx="567291" cy="568325"/>
          </a:xfrm>
          <a:prstGeom prst="ellipse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defRPr/>
            </a:pPr>
            <a:endParaRPr lang="zh-CN" altLang="en-US" kern="0">
              <a:solidFill>
                <a:srgbClr val="FF0000"/>
              </a:solidFill>
              <a:latin typeface="Calibri"/>
              <a:ea typeface="宋体"/>
            </a:endParaRPr>
          </a:p>
        </p:txBody>
      </p:sp>
      <p:cxnSp>
        <p:nvCxnSpPr>
          <p:cNvPr id="39" name="直接连接符 38"/>
          <p:cNvCxnSpPr>
            <a:cxnSpLocks noChangeShapeType="1"/>
          </p:cNvCxnSpPr>
          <p:nvPr/>
        </p:nvCxnSpPr>
        <p:spPr bwMode="auto">
          <a:xfrm>
            <a:off x="3403500" y="3070782"/>
            <a:ext cx="3760788" cy="0"/>
          </a:xfrm>
          <a:prstGeom prst="line">
            <a:avLst/>
          </a:prstGeom>
          <a:noFill/>
          <a:ln w="28575" algn="ctr">
            <a:solidFill>
              <a:srgbClr val="537709"/>
            </a:solidFill>
            <a:prstDash val="sysDot"/>
            <a:round/>
            <a:headEnd/>
            <a:tailEnd/>
          </a:ln>
        </p:spPr>
      </p:cxnSp>
      <p:sp>
        <p:nvSpPr>
          <p:cNvPr id="40" name="椭圆 39"/>
          <p:cNvSpPr/>
          <p:nvPr/>
        </p:nvSpPr>
        <p:spPr>
          <a:xfrm>
            <a:off x="2940739" y="2697879"/>
            <a:ext cx="286895" cy="286895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537709"/>
            </a:solidFill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kern="0" smtClean="0">
                <a:latin typeface="Calibri"/>
                <a:ea typeface="宋体"/>
              </a:rPr>
              <a:t>3</a:t>
            </a:r>
            <a:endParaRPr lang="zh-CN" altLang="en-US" kern="0">
              <a:latin typeface="Calibri"/>
              <a:ea typeface="宋体"/>
            </a:endParaRPr>
          </a:p>
        </p:txBody>
      </p:sp>
      <p:sp>
        <p:nvSpPr>
          <p:cNvPr id="41" name="矩形 22"/>
          <p:cNvSpPr>
            <a:spLocks noChangeArrowheads="1"/>
          </p:cNvSpPr>
          <p:nvPr/>
        </p:nvSpPr>
        <p:spPr bwMode="auto">
          <a:xfrm>
            <a:off x="2843808" y="3187938"/>
            <a:ext cx="2262158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ker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引入</a:t>
            </a:r>
            <a:r>
              <a:rPr lang="en-US" altLang="zh-CN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Servlet</a:t>
            </a:r>
            <a:r>
              <a:rPr lang="zh-CN" altLang="en-US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JAR</a:t>
            </a:r>
            <a:r>
              <a:rPr lang="zh-CN" altLang="en-US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包</a:t>
            </a:r>
            <a:endParaRPr lang="zh-CN" altLang="en-US" kern="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2" name="椭圆 41"/>
          <p:cNvSpPr/>
          <p:nvPr/>
        </p:nvSpPr>
        <p:spPr>
          <a:xfrm>
            <a:off x="2123728" y="3133229"/>
            <a:ext cx="567291" cy="568325"/>
          </a:xfrm>
          <a:prstGeom prst="ellipse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defRPr/>
            </a:pPr>
            <a:endParaRPr lang="zh-CN" altLang="en-US" kern="0">
              <a:solidFill>
                <a:srgbClr val="FF0000"/>
              </a:solidFill>
              <a:latin typeface="Calibri"/>
              <a:ea typeface="宋体"/>
            </a:endParaRPr>
          </a:p>
        </p:txBody>
      </p:sp>
      <p:cxnSp>
        <p:nvCxnSpPr>
          <p:cNvPr id="43" name="直接连接符 34"/>
          <p:cNvCxnSpPr>
            <a:cxnSpLocks noChangeShapeType="1"/>
          </p:cNvCxnSpPr>
          <p:nvPr/>
        </p:nvCxnSpPr>
        <p:spPr bwMode="auto">
          <a:xfrm>
            <a:off x="2726686" y="3646846"/>
            <a:ext cx="3760788" cy="0"/>
          </a:xfrm>
          <a:prstGeom prst="line">
            <a:avLst/>
          </a:prstGeom>
          <a:noFill/>
          <a:ln w="28575" algn="ctr">
            <a:solidFill>
              <a:srgbClr val="537709"/>
            </a:solidFill>
            <a:prstDash val="sysDot"/>
            <a:round/>
            <a:headEnd/>
            <a:tailEnd/>
          </a:ln>
        </p:spPr>
      </p:cxnSp>
      <p:sp>
        <p:nvSpPr>
          <p:cNvPr id="44" name="椭圆 43"/>
          <p:cNvSpPr/>
          <p:nvPr/>
        </p:nvSpPr>
        <p:spPr>
          <a:xfrm>
            <a:off x="2263925" y="3273943"/>
            <a:ext cx="286895" cy="286895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537709"/>
            </a:solidFill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kern="0">
                <a:latin typeface="Calibri"/>
                <a:ea typeface="宋体"/>
              </a:rPr>
              <a:t>4</a:t>
            </a:r>
            <a:endParaRPr lang="zh-CN" altLang="en-US" kern="0">
              <a:latin typeface="Calibri"/>
              <a:ea typeface="宋体"/>
            </a:endParaRPr>
          </a:p>
        </p:txBody>
      </p:sp>
      <p:sp>
        <p:nvSpPr>
          <p:cNvPr id="45" name="矩形 22"/>
          <p:cNvSpPr>
            <a:spLocks noChangeArrowheads="1"/>
          </p:cNvSpPr>
          <p:nvPr/>
        </p:nvSpPr>
        <p:spPr bwMode="auto">
          <a:xfrm>
            <a:off x="3563888" y="3764002"/>
            <a:ext cx="1915909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重新编译</a:t>
            </a:r>
            <a:r>
              <a:rPr lang="en-US" altLang="zh-CN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Servlet</a:t>
            </a:r>
            <a:endParaRPr lang="zh-CN" altLang="en-US" kern="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2800542" y="3709293"/>
            <a:ext cx="567291" cy="568325"/>
          </a:xfrm>
          <a:prstGeom prst="ellipse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defRPr/>
            </a:pPr>
            <a:endParaRPr lang="zh-CN" altLang="en-US" kern="0">
              <a:solidFill>
                <a:srgbClr val="FF0000"/>
              </a:solidFill>
              <a:latin typeface="Calibri"/>
              <a:ea typeface="宋体"/>
            </a:endParaRPr>
          </a:p>
        </p:txBody>
      </p:sp>
      <p:cxnSp>
        <p:nvCxnSpPr>
          <p:cNvPr id="47" name="直接连接符 46"/>
          <p:cNvCxnSpPr>
            <a:cxnSpLocks noChangeShapeType="1"/>
          </p:cNvCxnSpPr>
          <p:nvPr/>
        </p:nvCxnSpPr>
        <p:spPr bwMode="auto">
          <a:xfrm>
            <a:off x="3403500" y="4222910"/>
            <a:ext cx="3760788" cy="0"/>
          </a:xfrm>
          <a:prstGeom prst="line">
            <a:avLst/>
          </a:prstGeom>
          <a:noFill/>
          <a:ln w="28575" algn="ctr">
            <a:solidFill>
              <a:srgbClr val="537709"/>
            </a:solidFill>
            <a:prstDash val="sysDot"/>
            <a:round/>
            <a:headEnd/>
            <a:tailEnd/>
          </a:ln>
        </p:spPr>
      </p:cxnSp>
      <p:sp>
        <p:nvSpPr>
          <p:cNvPr id="48" name="椭圆 47"/>
          <p:cNvSpPr/>
          <p:nvPr/>
        </p:nvSpPr>
        <p:spPr>
          <a:xfrm>
            <a:off x="2940739" y="3850007"/>
            <a:ext cx="286895" cy="286895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537709"/>
            </a:solidFill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kern="0" smtClean="0">
                <a:latin typeface="Calibri"/>
                <a:ea typeface="宋体"/>
              </a:rPr>
              <a:t>5</a:t>
            </a:r>
            <a:endParaRPr lang="zh-CN" altLang="en-US" kern="0">
              <a:latin typeface="Calibri"/>
              <a:ea typeface="宋体"/>
            </a:endParaRPr>
          </a:p>
        </p:txBody>
      </p:sp>
      <p:sp>
        <p:nvSpPr>
          <p:cNvPr id="49" name="矩形 22"/>
          <p:cNvSpPr>
            <a:spLocks noChangeArrowheads="1"/>
          </p:cNvSpPr>
          <p:nvPr/>
        </p:nvSpPr>
        <p:spPr bwMode="auto">
          <a:xfrm>
            <a:off x="2854255" y="4340066"/>
            <a:ext cx="3877985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将编译后的</a:t>
            </a:r>
            <a:r>
              <a:rPr lang="en-US" altLang="zh-CN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.class</a:t>
            </a:r>
            <a:r>
              <a:rPr lang="zh-CN" altLang="en-US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文件添加到服务器</a:t>
            </a:r>
            <a:endParaRPr lang="zh-CN" altLang="en-US" kern="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2152470" y="4285357"/>
            <a:ext cx="567291" cy="568325"/>
          </a:xfrm>
          <a:prstGeom prst="ellipse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defRPr/>
            </a:pPr>
            <a:endParaRPr lang="zh-CN" altLang="en-US" kern="0">
              <a:solidFill>
                <a:srgbClr val="FF0000"/>
              </a:solidFill>
              <a:latin typeface="Calibri"/>
              <a:ea typeface="宋体"/>
            </a:endParaRPr>
          </a:p>
        </p:txBody>
      </p:sp>
      <p:cxnSp>
        <p:nvCxnSpPr>
          <p:cNvPr id="51" name="直接连接符 50"/>
          <p:cNvCxnSpPr>
            <a:cxnSpLocks noChangeShapeType="1"/>
          </p:cNvCxnSpPr>
          <p:nvPr/>
        </p:nvCxnSpPr>
        <p:spPr bwMode="auto">
          <a:xfrm>
            <a:off x="2755428" y="4798974"/>
            <a:ext cx="3976812" cy="0"/>
          </a:xfrm>
          <a:prstGeom prst="line">
            <a:avLst/>
          </a:prstGeom>
          <a:noFill/>
          <a:ln w="28575" algn="ctr">
            <a:solidFill>
              <a:srgbClr val="537709"/>
            </a:solidFill>
            <a:prstDash val="sysDot"/>
            <a:round/>
            <a:headEnd/>
            <a:tailEnd/>
          </a:ln>
        </p:spPr>
      </p:cxnSp>
      <p:sp>
        <p:nvSpPr>
          <p:cNvPr id="52" name="椭圆 51"/>
          <p:cNvSpPr/>
          <p:nvPr/>
        </p:nvSpPr>
        <p:spPr>
          <a:xfrm>
            <a:off x="2292667" y="4426071"/>
            <a:ext cx="286895" cy="286895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537709"/>
            </a:solidFill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kern="0">
                <a:latin typeface="Calibri"/>
                <a:ea typeface="宋体"/>
              </a:rPr>
              <a:t>6</a:t>
            </a:r>
            <a:endParaRPr lang="zh-CN" altLang="en-US" kern="0">
              <a:latin typeface="Calibri"/>
              <a:ea typeface="宋体"/>
            </a:endParaRPr>
          </a:p>
        </p:txBody>
      </p:sp>
      <p:sp>
        <p:nvSpPr>
          <p:cNvPr id="55" name="矩形 22"/>
          <p:cNvSpPr>
            <a:spLocks noChangeArrowheads="1"/>
          </p:cNvSpPr>
          <p:nvPr/>
        </p:nvSpPr>
        <p:spPr bwMode="auto">
          <a:xfrm>
            <a:off x="3491880" y="4916130"/>
            <a:ext cx="1915909" cy="442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创建</a:t>
            </a:r>
            <a:r>
              <a:rPr lang="en-US" altLang="zh-CN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web.xml</a:t>
            </a:r>
            <a:r>
              <a:rPr lang="zh-CN" altLang="en-US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endParaRPr lang="zh-CN" altLang="en-US" kern="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6" name="椭圆 55"/>
          <p:cNvSpPr/>
          <p:nvPr/>
        </p:nvSpPr>
        <p:spPr>
          <a:xfrm>
            <a:off x="2800542" y="4861421"/>
            <a:ext cx="567291" cy="568325"/>
          </a:xfrm>
          <a:prstGeom prst="ellipse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defRPr/>
            </a:pPr>
            <a:endParaRPr lang="zh-CN" altLang="en-US" kern="0">
              <a:solidFill>
                <a:srgbClr val="FF0000"/>
              </a:solidFill>
              <a:latin typeface="Calibri"/>
              <a:ea typeface="宋体"/>
            </a:endParaRPr>
          </a:p>
        </p:txBody>
      </p:sp>
      <p:cxnSp>
        <p:nvCxnSpPr>
          <p:cNvPr id="57" name="直接连接符 56"/>
          <p:cNvCxnSpPr>
            <a:cxnSpLocks noChangeShapeType="1"/>
          </p:cNvCxnSpPr>
          <p:nvPr/>
        </p:nvCxnSpPr>
        <p:spPr bwMode="auto">
          <a:xfrm>
            <a:off x="3403500" y="5375038"/>
            <a:ext cx="3760788" cy="0"/>
          </a:xfrm>
          <a:prstGeom prst="line">
            <a:avLst/>
          </a:prstGeom>
          <a:noFill/>
          <a:ln w="28575" algn="ctr">
            <a:solidFill>
              <a:srgbClr val="537709"/>
            </a:solidFill>
            <a:prstDash val="sysDot"/>
            <a:round/>
            <a:headEnd/>
            <a:tailEnd/>
          </a:ln>
        </p:spPr>
      </p:cxnSp>
      <p:sp>
        <p:nvSpPr>
          <p:cNvPr id="58" name="椭圆 57"/>
          <p:cNvSpPr/>
          <p:nvPr/>
        </p:nvSpPr>
        <p:spPr>
          <a:xfrm>
            <a:off x="2940739" y="5002135"/>
            <a:ext cx="286895" cy="286895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537709"/>
            </a:solidFill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kern="0" smtClean="0">
                <a:latin typeface="Calibri"/>
                <a:ea typeface="宋体"/>
              </a:rPr>
              <a:t>7</a:t>
            </a:r>
            <a:endParaRPr lang="zh-CN" altLang="en-US" kern="0">
              <a:latin typeface="Calibri"/>
              <a:ea typeface="宋体"/>
            </a:endParaRPr>
          </a:p>
        </p:txBody>
      </p:sp>
      <p:pic>
        <p:nvPicPr>
          <p:cNvPr id="59" name="Picture 18" descr="http://sogoupic.bjcnc.scs.sohucs.com/1424749078135794741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486" y="1673785"/>
            <a:ext cx="1372202" cy="1053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矩形 22"/>
          <p:cNvSpPr>
            <a:spLocks noChangeArrowheads="1"/>
          </p:cNvSpPr>
          <p:nvPr/>
        </p:nvSpPr>
        <p:spPr bwMode="auto">
          <a:xfrm>
            <a:off x="2887074" y="5492194"/>
            <a:ext cx="2492990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运行服务器，查看结果</a:t>
            </a:r>
            <a:endParaRPr lang="zh-CN" altLang="en-US" kern="0" dirty="0">
              <a:solidFill>
                <a:schemeClr val="tx1">
                  <a:lumMod val="75000"/>
                  <a:lumOff val="2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1" name="椭圆 60"/>
          <p:cNvSpPr/>
          <p:nvPr/>
        </p:nvSpPr>
        <p:spPr>
          <a:xfrm>
            <a:off x="2195736" y="5437485"/>
            <a:ext cx="567291" cy="568325"/>
          </a:xfrm>
          <a:prstGeom prst="ellipse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25400" cap="flat" cmpd="sng" algn="ctr">
            <a:solidFill>
              <a:sysClr val="window" lastClr="FFFFFF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defRPr/>
            </a:pPr>
            <a:endParaRPr lang="zh-CN" altLang="en-US" kern="0">
              <a:solidFill>
                <a:srgbClr val="FF0000"/>
              </a:solidFill>
              <a:latin typeface="Calibri"/>
              <a:ea typeface="宋体"/>
            </a:endParaRPr>
          </a:p>
        </p:txBody>
      </p:sp>
      <p:cxnSp>
        <p:nvCxnSpPr>
          <p:cNvPr id="62" name="直接连接符 61"/>
          <p:cNvCxnSpPr>
            <a:cxnSpLocks noChangeShapeType="1"/>
          </p:cNvCxnSpPr>
          <p:nvPr/>
        </p:nvCxnSpPr>
        <p:spPr bwMode="auto">
          <a:xfrm>
            <a:off x="2798694" y="5951102"/>
            <a:ext cx="3760788" cy="0"/>
          </a:xfrm>
          <a:prstGeom prst="line">
            <a:avLst/>
          </a:prstGeom>
          <a:noFill/>
          <a:ln w="28575" algn="ctr">
            <a:solidFill>
              <a:srgbClr val="537709"/>
            </a:solidFill>
            <a:prstDash val="sysDot"/>
            <a:round/>
            <a:headEnd/>
            <a:tailEnd/>
          </a:ln>
        </p:spPr>
      </p:cxnSp>
      <p:sp>
        <p:nvSpPr>
          <p:cNvPr id="63" name="椭圆 62"/>
          <p:cNvSpPr/>
          <p:nvPr/>
        </p:nvSpPr>
        <p:spPr>
          <a:xfrm>
            <a:off x="2335933" y="5578199"/>
            <a:ext cx="286895" cy="286895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rgbClr val="537709"/>
            </a:solidFill>
            <a:prstDash val="solid"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kern="0">
                <a:latin typeface="Calibri"/>
                <a:ea typeface="宋体"/>
              </a:rPr>
              <a:t>8</a:t>
            </a:r>
            <a:endParaRPr lang="zh-CN" altLang="en-US" kern="0">
              <a:latin typeface="Calibri"/>
              <a:ea typeface="宋体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827584" y="2924944"/>
            <a:ext cx="50405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smtClean="0">
                <a:solidFill>
                  <a:srgbClr val="01598B"/>
                </a:solidFill>
              </a:rPr>
              <a:t>带领大家编写一个程序</a:t>
            </a:r>
            <a:endParaRPr lang="zh-CN" altLang="en-US" sz="2000">
              <a:solidFill>
                <a:srgbClr val="01598B"/>
              </a:solidFill>
            </a:endParaRPr>
          </a:p>
        </p:txBody>
      </p:sp>
      <p:sp>
        <p:nvSpPr>
          <p:cNvPr id="53" name="标题 1"/>
          <p:cNvSpPr>
            <a:spLocks noChangeArrowheads="1"/>
          </p:cNvSpPr>
          <p:nvPr/>
        </p:nvSpPr>
        <p:spPr bwMode="auto">
          <a:xfrm>
            <a:off x="1643733" y="389681"/>
            <a:ext cx="624123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3.2.2  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实现第一个</a:t>
            </a:r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Servlet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程序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99039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000"/>
                            </p:stCondLst>
                            <p:childTnLst>
                              <p:par>
                                <p:cTn id="6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0"/>
                            </p:stCondLst>
                            <p:childTnLst>
                              <p:par>
                                <p:cTn id="7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6000"/>
                            </p:stCondLst>
                            <p:childTnLst>
                              <p:par>
                                <p:cTn id="9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7000"/>
                            </p:stCondLst>
                            <p:childTnLst>
                              <p:par>
                                <p:cTn id="10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3" grpId="0" animBg="1"/>
      <p:bldP spid="29" grpId="0" animBg="1"/>
      <p:bldP spid="33" grpId="0"/>
      <p:bldP spid="34" grpId="0" animBg="1"/>
      <p:bldP spid="36" grpId="0" animBg="1"/>
      <p:bldP spid="37" grpId="0"/>
      <p:bldP spid="38" grpId="0" animBg="1"/>
      <p:bldP spid="40" grpId="0" animBg="1"/>
      <p:bldP spid="41" grpId="0"/>
      <p:bldP spid="42" grpId="0" animBg="1"/>
      <p:bldP spid="44" grpId="0" animBg="1"/>
      <p:bldP spid="45" grpId="0"/>
      <p:bldP spid="46" grpId="0" animBg="1"/>
      <p:bldP spid="48" grpId="0" animBg="1"/>
      <p:bldP spid="49" grpId="0"/>
      <p:bldP spid="50" grpId="0" animBg="1"/>
      <p:bldP spid="52" grpId="0" animBg="1"/>
      <p:bldP spid="55" grpId="0"/>
      <p:bldP spid="56" grpId="0" animBg="1"/>
      <p:bldP spid="58" grpId="0" animBg="1"/>
      <p:bldP spid="60" grpId="0"/>
      <p:bldP spid="61" grpId="0" animBg="1"/>
      <p:bldP spid="6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grpSp>
        <p:nvGrpSpPr>
          <p:cNvPr id="42" name="组合 41"/>
          <p:cNvGrpSpPr>
            <a:grpSpLocks/>
          </p:cNvGrpSpPr>
          <p:nvPr/>
        </p:nvGrpSpPr>
        <p:grpSpPr bwMode="auto">
          <a:xfrm>
            <a:off x="1423988" y="1231677"/>
            <a:ext cx="1160462" cy="4286250"/>
            <a:chOff x="1447801" y="2462831"/>
            <a:chExt cx="1159328" cy="4286312"/>
          </a:xfrm>
        </p:grpSpPr>
        <p:grpSp>
          <p:nvGrpSpPr>
            <p:cNvPr id="43" name="组合 7"/>
            <p:cNvGrpSpPr>
              <a:grpSpLocks/>
            </p:cNvGrpSpPr>
            <p:nvPr/>
          </p:nvGrpSpPr>
          <p:grpSpPr bwMode="auto">
            <a:xfrm>
              <a:off x="1447801" y="2462831"/>
              <a:ext cx="1159328" cy="500743"/>
              <a:chOff x="1709058" y="2462831"/>
              <a:chExt cx="1159328" cy="500743"/>
            </a:xfrm>
          </p:grpSpPr>
          <p:sp>
            <p:nvSpPr>
              <p:cNvPr id="46" name="矩形 45"/>
              <p:cNvSpPr/>
              <p:nvPr/>
            </p:nvSpPr>
            <p:spPr bwMode="auto">
              <a:xfrm>
                <a:off x="1709058" y="2462831"/>
                <a:ext cx="1159328" cy="500070"/>
              </a:xfrm>
              <a:prstGeom prst="rect">
                <a:avLst/>
              </a:prstGeom>
              <a:noFill/>
              <a:ln w="28575" cap="flat" cmpd="sng" algn="ctr">
                <a:solidFill>
                  <a:schemeClr val="tx2">
                    <a:lumMod val="95000"/>
                    <a:lumOff val="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1" hangingPunct="1">
                  <a:buFont typeface="Arial" pitchFamily="34" charset="0"/>
                  <a:buNone/>
                  <a:defRPr/>
                </a:pPr>
                <a:endParaRPr lang="zh-CN" alt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47" name="TextBox 46"/>
              <p:cNvSpPr txBox="1"/>
              <p:nvPr/>
            </p:nvSpPr>
            <p:spPr>
              <a:xfrm>
                <a:off x="1793113" y="2497756"/>
                <a:ext cx="991218" cy="400056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zh-CN" altLang="en-US" sz="2000" b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charset="0"/>
                    <a:ea typeface="宋体" charset="-122"/>
                  </a:rPr>
                  <a:t>客户端</a:t>
                </a:r>
              </a:p>
            </p:txBody>
          </p:sp>
        </p:grpSp>
        <p:cxnSp>
          <p:nvCxnSpPr>
            <p:cNvPr id="44" name="直接连接符 43"/>
            <p:cNvCxnSpPr>
              <a:stCxn id="46" idx="2"/>
            </p:cNvCxnSpPr>
            <p:nvPr/>
          </p:nvCxnSpPr>
          <p:spPr bwMode="auto">
            <a:xfrm>
              <a:off x="2028258" y="2962901"/>
              <a:ext cx="0" cy="215903"/>
            </a:xfrm>
            <a:prstGeom prst="line">
              <a:avLst/>
            </a:prstGeom>
            <a:noFill/>
            <a:ln w="28575" cap="flat" cmpd="sng" algn="ctr">
              <a:solidFill>
                <a:schemeClr val="tx2">
                  <a:lumMod val="95000"/>
                  <a:lumOff val="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5" name="矩形 44"/>
            <p:cNvSpPr/>
            <p:nvPr/>
          </p:nvSpPr>
          <p:spPr bwMode="auto">
            <a:xfrm>
              <a:off x="1926758" y="3178804"/>
              <a:ext cx="177626" cy="3570339"/>
            </a:xfrm>
            <a:prstGeom prst="rect">
              <a:avLst/>
            </a:prstGeom>
            <a:noFill/>
            <a:ln w="28575" cap="flat" cmpd="sng" algn="ctr">
              <a:solidFill>
                <a:schemeClr val="tx2">
                  <a:lumMod val="95000"/>
                  <a:lumOff val="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/>
            </a:p>
          </p:txBody>
        </p:sp>
      </p:grpSp>
      <p:grpSp>
        <p:nvGrpSpPr>
          <p:cNvPr id="48" name="组合 47"/>
          <p:cNvGrpSpPr>
            <a:grpSpLocks/>
          </p:cNvGrpSpPr>
          <p:nvPr/>
        </p:nvGrpSpPr>
        <p:grpSpPr bwMode="auto">
          <a:xfrm>
            <a:off x="3559175" y="1214215"/>
            <a:ext cx="1579563" cy="4260850"/>
            <a:chOff x="3570513" y="2447831"/>
            <a:chExt cx="1578429" cy="4260428"/>
          </a:xfrm>
        </p:grpSpPr>
        <p:grpSp>
          <p:nvGrpSpPr>
            <p:cNvPr id="49" name="组合 15"/>
            <p:cNvGrpSpPr>
              <a:grpSpLocks/>
            </p:cNvGrpSpPr>
            <p:nvPr/>
          </p:nvGrpSpPr>
          <p:grpSpPr bwMode="auto">
            <a:xfrm>
              <a:off x="3570513" y="2447831"/>
              <a:ext cx="1578429" cy="500743"/>
              <a:chOff x="1709058" y="2462831"/>
              <a:chExt cx="1159328" cy="500743"/>
            </a:xfrm>
          </p:grpSpPr>
          <p:sp>
            <p:nvSpPr>
              <p:cNvPr id="52" name="矩形 51"/>
              <p:cNvSpPr/>
              <p:nvPr/>
            </p:nvSpPr>
            <p:spPr bwMode="auto">
              <a:xfrm>
                <a:off x="1709058" y="2462831"/>
                <a:ext cx="1159328" cy="500012"/>
              </a:xfrm>
              <a:prstGeom prst="rect">
                <a:avLst/>
              </a:prstGeom>
              <a:noFill/>
              <a:ln w="28575" cap="flat" cmpd="sng" algn="ctr">
                <a:solidFill>
                  <a:schemeClr val="tx2">
                    <a:lumMod val="95000"/>
                    <a:lumOff val="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1" hangingPunct="1">
                  <a:buFont typeface="Arial" pitchFamily="34" charset="0"/>
                  <a:buNone/>
                  <a:defRPr/>
                </a:pPr>
                <a:endParaRPr lang="zh-CN" alt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1709058" y="2486641"/>
                <a:ext cx="1159328" cy="400010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b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charset="0"/>
                    <a:ea typeface="宋体" charset="-122"/>
                  </a:rPr>
                  <a:t>Servlet</a:t>
                </a:r>
                <a:r>
                  <a:rPr lang="zh-CN" altLang="en-US" sz="2000" b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charset="0"/>
                    <a:ea typeface="宋体" charset="-122"/>
                  </a:rPr>
                  <a:t>容器</a:t>
                </a:r>
              </a:p>
            </p:txBody>
          </p:sp>
        </p:grpSp>
        <p:cxnSp>
          <p:nvCxnSpPr>
            <p:cNvPr id="50" name="直接连接符 49"/>
            <p:cNvCxnSpPr/>
            <p:nvPr/>
          </p:nvCxnSpPr>
          <p:spPr bwMode="auto">
            <a:xfrm>
              <a:off x="4371625" y="2963717"/>
              <a:ext cx="0" cy="214292"/>
            </a:xfrm>
            <a:prstGeom prst="line">
              <a:avLst/>
            </a:prstGeom>
            <a:noFill/>
            <a:ln w="28575" cap="flat" cmpd="sng" algn="ctr">
              <a:solidFill>
                <a:schemeClr val="tx2">
                  <a:lumMod val="95000"/>
                  <a:lumOff val="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1" name="矩形 50"/>
            <p:cNvSpPr/>
            <p:nvPr/>
          </p:nvSpPr>
          <p:spPr bwMode="auto">
            <a:xfrm>
              <a:off x="4271684" y="3178009"/>
              <a:ext cx="199881" cy="3530250"/>
            </a:xfrm>
            <a:prstGeom prst="rect">
              <a:avLst/>
            </a:prstGeom>
            <a:noFill/>
            <a:ln w="28575" cap="flat" cmpd="sng" algn="ctr">
              <a:solidFill>
                <a:schemeClr val="tx2">
                  <a:lumMod val="95000"/>
                  <a:lumOff val="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/>
            </a:p>
          </p:txBody>
        </p:sp>
      </p:grpSp>
      <p:grpSp>
        <p:nvGrpSpPr>
          <p:cNvPr id="54" name="组合 53"/>
          <p:cNvGrpSpPr>
            <a:grpSpLocks/>
          </p:cNvGrpSpPr>
          <p:nvPr/>
        </p:nvGrpSpPr>
        <p:grpSpPr bwMode="auto">
          <a:xfrm>
            <a:off x="6189663" y="1196752"/>
            <a:ext cx="1030287" cy="4278313"/>
            <a:chOff x="6123216" y="2429915"/>
            <a:chExt cx="1029883" cy="4278345"/>
          </a:xfrm>
        </p:grpSpPr>
        <p:grpSp>
          <p:nvGrpSpPr>
            <p:cNvPr id="55" name="组合 18"/>
            <p:cNvGrpSpPr>
              <a:grpSpLocks/>
            </p:cNvGrpSpPr>
            <p:nvPr/>
          </p:nvGrpSpPr>
          <p:grpSpPr bwMode="auto">
            <a:xfrm>
              <a:off x="6123216" y="2429915"/>
              <a:ext cx="1029883" cy="500743"/>
              <a:chOff x="1709058" y="2462831"/>
              <a:chExt cx="1159328" cy="500743"/>
            </a:xfrm>
          </p:grpSpPr>
          <p:sp>
            <p:nvSpPr>
              <p:cNvPr id="58" name="矩形 57"/>
              <p:cNvSpPr/>
              <p:nvPr/>
            </p:nvSpPr>
            <p:spPr bwMode="auto">
              <a:xfrm>
                <a:off x="1709058" y="2462831"/>
                <a:ext cx="1159328" cy="500067"/>
              </a:xfrm>
              <a:prstGeom prst="rect">
                <a:avLst/>
              </a:prstGeom>
              <a:noFill/>
              <a:ln w="28575" cap="flat" cmpd="sng" algn="ctr">
                <a:solidFill>
                  <a:schemeClr val="tx2">
                    <a:lumMod val="95000"/>
                    <a:lumOff val="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eaLnBrk="1" hangingPunct="1">
                  <a:buFont typeface="Arial" pitchFamily="34" charset="0"/>
                  <a:buNone/>
                  <a:defRPr/>
                </a:pPr>
                <a:endParaRPr lang="zh-CN" alt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1709058" y="2486644"/>
                <a:ext cx="1159328" cy="400053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b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charset="0"/>
                    <a:ea typeface="宋体" charset="-122"/>
                  </a:rPr>
                  <a:t>Servlet</a:t>
                </a:r>
                <a:endParaRPr lang="zh-CN" altLang="en-US" sz="20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charset="0"/>
                  <a:ea typeface="宋体" charset="-122"/>
                </a:endParaRPr>
              </a:p>
            </p:txBody>
          </p:sp>
        </p:grpSp>
        <p:cxnSp>
          <p:nvCxnSpPr>
            <p:cNvPr id="56" name="直接连接符 55"/>
            <p:cNvCxnSpPr/>
            <p:nvPr/>
          </p:nvCxnSpPr>
          <p:spPr bwMode="auto">
            <a:xfrm>
              <a:off x="6638951" y="2922044"/>
              <a:ext cx="0" cy="215902"/>
            </a:xfrm>
            <a:prstGeom prst="line">
              <a:avLst/>
            </a:prstGeom>
            <a:noFill/>
            <a:ln w="28575" cap="flat" cmpd="sng" algn="ctr">
              <a:solidFill>
                <a:schemeClr val="tx2">
                  <a:lumMod val="95000"/>
                  <a:lumOff val="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7" name="矩形 56"/>
            <p:cNvSpPr/>
            <p:nvPr/>
          </p:nvSpPr>
          <p:spPr bwMode="auto">
            <a:xfrm>
              <a:off x="6538978" y="3137945"/>
              <a:ext cx="176143" cy="3570315"/>
            </a:xfrm>
            <a:prstGeom prst="rect">
              <a:avLst/>
            </a:prstGeom>
            <a:noFill/>
            <a:ln w="28575" cap="flat" cmpd="sng" algn="ctr">
              <a:solidFill>
                <a:schemeClr val="tx2">
                  <a:lumMod val="95000"/>
                  <a:lumOff val="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itchFamily="34" charset="0"/>
                <a:buNone/>
                <a:defRPr/>
              </a:pPr>
              <a:endParaRPr lang="zh-CN" altLang="en-US"/>
            </a:p>
          </p:txBody>
        </p:sp>
      </p:grpSp>
      <p:grpSp>
        <p:nvGrpSpPr>
          <p:cNvPr id="60" name="组合 59"/>
          <p:cNvGrpSpPr>
            <a:grpSpLocks/>
          </p:cNvGrpSpPr>
          <p:nvPr/>
        </p:nvGrpSpPr>
        <p:grpSpPr bwMode="auto">
          <a:xfrm>
            <a:off x="2105025" y="2055590"/>
            <a:ext cx="2168525" cy="323850"/>
            <a:chOff x="2116133" y="3289492"/>
            <a:chExt cx="2167612" cy="324040"/>
          </a:xfrm>
        </p:grpSpPr>
        <p:cxnSp>
          <p:nvCxnSpPr>
            <p:cNvPr id="61" name="直接箭头连接符 60"/>
            <p:cNvCxnSpPr/>
            <p:nvPr/>
          </p:nvCxnSpPr>
          <p:spPr bwMode="auto">
            <a:xfrm flipV="1">
              <a:off x="2116133" y="3602412"/>
              <a:ext cx="2167612" cy="11120"/>
            </a:xfrm>
            <a:prstGeom prst="straightConnector1">
              <a:avLst/>
            </a:prstGeom>
            <a:noFill/>
            <a:ln w="28575" cap="flat" cmpd="sng" algn="ctr">
              <a:solidFill>
                <a:schemeClr val="tx2">
                  <a:lumMod val="95000"/>
                  <a:lumOff val="5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2" name="TextBox 16411"/>
            <p:cNvSpPr txBox="1">
              <a:spLocks noChangeArrowheads="1"/>
            </p:cNvSpPr>
            <p:nvPr/>
          </p:nvSpPr>
          <p:spPr bwMode="auto">
            <a:xfrm>
              <a:off x="2446695" y="3289492"/>
              <a:ext cx="138822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r>
                <a:rPr lang="en-US" altLang="zh-CN" sz="1400"/>
                <a:t>1</a:t>
              </a:r>
              <a:r>
                <a:rPr lang="zh-CN" altLang="en-US" sz="1400"/>
                <a:t>、发送请求</a:t>
              </a:r>
            </a:p>
          </p:txBody>
        </p:sp>
      </p:grpSp>
      <p:grpSp>
        <p:nvGrpSpPr>
          <p:cNvPr id="63" name="组合 62"/>
          <p:cNvGrpSpPr>
            <a:grpSpLocks/>
          </p:cNvGrpSpPr>
          <p:nvPr/>
        </p:nvGrpSpPr>
        <p:grpSpPr bwMode="auto">
          <a:xfrm>
            <a:off x="4495800" y="1957165"/>
            <a:ext cx="2311400" cy="581025"/>
            <a:chOff x="4505898" y="3190685"/>
            <a:chExt cx="2311429" cy="581025"/>
          </a:xfrm>
        </p:grpSpPr>
        <p:pic>
          <p:nvPicPr>
            <p:cNvPr id="64" name="Picture 1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05898" y="3190685"/>
              <a:ext cx="1362075" cy="5810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ACE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5" name="TextBox 95"/>
            <p:cNvSpPr txBox="1">
              <a:spLocks noChangeArrowheads="1"/>
            </p:cNvSpPr>
            <p:nvPr/>
          </p:nvSpPr>
          <p:spPr bwMode="auto">
            <a:xfrm>
              <a:off x="5429104" y="3305755"/>
              <a:ext cx="138822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r>
                <a:rPr lang="en-US" altLang="zh-CN" sz="1400"/>
                <a:t>2</a:t>
              </a:r>
              <a:r>
                <a:rPr lang="zh-CN" altLang="en-US" sz="1400"/>
                <a:t>、解析请求</a:t>
              </a:r>
            </a:p>
          </p:txBody>
        </p:sp>
      </p:grpSp>
      <p:grpSp>
        <p:nvGrpSpPr>
          <p:cNvPr id="66" name="组合 65"/>
          <p:cNvGrpSpPr>
            <a:grpSpLocks/>
          </p:cNvGrpSpPr>
          <p:nvPr/>
        </p:nvGrpSpPr>
        <p:grpSpPr bwMode="auto">
          <a:xfrm>
            <a:off x="4460875" y="2652490"/>
            <a:ext cx="2149475" cy="330200"/>
            <a:chOff x="4471904" y="3887025"/>
            <a:chExt cx="2148722" cy="329811"/>
          </a:xfrm>
        </p:grpSpPr>
        <p:cxnSp>
          <p:nvCxnSpPr>
            <p:cNvPr id="67" name="直接箭头连接符 66"/>
            <p:cNvCxnSpPr/>
            <p:nvPr/>
          </p:nvCxnSpPr>
          <p:spPr bwMode="auto">
            <a:xfrm>
              <a:off x="4471904" y="4216836"/>
              <a:ext cx="2066201" cy="0"/>
            </a:xfrm>
            <a:prstGeom prst="straightConnector1">
              <a:avLst/>
            </a:prstGeom>
            <a:noFill/>
            <a:ln w="28575" cap="flat" cmpd="sng" algn="ctr">
              <a:solidFill>
                <a:schemeClr val="tx2">
                  <a:lumMod val="95000"/>
                  <a:lumOff val="5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8" name="TextBox 96"/>
            <p:cNvSpPr txBox="1">
              <a:spLocks noChangeArrowheads="1"/>
            </p:cNvSpPr>
            <p:nvPr/>
          </p:nvSpPr>
          <p:spPr bwMode="auto">
            <a:xfrm>
              <a:off x="4495929" y="3887025"/>
              <a:ext cx="212469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r>
                <a:rPr lang="en-US" altLang="zh-CN" sz="1400"/>
                <a:t>3</a:t>
              </a:r>
              <a:r>
                <a:rPr lang="zh-CN" altLang="en-US" sz="1400"/>
                <a:t>、创建</a:t>
              </a:r>
              <a:r>
                <a:rPr lang="en-US" altLang="zh-CN" sz="1400"/>
                <a:t>Servlet</a:t>
              </a:r>
              <a:r>
                <a:rPr lang="zh-CN" altLang="en-US" sz="1400"/>
                <a:t>实例对象</a:t>
              </a:r>
            </a:p>
          </p:txBody>
        </p:sp>
      </p:grpSp>
      <p:grpSp>
        <p:nvGrpSpPr>
          <p:cNvPr id="69" name="组合 68"/>
          <p:cNvGrpSpPr>
            <a:grpSpLocks/>
          </p:cNvGrpSpPr>
          <p:nvPr/>
        </p:nvGrpSpPr>
        <p:grpSpPr bwMode="auto">
          <a:xfrm>
            <a:off x="4460875" y="3123977"/>
            <a:ext cx="2066925" cy="354013"/>
            <a:chOff x="4471904" y="4357082"/>
            <a:chExt cx="2066920" cy="354765"/>
          </a:xfrm>
        </p:grpSpPr>
        <p:cxnSp>
          <p:nvCxnSpPr>
            <p:cNvPr id="70" name="直接箭头连接符 69"/>
            <p:cNvCxnSpPr/>
            <p:nvPr/>
          </p:nvCxnSpPr>
          <p:spPr bwMode="auto">
            <a:xfrm flipV="1">
              <a:off x="4471904" y="4711847"/>
              <a:ext cx="2066920" cy="0"/>
            </a:xfrm>
            <a:prstGeom prst="straightConnector1">
              <a:avLst/>
            </a:prstGeom>
            <a:noFill/>
            <a:ln w="28575" cap="flat" cmpd="sng" algn="ctr">
              <a:solidFill>
                <a:schemeClr val="tx2">
                  <a:lumMod val="95000"/>
                  <a:lumOff val="5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1" name="TextBox 97"/>
            <p:cNvSpPr txBox="1">
              <a:spLocks noChangeArrowheads="1"/>
            </p:cNvSpPr>
            <p:nvPr/>
          </p:nvSpPr>
          <p:spPr bwMode="auto">
            <a:xfrm>
              <a:off x="4572000" y="4357082"/>
              <a:ext cx="177791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r>
                <a:rPr lang="en-US" altLang="zh-CN" sz="1400"/>
                <a:t>4</a:t>
              </a:r>
              <a:r>
                <a:rPr lang="zh-CN" altLang="en-US" sz="1400"/>
                <a:t>、调用</a:t>
              </a:r>
              <a:r>
                <a:rPr lang="en-US" altLang="zh-CN" sz="1400"/>
                <a:t>init()</a:t>
              </a:r>
              <a:r>
                <a:rPr lang="zh-CN" altLang="en-US" sz="1400"/>
                <a:t>方法</a:t>
              </a:r>
            </a:p>
          </p:txBody>
        </p:sp>
      </p:grpSp>
      <p:grpSp>
        <p:nvGrpSpPr>
          <p:cNvPr id="72" name="组合 71"/>
          <p:cNvGrpSpPr>
            <a:grpSpLocks/>
          </p:cNvGrpSpPr>
          <p:nvPr/>
        </p:nvGrpSpPr>
        <p:grpSpPr bwMode="auto">
          <a:xfrm>
            <a:off x="4460875" y="3582765"/>
            <a:ext cx="2085975" cy="352425"/>
            <a:chOff x="4471904" y="4817224"/>
            <a:chExt cx="2086408" cy="351583"/>
          </a:xfrm>
        </p:grpSpPr>
        <p:cxnSp>
          <p:nvCxnSpPr>
            <p:cNvPr id="73" name="直接箭头连接符 72"/>
            <p:cNvCxnSpPr/>
            <p:nvPr/>
          </p:nvCxnSpPr>
          <p:spPr bwMode="auto">
            <a:xfrm flipV="1">
              <a:off x="4471904" y="5157721"/>
              <a:ext cx="2068942" cy="11086"/>
            </a:xfrm>
            <a:prstGeom prst="straightConnector1">
              <a:avLst/>
            </a:prstGeom>
            <a:noFill/>
            <a:ln w="28575" cap="flat" cmpd="sng" algn="ctr">
              <a:solidFill>
                <a:schemeClr val="tx2">
                  <a:lumMod val="95000"/>
                  <a:lumOff val="5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4" name="TextBox 98"/>
            <p:cNvSpPr txBox="1">
              <a:spLocks noChangeArrowheads="1"/>
            </p:cNvSpPr>
            <p:nvPr/>
          </p:nvSpPr>
          <p:spPr bwMode="auto">
            <a:xfrm>
              <a:off x="4558241" y="4817224"/>
              <a:ext cx="2000071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r>
                <a:rPr lang="en-US" altLang="zh-CN" sz="1400"/>
                <a:t>5</a:t>
              </a:r>
              <a:r>
                <a:rPr lang="zh-CN" altLang="en-US" sz="1400"/>
                <a:t>、调用</a:t>
              </a:r>
              <a:r>
                <a:rPr lang="en-US" altLang="zh-CN" sz="1400"/>
                <a:t>service()</a:t>
              </a:r>
              <a:r>
                <a:rPr lang="zh-CN" altLang="en-US" sz="1400"/>
                <a:t>方法</a:t>
              </a:r>
            </a:p>
          </p:txBody>
        </p:sp>
      </p:grpSp>
      <p:grpSp>
        <p:nvGrpSpPr>
          <p:cNvPr id="75" name="组合 74"/>
          <p:cNvGrpSpPr>
            <a:grpSpLocks/>
          </p:cNvGrpSpPr>
          <p:nvPr/>
        </p:nvGrpSpPr>
        <p:grpSpPr bwMode="auto">
          <a:xfrm>
            <a:off x="4446588" y="4044727"/>
            <a:ext cx="2081212" cy="328613"/>
            <a:chOff x="4457042" y="5277774"/>
            <a:chExt cx="2081782" cy="329812"/>
          </a:xfrm>
        </p:grpSpPr>
        <p:cxnSp>
          <p:nvCxnSpPr>
            <p:cNvPr id="76" name="直接箭头连接符 75"/>
            <p:cNvCxnSpPr/>
            <p:nvPr/>
          </p:nvCxnSpPr>
          <p:spPr bwMode="auto">
            <a:xfrm flipH="1" flipV="1">
              <a:off x="4457042" y="5596432"/>
              <a:ext cx="2081782" cy="11154"/>
            </a:xfrm>
            <a:prstGeom prst="straightConnector1">
              <a:avLst/>
            </a:prstGeom>
            <a:noFill/>
            <a:ln w="28575" cap="flat" cmpd="sng" algn="ctr">
              <a:solidFill>
                <a:schemeClr val="tx2">
                  <a:lumMod val="95000"/>
                  <a:lumOff val="5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7" name="TextBox 99"/>
            <p:cNvSpPr txBox="1">
              <a:spLocks noChangeArrowheads="1"/>
            </p:cNvSpPr>
            <p:nvPr/>
          </p:nvSpPr>
          <p:spPr bwMode="auto">
            <a:xfrm>
              <a:off x="4572000" y="5277774"/>
              <a:ext cx="182458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r>
                <a:rPr lang="en-US" altLang="zh-CN" sz="1400"/>
                <a:t>6</a:t>
              </a:r>
              <a:r>
                <a:rPr lang="zh-CN" altLang="en-US" sz="1400"/>
                <a:t>、输出响应消息</a:t>
              </a:r>
            </a:p>
          </p:txBody>
        </p:sp>
      </p:grpSp>
      <p:grpSp>
        <p:nvGrpSpPr>
          <p:cNvPr id="78" name="组合 77"/>
          <p:cNvGrpSpPr>
            <a:grpSpLocks/>
          </p:cNvGrpSpPr>
          <p:nvPr/>
        </p:nvGrpSpPr>
        <p:grpSpPr bwMode="auto">
          <a:xfrm>
            <a:off x="2147888" y="4351115"/>
            <a:ext cx="2082800" cy="342900"/>
            <a:chOff x="2159048" y="5585551"/>
            <a:chExt cx="2081782" cy="341528"/>
          </a:xfrm>
        </p:grpSpPr>
        <p:cxnSp>
          <p:nvCxnSpPr>
            <p:cNvPr id="79" name="直接箭头连接符 78"/>
            <p:cNvCxnSpPr/>
            <p:nvPr/>
          </p:nvCxnSpPr>
          <p:spPr bwMode="auto">
            <a:xfrm flipH="1" flipV="1">
              <a:off x="2159048" y="5916010"/>
              <a:ext cx="2081782" cy="11069"/>
            </a:xfrm>
            <a:prstGeom prst="straightConnector1">
              <a:avLst/>
            </a:prstGeom>
            <a:noFill/>
            <a:ln w="28575" cap="flat" cmpd="sng" algn="ctr">
              <a:solidFill>
                <a:schemeClr val="tx2">
                  <a:lumMod val="95000"/>
                  <a:lumOff val="5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0" name="TextBox 100"/>
            <p:cNvSpPr txBox="1">
              <a:spLocks noChangeArrowheads="1"/>
            </p:cNvSpPr>
            <p:nvPr/>
          </p:nvSpPr>
          <p:spPr bwMode="auto">
            <a:xfrm>
              <a:off x="2446694" y="5585551"/>
              <a:ext cx="138822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r>
                <a:rPr lang="en-US" altLang="zh-CN" sz="1400"/>
                <a:t>7</a:t>
              </a:r>
              <a:r>
                <a:rPr lang="zh-CN" altLang="en-US" sz="1400"/>
                <a:t>、返回响应</a:t>
              </a:r>
            </a:p>
          </p:txBody>
        </p:sp>
      </p:grpSp>
      <p:grpSp>
        <p:nvGrpSpPr>
          <p:cNvPr id="81" name="组合 80"/>
          <p:cNvGrpSpPr>
            <a:grpSpLocks/>
          </p:cNvGrpSpPr>
          <p:nvPr/>
        </p:nvGrpSpPr>
        <p:grpSpPr bwMode="auto">
          <a:xfrm>
            <a:off x="4446588" y="4647977"/>
            <a:ext cx="2247900" cy="342900"/>
            <a:chOff x="4457042" y="5881734"/>
            <a:chExt cx="2248395" cy="342856"/>
          </a:xfrm>
        </p:grpSpPr>
        <p:cxnSp>
          <p:nvCxnSpPr>
            <p:cNvPr id="82" name="直接箭头连接符 81"/>
            <p:cNvCxnSpPr/>
            <p:nvPr/>
          </p:nvCxnSpPr>
          <p:spPr bwMode="auto">
            <a:xfrm flipV="1">
              <a:off x="4457042" y="6213479"/>
              <a:ext cx="2068967" cy="11111"/>
            </a:xfrm>
            <a:prstGeom prst="straightConnector1">
              <a:avLst/>
            </a:prstGeom>
            <a:noFill/>
            <a:ln w="28575" cap="flat" cmpd="sng" algn="ctr">
              <a:solidFill>
                <a:schemeClr val="tx2">
                  <a:lumMod val="95000"/>
                  <a:lumOff val="5000"/>
                </a:schemeClr>
              </a:solidFill>
              <a:prstDash val="dash"/>
              <a:round/>
              <a:headEnd type="none" w="med" len="med"/>
              <a:tailEnd type="arrow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3" name="TextBox 101"/>
            <p:cNvSpPr txBox="1">
              <a:spLocks noChangeArrowheads="1"/>
            </p:cNvSpPr>
            <p:nvPr/>
          </p:nvSpPr>
          <p:spPr bwMode="auto">
            <a:xfrm>
              <a:off x="4537720" y="5881734"/>
              <a:ext cx="216771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r>
                <a:rPr lang="en-US" altLang="zh-CN" sz="1400"/>
                <a:t>8</a:t>
              </a:r>
              <a:r>
                <a:rPr lang="zh-CN" altLang="en-US" sz="1400"/>
                <a:t>、调用</a:t>
              </a:r>
              <a:r>
                <a:rPr lang="en-US" altLang="zh-CN" sz="1400"/>
                <a:t>destory()</a:t>
              </a:r>
              <a:r>
                <a:rPr lang="zh-CN" altLang="en-US" sz="1400"/>
                <a:t>方法</a:t>
              </a:r>
            </a:p>
          </p:txBody>
        </p:sp>
      </p:grpSp>
      <p:sp>
        <p:nvSpPr>
          <p:cNvPr id="84" name="TextBox 83"/>
          <p:cNvSpPr txBox="1">
            <a:spLocks noChangeArrowheads="1"/>
          </p:cNvSpPr>
          <p:nvPr/>
        </p:nvSpPr>
        <p:spPr bwMode="auto">
          <a:xfrm>
            <a:off x="7151688" y="3262090"/>
            <a:ext cx="14700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b="1">
                <a:solidFill>
                  <a:srgbClr val="FF0000"/>
                </a:solidFill>
              </a:rPr>
              <a:t>初始阶段</a:t>
            </a:r>
          </a:p>
        </p:txBody>
      </p:sp>
      <p:sp>
        <p:nvSpPr>
          <p:cNvPr id="85" name="TextBox 84"/>
          <p:cNvSpPr txBox="1">
            <a:spLocks noChangeArrowheads="1"/>
          </p:cNvSpPr>
          <p:nvPr/>
        </p:nvSpPr>
        <p:spPr bwMode="auto">
          <a:xfrm>
            <a:off x="7175500" y="3674840"/>
            <a:ext cx="14700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b="1">
                <a:solidFill>
                  <a:srgbClr val="FF0000"/>
                </a:solidFill>
              </a:rPr>
              <a:t>运行阶段</a:t>
            </a:r>
          </a:p>
        </p:txBody>
      </p:sp>
      <p:sp>
        <p:nvSpPr>
          <p:cNvPr id="86" name="TextBox 85"/>
          <p:cNvSpPr txBox="1">
            <a:spLocks noChangeArrowheads="1"/>
          </p:cNvSpPr>
          <p:nvPr/>
        </p:nvSpPr>
        <p:spPr bwMode="auto">
          <a:xfrm>
            <a:off x="7197725" y="4771802"/>
            <a:ext cx="14700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b="1">
                <a:solidFill>
                  <a:srgbClr val="FF0000"/>
                </a:solidFill>
              </a:rPr>
              <a:t>销毁阶段</a:t>
            </a:r>
          </a:p>
        </p:txBody>
      </p:sp>
      <p:cxnSp>
        <p:nvCxnSpPr>
          <p:cNvPr id="87" name="直接箭头连接符 86"/>
          <p:cNvCxnSpPr>
            <a:cxnSpLocks noChangeShapeType="1"/>
          </p:cNvCxnSpPr>
          <p:nvPr/>
        </p:nvCxnSpPr>
        <p:spPr bwMode="auto">
          <a:xfrm>
            <a:off x="6807200" y="3477990"/>
            <a:ext cx="412750" cy="0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8" name="直接箭头连接符 87"/>
          <p:cNvCxnSpPr>
            <a:cxnSpLocks noChangeShapeType="1"/>
          </p:cNvCxnSpPr>
          <p:nvPr/>
        </p:nvCxnSpPr>
        <p:spPr bwMode="auto">
          <a:xfrm>
            <a:off x="6808788" y="3890740"/>
            <a:ext cx="414337" cy="0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9" name="直接箭头连接符 88"/>
          <p:cNvCxnSpPr>
            <a:cxnSpLocks noChangeShapeType="1"/>
          </p:cNvCxnSpPr>
          <p:nvPr/>
        </p:nvCxnSpPr>
        <p:spPr bwMode="auto">
          <a:xfrm>
            <a:off x="6808788" y="4990877"/>
            <a:ext cx="414337" cy="0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0" name="TextBox 89"/>
          <p:cNvSpPr txBox="1"/>
          <p:nvPr/>
        </p:nvSpPr>
        <p:spPr>
          <a:xfrm>
            <a:off x="1117186" y="5651956"/>
            <a:ext cx="6191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0066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案例：生命周期方法的执行效果，请参见教材</a:t>
            </a:r>
            <a:r>
              <a:rPr lang="en-US" altLang="zh-CN" dirty="0" smtClean="0">
                <a:solidFill>
                  <a:srgbClr val="0066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3.2.3</a:t>
            </a:r>
            <a:r>
              <a:rPr lang="zh-CN" altLang="en-US" dirty="0" smtClean="0">
                <a:solidFill>
                  <a:srgbClr val="0066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小节案例</a:t>
            </a:r>
            <a:endParaRPr lang="zh-CN" altLang="en-US" dirty="0">
              <a:solidFill>
                <a:srgbClr val="0066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标题 1"/>
          <p:cNvSpPr>
            <a:spLocks noChangeArrowheads="1"/>
          </p:cNvSpPr>
          <p:nvPr/>
        </p:nvSpPr>
        <p:spPr bwMode="auto">
          <a:xfrm>
            <a:off x="1643733" y="389681"/>
            <a:ext cx="624123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3.2.3  Servlet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的生命周期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44664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0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500"/>
                            </p:stCondLst>
                            <p:childTnLst>
                              <p:par>
                                <p:cTn id="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0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/>
      <p:bldP spid="85" grpId="0"/>
      <p:bldP spid="86" grpId="0"/>
      <p:bldP spid="9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/>
        </p:nvSpPr>
        <p:spPr>
          <a:xfrm>
            <a:off x="539552" y="3356992"/>
            <a:ext cx="4896544" cy="648072"/>
          </a:xfrm>
          <a:prstGeom prst="round2DiagRect">
            <a:avLst>
              <a:gd name="adj1" fmla="val 20943"/>
              <a:gd name="adj2" fmla="val 0"/>
            </a:avLst>
          </a:prstGeom>
          <a:solidFill>
            <a:srgbClr val="006BA9"/>
          </a:solidFill>
          <a:ln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" name="TextBox 6"/>
          <p:cNvSpPr txBox="1"/>
          <p:nvPr/>
        </p:nvSpPr>
        <p:spPr>
          <a:xfrm>
            <a:off x="881716" y="1979548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3.1    Servlet</a:t>
            </a:r>
            <a:r>
              <a:rPr lang="zh-CN" altLang="en-US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概述 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5" name="TextBox 10"/>
          <p:cNvSpPr txBox="1"/>
          <p:nvPr/>
        </p:nvSpPr>
        <p:spPr>
          <a:xfrm>
            <a:off x="881716" y="2723631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3.2    Servlet</a:t>
            </a:r>
            <a:r>
              <a:rPr lang="zh-CN" altLang="en-US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开发入门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6" name="TextBox 11"/>
          <p:cNvSpPr txBox="1"/>
          <p:nvPr/>
        </p:nvSpPr>
        <p:spPr>
          <a:xfrm>
            <a:off x="881716" y="3467714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3</a:t>
            </a:r>
            <a:r>
              <a:rPr lang="en-US" altLang="zh-CN" sz="240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.3    Servlet</a:t>
            </a:r>
            <a:r>
              <a:rPr lang="zh-CN" altLang="en-US" sz="240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应用</a:t>
            </a:r>
            <a:endParaRPr lang="zh-CN" altLang="en-US" sz="2400" dirty="0">
              <a:solidFill>
                <a:schemeClr val="bg1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5220072" y="1484784"/>
            <a:ext cx="3444382" cy="344438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381000"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1"/>
          <p:cNvSpPr txBox="1"/>
          <p:nvPr/>
        </p:nvSpPr>
        <p:spPr>
          <a:xfrm>
            <a:off x="5182106" y="2264870"/>
            <a:ext cx="3566358" cy="18312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b="1" smtClean="0">
                <a:solidFill>
                  <a:srgbClr val="F2F2E6"/>
                </a:solidFill>
                <a:latin typeface="微软雅黑" pitchFamily="34" charset="-122"/>
                <a:ea typeface="微软雅黑" pitchFamily="34" charset="-122"/>
              </a:rPr>
              <a:t>主讲内容</a:t>
            </a:r>
            <a:endParaRPr lang="en-US" altLang="zh-CN" sz="5400" b="1" dirty="0" smtClean="0">
              <a:solidFill>
                <a:srgbClr val="F2F2E6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3200" smtClean="0">
                <a:solidFill>
                  <a:srgbClr val="F2F2E6"/>
                </a:solidFill>
                <a:latin typeface="Times New Roman" panose="02020603050405020304" pitchFamily="18" charset="0"/>
                <a:ea typeface="Adobe 宋体 Std L" pitchFamily="18" charset="-122"/>
                <a:cs typeface="Times New Roman" panose="02020603050405020304" pitchFamily="18" charset="0"/>
              </a:rPr>
              <a:t>Speech content</a:t>
            </a:r>
            <a:endParaRPr lang="en-US" altLang="zh-CN" sz="3200" dirty="0" smtClean="0">
              <a:solidFill>
                <a:srgbClr val="F2F2E6"/>
              </a:solidFill>
              <a:latin typeface="Times New Roman" panose="02020603050405020304" pitchFamily="18" charset="0"/>
              <a:ea typeface="Adobe 宋体 Std L" pitchFamily="18" charset="-122"/>
              <a:cs typeface="Times New Roman" panose="02020603050405020304" pitchFamily="18" charset="0"/>
            </a:endParaRPr>
          </a:p>
        </p:txBody>
      </p:sp>
      <p:sp>
        <p:nvSpPr>
          <p:cNvPr id="8" name="TextBox 11"/>
          <p:cNvSpPr txBox="1"/>
          <p:nvPr/>
        </p:nvSpPr>
        <p:spPr>
          <a:xfrm>
            <a:off x="881716" y="4139788"/>
            <a:ext cx="5346468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3.4    ServletConfig</a:t>
            </a:r>
            <a:r>
              <a:rPr lang="zh-CN" altLang="en-US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和</a:t>
            </a:r>
            <a:r>
              <a:rPr lang="en-US" altLang="zh-CN" sz="2400" smtClean="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ServletContext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11" name="标题 1"/>
          <p:cNvSpPr>
            <a:spLocks noChangeArrowheads="1"/>
          </p:cNvSpPr>
          <p:nvPr/>
        </p:nvSpPr>
        <p:spPr bwMode="auto">
          <a:xfrm>
            <a:off x="1643733" y="389681"/>
            <a:ext cx="624123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主讲内容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53215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527050" y="1713582"/>
            <a:ext cx="8088313" cy="870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Calibri" panose="020F0502020204030204" pitchFamily="34" charset="0"/>
              <a:buChar char="–"/>
            </a:pPr>
            <a:r>
              <a:rPr lang="zh-CN" altLang="zh-CN" b="1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b="1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Servlet </a:t>
            </a:r>
            <a:r>
              <a:rPr lang="zh-CN" altLang="zh-CN" b="1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接口中，提供了一个抽象类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HttpServlet</a:t>
            </a:r>
            <a:r>
              <a:rPr lang="zh-CN" altLang="zh-CN" b="1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，它是</a:t>
            </a:r>
            <a:r>
              <a:rPr lang="en-US" altLang="zh-CN" b="1" dirty="0" err="1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GenericServlet</a:t>
            </a:r>
            <a:r>
              <a:rPr lang="zh-CN" altLang="zh-CN" b="1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的子类，专门用于创建应用于</a:t>
            </a:r>
            <a:r>
              <a:rPr lang="en-US" altLang="zh-CN" b="1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</a:t>
            </a:r>
            <a:r>
              <a:rPr lang="zh-CN" altLang="zh-CN" b="1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协议的</a:t>
            </a:r>
            <a:r>
              <a:rPr lang="en-US" altLang="zh-CN" b="1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Servlet</a:t>
            </a:r>
            <a:r>
              <a:rPr lang="zh-CN" altLang="zh-CN" b="1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zh-CN" altLang="en-US" b="1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此类的两大功能为：</a:t>
            </a:r>
          </a:p>
        </p:txBody>
      </p: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862013" y="3027114"/>
            <a:ext cx="3203575" cy="2311400"/>
            <a:chOff x="2966392" y="2314491"/>
            <a:chExt cx="3204448" cy="2312203"/>
          </a:xfrm>
        </p:grpSpPr>
        <p:sp>
          <p:nvSpPr>
            <p:cNvPr id="5" name="泪滴形 4"/>
            <p:cNvSpPr/>
            <p:nvPr/>
          </p:nvSpPr>
          <p:spPr>
            <a:xfrm rot="216446">
              <a:off x="4581845" y="2937534"/>
              <a:ext cx="1588995" cy="1669186"/>
            </a:xfrm>
            <a:prstGeom prst="teardrop">
              <a:avLst/>
            </a:prstGeom>
            <a:solidFill>
              <a:srgbClr val="009ED6"/>
            </a:solidFill>
            <a:ln w="34925">
              <a:solidFill>
                <a:srgbClr val="FFFFFF"/>
              </a:solidFill>
            </a:ln>
            <a:effectLst/>
            <a:scene3d>
              <a:camera prst="perspectiveAbove"/>
              <a:lightRig rig="threePt" dir="t">
                <a:rot lat="0" lon="0" rev="10200000"/>
              </a:lightRig>
            </a:scene3d>
            <a:sp3d extrusionH="120650" prstMaterial="plastic">
              <a:bevelT w="285750" h="50800" prst="softRound"/>
              <a:bevelB w="88900" h="10795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" name="泪滴形 5"/>
            <p:cNvSpPr/>
            <p:nvPr/>
          </p:nvSpPr>
          <p:spPr>
            <a:xfrm rot="16200000">
              <a:off x="3092613" y="2188270"/>
              <a:ext cx="2312203" cy="2564646"/>
            </a:xfrm>
            <a:prstGeom prst="teardrop">
              <a:avLst/>
            </a:prstGeom>
            <a:solidFill>
              <a:srgbClr val="0066A1"/>
            </a:solidFill>
            <a:ln w="34925">
              <a:solidFill>
                <a:srgbClr val="FFFFFF"/>
              </a:solidFill>
            </a:ln>
            <a:effectLst/>
            <a:scene3d>
              <a:camera prst="isometricOffAxis1Right">
                <a:rot lat="21480000" lon="20039998" rev="0"/>
              </a:camera>
              <a:lightRig rig="threePt" dir="t">
                <a:rot lat="0" lon="0" rev="8400000"/>
              </a:lightRig>
            </a:scene3d>
            <a:sp3d extrusionH="120650" prstMaterial="plastic">
              <a:bevelT w="285750" h="50800" prst="softRound"/>
              <a:bevelB w="88900" h="10795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7" name="弦形 6"/>
            <p:cNvSpPr/>
            <p:nvPr/>
          </p:nvSpPr>
          <p:spPr>
            <a:xfrm rot="11704162">
              <a:off x="3147279" y="2632341"/>
              <a:ext cx="2179948" cy="1840903"/>
            </a:xfrm>
            <a:prstGeom prst="chord">
              <a:avLst>
                <a:gd name="adj1" fmla="val 3644907"/>
                <a:gd name="adj2" fmla="val 19353987"/>
              </a:avLst>
            </a:prstGeom>
            <a:solidFill>
              <a:schemeClr val="bg1"/>
            </a:solidFill>
            <a:ln>
              <a:noFill/>
            </a:ln>
            <a:scene3d>
              <a:camera prst="orthographicFront">
                <a:rot lat="21303335" lon="296539" rev="222144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048206" y="2591336"/>
              <a:ext cx="785818" cy="64633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360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01</a:t>
              </a:r>
              <a:endParaRPr lang="zh-CN" altLang="en-US" sz="36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9" name="Text Box 39"/>
            <p:cNvSpPr txBox="1">
              <a:spLocks noChangeArrowheads="1"/>
            </p:cNvSpPr>
            <p:nvPr/>
          </p:nvSpPr>
          <p:spPr bwMode="auto">
            <a:xfrm>
              <a:off x="3407776" y="3085870"/>
              <a:ext cx="2052637" cy="923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50000"/>
                </a:lnSpc>
                <a:buClr>
                  <a:srgbClr val="7030A0"/>
                </a:buClr>
              </a:pPr>
              <a:r>
                <a:rPr lang="en-US" altLang="zh-CN" sz="1200">
                  <a:latin typeface="微软雅黑" pitchFamily="34" charset="-122"/>
                  <a:ea typeface="微软雅黑" pitchFamily="34" charset="-122"/>
                </a:rPr>
                <a:t>    </a:t>
              </a:r>
              <a:r>
                <a:rPr lang="zh-CN" altLang="zh-CN" sz="1200">
                  <a:latin typeface="微软雅黑" pitchFamily="34" charset="-122"/>
                  <a:ea typeface="微软雅黑" pitchFamily="34" charset="-122"/>
                </a:rPr>
                <a:t>根据用户请求方式的</a:t>
              </a:r>
              <a:endParaRPr lang="en-US" altLang="zh-CN" sz="1200">
                <a:latin typeface="微软雅黑" pitchFamily="34" charset="-122"/>
                <a:ea typeface="微软雅黑" pitchFamily="34" charset="-122"/>
              </a:endParaRPr>
            </a:p>
            <a:p>
              <a:pPr>
                <a:lnSpc>
                  <a:spcPct val="150000"/>
                </a:lnSpc>
                <a:buClr>
                  <a:srgbClr val="7030A0"/>
                </a:buClr>
              </a:pPr>
              <a:r>
                <a:rPr lang="en-US" altLang="zh-CN" sz="1200"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zh-CN" altLang="zh-CN" sz="1200">
                  <a:latin typeface="微软雅黑" pitchFamily="34" charset="-122"/>
                  <a:ea typeface="微软雅黑" pitchFamily="34" charset="-122"/>
                </a:rPr>
                <a:t>不同，定义相应的</a:t>
              </a:r>
              <a:r>
                <a:rPr lang="en-US" altLang="zh-CN" sz="1200">
                  <a:latin typeface="微软雅黑" pitchFamily="34" charset="-122"/>
                  <a:ea typeface="微软雅黑" pitchFamily="34" charset="-122"/>
                </a:rPr>
                <a:t>doXxx()</a:t>
              </a:r>
              <a:r>
                <a:rPr lang="zh-CN" altLang="zh-CN" sz="1200">
                  <a:latin typeface="微软雅黑" pitchFamily="34" charset="-122"/>
                  <a:ea typeface="微软雅黑" pitchFamily="34" charset="-122"/>
                </a:rPr>
                <a:t>方法处理用户请求</a:t>
              </a:r>
              <a:endParaRPr lang="en-US" altLang="zh-CN" sz="12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4932363" y="2996952"/>
            <a:ext cx="3205162" cy="2312987"/>
            <a:chOff x="5224701" y="4187844"/>
            <a:chExt cx="3204448" cy="2312203"/>
          </a:xfrm>
        </p:grpSpPr>
        <p:sp>
          <p:nvSpPr>
            <p:cNvPr id="11" name="泪滴形 10"/>
            <p:cNvSpPr/>
            <p:nvPr/>
          </p:nvSpPr>
          <p:spPr>
            <a:xfrm rot="216446">
              <a:off x="6840154" y="4810887"/>
              <a:ext cx="1588995" cy="1669186"/>
            </a:xfrm>
            <a:prstGeom prst="teardrop">
              <a:avLst/>
            </a:prstGeom>
            <a:solidFill>
              <a:srgbClr val="00B050"/>
            </a:solidFill>
            <a:ln w="34925">
              <a:solidFill>
                <a:srgbClr val="FFFFFF"/>
              </a:solidFill>
            </a:ln>
            <a:effectLst/>
            <a:scene3d>
              <a:camera prst="perspectiveAbove"/>
              <a:lightRig rig="threePt" dir="t">
                <a:rot lat="0" lon="0" rev="10200000"/>
              </a:lightRig>
            </a:scene3d>
            <a:sp3d extrusionH="120650" prstMaterial="plastic">
              <a:bevelT w="285750" h="50800" prst="softRound"/>
              <a:bevelB w="88900" h="10795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" name="泪滴形 11"/>
            <p:cNvSpPr/>
            <p:nvPr/>
          </p:nvSpPr>
          <p:spPr>
            <a:xfrm rot="16200000">
              <a:off x="5350922" y="4061623"/>
              <a:ext cx="2312203" cy="2564646"/>
            </a:xfrm>
            <a:prstGeom prst="teardrop">
              <a:avLst/>
            </a:prstGeom>
            <a:solidFill>
              <a:srgbClr val="00B050"/>
            </a:solidFill>
            <a:ln w="34925">
              <a:solidFill>
                <a:srgbClr val="FFFFFF"/>
              </a:solidFill>
            </a:ln>
            <a:effectLst/>
            <a:scene3d>
              <a:camera prst="isometricOffAxis1Right">
                <a:rot lat="21480000" lon="20039998" rev="0"/>
              </a:camera>
              <a:lightRig rig="threePt" dir="t">
                <a:rot lat="0" lon="0" rev="8400000"/>
              </a:lightRig>
            </a:scene3d>
            <a:sp3d extrusionH="120650" prstMaterial="plastic">
              <a:bevelT w="285750" h="50800" prst="softRound"/>
              <a:bevelB w="88900" h="10795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" name="弦形 12"/>
            <p:cNvSpPr/>
            <p:nvPr/>
          </p:nvSpPr>
          <p:spPr>
            <a:xfrm rot="11704162">
              <a:off x="5418288" y="4498820"/>
              <a:ext cx="2179948" cy="1840903"/>
            </a:xfrm>
            <a:prstGeom prst="chord">
              <a:avLst>
                <a:gd name="adj1" fmla="val 3644907"/>
                <a:gd name="adj2" fmla="val 19353987"/>
              </a:avLst>
            </a:prstGeom>
            <a:solidFill>
              <a:schemeClr val="bg1"/>
            </a:solidFill>
            <a:ln>
              <a:noFill/>
            </a:ln>
            <a:scene3d>
              <a:camera prst="orthographicFront">
                <a:rot lat="21303335" lon="296539" rev="222144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306515" y="4518479"/>
              <a:ext cx="785818" cy="64633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360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rPr>
                <a:t>02</a:t>
              </a:r>
              <a:endParaRPr lang="zh-CN" altLang="en-US" sz="36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5" name="Text Box 39"/>
            <p:cNvSpPr txBox="1">
              <a:spLocks noChangeArrowheads="1"/>
            </p:cNvSpPr>
            <p:nvPr/>
          </p:nvSpPr>
          <p:spPr bwMode="auto">
            <a:xfrm>
              <a:off x="5698925" y="4806055"/>
              <a:ext cx="2127250" cy="1477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>
                <a:lnSpc>
                  <a:spcPct val="150000"/>
                </a:lnSpc>
                <a:buClr>
                  <a:srgbClr val="7030A0"/>
                </a:buClr>
              </a:pPr>
              <a:r>
                <a:rPr lang="en-US" altLang="zh-CN" sz="1200"/>
                <a:t>       </a:t>
              </a:r>
              <a:r>
                <a:rPr lang="zh-CN" altLang="zh-CN" sz="1200"/>
                <a:t>通过</a:t>
              </a:r>
              <a:r>
                <a:rPr lang="en-US" altLang="zh-CN" sz="1200"/>
                <a:t>service()</a:t>
              </a:r>
              <a:r>
                <a:rPr lang="zh-CN" altLang="zh-CN" sz="1200"/>
                <a:t>方法</a:t>
              </a:r>
              <a:endParaRPr lang="en-US" altLang="zh-CN" sz="1200"/>
            </a:p>
            <a:p>
              <a:pPr>
                <a:lnSpc>
                  <a:spcPct val="150000"/>
                </a:lnSpc>
                <a:buClr>
                  <a:srgbClr val="7030A0"/>
                </a:buClr>
              </a:pPr>
              <a:r>
                <a:rPr lang="en-US" altLang="zh-CN" sz="1200"/>
                <a:t>    </a:t>
              </a:r>
              <a:r>
                <a:rPr lang="zh-CN" altLang="zh-CN" sz="1200"/>
                <a:t>将</a:t>
              </a:r>
              <a:r>
                <a:rPr lang="en-US" altLang="zh-CN" sz="1200"/>
                <a:t>HTTP</a:t>
              </a:r>
              <a:r>
                <a:rPr lang="zh-CN" altLang="zh-CN" sz="1200"/>
                <a:t>请求和响应分</a:t>
              </a:r>
              <a:endParaRPr lang="en-US" altLang="zh-CN" sz="1200"/>
            </a:p>
            <a:p>
              <a:pPr>
                <a:lnSpc>
                  <a:spcPct val="150000"/>
                </a:lnSpc>
                <a:buClr>
                  <a:srgbClr val="7030A0"/>
                </a:buClr>
              </a:pPr>
              <a:r>
                <a:rPr lang="zh-CN" altLang="zh-CN" sz="1200"/>
                <a:t>别转为</a:t>
              </a:r>
              <a:r>
                <a:rPr lang="en-US" altLang="zh-CN" sz="1200"/>
                <a:t>HttpServletRequest</a:t>
              </a:r>
            </a:p>
            <a:p>
              <a:pPr>
                <a:lnSpc>
                  <a:spcPct val="150000"/>
                </a:lnSpc>
                <a:buClr>
                  <a:srgbClr val="7030A0"/>
                </a:buClr>
              </a:pPr>
              <a:r>
                <a:rPr lang="zh-CN" altLang="zh-CN" sz="1200"/>
                <a:t>和</a:t>
              </a:r>
              <a:r>
                <a:rPr lang="en-US" altLang="zh-CN" sz="1200"/>
                <a:t>HttpServletResponse</a:t>
              </a:r>
              <a:r>
                <a:rPr lang="zh-CN" altLang="zh-CN" sz="1200"/>
                <a:t>类</a:t>
              </a:r>
              <a:endParaRPr lang="en-US" altLang="zh-CN" sz="1200"/>
            </a:p>
            <a:p>
              <a:pPr>
                <a:lnSpc>
                  <a:spcPct val="150000"/>
                </a:lnSpc>
                <a:buClr>
                  <a:srgbClr val="7030A0"/>
                </a:buClr>
              </a:pPr>
              <a:r>
                <a:rPr lang="en-US" altLang="zh-CN" sz="1200"/>
                <a:t>  </a:t>
              </a:r>
              <a:r>
                <a:rPr lang="zh-CN" altLang="zh-CN" sz="1200"/>
                <a:t>型的对象</a:t>
              </a:r>
              <a:endParaRPr lang="en-US" altLang="zh-CN" sz="120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6" name="标题 1"/>
          <p:cNvSpPr>
            <a:spLocks noChangeArrowheads="1"/>
          </p:cNvSpPr>
          <p:nvPr/>
        </p:nvSpPr>
        <p:spPr bwMode="auto">
          <a:xfrm>
            <a:off x="1643733" y="389681"/>
            <a:ext cx="624123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3.3.1  </a:t>
            </a:r>
            <a:r>
              <a:rPr lang="en-US" altLang="zh-CN" sz="3200" b="1" dirty="0" err="1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HttpServlet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类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37238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6264696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椭圆 2"/>
          <p:cNvSpPr/>
          <p:nvPr/>
        </p:nvSpPr>
        <p:spPr bwMode="auto">
          <a:xfrm rot="574600">
            <a:off x="1327821" y="3950469"/>
            <a:ext cx="361950" cy="361950"/>
          </a:xfrm>
          <a:prstGeom prst="ellipse">
            <a:avLst/>
          </a:prstGeom>
          <a:solidFill>
            <a:srgbClr val="3BCCF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buFont typeface="Arial" pitchFamily="34" charset="0"/>
              <a:buNone/>
            </a:pPr>
            <a:endParaRPr lang="zh-CN" altLang="en-US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340124" y="3933056"/>
            <a:ext cx="349250" cy="369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Verdana" pitchFamily="34" charset="0"/>
                <a:ea typeface="宋体" charset="-122"/>
              </a:rPr>
              <a:t>2</a:t>
            </a:r>
            <a:endParaRPr kumimoji="0" lang="zh-CN" altLang="en-US" sz="1800" b="1" i="0" u="none" strike="noStrike" kern="0" cap="none" spc="0" normalizeH="0" baseline="0" noProof="0" dirty="0" smtClean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Verdana" pitchFamily="34" charset="0"/>
              <a:ea typeface="宋体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19064" y="2415197"/>
            <a:ext cx="1152525" cy="345094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任务目标：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411958" y="4691514"/>
            <a:ext cx="5219700" cy="408623"/>
          </a:xfrm>
          <a:prstGeom prst="roundRect">
            <a:avLst/>
          </a:prstGeom>
          <a:solidFill>
            <a:srgbClr val="0070C0"/>
          </a:solidFill>
          <a:ln>
            <a:solidFill>
              <a:srgbClr val="D6ECFF">
                <a:lumMod val="7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kern="0" noProof="0" dirty="0" smtClean="0">
                <a:solidFill>
                  <a:sysClr val="window" lastClr="FFFFFF"/>
                </a:solidFill>
                <a:latin typeface="Arial"/>
                <a:ea typeface="宋体"/>
              </a:rPr>
              <a:t>具体实现步骤</a:t>
            </a:r>
            <a:r>
              <a:rPr kumimoji="0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（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详见</a:t>
            </a:r>
            <a:r>
              <a:rPr kumimoji="0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教材</a:t>
            </a: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【</a:t>
            </a:r>
            <a:r>
              <a:rPr kumimoji="0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任务</a:t>
            </a: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3-1】</a:t>
            </a:r>
            <a:r>
              <a:rPr kumimoji="0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/>
                <a:ea typeface="宋体"/>
              </a:rPr>
              <a:t>）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/>
              <a:ea typeface="宋体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716758" y="3936182"/>
            <a:ext cx="1152525" cy="369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实现步骤：</a:t>
            </a:r>
            <a:r>
              <a:rPr kumimoji="0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itchFamily="34" charset="0"/>
              <a:ea typeface="宋体" pitchFamily="2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539677" y="2802547"/>
            <a:ext cx="5094287" cy="0"/>
          </a:xfrm>
          <a:prstGeom prst="line">
            <a:avLst/>
          </a:prstGeom>
          <a:solidFill>
            <a:srgbClr val="3BCCFF"/>
          </a:solidFill>
          <a:ln w="12700" cap="flat" cmpd="sng" algn="ctr">
            <a:solidFill>
              <a:srgbClr val="19C3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9" name="直接连接符 8"/>
          <p:cNvCxnSpPr/>
          <p:nvPr/>
        </p:nvCxnSpPr>
        <p:spPr>
          <a:xfrm>
            <a:off x="1474664" y="4306069"/>
            <a:ext cx="5094287" cy="0"/>
          </a:xfrm>
          <a:prstGeom prst="line">
            <a:avLst/>
          </a:prstGeom>
          <a:solidFill>
            <a:srgbClr val="3BCCFF"/>
          </a:solidFill>
          <a:ln w="12700" cap="flat" cmpd="sng" algn="ctr">
            <a:solidFill>
              <a:srgbClr val="19C3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10" name="椭圆 9"/>
          <p:cNvSpPr/>
          <p:nvPr/>
        </p:nvSpPr>
        <p:spPr bwMode="auto">
          <a:xfrm rot="574600">
            <a:off x="1305584" y="2461823"/>
            <a:ext cx="361950" cy="363537"/>
          </a:xfrm>
          <a:prstGeom prst="ellipse">
            <a:avLst/>
          </a:prstGeom>
          <a:solidFill>
            <a:srgbClr val="3BCCF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eaLnBrk="1" hangingPunct="1">
              <a:buFont typeface="Arial" pitchFamily="34" charset="0"/>
              <a:buNone/>
              <a:defRPr/>
            </a:pPr>
            <a:endParaRPr lang="zh-CN" altLang="en-US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1312728" y="2452503"/>
            <a:ext cx="3476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schemeClr val="bg1"/>
                </a:solidFill>
                <a:latin typeface="Verdana" pitchFamily="34" charset="0"/>
              </a:rPr>
              <a:t>1</a:t>
            </a:r>
            <a:endParaRPr lang="zh-CN" altLang="en-US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988345" y="3331614"/>
            <a:ext cx="3671887" cy="889474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新建</a:t>
            </a:r>
            <a:r>
              <a:rPr lang="en-US" altLang="zh-CN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Web</a:t>
            </a: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项目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创建</a:t>
            </a:r>
            <a:r>
              <a:rPr lang="en-US" altLang="zh-CN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Servlet</a:t>
            </a: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程序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部署和访问</a:t>
            </a:r>
            <a:r>
              <a:rPr lang="en-US" altLang="zh-CN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Servlet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990652" y="2470759"/>
            <a:ext cx="2422715" cy="3323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  <a:defRPr/>
            </a:pP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学会使用</a:t>
            </a:r>
            <a:r>
              <a:rPr lang="en-US" altLang="zh-CN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Eclipse</a:t>
            </a: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工具开发</a:t>
            </a:r>
            <a:r>
              <a:rPr lang="en-US" altLang="zh-CN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Servlet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标题 1"/>
          <p:cNvSpPr>
            <a:spLocks noChangeArrowheads="1"/>
          </p:cNvSpPr>
          <p:nvPr/>
        </p:nvSpPr>
        <p:spPr bwMode="auto">
          <a:xfrm>
            <a:off x="1643733" y="389681"/>
            <a:ext cx="7536779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28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【</a:t>
            </a:r>
            <a:r>
              <a:rPr lang="zh-CN" altLang="en-US" sz="28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任务</a:t>
            </a:r>
            <a:r>
              <a:rPr lang="en-US" altLang="zh-CN" sz="28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3-1</a:t>
            </a:r>
            <a:r>
              <a:rPr lang="en-US" altLang="zh-CN" sz="28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】</a:t>
            </a:r>
            <a:r>
              <a:rPr lang="zh-CN" altLang="en-US" sz="28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使用</a:t>
            </a:r>
            <a:r>
              <a:rPr lang="en-US" altLang="zh-CN" sz="28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Eclipse</a:t>
            </a:r>
            <a:r>
              <a:rPr lang="zh-CN" altLang="en-US" sz="28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工具开发</a:t>
            </a:r>
            <a:r>
              <a:rPr lang="en-US" altLang="zh-CN" sz="28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Servlet</a:t>
            </a:r>
            <a:endParaRPr lang="zh-CN" altLang="en-US" sz="28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88158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6" grpId="0" animBg="1"/>
      <p:bldP spid="7" grpId="0"/>
      <p:bldP spid="10" grpId="0" animBg="1"/>
      <p:bldP spid="11" grpId="0"/>
      <p:bldP spid="12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6264696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4" name="椭圆 3"/>
          <p:cNvSpPr/>
          <p:nvPr/>
        </p:nvSpPr>
        <p:spPr bwMode="auto">
          <a:xfrm rot="574600">
            <a:off x="1327821" y="3950469"/>
            <a:ext cx="361950" cy="361950"/>
          </a:xfrm>
          <a:prstGeom prst="ellipse">
            <a:avLst/>
          </a:prstGeom>
          <a:solidFill>
            <a:srgbClr val="3BCCF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buFont typeface="Arial" pitchFamily="34" charset="0"/>
              <a:buNone/>
            </a:pPr>
            <a:endParaRPr lang="zh-CN" altLang="en-US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340124" y="3933056"/>
            <a:ext cx="349250" cy="36988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Verdana" pitchFamily="34" charset="0"/>
                <a:ea typeface="宋体" charset="-122"/>
              </a:rPr>
              <a:t>2</a:t>
            </a:r>
            <a:endParaRPr kumimoji="0" lang="zh-CN" altLang="en-US" sz="1800" b="1" i="0" u="none" strike="noStrike" kern="0" cap="none" spc="0" normalizeH="0" baseline="0" noProof="0" dirty="0" smtClean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Verdana" pitchFamily="34" charset="0"/>
              <a:ea typeface="宋体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719064" y="2415197"/>
            <a:ext cx="1152525" cy="345094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任务目标：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1411958" y="4691514"/>
            <a:ext cx="5219700" cy="408623"/>
          </a:xfrm>
          <a:prstGeom prst="roundRect">
            <a:avLst/>
          </a:prstGeom>
          <a:solidFill>
            <a:srgbClr val="0070C0"/>
          </a:solidFill>
          <a:ln>
            <a:solidFill>
              <a:srgbClr val="D6ECFF">
                <a:lumMod val="7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/>
          <a:p>
            <a:pPr lvl="0" algn="ctr">
              <a:defRPr/>
            </a:pPr>
            <a:r>
              <a:rPr lang="zh-CN" altLang="en-US" b="1" kern="0" dirty="0">
                <a:solidFill>
                  <a:sysClr val="window" lastClr="FFFFFF"/>
                </a:solidFill>
                <a:latin typeface="Arial"/>
              </a:rPr>
              <a:t>具体实现步骤（详见教材</a:t>
            </a:r>
            <a:r>
              <a:rPr lang="en-US" altLang="zh-CN" b="1" kern="0" dirty="0">
                <a:solidFill>
                  <a:sysClr val="window" lastClr="FFFFFF"/>
                </a:solidFill>
                <a:latin typeface="Arial"/>
              </a:rPr>
              <a:t>【</a:t>
            </a:r>
            <a:r>
              <a:rPr lang="zh-CN" altLang="en-US" b="1" kern="0" dirty="0">
                <a:solidFill>
                  <a:sysClr val="window" lastClr="FFFFFF"/>
                </a:solidFill>
                <a:latin typeface="Arial"/>
              </a:rPr>
              <a:t>任务</a:t>
            </a:r>
            <a:r>
              <a:rPr lang="en-US" altLang="zh-CN" b="1" kern="0" dirty="0" smtClean="0">
                <a:solidFill>
                  <a:sysClr val="window" lastClr="FFFFFF"/>
                </a:solidFill>
                <a:latin typeface="Arial"/>
              </a:rPr>
              <a:t>3-2】</a:t>
            </a:r>
            <a:r>
              <a:rPr lang="zh-CN" altLang="en-US" b="1" kern="0" dirty="0">
                <a:solidFill>
                  <a:sysClr val="window" lastClr="FFFFFF"/>
                </a:solidFill>
                <a:latin typeface="Arial"/>
              </a:rPr>
              <a:t>）</a:t>
            </a:r>
            <a:endParaRPr lang="en-US" altLang="zh-CN" b="1" kern="0" dirty="0">
              <a:solidFill>
                <a:sysClr val="window" lastClr="FFFFFF"/>
              </a:solidFill>
              <a:latin typeface="Arial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716758" y="3936182"/>
            <a:ext cx="1152525" cy="369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实现步骤：</a:t>
            </a:r>
            <a:r>
              <a:rPr kumimoji="0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itchFamily="34" charset="0"/>
              <a:ea typeface="宋体" pitchFamily="2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1539677" y="2802547"/>
            <a:ext cx="5094287" cy="0"/>
          </a:xfrm>
          <a:prstGeom prst="line">
            <a:avLst/>
          </a:prstGeom>
          <a:solidFill>
            <a:srgbClr val="3BCCFF"/>
          </a:solidFill>
          <a:ln w="12700" cap="flat" cmpd="sng" algn="ctr">
            <a:solidFill>
              <a:srgbClr val="19C3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10" name="直接连接符 9"/>
          <p:cNvCxnSpPr/>
          <p:nvPr/>
        </p:nvCxnSpPr>
        <p:spPr>
          <a:xfrm>
            <a:off x="1474664" y="4306069"/>
            <a:ext cx="5094287" cy="0"/>
          </a:xfrm>
          <a:prstGeom prst="line">
            <a:avLst/>
          </a:prstGeom>
          <a:solidFill>
            <a:srgbClr val="3BCCFF"/>
          </a:solidFill>
          <a:ln w="12700" cap="flat" cmpd="sng" algn="ctr">
            <a:solidFill>
              <a:srgbClr val="19C3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11" name="椭圆 10"/>
          <p:cNvSpPr/>
          <p:nvPr/>
        </p:nvSpPr>
        <p:spPr bwMode="auto">
          <a:xfrm rot="574600">
            <a:off x="1305584" y="2461823"/>
            <a:ext cx="361950" cy="363537"/>
          </a:xfrm>
          <a:prstGeom prst="ellipse">
            <a:avLst/>
          </a:prstGeom>
          <a:solidFill>
            <a:srgbClr val="3BCCFF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eaLnBrk="1" hangingPunct="1">
              <a:buFont typeface="Arial" pitchFamily="34" charset="0"/>
              <a:buNone/>
              <a:defRPr/>
            </a:pPr>
            <a:endParaRPr lang="zh-CN" altLang="en-US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1312728" y="2452503"/>
            <a:ext cx="3476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b="1">
                <a:solidFill>
                  <a:schemeClr val="bg1"/>
                </a:solidFill>
                <a:latin typeface="Verdana" pitchFamily="34" charset="0"/>
              </a:rPr>
              <a:t>1</a:t>
            </a:r>
            <a:endParaRPr lang="zh-CN" altLang="en-US" b="1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988345" y="3356992"/>
            <a:ext cx="3671887" cy="889474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en-US" altLang="zh-CN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Servlet</a:t>
            </a: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的多重映射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en-US" altLang="zh-CN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Servlet</a:t>
            </a: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映射路径中使用通配符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28600" indent="-228600">
              <a:lnSpc>
                <a:spcPct val="130000"/>
              </a:lnSpc>
              <a:spcAft>
                <a:spcPts val="300"/>
              </a:spcAft>
              <a:buFont typeface="+mj-ea"/>
              <a:buAutoNum type="circleNumDbPlain"/>
            </a:pP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缺省</a:t>
            </a:r>
            <a:r>
              <a:rPr lang="en-US" altLang="zh-CN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Servlet</a:t>
            </a:r>
            <a:endParaRPr lang="en-US" altLang="zh-CN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610086" y="2470759"/>
            <a:ext cx="4122154" cy="3323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  <a:defRPr/>
            </a:pPr>
            <a:r>
              <a:rPr lang="zh-CN" altLang="zh-CN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实现</a:t>
            </a:r>
            <a:r>
              <a:rPr lang="en-US" altLang="zh-CN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Servlet</a:t>
            </a: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虚拟路径的映射，并解决映射</a:t>
            </a:r>
            <a:r>
              <a:rPr lang="en-US" altLang="zh-CN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Servlet</a:t>
            </a:r>
            <a:r>
              <a:rPr lang="zh-CN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时的问题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标题 1"/>
          <p:cNvSpPr>
            <a:spLocks noChangeArrowheads="1"/>
          </p:cNvSpPr>
          <p:nvPr/>
        </p:nvSpPr>
        <p:spPr bwMode="auto">
          <a:xfrm>
            <a:off x="1643733" y="389681"/>
            <a:ext cx="7500267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28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【</a:t>
            </a:r>
            <a:r>
              <a:rPr lang="zh-CN" altLang="en-US" sz="28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任务</a:t>
            </a:r>
            <a:r>
              <a:rPr lang="en-US" altLang="zh-CN" sz="28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3-2</a:t>
            </a:r>
            <a:r>
              <a:rPr lang="en-US" altLang="zh-CN" sz="28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】</a:t>
            </a:r>
            <a:r>
              <a:rPr lang="zh-CN" altLang="en-US" sz="28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实现</a:t>
            </a:r>
            <a:r>
              <a:rPr lang="en-US" altLang="zh-CN" sz="28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Servlet</a:t>
            </a:r>
            <a:r>
              <a:rPr lang="zh-CN" altLang="en-US" sz="28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虚拟路径的映射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2550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/>
      <p:bldP spid="11" grpId="0" animBg="1"/>
      <p:bldP spid="12" grpId="0"/>
      <p:bldP spid="13" grpId="0"/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角圆角矩形 1"/>
          <p:cNvSpPr/>
          <p:nvPr/>
        </p:nvSpPr>
        <p:spPr>
          <a:xfrm>
            <a:off x="539552" y="4005064"/>
            <a:ext cx="5544616" cy="648072"/>
          </a:xfrm>
          <a:prstGeom prst="round2DiagRect">
            <a:avLst>
              <a:gd name="adj1" fmla="val 20943"/>
              <a:gd name="adj2" fmla="val 0"/>
            </a:avLst>
          </a:prstGeom>
          <a:solidFill>
            <a:srgbClr val="006BA9"/>
          </a:solidFill>
          <a:ln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" name="TextBox 6"/>
          <p:cNvSpPr txBox="1"/>
          <p:nvPr/>
        </p:nvSpPr>
        <p:spPr>
          <a:xfrm>
            <a:off x="881716" y="1979548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3.1    Servlet</a:t>
            </a:r>
            <a:r>
              <a:rPr lang="zh-CN" altLang="en-US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概述 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5" name="TextBox 10"/>
          <p:cNvSpPr txBox="1"/>
          <p:nvPr/>
        </p:nvSpPr>
        <p:spPr>
          <a:xfrm>
            <a:off x="881716" y="2723631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3.2    Servlet</a:t>
            </a:r>
            <a:r>
              <a:rPr lang="zh-CN" altLang="en-US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开发入门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6" name="TextBox 11"/>
          <p:cNvSpPr txBox="1"/>
          <p:nvPr/>
        </p:nvSpPr>
        <p:spPr>
          <a:xfrm>
            <a:off x="881716" y="3467714"/>
            <a:ext cx="3834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3.3    Servlet</a:t>
            </a:r>
            <a:r>
              <a:rPr lang="zh-CN" altLang="en-US" sz="2400">
                <a:solidFill>
                  <a:srgbClr val="7F7F7F"/>
                </a:solidFill>
                <a:latin typeface="Impact" pitchFamily="34" charset="0"/>
                <a:ea typeface="微软雅黑" pitchFamily="34" charset="-122"/>
              </a:rPr>
              <a:t>应用</a:t>
            </a:r>
            <a:endParaRPr lang="zh-CN" altLang="en-US" sz="2400" dirty="0">
              <a:solidFill>
                <a:srgbClr val="7F7F7F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5220072" y="1484784"/>
            <a:ext cx="3444382" cy="3444382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381000">
            <a:solidFill>
              <a:srgbClr val="006B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TextBox 1"/>
          <p:cNvSpPr txBox="1"/>
          <p:nvPr/>
        </p:nvSpPr>
        <p:spPr>
          <a:xfrm>
            <a:off x="5182106" y="2264870"/>
            <a:ext cx="3566358" cy="18312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b="1" smtClean="0">
                <a:solidFill>
                  <a:srgbClr val="F2F2E6"/>
                </a:solidFill>
                <a:latin typeface="微软雅黑" pitchFamily="34" charset="-122"/>
                <a:ea typeface="微软雅黑" pitchFamily="34" charset="-122"/>
              </a:rPr>
              <a:t>主讲内容</a:t>
            </a:r>
            <a:endParaRPr lang="en-US" altLang="zh-CN" sz="5400" b="1" dirty="0" smtClean="0">
              <a:solidFill>
                <a:srgbClr val="F2F2E6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en-US" altLang="zh-CN" sz="3200" smtClean="0">
                <a:solidFill>
                  <a:srgbClr val="F2F2E6"/>
                </a:solidFill>
                <a:latin typeface="Times New Roman" panose="02020603050405020304" pitchFamily="18" charset="0"/>
                <a:ea typeface="Adobe 宋体 Std L" pitchFamily="18" charset="-122"/>
                <a:cs typeface="Times New Roman" panose="02020603050405020304" pitchFamily="18" charset="0"/>
              </a:rPr>
              <a:t>Speech content</a:t>
            </a:r>
            <a:endParaRPr lang="en-US" altLang="zh-CN" sz="3200" dirty="0" smtClean="0">
              <a:solidFill>
                <a:srgbClr val="F2F2E6"/>
              </a:solidFill>
              <a:latin typeface="Times New Roman" panose="02020603050405020304" pitchFamily="18" charset="0"/>
              <a:ea typeface="Adobe 宋体 Std L" pitchFamily="18" charset="-122"/>
              <a:cs typeface="Times New Roman" panose="02020603050405020304" pitchFamily="18" charset="0"/>
            </a:endParaRPr>
          </a:p>
        </p:txBody>
      </p:sp>
      <p:sp>
        <p:nvSpPr>
          <p:cNvPr id="8" name="TextBox 11"/>
          <p:cNvSpPr txBox="1"/>
          <p:nvPr/>
        </p:nvSpPr>
        <p:spPr>
          <a:xfrm>
            <a:off x="899592" y="4139788"/>
            <a:ext cx="5346468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3.4    </a:t>
            </a:r>
            <a:r>
              <a:rPr lang="en-US" altLang="zh-CN" sz="2400" dirty="0" err="1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ServletConfig</a:t>
            </a:r>
            <a:r>
              <a:rPr lang="zh-CN" altLang="en-US" sz="2400" dirty="0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和</a:t>
            </a:r>
            <a:r>
              <a:rPr lang="en-US" altLang="zh-CN" sz="2400" dirty="0" err="1" smtClean="0">
                <a:solidFill>
                  <a:schemeClr val="bg1"/>
                </a:solidFill>
                <a:latin typeface="Impact" pitchFamily="34" charset="0"/>
                <a:ea typeface="微软雅黑" pitchFamily="34" charset="-122"/>
              </a:rPr>
              <a:t>ServletContext</a:t>
            </a:r>
            <a:endParaRPr lang="zh-CN" altLang="en-US" sz="2400" dirty="0">
              <a:solidFill>
                <a:schemeClr val="bg1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11" name="标题 1"/>
          <p:cNvSpPr>
            <a:spLocks noChangeArrowheads="1"/>
          </p:cNvSpPr>
          <p:nvPr/>
        </p:nvSpPr>
        <p:spPr bwMode="auto">
          <a:xfrm>
            <a:off x="1643733" y="389681"/>
            <a:ext cx="624123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dirty="0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主讲内容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81930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TextBox 20"/>
          <p:cNvSpPr txBox="1">
            <a:spLocks noChangeArrowheads="1"/>
          </p:cNvSpPr>
          <p:nvPr/>
        </p:nvSpPr>
        <p:spPr bwMode="auto">
          <a:xfrm>
            <a:off x="1306513" y="1404715"/>
            <a:ext cx="48006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zh-CN" altLang="en-US" sz="2200" b="1">
                <a:solidFill>
                  <a:srgbClr val="0066A1"/>
                </a:solidFill>
                <a:latin typeface="微软雅黑" pitchFamily="34" charset="-122"/>
                <a:ea typeface="微软雅黑" pitchFamily="34" charset="-122"/>
              </a:rPr>
              <a:t>如何获取</a:t>
            </a:r>
            <a:r>
              <a:rPr lang="en-US" altLang="zh-CN" sz="2200" b="1">
                <a:solidFill>
                  <a:srgbClr val="0066A1"/>
                </a:solidFill>
                <a:latin typeface="微软雅黑" pitchFamily="34" charset="-122"/>
                <a:ea typeface="微软雅黑" pitchFamily="34" charset="-122"/>
              </a:rPr>
              <a:t>Servlet</a:t>
            </a:r>
            <a:r>
              <a:rPr lang="zh-CN" altLang="en-US" sz="2200" b="1">
                <a:solidFill>
                  <a:srgbClr val="0066A1"/>
                </a:solidFill>
                <a:latin typeface="微软雅黑" pitchFamily="34" charset="-122"/>
                <a:ea typeface="微软雅黑" pitchFamily="34" charset="-122"/>
              </a:rPr>
              <a:t>的配置信息呢？</a:t>
            </a:r>
          </a:p>
        </p:txBody>
      </p:sp>
      <p:pic>
        <p:nvPicPr>
          <p:cNvPr id="4" name="Picture 2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413" y="1196752"/>
            <a:ext cx="654050" cy="879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ACE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/>
          <p:nvPr/>
        </p:nvSpPr>
        <p:spPr>
          <a:xfrm>
            <a:off x="793850" y="2114227"/>
            <a:ext cx="1185862" cy="255428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2000" b="1" dirty="0">
                <a:solidFill>
                  <a:srgbClr val="0066A1"/>
                </a:solidFill>
                <a:latin typeface="微软雅黑" pitchFamily="34" charset="-122"/>
                <a:ea typeface="微软雅黑" pitchFamily="34" charset="-122"/>
              </a:rPr>
              <a:t>这</a:t>
            </a:r>
            <a:endParaRPr lang="en-US" altLang="zh-CN" sz="2000" b="1" dirty="0">
              <a:solidFill>
                <a:srgbClr val="0066A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defRPr/>
            </a:pPr>
            <a:r>
              <a:rPr lang="zh-CN" altLang="en-US" sz="2000" b="1" dirty="0">
                <a:solidFill>
                  <a:srgbClr val="0066A1"/>
                </a:solidFill>
                <a:latin typeface="微软雅黑" pitchFamily="34" charset="-122"/>
                <a:ea typeface="微软雅黑" pitchFamily="34" charset="-122"/>
              </a:rPr>
              <a:t>是</a:t>
            </a:r>
            <a:endParaRPr lang="en-US" altLang="zh-CN" sz="2000" b="1" dirty="0">
              <a:solidFill>
                <a:srgbClr val="0066A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defRPr/>
            </a:pPr>
            <a:r>
              <a:rPr lang="zh-CN" altLang="en-US" sz="2000" b="1" dirty="0">
                <a:solidFill>
                  <a:srgbClr val="0066A1"/>
                </a:solidFill>
                <a:latin typeface="微软雅黑" pitchFamily="34" charset="-122"/>
                <a:ea typeface="微软雅黑" pitchFamily="34" charset="-122"/>
              </a:rPr>
              <a:t>一</a:t>
            </a:r>
            <a:endParaRPr lang="en-US" altLang="zh-CN" sz="2000" b="1" dirty="0">
              <a:solidFill>
                <a:srgbClr val="0066A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defRPr/>
            </a:pPr>
            <a:r>
              <a:rPr lang="zh-CN" altLang="en-US" sz="2000" b="1" dirty="0">
                <a:solidFill>
                  <a:srgbClr val="0066A1"/>
                </a:solidFill>
                <a:latin typeface="微软雅黑" pitchFamily="34" charset="-122"/>
                <a:ea typeface="微软雅黑" pitchFamily="34" charset="-122"/>
              </a:rPr>
              <a:t>个</a:t>
            </a:r>
            <a:r>
              <a:rPr lang="en-US" altLang="zh-CN" sz="2000" b="1" dirty="0">
                <a:solidFill>
                  <a:srgbClr val="0066A1"/>
                </a:solidFill>
                <a:latin typeface="微软雅黑" pitchFamily="34" charset="-122"/>
                <a:ea typeface="微软雅黑" pitchFamily="34" charset="-122"/>
              </a:rPr>
              <a:t>Servlet</a:t>
            </a:r>
            <a:r>
              <a:rPr lang="zh-CN" altLang="en-US" sz="2000" b="1" dirty="0">
                <a:solidFill>
                  <a:srgbClr val="0066A1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endParaRPr lang="en-US" altLang="zh-CN" sz="2000" b="1" dirty="0">
              <a:solidFill>
                <a:srgbClr val="0066A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defRPr/>
            </a:pPr>
            <a:r>
              <a:rPr lang="zh-CN" altLang="en-US" sz="2000" b="1" dirty="0">
                <a:solidFill>
                  <a:srgbClr val="0066A1"/>
                </a:solidFill>
                <a:latin typeface="微软雅黑" pitchFamily="34" charset="-122"/>
                <a:ea typeface="微软雅黑" pitchFamily="34" charset="-122"/>
              </a:rPr>
              <a:t>配</a:t>
            </a:r>
            <a:endParaRPr lang="en-US" altLang="zh-CN" sz="2000" b="1" dirty="0">
              <a:solidFill>
                <a:srgbClr val="0066A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defRPr/>
            </a:pPr>
            <a:r>
              <a:rPr lang="zh-CN" altLang="en-US" sz="2000" b="1" dirty="0">
                <a:solidFill>
                  <a:srgbClr val="0066A1"/>
                </a:solidFill>
                <a:latin typeface="微软雅黑" pitchFamily="34" charset="-122"/>
                <a:ea typeface="微软雅黑" pitchFamily="34" charset="-122"/>
              </a:rPr>
              <a:t>置</a:t>
            </a:r>
          </a:p>
        </p:txBody>
      </p: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1176338" y="4729560"/>
            <a:ext cx="6362700" cy="1092200"/>
            <a:chOff x="1306511" y="5040006"/>
            <a:chExt cx="6362700" cy="1092200"/>
          </a:xfrm>
        </p:grpSpPr>
        <p:grpSp>
          <p:nvGrpSpPr>
            <p:cNvPr id="8" name="组合 4"/>
            <p:cNvGrpSpPr>
              <a:grpSpLocks/>
            </p:cNvGrpSpPr>
            <p:nvPr/>
          </p:nvGrpSpPr>
          <p:grpSpPr bwMode="auto">
            <a:xfrm>
              <a:off x="1306511" y="5040006"/>
              <a:ext cx="6362700" cy="1092200"/>
              <a:chOff x="1333694" y="5170520"/>
              <a:chExt cx="6362175" cy="1091607"/>
            </a:xfrm>
          </p:grpSpPr>
          <p:cxnSp>
            <p:nvCxnSpPr>
              <p:cNvPr id="10" name="直接连接符 9"/>
              <p:cNvCxnSpPr/>
              <p:nvPr/>
            </p:nvCxnSpPr>
            <p:spPr>
              <a:xfrm>
                <a:off x="1333694" y="5332357"/>
                <a:ext cx="6362175" cy="7933"/>
              </a:xfrm>
              <a:prstGeom prst="line">
                <a:avLst/>
              </a:prstGeom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/>
              <p:nvPr/>
            </p:nvCxnSpPr>
            <p:spPr>
              <a:xfrm>
                <a:off x="1373378" y="6262127"/>
                <a:ext cx="6322491" cy="0"/>
              </a:xfrm>
              <a:prstGeom prst="line">
                <a:avLst/>
              </a:prstGeom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2" name="矩形 24"/>
              <p:cNvSpPr>
                <a:spLocks noChangeArrowheads="1"/>
              </p:cNvSpPr>
              <p:nvPr/>
            </p:nvSpPr>
            <p:spPr bwMode="auto">
              <a:xfrm>
                <a:off x="4056718" y="5170520"/>
                <a:ext cx="1230313" cy="3698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altLang="zh-CN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</a:rPr>
                  <a:t>【</a:t>
                </a:r>
                <a:r>
                  <a:rPr lang="zh-CN" altLang="en-US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</a:rPr>
                  <a:t>结论</a:t>
                </a:r>
                <a:r>
                  <a:rPr lang="en-US" altLang="zh-CN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</a:rPr>
                  <a:t>】</a:t>
                </a:r>
                <a:endParaRPr lang="zh-CN" altLang="en-US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9" name="矩形 1"/>
            <p:cNvSpPr>
              <a:spLocks noChangeArrowheads="1"/>
            </p:cNvSpPr>
            <p:nvPr/>
          </p:nvSpPr>
          <p:spPr bwMode="auto">
            <a:xfrm>
              <a:off x="1420697" y="5341497"/>
              <a:ext cx="6248514" cy="784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/>
                <a:t>Servlet</a:t>
              </a:r>
              <a:r>
                <a:rPr lang="zh-CN" altLang="zh-CN" sz="1400"/>
                <a:t>的配置信息封装到一</a:t>
              </a:r>
              <a:r>
                <a:rPr lang="zh-CN" altLang="zh-CN" sz="1600">
                  <a:solidFill>
                    <a:srgbClr val="01598B"/>
                  </a:solidFill>
                </a:rPr>
                <a:t>个</a:t>
              </a:r>
              <a:r>
                <a:rPr lang="en-US" altLang="zh-CN" sz="1600" b="1">
                  <a:solidFill>
                    <a:srgbClr val="FF0000"/>
                  </a:solidFill>
                </a:rPr>
                <a:t>ServletConfig</a:t>
              </a:r>
              <a:r>
                <a:rPr lang="zh-CN" altLang="zh-CN" sz="1400"/>
                <a:t>对象中，</a:t>
              </a:r>
              <a:r>
                <a:rPr lang="en-US" altLang="zh-CN" sz="1400"/>
                <a:t>ServletConfig</a:t>
              </a:r>
              <a:r>
                <a:rPr lang="zh-CN" altLang="zh-CN" sz="1400"/>
                <a:t>定义了一系列获取配置信息的方法</a:t>
              </a:r>
              <a:r>
                <a:rPr lang="zh-CN" altLang="en-US" sz="1400"/>
                <a:t>。</a:t>
              </a:r>
            </a:p>
          </p:txBody>
        </p:sp>
      </p:grp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7546" y="1909316"/>
            <a:ext cx="5238750" cy="278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标题 1"/>
          <p:cNvSpPr>
            <a:spLocks noChangeArrowheads="1"/>
          </p:cNvSpPr>
          <p:nvPr/>
        </p:nvSpPr>
        <p:spPr bwMode="auto">
          <a:xfrm>
            <a:off x="1643733" y="389681"/>
            <a:ext cx="624123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3.4.1  </a:t>
            </a:r>
            <a:r>
              <a:rPr lang="en-US" altLang="zh-CN" sz="3200" b="1" dirty="0" err="1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ServletConfig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接口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03398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ChangeArrowheads="1"/>
          </p:cNvSpPr>
          <p:nvPr/>
        </p:nvSpPr>
        <p:spPr bwMode="grayWhite">
          <a:xfrm>
            <a:off x="611560" y="2348880"/>
            <a:ext cx="8136904" cy="3174504"/>
          </a:xfrm>
          <a:prstGeom prst="roundRect">
            <a:avLst>
              <a:gd name="adj" fmla="val 9583"/>
            </a:avLst>
          </a:prstGeom>
          <a:gradFill rotWithShape="1">
            <a:gsLst>
              <a:gs pos="0">
                <a:srgbClr val="5E9EFF"/>
              </a:gs>
              <a:gs pos="39999">
                <a:srgbClr val="85C2FF"/>
              </a:gs>
              <a:gs pos="0">
                <a:srgbClr val="C4D6EB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 w="19050">
            <a:solidFill>
              <a:srgbClr val="FFFFFF"/>
            </a:solidFill>
            <a:round/>
            <a:headEnd/>
            <a:tailEnd/>
          </a:ln>
          <a:effectLst>
            <a:outerShdw dist="107763" dir="2700000" algn="ctr" rotWithShape="0">
              <a:srgbClr val="C0C0C0">
                <a:alpha val="50000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zh-CN" altLang="en-US">
              <a:solidFill>
                <a:prstClr val="black"/>
              </a:solidFill>
              <a:latin typeface="Arial" charset="0"/>
            </a:endParaRPr>
          </a:p>
        </p:txBody>
      </p: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1331640" y="3106316"/>
            <a:ext cx="6480175" cy="228600"/>
            <a:chOff x="1392" y="1848"/>
            <a:chExt cx="4082" cy="144"/>
          </a:xfrm>
        </p:grpSpPr>
        <p:sp>
          <p:nvSpPr>
            <p:cNvPr id="4" name="Line 8"/>
            <p:cNvSpPr>
              <a:spLocks noChangeShapeType="1"/>
            </p:cNvSpPr>
            <p:nvPr/>
          </p:nvSpPr>
          <p:spPr bwMode="auto">
            <a:xfrm>
              <a:off x="1536" y="1920"/>
              <a:ext cx="3938" cy="0"/>
            </a:xfrm>
            <a:prstGeom prst="line">
              <a:avLst/>
            </a:prstGeom>
            <a:noFill/>
            <a:ln w="12700" cap="rnd">
              <a:solidFill>
                <a:srgbClr val="FFFF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5" name="Oval 9"/>
            <p:cNvSpPr>
              <a:spLocks noChangeArrowheads="1"/>
            </p:cNvSpPr>
            <p:nvPr/>
          </p:nvSpPr>
          <p:spPr bwMode="gray">
            <a:xfrm>
              <a:off x="1392" y="1848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DCDC48"/>
                </a:gs>
                <a:gs pos="100000">
                  <a:srgbClr val="939330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6" name="Group 15"/>
          <p:cNvGrpSpPr>
            <a:grpSpLocks/>
          </p:cNvGrpSpPr>
          <p:nvPr/>
        </p:nvGrpSpPr>
        <p:grpSpPr bwMode="auto">
          <a:xfrm>
            <a:off x="1331640" y="3812754"/>
            <a:ext cx="6480175" cy="228600"/>
            <a:chOff x="1392" y="2439"/>
            <a:chExt cx="4082" cy="144"/>
          </a:xfrm>
        </p:grpSpPr>
        <p:sp>
          <p:nvSpPr>
            <p:cNvPr id="7" name="Line 16"/>
            <p:cNvSpPr>
              <a:spLocks noChangeShapeType="1"/>
            </p:cNvSpPr>
            <p:nvPr/>
          </p:nvSpPr>
          <p:spPr bwMode="auto">
            <a:xfrm>
              <a:off x="1536" y="2511"/>
              <a:ext cx="3938" cy="6"/>
            </a:xfrm>
            <a:prstGeom prst="line">
              <a:avLst/>
            </a:prstGeom>
            <a:noFill/>
            <a:ln w="12700" cap="rnd">
              <a:solidFill>
                <a:srgbClr val="FFFF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8" name="Oval 17"/>
            <p:cNvSpPr>
              <a:spLocks noChangeArrowheads="1"/>
            </p:cNvSpPr>
            <p:nvPr/>
          </p:nvSpPr>
          <p:spPr bwMode="gray">
            <a:xfrm>
              <a:off x="1392" y="2439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FCC704"/>
                </a:gs>
                <a:gs pos="100000">
                  <a:srgbClr val="A88503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9" name="Group 19"/>
          <p:cNvGrpSpPr>
            <a:grpSpLocks/>
          </p:cNvGrpSpPr>
          <p:nvPr/>
        </p:nvGrpSpPr>
        <p:grpSpPr bwMode="auto">
          <a:xfrm>
            <a:off x="1331640" y="4406255"/>
            <a:ext cx="6480175" cy="228600"/>
            <a:chOff x="1392" y="2775"/>
            <a:chExt cx="4082" cy="144"/>
          </a:xfrm>
        </p:grpSpPr>
        <p:sp>
          <p:nvSpPr>
            <p:cNvPr id="10" name="Line 20"/>
            <p:cNvSpPr>
              <a:spLocks noChangeShapeType="1"/>
            </p:cNvSpPr>
            <p:nvPr/>
          </p:nvSpPr>
          <p:spPr bwMode="auto">
            <a:xfrm flipV="1">
              <a:off x="1536" y="2826"/>
              <a:ext cx="3938" cy="21"/>
            </a:xfrm>
            <a:prstGeom prst="line">
              <a:avLst/>
            </a:prstGeom>
            <a:noFill/>
            <a:ln w="12700" cap="rnd">
              <a:solidFill>
                <a:srgbClr val="FFFF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1" name="Oval 21"/>
            <p:cNvSpPr>
              <a:spLocks noChangeArrowheads="1"/>
            </p:cNvSpPr>
            <p:nvPr/>
          </p:nvSpPr>
          <p:spPr bwMode="gray">
            <a:xfrm>
              <a:off x="1392" y="2775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66C5F4"/>
                </a:gs>
                <a:gs pos="100000">
                  <a:srgbClr val="4483A3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1619672" y="2850729"/>
            <a:ext cx="325121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 getInitParameter(String name)</a:t>
            </a:r>
            <a:endParaRPr lang="zh-CN" altLang="en-US" sz="160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1619672" y="3507160"/>
            <a:ext cx="635711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160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Enumeration getInitParameterNames()</a:t>
            </a:r>
            <a:endParaRPr lang="zh-CN" altLang="en-US" sz="160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1619672" y="4149080"/>
            <a:ext cx="662714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1600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ServletContext getServletContext()</a:t>
            </a:r>
            <a:endParaRPr lang="zh-CN" altLang="en-US" sz="160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7584" y="1841798"/>
            <a:ext cx="58144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Calibri" panose="020F0502020204030204" pitchFamily="34" charset="0"/>
              <a:buChar char="–"/>
            </a:pPr>
            <a:r>
              <a:rPr lang="en-US" altLang="zh-CN" sz="2000" dirty="0" err="1" smtClean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ServletConfig</a:t>
            </a:r>
            <a:r>
              <a:rPr lang="zh-CN" altLang="en-US" sz="2000" dirty="0" smtClean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接口中定义的获取配置信息的方法</a:t>
            </a:r>
            <a:endParaRPr lang="zh-CN" altLang="en-US" sz="2000" dirty="0">
              <a:solidFill>
                <a:srgbClr val="0066A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Group 3"/>
          <p:cNvGrpSpPr>
            <a:grpSpLocks/>
          </p:cNvGrpSpPr>
          <p:nvPr/>
        </p:nvGrpSpPr>
        <p:grpSpPr bwMode="auto">
          <a:xfrm>
            <a:off x="1331640" y="4982319"/>
            <a:ext cx="6480175" cy="228600"/>
            <a:chOff x="1392" y="1536"/>
            <a:chExt cx="4082" cy="144"/>
          </a:xfrm>
        </p:grpSpPr>
        <p:sp>
          <p:nvSpPr>
            <p:cNvPr id="18" name="Line 4"/>
            <p:cNvSpPr>
              <a:spLocks noChangeShapeType="1"/>
            </p:cNvSpPr>
            <p:nvPr/>
          </p:nvSpPr>
          <p:spPr bwMode="auto">
            <a:xfrm>
              <a:off x="1536" y="1608"/>
              <a:ext cx="3938" cy="0"/>
            </a:xfrm>
            <a:prstGeom prst="line">
              <a:avLst/>
            </a:prstGeom>
            <a:noFill/>
            <a:ln w="12700" cap="rnd">
              <a:solidFill>
                <a:srgbClr val="FFFFFF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Oval 5"/>
            <p:cNvSpPr>
              <a:spLocks noChangeArrowheads="1"/>
            </p:cNvSpPr>
            <p:nvPr/>
          </p:nvSpPr>
          <p:spPr bwMode="gray">
            <a:xfrm>
              <a:off x="1392" y="1536"/>
              <a:ext cx="144" cy="144"/>
            </a:xfrm>
            <a:prstGeom prst="ellipse">
              <a:avLst/>
            </a:prstGeom>
            <a:gradFill rotWithShape="1">
              <a:gsLst>
                <a:gs pos="0">
                  <a:srgbClr val="E96E29"/>
                </a:gs>
                <a:gs pos="100000">
                  <a:srgbClr val="9B491B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" name="矩形 19"/>
          <p:cNvSpPr>
            <a:spLocks noChangeArrowheads="1"/>
          </p:cNvSpPr>
          <p:nvPr/>
        </p:nvSpPr>
        <p:spPr bwMode="auto">
          <a:xfrm>
            <a:off x="1619672" y="4725144"/>
            <a:ext cx="22028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 getServletName()</a:t>
            </a:r>
            <a:endParaRPr lang="zh-CN" altLang="en-US" sz="16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标题 1"/>
          <p:cNvSpPr>
            <a:spLocks noChangeArrowheads="1"/>
          </p:cNvSpPr>
          <p:nvPr/>
        </p:nvSpPr>
        <p:spPr bwMode="auto">
          <a:xfrm>
            <a:off x="1643733" y="389681"/>
            <a:ext cx="624123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3.4.1  </a:t>
            </a:r>
            <a:r>
              <a:rPr lang="en-US" altLang="zh-CN" sz="3200" b="1" dirty="0" err="1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ServletConfig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接口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25667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/>
      <p:bldP spid="13" grpId="0"/>
      <p:bldP spid="14" grpId="0"/>
      <p:bldP spid="16" grpId="0"/>
      <p:bldP spid="2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ChangeArrowheads="1"/>
          </p:cNvSpPr>
          <p:nvPr/>
        </p:nvSpPr>
        <p:spPr bwMode="auto">
          <a:xfrm>
            <a:off x="251520" y="923156"/>
            <a:ext cx="494449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endParaRPr lang="zh-CN" altLang="en-US" sz="24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487362" y="1124744"/>
            <a:ext cx="8405117" cy="784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600" b="1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1600" b="1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Servlet</a:t>
            </a:r>
            <a:r>
              <a:rPr lang="zh-CN" altLang="zh-CN" sz="1600" b="1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容器启动时，会为每个</a:t>
            </a:r>
            <a:r>
              <a:rPr lang="en-US" altLang="zh-CN" sz="1600" b="1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zh-CN" altLang="zh-CN" sz="1600" b="1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应用创建一个唯一的</a:t>
            </a:r>
            <a:r>
              <a:rPr lang="en-US" altLang="zh-CN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ServletContext</a:t>
            </a:r>
            <a:r>
              <a:rPr lang="zh-CN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对象</a:t>
            </a:r>
            <a:r>
              <a:rPr lang="zh-CN" altLang="zh-CN" sz="1600" b="1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代表当前</a:t>
            </a:r>
            <a:r>
              <a:rPr lang="en-US" altLang="zh-CN" sz="1600" b="1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zh-CN" altLang="zh-CN" sz="1600" b="1" dirty="0" smtClean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应用</a:t>
            </a:r>
            <a:r>
              <a:rPr lang="zh-CN" altLang="zh-CN" sz="1600" b="1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，该对象不仅封装了当前</a:t>
            </a:r>
            <a:r>
              <a:rPr lang="en-US" altLang="zh-CN" sz="1600" b="1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zh-CN" altLang="zh-CN" sz="1600" b="1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应用的所有信息，而且实现了多个</a:t>
            </a:r>
            <a:r>
              <a:rPr lang="en-US" altLang="zh-CN" sz="1600" b="1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Servlet</a:t>
            </a:r>
            <a:r>
              <a:rPr lang="zh-CN" altLang="zh-CN" sz="1600" b="1" dirty="0">
                <a:solidFill>
                  <a:srgbClr val="0066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之间数据的共享。</a:t>
            </a:r>
            <a:endParaRPr lang="zh-CN" altLang="en-US" sz="1600" b="1" dirty="0">
              <a:solidFill>
                <a:srgbClr val="0066A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671513" y="2156276"/>
            <a:ext cx="7515225" cy="3713162"/>
            <a:chOff x="671513" y="2398713"/>
            <a:chExt cx="7991475" cy="3983037"/>
          </a:xfrm>
        </p:grpSpPr>
        <p:grpSp>
          <p:nvGrpSpPr>
            <p:cNvPr id="5" name="组合 4"/>
            <p:cNvGrpSpPr>
              <a:grpSpLocks/>
            </p:cNvGrpSpPr>
            <p:nvPr/>
          </p:nvGrpSpPr>
          <p:grpSpPr bwMode="auto">
            <a:xfrm>
              <a:off x="671513" y="2398713"/>
              <a:ext cx="7991475" cy="3983037"/>
              <a:chOff x="671513" y="2398944"/>
              <a:chExt cx="7991475" cy="3983037"/>
            </a:xfrm>
          </p:grpSpPr>
          <p:sp>
            <p:nvSpPr>
              <p:cNvPr id="8" name="圆角矩形 7"/>
              <p:cNvSpPr/>
              <p:nvPr/>
            </p:nvSpPr>
            <p:spPr>
              <a:xfrm>
                <a:off x="671513" y="2398944"/>
                <a:ext cx="7991475" cy="2808049"/>
              </a:xfrm>
              <a:prstGeom prst="roundRect">
                <a:avLst>
                  <a:gd name="adj" fmla="val 3057"/>
                </a:avLst>
              </a:prstGeom>
              <a:noFill/>
              <a:ln w="25400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lvl="2" algn="ctr" fontAlgn="ctr"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ct val="70000"/>
                  <a:tabLst>
                    <a:tab pos="136525" algn="l"/>
                  </a:tabLst>
                  <a:defRPr/>
                </a:pPr>
                <a:endParaRPr lang="zh-CN" altLang="en-US" sz="16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" name="圆角矩形 8"/>
              <p:cNvSpPr/>
              <p:nvPr/>
            </p:nvSpPr>
            <p:spPr>
              <a:xfrm>
                <a:off x="3619344" y="2603732"/>
                <a:ext cx="1980000" cy="46800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90000">
                    <a:srgbClr val="009ED6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225425" dist="38100" dir="5220000" algn="ctr">
                  <a:srgbClr val="000000">
                    <a:alpha val="33000"/>
                  </a:srgbClr>
                </a:outerShdw>
              </a:effectLst>
              <a:scene3d>
                <a:camera prst="orthographicFront"/>
                <a:lightRig rig="flat" dir="t"/>
              </a:scene3d>
              <a:sp3d extrusionH="304800" contourW="19050">
                <a:bevelT prst="convex"/>
                <a:bevelB w="0" h="0"/>
                <a:contourClr>
                  <a:schemeClr val="bg1"/>
                </a:contourClr>
              </a:sp3d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anchor="ctr">
                <a:sp3d/>
              </a:bodyPr>
              <a:lstStyle/>
              <a:p>
                <a:pPr algn="ctr" fontAlgn="ctr"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ct val="70000"/>
                  <a:buFont typeface="Wingdings" pitchFamily="2" charset="2"/>
                  <a:buChar char="u"/>
                  <a:defRPr/>
                </a:pPr>
                <a:endParaRPr lang="zh-CN" altLang="en-US" sz="16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0" name="圆角矩形 9"/>
              <p:cNvSpPr/>
              <p:nvPr/>
            </p:nvSpPr>
            <p:spPr>
              <a:xfrm>
                <a:off x="6206176" y="2603732"/>
                <a:ext cx="1980000" cy="46800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bg1"/>
                  </a:gs>
                  <a:gs pos="61000">
                    <a:srgbClr val="009ED6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225425" dist="38100" dir="5220000" algn="ctr">
                  <a:srgbClr val="000000">
                    <a:alpha val="33000"/>
                  </a:srgbClr>
                </a:outerShdw>
              </a:effectLst>
              <a:scene3d>
                <a:camera prst="orthographicFront"/>
                <a:lightRig rig="flat" dir="t"/>
              </a:scene3d>
              <a:sp3d extrusionH="304800" contourW="19050">
                <a:bevelT prst="convex"/>
                <a:bevelB w="0" h="0"/>
                <a:contourClr>
                  <a:schemeClr val="bg1"/>
                </a:contourClr>
              </a:sp3d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anchor="ctr">
                <a:sp3d/>
              </a:bodyPr>
              <a:lstStyle/>
              <a:p>
                <a:pPr algn="ctr" fontAlgn="ctr"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ct val="70000"/>
                  <a:buFont typeface="Wingdings" pitchFamily="2" charset="2"/>
                  <a:buChar char="u"/>
                  <a:defRPr/>
                </a:pPr>
                <a:endParaRPr lang="zh-CN" altLang="en-US" sz="16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1" name="圆角矩形 10"/>
              <p:cNvSpPr/>
              <p:nvPr/>
            </p:nvSpPr>
            <p:spPr bwMode="auto">
              <a:xfrm>
                <a:off x="798513" y="3186599"/>
                <a:ext cx="2448000" cy="1800000"/>
              </a:xfrm>
              <a:prstGeom prst="roundRect">
                <a:avLst>
                  <a:gd name="adj" fmla="val 5869"/>
                </a:avLst>
              </a:prstGeom>
              <a:solidFill>
                <a:schemeClr val="bg1">
                  <a:alpha val="60000"/>
                </a:schemeClr>
              </a:solidFill>
              <a:ln w="38100">
                <a:gradFill>
                  <a:gsLst>
                    <a:gs pos="50000">
                      <a:schemeClr val="bg2">
                        <a:lumMod val="40000"/>
                        <a:lumOff val="60000"/>
                      </a:schemeClr>
                    </a:gs>
                    <a:gs pos="100000">
                      <a:srgbClr val="009ED6"/>
                    </a:gs>
                  </a:gsLst>
                  <a:lin ang="5400000" scaled="0"/>
                </a:gradFill>
              </a:ln>
              <a:effectLst>
                <a:outerShdw blurRad="225425" dist="38100" dir="5220000" algn="ctr">
                  <a:srgbClr val="000000">
                    <a:alpha val="33000"/>
                  </a:srgbClr>
                </a:outerShdw>
              </a:effectLst>
              <a:scene3d>
                <a:camera prst="orthographicFront"/>
                <a:lightRig rig="flat" dir="t"/>
              </a:scene3d>
              <a:sp3d contourW="19050">
                <a:bevelT w="101600" prst="artDeco"/>
                <a:bevelB w="0" h="0"/>
                <a:contourClr>
                  <a:schemeClr val="bg1"/>
                </a:contourClr>
              </a:sp3d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anchor="ctr">
                <a:sp3d/>
              </a:bodyPr>
              <a:lstStyle/>
              <a:p>
                <a:pPr marL="0" lvl="2" algn="ctr" fontAlgn="ctr"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ct val="70000"/>
                  <a:buFont typeface="Wingdings" pitchFamily="2" charset="2"/>
                  <a:buChar char="n"/>
                  <a:tabLst>
                    <a:tab pos="136525" algn="l"/>
                  </a:tabLst>
                  <a:defRPr/>
                </a:pPr>
                <a:endParaRPr lang="zh-CN" altLang="en-US" sz="14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2" name="圆角矩形 11"/>
              <p:cNvSpPr/>
              <p:nvPr/>
            </p:nvSpPr>
            <p:spPr>
              <a:xfrm>
                <a:off x="1032513" y="2603732"/>
                <a:ext cx="2001499" cy="468000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bg2">
                      <a:lumMod val="20000"/>
                      <a:lumOff val="80000"/>
                    </a:schemeClr>
                  </a:gs>
                  <a:gs pos="90000">
                    <a:srgbClr val="009ED6"/>
                  </a:gs>
                </a:gsLst>
                <a:lin ang="2700000" scaled="1"/>
                <a:tileRect/>
              </a:gradFill>
              <a:ln w="25400">
                <a:noFill/>
              </a:ln>
              <a:effectLst>
                <a:outerShdw blurRad="225425" dist="38100" dir="5220000" algn="ctr">
                  <a:srgbClr val="000000">
                    <a:alpha val="33000"/>
                  </a:srgbClr>
                </a:outerShdw>
              </a:effectLst>
              <a:scene3d>
                <a:camera prst="orthographicFront"/>
                <a:lightRig rig="flat" dir="t"/>
              </a:scene3d>
              <a:sp3d extrusionH="304800" contourW="19050">
                <a:bevelT prst="convex"/>
                <a:bevelB w="0" h="0"/>
                <a:contourClr>
                  <a:schemeClr val="bg1"/>
                </a:contourClr>
              </a:sp3d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anchor="ctr">
                <a:sp3d/>
              </a:bodyPr>
              <a:lstStyle/>
              <a:p>
                <a:pPr algn="ctr" fontAlgn="ctr"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ct val="70000"/>
                  <a:buFont typeface="Wingdings" pitchFamily="2" charset="2"/>
                  <a:buChar char="u"/>
                  <a:defRPr/>
                </a:pPr>
                <a:endParaRPr lang="zh-CN" altLang="en-US" sz="16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3" name="矩形 12"/>
              <p:cNvSpPr>
                <a:spLocks noChangeArrowheads="1"/>
              </p:cNvSpPr>
              <p:nvPr/>
            </p:nvSpPr>
            <p:spPr bwMode="auto">
              <a:xfrm>
                <a:off x="1143411" y="2639682"/>
                <a:ext cx="1758204" cy="338554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/>
            </p:spPr>
            <p:txBody>
              <a:bodyPr>
                <a:spAutoFit/>
              </a:bodyPr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1600" dirty="0">
                    <a:solidFill>
                      <a:schemeClr val="bg1"/>
                    </a:solidFill>
                    <a:effectLst>
                      <a:reflection blurRad="6350" stA="50000" endA="300" endPos="50000" dist="60007" dir="5400000" sy="-100000" algn="bl" rotWithShape="0"/>
                    </a:effectLst>
                    <a:latin typeface="微软雅黑" pitchFamily="34" charset="-122"/>
                    <a:ea typeface="微软雅黑" pitchFamily="34" charset="-122"/>
                  </a:rPr>
                  <a:t>No.1</a:t>
                </a:r>
                <a:endParaRPr lang="zh-CN" altLang="en-US" sz="1600" dirty="0">
                  <a:solidFill>
                    <a:schemeClr val="bg1"/>
                  </a:solidFill>
                  <a:effectLst>
                    <a:reflection blurRad="6350" stA="50000" endA="300" endPos="50000" dist="60007" dir="5400000" sy="-100000" algn="bl" rotWithShape="0"/>
                  </a:effectLst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4" name="矩形 13"/>
              <p:cNvSpPr>
                <a:spLocks noChangeArrowheads="1"/>
              </p:cNvSpPr>
              <p:nvPr/>
            </p:nvSpPr>
            <p:spPr bwMode="auto">
              <a:xfrm>
                <a:off x="6317074" y="2639682"/>
                <a:ext cx="1758204" cy="338554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/>
            </p:spPr>
            <p:txBody>
              <a:bodyPr>
                <a:spAutoFit/>
              </a:bodyPr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1600">
                    <a:solidFill>
                      <a:schemeClr val="bg1"/>
                    </a:solidFill>
                    <a:effectLst>
                      <a:reflection blurRad="6350" stA="50000" endA="300" endPos="50000" dist="60007" dir="5400000" sy="-100000" algn="bl" rotWithShape="0"/>
                    </a:effectLst>
                    <a:latin typeface="微软雅黑" pitchFamily="34" charset="-122"/>
                    <a:ea typeface="微软雅黑" pitchFamily="34" charset="-122"/>
                  </a:rPr>
                  <a:t>No.3</a:t>
                </a:r>
                <a:endParaRPr lang="zh-CN" altLang="en-US" sz="1600" dirty="0">
                  <a:solidFill>
                    <a:schemeClr val="bg1"/>
                  </a:solidFill>
                  <a:effectLst>
                    <a:reflection blurRad="6350" stA="50000" endA="300" endPos="50000" dist="60007" dir="5400000" sy="-100000" algn="bl" rotWithShape="0"/>
                  </a:effectLst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5" name="圆角矩形 14"/>
              <p:cNvSpPr/>
              <p:nvPr/>
            </p:nvSpPr>
            <p:spPr bwMode="auto">
              <a:xfrm>
                <a:off x="5972176" y="3186599"/>
                <a:ext cx="2448000" cy="1800000"/>
              </a:xfrm>
              <a:prstGeom prst="roundRect">
                <a:avLst>
                  <a:gd name="adj" fmla="val 5200"/>
                </a:avLst>
              </a:prstGeom>
              <a:solidFill>
                <a:schemeClr val="bg1">
                  <a:alpha val="60000"/>
                </a:schemeClr>
              </a:solidFill>
              <a:ln w="38100">
                <a:gradFill>
                  <a:gsLst>
                    <a:gs pos="50000">
                      <a:schemeClr val="bg1">
                        <a:lumMod val="85000"/>
                      </a:schemeClr>
                    </a:gs>
                    <a:gs pos="100000">
                      <a:srgbClr val="009ED6"/>
                    </a:gs>
                  </a:gsLst>
                  <a:lin ang="5400000" scaled="0"/>
                </a:gradFill>
              </a:ln>
              <a:effectLst>
                <a:outerShdw blurRad="225425" dist="38100" dir="5220000" algn="ctr">
                  <a:srgbClr val="000000">
                    <a:alpha val="33000"/>
                  </a:srgbClr>
                </a:outerShdw>
              </a:effectLst>
              <a:scene3d>
                <a:camera prst="orthographicFront"/>
                <a:lightRig rig="flat" dir="t"/>
              </a:scene3d>
              <a:sp3d contourW="19050">
                <a:bevelT w="101600" prst="artDeco"/>
                <a:bevelB w="0" h="0"/>
                <a:contourClr>
                  <a:schemeClr val="bg1"/>
                </a:contourClr>
              </a:sp3d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anchor="ctr">
                <a:sp3d/>
              </a:bodyPr>
              <a:lstStyle/>
              <a:p>
                <a:pPr marL="0" lvl="2" algn="ctr" fontAlgn="ctr"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ct val="70000"/>
                  <a:buFont typeface="Wingdings" pitchFamily="2" charset="2"/>
                  <a:buChar char="n"/>
                  <a:tabLst>
                    <a:tab pos="136525" algn="l"/>
                  </a:tabLst>
                  <a:defRPr/>
                </a:pPr>
                <a:endParaRPr lang="zh-CN" altLang="en-US" sz="14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6" name="矩形 26"/>
              <p:cNvSpPr>
                <a:spLocks noChangeArrowheads="1"/>
              </p:cNvSpPr>
              <p:nvPr/>
            </p:nvSpPr>
            <p:spPr bwMode="auto">
              <a:xfrm>
                <a:off x="6206176" y="3480031"/>
                <a:ext cx="2091763" cy="6982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zh-CN" altLang="zh-CN" sz="1400" b="1"/>
                  <a:t>读取</a:t>
                </a:r>
                <a:r>
                  <a:rPr lang="en-US" altLang="zh-CN" sz="1400" b="1"/>
                  <a:t>Web</a:t>
                </a:r>
                <a:r>
                  <a:rPr lang="zh-CN" altLang="zh-CN" sz="1400" b="1"/>
                  <a:t>应用下的资源文件</a:t>
                </a:r>
                <a:endParaRPr lang="zh-CN" altLang="en-US" sz="14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7" name="矩形 16"/>
              <p:cNvSpPr>
                <a:spLocks noChangeArrowheads="1"/>
              </p:cNvSpPr>
              <p:nvPr/>
            </p:nvSpPr>
            <p:spPr bwMode="auto">
              <a:xfrm>
                <a:off x="3730242" y="2639682"/>
                <a:ext cx="1758204" cy="338554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/>
            </p:spPr>
            <p:txBody>
              <a:bodyPr>
                <a:spAutoFit/>
              </a:bodyPr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1600" dirty="0">
                    <a:solidFill>
                      <a:schemeClr val="bg1"/>
                    </a:solidFill>
                    <a:effectLst>
                      <a:reflection blurRad="6350" stA="50000" endA="300" endPos="50000" dist="60007" dir="5400000" sy="-100000" algn="bl" rotWithShape="0"/>
                    </a:effectLst>
                    <a:latin typeface="微软雅黑" pitchFamily="34" charset="-122"/>
                    <a:ea typeface="微软雅黑" pitchFamily="34" charset="-122"/>
                  </a:rPr>
                  <a:t>No.2</a:t>
                </a:r>
                <a:endParaRPr lang="zh-CN" altLang="en-US" sz="1600" dirty="0">
                  <a:solidFill>
                    <a:schemeClr val="bg1"/>
                  </a:solidFill>
                  <a:effectLst>
                    <a:reflection blurRad="6350" stA="50000" endA="300" endPos="50000" dist="60007" dir="5400000" sy="-100000" algn="bl" rotWithShape="0"/>
                  </a:effectLst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8" name="圆角矩形 17"/>
              <p:cNvSpPr/>
              <p:nvPr/>
            </p:nvSpPr>
            <p:spPr bwMode="auto">
              <a:xfrm>
                <a:off x="3385344" y="3186599"/>
                <a:ext cx="2448000" cy="1800000"/>
              </a:xfrm>
              <a:prstGeom prst="roundRect">
                <a:avLst>
                  <a:gd name="adj" fmla="val 5869"/>
                </a:avLst>
              </a:prstGeom>
              <a:solidFill>
                <a:schemeClr val="bg1">
                  <a:alpha val="60000"/>
                </a:schemeClr>
              </a:solidFill>
              <a:ln w="38100">
                <a:gradFill>
                  <a:gsLst>
                    <a:gs pos="50000">
                      <a:schemeClr val="bg1">
                        <a:lumMod val="85000"/>
                      </a:schemeClr>
                    </a:gs>
                    <a:gs pos="100000">
                      <a:srgbClr val="009ED6"/>
                    </a:gs>
                  </a:gsLst>
                  <a:lin ang="5400000" scaled="0"/>
                </a:gradFill>
              </a:ln>
              <a:effectLst>
                <a:outerShdw blurRad="225425" dist="38100" dir="5220000" algn="ctr">
                  <a:srgbClr val="000000">
                    <a:alpha val="33000"/>
                  </a:srgbClr>
                </a:outerShdw>
              </a:effectLst>
              <a:scene3d>
                <a:camera prst="orthographicFront"/>
                <a:lightRig rig="flat" dir="t"/>
              </a:scene3d>
              <a:sp3d contourW="19050">
                <a:bevelT w="101600" prst="artDeco"/>
                <a:bevelB w="0" h="0"/>
                <a:contourClr>
                  <a:schemeClr val="bg1"/>
                </a:contourClr>
              </a:sp3d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anchor="ctr">
                <a:sp3d/>
              </a:bodyPr>
              <a:lstStyle/>
              <a:p>
                <a:pPr marL="0" lvl="2" algn="ctr" fontAlgn="ctr"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ct val="70000"/>
                  <a:buFont typeface="Wingdings" pitchFamily="2" charset="2"/>
                  <a:buChar char="n"/>
                  <a:tabLst>
                    <a:tab pos="136525" algn="l"/>
                  </a:tabLst>
                  <a:defRPr/>
                </a:pPr>
                <a:endParaRPr lang="zh-CN" altLang="en-US" sz="140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9" name="矩形 25"/>
              <p:cNvSpPr>
                <a:spLocks noChangeArrowheads="1"/>
              </p:cNvSpPr>
              <p:nvPr/>
            </p:nvSpPr>
            <p:spPr bwMode="auto">
              <a:xfrm>
                <a:off x="3570966" y="3480031"/>
                <a:ext cx="2137006" cy="6982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zh-CN" altLang="zh-CN" sz="1400" b="1"/>
                  <a:t>实现多个</a:t>
                </a:r>
                <a:r>
                  <a:rPr lang="en-US" altLang="zh-CN" sz="1400" b="1"/>
                  <a:t>Servlet</a:t>
                </a:r>
                <a:r>
                  <a:rPr lang="zh-CN" altLang="zh-CN" sz="1400" b="1"/>
                  <a:t>对象共享数据</a:t>
                </a:r>
                <a:endParaRPr lang="zh-CN" altLang="en-US" sz="14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0" name="TextBox 32"/>
              <p:cNvSpPr txBox="1">
                <a:spLocks noChangeArrowheads="1"/>
              </p:cNvSpPr>
              <p:nvPr/>
            </p:nvSpPr>
            <p:spPr bwMode="auto">
              <a:xfrm>
                <a:off x="930276" y="3513369"/>
                <a:ext cx="2184400" cy="10236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lnSpc>
                    <a:spcPct val="150000"/>
                  </a:lnSpc>
                </a:pPr>
                <a:r>
                  <a:rPr lang="zh-CN" altLang="zh-CN" sz="1400" b="1"/>
                  <a:t>获取</a:t>
                </a:r>
                <a:r>
                  <a:rPr lang="en-US" altLang="zh-CN" sz="1400" b="1"/>
                  <a:t>Web</a:t>
                </a:r>
                <a:r>
                  <a:rPr lang="zh-CN" altLang="zh-CN" sz="1400" b="1"/>
                  <a:t>应用程序的初始化参数</a:t>
                </a:r>
                <a:endParaRPr lang="zh-CN" altLang="zh-CN" sz="1400"/>
              </a:p>
              <a:p>
                <a:pPr eaLnBrk="1" hangingPunct="1"/>
                <a:endParaRPr lang="en-US" altLang="zh-CN" sz="14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1" name="燕尾形 20"/>
              <p:cNvSpPr/>
              <p:nvPr/>
            </p:nvSpPr>
            <p:spPr>
              <a:xfrm rot="16200000" flipV="1">
                <a:off x="1699719" y="5222976"/>
                <a:ext cx="455090" cy="576000"/>
              </a:xfrm>
              <a:prstGeom prst="chevron">
                <a:avLst>
                  <a:gd name="adj" fmla="val 39402"/>
                </a:avLst>
              </a:prstGeom>
              <a:gradFill flip="none" rotWithShape="1">
                <a:gsLst>
                  <a:gs pos="0">
                    <a:schemeClr val="bg1">
                      <a:lumMod val="85000"/>
                    </a:schemeClr>
                  </a:gs>
                  <a:gs pos="90000">
                    <a:srgbClr val="009ED6"/>
                  </a:gs>
                </a:gsLst>
                <a:lin ang="0" scaled="1"/>
                <a:tileRect/>
              </a:gradFill>
              <a:ln w="25400">
                <a:noFill/>
              </a:ln>
              <a:effectLst>
                <a:outerShdw blurRad="225425" dist="38100" dir="5220000" algn="ctr">
                  <a:srgbClr val="000000">
                    <a:alpha val="33000"/>
                  </a:srgbClr>
                </a:outerShdw>
              </a:effectLst>
              <a:scene3d>
                <a:camera prst="orthographicFront"/>
                <a:lightRig rig="flat" dir="t"/>
              </a:scene3d>
              <a:sp3d extrusionH="304800" contourW="19050">
                <a:bevelT w="101600" prst="convex"/>
                <a:bevelB w="0" h="63500"/>
                <a:contourClr>
                  <a:schemeClr val="bg1"/>
                </a:contourClr>
              </a:sp3d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anchor="ctr">
                <a:sp3d/>
              </a:bodyPr>
              <a:lstStyle/>
              <a:p>
                <a:pPr algn="ctr" fontAlgn="ctr"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ct val="70000"/>
                  <a:defRPr/>
                </a:pPr>
                <a:endParaRPr lang="zh-CN" altLang="en-US" sz="16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grpSp>
            <p:nvGrpSpPr>
              <p:cNvPr id="22" name="组合 24"/>
              <p:cNvGrpSpPr>
                <a:grpSpLocks/>
              </p:cNvGrpSpPr>
              <p:nvPr/>
            </p:nvGrpSpPr>
            <p:grpSpPr bwMode="auto">
              <a:xfrm>
                <a:off x="758826" y="5840644"/>
                <a:ext cx="7761287" cy="541337"/>
                <a:chOff x="671514" y="4765674"/>
                <a:chExt cx="7761286" cy="501650"/>
              </a:xfrm>
            </p:grpSpPr>
            <p:sp>
              <p:nvSpPr>
                <p:cNvPr id="23" name="Rectangle 20"/>
                <p:cNvSpPr>
                  <a:spLocks noChangeArrowheads="1"/>
                </p:cNvSpPr>
                <p:nvPr/>
              </p:nvSpPr>
              <p:spPr bwMode="auto">
                <a:xfrm>
                  <a:off x="671514" y="4765674"/>
                  <a:ext cx="7761286" cy="501650"/>
                </a:xfrm>
                <a:prstGeom prst="roundRect">
                  <a:avLst/>
                </a:prstGeom>
                <a:gradFill flip="none" rotWithShape="1">
                  <a:gsLst>
                    <a:gs pos="0">
                      <a:srgbClr val="00DFF6"/>
                    </a:gs>
                    <a:gs pos="90000">
                      <a:srgbClr val="002774"/>
                    </a:gs>
                  </a:gsLst>
                  <a:lin ang="2700000" scaled="1"/>
                  <a:tileRect/>
                </a:gradFill>
                <a:ln w="25400">
                  <a:noFill/>
                </a:ln>
                <a:effectLst>
                  <a:outerShdw blurRad="225425" dist="38100" dir="5220000" algn="ctr">
                    <a:srgbClr val="000000">
                      <a:alpha val="33000"/>
                    </a:srgbClr>
                  </a:outerShdw>
                </a:effectLst>
                <a:scene3d>
                  <a:camera prst="orthographicFront"/>
                  <a:lightRig rig="flat" dir="t"/>
                </a:scene3d>
                <a:sp3d contourW="19050">
                  <a:bevelT prst="convex"/>
                  <a:bevelB w="0" h="0"/>
                  <a:contourClr>
                    <a:srgbClr val="AFEAFF"/>
                  </a:contourClr>
                </a:sp3d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anchor="ctr">
                  <a:sp3d/>
                </a:bodyPr>
                <a:lstStyle/>
                <a:p>
                  <a:pPr algn="ctr" fontAlgn="ctr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0000"/>
                    </a:buClr>
                    <a:buSzPct val="70000"/>
                    <a:defRPr/>
                  </a:pPr>
                  <a:endParaRPr lang="zh-CN" altLang="en-US" sz="16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1303631" y="4854188"/>
                  <a:ext cx="6497052" cy="343103"/>
                </a:xfrm>
                <a:prstGeom prst="rect">
                  <a:avLst/>
                </a:prstGeom>
                <a:noFill/>
                <a:scene3d>
                  <a:camera prst="orthographicFront"/>
                  <a:lightRig rig="threePt" dir="t"/>
                </a:scene3d>
                <a:sp3d/>
              </p:spPr>
              <p:txBody>
                <a:bodyPr>
                  <a:spAutoFit/>
                </a:bodyPr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tabLst>
                      <a:tab pos="8521700" algn="r"/>
                    </a:tabLst>
                    <a:defRPr/>
                  </a:pPr>
                  <a:r>
                    <a:rPr lang="en-US" altLang="zh-CN" b="1" dirty="0" err="1">
                      <a:solidFill>
                        <a:schemeClr val="bg1"/>
                      </a:solidFill>
                      <a:effectLst>
                        <a:reflection blurRad="6350" stA="50000" endA="300" endPos="50000" dist="60007" dir="5400000" sy="-100000" algn="bl" rotWithShape="0"/>
                      </a:effectLst>
                      <a:latin typeface="微软雅黑" pitchFamily="34" charset="-122"/>
                      <a:ea typeface="微软雅黑" pitchFamily="34" charset="-122"/>
                    </a:rPr>
                    <a:t>ServletContext</a:t>
                  </a:r>
                  <a:r>
                    <a:rPr lang="zh-CN" altLang="en-US" b="1" dirty="0">
                      <a:solidFill>
                        <a:schemeClr val="bg1"/>
                      </a:solidFill>
                      <a:effectLst>
                        <a:reflection blurRad="6350" stA="50000" endA="300" endPos="50000" dist="60007" dir="5400000" sy="-100000" algn="bl" rotWithShape="0"/>
                      </a:effectLst>
                      <a:latin typeface="微软雅黑" pitchFamily="34" charset="-122"/>
                      <a:ea typeface="微软雅黑" pitchFamily="34" charset="-122"/>
                    </a:rPr>
                    <a:t>接口的三个作用</a:t>
                  </a:r>
                </a:p>
              </p:txBody>
            </p:sp>
          </p:grpSp>
        </p:grpSp>
        <p:sp>
          <p:nvSpPr>
            <p:cNvPr id="6" name="燕尾形 5"/>
            <p:cNvSpPr/>
            <p:nvPr/>
          </p:nvSpPr>
          <p:spPr bwMode="auto">
            <a:xfrm rot="16200000" flipV="1">
              <a:off x="4350883" y="5238628"/>
              <a:ext cx="455090" cy="576000"/>
            </a:xfrm>
            <a:prstGeom prst="chevron">
              <a:avLst>
                <a:gd name="adj" fmla="val 39402"/>
              </a:avLst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90000">
                  <a:srgbClr val="009ED6"/>
                </a:gs>
              </a:gsLst>
              <a:lin ang="0" scaled="1"/>
              <a:tileRect/>
            </a:gradFill>
            <a:ln w="25400">
              <a:noFill/>
            </a:ln>
            <a:effectLst>
              <a:outerShdw blurRad="225425" dist="38100" dir="5220000" algn="ctr">
                <a:srgbClr val="000000">
                  <a:alpha val="33000"/>
                </a:srgbClr>
              </a:outerShdw>
            </a:effectLst>
            <a:scene3d>
              <a:camera prst="orthographicFront"/>
              <a:lightRig rig="flat" dir="t"/>
            </a:scene3d>
            <a:sp3d extrusionH="304800" contourW="19050">
              <a:bevelT w="101600" prst="convex"/>
              <a:bevelB w="0" h="63500"/>
              <a:contourClr>
                <a:schemeClr val="bg1"/>
              </a:contourClr>
            </a:sp3d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>
              <a:sp3d/>
            </a:bodyPr>
            <a:lstStyle/>
            <a:p>
              <a:pPr algn="ctr" fontAlgn="ctr"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70000"/>
                <a:defRPr/>
              </a:pPr>
              <a:endParaRPr lang="zh-CN" altLang="en-US" sz="16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" name="燕尾形 6"/>
            <p:cNvSpPr/>
            <p:nvPr/>
          </p:nvSpPr>
          <p:spPr bwMode="auto">
            <a:xfrm rot="16200000" flipV="1">
              <a:off x="7037569" y="5232270"/>
              <a:ext cx="455090" cy="576000"/>
            </a:xfrm>
            <a:prstGeom prst="chevron">
              <a:avLst>
                <a:gd name="adj" fmla="val 39402"/>
              </a:avLst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89000">
                  <a:srgbClr val="009ED6"/>
                </a:gs>
              </a:gsLst>
              <a:lin ang="0" scaled="1"/>
              <a:tileRect/>
            </a:gradFill>
            <a:ln w="25400">
              <a:noFill/>
            </a:ln>
            <a:effectLst>
              <a:outerShdw blurRad="225425" dist="38100" dir="5220000" algn="ctr">
                <a:srgbClr val="000000">
                  <a:alpha val="33000"/>
                </a:srgbClr>
              </a:outerShdw>
            </a:effectLst>
            <a:scene3d>
              <a:camera prst="orthographicFront"/>
              <a:lightRig rig="flat" dir="t"/>
            </a:scene3d>
            <a:sp3d extrusionH="304800" contourW="19050">
              <a:bevelT w="101600" prst="convex"/>
              <a:bevelB w="0" h="63500"/>
              <a:contourClr>
                <a:schemeClr val="bg1"/>
              </a:contourClr>
            </a:sp3d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>
              <a:sp3d/>
            </a:bodyPr>
            <a:lstStyle/>
            <a:p>
              <a:pPr algn="ctr" fontAlgn="ctr"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70000"/>
                <a:defRPr/>
              </a:pPr>
              <a:endParaRPr lang="zh-CN" altLang="en-US" sz="16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6" name="标题 1"/>
          <p:cNvSpPr>
            <a:spLocks noChangeArrowheads="1"/>
          </p:cNvSpPr>
          <p:nvPr/>
        </p:nvSpPr>
        <p:spPr bwMode="auto">
          <a:xfrm>
            <a:off x="1643733" y="389681"/>
            <a:ext cx="624123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3.4.2  </a:t>
            </a:r>
            <a:r>
              <a:rPr lang="en-US" altLang="zh-CN" sz="3200" b="1" dirty="0" err="1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ServletContext</a:t>
            </a:r>
            <a:r>
              <a:rPr lang="zh-CN" altLang="en-US" sz="3200" b="1" dirty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接口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7277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513" y="2676525"/>
            <a:ext cx="2447925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2699792" y="1556792"/>
            <a:ext cx="5043760" cy="4061262"/>
            <a:chOff x="2488655" y="2668586"/>
            <a:chExt cx="4741030" cy="4309664"/>
          </a:xfrm>
        </p:grpSpPr>
        <p:sp>
          <p:nvSpPr>
            <p:cNvPr id="4" name="圆角矩形 1"/>
            <p:cNvSpPr>
              <a:spLocks noChangeArrowheads="1"/>
            </p:cNvSpPr>
            <p:nvPr/>
          </p:nvSpPr>
          <p:spPr bwMode="auto">
            <a:xfrm>
              <a:off x="2488655" y="2668586"/>
              <a:ext cx="4741030" cy="4064092"/>
            </a:xfrm>
            <a:prstGeom prst="roundRect">
              <a:avLst>
                <a:gd name="adj" fmla="val 16667"/>
              </a:avLst>
            </a:prstGeom>
            <a:noFill/>
            <a:ln w="31750">
              <a:solidFill>
                <a:srgbClr val="006BA9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" name="矩形 2"/>
            <p:cNvSpPr>
              <a:spLocks noChangeArrowheads="1"/>
            </p:cNvSpPr>
            <p:nvPr/>
          </p:nvSpPr>
          <p:spPr bwMode="auto">
            <a:xfrm>
              <a:off x="2694721" y="2912064"/>
              <a:ext cx="4534964" cy="4066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       本章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主要介绍了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Java Servlet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的基本知识及其接口和类的用法</a:t>
              </a:r>
              <a:r>
                <a:rPr lang="zh-CN" altLang="en-US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。</a:t>
              </a:r>
              <a:endPara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indent="457200">
                <a:lnSpc>
                  <a:spcPct val="150000"/>
                </a:lnSpc>
              </a:pPr>
              <a:r>
                <a:rPr lang="zh-CN" altLang="en-US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通过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本章的学习，读者可以掌握</a:t>
              </a:r>
              <a:r>
                <a:rPr lang="en-US" altLang="zh-CN" dirty="0">
                  <a:solidFill>
                    <a:srgbClr val="009ED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Servlet</a:t>
              </a:r>
              <a:r>
                <a:rPr lang="zh-CN" altLang="en-US" dirty="0">
                  <a:solidFill>
                    <a:srgbClr val="009ED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接口及其实现类的使用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，了解</a:t>
              </a:r>
              <a:r>
                <a:rPr lang="en-US" altLang="zh-CN" dirty="0">
                  <a:solidFill>
                    <a:srgbClr val="009ED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Servlet</a:t>
              </a:r>
              <a:r>
                <a:rPr lang="zh-CN" altLang="en-US" dirty="0">
                  <a:solidFill>
                    <a:srgbClr val="009ED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的生命周期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，可以熟练</a:t>
              </a:r>
              <a:r>
                <a:rPr lang="zh-CN" altLang="en-US" dirty="0">
                  <a:solidFill>
                    <a:srgbClr val="009ED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使用</a:t>
              </a:r>
              <a:r>
                <a:rPr lang="en-US" altLang="zh-CN" dirty="0">
                  <a:solidFill>
                    <a:srgbClr val="009ED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Eclipse</a:t>
              </a:r>
              <a:r>
                <a:rPr lang="zh-CN" altLang="en-US" dirty="0">
                  <a:solidFill>
                    <a:srgbClr val="009ED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工具开发</a:t>
              </a:r>
              <a:r>
                <a:rPr lang="en-US" altLang="zh-CN" dirty="0">
                  <a:solidFill>
                    <a:srgbClr val="009ED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Servlet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，并能够掌握</a:t>
              </a:r>
              <a:r>
                <a:rPr lang="en-US" altLang="zh-CN" dirty="0">
                  <a:solidFill>
                    <a:srgbClr val="009ED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Servlet</a:t>
              </a:r>
              <a:r>
                <a:rPr lang="zh-CN" altLang="en-US" dirty="0">
                  <a:solidFill>
                    <a:srgbClr val="009ED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虚拟路径映射的配置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。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Servlet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技术在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web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开发中非常重要，读者应该熟练掌握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Servlet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相关技术。</a:t>
              </a:r>
            </a:p>
            <a:p>
              <a:pPr>
                <a:lnSpc>
                  <a:spcPct val="150000"/>
                </a:lnSpc>
                <a:defRPr/>
              </a:pPr>
              <a:endParaRPr lang="en-US" altLang="zh-CN" dirty="0">
                <a:latin typeface="+mn-lt"/>
                <a:ea typeface="微软雅黑" pitchFamily="34" charset="-122"/>
              </a:endParaRPr>
            </a:p>
          </p:txBody>
        </p:sp>
      </p:grpSp>
      <p:sp>
        <p:nvSpPr>
          <p:cNvPr id="6" name="标题 1"/>
          <p:cNvSpPr>
            <a:spLocks noChangeArrowheads="1"/>
          </p:cNvSpPr>
          <p:nvPr/>
        </p:nvSpPr>
        <p:spPr bwMode="auto">
          <a:xfrm>
            <a:off x="1643733" y="389681"/>
            <a:ext cx="6241231" cy="561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sz="3200" b="1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本章小</a:t>
            </a:r>
            <a:r>
              <a:rPr lang="zh-CN" altLang="en-US" sz="3200" b="1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结</a:t>
            </a:r>
            <a:endParaRPr lang="zh-CN" altLang="en-US" sz="3200" b="1" dirty="0">
              <a:solidFill>
                <a:srgbClr val="006BA9"/>
              </a:solidFill>
              <a:latin typeface="微软雅黑" pitchFamily="34" charset="-122"/>
              <a:ea typeface="微软雅黑" pitchFamily="34" charset="-122"/>
              <a:sym typeface="宋体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06452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/>
          <p:cNvSpPr txBox="1">
            <a:spLocks/>
          </p:cNvSpPr>
          <p:nvPr/>
        </p:nvSpPr>
        <p:spPr bwMode="auto">
          <a:xfrm>
            <a:off x="481013" y="1300163"/>
            <a:ext cx="7975600" cy="472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71500" indent="-571500" eaLnBrk="1" hangingPunct="1">
              <a:buFont typeface="Wingdings" pitchFamily="2" charset="2"/>
              <a:buNone/>
            </a:pPr>
            <a:r>
              <a:rPr lang="zh-CN" altLang="en-US" sz="2400" b="1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✎ </a:t>
            </a:r>
            <a:r>
              <a:rPr lang="zh-CN" altLang="en-US" sz="2400" b="1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本章作业 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en-US" sz="2400" smtClean="0">
                <a:solidFill>
                  <a:prstClr val="black"/>
                </a:solidFill>
              </a:rPr>
              <a:t>请</a:t>
            </a:r>
            <a:r>
              <a:rPr lang="zh-CN" altLang="en-US" sz="2400">
                <a:solidFill>
                  <a:prstClr val="black"/>
                </a:solidFill>
              </a:rPr>
              <a:t>列举</a:t>
            </a:r>
            <a:r>
              <a:rPr lang="en-US" altLang="zh-CN" sz="2400">
                <a:solidFill>
                  <a:prstClr val="black"/>
                </a:solidFill>
              </a:rPr>
              <a:t>Servlet</a:t>
            </a:r>
            <a:r>
              <a:rPr lang="zh-CN" altLang="en-US" sz="2400">
                <a:solidFill>
                  <a:prstClr val="black"/>
                </a:solidFill>
              </a:rPr>
              <a:t>接口中的方法，并分别说明这些方法的特点及其作用。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en-US" sz="2400">
                <a:solidFill>
                  <a:prstClr val="black"/>
                </a:solidFill>
              </a:rPr>
              <a:t>简述</a:t>
            </a:r>
            <a:r>
              <a:rPr lang="en-US" altLang="zh-CN" sz="2400">
                <a:solidFill>
                  <a:prstClr val="black"/>
                </a:solidFill>
              </a:rPr>
              <a:t>ServletContext</a:t>
            </a:r>
            <a:r>
              <a:rPr lang="zh-CN" altLang="en-US" sz="2400">
                <a:solidFill>
                  <a:prstClr val="black"/>
                </a:solidFill>
              </a:rPr>
              <a:t>接口的三个主要作用</a:t>
            </a:r>
            <a:r>
              <a:rPr lang="zh-CN" altLang="en-US" sz="2400" smtClean="0">
                <a:solidFill>
                  <a:prstClr val="black"/>
                </a:solidFill>
              </a:rPr>
              <a:t>。</a:t>
            </a:r>
            <a:endParaRPr lang="en-US" altLang="zh-CN" sz="2400" smtClean="0">
              <a:solidFill>
                <a:prstClr val="black"/>
              </a:solidFill>
            </a:endParaRPr>
          </a:p>
          <a:p>
            <a:pPr marL="571500" lvl="1" indent="-571500" eaLnBrk="1" hangingPunct="1">
              <a:lnSpc>
                <a:spcPct val="150000"/>
              </a:lnSpc>
              <a:buFontTx/>
              <a:buNone/>
              <a:defRPr/>
            </a:pPr>
            <a:r>
              <a:rPr lang="zh-CN" altLang="en-US" sz="2400" b="1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✎ </a:t>
            </a:r>
            <a:r>
              <a:rPr lang="zh-CN" altLang="en-US" sz="2400" b="1" smtClean="0">
                <a:solidFill>
                  <a:srgbClr val="006BA9"/>
                </a:solidFill>
                <a:latin typeface="微软雅黑" pitchFamily="34" charset="-122"/>
                <a:ea typeface="微软雅黑" pitchFamily="34" charset="-122"/>
              </a:rPr>
              <a:t>预习作业</a:t>
            </a:r>
            <a:endParaRPr lang="en-US" altLang="zh-CN" sz="2400" b="1" smtClean="0">
              <a:solidFill>
                <a:srgbClr val="006BA9"/>
              </a:solidFill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2400" smtClean="0">
                <a:solidFill>
                  <a:prstClr val="black"/>
                </a:solidFill>
              </a:rPr>
              <a:t>HttpServletRequest</a:t>
            </a:r>
            <a:r>
              <a:rPr lang="zh-CN" altLang="en-US" sz="2400">
                <a:solidFill>
                  <a:prstClr val="black"/>
                </a:solidFill>
              </a:rPr>
              <a:t>和</a:t>
            </a:r>
            <a:r>
              <a:rPr lang="en-US" altLang="zh-CN" sz="2400">
                <a:solidFill>
                  <a:prstClr val="black"/>
                </a:solidFill>
              </a:rPr>
              <a:t>HttpServletResponse</a:t>
            </a:r>
            <a:r>
              <a:rPr lang="zh-CN" altLang="en-US" sz="2400">
                <a:solidFill>
                  <a:prstClr val="black"/>
                </a:solidFill>
              </a:rPr>
              <a:t>对象的作用是什么？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en-US" sz="2400">
                <a:solidFill>
                  <a:prstClr val="black"/>
                </a:solidFill>
              </a:rPr>
              <a:t>请求重定向和请求转发的工作原理是什么</a:t>
            </a:r>
            <a:r>
              <a:rPr lang="zh-CN" altLang="en-US" sz="2400" smtClean="0">
                <a:solidFill>
                  <a:prstClr val="black"/>
                </a:solidFill>
              </a:rPr>
              <a:t>？</a:t>
            </a:r>
            <a:endParaRPr lang="en-US" altLang="zh-CN" sz="2400" dirty="0" smtClean="0">
              <a:solidFill>
                <a:prstClr val="black"/>
              </a:solidFill>
            </a:endParaRPr>
          </a:p>
          <a:p>
            <a:pPr lvl="1">
              <a:lnSpc>
                <a:spcPct val="150000"/>
              </a:lnSpc>
              <a:defRPr/>
            </a:pPr>
            <a:endParaRPr lang="en-US" altLang="zh-CN" sz="2400" dirty="0" smtClean="0">
              <a:solidFill>
                <a:prstClr val="black"/>
              </a:solidFill>
            </a:endParaRPr>
          </a:p>
          <a:p>
            <a:pPr lvl="1">
              <a:lnSpc>
                <a:spcPct val="150000"/>
              </a:lnSpc>
              <a:defRPr/>
            </a:pPr>
            <a:endParaRPr lang="en-US" altLang="zh-CN" sz="2400" dirty="0" smtClean="0">
              <a:solidFill>
                <a:prstClr val="black"/>
              </a:solidFill>
            </a:endParaRPr>
          </a:p>
          <a:p>
            <a:pPr lvl="1">
              <a:lnSpc>
                <a:spcPct val="150000"/>
              </a:lnSpc>
              <a:defRPr/>
            </a:pPr>
            <a:endParaRPr lang="en-US" altLang="zh-CN" sz="2400" dirty="0" smtClean="0">
              <a:solidFill>
                <a:prstClr val="black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40738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335982436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3F6DCFB8-08A4-4EEB-81AE-44A45EFD7503"/>
  <p:tag name="ISPRING_SCORM_RATE_SLIDES" val="1"/>
  <p:tag name="ISPRING_SCORM_RATE_QUIZZES" val="0"/>
  <p:tag name="ISPRING_SCORM_PASSING_SCORE" val="100.0000000000"/>
  <p:tag name="ISPRINGONLINEFOLDERID" val="0"/>
  <p:tag name="ISPRINGONLINEFOLDERPATH" val="Content List"/>
  <p:tag name="ISPRINGCLOUDFOLDERID" val="0"/>
  <p:tag name="ISPRINGCLOUDFOLDERPATH" val="Content List"/>
  <p:tag name="ISPRING_PLAYERS_CUSTOMIZATION" val="UEsDBBQAAgAIAMWLWEkYJkPyLgQAAH8OAAAdAAAAdW5pdmVyc2FsL2NvbW1vbl9tZXNzYWdlcy5sbmetl19v21QUwN8n7TtcWRqCB7INadMk0kw38W1izbEz+6Z/QMi6je8ya45vsZ2w8jQQTBQJbdIGGmNQFZUWiRHQJNBYYZ+mcbonvgLHdrIlGRC73YOlXCvnd/4fn1u8eL3joh73A0d4C9LZwhkJca8lbMdrL0hNuvjmBQkFIfNs5gqPL0iekNDF0skTRZd57S5rc/h98gRCxQ4PAjgGpfj04owce0FqlK2KXm9gbdVS9apulZWqVKqIzjrzNpAq2uL1t85fuH723Pk3iqdHclkwZh2r6jQIJaRzZzKANGroqgU0oloaWaFS6bV2+Pbsk4+jN6mqaEQqDXb2hk8eHe7dHHzzNB+iYZAlMMUF9TPPXE7TMIhGLVNVZGIppqXpNAmYSiiRpVJ075fB7d3h/t5w/+eDx58fPL4RPdwe3v8k+u3W4d5nh/1fB399+fefW/PUyAZeVrSqRXVdNS2iyeM3Umm4fyf6dmt4d3/48G5OjIFNYoCNd3affb1zBFkrKYVUPNq8ET3YzAepKdWaCg+NrXj2072DJ/18gAbRIADz/a4T08RVYpX1FUgQVMrt3Twi+iXQst0f9O/nkVolZpL/eTIaXlKqmCq6FtePQUxqKJWkeFZFF7WYh4TnbiDWaoEcWvd5zxHdAN70HP4Bt1HgOjYP8mkxyeUmlK2C1VTLVdbjKBQJcgREjofCqxy1nR4HE3yb+/N0QBtViByn53JTecdaxIpKZAvyJevLFk3aPVbGfI48ESLmuiJ2APQyu8e8FkdrvMW6AUcb8DfbsZO/rTNwO7bk/a7zIWJhah86NWo5TSYrpwrHM02hKsyPZeZ7MIJzoqYa/mVnO90APA1D3lkP53kxEYnCK7HiuH41sGn+p1NZ8nJMj2b053XHhBInBnz5oOXLjsguQepQH1KJdJjjZpdStEVQ1PB5wL2Q+0jxruTQqekjgCbQURlLEPkpE5YgIznkl0nZVGgcY74WOCGfJ5kkKs33v9dIC9YEl4f8RZ2s8SsC+t/lrAdJhPdOkBZO4QjKchXEeLLGI3ByTo8oGhjUZiGsZAhMcp0O+G9nYDbrZBzBdLxOReIVff//T09qfvTR94OdL1LsPJpJsFGpWRWsVQiU+eDWV9HvWYWgTGNjVGpaKi7H4tGjbfjyRx//GG39EG0+BecGNz8d9P/ICEw3MJksYoCOo5aQCoVCRsasRakhsBh99yAXATownjvkOeldTYQ8eG8ehOLytFxyyCI1Wl7HcnlW2CTxo/BhSnGlVofagJ3D4IHo+q35O8EkoY6NSzABkr1KKtWZfw3GBxXCzUVJ/I5HWJhP+5F2+EnA8aZw7DVVGhaW5eSWA/cb12ldS79eNmLJHIuvOy5cd7LCKjWswYiZ4XHbCXMCk6k+bnfov/Q8rrR4aXtpyD8/BclVsXh64ub4D1BLAwQUAAIACADFi1hJCswVnxYEAAALEAAAJwAAAHVuaXZlcnNhbC9mbGFzaF9wdWJsaXNoaW5nX3NldHRpbmdzLnhtbNVXUW8bRRB+969YHSpv9SVtQtJwdhUltmrhOKE+RCuEovXdxLdkb/e43bPrPhVUKoqEqISQUKiogkrCAwRUCakQ6I9BtZ03/gJzPseJY6ecVQVSWSfrZr/5dmZ29ttb6+otn5MGhIpJkTOms1MGAeFIl4l6znjHLl6cN4jSVLiUSwE5Q0iDXM1nrCCqcaa8KmiNUEWQRqiFQOcMT+tgwTSbzWaWqSCMRyWPNPKrrCN9MwhBgdAQmgGnLfzTrQCUkc9kCLES04p0Iw6EuRiCYHF0lBc5VZ5hJrAadTbroYyEuyS5DElYr+WM1+YX498hJqFaZj6IODmVR2Ns1gvUdVkcD+VVdhuIB6zuYeBzMwZpMld7OePy1KWYBuHmKE2PPEmCxjRLErMRus/vg6Yu1TR5TSbUcEurQ0NicluC+syxcYTEBcgZy/Z6tVxaLqxXVu1Cdf2avVJOYpjAyS7csCdwskt2uTAJPi39tZtrhevlUuWtdXt1tWyX1o68sKJDBbHM4YpZWFkZhQ4MCmZpL/JrgjKO3XaijAo09iunYR1sWWS4ihuUKzDIBwHU344oZ7qFbT2Fbb0JECyqABx9PV62nKHDCIwjuoQQA8O1HPTE7JVBT8zND6VuJrMfpTU2SotqTR0PmwdtvdAs87jpELYhxVBq8TupSe4OEgK/Bm6F+nBsT1Q3mSgictogG7gIHFNdDBnlBmEaU3cGziqqKc10bxcWjyMJcuFuB7JSHSmF49FQDVV8UPW48Z38exWpQb2flCIxnQbtfP1z+8FOd3+3u//T86efPX96p/PjdnfrbufXLw52Pz3Y+6X951d///EoDdVNGRE/UpqgmAQcNBDtAfkwYrdJDTZkCIQDbaDsoJ0pojhzITsRcUCVOiKlOuEgF5JNUKosF25cIFoS6jaocCYkx9UHP9BnwU8xdyFxCs5lE9xjFFgZh0YKSAthLnN7sDRpZv+HxXWoIFLwFqEOqoAiqLUNJiOFlgaDOLFeoCotn0cbENcidu67EiZ6mddxI+FkoQthGrap6UuXZ2bfmJu/spA1/7qzc/GFTn1lXOM0ni2RxqVTpTed1wkB/henF8jwiG9Rhn7cm+7IpOOPlr4EjoqEZcbiNV7LepJ7HqWs8+j7zv1n3f0vO98+TNXyT7Y7D+93Pv6h77h1t33vk/beb2l82493u78/Odi91/7mWRp8r/5pgK9z/ebJJ5VfHbEnnpT7PlW+D3bSwLrbe+29rVTzfvRd+/Hnibqkwb9LQ4HnwSsBreDRVe99VhI8vDjzGW7JV0KbTpOJl5e1/0SaXuozK9G1s5SmbDZ7Zl1w7qX/LMt7niqWvA0uRkM3Icsce+eMR3wmmI91jD9tBhfV/OzMFN6txg5lMsg2fIHPZ/4BUEsDBBQAAgAIAMWLWEkE5wPRtgIAAFMKAAAhAAAAdW5pdmVyc2FsL2ZsYXNoX3NraW5fc2V0dGluZ3MueG1slVZtT9swEP6+X1F13wl7LZNMJSidhMQGGojvTnJNrDp2ZDtl/ffzK7HbpM16Qqrvnsd3vreC5Jaw5YfZDBWccvEMShFWSaMJuhkpr+d5pxRnFwVnCpi6YFw0mM6XH3/aD8os8hyL70BM5WxwAb2bhf1MoXgf3xZGxggFb1rM9g+84hc5LraV4B0rz4ZW71sQlLCtRl7+WKzWow4okepeQZPEtL4yMo3SCpASTEjf10bOsijOgQZPl/YzkdO7Ov36A9qOSKIs7eaTkTFaiytIk3x1Y2Qcz/TtaVUWRk4TFPxVGvrls5FRKMV7EOnld1+NjDJ427X/0yOt4JVJaMo5XcR3DuW41ONnoro0cpZgHmQcna2CT499610E8l/juUdmXAWnTyavBwvBFD2nsFSiA5SFk7PJmr89dkrPByw3mEoNiFU96EkH/YQ7Ga5JdT3uD7wRVkYgr+gRr5x2DaxcvLHT1NATVqtbuyti7LsuilDAziujEHtlj/yt83qEjJQ98pmSEh4Z3R/BDy2OE2p8i301T6dfW4FhfQwJC6dgNZ4ezOTKyLVXBEzDS1hKE84LacCUDWVW50LKjmJCDO9IhRXh7JfB5Xv7GImyA4NvteHGQoooCkP9ZmPUWzqulz2n7eitaT+6X4X+ce48U3qJX8+xUrioG/2rJOczz9NTohMzz4YZZk1qOIh7tuERx/oeIzVYbEG8cE6numFcgZx6PXezNQZHWZQDlA1nGflLhtLPuiYHsdZVIxDaJtU5XE2qmuo/9UrgDcqUMGJ0TFXr6xgm710ZKXwLABZFHXrWHZyl6agiFHZAvTVS2AePvQxJ3aNj7XajHmCj4obzmkkd6RdF3ykxLjUMEF51XMMMZzm/hBXOpX1ZMvdhB/eDn2zlsMtM68XencK3UnKzth+nUCvNP5P/AFBLAwQUAAIACADFi1hJagDFHuoDAAAcDwAAJgAAAHVuaXZlcnNhbC9odG1sX3B1Ymxpc2hpbmdfc2V0dGluZ3MueG1s1Vfvb9tEGP6ev+JkNL7NbveDdsXJVLWpGpGlZTViE0LVxXexj53vjO+cLPs00JgYEmISQkJlYioaLR+goElIg8L+GLQk/ca/wHtxmi5NWxyxH0yRFfn1+z73Ps+9fmy7F69HHDVpopgURWvanrIQFb4kTARF6x1v6fSshZTGgmAuBS1aQlroYqngxmmdMxWuUa0hVSGAEWou1kUr1Dqec5xWq2UzFSfmquSpBnxl+zJy4oQqKjRNnJjjNvzpdkyVVSoUEHKz0CVJUk4RI9CCYKY7zJd1xC0ny6pj/1qQyFSQBcllgpKgXrRem503v/2cDGmRRVQYbqoEQRPWc5gQZtrBfI3doCikLAih75lzFmoxosOidXbqjIGBdGccpg+eccAGZkECGaEH+BHVmGCNs9NsQU2va7UfyEKkLXDEfA+uIMO/aC1662vVymJ5vbbildfWl71L1ayHCYq88hVvgiKv4lXLk+TnhV++ulq+XK3U3lr3VlaqXmX1oAoUHRHEdUYVc0FZmSY+HQrm6jCN6gIzDsN2SEZFNYwrx0lAPbnEYBcbmCtqoQ9iGrydYs50G6Z6Cqb6GqXxvIqpry+bbStaOkmpdQCXAUJjsJfDmTh/YTgTM7Mj1J1s9QNaR3bpYq2xH8LwQKzfmus8HdpPa0gxQs2co7rkZEioASpz4DKfMMwtxDRw84dXtVFALzEO+pvaabsh9Bg5P8SJGtFwqKMZZb/0Xk1qqt7PyGWh41K7X//cubvV293u7f705NFnTx7d7P642du41f31i73tT/d2fun8+dXff9zPA3VVpihKlUbgDjGnmiIdUvRhym6gOm3IhCJOcRN8BOJMIcUZofZEwDFW6gAU6wwDncrGulJbLF85hbREmDSx8CcEh/2kUayfBz4G7kLCEpzLFiVPQYAyPk4VRW1II4z00/LQtF/C5vpYICl4G2Ef7muFwD2bTKYKIk1GDbF+oyovXoib1GhhigeliIk+8wCeFrBYQmiSB21q+szZc+ffmJm9MGc7f93cOn1i0cDrVjk2q2Vmt3CsmearOmSp/1J0grGO1S7JJDKzScYWPfphMTC1cZNwHWMpR7tT30RfjDl173/fvfO4t/tl99t7uYb44Wb33p3uxz8MCjdudW5/0tn5LU9t58F27/eHe9u3O988zpPfVzRP4utcv3n4yFUXQO6hI+ednIvv3a08ab3Nnc7ORq51P/qu8+DzzC/y5L+LEwEO/0qk1uBhFPRf/RA8jjiLGNxkr4TbHHfj/3ejeiFmc/KrUGZFz9RsbNt+bvv68u35mQr2f9IgOxt+YIx8UbjOkd9uBYiPftGWCv8AUEsDBBQAAgAIAMWLWEkP5FkgmQEAAB0GAAAfAAAAdW5pdmVyc2FsL2h0bWxfc2tpbl9zZXR0aW5ncy5qc42UTW/CMAyG7/wKlF0nxD677YYGkyZxmDRu0w5pMaUiTaIkdDDEf18dvprWHcSX5u3T17ErZ9PploslrPvS3fhnv/8I914D1JxZwnWoixY9R51ZkU1hkuUgMgmshhSHT4/y9kRQxkx603j9iba24scUvplxYau4JiwMoVlCKwjth0qyosTfoLR9WbuSKn2Ol84p2UuUdCBdTyqTc8+wqze/qhXWYFWAOYPOeAKBaeRXG3lyfIgwqlyics3leqxS1Yt5skiNWsppW/75WoMp//hiB/Sfo9dRYCcy694d5PXEoyeMdlIbsBb2eR9HGCQseAyi4tv36x80MG4WVKOLzGbuQA9uMKq05ik0uvQ0wAgxWXo1uhlhNDkHK7cj7m4xAkLwNZiG1fAeIwCVXuoLfqA2KsWONNBmz4+oUHyayXSfuo9BcnhYtG3r3qlQf/whC0ZI1UZoToxp3nZzXDD2jhxcW8s6pmZeUKKkREUk1hRYkKdx9WsE919dxp3jyTwvb4fyaizbwM0CzEQpUR7/+9xBi6O4y9XZ/gFQSwMEFAACAAgAxYtYSRra6juqAAAAHwEAABoAAAB1bml2ZXJzYWwvaTE4bl9wcmVzZXRzLnhtbJ2PMQ/CIBCFd34FuV2wW9MA3UzcHHQ2FVFJ6NFw1PrzhdQYZ4dL7l3e915O9a8x8KdL5CNqaMQWuEMbrx7vGk7H3aYFTnnA6xAiOg0YgfeGKd+0eEiOXCZeIpA0PHKeOimXZRGeplQSKIY5l2ASNo6yzBhRVlJOKwor2/m/6M8NDGOcq8vsQ96jKXtRq4VTshoqc3YoPN4iyGpQ8uuuys6US0URSv48ZtgbUEsDBBQAAgAIAMWLWEl0Pke4XQAAAGIAAAAcAAAAdW5pdmVyc2FsL2xvY2FsX3NldHRpbmdzLnhtbBXKOw5AQBAA0N4pJtP7dQpLp9TgABMmIpmdEbvxuT26V7y6vb3AyUfYTB2WWYHAOtuy6epwGru0QgiRdCExZYdqCG2T1GIzycAxfjHALvTwMbL/ELkn/0++MG+SF1BLAwQUAAIACAB2uMNEzoIJN+wCAACICAAAFAAAAHVuaXZlcnNhbC9wbGF5ZXIueG1srVVNb9swDD2nwP6DoXutpF3XNJBbdAWKHdahQNZtt0C1GVuLbXmSXDf99aP8bc/pVmAHAzbF90jxkTS7ek5i5wmUFjL1yMKdEwdSXwYiDT3y8PX2eEmuLt8dsSzme1COCDySp8ICeEycALSvRGYQfM9N5JGewUVm4mRKSCXMHrnPkLuLtCTvjmbokmqPRMZkK0qLonCFRkQaahnnlkS7vkxopkBDakDRKg3iNNiV+Tsan0Sm1Owz0D1kZt4euCZpOZ61GJAUp65UIT2Zzxf0x93ntR9Bwo9Fqg1PfSAOVnJWlvKR+7s7GeQxaGubsSrJNRhjkyhtM2ZWYrFMHa18j1QOmwS05iFoN05DQissnQCzbcx1VPPoAa3l1TtR85Z+G/u9adxK5WjnnOWPsdARHvUhnXUSyOgwKkvK65Yd9NB00K1lIo6CX7lQEJSf39oWmS9IFbDtuDJPVxc+HuDbLfeNVPsbhGEX1Qq6rWhuJZpbgloOt42+7ihIc9stcJMraEo1Y08iAPmFK8VtW1walQOjI2ONpUMwo9WVa5E6QVhkkvjsH7SxfiNpfurXlCkB/0OYT0jU1kSkATzfCvQxkGBNDWCxrc01WezamF1OOn9Men09MFU51qLgRRzDVQg4hgE3nHZ2eggKimt08XM1wvYODoIjEUYxPmaSYXx6kCbhajfJ0Ds4CI6lv5uAtua2jHRcx1EztR3E6MQ6YX6ujUzES9megz1jVmUfvjZyzdF1JtqD8/kfoziI0QzmlkysLvvW21fN4b2dU6M7n01WWQbdivMAJs8qr2YW8mzkE8CW57G56efU7MMedJTz1HRMc33HfpfFWryAU4jA/ukWp7YmEdie8ciH5WmPAfXE7TIIX5qmIjJaS1KpeUg5hrV5ElBUmGpWPqLqoZJ5Goy0cbPu56Bj3FXXCrgTwxYzXZxg88nMI+/xpb7LxdlFd5XzxUWDLfO6rwJXubxhVdcJd51B635tL8LqmcfX31BLAwQUAAIACADFi1hJcYP8DhoIAADbHQAAKQAAAHVuaXZlcnNhbC9za2luX2N1c3RvbWl6YXRpb25fc2V0dGluZ3MueG1srVlbb+PGFX7vrxioSNG+WBfqZkQrgJeRTUSiFJG2d1sUAiWNZcIUqZIjex3oIS3aIBsgSICkRZqmXWyx3S3Q1C0CtEizbX7NWt485S/0DC8WScsyubsiCJhnzvedM2fOnLm44R4bljh3qT013tGpYVsqodSwJm7zBwg1RrZpOz2HuIS6+ZXkwLDG9qlsHdpMBlKX6tZYd8Yia3WbBdTyfqhe4+tSHb7KQrmEamVcwnUk4YoIbductM2J0CaVimIjn6DweR0yIhZdz9rIx1qvA2TLJQ6VrTG53+Ti2tGmeA92HH1sgJ7brJbZswitLqQye1C5WKlV8KLEcxxXRWJFKkqFRa22XeOLCBfKlQK3EOolrsShYqVS3K4uirVShYOv1nYVWMp4u4rKtXK5JC1KuARoxPOCVBIXNW67WOTBGq5vi4tWS6gVCqhYLHJlaVGpci2hgECbAw6eq7MAchIncNUFL/DFOodaYktolRdYwlWxguolXC0UFmVB4AqFVXBXvYuGayVN3Z0wnLcQrh2Cta0st/JrkqsxmjsOKGtkOjN1SpClT8mdnEVOc0FCeskbNod+xKW+EMQM3ARsI+/9FYo9u9HEj8qRMb6TG84pta2tkW1RcGbLsp2pbuaaP/RzI/A8DdI+IU4W3KE+IitzNe+XFhbYgnyFZxNoZE9nunXWtif21lAfHU8ce26NU7l5dDYjjmlYx6Bd2K6JeKMh03CpTMk05h+usyc9bAb1yCXMvSpmTyqkqQ+JGVoseL8MuJXJ2yOSgJ4YrkE9KF9kzyboTJ+Q+ADUefZsxlhgJT5qNfbcDqLkPgV1jk3v0kZ1Uz8jTtyIXw43ouzZfJY1n2aOPWHBjuNuH+grnGlDdbEmzMMCe1KBWAeZwVSjFITN67+UUAw+k7WkMQUrMLjR4hKIPMqeMBC7nR6v3Bu0uzvdgSDv5JqiPysRm5Y/LlXr94uV6k8a+QCXkknt8O12nAt5ZJVCOi5F63fbAyDE7YGC72q55o8m9M3km5mqu6e1ZQXnmhePn15+89WLp+9d/OHbzCy9Pt4Hh0xwIvGmodrr97GiDdS2LOGBrA6UruYFr401LOWay8/+cfHxk8tnTy+f/f351x88//rd5ZePLj//9fJfH714+v6L839e/O+33//3YQpLUp8/kJWdgdbtttUBVqRQkmtePvtk+ceHl58+u/zy0+xMfV7FffD0kyff/f7xy8EHXn74DMsH7y6/eJCZZ1fe2W3DqzFfvvvbZ8+/Oc/M0cMKBCNVDDpYVfkdPBC6d2HIIIM+fpIR1X0LbD06vzj/PCPwHla9vEgBU/h9eYfX5K7CUquPVa0vi15e3bPnaKRbyLbMM6SPRoBDsMCcGPbcBcmJQU7JGLmmMSZuZkMqfnsPklrm276hI/2EIGp7rAEnMixEjwiaGCcEvHDGxElhBqaaiCU2YG/vyT8dtHi5jaUBjKDUPRhoXmFg9nQHtmg2Rbpp2qwbYFofn+jWiKAhGelzl6AzUBsbY09tpkPnmTO/mBvvIJ36LqI3gjmpSPjuG1uv7J2staHSHOiOBUU5O1usLlzv8hT2muA6LPkzeltfIvHYel2OvIbe9XhVvbFracbo1fuVcOElOqVC3uM+rJ1QEwTDzgTCHciYXBNPdcPMBJSVFpjzjsiwwXcQO7dkIlC6AYdio1eg2YexiDmyD2OUjeIAC6qssaiTIduzpgB7o+fnwfrcYScLk8Cx7Sp/huTQhhphEv0ERhbkhusn1NbL2cuaKGElZvUyWtoDIgXcmngXIQgcM40p27yno93r4DCafjmOheT17SY2mfI7sfzlny8ef+gzpyBUMd8Xdwcir4gYJsHFR79b/jsDDjKYudTW1EGbFxjD8qtHsI9Y/uqvy4d/WT74Fnp58d5vLs7/k57T395JuMUDbxhBj2xrays9TdIv3x3Ycv3pi6wkMEtZncJXZD9TbErcn6fg0XghDvU+UgKDjXIIzbhd9hIiiCavaby424GcgU1Mn7j23Bml2mFESTp8/y2oFd6mLdfs6M4x1BrNts2sRF4MWNWjmX142bNDlOOVKziLgCb3BrwkeSctOGOZxujYXwjHSEfBpQoy4ciVgU/c5RUoSQlKMjZodk5vUQhrA0xT/ztMQrYpXLdGXAlWx1c4HttzGjsNW9SxzR67R7h+cQYK7NpjaJImdeawkIRfUQ33yD7tzqlpWKR5qJsuqEVFSdUe+NBj+8eAMi5LavfJqWGNI6qBIKm3b5vzKRH93kTdiDckYaIoePdsUcSV7JrnsLcPmiKur4RJfYXcp9f0I8KkvspWzy4cJq6Bki1RZHj3IehOVJ5m6ECHWDoIwwCHX3Ed5kGb3YG5EZcCQVxzao9J09sEaMaUsOGHHGSyqMP5GzxuWFdLdodhhmdqcHRKNKyyN785fRvUoCa5Obe9fsAMjI6+971uAgQ662aAf1ebDIYvRfRsRu7k4Fihj46m7LY8hwKOOzkWTv/6+ybcLCxnrJpFkJ43m6FTr6Z7JT2TSYtV8mymbH+ubwY18tfi1MhvGqFGQHvzAFrz6ZA4GHLAIGFyxmVR7SNjcmTCS/e9k3kcdkNjFE+PgNqCg0WIiQhiaUV0Z3QUzhX/I9o+nZvUMMkJMQOdiCASms29b7gwNzanNk/b5JBGkzuQZJ4DQaFbZWJUO95wI8w7x6zF+S3ZFh2qD12v92tqVbjyrIrVmrUorNEs2aNe+YJY2q6xBbo3hb+Rjy6yUKKu/QcrKQMo8N34/9v/A1BLAwQUAAIACADFi1hJM91K5mcaAADkRQAAFwAAAHVuaXZlcnNhbC91bml2ZXJzYWwucG5n7XwLVBPXvjc9nlbbqrTH26Ko5LT09OGDV0VUSFLrA6tVqqjIKxERUo0QlZd523KvtlVMrUqwlqS+eIdRkAQSkmhRUIPEB0kIIYkejJEMSYQwiZmQyU2gx6Keb63vrnXv/e5dH6ywZs1k//b+/V97//+Z2fP9V+tip7wR+Iafn9+UL1Yt3+Dn92qmn9+E3Emvea9EMQbmew+v5GyI/dyvtmNWn/fkz4Sla5f6+V1kvTmc9qr3/PXdqxJz/Pymtvj+X2kjVWz381tB/mL50o37cGZt6qHag4nIA9qH2P2ozx4f+fbdPbF1H/1FsODSD8D8HUu/n/95eFLge+fOFP88qXhr5LehlVsqDmz7fuGtlTPjibgLWdumzbV58Pfy2qILaps6ThKUlIgcbJv/VOXNZiCRWFvXgTnZU8A3FUXpFrlaoyR77A0A3dzDlg5n+Pn+pl7or2loUtqFFnOaXe9x6zUJPqn87sM7C1OXoDLxdEhhf/UV36VG6s5DaFSmnma7ZX91BNzo2nlMDEikSx1fjpxbJN3brVRLk7Gb8Cff+W6H4kMq3jF59MvZLfN8x8tHZ2SO9HekPezNkVbbDyT6jvuDP20fgc06mfau9/DXp6YEKcVuqgY4dIdIjz52Tvhq3jTTwtyo3ojJ9b6GhUwnm7mYarsVZW0P/2mIqciqmHlHe+TqSL9hTwEPDERPO/yBWCR8W2teNYqZ8MXqPEFw+MhIkz/4RPGs+Y/nNhZE/2WE4+XPftowDvgfBiisFOgoYH+DChdNhRQJcqQXi0zoOgl31wIDcBLXlB27rcTnltO/dBuZiFENAlKG/dEpko78wzn0JrwGisThwfgx3VGWl55zsyVKkebo9BGPfC3+QGLfgogRSrPUx9M2LykabRu7MKPkxLrgUU5H187IPH/v+gjZ3dtfhAiddCtVH021qwlypN/7yYpDQ53qHDm6wPi3vSOOvj/4VET76igRienSEFgY+LE6mBVzFz6GdR6LDl1MGBFiUd0nLTW5OdWxN5VPkib0B0ifXrMxcVVX+EGRyXIq3FdujYH+PoZcdnZk67oWkNJIH7gWYI1pkI+h98j+tJfFZc4shIIzBIq/Uk/G3gockffIrpthc7U9O3fzPLcTTBGhzw09Gos920Z64NM8XX3JM5qf/PamMdTmYHocBZy7zzUX3WQOgwY2XmLrxIzR0yltRLNSMGcLdi//QBfMKlTYVot7hq4n/aPJ7CXtylVDPTnyUk/za2dgo+FtqoZZnLsvko+BOuNJ/heO7fgl8nftdr7X0i+Qus22B9C1AHyMxxj4Nchl8z3z+mCF4yceUL2CTi2Ek6hDd2JDIzv+IaLpdmz7auEMRfA9Ve8udzP1knBkcrl/vWxy/V0zaQYhNDBj7v+NZf+jztBZDUgodhgE9M6PvqDWSFpBIr1KNPv7keG3hkHKZFIpHUzWL2EumH0h7gXv/J8esBtIzQOtajxiwHPciNWDqEnIIxLHfTfU/ZfdMoVqL32tSpVPLyoX/hFbodLhQXWhP2af/fIEf7/oTfheqAHzx7AllP6Lbd3vTexiPx/M5Evzfjnw/KW8CVMvxI2N5OzmV+w7xuhWURRliGUOxaqbLI5S+qmx0N61lQ8sJxJwaeUc2uAN+8tfh7dbTqXZF6z9Q9Yy4UDZ9EzHrTDqz2Vj5NHui59c78osQa99nsonB9T0T9s5ZZWW/A9G4/3Kxijdv7T0S2Zkxt37Q7dbq2aSfkjL10+uL3+B+7UwEemA+t6CMcoxtZ7aVqKNaunf8fM43XG6/wvpCsDJ9Sy0vavJQk725mUeOCQO6x7SyDUS2uAAi9lMh1eY6PShsyi0x7nCap0j5VzzThZP7ZpUKQIgJoCjwbjLSl6SV3O6pZ+AsZ20YaO8iz5Th2FWV4XnZc1YACypK66iwit2Hk7VyVdYAcZ8thuapwTqg9JVVuuPAirwsprMP6bZuR4nVy5BIIDr2ae+sgf+lB+0EDx6XuqgSgswO0NYK1MP3IKNlCbKySqqHoqAhik4camhT3M6l0wRyykw7J4nry5X2IpZGWT4DE6gswzyVTiG01AfSnvgXT3r6SKQnSwVp79sO413gRtcpTLfX1SpLNye2NpRxagpV/yauLO/Zr0NUuGxTBTEm2QyQpconk3iYZh+PHAZ+0pjay8kWLMFJ6lCge7QCTsri/Fx6PcbdXgxMsgvxjvO4JhkLeSXjAXYgGB9aH2MGFeO4VO4snsmo/bxP1XDEn16PnrRh4rBx3evReRuhtKnlCsiNiovJC57NLhQGF5Q3dppMIcEZ7ubZ2aC6XimVRW4hY2Pm1KmMZ4wcANA+RXYCDoEMWIMp4qRgmO6GEcyXnaTtlmZonK2gRy5XflrUwydvHxnEQ8agvY3NXdspru+pVwyDa7qyviz+YAauncTVt1rQLqEqkQPzc1nl6uwBfOBnC9f9l7RjZb+JDTwmirjl1Sc8f3I68rgbOKvPKblgDowW6U/mO8GE3EfJko7YGPAlPoAN3wk62VmBTklvPBct5x4j3vRQNY8qDtwLzCdzawlEb9KJ7qbkw7Irw3y/lR8sUFStBTdzWfoptTLBKu3BG1KDrYMDoTqy/OdytehPfP0QD4Pl0nenu2mkd0UptZRwmMRnE9NZAVlFqb45SBLJZTwYoFaqfizKacD0O/nUs49HmymuKGniS0ZU86sgfbKvkpq6YO5AdDAPMUkIY0G5av0pHyykwIP1kVeCAnFkwS6tg1RN4sDN4FmxSQRQut8KzkOMAJcHKplkJjEpLUt/KeR2YMbn7fG6Y7T/X9BN7K9Do8dmIa9g0jqSWO/m4iiXZi9ez+9EoDGyNKZzkIrjyy6LOlUwWOEMXmLL3tFYlcTHAiMbb/UBOI9sLoNiwzk334lWzBSL/9XlART+3y/t6gX70h91vb+jzsbqYYTCV2VH3Fpgx3WS0OFfyjk4HafPmv4Y3q44dN7Yhb4TMGzfhqxT7fyGZVFH4zYsYH3zGC7V43Ye2fymGFHFK3g/6G092b4DFKd9Yd2l0X4DLdZM07ofxUhX44UJXXeqpczERuBhUWeNhm5TKQjJ8RyksBZ7Lp9EJNr/8afdr8nmBWz17jYmgrtwRt6t0hp7n13ABGDLmh6fghfzoe4rFhUJpduV9vS7BHLHk7wj9mNyVSCx2HylAZrBrQnJWN5qpRWVKd3dhR0MCVm3288pVxtx/OqEVRPrY9chxl+0lKA9E08/15dUFpyaDy2Npl1JnJvyFmz/WgFRAlAk8gwnKXa0tzcMWg7D7k+8eYhEKM49s+hE/phA7EEJ9UazApZLRYFsujuwagX+Qr16fzXbspiTJeCwpNDE/R3tyYXnYQ+7qEwppwGY++FyKvDGzkOxCH1mPc0MCTedO/R9x9xFjFLA1eCbsU90NxpKzbRO8FOV4XKirEHfgWSZW0bsPjXlAYD2AYbq3DZZCYkKU7jt2ph52C4EpyH6l1b+7zxRB1hyS3pU45qYi/mK0qEk0siNyvB+S2ZRSJw4NLK25ST8EVcOUe6sSVbLA2MVsXhD3RXeXNh/d2I40pZJzg/dcEc1T4hsvBNiCKb3jOlXtuGU7i6JVJIput8QanLDqoztje3f6zZxFrOe6W+9VYgHjQmy94STv4VFJarwBpmShLSpItLTNIh/MA04lepQetFky+DbLyO6VhY7EiIA7gk7dCLvXrzwTlsptgToZAVeE4DBrxHP7UMLH4lt5KBIwEcCcKfFFlWiwoXZTuNlA92TfltjbZCyMOVYTooXG/fmFp4VqdNNd9Kcl3UF7/sBzJpFT6YUHTkkIGsvSw8XCYLjqsO3MTeU+Ca/7ZSnizhfeZurrpYr2uz90GTVBm54q9LvHXK4BII1oYlk4hovlI2X6ozhyUr2oSHr0LEFP8rIOsiRmL+jjrthWCrXdKu7Npy9uHmTS3GQVtW5Drlx4lnMyqv7HVnvVUczucI3O++Hnk8BBAwroJwH2Qvts4VuacrPSktO8RuQxZPr9sgLoXakgB8XDVrB9kJ73FOB9sMWdltusCjApKxTPV8KKcasch5+n9KfJuFLf31cgzVSLD2nykHH70w0uyIdsb9CahGW/0hJiJxiK0d8lyN6Xnpp87IDA1MVcVFtet0L5uBFTN43flYGLMkf8bWUAoFujot7hesmPZ4GWowa2r2vhfmljxU+CkGMmyTcz20GekgV+9BHFxPSlT9C6xx/vW+mUftduiZSO82dKfpkeIF5uklPFLahaBMmW+yshnBFxtowTS7jesZVrf4Y2mIzRStdx5Jsx94UQFL2vM9RwFLX+RVzJPLE4yeO0DgdtAJnt4cBbw0jfGRCTgIvY2Ym8oEug5xcOiBq9OMLbvQ326OEr3UeLOrdnzBGif030xIESZjuHuxSG+pfkffxPGbXuOAccA4YBwwDhgHjAPGAeOAccA4YBwwDhgHjAPGAeOAccA4YBwwDhgHjAP+vwU8tRRIqQTK0XMFCVFnnt1yeaIAGFC/S+9BSl9f+RMCCKfkBT+7sfOtkUO19BdF6Ro/vbbqrtq5tkJzW3tYFvbcDiu/+9dHR/aLzRy51eO3KOI/uEnrn3RR50JcUo9rZNfX/t7w/7wR1Utb+omAON/eJKdb+qdxn15VL/NH59rvF/rrFkF7FG0JKAK9WQtMGNnYdlHXJswyLazCr3H2E7DU82gejo8jkN2WLP1KiNjE1vz9xEE1G0fp609gGBK6/e1lVSwBxmJRjcATBn57M7Sna+Jc3fyGcgVQ74IAhayHz3tSZXLAEdxD1cLBMFdfHFPo9iMJ4UYRXp5Hf/Qpd7EKTQIDmAMBcom9ARCDfUxHAbPAHi21RRuD6EN3CtBcqlFN4NJdOZ7O+DhxLxnUsylNkE1pcuwiN5HoYLJ1n25wSIZIcEOEh9nNrKG9KOf12Fa8MY/n4V4VDWBxBzFzkDLaLN/unHXQfalowHFDcz+eC290Ld5Sze7DFZBMjuFs7BPbzZb+rNTLYK+FgVatn6Dyd9/2L2Wlam0Ci9SDFKB5K7UUStF+QyzjYWwHs0cyy7GSbiH+yJM75e4euRjdoXzaNIw7jvIMoKS7NwKqahSYBxqKjQruocBokCyTqwBNH3K4p8gRLk5xJ4FmFddAQWDIUkx1r3JRNOzFR6IMvT6b51dNfBgz/KTFrH/dUeWKqckD6hMgKjMKdTzPkMZ3/Zp9yKLKqQis2/nXahTxsQmXyVspzl5QHbuqtu0CJZlNpqbg6TpVMAGddKm1C3bmN9e8LWEAJmNkWaiUILsgak5xk7cELU1dZoTv8LDDLdieI6JDh5DDs2CMSXVhmEZpgiNDmRyrIox6OLYb/2j9wDNizOQ6l+g+J497sMGSZ69BJudyDy6bnul/aXiunj17A7ErmUUMGPhO3VupP2a2pk4pgXrzwwBuKCuTN5A7YyXxfgqubB4zaOdQDwZuQMiwWPxYfv209SwDx1x3TzZ/ghneUaAR046bzuhiHRJV9s02r5NfNsfr0y+5qPd1edxDo+PqmAKJvibN/nPx0RqqLgn9/h73d9fWFX0jOxvR5BDqRRkl2iPHIZu5MbGYjZ9Hqqc6F9B8HiK09taFsjES8LEkyPpvFjqQB+SE5lpneuNGU41AULxTUpesNabzqKXiatKO2/SQ2pth1LWyVUo0KSv6ME8xPUEedTMowUF14KbWazWhB9QyUOdIciwJgHxbaMwy/EqHxMu5UbzOgN2t6MOgiFrwl2/lDHu92dg7Z3K96tLh7VrbuxBQjh+KiLypdNj7JYKPHZvp0d9C0yVIUD00ZNC8cxxylKRWs/GSdz5LlHiI6Cxy8qE+avs65spaFybEtdcKhbkmMp9MJOCRQbacw0SchbF3RsS5l1e6nv+7RH0nCZwdHkvBHKH8hpdi+d/X4OENrsVNNY5dJdp8tTE11gE21com10cKQ/TH8qtbJQas8FLX1MyemRC59pu9TnGl/lAGjfegnoHfuQjfasuo4KHYr+S4l0D5ykJC0WlQpT5yltgnv/6e9SySgjOkk4EDaj1i1mOovo11tAbPr9Knh6Rf4xf2jShJM5WuJ2pdr3l9yU7uO88+Mqif23RDKJf52J1BdnVyj1pse2ccUBOrjhJnNIfUuVXXA2SCsK7VJJaoHKOCeH+6GXHV98xWLhmHXp1HhmEs0nCYL5PxmNbitxs4OOy6swS3pCAu9KCERTkl66KeZGUEHgSqXZR5eZdxdEgRje8jGLHWoHDXw2NxHCzAwbj9t3ldTahS21tnkn5hXdPKcJtHbUg3Ub/PZ1qj/6Y1Zng9In5vqTWKWPKqpckCXuycJFqA3tAguXZFGMoYOGTe1y22Nphl7POUU2siO3BGz9tmXZQ3aARr6P53LFaaar3/DyaOpITDLFXxpL1BsKPHklOvFHdULh5y3QrM/IZa66LUxEpDFB93i9v/foafnu1lpQwVVRTHPq7FlsH2Nxwm5iXfNmK1ZPAEcImpj+60IharxL3/V7PNZOXIpJ90o7/eQdFuYLJ50hZlIZcvr77IxwmC9m8kEVzDsscYrNcZvzSptvhfFj7uTcT4a/U37oFKm0mlKeqElkDkpIX7RTykPZfL9S6ajUYh0GZYfyFvd/krl5CzW0ET80vTWwWxfKqeqGGHagpTWFd5jj2l3jARk7y8sllxdFO8We+orULWiRDBCuL0FE4CE+BJ9Uo9thre4y7o7MtbI97lLqX0+TbA6Ri6iOshCpm2WtqbD3xayaI6I1Vtm84OUQIq8MYN7kBl8C6KFp41L0u6aZsbZssTxEUUdXbyoo3uk30Y7LSWebvleXjWGtDz4HGN5+C5bsT/TtKIKfs6L2KGmBdWj5oRLZSCqSuKvgffvoBkixDqI9gqlJ1dxP4mXJxddBTcs9d9/zy8B/1IWXhm5/1UnOMtrZHgNfc5Bg8i4lZ2GVRNMVKGGJLLgHpc9oyv74EhhY7BxTUoMIcfI8WgZIXXqmCnNvBrkVx+NSz6qYDpEtTHBpEfDkcReJzNchA3cZ/AAu6pPJLhGF6Blh7JdDd2ilNGI4KddyJY+7v6LFZKwsXh2fyVV7Knp1Yt9U5p8p9wBTNwxJIeJLWhVVbVenPIYZaZRsyYstndDeZcuERneDXzTZ4L/AJI5p7KaObJ1XYnZC9+UOCu6AEf+9S06+xKFXyLev+biR0Y+A6LQ+9PR1EP+jOfthCwtk+xOUjEa0nXvbY+P/Sd+hqMj33MwQsdYq9rZszzhGrt6y8FoKu8RvetoEH+6KGvXA6xrOpWBRIkmsyUnV3IfpsfNNDE2E50i3NmTPT6k4w38QYkrcOHxoeKDp+EFpqyFJoaI+qMa9i7lB1LMarCxNlNHUb7EpP8S4fz5PTMKBzZcKLet5UIi8ITT0ivf4R13rCxK9k8VZ/u3ScTtKrevR+Ak/Ll+iQEXwtfpDJGlffFbOv5JT2y6clYJZaEl/w+6/X2lXOzPZKCTZFPFV81Dpfyk7BMF9APoN75GSdY2UpxZlyukRIALt6lgPFqfOuNatPvgZFea1KlSO3mQk6xSZUqRaCvf8YViCM7ZbUT+yC91doq2NdVhf3U6x7bSrQVsVcZTwpRtLZJ0WOIps9WnYc8T3JNxKxKhFtjyVg94pBNh6G2pDYpQnaiblkMIscU36o2+H0c7Yw7Wn+6OJaSL08O+lsSU9/PwYqzK1Wix1al7OxyQfCjjDzuKe+a9yF0cR1rAw9vXBG81xcTKUOLa/CePBSadhSuv0vP/ktL/03fo4HI/Df4vcTBeCwUT2DC5UyKPc4zFNcTwRxuY9KQ+XMbt8yutYCGOV5z1w1LKYoVngkb8OmySUlYXC5tzSjXmiX9qVpZ/qg2DQ0q3EzPVIp3Dbnlm6XPIYc7uScsOcemZyaYsKZN+vj86Gbl1iGf1xtNRo3R00oablUD7m6goQUVhY9aObhOq5JtysWzzq/UZ+TyTPj4CuCi18+aKkwgjxp9aHQVfgcKzwJxtaNuhsE7byZ0Sx2lP1lsdV5H/MR5ly3pZOBCetEzM/VvagGCmcC0E+SoOeKgVPDBHc17AIfPOElpHIxDHsZJQEPjbOF7PxWYJLjaMy5KSqf08wsIY3FqpA43BITX5Fmp3vCWdR+5vuaZmH05XFeKq0Aaf4e+TilULX6HiwyVa+Q3MmZkJozkf5Nrz88cvGk3MPrbGDX0xdmS7O8elgoBdrU3k1CZ0jwQc1+NtGHpJg/thNVz17sWWPJCes+s55twklGZcP7Y4d0uhzT+Nh3jG+FVbyjdvqL/bWtaSWp4O6dsTH8vZibgeTZuidoapfkdGdr85HOXs/GNlv7VDt5kE3V19sFmSjecQZtbqOHNfJ9c7rPwEW/uC2G8gZwfj5nqm1+4MO6MVj/BUetK8aWUBfIY25eupsY5Xs9pw9gv2rEIlMCEEkisfd7EyQZ6T6/4M57MTkcJYqOWjxqx05HSJ/nQWiaj4dmnBvf4yo7o2b3WE1FrHeQtII4gtzzSu4CYdp3yYJY3b9yFf/pbQEdshfnJz8NDXj9Uo5AHKP5ZVJTGl3U2E//1YSnjQQDjtJvS9APVDdA6NbWOO17V/d41VSFdrHWX7maZXBX53MIGyklLnqOCYRXJr5yu9Q3iIdyvI9pDPYOhXPrTFlT2xK514l3idQ7+fk+8nmrADbMSxLeqx3Atves4JW7n5M9hvS8J8G/1FiXUmZ4nqYZpjiISrXeYeguBAQ8l+moIxnkjjiP9crQ3X4HTxaVs7dC1qWWWHeVhG1WAFRczHbzZsqspgbVIFDCV/C/JU3iQOxPEP6hFCc72k9xKUqlnrg6KOTtSt/Y1rXV1bUrNi7M1LWr31mWV++C+cjlm8CjrFy3T47Z+FVdtzButxH6c/n8q7ERWqt6Fc00e8/IQkCcY+/IQb3Fr9fDlfx4pHS3Va+2Seg839tZIgx5qw7XNxpZdENZjw5rfHAXRG66EiNHtm32P7sp1vleVnBh9VYmwO4VIdUs7OhDUciYh7YK7DPFd/2LFuuW1n2/99t8BUEsDBBQAAgAIAMWLWEmJd2BCSgAAAGsAAAAbAAAAdW5pdmVyc2FsL3VuaXZlcnNhbC5wbmcueG1ss7GvyM1RKEstKs7Mz7NVMtQzULK34+WyKShKLctMLVeoAIoBBSFASaESyDVCcMszU0oygEIGFgYIwYzUzPSMElslC0OEoD7QTABQSwECAAAUAAIACADFi1hJGCZD8i4EAAB/DgAAHQAAAAAAAAABAAAAAAAAAAAAdW5pdmVyc2FsL2NvbW1vbl9tZXNzYWdlcy5sbmdQSwECAAAUAAIACADFi1hJCswVnxYEAAALEAAAJwAAAAAAAAABAAAAAABpBAAAdW5pdmVyc2FsL2ZsYXNoX3B1Ymxpc2hpbmdfc2V0dGluZ3MueG1sUEsBAgAAFAACAAgAxYtYSQTnA9G2AgAAUwoAACEAAAAAAAAAAQAAAAAAxAgAAHVuaXZlcnNhbC9mbGFzaF9za2luX3NldHRpbmdzLnhtbFBLAQIAABQAAgAIAMWLWElqAMUe6gMAABwPAAAmAAAAAAAAAAEAAAAAALkLAAB1bml2ZXJzYWwvaHRtbF9wdWJsaXNoaW5nX3NldHRpbmdzLnhtbFBLAQIAABQAAgAIAMWLWEkP5FkgmQEAAB0GAAAfAAAAAAAAAAEAAAAAAOcPAAB1bml2ZXJzYWwvaHRtbF9za2luX3NldHRpbmdzLmpzUEsBAgAAFAACAAgAxYtYSRra6juqAAAAHwEAABoAAAAAAAAAAQAAAAAAvREAAHVuaXZlcnNhbC9pMThuX3ByZXNldHMueG1sUEsBAgAAFAACAAgAxYtYSXQ+R7hdAAAAYgAAABwAAAAAAAAAAQAAAAAAnxIAAHVuaXZlcnNhbC9sb2NhbF9zZXR0aW5ncy54bWxQSwECAAAUAAIACAB2uMNEzoIJN+wCAACICAAAFAAAAAAAAAABAAAAAAA2EwAAdW5pdmVyc2FsL3BsYXllci54bWxQSwECAAAUAAIACADFi1hJcYP8DhoIAADbHQAAKQAAAAAAAAABAAAAAABUFgAAdW5pdmVyc2FsL3NraW5fY3VzdG9taXphdGlvbl9zZXR0aW5ncy54bWxQSwECAAAUAAIACADFi1hJM91K5mcaAADkRQAAFwAAAAAAAAAAAAAAAAC1HgAAdW5pdmVyc2FsL3VuaXZlcnNhbC5wbmdQSwECAAAUAAIACADFi1hJiXdgQkoAAABrAAAAGwAAAAAAAAABAAAAAABROQAAdW5pdmVyc2FsL3VuaXZlcnNhbC5wbmcueG1sUEsFBgAAAAALAAsASQMAANQ5AAAAAA=="/>
  <p:tag name="ISPRING_PRESENTATION_TITLE" val="第3章 Servlet基础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RESOURCE_PATHS_HASH_PRESENTER" val="b0b5ad6d5f9fe88105c4965dd3ba2f994441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第3章 Servlet基础"/>
  <p:tag name="GENSWF_ADVANCE_TIME" val="0.00"/>
  <p:tag name="ISPRING_SLIDE_INDENT_LEVEL" val="0"/>
  <p:tag name="ISPRING_CUSTOM_TIMING_USED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作业点评"/>
  <p:tag name="GENSWF_ADVANCE_TIME" val="0.00"/>
  <p:tag name="ISPRING_SLIDE_INDENT_LEVEL" val="0"/>
  <p:tag name="ISPRING_CUSTOM_TIMING_USED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预习检查"/>
  <p:tag name="GENSWF_ADVANCE_TIME" val="0.00"/>
  <p:tag name="ISPRING_SLIDE_INDENT_LEVEL" val="0"/>
  <p:tag name="ISPRING_CUSTOM_TIMING_USED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学习目标"/>
  <p:tag name="GENSWF_ADVANCE_TIME" val="0.00"/>
  <p:tag name="ISPRING_SLIDE_INDENT_LEVEL" val="0"/>
  <p:tag name="ISPRING_CUSTOM_TIMING_USED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主讲内容"/>
  <p:tag name="GENSWF_ADVANCE_TIME" val="0.00"/>
  <p:tag name="ISPRING_SLIDE_INDENT_LEVEL" val="0"/>
  <p:tag name="ISPRING_CUSTOM_TIMING_USED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Servlet概述"/>
  <p:tag name="GENSWF_ADVANCE_TIME" val="0.00"/>
  <p:tag name="ISPRING_SLIDE_INDENT_LEVEL" val="0"/>
  <p:tag name="ISPRING_CUSTOM_TIMING_USED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Servlet概述"/>
  <p:tag name="GENSWF_ADVANCE_TIME" val="0.00"/>
  <p:tag name="ISPRING_SLIDE_INDENT_LEVEL" val="0"/>
  <p:tag name="ISPRING_CUSTOM_TIMING_USED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Servlet概述"/>
  <p:tag name="GENSWF_ADVANCE_TIME" val="0.00"/>
  <p:tag name="ISPRING_SLIDE_INDENT_LEVEL" val="0"/>
  <p:tag name="ISPRING_CUSTOM_TIMING_USED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主讲内容"/>
  <p:tag name="GENSWF_ADVANCE_TIME" val="0.00"/>
  <p:tag name="ISPRING_SLIDE_INDENT_LEVEL" val="0"/>
  <p:tag name="ISPRING_CUSTOM_TIMING_USED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Servlet接口及实现类"/>
  <p:tag name="GENSWF_ADVANCE_TIME" val="0.00"/>
  <p:tag name="ISPRING_SLIDE_INDENT_LEVEL" val="0"/>
  <p:tag name="ISPRING_CUSTOM_TIMING_USED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Servlet接口及实现类"/>
  <p:tag name="GENSWF_ADVANCE_TIME" val="0.00"/>
  <p:tag name="ISPRING_SLIDE_INDENT_LEVEL" val="0"/>
  <p:tag name="ISPRING_CUSTOM_TIMING_USED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实现第一个Servlet程序"/>
  <p:tag name="GENSWF_ADVANCE_TIME" val="0.00"/>
  <p:tag name="ISPRING_SLIDE_INDENT_LEVEL" val="0"/>
  <p:tag name="ISPRING_CUSTOM_TIMING_USED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Servlet的生命周期"/>
  <p:tag name="GENSWF_ADVANCE_TIME" val="0.00"/>
  <p:tag name="ISPRING_SLIDE_INDENT_LEVEL" val="0"/>
  <p:tag name="ISPRING_CUSTOM_TIMING_USED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主讲内容"/>
  <p:tag name="GENSWF_ADVANCE_TIME" val="0.00"/>
  <p:tag name="ISPRING_SLIDE_INDENT_LEVEL" val="0"/>
  <p:tag name="ISPRING_CUSTOM_TIMING_USED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HttpServlet类"/>
  <p:tag name="GENSWF_ADVANCE_TIME" val="0.00"/>
  <p:tag name="ISPRING_SLIDE_INDENT_LEVEL" val="0"/>
  <p:tag name="ISPRING_CUSTOM_TIMING_USED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【任务3-1】使用Eclipse工具开发Servlet"/>
  <p:tag name="GENSWF_ADVANCE_TIME" val="0.00"/>
  <p:tag name="ISPRING_SLIDE_INDENT_LEVEL" val="0"/>
  <p:tag name="ISPRING_CUSTOM_TIMING_USED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【任务3-2】实现Servlet虚拟路径的映射"/>
  <p:tag name="GENSWF_ADVANCE_TIME" val="0.00"/>
  <p:tag name="ISPRING_SLIDE_INDENT_LEVEL" val="0"/>
  <p:tag name="ISPRING_CUSTOM_TIMING_USED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主讲内容"/>
  <p:tag name="GENSWF_ADVANCE_TIME" val="0.00"/>
  <p:tag name="ISPRING_SLIDE_INDENT_LEVEL" val="0"/>
  <p:tag name="ISPRING_CUSTOM_TIMING_USED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ServletConfig接口"/>
  <p:tag name="GENSWF_ADVANCE_TIME" val="0.00"/>
  <p:tag name="ISPRING_SLIDE_INDENT_LEVEL" val="0"/>
  <p:tag name="ISPRING_CUSTOM_TIMING_USED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ServletConfig接口"/>
  <p:tag name="GENSWF_ADVANCE_TIME" val="0.00"/>
  <p:tag name="ISPRING_SLIDE_INDENT_LEVEL" val="0"/>
  <p:tag name="ISPRING_CUSTOM_TIMING_USED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ServletContext接口"/>
  <p:tag name="GENSWF_ADVANCE_TIME" val="0.00"/>
  <p:tag name="ISPRING_SLIDE_INDENT_LEVEL" val="0"/>
  <p:tag name="ISPRING_CUSTOM_TIMING_USED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本章小结"/>
  <p:tag name="GENSWF_ADVANCE_TIME" val="0.00"/>
  <p:tag name="ISPRING_SLIDE_INDENT_LEVEL" val="0"/>
  <p:tag name="ISPRING_CUSTOM_TIMING_USED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作业"/>
  <p:tag name="GENSWF_ADVANCE_TIME" val="0.00"/>
  <p:tag name="ISPRING_SLIDE_INDENT_LEVEL" val="0"/>
  <p:tag name="ISPRING_CUSTOM_TIMING_USED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2365</TotalTime>
  <Words>1724</Words>
  <Application>Microsoft Office PowerPoint</Application>
  <PresentationFormat>全屏显示(4:3)</PresentationFormat>
  <Paragraphs>205</Paragraphs>
  <Slides>24</Slides>
  <Notes>24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5" baseType="lpstr">
      <vt:lpstr>Office 主题​​</vt:lpstr>
      <vt:lpstr>Java Web程序设计任务教程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第3章 Servlet基础</dc:title>
  <dc:creator>admin</dc:creator>
  <cp:lastModifiedBy>石荣新</cp:lastModifiedBy>
  <cp:revision>219</cp:revision>
  <dcterms:created xsi:type="dcterms:W3CDTF">2015-06-29T07:19:00Z</dcterms:created>
  <dcterms:modified xsi:type="dcterms:W3CDTF">2018-01-09T09:30:22Z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2052-10.1.0.5777</vt:lpwstr>
  </property>
</Properties>
</file>
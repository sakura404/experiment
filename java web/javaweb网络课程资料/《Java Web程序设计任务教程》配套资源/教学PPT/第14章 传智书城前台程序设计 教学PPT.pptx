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1"/>
  </p:notesMasterIdLst>
  <p:sldIdLst>
    <p:sldId id="422" r:id="rId2"/>
    <p:sldId id="420" r:id="rId3"/>
    <p:sldId id="421" r:id="rId4"/>
    <p:sldId id="327" r:id="rId5"/>
    <p:sldId id="384" r:id="rId6"/>
    <p:sldId id="409" r:id="rId7"/>
    <p:sldId id="413" r:id="rId8"/>
    <p:sldId id="410" r:id="rId9"/>
    <p:sldId id="407" r:id="rId10"/>
    <p:sldId id="414" r:id="rId11"/>
    <p:sldId id="411" r:id="rId12"/>
    <p:sldId id="415" r:id="rId13"/>
    <p:sldId id="408" r:id="rId14"/>
    <p:sldId id="416" r:id="rId15"/>
    <p:sldId id="417" r:id="rId16"/>
    <p:sldId id="418" r:id="rId17"/>
    <p:sldId id="332" r:id="rId18"/>
    <p:sldId id="419" r:id="rId19"/>
    <p:sldId id="423" r:id="rId20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A1"/>
    <a:srgbClr val="D6ECFF"/>
    <a:srgbClr val="009ED6"/>
    <a:srgbClr val="4F81BD"/>
    <a:srgbClr val="006BA9"/>
    <a:srgbClr val="E7F4FF"/>
    <a:srgbClr val="E9EDF4"/>
    <a:srgbClr val="0159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7" autoAdjust="0"/>
    <p:restoredTop sz="98129" autoAdjust="0"/>
  </p:normalViewPr>
  <p:slideViewPr>
    <p:cSldViewPr>
      <p:cViewPr>
        <p:scale>
          <a:sx n="100" d="100"/>
          <a:sy n="100" d="100"/>
        </p:scale>
        <p:origin x="-1944" y="-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59762883621849"/>
          <c:y val="6.8138576695007141E-2"/>
          <c:w val="0.61861102362204723"/>
          <c:h val="0.76592641554868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</c:dPt>
          <c:dPt>
            <c:idx val="1"/>
            <c:bubble3D val="0"/>
          </c:dPt>
          <c:dPt>
            <c:idx val="2"/>
            <c:bubble3D val="0"/>
          </c:dPt>
          <c:cat>
            <c:strRef>
              <c:f>Sheet1!$A$2:$A$4</c:f>
              <c:strCache>
                <c:ptCount val="3"/>
                <c:pt idx="0">
                  <c:v>掌握知识</c:v>
                </c:pt>
                <c:pt idx="1">
                  <c:v>理解知识</c:v>
                </c:pt>
                <c:pt idx="2">
                  <c:v>了解知识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3.3333333330000001</c:v>
                </c:pt>
                <c:pt idx="1">
                  <c:v>3.3333333330000001</c:v>
                </c:pt>
                <c:pt idx="2">
                  <c:v>3.3333333330000001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942C4-7187-4388-9DA7-166A4AF90918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60C9A-C1BF-4966-BB9B-A7C48B427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7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511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89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929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604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702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30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164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56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662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870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980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4560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5980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612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017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886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8594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60C9A-C1BF-4966-BB9B-A7C48B42724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6209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A3DF5170-8A0D-43AE-A108-EB1D46CE06DD}" type="slidenum">
              <a:rPr lang="zh-CN" altLang="en-US"/>
              <a:pPr eaLnBrk="1" hangingPunct="1">
                <a:buFontTx/>
                <a:buNone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67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" y="-1"/>
            <a:ext cx="914078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52281"/>
            <a:ext cx="7772400" cy="2157681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8617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865811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939953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99426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310472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75999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" y="0"/>
            <a:ext cx="9146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2064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01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768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125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125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125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125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125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125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125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1250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1250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125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0093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0019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6486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743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7463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0738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2318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9814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9814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977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2966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6271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938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9377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317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9466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52" r:id="rId10"/>
    <p:sldLayoutId id="2147483651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59" r:id="rId22"/>
    <p:sldLayoutId id="2147483660" r:id="rId23"/>
    <p:sldLayoutId id="2147483662" r:id="rId24"/>
    <p:sldLayoutId id="2147483694" r:id="rId25"/>
    <p:sldLayoutId id="2147483664" r:id="rId26"/>
    <p:sldLayoutId id="2147483665" r:id="rId27"/>
    <p:sldLayoutId id="2147483667" r:id="rId28"/>
    <p:sldLayoutId id="2147483695" r:id="rId29"/>
    <p:sldLayoutId id="2147483696" r:id="rId30"/>
    <p:sldLayoutId id="2147483669" r:id="rId31"/>
    <p:sldLayoutId id="2147483670" r:id="rId32"/>
    <p:sldLayoutId id="2147483672" r:id="rId33"/>
    <p:sldLayoutId id="2147483697" r:id="rId34"/>
    <p:sldLayoutId id="2147483698" r:id="rId35"/>
    <p:sldLayoutId id="2147483654" r:id="rId36"/>
    <p:sldLayoutId id="2147483655" r:id="rId37"/>
    <p:sldLayoutId id="2147483657" r:id="rId3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7" Type="http://schemas.openxmlformats.org/officeDocument/2006/relationships/image" Target="../media/image8.png"/><Relationship Id="rId2" Type="http://schemas.openxmlformats.org/officeDocument/2006/relationships/tags" Target="../tags/tag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slideLayout" Target="../slideLayouts/slideLayout15.xml"/><Relationship Id="rId7" Type="http://schemas.openxmlformats.org/officeDocument/2006/relationships/oleObject" Target="../embeddings/oleObject3.bin"/><Relationship Id="rId2" Type="http://schemas.openxmlformats.org/officeDocument/2006/relationships/tags" Target="../tags/tag1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5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552" y="1352281"/>
            <a:ext cx="8136904" cy="2157681"/>
          </a:xfrm>
        </p:spPr>
        <p:txBody>
          <a:bodyPr/>
          <a:lstStyle/>
          <a:p>
            <a:r>
              <a:rPr lang="en-US" altLang="zh-CN" b="1" dirty="0" smtClean="0"/>
              <a:t>Java Web</a:t>
            </a:r>
            <a:r>
              <a:rPr lang="zh-CN" altLang="en-US" b="1" smtClean="0"/>
              <a:t>程序设计任务教程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861470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sz="3200" b="1" dirty="0" smtClean="0"/>
              <a:t>第</a:t>
            </a:r>
            <a:r>
              <a:rPr lang="en-US" altLang="zh-CN" sz="3200" b="1" dirty="0" smtClean="0"/>
              <a:t>14</a:t>
            </a:r>
            <a:r>
              <a:rPr lang="zh-CN" altLang="en-US" sz="3200" b="1" dirty="0" smtClean="0"/>
              <a:t>章 传智书城前台程序设计</a:t>
            </a:r>
            <a:endParaRPr lang="zh-CN" altLang="en-US" sz="3200" b="1" dirty="0"/>
          </a:p>
        </p:txBody>
      </p:sp>
      <p:sp>
        <p:nvSpPr>
          <p:cNvPr id="4" name="TextBox 13"/>
          <p:cNvSpPr>
            <a:spLocks noChangeArrowheads="1"/>
          </p:cNvSpPr>
          <p:nvPr/>
        </p:nvSpPr>
        <p:spPr bwMode="auto">
          <a:xfrm>
            <a:off x="5430838" y="5517232"/>
            <a:ext cx="3461642" cy="874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购物车模块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实现公告板和本周热卖功能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52725" y="5538788"/>
            <a:ext cx="4572000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用户注册和登录模块  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图书信息查询模块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301208"/>
            <a:ext cx="947906" cy="119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0057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请描述传智书城项目的开发环境</a:t>
            </a:r>
            <a:r>
              <a:rPr lang="zh-CN" altLang="en-US" sz="2400" smtClean="0">
                <a:solidFill>
                  <a:prstClr val="black"/>
                </a:solidFill>
              </a:rPr>
              <a:t>。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请写出传智书城项目搭建所需要导入的</a:t>
            </a:r>
            <a:r>
              <a:rPr lang="en-US" altLang="zh-CN" sz="2400">
                <a:solidFill>
                  <a:prstClr val="black"/>
                </a:solidFill>
              </a:rPr>
              <a:t>jar</a:t>
            </a:r>
            <a:r>
              <a:rPr lang="zh-CN" altLang="en-US" sz="2400">
                <a:solidFill>
                  <a:prstClr val="black"/>
                </a:solidFill>
              </a:rPr>
              <a:t>包。</a:t>
            </a:r>
            <a:endParaRPr lang="en-US" altLang="zh-CN" sz="2400">
              <a:solidFill>
                <a:prstClr val="black"/>
              </a:solidFill>
            </a:endParaRPr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作业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点评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228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/>
              <a:t>注册功能的设计</a:t>
            </a:r>
            <a:r>
              <a:rPr lang="zh-CN" altLang="en-US" sz="2400" smtClean="0"/>
              <a:t>思路。</a:t>
            </a:r>
            <a:r>
              <a:rPr lang="zh-CN" altLang="en-US" sz="2400" smtClean="0">
                <a:solidFill>
                  <a:prstClr val="black"/>
                </a:solidFill>
              </a:rPr>
              <a:t> 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/>
              <a:t>购物车模块的设计思路</a:t>
            </a:r>
            <a:r>
              <a:rPr lang="zh-CN" altLang="en-US" sz="2400" smtClean="0">
                <a:solidFill>
                  <a:prstClr val="black"/>
                </a:solidFill>
              </a:rPr>
              <a:t>。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预习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检查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04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 flipH="1" flipV="1">
            <a:off x="323525" y="2194584"/>
            <a:ext cx="2643327" cy="1162408"/>
            <a:chOff x="5403053" y="4201971"/>
            <a:chExt cx="3268960" cy="1232969"/>
          </a:xfrm>
        </p:grpSpPr>
        <p:grpSp>
          <p:nvGrpSpPr>
            <p:cNvPr id="3" name="组合 38"/>
            <p:cNvGrpSpPr>
              <a:grpSpLocks/>
            </p:cNvGrpSpPr>
            <p:nvPr/>
          </p:nvGrpSpPr>
          <p:grpSpPr bwMode="auto">
            <a:xfrm rot="10800000">
              <a:off x="5687902" y="4225925"/>
              <a:ext cx="2669052" cy="686411"/>
              <a:chOff x="934464" y="2318309"/>
              <a:chExt cx="2669329" cy="686148"/>
            </a:xfrm>
          </p:grpSpPr>
          <p:cxnSp>
            <p:nvCxnSpPr>
              <p:cNvPr id="8" name="直接连接符 39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934464" y="2318309"/>
                <a:ext cx="89376" cy="686148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" name="直接连接符 4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1023840" y="3004457"/>
                <a:ext cx="2579953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" name="组合 41"/>
            <p:cNvGrpSpPr>
              <a:grpSpLocks/>
            </p:cNvGrpSpPr>
            <p:nvPr/>
          </p:nvGrpSpPr>
          <p:grpSpPr bwMode="auto">
            <a:xfrm flipH="1">
              <a:off x="8082606" y="4880949"/>
              <a:ext cx="589407" cy="553991"/>
              <a:chOff x="1256847" y="3607535"/>
              <a:chExt cx="591076" cy="553298"/>
            </a:xfrm>
          </p:grpSpPr>
          <p:sp>
            <p:nvSpPr>
              <p:cNvPr id="6" name="椭圆 5"/>
              <p:cNvSpPr/>
              <p:nvPr/>
            </p:nvSpPr>
            <p:spPr bwMode="auto">
              <a:xfrm>
                <a:off x="1256847" y="3647898"/>
                <a:ext cx="591076" cy="474256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10800000">
                <a:off x="1327723" y="3607535"/>
                <a:ext cx="334694" cy="553298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矩形 51"/>
            <p:cNvSpPr>
              <a:spLocks noChangeArrowheads="1"/>
            </p:cNvSpPr>
            <p:nvPr/>
          </p:nvSpPr>
          <p:spPr bwMode="auto">
            <a:xfrm rot="10800000">
              <a:off x="5403053" y="4201971"/>
              <a:ext cx="2912753" cy="587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smtClean="0">
                  <a:solidFill>
                    <a:srgbClr val="006BA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前台的主要功能模块</a:t>
              </a:r>
              <a:endParaRPr lang="en-US" altLang="zh-CN" b="1">
                <a:solidFill>
                  <a:srgbClr val="006BA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570070" y="1316729"/>
            <a:ext cx="5245036" cy="4035361"/>
            <a:chOff x="1398367" y="1722062"/>
            <a:chExt cx="5245036" cy="4035172"/>
          </a:xfrm>
        </p:grpSpPr>
        <p:graphicFrame>
          <p:nvGraphicFramePr>
            <p:cNvPr id="11" name="图表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92531024"/>
                </p:ext>
              </p:extLst>
            </p:nvPr>
          </p:nvGraphicFramePr>
          <p:xfrm>
            <a:off x="1398367" y="1722062"/>
            <a:ext cx="5245036" cy="40351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TextBox 11"/>
            <p:cNvSpPr txBox="1"/>
            <p:nvPr/>
          </p:nvSpPr>
          <p:spPr bwMode="auto">
            <a:xfrm rot="2719682">
              <a:off x="4600346" y="2872905"/>
              <a:ext cx="1042938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  <p:sp>
          <p:nvSpPr>
            <p:cNvPr id="13" name="TextBox 12"/>
            <p:cNvSpPr txBox="1"/>
            <p:nvPr/>
          </p:nvSpPr>
          <p:spPr bwMode="auto">
            <a:xfrm rot="6997465" flipV="1">
              <a:off x="2748528" y="2675271"/>
              <a:ext cx="1041351" cy="369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</a:p>
          </p:txBody>
        </p:sp>
        <p:sp>
          <p:nvSpPr>
            <p:cNvPr id="14" name="TextBox 13"/>
            <p:cNvSpPr txBox="1"/>
            <p:nvPr/>
          </p:nvSpPr>
          <p:spPr bwMode="auto">
            <a:xfrm rot="10800000" flipH="1" flipV="1">
              <a:off x="3819272" y="4427003"/>
              <a:ext cx="1041400" cy="3682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</a:p>
          </p:txBody>
        </p:sp>
      </p:grpSp>
      <p:grpSp>
        <p:nvGrpSpPr>
          <p:cNvPr id="15" name="组合 2"/>
          <p:cNvGrpSpPr>
            <a:grpSpLocks/>
          </p:cNvGrpSpPr>
          <p:nvPr/>
        </p:nvGrpSpPr>
        <p:grpSpPr bwMode="auto">
          <a:xfrm>
            <a:off x="3692525" y="2547010"/>
            <a:ext cx="1203325" cy="1201737"/>
            <a:chOff x="3692088" y="2878838"/>
            <a:chExt cx="1203191" cy="1201737"/>
          </a:xfrm>
        </p:grpSpPr>
        <p:sp>
          <p:nvSpPr>
            <p:cNvPr id="16" name="弧形 15"/>
            <p:cNvSpPr/>
            <p:nvPr/>
          </p:nvSpPr>
          <p:spPr bwMode="auto">
            <a:xfrm rot="5400000">
              <a:off x="3692815" y="2878111"/>
              <a:ext cx="1201737" cy="1203191"/>
            </a:xfrm>
            <a:prstGeom prst="arc">
              <a:avLst>
                <a:gd name="adj1" fmla="val 5382197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" name="弧形 16"/>
            <p:cNvSpPr/>
            <p:nvPr/>
          </p:nvSpPr>
          <p:spPr bwMode="auto">
            <a:xfrm>
              <a:off x="3795265" y="2996313"/>
              <a:ext cx="990490" cy="992187"/>
            </a:xfrm>
            <a:prstGeom prst="arc">
              <a:avLst>
                <a:gd name="adj1" fmla="val 10763236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" name="弧形 17"/>
            <p:cNvSpPr/>
            <p:nvPr/>
          </p:nvSpPr>
          <p:spPr bwMode="auto">
            <a:xfrm rot="16200000">
              <a:off x="3891251" y="3136849"/>
              <a:ext cx="822325" cy="753978"/>
            </a:xfrm>
            <a:prstGeom prst="arc">
              <a:avLst>
                <a:gd name="adj1" fmla="val 16251812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4604979" y="4706683"/>
            <a:ext cx="4014573" cy="1082411"/>
            <a:chOff x="4241882" y="5106732"/>
            <a:chExt cx="2034492" cy="1075695"/>
          </a:xfrm>
        </p:grpSpPr>
        <p:grpSp>
          <p:nvGrpSpPr>
            <p:cNvPr id="20" name="组合 38"/>
            <p:cNvGrpSpPr>
              <a:grpSpLocks/>
            </p:cNvGrpSpPr>
            <p:nvPr/>
          </p:nvGrpSpPr>
          <p:grpSpPr bwMode="auto">
            <a:xfrm rot="5400000" flipV="1">
              <a:off x="4703914" y="4644700"/>
              <a:ext cx="1075695" cy="1999759"/>
              <a:chOff x="6453791" y="4116789"/>
              <a:chExt cx="1526764" cy="915993"/>
            </a:xfrm>
          </p:grpSpPr>
          <p:grpSp>
            <p:nvGrpSpPr>
              <p:cNvPr id="22" name="组合 38"/>
              <p:cNvGrpSpPr>
                <a:grpSpLocks/>
              </p:cNvGrpSpPr>
              <p:nvPr/>
            </p:nvGrpSpPr>
            <p:grpSpPr bwMode="auto">
              <a:xfrm rot="10800000">
                <a:off x="6453791" y="4116789"/>
                <a:ext cx="1212473" cy="810510"/>
                <a:chOff x="1625229" y="2303341"/>
                <a:chExt cx="1212595" cy="810196"/>
              </a:xfrm>
            </p:grpSpPr>
            <p:cxnSp>
              <p:nvCxnSpPr>
                <p:cNvPr id="26" name="直接连接符 39"/>
                <p:cNvCxnSpPr>
                  <a:cxnSpLocks noChangeShapeType="1"/>
                </p:cNvCxnSpPr>
                <p:nvPr/>
              </p:nvCxnSpPr>
              <p:spPr bwMode="auto">
                <a:xfrm rot="16200000" flipH="1" flipV="1">
                  <a:off x="1232572" y="2695997"/>
                  <a:ext cx="785314" cy="1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7" name="直接连接符 40"/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2219087" y="2494799"/>
                  <a:ext cx="24880" cy="1212595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3" name="组合 41"/>
              <p:cNvGrpSpPr>
                <a:grpSpLocks/>
              </p:cNvGrpSpPr>
              <p:nvPr/>
            </p:nvGrpSpPr>
            <p:grpSpPr bwMode="auto">
              <a:xfrm flipH="1">
                <a:off x="7292384" y="4920843"/>
                <a:ext cx="688171" cy="111939"/>
                <a:chOff x="1950262" y="3647353"/>
                <a:chExt cx="690120" cy="111798"/>
              </a:xfrm>
            </p:grpSpPr>
            <p:sp>
              <p:nvSpPr>
                <p:cNvPr id="24" name="椭圆 23"/>
                <p:cNvSpPr/>
                <p:nvPr/>
              </p:nvSpPr>
              <p:spPr bwMode="auto">
                <a:xfrm rot="5400000">
                  <a:off x="2204742" y="3392873"/>
                  <a:ext cx="111798" cy="620757"/>
                </a:xfrm>
                <a:prstGeom prst="ellipse">
                  <a:avLst/>
                </a:prstGeom>
                <a:solidFill>
                  <a:srgbClr val="006BA9"/>
                </a:solidFill>
                <a:ln w="28575" cap="flat" cmpd="sng" algn="ctr">
                  <a:solidFill>
                    <a:srgbClr val="006BA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/>
                <a:lstStyle/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 rot="5400000">
                  <a:off x="2258997" y="3373460"/>
                  <a:ext cx="93355" cy="669415"/>
                </a:xfrm>
                <a:prstGeom prst="rect">
                  <a:avLst/>
                </a:prstGeom>
                <a:noFill/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800" b="1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1" name="矩形 4"/>
            <p:cNvSpPr>
              <a:spLocks noChangeArrowheads="1"/>
            </p:cNvSpPr>
            <p:nvPr/>
          </p:nvSpPr>
          <p:spPr bwMode="auto">
            <a:xfrm>
              <a:off x="4296212" y="5389410"/>
              <a:ext cx="1980162" cy="495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各个功能模块的使用流程</a:t>
              </a:r>
              <a:endParaRPr lang="en-US" altLang="zh-CN" b="1" dirty="0">
                <a:solidFill>
                  <a:srgbClr val="006BA9"/>
                </a:solidFill>
                <a:ea typeface="微软雅黑" pitchFamily="34" charset="-122"/>
                <a:sym typeface="宋体" charset="-122"/>
              </a:endParaRPr>
            </a:p>
          </p:txBody>
        </p:sp>
      </p:grpSp>
      <p:grpSp>
        <p:nvGrpSpPr>
          <p:cNvPr id="28" name="组合 6"/>
          <p:cNvGrpSpPr>
            <a:grpSpLocks/>
          </p:cNvGrpSpPr>
          <p:nvPr/>
        </p:nvGrpSpPr>
        <p:grpSpPr bwMode="auto">
          <a:xfrm>
            <a:off x="5773380" y="1303600"/>
            <a:ext cx="4055204" cy="1477328"/>
            <a:chOff x="5919000" y="1328146"/>
            <a:chExt cx="4058859" cy="1477374"/>
          </a:xfrm>
        </p:grpSpPr>
        <p:sp>
          <p:nvSpPr>
            <p:cNvPr id="29" name="矩形 5"/>
            <p:cNvSpPr>
              <a:spLocks noChangeArrowheads="1"/>
            </p:cNvSpPr>
            <p:nvPr/>
          </p:nvSpPr>
          <p:spPr bwMode="auto">
            <a:xfrm flipH="1">
              <a:off x="5919000" y="1328146"/>
              <a:ext cx="4058859" cy="1477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用户注册和登录模块的开发</a:t>
              </a:r>
              <a:endParaRPr lang="en-US" altLang="zh-CN" b="1" smtClean="0">
                <a:solidFill>
                  <a:srgbClr val="01598B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457200" indent="-457200">
                <a:lnSpc>
                  <a:spcPts val="3600"/>
                </a:lnSpc>
              </a:pPr>
              <a:r>
                <a:rPr lang="zh-CN" altLang="en-US" b="1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购物</a:t>
              </a:r>
              <a:r>
                <a:rPr lang="zh-CN" altLang="en-US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车模块的开发</a:t>
              </a:r>
              <a:endParaRPr lang="en-US" altLang="zh-CN" b="1" smtClean="0">
                <a:solidFill>
                  <a:srgbClr val="01598B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457200" indent="-457200">
                <a:lnSpc>
                  <a:spcPts val="3600"/>
                </a:lnSpc>
              </a:pPr>
              <a:r>
                <a:rPr lang="zh-CN" altLang="en-US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图书信息查询模块的开发</a:t>
              </a:r>
              <a:endParaRPr lang="en-US" altLang="zh-CN" b="1" smtClean="0">
                <a:solidFill>
                  <a:srgbClr val="0159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0" name="组合 16"/>
            <p:cNvGrpSpPr>
              <a:grpSpLocks/>
            </p:cNvGrpSpPr>
            <p:nvPr/>
          </p:nvGrpSpPr>
          <p:grpSpPr bwMode="auto">
            <a:xfrm flipH="1">
              <a:off x="5947990" y="2286831"/>
              <a:ext cx="3039273" cy="446681"/>
              <a:chOff x="980659" y="2862509"/>
              <a:chExt cx="3177995" cy="446892"/>
            </a:xfrm>
          </p:grpSpPr>
          <p:cxnSp>
            <p:nvCxnSpPr>
              <p:cNvPr id="34" name="直接连接符 7"/>
              <p:cNvCxnSpPr>
                <a:cxnSpLocks noChangeShapeType="1"/>
              </p:cNvCxnSpPr>
              <p:nvPr/>
            </p:nvCxnSpPr>
            <p:spPr bwMode="auto">
              <a:xfrm>
                <a:off x="980659" y="2862509"/>
                <a:ext cx="255076" cy="446892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10"/>
              <p:cNvCxnSpPr>
                <a:cxnSpLocks noChangeShapeType="1"/>
              </p:cNvCxnSpPr>
              <p:nvPr/>
            </p:nvCxnSpPr>
            <p:spPr bwMode="auto">
              <a:xfrm>
                <a:off x="1235735" y="3294594"/>
                <a:ext cx="2922919" cy="14807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" name="组合 15"/>
            <p:cNvGrpSpPr>
              <a:grpSpLocks/>
            </p:cNvGrpSpPr>
            <p:nvPr/>
          </p:nvGrpSpPr>
          <p:grpSpPr bwMode="auto">
            <a:xfrm flipH="1">
              <a:off x="8767739" y="1827378"/>
              <a:ext cx="489391" cy="520715"/>
              <a:chOff x="1383068" y="4069721"/>
              <a:chExt cx="511727" cy="520961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1383068" y="4085604"/>
                <a:ext cx="511727" cy="473312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491055" y="4069721"/>
                <a:ext cx="335613" cy="52096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6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学习目标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585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755576" y="2492896"/>
            <a:ext cx="4896544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1097740" y="262762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prstClr val="white"/>
                </a:solidFill>
                <a:latin typeface="Impact" pitchFamily="34" charset="0"/>
                <a:ea typeface="微软雅黑" pitchFamily="34" charset="-122"/>
              </a:rPr>
              <a:t>14.1    </a:t>
            </a:r>
            <a:r>
              <a:rPr lang="zh-CN" altLang="en-US" sz="2400" smtClean="0">
                <a:solidFill>
                  <a:prstClr val="white"/>
                </a:solidFill>
                <a:latin typeface="Impact" pitchFamily="34" charset="0"/>
                <a:ea typeface="微软雅黑" pitchFamily="34" charset="-122"/>
              </a:rPr>
              <a:t>用户注册和登录模块</a:t>
            </a:r>
            <a:r>
              <a:rPr lang="zh-CN" altLang="en-US" sz="240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4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1097740" y="3284984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14.2    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购物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车模块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7" name="TextBox 10"/>
          <p:cNvSpPr txBox="1"/>
          <p:nvPr/>
        </p:nvSpPr>
        <p:spPr>
          <a:xfrm>
            <a:off x="1097740" y="386104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14.3    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图书信息查询模块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74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80648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3721671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3704258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b="1" kern="0" dirty="0" smtClean="0">
                <a:solidFill>
                  <a:sysClr val="window" lastClr="FFFFFF"/>
                </a:solidFill>
                <a:latin typeface="Verdana" pitchFamily="34" charset="0"/>
              </a:rPr>
              <a:t>2</a:t>
            </a:r>
            <a:endParaRPr lang="zh-CN" altLang="en-US" b="1" kern="0" dirty="0" smtClean="0">
              <a:solidFill>
                <a:sysClr val="window" lastClr="FFFFFF"/>
              </a:solidFill>
              <a:latin typeface="Verdana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2186399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任务目标：</a:t>
            </a:r>
            <a:endParaRPr lang="en-US" altLang="zh-CN" sz="1200" kern="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4462716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ysClr val="window" lastClr="FFFFFF"/>
                </a:solidFill>
                <a:latin typeface="Arial"/>
              </a:rPr>
              <a:t>案例代码（详</a:t>
            </a: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见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教材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【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14-1】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中的实现步骤）</a:t>
            </a:r>
            <a:endParaRPr lang="en-US" altLang="zh-CN" b="1" kern="0" dirty="0">
              <a:solidFill>
                <a:sysClr val="window" lastClr="FFFFFF"/>
              </a:solidFill>
              <a:latin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3707384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lang="zh-CN" altLang="en-US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kern="0" dirty="0">
              <a:solidFill>
                <a:srgbClr val="0070C0"/>
              </a:solidFill>
              <a:latin typeface="Arial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57374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077271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233025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223705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prstClr val="white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prstClr val="white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88345" y="2896286"/>
            <a:ext cx="3671887" cy="11680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编写注册页面</a:t>
            </a:r>
            <a:endParaRPr lang="en-US" altLang="zh-CN" sz="120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编写</a:t>
            </a:r>
            <a:r>
              <a:rPr lang="en-US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Service</a:t>
            </a: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层方法</a:t>
            </a:r>
            <a:endParaRPr lang="en-US" altLang="zh-CN" sz="120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创建邮件工具类</a:t>
            </a:r>
            <a:endParaRPr lang="en-US" altLang="zh-CN" sz="120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99792" y="2241961"/>
            <a:ext cx="4031873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本任务</a:t>
            </a:r>
            <a:r>
              <a:rPr lang="zh-CN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zh-CN" sz="120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学习</a:t>
            </a:r>
            <a:r>
              <a:rPr lang="zh-CN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学会如何实现传智书城用户注册功能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5" y="2351848"/>
            <a:ext cx="6725653" cy="365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115615" y="1412776"/>
            <a:ext cx="6725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zh-CN" dirty="0">
                <a:solidFill>
                  <a:srgbClr val="006BA9"/>
                </a:solidFill>
              </a:rPr>
              <a:t>在传智书城网站上，用户只有注册账号并登录后才可以购买图书，那么首次进入网站的用户就需要先注册账号。传智书城项目的用户注册页面预览，如</a:t>
            </a:r>
            <a:r>
              <a:rPr lang="zh-CN" altLang="zh-CN" dirty="0" smtClean="0">
                <a:solidFill>
                  <a:srgbClr val="006BA9"/>
                </a:solidFill>
              </a:rPr>
              <a:t>图所示</a:t>
            </a:r>
            <a:r>
              <a:rPr lang="zh-CN" altLang="en-US" dirty="0" smtClean="0">
                <a:solidFill>
                  <a:srgbClr val="006BA9"/>
                </a:solidFill>
              </a:rPr>
              <a:t>。</a:t>
            </a:r>
            <a:endParaRPr lang="zh-CN" altLang="en-US" dirty="0">
              <a:solidFill>
                <a:srgbClr val="006BA9"/>
              </a:solidFill>
            </a:endParaRPr>
          </a:p>
        </p:txBody>
      </p:sp>
      <p:sp>
        <p:nvSpPr>
          <p:cNvPr id="16" name="标题 1"/>
          <p:cNvSpPr>
            <a:spLocks noChangeArrowheads="1"/>
          </p:cNvSpPr>
          <p:nvPr/>
        </p:nvSpPr>
        <p:spPr bwMode="auto">
          <a:xfrm>
            <a:off x="1643733" y="389681"/>
            <a:ext cx="6528667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14-1</a:t>
            </a: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用户注册功能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579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  <p:bldP spid="14" grpId="0"/>
      <p:bldP spid="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80648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16" name="对象 15" hidden="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504221"/>
              </p:ext>
            </p:extLst>
          </p:nvPr>
        </p:nvGraphicFramePr>
        <p:xfrm>
          <a:off x="1508796" y="2803773"/>
          <a:ext cx="49149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r:id="rId5" imgW="7707690" imgH="1673255" progId="Visio.Drawing.11">
                  <p:embed/>
                </p:oleObj>
              </mc:Choice>
              <mc:Fallback>
                <p:oleObj r:id="rId5" imgW="7707690" imgH="167325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796" y="2803773"/>
                        <a:ext cx="4914900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1" name="图片 1" hidden="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24" y="1946027"/>
            <a:ext cx="7241951" cy="3980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圆角矩形 35849"/>
          <p:cNvSpPr>
            <a:spLocks noChangeArrowheads="1"/>
          </p:cNvSpPr>
          <p:nvPr/>
        </p:nvSpPr>
        <p:spPr bwMode="auto">
          <a:xfrm>
            <a:off x="331788" y="5119836"/>
            <a:ext cx="8507412" cy="1023938"/>
          </a:xfrm>
          <a:prstGeom prst="roundRect">
            <a:avLst>
              <a:gd name="adj" fmla="val 16667"/>
            </a:avLst>
          </a:prstGeom>
          <a:solidFill>
            <a:srgbClr val="D6ECFF"/>
          </a:solidFill>
          <a:ln w="28575" algn="ctr">
            <a:solidFill>
              <a:srgbClr val="00ACE6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560388" y="1628800"/>
            <a:ext cx="8031162" cy="936104"/>
            <a:chOff x="560388" y="1628800"/>
            <a:chExt cx="8031162" cy="936104"/>
          </a:xfrm>
        </p:grpSpPr>
        <p:sp>
          <p:nvSpPr>
            <p:cNvPr id="20" name="矩形 1"/>
            <p:cNvSpPr>
              <a:spLocks noChangeArrowheads="1"/>
            </p:cNvSpPr>
            <p:nvPr/>
          </p:nvSpPr>
          <p:spPr bwMode="auto">
            <a:xfrm>
              <a:off x="560388" y="1628800"/>
              <a:ext cx="8031162" cy="893762"/>
            </a:xfrm>
            <a:prstGeom prst="rect">
              <a:avLst/>
            </a:prstGeom>
            <a:solidFill>
              <a:srgbClr val="D6ECFF"/>
            </a:solidFill>
            <a:ln w="12700" algn="ctr">
              <a:solidFill>
                <a:srgbClr val="00ACE6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pitchFamily="34" charset="0"/>
                <a:buNone/>
              </a:pPr>
              <a:endParaRPr lang="zh-CN" altLang="en-US"/>
            </a:p>
          </p:txBody>
        </p:sp>
        <p:sp>
          <p:nvSpPr>
            <p:cNvPr id="21" name="矩形 1"/>
            <p:cNvSpPr>
              <a:spLocks noChangeArrowheads="1"/>
            </p:cNvSpPr>
            <p:nvPr/>
          </p:nvSpPr>
          <p:spPr bwMode="auto">
            <a:xfrm>
              <a:off x="638175" y="1641574"/>
              <a:ext cx="7642225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Calibri" panose="020F0502020204030204" pitchFamily="34" charset="0"/>
                <a:buChar char="–"/>
              </a:pPr>
              <a:r>
                <a:rPr lang="zh-CN" altLang="zh-CN" dirty="0" smtClean="0">
                  <a:latin typeface="+mn-ea"/>
                </a:rPr>
                <a:t>用户</a:t>
              </a:r>
              <a:r>
                <a:rPr lang="zh-CN" altLang="zh-CN" dirty="0">
                  <a:latin typeface="+mn-ea"/>
                </a:rPr>
                <a:t>注册并成功激活之后，该用户便可以进行网站的</a:t>
              </a:r>
              <a:r>
                <a:rPr lang="zh-CN" altLang="zh-CN" dirty="0">
                  <a:solidFill>
                    <a:srgbClr val="00B0F0"/>
                  </a:solidFill>
                  <a:latin typeface="+mn-ea"/>
                </a:rPr>
                <a:t>登录操作</a:t>
              </a:r>
              <a:r>
                <a:rPr lang="zh-CN" altLang="zh-CN" dirty="0">
                  <a:latin typeface="+mn-ea"/>
                </a:rPr>
                <a:t>。</a:t>
              </a:r>
              <a:r>
                <a:rPr lang="zh-CN" altLang="zh-CN" dirty="0">
                  <a:solidFill>
                    <a:srgbClr val="00B0F0"/>
                  </a:solidFill>
                  <a:latin typeface="+mn-ea"/>
                </a:rPr>
                <a:t>网上书城前台系统登录模块的流程</a:t>
              </a:r>
              <a:r>
                <a:rPr lang="zh-CN" altLang="en-US" dirty="0">
                  <a:solidFill>
                    <a:srgbClr val="00B0F0"/>
                  </a:solidFill>
                  <a:latin typeface="+mn-ea"/>
                </a:rPr>
                <a:t>图</a:t>
              </a:r>
              <a:r>
                <a:rPr lang="zh-CN" altLang="en-US" dirty="0">
                  <a:latin typeface="+mn-ea"/>
                </a:rPr>
                <a:t>如下</a:t>
              </a:r>
              <a:r>
                <a:rPr lang="zh-CN" altLang="zh-CN" dirty="0">
                  <a:latin typeface="+mn-ea"/>
                </a:rPr>
                <a:t>。</a:t>
              </a:r>
            </a:p>
          </p:txBody>
        </p:sp>
      </p:grp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2493963" y="2871936"/>
            <a:ext cx="1504950" cy="633413"/>
          </a:xfrm>
          <a:prstGeom prst="rect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  <a:defRPr/>
            </a:pPr>
            <a:endParaRPr lang="zh-CN" altLang="en-US" smtClean="0">
              <a:latin typeface="+mn-ea"/>
              <a:ea typeface="+mn-ea"/>
            </a:endParaRPr>
          </a:p>
        </p:txBody>
      </p:sp>
      <p:sp>
        <p:nvSpPr>
          <p:cNvPr id="23" name="矩形 21"/>
          <p:cNvSpPr>
            <a:spLocks noChangeArrowheads="1"/>
          </p:cNvSpPr>
          <p:nvPr/>
        </p:nvSpPr>
        <p:spPr bwMode="auto">
          <a:xfrm>
            <a:off x="5395913" y="2871936"/>
            <a:ext cx="1504950" cy="649288"/>
          </a:xfrm>
          <a:prstGeom prst="rect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  <a:defRPr/>
            </a:pPr>
            <a:endParaRPr lang="zh-CN" altLang="en-US" smtClean="0">
              <a:latin typeface="+mn-ea"/>
              <a:ea typeface="+mn-ea"/>
            </a:endParaRPr>
          </a:p>
        </p:txBody>
      </p:sp>
      <p:cxnSp>
        <p:nvCxnSpPr>
          <p:cNvPr id="24" name="直接箭头连接符 23"/>
          <p:cNvCxnSpPr>
            <a:cxnSpLocks noChangeShapeType="1"/>
          </p:cNvCxnSpPr>
          <p:nvPr/>
        </p:nvCxnSpPr>
        <p:spPr bwMode="auto">
          <a:xfrm flipV="1">
            <a:off x="3162300" y="3505349"/>
            <a:ext cx="0" cy="476250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箭头连接符 24"/>
          <p:cNvCxnSpPr>
            <a:cxnSpLocks noChangeShapeType="1"/>
          </p:cNvCxnSpPr>
          <p:nvPr/>
        </p:nvCxnSpPr>
        <p:spPr bwMode="auto">
          <a:xfrm flipV="1">
            <a:off x="6148388" y="3540274"/>
            <a:ext cx="0" cy="476250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矩形 23"/>
          <p:cNvSpPr>
            <a:spLocks noChangeArrowheads="1"/>
          </p:cNvSpPr>
          <p:nvPr/>
        </p:nvSpPr>
        <p:spPr bwMode="auto">
          <a:xfrm>
            <a:off x="227013" y="4081611"/>
            <a:ext cx="1504950" cy="542925"/>
          </a:xfrm>
          <a:prstGeom prst="rect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  <a:defRPr/>
            </a:pPr>
            <a:endParaRPr lang="zh-CN" altLang="en-US" smtClean="0">
              <a:latin typeface="+mn-ea"/>
              <a:ea typeface="+mn-ea"/>
            </a:endParaRPr>
          </a:p>
        </p:txBody>
      </p:sp>
      <p:cxnSp>
        <p:nvCxnSpPr>
          <p:cNvPr id="27" name="直接箭头连接符 26"/>
          <p:cNvCxnSpPr>
            <a:cxnSpLocks noChangeShapeType="1"/>
            <a:stCxn id="26" idx="3"/>
            <a:endCxn id="29" idx="1"/>
          </p:cNvCxnSpPr>
          <p:nvPr/>
        </p:nvCxnSpPr>
        <p:spPr bwMode="auto">
          <a:xfrm>
            <a:off x="1731963" y="4353074"/>
            <a:ext cx="333375" cy="0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矩形 24"/>
          <p:cNvSpPr>
            <a:spLocks noChangeArrowheads="1"/>
          </p:cNvSpPr>
          <p:nvPr/>
        </p:nvSpPr>
        <p:spPr bwMode="auto">
          <a:xfrm>
            <a:off x="7802563" y="4072086"/>
            <a:ext cx="1138237" cy="542925"/>
          </a:xfrm>
          <a:prstGeom prst="rect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  <a:defRPr/>
            </a:pPr>
            <a:endParaRPr lang="zh-CN" altLang="en-US" smtClean="0">
              <a:latin typeface="+mn-ea"/>
              <a:ea typeface="+mn-ea"/>
            </a:endParaRPr>
          </a:p>
        </p:txBody>
      </p:sp>
      <p:sp>
        <p:nvSpPr>
          <p:cNvPr id="29" name="流程图: 决策 11"/>
          <p:cNvSpPr>
            <a:spLocks noChangeArrowheads="1"/>
          </p:cNvSpPr>
          <p:nvPr/>
        </p:nvSpPr>
        <p:spPr bwMode="auto">
          <a:xfrm>
            <a:off x="2065338" y="4005411"/>
            <a:ext cx="2170112" cy="695325"/>
          </a:xfrm>
          <a:prstGeom prst="flowChartDecision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  <a:defRPr/>
            </a:pPr>
            <a:endParaRPr lang="zh-CN" altLang="en-US" smtClean="0">
              <a:latin typeface="+mn-ea"/>
              <a:ea typeface="+mn-ea"/>
            </a:endParaRPr>
          </a:p>
        </p:txBody>
      </p:sp>
      <p:cxnSp>
        <p:nvCxnSpPr>
          <p:cNvPr id="30" name="直接箭头连接符 29"/>
          <p:cNvCxnSpPr>
            <a:cxnSpLocks noChangeShapeType="1"/>
          </p:cNvCxnSpPr>
          <p:nvPr/>
        </p:nvCxnSpPr>
        <p:spPr bwMode="auto">
          <a:xfrm>
            <a:off x="4225925" y="4357836"/>
            <a:ext cx="828675" cy="1588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接箭头连接符 30"/>
          <p:cNvCxnSpPr>
            <a:cxnSpLocks noChangeShapeType="1"/>
            <a:endCxn id="28" idx="1"/>
          </p:cNvCxnSpPr>
          <p:nvPr/>
        </p:nvCxnSpPr>
        <p:spPr bwMode="auto">
          <a:xfrm flipV="1">
            <a:off x="7213600" y="4343549"/>
            <a:ext cx="588963" cy="9525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矩形 15"/>
          <p:cNvSpPr>
            <a:spLocks noChangeArrowheads="1"/>
          </p:cNvSpPr>
          <p:nvPr/>
        </p:nvSpPr>
        <p:spPr bwMode="auto">
          <a:xfrm>
            <a:off x="2493963" y="2865586"/>
            <a:ext cx="15716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zh-CN" altLang="en-US" dirty="0" smtClean="0">
                <a:latin typeface="+mn-ea"/>
                <a:ea typeface="+mn-ea"/>
              </a:rPr>
              <a:t>提示用户名或</a:t>
            </a:r>
            <a:endParaRPr lang="en-US" altLang="zh-CN" dirty="0" smtClean="0">
              <a:latin typeface="+mn-ea"/>
              <a:ea typeface="+mn-ea"/>
            </a:endParaRPr>
          </a:p>
          <a:p>
            <a:pPr algn="ctr">
              <a:defRPr/>
            </a:pPr>
            <a:r>
              <a:rPr lang="zh-CN" altLang="en-US" dirty="0" smtClean="0">
                <a:latin typeface="+mn-ea"/>
                <a:ea typeface="+mn-ea"/>
              </a:rPr>
              <a:t>密码错误</a:t>
            </a: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5395913" y="2886224"/>
            <a:ext cx="14589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zh-CN" altLang="en-US" dirty="0" smtClean="0">
                <a:latin typeface="+mn-ea"/>
                <a:ea typeface="+mn-ea"/>
              </a:rPr>
              <a:t>提示用户</a:t>
            </a:r>
            <a:endParaRPr lang="en-US" altLang="zh-CN" dirty="0" smtClean="0">
              <a:latin typeface="+mn-ea"/>
              <a:ea typeface="+mn-ea"/>
            </a:endParaRPr>
          </a:p>
          <a:p>
            <a:pPr algn="ctr">
              <a:defRPr/>
            </a:pPr>
            <a:r>
              <a:rPr lang="zh-CN" altLang="en-US" dirty="0" smtClean="0">
                <a:latin typeface="+mn-ea"/>
                <a:ea typeface="+mn-ea"/>
              </a:rPr>
              <a:t>未激活</a:t>
            </a:r>
          </a:p>
        </p:txBody>
      </p: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331788" y="4173686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latin typeface="+mn-ea"/>
                <a:ea typeface="+mn-ea"/>
              </a:rPr>
              <a:t>用户登录</a:t>
            </a:r>
          </a:p>
        </p:txBody>
      </p: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2266950" y="4176861"/>
            <a:ext cx="18256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z="1600" smtClean="0">
                <a:latin typeface="+mn-ea"/>
                <a:ea typeface="+mn-ea"/>
              </a:rPr>
              <a:t>验证用户名和密码</a:t>
            </a:r>
          </a:p>
        </p:txBody>
      </p:sp>
      <p:sp>
        <p:nvSpPr>
          <p:cNvPr id="36" name="流程图: 决策 35"/>
          <p:cNvSpPr>
            <a:spLocks noChangeArrowheads="1"/>
          </p:cNvSpPr>
          <p:nvPr/>
        </p:nvSpPr>
        <p:spPr bwMode="auto">
          <a:xfrm>
            <a:off x="5054600" y="4014936"/>
            <a:ext cx="2168525" cy="695325"/>
          </a:xfrm>
          <a:prstGeom prst="flowChartDecision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  <a:defRPr/>
            </a:pPr>
            <a:endParaRPr lang="zh-CN" altLang="en-US" smtClean="0">
              <a:latin typeface="+mn-ea"/>
              <a:ea typeface="+mn-ea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4263461" y="4136198"/>
            <a:ext cx="67872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  <a:ex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307026" y="4151587"/>
            <a:ext cx="59503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softEdge rad="546100"/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latin typeface="+mn-ea"/>
                <a:ea typeface="+mn-ea"/>
              </a:rPr>
              <a:t>正确</a:t>
            </a:r>
          </a:p>
        </p:txBody>
      </p:sp>
      <p:sp>
        <p:nvSpPr>
          <p:cNvPr id="39" name="矩形 41"/>
          <p:cNvSpPr>
            <a:spLocks noChangeArrowheads="1"/>
          </p:cNvSpPr>
          <p:nvPr/>
        </p:nvSpPr>
        <p:spPr bwMode="auto">
          <a:xfrm>
            <a:off x="5340350" y="4167336"/>
            <a:ext cx="1570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latin typeface="+mn-ea"/>
                <a:ea typeface="+mn-ea"/>
              </a:rPr>
              <a:t>用户是否激活</a:t>
            </a:r>
          </a:p>
        </p:txBody>
      </p:sp>
      <p:sp>
        <p:nvSpPr>
          <p:cNvPr id="40" name="矩形 43"/>
          <p:cNvSpPr>
            <a:spLocks noChangeArrowheads="1"/>
          </p:cNvSpPr>
          <p:nvPr/>
        </p:nvSpPr>
        <p:spPr bwMode="auto">
          <a:xfrm>
            <a:off x="7821613" y="4145111"/>
            <a:ext cx="110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latin typeface="+mn-ea"/>
                <a:ea typeface="+mn-ea"/>
              </a:rPr>
              <a:t>登录成功</a:t>
            </a:r>
          </a:p>
        </p:txBody>
      </p:sp>
      <p:sp>
        <p:nvSpPr>
          <p:cNvPr id="41" name="矩形 40"/>
          <p:cNvSpPr/>
          <p:nvPr/>
        </p:nvSpPr>
        <p:spPr bwMode="auto">
          <a:xfrm>
            <a:off x="7233252" y="4135154"/>
            <a:ext cx="45230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  <a:ex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233252" y="4150543"/>
            <a:ext cx="389850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softEdge rad="546100"/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latin typeface="+mn-ea"/>
                <a:ea typeface="+mn-ea"/>
              </a:rPr>
              <a:t>是</a:t>
            </a:r>
          </a:p>
        </p:txBody>
      </p:sp>
      <p:sp>
        <p:nvSpPr>
          <p:cNvPr id="43" name="矩形 42"/>
          <p:cNvSpPr/>
          <p:nvPr/>
        </p:nvSpPr>
        <p:spPr bwMode="auto">
          <a:xfrm>
            <a:off x="2801640" y="3609318"/>
            <a:ext cx="67872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  <a:ex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851406" y="3630208"/>
            <a:ext cx="598241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softEdge rad="546100"/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latin typeface="+mn-ea"/>
                <a:ea typeface="+mn-ea"/>
              </a:rPr>
              <a:t>错误</a:t>
            </a:r>
          </a:p>
        </p:txBody>
      </p:sp>
      <p:sp>
        <p:nvSpPr>
          <p:cNvPr id="45" name="矩形 44"/>
          <p:cNvSpPr/>
          <p:nvPr/>
        </p:nvSpPr>
        <p:spPr bwMode="auto">
          <a:xfrm>
            <a:off x="5928670" y="3630208"/>
            <a:ext cx="45230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  <a:ex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37550" y="3636043"/>
            <a:ext cx="391454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softEdge rad="546100"/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latin typeface="+mn-ea"/>
                <a:ea typeface="+mn-ea"/>
              </a:rPr>
              <a:t>否</a:t>
            </a:r>
          </a:p>
        </p:txBody>
      </p:sp>
      <p:sp>
        <p:nvSpPr>
          <p:cNvPr id="47" name="矩形 35848"/>
          <p:cNvSpPr>
            <a:spLocks noChangeArrowheads="1"/>
          </p:cNvSpPr>
          <p:nvPr/>
        </p:nvSpPr>
        <p:spPr bwMode="auto">
          <a:xfrm>
            <a:off x="1603375" y="5219849"/>
            <a:ext cx="69437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600" dirty="0" smtClean="0">
                <a:latin typeface="+mn-ea"/>
              </a:rPr>
              <a:t>用户</a:t>
            </a:r>
            <a:r>
              <a:rPr lang="zh-CN" altLang="en-US" sz="1600" dirty="0">
                <a:latin typeface="+mn-ea"/>
              </a:rPr>
              <a:t>登录过程中首先要</a:t>
            </a:r>
            <a:r>
              <a:rPr lang="zh-CN" altLang="en-US" sz="1600" dirty="0">
                <a:solidFill>
                  <a:srgbClr val="FF33CC"/>
                </a:solidFill>
                <a:latin typeface="+mn-ea"/>
              </a:rPr>
              <a:t>验证用户名和密码是否正确</a:t>
            </a:r>
            <a:r>
              <a:rPr lang="zh-CN" altLang="en-US" sz="1600" dirty="0">
                <a:latin typeface="+mn-ea"/>
              </a:rPr>
              <a:t>，还要验证该</a:t>
            </a:r>
            <a:r>
              <a:rPr lang="zh-CN" altLang="en-US" sz="1600" dirty="0">
                <a:solidFill>
                  <a:srgbClr val="FF33CC"/>
                </a:solidFill>
                <a:latin typeface="+mn-ea"/>
              </a:rPr>
              <a:t>用户是否激活</a:t>
            </a:r>
            <a:r>
              <a:rPr lang="zh-CN" altLang="en-US" sz="1600" dirty="0">
                <a:latin typeface="+mn-ea"/>
              </a:rPr>
              <a:t>，用户名密码都正确，并且该用户已激活才能够登录成功。</a:t>
            </a:r>
          </a:p>
        </p:txBody>
      </p:sp>
      <p:sp>
        <p:nvSpPr>
          <p:cNvPr id="48" name="矩形 47"/>
          <p:cNvSpPr/>
          <p:nvPr/>
        </p:nvSpPr>
        <p:spPr>
          <a:xfrm>
            <a:off x="552450" y="5419874"/>
            <a:ext cx="903288" cy="52228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49" name="标题 1"/>
          <p:cNvSpPr>
            <a:spLocks noChangeArrowheads="1"/>
          </p:cNvSpPr>
          <p:nvPr/>
        </p:nvSpPr>
        <p:spPr bwMode="auto">
          <a:xfrm>
            <a:off x="1643733" y="389681"/>
            <a:ext cx="6528667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14-1</a:t>
            </a: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用户注册功能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72866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3" grpId="0" animBg="1"/>
      <p:bldP spid="26" grpId="0" animBg="1"/>
      <p:bldP spid="28" grpId="0" animBg="1"/>
      <p:bldP spid="29" grpId="0" animBg="1"/>
      <p:bldP spid="32" grpId="0"/>
      <p:bldP spid="33" grpId="0"/>
      <p:bldP spid="34" grpId="0"/>
      <p:bldP spid="35" grpId="0"/>
      <p:bldP spid="36" grpId="0" animBg="1"/>
      <p:bldP spid="39" grpId="0"/>
      <p:bldP spid="40" grpId="0"/>
      <p:bldP spid="47" grpId="0"/>
      <p:bldP spid="4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80648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3950469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3933056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b="1" kern="0" dirty="0" smtClean="0">
                <a:solidFill>
                  <a:sysClr val="window" lastClr="FFFFFF"/>
                </a:solidFill>
                <a:latin typeface="Verdana" pitchFamily="34" charset="0"/>
              </a:rPr>
              <a:t>2</a:t>
            </a:r>
            <a:endParaRPr lang="zh-CN" altLang="en-US" b="1" kern="0" dirty="0" smtClean="0">
              <a:solidFill>
                <a:sysClr val="window" lastClr="FFFFFF"/>
              </a:solidFill>
              <a:latin typeface="Verdana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任务目标：</a:t>
            </a:r>
            <a:endParaRPr lang="en-US" altLang="zh-CN" sz="1200" kern="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4691514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ysClr val="window" lastClr="FFFFFF"/>
                </a:solidFill>
                <a:latin typeface="Arial"/>
              </a:rPr>
              <a:t>案例代码（详</a:t>
            </a: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见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教材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【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14-2】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中的实现步骤）</a:t>
            </a:r>
            <a:endParaRPr lang="en-US" altLang="zh-CN" b="1" kern="0" dirty="0">
              <a:solidFill>
                <a:sysClr val="window" lastClr="FFFFFF"/>
              </a:solidFill>
              <a:latin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3936182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lang="zh-CN" altLang="en-US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kern="0" dirty="0">
              <a:solidFill>
                <a:srgbClr val="0070C0"/>
              </a:solidFill>
              <a:latin typeface="Arial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30606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prstClr val="white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prstClr val="white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88345" y="3140968"/>
            <a:ext cx="3671887" cy="11680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编写登录页面</a:t>
            </a:r>
            <a:endParaRPr lang="en-US" altLang="zh-CN" sz="120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endParaRPr lang="en-US" altLang="zh-CN" sz="120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编写</a:t>
            </a:r>
            <a:r>
              <a:rPr lang="en-US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Service</a:t>
            </a: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层方法</a:t>
            </a:r>
            <a:endParaRPr lang="en-US" altLang="zh-CN" sz="120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DAO</a:t>
            </a:r>
          </a:p>
        </p:txBody>
      </p:sp>
      <p:sp>
        <p:nvSpPr>
          <p:cNvPr id="13" name="矩形 12"/>
          <p:cNvSpPr/>
          <p:nvPr/>
        </p:nvSpPr>
        <p:spPr>
          <a:xfrm>
            <a:off x="2699792" y="2470759"/>
            <a:ext cx="4031873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本任务</a:t>
            </a:r>
            <a:r>
              <a:rPr lang="zh-CN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zh-CN" sz="120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学习</a:t>
            </a:r>
            <a:r>
              <a:rPr lang="zh-CN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学会如何实现传智书城用户登录功能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9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24" y="2204864"/>
            <a:ext cx="7241951" cy="3980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827584" y="1763524"/>
            <a:ext cx="3935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alibri" panose="020F0502020204030204" pitchFamily="34" charset="0"/>
              <a:buChar char="–"/>
            </a:pPr>
            <a:r>
              <a:rPr lang="zh-CN" altLang="en-US" dirty="0" smtClean="0">
                <a:solidFill>
                  <a:srgbClr val="4F81BD"/>
                </a:solidFill>
              </a:rPr>
              <a:t>传智书城前台系统登录页面如下：</a:t>
            </a:r>
            <a:endParaRPr lang="zh-CN" altLang="en-US" dirty="0">
              <a:solidFill>
                <a:srgbClr val="4F81BD"/>
              </a:solidFill>
            </a:endParaRPr>
          </a:p>
        </p:txBody>
      </p:sp>
      <p:sp>
        <p:nvSpPr>
          <p:cNvPr id="17" name="标题 1"/>
          <p:cNvSpPr>
            <a:spLocks noChangeArrowheads="1"/>
          </p:cNvSpPr>
          <p:nvPr/>
        </p:nvSpPr>
        <p:spPr bwMode="auto">
          <a:xfrm>
            <a:off x="1643733" y="389681"/>
            <a:ext cx="6528667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14-2</a:t>
            </a: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用户登录功能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323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  <p:bldP spid="20" grpId="0"/>
      <p:bldP spid="2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755576" y="3140968"/>
            <a:ext cx="4896544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1097740" y="262762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14.1    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用户注册和登录模块 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1097740" y="3284984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14.2    </a:t>
            </a:r>
            <a:r>
              <a:rPr lang="zh-CN" altLang="en-US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购物</a:t>
            </a:r>
            <a:r>
              <a:rPr lang="zh-CN" altLang="en-US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车模块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7" name="TextBox 10"/>
          <p:cNvSpPr txBox="1"/>
          <p:nvPr/>
        </p:nvSpPr>
        <p:spPr>
          <a:xfrm>
            <a:off x="1097740" y="386104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14.3    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图书信息查询模块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782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048125" y="2169765"/>
            <a:ext cx="4391025" cy="1569660"/>
          </a:xfrm>
          <a:prstGeom prst="rect">
            <a:avLst/>
          </a:prstGeom>
          <a:solidFill>
            <a:srgbClr val="D6ECFF"/>
          </a:solidFill>
          <a:ln w="28575">
            <a:solidFill>
              <a:srgbClr val="00B0F0"/>
            </a:solidFill>
            <a:prstDash val="solid"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en-US" sz="1600" dirty="0" smtClean="0"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注意的是，购物车的功能是基于</a:t>
            </a:r>
            <a:r>
              <a:rPr lang="en-US" altLang="zh-CN" sz="1600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Session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实现的，</a:t>
            </a:r>
            <a:r>
              <a:rPr lang="en-US" altLang="zh-CN" sz="1600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Session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充当了一个</a:t>
            </a:r>
            <a:r>
              <a:rPr lang="zh-CN" altLang="en-US" sz="1600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临时信息存储平台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。当</a:t>
            </a:r>
            <a:r>
              <a:rPr lang="en-US" altLang="zh-CN" sz="1600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Session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失效后，保存的购物车信息也将</a:t>
            </a:r>
            <a:r>
              <a:rPr lang="zh-CN" altLang="en-US" sz="1600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全部丢失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560388" y="980728"/>
            <a:ext cx="8031162" cy="893762"/>
          </a:xfrm>
          <a:prstGeom prst="rect">
            <a:avLst/>
          </a:prstGeom>
          <a:solidFill>
            <a:srgbClr val="D6ECFF"/>
          </a:solidFill>
          <a:ln w="12700" algn="ctr">
            <a:solidFill>
              <a:srgbClr val="00ACE6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755576" y="980728"/>
            <a:ext cx="7467600" cy="87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开发</a:t>
            </a:r>
            <a:r>
              <a:rPr lang="zh-CN" altLang="en-US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购物车模块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之前，应该熟悉</a:t>
            </a:r>
            <a:r>
              <a:rPr lang="zh-CN" altLang="en-US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购物车模块实现的功能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以及整个</a:t>
            </a:r>
            <a:r>
              <a:rPr lang="zh-CN" altLang="en-US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功能模块的处理流程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。如下所示。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9438" y="1969740"/>
            <a:ext cx="2749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购物车模块功能结构：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239951"/>
              </p:ext>
            </p:extLst>
          </p:nvPr>
        </p:nvGraphicFramePr>
        <p:xfrm>
          <a:off x="1311275" y="2514253"/>
          <a:ext cx="5811838" cy="305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0" name="Visio" r:id="rId5" imgW="5925690" imgH="3109553" progId="Visio.Drawing.11">
                  <p:embed/>
                </p:oleObj>
              </mc:Choice>
              <mc:Fallback>
                <p:oleObj name="Visio" r:id="rId5" imgW="5925690" imgH="310955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275" y="2514253"/>
                        <a:ext cx="5811838" cy="305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420568"/>
              </p:ext>
            </p:extLst>
          </p:nvPr>
        </p:nvGraphicFramePr>
        <p:xfrm>
          <a:off x="2139950" y="2526953"/>
          <a:ext cx="4983163" cy="283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" name="Visio" r:id="rId7" imgW="4643190" imgH="2645344" progId="Visio.Drawing.11">
                  <p:embed/>
                </p:oleObj>
              </mc:Choice>
              <mc:Fallback>
                <p:oleObj name="Visio" r:id="rId7" imgW="4643190" imgH="264534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2526953"/>
                        <a:ext cx="4983163" cy="283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60388" y="1971328"/>
            <a:ext cx="3006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购物车模块功能流程图：</a:t>
            </a:r>
          </a:p>
        </p:txBody>
      </p:sp>
      <p:sp>
        <p:nvSpPr>
          <p:cNvPr id="9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购物车模块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99378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5" grpId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80648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4583588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4566175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b="1" kern="0" dirty="0" smtClean="0">
                <a:solidFill>
                  <a:sysClr val="window" lastClr="FFFFFF"/>
                </a:solidFill>
                <a:latin typeface="Verdana" pitchFamily="34" charset="0"/>
              </a:rPr>
              <a:t>2</a:t>
            </a:r>
            <a:endParaRPr lang="zh-CN" altLang="en-US" b="1" kern="0" dirty="0" smtClean="0">
              <a:solidFill>
                <a:sysClr val="window" lastClr="FFFFFF"/>
              </a:solidFill>
              <a:latin typeface="Verdana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任务目标：</a:t>
            </a:r>
            <a:endParaRPr lang="en-US" altLang="zh-CN" sz="1200" kern="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5324633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ysClr val="window" lastClr="FFFFFF"/>
                </a:solidFill>
                <a:latin typeface="Arial"/>
              </a:rPr>
              <a:t>案例代码（详</a:t>
            </a: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见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教材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【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14-3】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中的实现步骤）</a:t>
            </a:r>
            <a:endParaRPr lang="en-US" altLang="zh-CN" b="1" kern="0" dirty="0">
              <a:solidFill>
                <a:sysClr val="window" lastClr="FFFFFF"/>
              </a:solidFill>
              <a:latin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4569301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lang="zh-CN" altLang="en-US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kern="0" dirty="0">
              <a:solidFill>
                <a:srgbClr val="0070C0"/>
              </a:solidFill>
              <a:latin typeface="Arial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939188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prstClr val="white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prstClr val="white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98602" y="3072073"/>
            <a:ext cx="3671887" cy="11680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en-US" altLang="zh-CN" sz="12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2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向购物车中添加商品</a:t>
            </a:r>
            <a:endParaRPr lang="en-US" altLang="zh-CN" sz="1200" b="1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编写购物车页面</a:t>
            </a:r>
            <a:endParaRPr lang="en-US" altLang="zh-CN" sz="120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创建邮件工具类</a:t>
            </a:r>
            <a:endParaRPr lang="en-US" altLang="zh-CN" sz="120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99792" y="2470759"/>
            <a:ext cx="3441968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    学会实现购物车中添加商品和删除商品的功能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915816" y="4258224"/>
            <a:ext cx="3671887" cy="61093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en-US" altLang="zh-CN" sz="12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2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删除购物车中指定商品</a:t>
            </a:r>
            <a:endParaRPr lang="en-US" altLang="zh-CN" sz="1200" b="1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</a:p>
        </p:txBody>
      </p:sp>
      <p:sp>
        <p:nvSpPr>
          <p:cNvPr id="15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14-3</a:t>
            </a: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购物车的基本功能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589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80648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3672611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3655198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b="1" kern="0" dirty="0" smtClean="0">
                <a:solidFill>
                  <a:sysClr val="window" lastClr="FFFFFF"/>
                </a:solidFill>
                <a:latin typeface="Verdana" pitchFamily="34" charset="0"/>
              </a:rPr>
              <a:t>2</a:t>
            </a:r>
            <a:endParaRPr lang="zh-CN" altLang="en-US" b="1" kern="0" dirty="0" smtClean="0">
              <a:solidFill>
                <a:sysClr val="window" lastClr="FFFFFF"/>
              </a:solidFill>
              <a:latin typeface="Verdana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1983149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任务目标：</a:t>
            </a:r>
            <a:endParaRPr lang="en-US" altLang="zh-CN" sz="1200" kern="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4413656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ysClr val="window" lastClr="FFFFFF"/>
                </a:solidFill>
                <a:latin typeface="Arial"/>
              </a:rPr>
              <a:t>案例代码（详</a:t>
            </a: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见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教材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【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14-4】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中的实现步骤）</a:t>
            </a:r>
            <a:endParaRPr lang="en-US" altLang="zh-CN" b="1" kern="0" dirty="0">
              <a:solidFill>
                <a:sysClr val="window" lastClr="FFFFFF"/>
              </a:solidFill>
              <a:latin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3658324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lang="zh-CN" altLang="en-US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kern="0" dirty="0">
              <a:solidFill>
                <a:srgbClr val="0070C0"/>
              </a:solidFill>
              <a:latin typeface="Arial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37049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028211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029775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020455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prstClr val="white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prstClr val="white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98602" y="3394128"/>
            <a:ext cx="3671887" cy="61093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创建订单页面</a:t>
            </a:r>
            <a:endParaRPr lang="en-US" altLang="zh-CN" sz="120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创</a:t>
            </a: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建</a:t>
            </a:r>
            <a:r>
              <a:rPr lang="en-US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</a:p>
        </p:txBody>
      </p:sp>
      <p:sp>
        <p:nvSpPr>
          <p:cNvPr id="13" name="矩形 12"/>
          <p:cNvSpPr/>
          <p:nvPr/>
        </p:nvSpPr>
        <p:spPr>
          <a:xfrm>
            <a:off x="2699792" y="2038711"/>
            <a:ext cx="2056973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    学会提交订单功能的实现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171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76" y="2481425"/>
            <a:ext cx="7577340" cy="3467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827584" y="1268760"/>
            <a:ext cx="7416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zh-CN" smtClean="0">
                <a:solidFill>
                  <a:srgbClr val="006BA9"/>
                </a:solidFill>
              </a:rPr>
              <a:t>要</a:t>
            </a:r>
            <a:r>
              <a:rPr lang="zh-CN" altLang="zh-CN">
                <a:solidFill>
                  <a:srgbClr val="006BA9"/>
                </a:solidFill>
              </a:rPr>
              <a:t>结算选购的商品，首先要生成一个订单，其中应该包括结算的商品信息、收货地址、收货人、联系方式等。用户在购物车页面单击“结算”按钮后会进入结算中心页面，填写完页面信息后，效果如</a:t>
            </a:r>
            <a:r>
              <a:rPr lang="zh-CN" altLang="zh-CN" smtClean="0">
                <a:solidFill>
                  <a:srgbClr val="006BA9"/>
                </a:solidFill>
              </a:rPr>
              <a:t>图所示</a:t>
            </a:r>
            <a:r>
              <a:rPr lang="zh-CN" altLang="en-US" smtClean="0">
                <a:solidFill>
                  <a:srgbClr val="006BA9"/>
                </a:solidFill>
              </a:rPr>
              <a:t>。</a:t>
            </a:r>
            <a:endParaRPr lang="zh-CN" altLang="en-US">
              <a:solidFill>
                <a:srgbClr val="006BA9"/>
              </a:solidFill>
            </a:endParaRPr>
          </a:p>
        </p:txBody>
      </p:sp>
      <p:sp>
        <p:nvSpPr>
          <p:cNvPr id="16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14-4</a:t>
            </a: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订单的相关功能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43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  <p:bldP spid="17" grpId="0"/>
      <p:bldP spid="1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755576" y="3717032"/>
            <a:ext cx="4896544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1097740" y="262762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14.1    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用户注册和登录模块 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1097740" y="3284984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12.2    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购物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车模块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7" name="TextBox 10"/>
          <p:cNvSpPr txBox="1"/>
          <p:nvPr/>
        </p:nvSpPr>
        <p:spPr>
          <a:xfrm>
            <a:off x="1097740" y="386104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12.3    </a:t>
            </a:r>
            <a:r>
              <a:rPr lang="zh-CN" altLang="en-US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图书信息查询模块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782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80648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4104659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4087246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b="1" kern="0" dirty="0" smtClean="0">
                <a:solidFill>
                  <a:sysClr val="window" lastClr="FFFFFF"/>
                </a:solidFill>
                <a:latin typeface="Verdana" pitchFamily="34" charset="0"/>
              </a:rPr>
              <a:t>2</a:t>
            </a:r>
            <a:endParaRPr lang="zh-CN" altLang="en-US" b="1" kern="0" dirty="0" smtClean="0">
              <a:solidFill>
                <a:sysClr val="window" lastClr="FFFFFF"/>
              </a:solidFill>
              <a:latin typeface="Verdana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任务目标：</a:t>
            </a:r>
            <a:endParaRPr lang="en-US" altLang="zh-CN" sz="1200" kern="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4845704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ysClr val="window" lastClr="FFFFFF"/>
                </a:solidFill>
                <a:latin typeface="Arial"/>
              </a:rPr>
              <a:t>案例代码（详</a:t>
            </a: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见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教材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【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14-5】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中的实现步骤）</a:t>
            </a:r>
            <a:endParaRPr lang="en-US" altLang="zh-CN" b="1" kern="0" dirty="0">
              <a:solidFill>
                <a:sysClr val="window" lastClr="FFFFFF"/>
              </a:solidFill>
              <a:latin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4090372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lang="zh-CN" altLang="en-US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kern="0" dirty="0">
              <a:solidFill>
                <a:srgbClr val="0070C0"/>
              </a:solidFill>
              <a:latin typeface="Arial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46025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prstClr val="white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prstClr val="white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98602" y="3826176"/>
            <a:ext cx="3671887" cy="61093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编写页面功能代码</a:t>
            </a:r>
            <a:endParaRPr lang="en-US" altLang="zh-CN" sz="120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创</a:t>
            </a: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建</a:t>
            </a:r>
            <a:r>
              <a:rPr lang="en-US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</a:p>
        </p:txBody>
      </p:sp>
      <p:sp>
        <p:nvSpPr>
          <p:cNvPr id="13" name="矩形 12"/>
          <p:cNvSpPr/>
          <p:nvPr/>
        </p:nvSpPr>
        <p:spPr>
          <a:xfrm>
            <a:off x="2699792" y="2470759"/>
            <a:ext cx="3288080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    学会如何实现传智书城商品分类导航栏功能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194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37" y="3539739"/>
            <a:ext cx="7187455" cy="60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912936" y="1878837"/>
            <a:ext cx="7187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zh-CN">
                <a:solidFill>
                  <a:srgbClr val="0066A1"/>
                </a:solidFill>
              </a:rPr>
              <a:t>根据商品类型的不同，将图书分为文学类、生活类、计算机类等。单击导航栏上不同的类型，显示该类型下所有的图书，当单击“全部商品目录”时，查询的是所有的图书</a:t>
            </a:r>
            <a:r>
              <a:rPr lang="zh-CN" altLang="zh-CN" smtClean="0">
                <a:solidFill>
                  <a:srgbClr val="0066A1"/>
                </a:solidFill>
              </a:rPr>
              <a:t>。商品</a:t>
            </a:r>
            <a:r>
              <a:rPr lang="zh-CN" altLang="zh-CN">
                <a:solidFill>
                  <a:srgbClr val="0066A1"/>
                </a:solidFill>
              </a:rPr>
              <a:t>分类导航栏和搜索栏的预览如</a:t>
            </a:r>
            <a:r>
              <a:rPr lang="zh-CN" altLang="zh-CN" smtClean="0">
                <a:solidFill>
                  <a:srgbClr val="0066A1"/>
                </a:solidFill>
              </a:rPr>
              <a:t>图所示</a:t>
            </a:r>
            <a:r>
              <a:rPr lang="zh-CN" altLang="en-US" smtClean="0">
                <a:solidFill>
                  <a:srgbClr val="0066A1"/>
                </a:solidFill>
              </a:rPr>
              <a:t>。</a:t>
            </a:r>
            <a:endParaRPr lang="zh-CN" altLang="en-US">
              <a:solidFill>
                <a:srgbClr val="0066A1"/>
              </a:solidFill>
            </a:endParaRPr>
          </a:p>
        </p:txBody>
      </p:sp>
      <p:sp>
        <p:nvSpPr>
          <p:cNvPr id="16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14-5</a:t>
            </a: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商品分类导航栏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4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  <p:bldP spid="14" grpId="0"/>
      <p:bldP spid="1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80648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4104659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4087246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b="1" kern="0" dirty="0" smtClean="0">
                <a:solidFill>
                  <a:sysClr val="window" lastClr="FFFFFF"/>
                </a:solidFill>
                <a:latin typeface="Verdana" pitchFamily="34" charset="0"/>
              </a:rPr>
              <a:t>2</a:t>
            </a:r>
            <a:endParaRPr lang="zh-CN" altLang="en-US" b="1" kern="0" dirty="0" smtClean="0">
              <a:solidFill>
                <a:sysClr val="window" lastClr="FFFFFF"/>
              </a:solidFill>
              <a:latin typeface="Verdana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任务目标：</a:t>
            </a:r>
            <a:endParaRPr lang="en-US" altLang="zh-CN" sz="1200" kern="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4845704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ysClr val="window" lastClr="FFFFFF"/>
                </a:solidFill>
                <a:latin typeface="Arial"/>
              </a:rPr>
              <a:t>案例代码（详</a:t>
            </a: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见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教材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【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14-6】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中的实现步骤）</a:t>
            </a:r>
            <a:endParaRPr lang="en-US" altLang="zh-CN" b="1" kern="0" dirty="0">
              <a:solidFill>
                <a:sysClr val="window" lastClr="FFFFFF"/>
              </a:solidFill>
              <a:latin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4090372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lang="zh-CN" altLang="en-US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kern="0" dirty="0">
              <a:solidFill>
                <a:srgbClr val="0070C0"/>
              </a:solidFill>
              <a:latin typeface="Arial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46025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prstClr val="white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prstClr val="white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98602" y="3826176"/>
            <a:ext cx="3671887" cy="61093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实现页面代码</a:t>
            </a:r>
            <a:endParaRPr lang="en-US" altLang="zh-CN" sz="120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</a:p>
        </p:txBody>
      </p:sp>
      <p:sp>
        <p:nvSpPr>
          <p:cNvPr id="13" name="矩形 12"/>
          <p:cNvSpPr/>
          <p:nvPr/>
        </p:nvSpPr>
        <p:spPr>
          <a:xfrm>
            <a:off x="2699792" y="2470759"/>
            <a:ext cx="2563522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    学会实现传智书城商品搜索功能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14-6</a:t>
            </a: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图书搜索功能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4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80648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4104659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4087246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b="1" kern="0" dirty="0" smtClean="0">
                <a:solidFill>
                  <a:sysClr val="window" lastClr="FFFFFF"/>
                </a:solidFill>
                <a:latin typeface="Verdana" pitchFamily="34" charset="0"/>
              </a:rPr>
              <a:t>2</a:t>
            </a:r>
            <a:endParaRPr lang="zh-CN" altLang="en-US" b="1" kern="0" dirty="0" smtClean="0">
              <a:solidFill>
                <a:sysClr val="window" lastClr="FFFFFF"/>
              </a:solidFill>
              <a:latin typeface="Verdana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任务目标：</a:t>
            </a:r>
            <a:endParaRPr lang="en-US" altLang="zh-CN" sz="1200" kern="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4845704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ysClr val="window" lastClr="FFFFFF"/>
                </a:solidFill>
                <a:latin typeface="Arial"/>
              </a:rPr>
              <a:t>案例代码（详</a:t>
            </a: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见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教材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【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14-7】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中的实现步骤）</a:t>
            </a:r>
            <a:endParaRPr lang="en-US" altLang="zh-CN" b="1" kern="0" dirty="0">
              <a:solidFill>
                <a:sysClr val="window" lastClr="FFFFFF"/>
              </a:solidFill>
              <a:latin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4090372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lang="zh-CN" altLang="en-US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kern="0" dirty="0">
              <a:solidFill>
                <a:srgbClr val="0070C0"/>
              </a:solidFill>
              <a:latin typeface="Arial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46025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prstClr val="white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prstClr val="white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98602" y="3826176"/>
            <a:ext cx="3671887" cy="61093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编写</a:t>
            </a:r>
            <a:r>
              <a:rPr lang="en-US" altLang="zh-CN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DAO</a:t>
            </a: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层代码</a:t>
            </a:r>
            <a:endParaRPr lang="en-US" altLang="zh-CN" sz="120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99792" y="2470759"/>
            <a:ext cx="3134191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    学会实现传智书城公告板和本周热卖功能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218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36" y="3234787"/>
            <a:ext cx="7187456" cy="1618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12936" y="1844824"/>
            <a:ext cx="7187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zh-CN">
                <a:solidFill>
                  <a:srgbClr val="0066A1"/>
                </a:solidFill>
              </a:rPr>
              <a:t>根据商品类型的不同</a:t>
            </a:r>
            <a:r>
              <a:rPr lang="zh-CN" altLang="zh-CN" smtClean="0">
                <a:solidFill>
                  <a:srgbClr val="0066A1"/>
                </a:solidFill>
              </a:rPr>
              <a:t>，</a:t>
            </a:r>
            <a:r>
              <a:rPr lang="zh-CN" altLang="zh-CN">
                <a:solidFill>
                  <a:srgbClr val="0066A1"/>
                </a:solidFill>
              </a:rPr>
              <a:t>公告板和本周热卖模块位于首页广告轮播图下面，在访问网站首页时进行动态显示。公告板用于发布与网站相关的信息，本周热卖用于展示本周内销售数量最多的两本图书，公告板和本周热卖模块具体如</a:t>
            </a:r>
            <a:r>
              <a:rPr lang="zh-CN" altLang="zh-CN" smtClean="0">
                <a:solidFill>
                  <a:srgbClr val="0066A1"/>
                </a:solidFill>
              </a:rPr>
              <a:t>图所</a:t>
            </a:r>
            <a:r>
              <a:rPr lang="zh-CN" altLang="zh-CN">
                <a:solidFill>
                  <a:srgbClr val="0066A1"/>
                </a:solidFill>
              </a:rPr>
              <a:t>示</a:t>
            </a:r>
            <a:r>
              <a:rPr lang="zh-CN" altLang="en-US">
                <a:solidFill>
                  <a:srgbClr val="0066A1"/>
                </a:solidFill>
              </a:rPr>
              <a:t>。</a:t>
            </a:r>
          </a:p>
        </p:txBody>
      </p:sp>
      <p:sp>
        <p:nvSpPr>
          <p:cNvPr id="16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14-7</a:t>
            </a:r>
            <a:r>
              <a:rPr lang="en-US" altLang="zh-CN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公告板和本周热卖功能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4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  <p:bldP spid="15" grpId="0"/>
      <p:bldP spid="15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2676525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2699792" y="1131605"/>
            <a:ext cx="5259784" cy="4511835"/>
            <a:chOff x="2416454" y="2658538"/>
            <a:chExt cx="5519167" cy="4141953"/>
          </a:xfrm>
        </p:grpSpPr>
        <p:sp>
          <p:nvSpPr>
            <p:cNvPr id="4" name="圆角矩形 1"/>
            <p:cNvSpPr>
              <a:spLocks noChangeArrowheads="1"/>
            </p:cNvSpPr>
            <p:nvPr/>
          </p:nvSpPr>
          <p:spPr bwMode="auto">
            <a:xfrm>
              <a:off x="2416454" y="2718344"/>
              <a:ext cx="5519167" cy="4082147"/>
            </a:xfrm>
            <a:prstGeom prst="roundRect">
              <a:avLst>
                <a:gd name="adj" fmla="val 16667"/>
              </a:avLst>
            </a:prstGeom>
            <a:noFill/>
            <a:ln w="31750">
              <a:solidFill>
                <a:srgbClr val="006BA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 2"/>
            <p:cNvSpPr>
              <a:spLocks noChangeArrowheads="1"/>
            </p:cNvSpPr>
            <p:nvPr/>
          </p:nvSpPr>
          <p:spPr bwMode="auto">
            <a:xfrm>
              <a:off x="2643131" y="2658538"/>
              <a:ext cx="5138014" cy="3959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indent="457200">
                <a:lnSpc>
                  <a:spcPct val="200000"/>
                </a:lnSpc>
              </a:pP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本章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主要针对传智书城项目前台程序设计的主要模块，包括</a:t>
              </a:r>
              <a:r>
                <a:rPr lang="zh-CN" altLang="en-US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用户注册和登录模块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zh-CN" altLang="en-US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购物车模块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和</a:t>
              </a:r>
              <a:r>
                <a:rPr lang="zh-CN" altLang="en-US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图书信息查询模块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进行详细地讲解。这些模块是一个成熟电子商务网站前台系统的核心功能，运用非常普遍，读者应该多思考这些功能模块的业务逻辑多敲代码，以达到熟练掌握的程度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  <a:endParaRPr lang="en-US" altLang="zh-CN" sz="2000" dirty="0">
                <a:ea typeface="微软雅黑" pitchFamily="34" charset="-122"/>
              </a:endParaRPr>
            </a:p>
          </p:txBody>
        </p:sp>
      </p:grpSp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本章小</a:t>
            </a:r>
            <a:r>
              <a:rPr lang="zh-CN" altLang="en-US" sz="32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结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45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481013" y="1300163"/>
            <a:ext cx="7975600" cy="472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本章作业 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>
                <a:solidFill>
                  <a:prstClr val="black"/>
                </a:solidFill>
              </a:rPr>
              <a:t>请简要描述注册功能的设计思路</a:t>
            </a:r>
            <a:r>
              <a:rPr lang="zh-CN" altLang="en-US" sz="2400" smtClean="0">
                <a:solidFill>
                  <a:prstClr val="black"/>
                </a:solidFill>
              </a:rPr>
              <a:t>。</a:t>
            </a:r>
            <a:endParaRPr lang="en-US" altLang="zh-CN" sz="240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>
                <a:solidFill>
                  <a:prstClr val="black"/>
                </a:solidFill>
              </a:rPr>
              <a:t>请简要描述购物车模块的设计思路</a:t>
            </a:r>
            <a:r>
              <a:rPr lang="zh-CN" altLang="en-US" sz="2400" smtClean="0">
                <a:solidFill>
                  <a:prstClr val="black"/>
                </a:solidFill>
              </a:rPr>
              <a:t>。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marL="571500" lvl="1" indent="-57150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预习作业</a:t>
            </a:r>
            <a:endParaRPr lang="en-US" altLang="zh-CN" sz="2400" b="1" smtClean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smtClean="0">
                <a:solidFill>
                  <a:prstClr val="black"/>
                </a:solidFill>
              </a:rPr>
              <a:t>传智书城项目后台包含哪些功能？</a:t>
            </a:r>
            <a:endParaRPr lang="zh-CN" altLang="en-US" sz="240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smtClean="0">
                <a:solidFill>
                  <a:prstClr val="black"/>
                </a:solidFill>
              </a:rPr>
              <a:t>如何实现商品管理模块？</a:t>
            </a:r>
            <a:endParaRPr lang="zh-CN" altLang="en-US" sz="2400">
              <a:solidFill>
                <a:prstClr val="black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68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9392529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7bf8fc6aadaf5d0ac8e56c7534be758466a515"/>
  <p:tag name="ISPRING_ULTRA_SCORM_COURSE_ID" val="CEE5C9EF-3B85-40E2-BA01-33062F12F181"/>
  <p:tag name="ISPRING_SCORM_RATE_SLIDES" val="1"/>
  <p:tag name="ISPRING_SCORM_RATE_QUIZZES" val="0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MWLWEkYJkPyLgQAAH8OAAAdAAAAdW5pdmVyc2FsL2NvbW1vbl9tZXNzYWdlcy5sbmetl19v21QUwN8n7TtcWRqCB7INadMk0kw38W1izbEz+6Z/QMi6je8ya45vsZ2w8jQQTBQJbdIGGmNQFZUWiRHQJNBYYZ+mcbonvgLHdrIlGRC73YOlXCvnd/4fn1u8eL3joh73A0d4C9LZwhkJca8lbMdrL0hNuvjmBQkFIfNs5gqPL0iekNDF0skTRZd57S5rc/h98gRCxQ4PAjgGpfj04owce0FqlK2KXm9gbdVS9apulZWqVKqIzjrzNpAq2uL1t85fuH723Pk3iqdHclkwZh2r6jQIJaRzZzKANGroqgU0oloaWaFS6bV2+Pbsk4+jN6mqaEQqDXb2hk8eHe7dHHzzNB+iYZAlMMUF9TPPXE7TMIhGLVNVZGIppqXpNAmYSiiRpVJ075fB7d3h/t5w/+eDx58fPL4RPdwe3v8k+u3W4d5nh/1fB399+fefW/PUyAZeVrSqRXVdNS2iyeM3Umm4fyf6dmt4d3/48G5OjIFNYoCNd3affb1zBFkrKYVUPNq8ET3YzAepKdWaCg+NrXj2072DJ/18gAbRIADz/a4T08RVYpX1FUgQVMrt3Twi+iXQst0f9O/nkVolZpL/eTIaXlKqmCq6FtePQUxqKJWkeFZFF7WYh4TnbiDWaoEcWvd5zxHdAN70HP4Bt1HgOjYP8mkxyeUmlK2C1VTLVdbjKBQJcgREjofCqxy1nR4HE3yb+/N0QBtViByn53JTecdaxIpKZAvyJevLFk3aPVbGfI48ESLmuiJ2APQyu8e8FkdrvMW6AUcb8DfbsZO/rTNwO7bk/a7zIWJhah86NWo5TSYrpwrHM02hKsyPZeZ7MIJzoqYa/mVnO90APA1D3lkP53kxEYnCK7HiuH41sGn+p1NZ8nJMj2b053XHhBInBnz5oOXLjsguQepQH1KJdJjjZpdStEVQ1PB5wL2Q+0jxruTQqekjgCbQURlLEPkpE5YgIznkl0nZVGgcY74WOCGfJ5kkKs33v9dIC9YEl4f8RZ2s8SsC+t/lrAdJhPdOkBZO4QjKchXEeLLGI3ByTo8oGhjUZiGsZAhMcp0O+G9nYDbrZBzBdLxOReIVff//T09qfvTR94OdL1LsPJpJsFGpWRWsVQiU+eDWV9HvWYWgTGNjVGpaKi7H4tGjbfjyRx//GG39EG0+BecGNz8d9P/ICEw3MJksYoCOo5aQCoVCRsasRakhsBh99yAXATownjvkOeldTYQ8eG8ehOLytFxyyCI1Wl7HcnlW2CTxo/BhSnGlVofagJ3D4IHo+q35O8EkoY6NSzABkr1KKtWZfw3GBxXCzUVJ/I5HWJhP+5F2+EnA8aZw7DVVGhaW5eSWA/cb12ldS79eNmLJHIuvOy5cd7LCKjWswYiZ4XHbCXMCk6k+bnfov/Q8rrR4aXtpyD8/BclVsXh64ub4D1BLAwQUAAIACADFi1hJCswVnxYEAAALEAAAJwAAAHVuaXZlcnNhbC9mbGFzaF9wdWJsaXNoaW5nX3NldHRpbmdzLnhtbNVXUW8bRRB+969YHSpv9SVtQtJwdhUltmrhOKE+RCuEovXdxLdkb/e43bPrPhVUKoqEqISQUKiogkrCAwRUCakQ6I9BtZ03/gJzPseJY6ecVQVSWSfrZr/5dmZ29ttb6+otn5MGhIpJkTOms1MGAeFIl4l6znjHLl6cN4jSVLiUSwE5Q0iDXM1nrCCqcaa8KmiNUEWQRqiFQOcMT+tgwTSbzWaWqSCMRyWPNPKrrCN9MwhBgdAQmgGnLfzTrQCUkc9kCLES04p0Iw6EuRiCYHF0lBc5VZ5hJrAadTbroYyEuyS5DElYr+WM1+YX498hJqFaZj6IODmVR2Ns1gvUdVkcD+VVdhuIB6zuYeBzMwZpMld7OePy1KWYBuHmKE2PPEmCxjRLErMRus/vg6Yu1TR5TSbUcEurQ0NicluC+syxcYTEBcgZy/Z6tVxaLqxXVu1Cdf2avVJOYpjAyS7csCdwskt2uTAJPi39tZtrhevlUuWtdXt1tWyX1o68sKJDBbHM4YpZWFkZhQ4MCmZpL/JrgjKO3XaijAo09iunYR1sWWS4ihuUKzDIBwHU344oZ7qFbT2Fbb0JECyqABx9PV62nKHDCIwjuoQQA8O1HPTE7JVBT8zND6VuJrMfpTU2SotqTR0PmwdtvdAs87jpELYhxVBq8TupSe4OEgK/Bm6F+nBsT1Q3mSgictogG7gIHFNdDBnlBmEaU3cGziqqKc10bxcWjyMJcuFuB7JSHSmF49FQDVV8UPW48Z38exWpQb2flCIxnQbtfP1z+8FOd3+3u//T86efPX96p/PjdnfrbufXLw52Pz3Y+6X951d///EoDdVNGRE/UpqgmAQcNBDtAfkwYrdJDTZkCIQDbaDsoJ0pojhzITsRcUCVOiKlOuEgF5JNUKosF25cIFoS6jaocCYkx9UHP9BnwU8xdyFxCs5lE9xjFFgZh0YKSAthLnN7sDRpZv+HxXWoIFLwFqEOqoAiqLUNJiOFlgaDOLFeoCotn0cbENcidu67EiZ6mddxI+FkoQthGrap6UuXZ2bfmJu/spA1/7qzc/GFTn1lXOM0ni2RxqVTpTed1wkB/henF8jwiG9Rhn7cm+7IpOOPlr4EjoqEZcbiNV7LepJ7HqWs8+j7zv1n3f0vO98+TNXyT7Y7D+93Pv6h77h1t33vk/beb2l82493u78/Odi91/7mWRp8r/5pgK9z/ebJJ5VfHbEnnpT7PlW+D3bSwLrbe+29rVTzfvRd+/Hnibqkwb9LQ4HnwSsBreDRVe99VhI8vDjzGW7JV0KbTpOJl5e1/0SaXuozK9G1s5SmbDZ7Zl1w7qX/LMt7niqWvA0uRkM3Icsce+eMR3wmmI91jD9tBhfV/OzMFN6txg5lMsg2fIHPZ/4BUEsDBBQAAgAIAMWLWEkE5wPRtgIAAFMKAAAhAAAAdW5pdmVyc2FsL2ZsYXNoX3NraW5fc2V0dGluZ3MueG1slVZtT9swEP6+X1F13wl7LZNMJSidhMQGGojvTnJNrDp2ZDtl/ffzK7HbpM16Qqrvnsd3vreC5Jaw5YfZDBWccvEMShFWSaMJuhkpr+d5pxRnFwVnCpi6YFw0mM6XH3/aD8os8hyL70BM5WxwAb2bhf1MoXgf3xZGxggFb1rM9g+84hc5LraV4B0rz4ZW71sQlLCtRl7+WKzWow4okepeQZPEtL4yMo3SCpASTEjf10bOsijOgQZPl/YzkdO7Ov36A9qOSKIs7eaTkTFaiytIk3x1Y2Qcz/TtaVUWRk4TFPxVGvrls5FRKMV7EOnld1+NjDJ427X/0yOt4JVJaMo5XcR3DuW41ONnoro0cpZgHmQcna2CT499610E8l/juUdmXAWnTyavBwvBFD2nsFSiA5SFk7PJmr89dkrPByw3mEoNiFU96EkH/YQ7Ga5JdT3uD7wRVkYgr+gRr5x2DaxcvLHT1NATVqtbuyti7LsuilDAziujEHtlj/yt83qEjJQ98pmSEh4Z3R/BDy2OE2p8i301T6dfW4FhfQwJC6dgNZ4ezOTKyLVXBEzDS1hKE84LacCUDWVW50LKjmJCDO9IhRXh7JfB5Xv7GImyA4NvteHGQoooCkP9ZmPUWzqulz2n7eitaT+6X4X+ce48U3qJX8+xUrioG/2rJOczz9NTohMzz4YZZk1qOIh7tuERx/oeIzVYbEG8cE6numFcgZx6PXezNQZHWZQDlA1nGflLhtLPuiYHsdZVIxDaJtU5XE2qmuo/9UrgDcqUMGJ0TFXr6xgm710ZKXwLABZFHXrWHZyl6agiFHZAvTVS2AePvQxJ3aNj7XajHmCj4obzmkkd6RdF3ykxLjUMEF51XMMMZzm/hBXOpX1ZMvdhB/eDn2zlsMtM68XencK3UnKzth+nUCvNP5P/AFBLAwQUAAIACADFi1hJagDFHuoDAAAcDwAAJgAAAHVuaXZlcnNhbC9odG1sX3B1Ymxpc2hpbmdfc2V0dGluZ3MueG1s1Vfvb9tEGP6ev+JkNL7NbveDdsXJVLWpGpGlZTViE0LVxXexj53vjO+cLPs00JgYEmISQkJlYioaLR+goElIg8L+GLQk/ca/wHtxmi5NWxyxH0yRFfn1+z73Ps+9fmy7F69HHDVpopgURWvanrIQFb4kTARF6x1v6fSshZTGgmAuBS1aQlroYqngxmmdMxWuUa0hVSGAEWou1kUr1Dqec5xWq2UzFSfmquSpBnxl+zJy4oQqKjRNnJjjNvzpdkyVVSoUEHKz0CVJUk4RI9CCYKY7zJd1xC0ny6pj/1qQyFSQBcllgpKgXrRem503v/2cDGmRRVQYbqoEQRPWc5gQZtrBfI3doCikLAih75lzFmoxosOidXbqjIGBdGccpg+eccAGZkECGaEH+BHVmGCNs9NsQU2va7UfyEKkLXDEfA+uIMO/aC1662vVymJ5vbbildfWl71L1ayHCYq88hVvgiKv4lXLk+TnhV++ulq+XK3U3lr3VlaqXmX1oAoUHRHEdUYVc0FZmSY+HQrm6jCN6gIzDsN2SEZFNYwrx0lAPbnEYBcbmCtqoQ9iGrydYs50G6Z6Cqb6GqXxvIqpry+bbStaOkmpdQCXAUJjsJfDmTh/YTgTM7Mj1J1s9QNaR3bpYq2xH8LwQKzfmus8HdpPa0gxQs2co7rkZEioASpz4DKfMMwtxDRw84dXtVFALzEO+pvaabsh9Bg5P8SJGtFwqKMZZb/0Xk1qqt7PyGWh41K7X//cubvV293u7f705NFnTx7d7P642du41f31i73tT/d2fun8+dXff9zPA3VVpihKlUbgDjGnmiIdUvRhym6gOm3IhCJOcRN8BOJMIcUZofZEwDFW6gAU6wwDncrGulJbLF85hbREmDSx8CcEh/2kUayfBz4G7kLCEpzLFiVPQYAyPk4VRW1II4z00/LQtF/C5vpYICl4G2Ef7muFwD2bTKYKIk1GDbF+oyovXoib1GhhigeliIk+8wCeFrBYQmiSB21q+szZc+ffmJm9MGc7f93cOn1i0cDrVjk2q2Vmt3CsmearOmSp/1J0grGO1S7JJDKzScYWPfphMTC1cZNwHWMpR7tT30RfjDl173/fvfO4t/tl99t7uYb44Wb33p3uxz8MCjdudW5/0tn5LU9t58F27/eHe9u3O988zpPfVzRP4utcv3n4yFUXQO6hI+ednIvv3a08ab3Nnc7ORq51P/qu8+DzzC/y5L+LEwEO/0qk1uBhFPRf/RA8jjiLGNxkr4TbHHfj/3ejeiFmc/KrUGZFz9RsbNt+bvv68u35mQr2f9IgOxt+YIx8UbjOkd9uBYiPftGWCv8AUEsDBBQAAgAIAMWLWEkP5FkgmQEAAB0GAAAfAAAAdW5pdmVyc2FsL2h0bWxfc2tpbl9zZXR0aW5ncy5qc42UTW/CMAyG7/wKlF0nxD677YYGkyZxmDRu0w5pMaUiTaIkdDDEf18dvprWHcSX5u3T17ErZ9PploslrPvS3fhnv/8I914D1JxZwnWoixY9R51ZkU1hkuUgMgmshhSHT4/y9kRQxkx603j9iba24scUvplxYau4JiwMoVlCKwjth0qyosTfoLR9WbuSKn2Ol84p2UuUdCBdTyqTc8+wqze/qhXWYFWAOYPOeAKBaeRXG3lyfIgwqlyics3leqxS1Yt5skiNWsppW/75WoMp//hiB/Sfo9dRYCcy694d5PXEoyeMdlIbsBb2eR9HGCQseAyi4tv36x80MG4WVKOLzGbuQA9uMKq05ik0uvQ0wAgxWXo1uhlhNDkHK7cj7m4xAkLwNZiG1fAeIwCVXuoLfqA2KsWONNBmz4+oUHyayXSfuo9BcnhYtG3r3qlQf/whC0ZI1UZoToxp3nZzXDD2jhxcW8s6pmZeUKKkREUk1hRYkKdx9WsE919dxp3jyTwvb4fyaizbwM0CzEQpUR7/+9xBi6O4y9XZ/gFQSwMEFAACAAgAxYtYSR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MWLWEl0Pke4XQAAAGIAAAAcAAAAdW5pdmVyc2FsL2xvY2FsX3NldHRpbmdzLnhtbBXKOw5AQBAA0N4pJtP7dQpLp9TgABMmIpmdEbvxuT26V7y6vb3AyUfYTB2WWYHAOtuy6epwGru0QgiRdCExZYdqCG2T1GIzycAxfjHALvTwMbL/ELkn/0++MG+SF1BLAwQUAAIACAB2uMNEzoIJN+wCAACICAAAFAAAAHVuaXZlcnNhbC9wbGF5ZXIueG1srVVNb9swDD2nwP6DoXutpF3XNJBbdAWKHdahQNZtt0C1GVuLbXmSXDf99aP8bc/pVmAHAzbF90jxkTS7ek5i5wmUFjL1yMKdEwdSXwYiDT3y8PX2eEmuLt8dsSzme1COCDySp8ICeEycALSvRGYQfM9N5JGewUVm4mRKSCXMHrnPkLuLtCTvjmbokmqPRMZkK0qLonCFRkQaahnnlkS7vkxopkBDakDRKg3iNNiV+Tsan0Sm1Owz0D1kZt4euCZpOZ61GJAUp65UIT2Zzxf0x93ntR9Bwo9Fqg1PfSAOVnJWlvKR+7s7GeQxaGubsSrJNRhjkyhtM2ZWYrFMHa18j1QOmwS05iFoN05DQissnQCzbcx1VPPoAa3l1TtR85Z+G/u9adxK5WjnnOWPsdARHvUhnXUSyOgwKkvK65Yd9NB00K1lIo6CX7lQEJSf39oWmS9IFbDtuDJPVxc+HuDbLfeNVPsbhGEX1Qq6rWhuJZpbgloOt42+7ihIc9stcJMraEo1Y08iAPmFK8VtW1walQOjI2ONpUMwo9WVa5E6QVhkkvjsH7SxfiNpfurXlCkB/0OYT0jU1kSkATzfCvQxkGBNDWCxrc01WezamF1OOn9Men09MFU51qLgRRzDVQg4hgE3nHZ2eggKimt08XM1wvYODoIjEUYxPmaSYXx6kCbhajfJ0Ds4CI6lv5uAtua2jHRcx1EztR3E6MQ6YX6ujUzES9megz1jVmUfvjZyzdF1JtqD8/kfoziI0QzmlkysLvvW21fN4b2dU6M7n01WWQbdivMAJs8qr2YW8mzkE8CW57G56efU7MMedJTz1HRMc33HfpfFWryAU4jA/ukWp7YmEdie8ciH5WmPAfXE7TIIX5qmIjJaS1KpeUg5hrV5ElBUmGpWPqLqoZJ5Goy0cbPu56Bj3FXXCrgTwxYzXZxg88nMI+/xpb7LxdlFd5XzxUWDLfO6rwJXubxhVdcJd51B635tL8LqmcfX31BLAwQUAAIACADFi1hJcYP8DhoIAADbHQAAKQAAAHVuaXZlcnNhbC9za2luX2N1c3RvbWl6YXRpb25fc2V0dGluZ3MueG1srVlbb+PGFX7vrxioSNG+WBfqZkQrgJeRTUSiFJG2d1sUAiWNZcIUqZIjex3oIS3aIBsgSICkRZqmXWyx3S3Q1C0CtEizbX7NWt485S/0DC8WScsyubsiCJhnzvedM2fOnLm44R4bljh3qT013tGpYVsqodSwJm7zBwg1RrZpOz2HuIS6+ZXkwLDG9qlsHdpMBlKX6tZYd8Yia3WbBdTyfqhe4+tSHb7KQrmEamVcwnUk4YoIbductM2J0CaVimIjn6DweR0yIhZdz9rIx1qvA2TLJQ6VrTG53+Ti2tGmeA92HH1sgJ7brJbZswitLqQye1C5WKlV8KLEcxxXRWJFKkqFRa22XeOLCBfKlQK3EOolrsShYqVS3K4uirVShYOv1nYVWMp4u4rKtXK5JC1KuARoxPOCVBIXNW67WOTBGq5vi4tWS6gVCqhYLHJlaVGpci2hgECbAw6eq7MAchIncNUFL/DFOodaYktolRdYwlWxguolXC0UFmVB4AqFVXBXvYuGayVN3Z0wnLcQrh2Cta0st/JrkqsxmjsOKGtkOjN1SpClT8mdnEVOc0FCeskbNod+xKW+EMQM3ARsI+/9FYo9u9HEj8qRMb6TG84pta2tkW1RcGbLsp2pbuaaP/RzI/A8DdI+IU4W3KE+IitzNe+XFhbYgnyFZxNoZE9nunXWtif21lAfHU8ce26NU7l5dDYjjmlYx6Bd2K6JeKMh03CpTMk05h+usyc9bAb1yCXMvSpmTyqkqQ+JGVoseL8MuJXJ2yOSgJ4YrkE9KF9kzyboTJ+Q+ADUefZsxlhgJT5qNfbcDqLkPgV1jk3v0kZ1Uz8jTtyIXw43ouzZfJY1n2aOPWHBjuNuH+grnGlDdbEmzMMCe1KBWAeZwVSjFITN67+UUAw+k7WkMQUrMLjR4hKIPMqeMBC7nR6v3Bu0uzvdgSDv5JqiPysRm5Y/LlXr94uV6k8a+QCXkknt8O12nAt5ZJVCOi5F63fbAyDE7YGC72q55o8m9M3km5mqu6e1ZQXnmhePn15+89WLp+9d/OHbzCy9Pt4Hh0xwIvGmodrr97GiDdS2LOGBrA6UruYFr401LOWay8/+cfHxk8tnTy+f/f351x88//rd5ZePLj//9fJfH714+v6L839e/O+33//3YQpLUp8/kJWdgdbtttUBVqRQkmtePvtk+ceHl58+u/zy0+xMfV7FffD0kyff/f7xy8EHXn74DMsH7y6/eJCZZ1fe2W3DqzFfvvvbZ8+/Oc/M0cMKBCNVDDpYVfkdPBC6d2HIIIM+fpIR1X0LbD06vzj/PCPwHla9vEgBU/h9eYfX5K7CUquPVa0vi15e3bPnaKRbyLbMM6SPRoBDsMCcGPbcBcmJQU7JGLmmMSZuZkMqfnsPklrm276hI/2EIGp7rAEnMixEjwiaGCcEvHDGxElhBqaaiCU2YG/vyT8dtHi5jaUBjKDUPRhoXmFg9nQHtmg2Rbpp2qwbYFofn+jWiKAhGelzl6AzUBsbY09tpkPnmTO/mBvvIJ36LqI3gjmpSPjuG1uv7J2staHSHOiOBUU5O1usLlzv8hT2muA6LPkzeltfIvHYel2OvIbe9XhVvbFracbo1fuVcOElOqVC3uM+rJ1QEwTDzgTCHciYXBNPdcPMBJSVFpjzjsiwwXcQO7dkIlC6AYdio1eg2YexiDmyD2OUjeIAC6qssaiTIduzpgB7o+fnwfrcYScLk8Cx7Sp/huTQhhphEv0ERhbkhusn1NbL2cuaKGElZvUyWtoDIgXcmngXIQgcM40p27yno93r4DCafjmOheT17SY2mfI7sfzlny8ef+gzpyBUMd8Xdwcir4gYJsHFR79b/jsDDjKYudTW1EGbFxjD8qtHsI9Y/uqvy4d/WT74Fnp58d5vLs7/k57T395JuMUDbxhBj2xrays9TdIv3x3Ycv3pi6wkMEtZncJXZD9TbErcn6fg0XghDvU+UgKDjXIIzbhd9hIiiCavaby424GcgU1Mn7j23Bml2mFESTp8/y2oFd6mLdfs6M4x1BrNts2sRF4MWNWjmX142bNDlOOVKziLgCb3BrwkeSctOGOZxujYXwjHSEfBpQoy4ciVgU/c5RUoSQlKMjZodk5vUQhrA0xT/ztMQrYpXLdGXAlWx1c4HttzGjsNW9SxzR67R7h+cQYK7NpjaJImdeawkIRfUQ33yD7tzqlpWKR5qJsuqEVFSdUe+NBj+8eAMi5LavfJqWGNI6qBIKm3b5vzKRH93kTdiDckYaIoePdsUcSV7JrnsLcPmiKur4RJfYXcp9f0I8KkvspWzy4cJq6Bki1RZHj3IehOVJ5m6ECHWDoIwwCHX3Ed5kGb3YG5EZcCQVxzao9J09sEaMaUsOGHHGSyqMP5GzxuWFdLdodhhmdqcHRKNKyyN785fRvUoCa5Obe9fsAMjI6+971uAgQ662aAf1ebDIYvRfRsRu7k4Fihj46m7LY8hwKOOzkWTv/6+ybcLCxnrJpFkJ43m6FTr6Z7JT2TSYtV8mymbH+ubwY18tfi1MhvGqFGQHvzAFrz6ZA4GHLAIGFyxmVR7SNjcmTCS/e9k3kcdkNjFE+PgNqCg0WIiQhiaUV0Z3QUzhX/I9o+nZvUMMkJMQOdiCASms29b7gwNzanNk/b5JBGkzuQZJ4DQaFbZWJUO95wI8w7x6zF+S3ZFh2qD12v92tqVbjyrIrVmrUorNEs2aNe+YJY2q6xBbo3hb+Rjy6yUKKu/QcrKQMo8N34/9v/A1BLAwQUAAIACADFi1hJM91K5mcaAADkRQAAFwAAAHVuaXZlcnNhbC91bml2ZXJzYWwucG5n7XwLVBPXvjc9nlbbqrTH26Ko5LT09OGDV0VUSFLrA6tVqqjIKxERUo0QlZd523KvtlVMrUqwlqS+eIdRkAQSkmhRUIPEB0kIIYkejJEMSYQwiZmQyU2gx6Keb63vrnXv/e5dH6ywZs1k//b+/V97//+Z2fP9V+tip7wR+Iafn9+UL1Yt3+Dn92qmn9+E3Emvea9EMQbmew+v5GyI/dyvtmNWn/fkz4Sla5f6+V1kvTmc9qr3/PXdqxJz/Pymtvj+X2kjVWz381tB/mL50o37cGZt6qHag4nIA9qH2P2ozx4f+fbdPbF1H/1FsODSD8D8HUu/n/95eFLge+fOFP88qXhr5LehlVsqDmz7fuGtlTPjibgLWdumzbV58Pfy2qILaps6ThKUlIgcbJv/VOXNZiCRWFvXgTnZU8A3FUXpFrlaoyR77A0A3dzDlg5n+Pn+pl7or2loUtqFFnOaXe9x6zUJPqn87sM7C1OXoDLxdEhhf/UV36VG6s5DaFSmnma7ZX91BNzo2nlMDEikSx1fjpxbJN3brVRLk7Gb8Cff+W6H4kMq3jF59MvZLfN8x8tHZ2SO9HekPezNkVbbDyT6jvuDP20fgc06mfau9/DXp6YEKcVuqgY4dIdIjz52Tvhq3jTTwtyo3ojJ9b6GhUwnm7mYarsVZW0P/2mIqciqmHlHe+TqSL9hTwEPDERPO/yBWCR8W2teNYqZ8MXqPEFw+MhIkz/4RPGs+Y/nNhZE/2WE4+XPftowDvgfBiisFOgoYH+DChdNhRQJcqQXi0zoOgl31wIDcBLXlB27rcTnltO/dBuZiFENAlKG/dEpko78wzn0JrwGisThwfgx3VGWl55zsyVKkebo9BGPfC3+QGLfgogRSrPUx9M2LykabRu7MKPkxLrgUU5H187IPH/v+gjZ3dtfhAiddCtVH021qwlypN/7yYpDQ53qHDm6wPi3vSOOvj/4VET76igRienSEFgY+LE6mBVzFz6GdR6LDl1MGBFiUd0nLTW5OdWxN5VPkib0B0ifXrMxcVVX+EGRyXIq3FdujYH+PoZcdnZk67oWkNJIH7gWYI1pkI+h98j+tJfFZc4shIIzBIq/Uk/G3gockffIrpthc7U9O3fzPLcTTBGhzw09Gos920Z64NM8XX3JM5qf/PamMdTmYHocBZy7zzUX3WQOgwY2XmLrxIzR0yltRLNSMGcLdi//QBfMKlTYVot7hq4n/aPJ7CXtylVDPTnyUk/za2dgo+FtqoZZnLsvko+BOuNJ/heO7fgl8nftdr7X0i+Qus22B9C1AHyMxxj4Nchl8z3z+mCF4yceUL2CTi2Ek6hDd2JDIzv+IaLpdmz7auEMRfA9Ve8udzP1knBkcrl/vWxy/V0zaQYhNDBj7v+NZf+jztBZDUgodhgE9M6PvqDWSFpBIr1KNPv7keG3hkHKZFIpHUzWL2EumH0h7gXv/J8esBtIzQOtajxiwHPciNWDqEnIIxLHfTfU/ZfdMoVqL32tSpVPLyoX/hFbodLhQXWhP2af/fIEf7/oTfheqAHzx7AllP6Lbd3vTexiPx/M5Evzfjnw/KW8CVMvxI2N5OzmV+w7xuhWURRliGUOxaqbLI5S+qmx0N61lQ8sJxJwaeUc2uAN+8tfh7dbTqXZF6z9Q9Yy4UDZ9EzHrTDqz2Vj5NHui59c78osQa99nsonB9T0T9s5ZZWW/A9G4/3Kxijdv7T0S2Zkxt37Q7dbq2aSfkjL10+uL3+B+7UwEemA+t6CMcoxtZ7aVqKNaunf8fM43XG6/wvpCsDJ9Sy0vavJQk725mUeOCQO6x7SyDUS2uAAi9lMh1eY6PShsyi0x7nCap0j5VzzThZP7ZpUKQIgJoCjwbjLSl6SV3O6pZ+AsZ20YaO8iz5Th2FWV4XnZc1YACypK66iwit2Hk7VyVdYAcZ8thuapwTqg9JVVuuPAirwsprMP6bZuR4nVy5BIIDr2ae+sgf+lB+0EDx6XuqgSgswO0NYK1MP3IKNlCbKySqqHoqAhik4camhT3M6l0wRyykw7J4nry5X2IpZGWT4DE6gswzyVTiG01AfSnvgXT3r6SKQnSwVp79sO413gRtcpTLfX1SpLNye2NpRxagpV/yauLO/Zr0NUuGxTBTEm2QyQpconk3iYZh+PHAZ+0pjay8kWLMFJ6lCge7QCTsri/Fx6PcbdXgxMsgvxjvO4JhkLeSXjAXYgGB9aH2MGFeO4VO4snsmo/bxP1XDEn16PnrRh4rBx3evReRuhtKnlCsiNiovJC57NLhQGF5Q3dppMIcEZ7ubZ2aC6XimVRW4hY2Pm1KmMZ4wcANA+RXYCDoEMWIMp4qRgmO6GEcyXnaTtlmZonK2gRy5XflrUwydvHxnEQ8agvY3NXdspru+pVwyDa7qyviz+YAauncTVt1rQLqEqkQPzc1nl6uwBfOBnC9f9l7RjZb+JDTwmirjl1Sc8f3I68rgbOKvPKblgDowW6U/mO8GE3EfJko7YGPAlPoAN3wk62VmBTklvPBct5x4j3vRQNY8qDtwLzCdzawlEb9KJ7qbkw7Irw3y/lR8sUFStBTdzWfoptTLBKu3BG1KDrYMDoTqy/OdytehPfP0QD4Pl0nenu2mkd0UptZRwmMRnE9NZAVlFqb45SBLJZTwYoFaqfizKacD0O/nUs49HmymuKGniS0ZU86sgfbKvkpq6YO5AdDAPMUkIY0G5av0pHyykwIP1kVeCAnFkwS6tg1RN4sDN4FmxSQRQut8KzkOMAJcHKplkJjEpLUt/KeR2YMbn7fG6Y7T/X9BN7K9Do8dmIa9g0jqSWO/m4iiXZi9ez+9EoDGyNKZzkIrjyy6LOlUwWOEMXmLL3tFYlcTHAiMbb/UBOI9sLoNiwzk334lWzBSL/9XlART+3y/t6gX70h91vb+jzsbqYYTCV2VH3Fpgx3WS0OFfyjk4HafPmv4Y3q44dN7Yhb4TMGzfhqxT7fyGZVFH4zYsYH3zGC7V43Ye2fymGFHFK3g/6G092b4DFKd9Yd2l0X4DLdZM07ofxUhX44UJXXeqpczERuBhUWeNhm5TKQjJ8RyksBZ7Lp9EJNr/8afdr8nmBWz17jYmgrtwRt6t0hp7n13ABGDLmh6fghfzoe4rFhUJpduV9vS7BHLHk7wj9mNyVSCx2HylAZrBrQnJWN5qpRWVKd3dhR0MCVm3288pVxtx/OqEVRPrY9chxl+0lKA9E08/15dUFpyaDy2Npl1JnJvyFmz/WgFRAlAk8gwnKXa0tzcMWg7D7k+8eYhEKM49s+hE/phA7EEJ9UazApZLRYFsujuwagX+Qr16fzXbspiTJeCwpNDE/R3tyYXnYQ+7qEwppwGY++FyKvDGzkOxCH1mPc0MCTedO/R9x9xFjFLA1eCbsU90NxpKzbRO8FOV4XKirEHfgWSZW0bsPjXlAYD2AYbq3DZZCYkKU7jt2ph52C4EpyH6l1b+7zxRB1hyS3pU45qYi/mK0qEk0siNyvB+S2ZRSJw4NLK25ST8EVcOUe6sSVbLA2MVsXhD3RXeXNh/d2I40pZJzg/dcEc1T4hsvBNiCKb3jOlXtuGU7i6JVJIput8QanLDqoztje3f6zZxFrOe6W+9VYgHjQmy94STv4VFJarwBpmShLSpItLTNIh/MA04lepQetFky+DbLyO6VhY7EiIA7gk7dCLvXrzwTlsptgToZAVeE4DBrxHP7UMLH4lt5KBIwEcCcKfFFlWiwoXZTuNlA92TfltjbZCyMOVYTooXG/fmFp4VqdNNd9Kcl3UF7/sBzJpFT6YUHTkkIGsvSw8XCYLjqsO3MTeU+Ca/7ZSnizhfeZurrpYr2uz90GTVBm54q9LvHXK4BII1oYlk4hovlI2X6ozhyUr2oSHr0LEFP8rIOsiRmL+jjrthWCrXdKu7Npy9uHmTS3GQVtW5Drlx4lnMyqv7HVnvVUczucI3O++Hnk8BBAwroJwH2Qvts4VuacrPSktO8RuQxZPr9sgLoXakgB8XDVrB9kJ73FOB9sMWdltusCjApKxTPV8KKcasch5+n9KfJuFLf31cgzVSLD2nykHH70w0uyIdsb9CahGW/0hJiJxiK0d8lyN6Xnpp87IDA1MVcVFtet0L5uBFTN43flYGLMkf8bWUAoFujot7hesmPZ4GWowa2r2vhfmljxU+CkGMmyTcz20GekgV+9BHFxPSlT9C6xx/vW+mUftduiZSO82dKfpkeIF5uklPFLahaBMmW+yshnBFxtowTS7jesZVrf4Y2mIzRStdx5Jsx94UQFL2vM9RwFLX+RVzJPLE4yeO0DgdtAJnt4cBbw0jfGRCTgIvY2Ym8oEug5xcOiBq9OMLbvQ326OEr3UeLOrdnzBGif030xIESZjuHuxSG+pfkffxPGbXuOAccA4YBwwDhgHjAPGAeOAccA4YBwwDhgHjAPGAeOAccA4YBwwDhgHjAP+vwU8tRRIqQTK0XMFCVFnnt1yeaIAGFC/S+9BSl9f+RMCCKfkBT+7sfOtkUO19BdF6Ro/vbbqrtq5tkJzW3tYFvbcDiu/+9dHR/aLzRy51eO3KOI/uEnrn3RR50JcUo9rZNfX/t7w/7wR1Utb+omAON/eJKdb+qdxn15VL/NH59rvF/rrFkF7FG0JKAK9WQtMGNnYdlHXJswyLazCr3H2E7DU82gejo8jkN2WLP1KiNjE1vz9xEE1G0fp609gGBK6/e1lVSwBxmJRjcATBn57M7Sna+Jc3fyGcgVQ74IAhayHz3tSZXLAEdxD1cLBMFdfHFPo9iMJ4UYRXp5Hf/Qpd7EKTQIDmAMBcom9ARCDfUxHAbPAHi21RRuD6EN3CtBcqlFN4NJdOZ7O+DhxLxnUsylNkE1pcuwiN5HoYLJ1n25wSIZIcEOEh9nNrKG9KOf12Fa8MY/n4V4VDWBxBzFzkDLaLN/unHXQfalowHFDcz+eC290Ld5Sze7DFZBMjuFs7BPbzZb+rNTLYK+FgVatn6Dyd9/2L2Wlam0Ci9SDFKB5K7UUStF+QyzjYWwHs0cyy7GSbiH+yJM75e4euRjdoXzaNIw7jvIMoKS7NwKqahSYBxqKjQruocBokCyTqwBNH3K4p8gRLk5xJ4FmFddAQWDIUkx1r3JRNOzFR6IMvT6b51dNfBgz/KTFrH/dUeWKqckD6hMgKjMKdTzPkMZ3/Zp9yKLKqQis2/nXahTxsQmXyVspzl5QHbuqtu0CJZlNpqbg6TpVMAGddKm1C3bmN9e8LWEAJmNkWaiUILsgak5xk7cELU1dZoTv8LDDLdieI6JDh5DDs2CMSXVhmEZpgiNDmRyrIox6OLYb/2j9wDNizOQ6l+g+J497sMGSZ69BJudyDy6bnul/aXiunj17A7ErmUUMGPhO3VupP2a2pk4pgXrzwwBuKCuTN5A7YyXxfgqubB4zaOdQDwZuQMiwWPxYfv209SwDx1x3TzZ/ghneUaAR046bzuhiHRJV9s02r5NfNsfr0y+5qPd1edxDo+PqmAKJvibN/nPx0RqqLgn9/h73d9fWFX0jOxvR5BDqRRkl2iPHIZu5MbGYjZ9Hqqc6F9B8HiK09taFsjES8LEkyPpvFjqQB+SE5lpneuNGU41AULxTUpesNabzqKXiatKO2/SQ2pth1LWyVUo0KSv6ME8xPUEedTMowUF14KbWazWhB9QyUOdIciwJgHxbaMwy/EqHxMu5UbzOgN2t6MOgiFrwl2/lDHu92dg7Z3K96tLh7VrbuxBQjh+KiLypdNj7JYKPHZvp0d9C0yVIUD00ZNC8cxxylKRWs/GSdz5LlHiI6Cxy8qE+avs65spaFybEtdcKhbkmMp9MJOCRQbacw0SchbF3RsS5l1e6nv+7RH0nCZwdHkvBHKH8hpdi+d/X4OENrsVNNY5dJdp8tTE11gE21com10cKQ/TH8qtbJQas8FLX1MyemRC59pu9TnGl/lAGjfegnoHfuQjfasuo4KHYr+S4l0D5ykJC0WlQpT5yltgnv/6e9SySgjOkk4EDaj1i1mOovo11tAbPr9Knh6Rf4xf2jShJM5WuJ2pdr3l9yU7uO88+Mqif23RDKJf52J1BdnVyj1pse2ccUBOrjhJnNIfUuVXXA2SCsK7VJJaoHKOCeH+6GXHV98xWLhmHXp1HhmEs0nCYL5PxmNbitxs4OOy6swS3pCAu9KCERTkl66KeZGUEHgSqXZR5eZdxdEgRje8jGLHWoHDXw2NxHCzAwbj9t3ldTahS21tnkn5hXdPKcJtHbUg3Ub/PZ1qj/6Y1Zng9In5vqTWKWPKqpckCXuycJFqA3tAguXZFGMoYOGTe1y22Nphl7POUU2siO3BGz9tmXZQ3aARr6P53LFaaar3/DyaOpITDLFXxpL1BsKPHklOvFHdULh5y3QrM/IZa66LUxEpDFB93i9v/foafnu1lpQwVVRTHPq7FlsH2Nxwm5iXfNmK1ZPAEcImpj+60IharxL3/V7PNZOXIpJ90o7/eQdFuYLJ50hZlIZcvr77IxwmC9m8kEVzDsscYrNcZvzSptvhfFj7uTcT4a/U37oFKm0mlKeqElkDkpIX7RTykPZfL9S6ajUYh0GZYfyFvd/krl5CzW0ET80vTWwWxfKqeqGGHagpTWFd5jj2l3jARk7y8sllxdFO8We+orULWiRDBCuL0FE4CE+BJ9Uo9thre4y7o7MtbI97lLqX0+TbA6Ri6iOshCpm2WtqbD3xayaI6I1Vtm84OUQIq8MYN7kBl8C6KFp41L0u6aZsbZssTxEUUdXbyoo3uk30Y7LSWebvleXjWGtDz4HGN5+C5bsT/TtKIKfs6L2KGmBdWj5oRLZSCqSuKvgffvoBkixDqI9gqlJ1dxP4mXJxddBTcs9d9/zy8B/1IWXhm5/1UnOMtrZHgNfc5Bg8i4lZ2GVRNMVKGGJLLgHpc9oyv74EhhY7BxTUoMIcfI8WgZIXXqmCnNvBrkVx+NSz6qYDpEtTHBpEfDkcReJzNchA3cZ/AAu6pPJLhGF6Blh7JdDd2ilNGI4KddyJY+7v6LFZKwsXh2fyVV7Knp1Yt9U5p8p9wBTNwxJIeJLWhVVbVenPIYZaZRsyYstndDeZcuERneDXzTZ4L/AJI5p7KaObJ1XYnZC9+UOCu6AEf+9S06+xKFXyLev+biR0Y+A6LQ+9PR1EP+jOfthCwtk+xOUjEa0nXvbY+P/Sd+hqMj33MwQsdYq9rZszzhGrt6y8FoKu8RvetoEH+6KGvXA6xrOpWBRIkmsyUnV3IfpsfNNDE2E50i3NmTPT6k4w38QYkrcOHxoeKDp+EFpqyFJoaI+qMa9i7lB1LMarCxNlNHUb7EpP8S4fz5PTMKBzZcKLet5UIi8ITT0ivf4R13rCxK9k8VZ/u3ScTtKrevR+Ak/Ll+iQEXwtfpDJGlffFbOv5JT2y6clYJZaEl/w+6/X2lXOzPZKCTZFPFV81Dpfyk7BMF9APoN75GSdY2UpxZlyukRIALt6lgPFqfOuNatPvgZFea1KlSO3mQk6xSZUqRaCvf8YViCM7ZbUT+yC91doq2NdVhf3U6x7bSrQVsVcZTwpRtLZJ0WOIps9WnYc8T3JNxKxKhFtjyVg94pBNh6G2pDYpQnaiblkMIscU36o2+H0c7Yw7Wn+6OJaSL08O+lsSU9/PwYqzK1Wix1al7OxyQfCjjDzuKe+a9yF0cR1rAw9vXBG81xcTKUOLa/CePBSadhSuv0vP/ktL/03fo4HI/Df4vcTBeCwUT2DC5UyKPc4zFNcTwRxuY9KQ+XMbt8yutYCGOV5z1w1LKYoVngkb8OmySUlYXC5tzSjXmiX9qVpZ/qg2DQ0q3EzPVIp3Dbnlm6XPIYc7uScsOcemZyaYsKZN+vj86Gbl1iGf1xtNRo3R00oablUD7m6goQUVhY9aObhOq5JtysWzzq/UZ+TyTPj4CuCi18+aKkwgjxp9aHQVfgcKzwJxtaNuhsE7byZ0Sx2lP1lsdV5H/MR5ly3pZOBCetEzM/VvagGCmcC0E+SoOeKgVPDBHc17AIfPOElpHIxDHsZJQEPjbOF7PxWYJLjaMy5KSqf08wsIY3FqpA43BITX5Fmp3vCWdR+5vuaZmH05XFeKq0Aaf4e+TilULX6HiwyVa+Q3MmZkJozkf5Nrz88cvGk3MPrbGDX0xdmS7O8elgoBdrU3k1CZ0jwQc1+NtGHpJg/thNVz17sWWPJCes+s55twklGZcP7Y4d0uhzT+Nh3jG+FVbyjdvqL/bWtaSWp4O6dsTH8vZibgeTZuidoapfkdGdr85HOXs/GNlv7VDt5kE3V19sFmSjecQZtbqOHNfJ9c7rPwEW/uC2G8gZwfj5nqm1+4MO6MVj/BUetK8aWUBfIY25eupsY5Xs9pw9gv2rEIlMCEEkisfd7EyQZ6T6/4M57MTkcJYqOWjxqx05HSJ/nQWiaj4dmnBvf4yo7o2b3WE1FrHeQtII4gtzzSu4CYdp3yYJY3b9yFf/pbQEdshfnJz8NDXj9Uo5AHKP5ZVJTGl3U2E//1YSnjQQDjtJvS9APVDdA6NbWOO17V/d41VSFdrHWX7maZXBX53MIGyklLnqOCYRXJr5yu9Q3iIdyvI9pDPYOhXPrTFlT2xK514l3idQ7+fk+8nmrADbMSxLeqx3Atves4JW7n5M9hvS8J8G/1FiXUmZ4nqYZpjiISrXeYeguBAQ8l+moIxnkjjiP9crQ3X4HTxaVs7dC1qWWWHeVhG1WAFRczHbzZsqspgbVIFDCV/C/JU3iQOxPEP6hFCc72k9xKUqlnrg6KOTtSt/Y1rXV1bUrNi7M1LWr31mWV++C+cjlm8CjrFy3T47Z+FVdtzButxH6c/n8q7ERWqt6Fc00e8/IQkCcY+/IQb3Fr9fDlfx4pHS3Va+2Seg839tZIgx5qw7XNxpZdENZjw5rfHAXRG66EiNHtm32P7sp1vleVnBh9VYmwO4VIdUs7OhDUciYh7YK7DPFd/2LFuuW1n2/99t8BUEsDBBQAAgAIAMWLWEmJd2BCSgAAAGsAAAAbAAAAdW5pdmVyc2FsL3VuaXZlcnNhbC5wbmcueG1ss7GvyM1RKEstKs7Mz7NVMtQzULK34+WyKShKLctMLVeoAIoBBSFASaESyDVCcMszU0oygEIGFgYIwYzUzPSMElslC0OEoD7QTABQSwECAAAUAAIACADFi1hJGCZD8i4EAAB/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+R7hdAAAAYgAAABwAAAAAAAAAAQAAAAAAnxIAAHVuaXZlcnNhbC9sb2NhbF9zZXR0aW5ncy54bWxQSwECAAAUAAIACAB2uMNEzoIJN+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=="/>
  <p:tag name="ISPRING_PRESENTATION_TITLE" val="第14章 传智书城前台程序设计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第14章 传智书城前台程序设计"/>
  <p:tag name="GENSWF_ADVANCE_TIME" val="0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点评"/>
  <p:tag name="GENSWF_ADVANCE_TIME" val="0.00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预习检查"/>
  <p:tag name="GENSWF_ADVANCE_TIME" val="0.00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学习目标"/>
  <p:tag name="GENSWF_ADVANCE_TIME" val="0.00"/>
  <p:tag name="ISPRING_SLIDE_INDENT_LEVEL" val="0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14-1】实现用户注册功能"/>
  <p:tag name="GENSWF_ADVANCE_TIME" val="0.00"/>
  <p:tag name="ISPRING_SLIDE_INDENT_LEVEL" val="0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14-1】实现用户注册功能"/>
  <p:tag name="GENSWF_ADVANCE_TIME" val="0.00"/>
  <p:tag name="ISPRING_SLIDE_INDENT_LEVEL" val="0"/>
  <p:tag name="ISPRING_CUSTOM_TIMING_US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14-2】实现用户登录功能"/>
  <p:tag name="GENSWF_ADVANCE_TIME" val="0.00"/>
  <p:tag name="ISPRING_SLIDE_INDENT_LEVEL" val="0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购物车板块"/>
  <p:tag name="GENSWF_ADVANCE_TIME" val="0.00"/>
  <p:tag name="ISPRING_SLIDE_INDENT_LEVEL" val="0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14-3】实现购物车的基本功能"/>
  <p:tag name="GENSWF_ADVANCE_TIME" val="0.00"/>
  <p:tag name="ISPRING_SLIDE_INDENT_LEVEL" val="0"/>
  <p:tag name="ISPRING_CUSTOM_TIMING_US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14-4】实现订单的相关功能"/>
  <p:tag name="GENSWF_ADVANCE_TIME" val="0.00"/>
  <p:tag name="ISPRING_SLIDE_INDENT_LEVEL" val="0"/>
  <p:tag name="ISPRING_CUSTOM_TIMING_US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14-5】实现商品分类导航栏"/>
  <p:tag name="GENSWF_ADVANCE_TIME" val="0.00"/>
  <p:tag name="ISPRING_SLIDE_INDENT_LEVEL" val="0"/>
  <p:tag name="ISPRING_CUSTOM_TIMING_US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14-6】实现图书搜索功能"/>
  <p:tag name="GENSWF_ADVANCE_TIME" val="0.00"/>
  <p:tag name="ISPRING_SLIDE_INDENT_LEVEL" val="0"/>
  <p:tag name="ISPRING_CUSTOM_TIMING_US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14-7】实现公告板和本周热卖功能"/>
  <p:tag name="GENSWF_ADVANCE_TIME" val="0.00"/>
  <p:tag name="ISPRING_SLIDE_INDENT_LEVEL" val="0"/>
  <p:tag name="ISPRING_CUSTOM_TIMING_US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本章小结"/>
  <p:tag name="GENSWF_ADVANCE_TIME" val="0.00"/>
  <p:tag name="ISPRING_SLIDE_INDENT_LEVEL" val="0"/>
  <p:tag name="ISPRING_CUSTOM_TIMING_US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"/>
  <p:tag name="GENSWF_ADVANCE_TIME" val="0.00"/>
  <p:tag name="ISPRING_SLIDE_INDENT_LEVEL" val="0"/>
  <p:tag name="ISPRING_CUSTOM_TIMING_US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4168</TotalTime>
  <Words>1766</Words>
  <Application>Microsoft Office PowerPoint</Application>
  <PresentationFormat>全屏显示(4:3)</PresentationFormat>
  <Paragraphs>166</Paragraphs>
  <Slides>19</Slides>
  <Notes>19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Office 主题​​</vt:lpstr>
      <vt:lpstr>Visio.Drawing.11</vt:lpstr>
      <vt:lpstr>Visio</vt:lpstr>
      <vt:lpstr>Java Web程序设计任务教程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第14章 传智书城前台程序设计</dc:title>
  <dc:creator>admin</dc:creator>
  <cp:lastModifiedBy>石荣新</cp:lastModifiedBy>
  <cp:revision>331</cp:revision>
  <dcterms:created xsi:type="dcterms:W3CDTF">2015-06-29T07:19:00Z</dcterms:created>
  <dcterms:modified xsi:type="dcterms:W3CDTF">2018-01-09T09:41:35Z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
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sldIdLst>
    <p:sldId id="393" r:id="rId2"/>
    <p:sldId id="274" r:id="rId3"/>
    <p:sldId id="275" r:id="rId4"/>
    <p:sldId id="273" r:id="rId5"/>
    <p:sldId id="380" r:id="rId6"/>
    <p:sldId id="383" r:id="rId7"/>
    <p:sldId id="385" r:id="rId8"/>
    <p:sldId id="384" r:id="rId9"/>
    <p:sldId id="386" r:id="rId10"/>
    <p:sldId id="387" r:id="rId11"/>
    <p:sldId id="381" r:id="rId12"/>
    <p:sldId id="388" r:id="rId13"/>
    <p:sldId id="389" r:id="rId14"/>
    <p:sldId id="390" r:id="rId15"/>
    <p:sldId id="391" r:id="rId16"/>
    <p:sldId id="382" r:id="rId17"/>
    <p:sldId id="392" r:id="rId18"/>
    <p:sldId id="308" r:id="rId19"/>
    <p:sldId id="309" r:id="rId20"/>
    <p:sldId id="394" r:id="rId21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BA9"/>
    <a:srgbClr val="E9EDF4"/>
    <a:srgbClr val="4BACC6"/>
    <a:srgbClr val="5767B4"/>
    <a:srgbClr val="0070C0"/>
    <a:srgbClr val="4F81BD"/>
    <a:srgbClr val="5185BD"/>
    <a:srgbClr val="685DAB"/>
    <a:srgbClr val="8064A2"/>
    <a:srgbClr val="006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E3A0C-2756-49CA-AE13-410589007B77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84784-494E-439C-883F-119A301A59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9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766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766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4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54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6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425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077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451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610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288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340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887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14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660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453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877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109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52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10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161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50500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47109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60940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023687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37544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51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4763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52" r:id="rId26"/>
    <p:sldLayoutId id="2147483651" r:id="rId2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18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4.emf"/><Relationship Id="rId2" Type="http://schemas.openxmlformats.org/officeDocument/2006/relationships/tags" Target="../tags/tag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3.emf"/><Relationship Id="rId4" Type="http://schemas.openxmlformats.org/officeDocument/2006/relationships/notesSlide" Target="../notesSlides/notesSlide12.xml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dirty="0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13</a:t>
            </a:r>
            <a:r>
              <a:rPr lang="zh-CN" altLang="en-US" sz="3200" b="1" dirty="0" smtClean="0"/>
              <a:t>章 传智书城项目设计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430838" y="5517232"/>
            <a:ext cx="34616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项目功能结构介绍和项目预览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项目环境搭建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52725" y="5538788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项目需求分析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数据库设计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376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实现文件上传的表单页面都需要哪些</a:t>
            </a:r>
            <a:r>
              <a:rPr lang="zh-CN" altLang="en-US" sz="2400" smtClean="0">
                <a:solidFill>
                  <a:prstClr val="black"/>
                </a:solidFill>
              </a:rPr>
              <a:t>配置？</a:t>
            </a:r>
            <a:endParaRPr lang="en-US" altLang="zh-CN" sz="2400" dirty="0" smtClean="0"/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简述文件下载的实现原理</a:t>
            </a:r>
            <a:r>
              <a:rPr lang="zh-CN" altLang="en-US" sz="2400" smtClean="0"/>
              <a:t>。</a:t>
            </a:r>
            <a:endParaRPr lang="en-US" altLang="zh-CN" sz="2400" dirty="0" smtClean="0"/>
          </a:p>
          <a:p>
            <a:pPr marL="457200" lvl="1" indent="0">
              <a:lnSpc>
                <a:spcPct val="150000"/>
              </a:lnSpc>
              <a:spcBef>
                <a:spcPct val="20000"/>
              </a:spcBef>
            </a:pPr>
            <a:endParaRPr lang="en-US" altLang="zh-CN" sz="2400" dirty="0"/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18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传智书城项目包含哪些功能和</a:t>
            </a:r>
            <a:r>
              <a:rPr lang="zh-CN" altLang="en-US" sz="2400" smtClean="0">
                <a:solidFill>
                  <a:prstClr val="black"/>
                </a:solidFill>
              </a:rPr>
              <a:t>模块</a:t>
            </a:r>
            <a:r>
              <a:rPr lang="zh-CN" altLang="en-US" sz="2400"/>
              <a:t>？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传智书城项目包含哪些功能和</a:t>
            </a:r>
            <a:r>
              <a:rPr lang="zh-CN" altLang="en-US" sz="2400" smtClean="0">
                <a:solidFill>
                  <a:prstClr val="black"/>
                </a:solidFill>
              </a:rPr>
              <a:t>模块</a:t>
            </a:r>
            <a:r>
              <a:rPr lang="zh-CN" altLang="en-US" sz="2400"/>
              <a:t>？</a:t>
            </a:r>
            <a:endParaRPr lang="en-US" altLang="zh-CN" sz="2400" dirty="0"/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35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250855" y="2181089"/>
            <a:ext cx="3097009" cy="1153320"/>
            <a:chOff x="4841991" y="4225925"/>
            <a:chExt cx="3830022" cy="1223329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4841991" y="4431109"/>
              <a:ext cx="3057600" cy="1018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+mn-lt"/>
                  <a:ea typeface="微软雅黑" pitchFamily="34" charset="-122"/>
                  <a:sym typeface="宋体" pitchFamily="2" charset="-122"/>
                </a:rPr>
                <a:t>传智书城的项目</a:t>
              </a:r>
              <a:endParaRPr lang="en-US" altLang="zh-CN" b="1" dirty="0" smtClean="0">
                <a:solidFill>
                  <a:srgbClr val="006BA9"/>
                </a:solidFill>
                <a:latin typeface="+mn-lt"/>
                <a:ea typeface="微软雅黑" pitchFamily="34" charset="-122"/>
                <a:sym typeface="宋体" pitchFamily="2" charset="-122"/>
              </a:endParaRPr>
            </a:p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+mn-lt"/>
                  <a:ea typeface="微软雅黑" pitchFamily="34" charset="-122"/>
                  <a:sym typeface="宋体" pitchFamily="2" charset="-122"/>
                </a:rPr>
                <a:t>需求</a:t>
              </a: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pitchFamily="2" charset="-122"/>
                </a:rPr>
                <a:t>和功能结构</a:t>
              </a:r>
              <a:endParaRPr lang="en-US" altLang="zh-CN" b="1" dirty="0">
                <a:solidFill>
                  <a:srgbClr val="006BA9"/>
                </a:solidFill>
                <a:latin typeface="+mn-lt"/>
                <a:ea typeface="微软雅黑" pitchFamily="34" charset="-122"/>
                <a:sym typeface="宋体" pitchFamily="2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36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2434982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3586674">
              <a:off x="4661170" y="3033606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790945" y="4474016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59" y="4754052"/>
            <a:ext cx="3423425" cy="1123215"/>
            <a:chOff x="4241870" y="5106723"/>
            <a:chExt cx="2253854" cy="942278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838005" y="4510588"/>
              <a:ext cx="942278" cy="2134547"/>
              <a:chOff x="6453786" y="4116787"/>
              <a:chExt cx="1337402" cy="97773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86" y="4116787"/>
                <a:ext cx="1070796" cy="815236"/>
                <a:chOff x="1766924" y="2298618"/>
                <a:chExt cx="1070903" cy="814920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425516" y="2646176"/>
                  <a:ext cx="695116" cy="0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44643" y="2520354"/>
                  <a:ext cx="115465" cy="1070903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169302" y="4932019"/>
                <a:ext cx="621886" cy="162501"/>
                <a:chOff x="2140164" y="3658531"/>
                <a:chExt cx="623648" cy="162297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374843" y="3423852"/>
                  <a:ext cx="151397" cy="620755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381465" y="3438481"/>
                  <a:ext cx="141050" cy="623644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515883" y="5263697"/>
              <a:ext cx="1979841" cy="419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通过</a:t>
              </a:r>
              <a:r>
                <a:rPr lang="en-US" altLang="zh-CN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E-R</a:t>
              </a: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图设计数据表</a:t>
              </a: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895977" y="2188221"/>
            <a:ext cx="3572567" cy="906106"/>
            <a:chOff x="5947984" y="1827378"/>
            <a:chExt cx="3575787" cy="906134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6198139" y="2064612"/>
              <a:ext cx="3325632" cy="4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微软雅黑" pitchFamily="34" charset="-122"/>
                </a:rPr>
                <a:t>搭建项目环境</a:t>
              </a:r>
              <a:endParaRPr lang="zh-CN" altLang="en-US" b="1" dirty="0">
                <a:solidFill>
                  <a:srgbClr val="006BA9"/>
                </a:solidFill>
                <a:ea typeface="微软雅黑" pitchFamily="34" charset="-122"/>
                <a:sym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84" y="2286831"/>
              <a:ext cx="2585191" cy="446681"/>
              <a:chOff x="1455470" y="2862509"/>
              <a:chExt cx="270318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1455470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714278" y="3309401"/>
                <a:ext cx="2444377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313653" y="1827378"/>
              <a:ext cx="489391" cy="520715"/>
              <a:chOff x="1857876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857876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965869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632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1844824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068960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13.2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数据库设计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230152" y="4149080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13.3    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项目环境搭建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1988840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13.1    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项目概述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682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0"/>
          <p:cNvSpPr>
            <a:spLocks noChangeArrowheads="1"/>
          </p:cNvSpPr>
          <p:nvPr/>
        </p:nvSpPr>
        <p:spPr bwMode="auto">
          <a:xfrm>
            <a:off x="3851920" y="2708920"/>
            <a:ext cx="4392488" cy="2516733"/>
          </a:xfrm>
          <a:prstGeom prst="rect">
            <a:avLst/>
          </a:prstGeom>
          <a:noFill/>
          <a:ln w="19050" algn="ctr">
            <a:solidFill>
              <a:srgbClr val="006BA9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buFont typeface="Arial" charset="0"/>
              <a:buNone/>
              <a:defRPr/>
            </a:pPr>
            <a:endParaRPr lang="zh-CN" altLang="en-US"/>
          </a:p>
        </p:txBody>
      </p:sp>
      <p:sp>
        <p:nvSpPr>
          <p:cNvPr id="4" name="矩形 28"/>
          <p:cNvSpPr>
            <a:spLocks noChangeArrowheads="1"/>
          </p:cNvSpPr>
          <p:nvPr/>
        </p:nvSpPr>
        <p:spPr bwMode="auto">
          <a:xfrm>
            <a:off x="3923928" y="2835920"/>
            <a:ext cx="432048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  </a:t>
            </a:r>
            <a:r>
              <a:rPr lang="zh-CN" altLang="en-US" sz="1600" dirty="0" smtClean="0">
                <a:latin typeface="+mn-ea"/>
              </a:rPr>
              <a:t>  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近年来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，随着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的迅速崛起，互联网已成为收集提供信息的最佳渠道并逐步进入传统的流通领域。接下来我们通过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讲解传智书城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项目，让同学理解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传智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书城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项目中如何建设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B2C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to Customer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，即企业对消费者）的网上购物系统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3134370"/>
            <a:ext cx="32797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13.1.1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需求分析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052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97193"/>
              </p:ext>
            </p:extLst>
          </p:nvPr>
        </p:nvGraphicFramePr>
        <p:xfrm>
          <a:off x="601216" y="1935942"/>
          <a:ext cx="7931224" cy="28612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500814"/>
                <a:gridCol w="4430410"/>
              </a:tblGrid>
              <a:tr h="585542">
                <a:tc gridSpan="2">
                  <a:txBody>
                    <a:bodyPr/>
                    <a:lstStyle/>
                    <a:p>
                      <a:pPr lvl="1" algn="ctr">
                        <a:lnSpc>
                          <a:spcPct val="150000"/>
                        </a:lnSpc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b="1" kern="0" dirty="0" smtClean="0">
                          <a:solidFill>
                            <a:schemeClr val="bg1"/>
                          </a:solidFill>
                          <a:latin typeface="Arial"/>
                          <a:ea typeface="+mn-ea"/>
                        </a:rPr>
                        <a:t>网上书城项目应满足以下需求</a:t>
                      </a:r>
                      <a:endParaRPr lang="zh-CN" altLang="en-US" sz="2000" b="1" kern="0" dirty="0">
                        <a:solidFill>
                          <a:schemeClr val="bg1"/>
                        </a:solidFill>
                        <a:latin typeface="Arial"/>
                        <a:ea typeface="+mn-ea"/>
                      </a:endParaRPr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9278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0000"/>
                        <a:buFont typeface="Wingdings" pitchFamily="2" charset="2"/>
                        <a:buChar char="Ø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统一友好的操作界面，具有良好的用户体验。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0000"/>
                        <a:buFont typeface="Wingdings" pitchFamily="2" charset="2"/>
                        <a:buChar char="Ø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商品分类详尽，可按不同类别查看商品信息。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9278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0000"/>
                        <a:buFont typeface="Wingdings" pitchFamily="2" charset="2"/>
                        <a:buChar char="Ø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公告栏、本周热卖商品的展示。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0000"/>
                        <a:buFont typeface="Wingdings" pitchFamily="2" charset="2"/>
                        <a:buChar char="Ø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网站首页轮播图满足图书广告的需要。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9278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0000"/>
                        <a:buFont typeface="Wingdings" pitchFamily="2" charset="2"/>
                        <a:buChar char="Ø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用户信息的注册和验证。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SzPct val="80000"/>
                        <a:buFont typeface="Wingdings" pitchFamily="2" charset="2"/>
                        <a:buChar char="Ø"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通过图书名模糊搜索相关图书。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9278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通过购物车一次购买多件商品。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提供简单的安全模型，用户必须登录后购买图书。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9278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用户选择商品后可以在线提交订单。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用户可以查看自己的订单信息。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9278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设计网站后台，管理网站的各项基本数据。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系统运行安全稳定且响应及时。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13.1.1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需求分析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691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42925" y="1412776"/>
            <a:ext cx="8010525" cy="806450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矩形 11"/>
          <p:cNvSpPr>
            <a:spLocks noChangeArrowheads="1"/>
          </p:cNvSpPr>
          <p:nvPr/>
        </p:nvSpPr>
        <p:spPr bwMode="auto">
          <a:xfrm>
            <a:off x="542925" y="1482626"/>
            <a:ext cx="80105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buFont typeface="Calibri" panose="020F0502020204030204" pitchFamily="34" charset="0"/>
              <a:buChar char="–"/>
            </a:pPr>
            <a:r>
              <a:rPr lang="zh-CN" altLang="en-US" dirty="0">
                <a:latin typeface="+mn-ea"/>
              </a:rPr>
              <a:t>传智</a:t>
            </a:r>
            <a:r>
              <a:rPr lang="zh-CN" altLang="en-US" dirty="0" smtClean="0">
                <a:latin typeface="+mn-ea"/>
              </a:rPr>
              <a:t>书城</a:t>
            </a:r>
            <a:r>
              <a:rPr lang="zh-CN" altLang="en-US" dirty="0">
                <a:latin typeface="+mn-ea"/>
              </a:rPr>
              <a:t>项目分为前台和后台两个部分。项目前台和后台的功能结构如下所示。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235325" y="2374106"/>
            <a:ext cx="2409825" cy="369887"/>
            <a:chOff x="3235325" y="2925763"/>
            <a:chExt cx="2409825" cy="369887"/>
          </a:xfrm>
        </p:grpSpPr>
        <p:sp>
          <p:nvSpPr>
            <p:cNvPr id="6" name="矩形 12"/>
            <p:cNvSpPr>
              <a:spLocks noChangeArrowheads="1"/>
            </p:cNvSpPr>
            <p:nvPr/>
          </p:nvSpPr>
          <p:spPr bwMode="auto">
            <a:xfrm>
              <a:off x="3235325" y="2940050"/>
              <a:ext cx="2409825" cy="32385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7" name="矩形 13"/>
            <p:cNvSpPr>
              <a:spLocks noChangeArrowheads="1"/>
            </p:cNvSpPr>
            <p:nvPr/>
          </p:nvSpPr>
          <p:spPr bwMode="auto">
            <a:xfrm>
              <a:off x="3375025" y="2925763"/>
              <a:ext cx="21510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传智书城前台网站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846263" y="3177381"/>
            <a:ext cx="1428750" cy="369887"/>
            <a:chOff x="1846263" y="3729038"/>
            <a:chExt cx="1428750" cy="369887"/>
          </a:xfrm>
        </p:grpSpPr>
        <p:sp>
          <p:nvSpPr>
            <p:cNvPr id="9" name="矩形 14"/>
            <p:cNvSpPr>
              <a:spLocks noChangeArrowheads="1"/>
            </p:cNvSpPr>
            <p:nvPr/>
          </p:nvSpPr>
          <p:spPr bwMode="auto">
            <a:xfrm>
              <a:off x="1846263" y="3756025"/>
              <a:ext cx="1347787" cy="32385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矩形 16"/>
            <p:cNvSpPr>
              <a:spLocks noChangeArrowheads="1"/>
            </p:cNvSpPr>
            <p:nvPr/>
          </p:nvSpPr>
          <p:spPr bwMode="auto">
            <a:xfrm>
              <a:off x="1974850" y="3729038"/>
              <a:ext cx="13001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用户操作</a:t>
              </a: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5746750" y="3158331"/>
            <a:ext cx="1452563" cy="369887"/>
            <a:chOff x="5746750" y="3709988"/>
            <a:chExt cx="1452563" cy="369887"/>
          </a:xfrm>
        </p:grpSpPr>
        <p:sp>
          <p:nvSpPr>
            <p:cNvPr id="12" name="矩形 15"/>
            <p:cNvSpPr>
              <a:spLocks noChangeArrowheads="1"/>
            </p:cNvSpPr>
            <p:nvPr/>
          </p:nvSpPr>
          <p:spPr bwMode="auto">
            <a:xfrm>
              <a:off x="5746750" y="3727450"/>
              <a:ext cx="1452563" cy="32385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13" name="矩形 17"/>
            <p:cNvSpPr>
              <a:spLocks noChangeArrowheads="1"/>
            </p:cNvSpPr>
            <p:nvPr/>
          </p:nvSpPr>
          <p:spPr bwMode="auto">
            <a:xfrm>
              <a:off x="5876925" y="3709988"/>
              <a:ext cx="1198563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图书浏览</a:t>
              </a: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3779838" y="3967956"/>
            <a:ext cx="392112" cy="1714500"/>
            <a:chOff x="3779838" y="4519613"/>
            <a:chExt cx="392112" cy="1714500"/>
          </a:xfrm>
        </p:grpSpPr>
        <p:sp>
          <p:nvSpPr>
            <p:cNvPr id="15" name="矩形 18"/>
            <p:cNvSpPr>
              <a:spLocks noChangeArrowheads="1"/>
            </p:cNvSpPr>
            <p:nvPr/>
          </p:nvSpPr>
          <p:spPr bwMode="auto">
            <a:xfrm>
              <a:off x="3779838" y="4519613"/>
              <a:ext cx="392112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矩形 19"/>
            <p:cNvSpPr>
              <a:spLocks noChangeArrowheads="1"/>
            </p:cNvSpPr>
            <p:nvPr/>
          </p:nvSpPr>
          <p:spPr bwMode="auto">
            <a:xfrm>
              <a:off x="3795713" y="4740275"/>
              <a:ext cx="360362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mtClean="0">
                  <a:solidFill>
                    <a:srgbClr val="000000"/>
                  </a:solidFill>
                  <a:latin typeface="+mj-ea"/>
                  <a:ea typeface="+mj-ea"/>
                </a:rPr>
                <a:t>订单查询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3051175" y="3955256"/>
            <a:ext cx="392113" cy="1766887"/>
            <a:chOff x="3051175" y="4506913"/>
            <a:chExt cx="392113" cy="1766887"/>
          </a:xfrm>
        </p:grpSpPr>
        <p:sp>
          <p:nvSpPr>
            <p:cNvPr id="18" name="矩形 20"/>
            <p:cNvSpPr>
              <a:spLocks noChangeArrowheads="1"/>
            </p:cNvSpPr>
            <p:nvPr/>
          </p:nvSpPr>
          <p:spPr bwMode="auto">
            <a:xfrm>
              <a:off x="3051175" y="4506913"/>
              <a:ext cx="392113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矩形 21"/>
            <p:cNvSpPr>
              <a:spLocks noChangeArrowheads="1"/>
            </p:cNvSpPr>
            <p:nvPr/>
          </p:nvSpPr>
          <p:spPr bwMode="auto">
            <a:xfrm>
              <a:off x="3067050" y="4519613"/>
              <a:ext cx="360363" cy="175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图书购买流程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939800" y="3955256"/>
            <a:ext cx="393700" cy="1714500"/>
            <a:chOff x="939800" y="4506913"/>
            <a:chExt cx="393700" cy="1714500"/>
          </a:xfrm>
        </p:grpSpPr>
        <p:sp>
          <p:nvSpPr>
            <p:cNvPr id="21" name="矩形 22"/>
            <p:cNvSpPr>
              <a:spLocks noChangeArrowheads="1"/>
            </p:cNvSpPr>
            <p:nvPr/>
          </p:nvSpPr>
          <p:spPr bwMode="auto">
            <a:xfrm>
              <a:off x="939800" y="4506913"/>
              <a:ext cx="393700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矩形 23"/>
            <p:cNvSpPr>
              <a:spLocks noChangeArrowheads="1"/>
            </p:cNvSpPr>
            <p:nvPr/>
          </p:nvSpPr>
          <p:spPr bwMode="auto">
            <a:xfrm>
              <a:off x="974725" y="4821238"/>
              <a:ext cx="3587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用户登陆</a:t>
              </a: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2354263" y="3955256"/>
            <a:ext cx="393700" cy="1776412"/>
            <a:chOff x="2354263" y="4506913"/>
            <a:chExt cx="393700" cy="1776412"/>
          </a:xfrm>
        </p:grpSpPr>
        <p:sp>
          <p:nvSpPr>
            <p:cNvPr id="24" name="矩形 24"/>
            <p:cNvSpPr>
              <a:spLocks noChangeArrowheads="1"/>
            </p:cNvSpPr>
            <p:nvPr/>
          </p:nvSpPr>
          <p:spPr bwMode="auto">
            <a:xfrm>
              <a:off x="2354263" y="4506913"/>
              <a:ext cx="393700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矩形 25"/>
            <p:cNvSpPr>
              <a:spLocks noChangeArrowheads="1"/>
            </p:cNvSpPr>
            <p:nvPr/>
          </p:nvSpPr>
          <p:spPr bwMode="auto">
            <a:xfrm>
              <a:off x="2371725" y="4529138"/>
              <a:ext cx="358775" cy="175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用户信息修改</a:t>
              </a:r>
            </a:p>
          </p:txBody>
        </p:sp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1646238" y="3967956"/>
            <a:ext cx="393700" cy="1714500"/>
            <a:chOff x="1646238" y="4519613"/>
            <a:chExt cx="393700" cy="1714500"/>
          </a:xfrm>
        </p:grpSpPr>
        <p:sp>
          <p:nvSpPr>
            <p:cNvPr id="27" name="矩形 26"/>
            <p:cNvSpPr>
              <a:spLocks noChangeArrowheads="1"/>
            </p:cNvSpPr>
            <p:nvPr/>
          </p:nvSpPr>
          <p:spPr bwMode="auto">
            <a:xfrm>
              <a:off x="1646238" y="4519613"/>
              <a:ext cx="393700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矩形 27"/>
            <p:cNvSpPr>
              <a:spLocks noChangeArrowheads="1"/>
            </p:cNvSpPr>
            <p:nvPr/>
          </p:nvSpPr>
          <p:spPr bwMode="auto">
            <a:xfrm>
              <a:off x="1681163" y="4833938"/>
              <a:ext cx="3587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用户注册</a:t>
              </a:r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7704138" y="3958431"/>
            <a:ext cx="392112" cy="1714500"/>
            <a:chOff x="7704138" y="4510088"/>
            <a:chExt cx="392112" cy="1714500"/>
          </a:xfrm>
        </p:grpSpPr>
        <p:sp>
          <p:nvSpPr>
            <p:cNvPr id="30" name="矩形 28"/>
            <p:cNvSpPr>
              <a:spLocks noChangeArrowheads="1"/>
            </p:cNvSpPr>
            <p:nvPr/>
          </p:nvSpPr>
          <p:spPr bwMode="auto">
            <a:xfrm>
              <a:off x="7704138" y="4510088"/>
              <a:ext cx="392112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矩形 29"/>
            <p:cNvSpPr>
              <a:spLocks noChangeArrowheads="1"/>
            </p:cNvSpPr>
            <p:nvPr/>
          </p:nvSpPr>
          <p:spPr bwMode="auto">
            <a:xfrm>
              <a:off x="7720013" y="4625975"/>
              <a:ext cx="360362" cy="147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 smtClean="0">
                  <a:solidFill>
                    <a:srgbClr val="000000"/>
                  </a:solidFill>
                  <a:latin typeface="+mj-ea"/>
                  <a:ea typeface="+mj-ea"/>
                </a:rPr>
                <a:t>首页轮播图</a:t>
              </a:r>
            </a:p>
          </p:txBody>
        </p:sp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975475" y="3945731"/>
            <a:ext cx="392113" cy="1714500"/>
            <a:chOff x="6975475" y="4497388"/>
            <a:chExt cx="392113" cy="1714500"/>
          </a:xfrm>
        </p:grpSpPr>
        <p:sp>
          <p:nvSpPr>
            <p:cNvPr id="33" name="矩形 30"/>
            <p:cNvSpPr>
              <a:spLocks noChangeArrowheads="1"/>
            </p:cNvSpPr>
            <p:nvPr/>
          </p:nvSpPr>
          <p:spPr bwMode="auto">
            <a:xfrm>
              <a:off x="6975475" y="4497388"/>
              <a:ext cx="392113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34" name="矩形 32"/>
            <p:cNvSpPr>
              <a:spLocks noChangeArrowheads="1"/>
            </p:cNvSpPr>
            <p:nvPr/>
          </p:nvSpPr>
          <p:spPr bwMode="auto">
            <a:xfrm>
              <a:off x="6991350" y="4586288"/>
              <a:ext cx="360363" cy="147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mtClean="0">
                  <a:solidFill>
                    <a:srgbClr val="000000"/>
                  </a:solidFill>
                  <a:latin typeface="+mj-ea"/>
                  <a:ea typeface="+mj-ea"/>
                </a:rPr>
                <a:t>图书公告栏</a:t>
              </a:r>
            </a:p>
          </p:txBody>
        </p:sp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4864100" y="3917156"/>
            <a:ext cx="393700" cy="1816100"/>
            <a:chOff x="4864100" y="4468813"/>
            <a:chExt cx="393700" cy="1816100"/>
          </a:xfrm>
        </p:grpSpPr>
        <p:sp>
          <p:nvSpPr>
            <p:cNvPr id="36" name="矩形 33"/>
            <p:cNvSpPr>
              <a:spLocks noChangeArrowheads="1"/>
            </p:cNvSpPr>
            <p:nvPr/>
          </p:nvSpPr>
          <p:spPr bwMode="auto">
            <a:xfrm>
              <a:off x="4864100" y="4497388"/>
              <a:ext cx="393700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37" name="矩形 34"/>
            <p:cNvSpPr>
              <a:spLocks noChangeArrowheads="1"/>
            </p:cNvSpPr>
            <p:nvPr/>
          </p:nvSpPr>
          <p:spPr bwMode="auto">
            <a:xfrm>
              <a:off x="4899025" y="4468813"/>
              <a:ext cx="358775" cy="181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1600" dirty="0" smtClean="0">
                  <a:solidFill>
                    <a:srgbClr val="000000"/>
                  </a:solidFill>
                  <a:latin typeface="+mj-ea"/>
                  <a:ea typeface="+mj-ea"/>
                </a:rPr>
                <a:t>按类别浏览图书</a:t>
              </a:r>
            </a:p>
          </p:txBody>
        </p:sp>
      </p:grpSp>
      <p:grpSp>
        <p:nvGrpSpPr>
          <p:cNvPr id="38" name="组合 37"/>
          <p:cNvGrpSpPr>
            <a:grpSpLocks/>
          </p:cNvGrpSpPr>
          <p:nvPr/>
        </p:nvGrpSpPr>
        <p:grpSpPr bwMode="auto">
          <a:xfrm>
            <a:off x="6278563" y="3945731"/>
            <a:ext cx="393700" cy="1714500"/>
            <a:chOff x="6278563" y="4497388"/>
            <a:chExt cx="393700" cy="1714500"/>
          </a:xfrm>
        </p:grpSpPr>
        <p:sp>
          <p:nvSpPr>
            <p:cNvPr id="39" name="矩形 35"/>
            <p:cNvSpPr>
              <a:spLocks noChangeArrowheads="1"/>
            </p:cNvSpPr>
            <p:nvPr/>
          </p:nvSpPr>
          <p:spPr bwMode="auto">
            <a:xfrm>
              <a:off x="6278563" y="4497388"/>
              <a:ext cx="393700" cy="171450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40" name="矩形 36"/>
            <p:cNvSpPr>
              <a:spLocks noChangeArrowheads="1"/>
            </p:cNvSpPr>
            <p:nvPr/>
          </p:nvSpPr>
          <p:spPr bwMode="auto">
            <a:xfrm>
              <a:off x="6296025" y="4757738"/>
              <a:ext cx="358775" cy="120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mtClean="0">
                  <a:solidFill>
                    <a:srgbClr val="000000"/>
                  </a:solidFill>
                  <a:latin typeface="+mj-ea"/>
                  <a:ea typeface="+mj-ea"/>
                </a:rPr>
                <a:t>本周热卖</a:t>
              </a:r>
            </a:p>
          </p:txBody>
        </p:sp>
      </p:grpSp>
      <p:sp>
        <p:nvSpPr>
          <p:cNvPr id="42" name="矩形 37"/>
          <p:cNvSpPr>
            <a:spLocks noChangeArrowheads="1"/>
          </p:cNvSpPr>
          <p:nvPr/>
        </p:nvSpPr>
        <p:spPr bwMode="auto">
          <a:xfrm>
            <a:off x="5570538" y="3958431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44" name="直接连接符 43"/>
          <p:cNvCxnSpPr>
            <a:cxnSpLocks noChangeShapeType="1"/>
          </p:cNvCxnSpPr>
          <p:nvPr/>
        </p:nvCxnSpPr>
        <p:spPr bwMode="auto">
          <a:xfrm flipH="1">
            <a:off x="4449763" y="2724943"/>
            <a:ext cx="0" cy="242888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>
            <a:off x="2551113" y="2961481"/>
            <a:ext cx="3924300" cy="0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/>
          <p:cNvCxnSpPr>
            <a:cxnSpLocks noChangeShapeType="1"/>
          </p:cNvCxnSpPr>
          <p:nvPr/>
        </p:nvCxnSpPr>
        <p:spPr bwMode="auto">
          <a:xfrm>
            <a:off x="2551113" y="2961481"/>
            <a:ext cx="0" cy="242887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箭头连接符 46"/>
          <p:cNvCxnSpPr>
            <a:cxnSpLocks noChangeShapeType="1"/>
          </p:cNvCxnSpPr>
          <p:nvPr/>
        </p:nvCxnSpPr>
        <p:spPr bwMode="auto">
          <a:xfrm>
            <a:off x="6475413" y="2961481"/>
            <a:ext cx="0" cy="215900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箭头连接符 47"/>
          <p:cNvCxnSpPr>
            <a:cxnSpLocks noChangeShapeType="1"/>
            <a:endCxn id="21" idx="0"/>
          </p:cNvCxnSpPr>
          <p:nvPr/>
        </p:nvCxnSpPr>
        <p:spPr bwMode="auto">
          <a:xfrm>
            <a:off x="1136650" y="3686968"/>
            <a:ext cx="0" cy="2682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箭头连接符 48"/>
          <p:cNvCxnSpPr>
            <a:cxnSpLocks noChangeShapeType="1"/>
            <a:endCxn id="27" idx="0"/>
          </p:cNvCxnSpPr>
          <p:nvPr/>
        </p:nvCxnSpPr>
        <p:spPr bwMode="auto">
          <a:xfrm flipH="1">
            <a:off x="1843088" y="3686968"/>
            <a:ext cx="3175" cy="2809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箭头连接符 49"/>
          <p:cNvCxnSpPr>
            <a:cxnSpLocks noChangeShapeType="1"/>
          </p:cNvCxnSpPr>
          <p:nvPr/>
        </p:nvCxnSpPr>
        <p:spPr bwMode="auto">
          <a:xfrm>
            <a:off x="2538413" y="3686968"/>
            <a:ext cx="0" cy="26193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箭头连接符 50"/>
          <p:cNvCxnSpPr>
            <a:cxnSpLocks noChangeShapeType="1"/>
          </p:cNvCxnSpPr>
          <p:nvPr/>
        </p:nvCxnSpPr>
        <p:spPr bwMode="auto">
          <a:xfrm flipH="1">
            <a:off x="3243263" y="3677443"/>
            <a:ext cx="3175" cy="2809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箭头连接符 51"/>
          <p:cNvCxnSpPr>
            <a:cxnSpLocks noChangeShapeType="1"/>
          </p:cNvCxnSpPr>
          <p:nvPr/>
        </p:nvCxnSpPr>
        <p:spPr bwMode="auto">
          <a:xfrm flipH="1">
            <a:off x="3967163" y="3686968"/>
            <a:ext cx="3175" cy="2809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箭头连接符 52"/>
          <p:cNvCxnSpPr>
            <a:cxnSpLocks noChangeShapeType="1"/>
          </p:cNvCxnSpPr>
          <p:nvPr/>
        </p:nvCxnSpPr>
        <p:spPr bwMode="auto">
          <a:xfrm>
            <a:off x="5089525" y="3658393"/>
            <a:ext cx="0" cy="2682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箭头连接符 53"/>
          <p:cNvCxnSpPr>
            <a:cxnSpLocks noChangeShapeType="1"/>
          </p:cNvCxnSpPr>
          <p:nvPr/>
        </p:nvCxnSpPr>
        <p:spPr bwMode="auto">
          <a:xfrm flipH="1">
            <a:off x="5795963" y="3658393"/>
            <a:ext cx="3175" cy="2809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箭头连接符 54"/>
          <p:cNvCxnSpPr>
            <a:cxnSpLocks noChangeShapeType="1"/>
          </p:cNvCxnSpPr>
          <p:nvPr/>
        </p:nvCxnSpPr>
        <p:spPr bwMode="auto">
          <a:xfrm>
            <a:off x="6491288" y="3658393"/>
            <a:ext cx="0" cy="271463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直接箭头连接符 55"/>
          <p:cNvCxnSpPr>
            <a:cxnSpLocks noChangeShapeType="1"/>
          </p:cNvCxnSpPr>
          <p:nvPr/>
        </p:nvCxnSpPr>
        <p:spPr bwMode="auto">
          <a:xfrm flipH="1">
            <a:off x="7196138" y="3648868"/>
            <a:ext cx="3175" cy="2809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直接箭头连接符 56"/>
          <p:cNvCxnSpPr>
            <a:cxnSpLocks noChangeShapeType="1"/>
          </p:cNvCxnSpPr>
          <p:nvPr/>
        </p:nvCxnSpPr>
        <p:spPr bwMode="auto">
          <a:xfrm flipH="1">
            <a:off x="7920038" y="3658393"/>
            <a:ext cx="3175" cy="280988"/>
          </a:xfrm>
          <a:prstGeom prst="straightConnector1">
            <a:avLst/>
          </a:prstGeom>
          <a:noFill/>
          <a:ln w="1587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直接连接符 57"/>
          <p:cNvCxnSpPr>
            <a:cxnSpLocks noChangeShapeType="1"/>
          </p:cNvCxnSpPr>
          <p:nvPr/>
        </p:nvCxnSpPr>
        <p:spPr bwMode="auto">
          <a:xfrm>
            <a:off x="5089525" y="3658393"/>
            <a:ext cx="2840038" cy="0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>
            <a:cxnSpLocks noChangeShapeType="1"/>
          </p:cNvCxnSpPr>
          <p:nvPr/>
        </p:nvCxnSpPr>
        <p:spPr bwMode="auto">
          <a:xfrm>
            <a:off x="6489700" y="3499643"/>
            <a:ext cx="0" cy="177800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>
            <a:cxnSpLocks noChangeShapeType="1"/>
          </p:cNvCxnSpPr>
          <p:nvPr/>
        </p:nvCxnSpPr>
        <p:spPr bwMode="auto">
          <a:xfrm>
            <a:off x="1136650" y="3686968"/>
            <a:ext cx="2840038" cy="0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/>
          <p:cNvCxnSpPr>
            <a:cxnSpLocks noChangeShapeType="1"/>
          </p:cNvCxnSpPr>
          <p:nvPr/>
        </p:nvCxnSpPr>
        <p:spPr bwMode="auto">
          <a:xfrm>
            <a:off x="2538413" y="3515518"/>
            <a:ext cx="0" cy="177800"/>
          </a:xfrm>
          <a:prstGeom prst="line">
            <a:avLst/>
          </a:prstGeom>
          <a:noFill/>
          <a:ln w="158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矩形 38"/>
          <p:cNvSpPr>
            <a:spLocks noChangeArrowheads="1"/>
          </p:cNvSpPr>
          <p:nvPr/>
        </p:nvSpPr>
        <p:spPr bwMode="auto">
          <a:xfrm>
            <a:off x="5580112" y="3917374"/>
            <a:ext cx="35877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rgbClr val="000000"/>
                </a:solidFill>
                <a:latin typeface="+mj-ea"/>
              </a:rPr>
              <a:t>按</a:t>
            </a:r>
            <a:r>
              <a:rPr lang="zh-CN" altLang="en-US" sz="1600" dirty="0" smtClean="0">
                <a:solidFill>
                  <a:srgbClr val="000000"/>
                </a:solidFill>
                <a:latin typeface="+mj-ea"/>
                <a:ea typeface="+mj-ea"/>
              </a:rPr>
              <a:t>图</a:t>
            </a:r>
            <a:endParaRPr lang="en-US" altLang="zh-CN" sz="1600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1600" dirty="0" smtClean="0">
                <a:solidFill>
                  <a:srgbClr val="000000"/>
                </a:solidFill>
                <a:latin typeface="+mj-ea"/>
                <a:ea typeface="+mj-ea"/>
              </a:rPr>
              <a:t>书名</a:t>
            </a:r>
            <a:r>
              <a:rPr lang="zh-CN" altLang="en-US" sz="1600" dirty="0">
                <a:solidFill>
                  <a:srgbClr val="000000"/>
                </a:solidFill>
                <a:latin typeface="+mj-ea"/>
                <a:ea typeface="+mj-ea"/>
              </a:rPr>
              <a:t>称</a:t>
            </a:r>
            <a:r>
              <a:rPr lang="zh-CN" altLang="en-US" sz="1600" dirty="0" smtClean="0">
                <a:solidFill>
                  <a:srgbClr val="000000"/>
                </a:solidFill>
                <a:latin typeface="+mj-ea"/>
                <a:ea typeface="+mj-ea"/>
              </a:rPr>
              <a:t>搜索</a:t>
            </a:r>
            <a:endParaRPr lang="zh-CN" altLang="en-US" sz="16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13.1.2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功能结构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535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2" grpId="0" animBg="1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5"/>
          <p:cNvSpPr>
            <a:spLocks noChangeArrowheads="1"/>
          </p:cNvSpPr>
          <p:nvPr/>
        </p:nvSpPr>
        <p:spPr bwMode="auto">
          <a:xfrm>
            <a:off x="3502025" y="2063750"/>
            <a:ext cx="2409825" cy="3238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矩形 56"/>
          <p:cNvSpPr>
            <a:spLocks noChangeArrowheads="1"/>
          </p:cNvSpPr>
          <p:nvPr/>
        </p:nvSpPr>
        <p:spPr bwMode="auto">
          <a:xfrm>
            <a:off x="3451225" y="2049463"/>
            <a:ext cx="2571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+mn-ea"/>
                <a:ea typeface="+mn-ea"/>
              </a:rPr>
              <a:t>传智书城后台管理系统</a:t>
            </a:r>
          </a:p>
        </p:txBody>
      </p:sp>
      <p:sp>
        <p:nvSpPr>
          <p:cNvPr id="5" name="矩形 57"/>
          <p:cNvSpPr>
            <a:spLocks noChangeArrowheads="1"/>
          </p:cNvSpPr>
          <p:nvPr/>
        </p:nvSpPr>
        <p:spPr bwMode="auto">
          <a:xfrm>
            <a:off x="1722438" y="2879725"/>
            <a:ext cx="1347787" cy="3238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矩形 58"/>
          <p:cNvSpPr>
            <a:spLocks noChangeArrowheads="1"/>
          </p:cNvSpPr>
          <p:nvPr/>
        </p:nvSpPr>
        <p:spPr bwMode="auto">
          <a:xfrm>
            <a:off x="6346825" y="2870200"/>
            <a:ext cx="1452563" cy="3238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矩形 59"/>
          <p:cNvSpPr>
            <a:spLocks noChangeArrowheads="1"/>
          </p:cNvSpPr>
          <p:nvPr/>
        </p:nvSpPr>
        <p:spPr bwMode="auto">
          <a:xfrm>
            <a:off x="1851025" y="2833688"/>
            <a:ext cx="1300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商品管理</a:t>
            </a:r>
          </a:p>
        </p:txBody>
      </p:sp>
      <p:sp>
        <p:nvSpPr>
          <p:cNvPr id="8" name="矩形 60"/>
          <p:cNvSpPr>
            <a:spLocks noChangeArrowheads="1"/>
          </p:cNvSpPr>
          <p:nvPr/>
        </p:nvSpPr>
        <p:spPr bwMode="auto">
          <a:xfrm>
            <a:off x="6477000" y="2852738"/>
            <a:ext cx="1198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+mn-ea"/>
                <a:ea typeface="+mn-ea"/>
              </a:rPr>
              <a:t>订单管理</a:t>
            </a:r>
          </a:p>
        </p:txBody>
      </p:sp>
      <p:sp>
        <p:nvSpPr>
          <p:cNvPr id="9" name="矩形 61"/>
          <p:cNvSpPr>
            <a:spLocks noChangeArrowheads="1"/>
          </p:cNvSpPr>
          <p:nvPr/>
        </p:nvSpPr>
        <p:spPr bwMode="auto">
          <a:xfrm>
            <a:off x="3560763" y="3633788"/>
            <a:ext cx="392112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" name="矩形 62"/>
          <p:cNvSpPr>
            <a:spLocks noChangeArrowheads="1"/>
          </p:cNvSpPr>
          <p:nvPr/>
        </p:nvSpPr>
        <p:spPr bwMode="auto">
          <a:xfrm>
            <a:off x="3576638" y="3644900"/>
            <a:ext cx="36036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下载销售数据</a:t>
            </a:r>
          </a:p>
        </p:txBody>
      </p:sp>
      <p:sp>
        <p:nvSpPr>
          <p:cNvPr id="11" name="矩形 63"/>
          <p:cNvSpPr>
            <a:spLocks noChangeArrowheads="1"/>
          </p:cNvSpPr>
          <p:nvPr/>
        </p:nvSpPr>
        <p:spPr bwMode="auto">
          <a:xfrm>
            <a:off x="2927350" y="3630613"/>
            <a:ext cx="392113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2" name="矩形 64"/>
          <p:cNvSpPr>
            <a:spLocks noChangeArrowheads="1"/>
          </p:cNvSpPr>
          <p:nvPr/>
        </p:nvSpPr>
        <p:spPr bwMode="auto">
          <a:xfrm>
            <a:off x="2943225" y="3957638"/>
            <a:ext cx="3603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查询商品</a:t>
            </a:r>
          </a:p>
        </p:txBody>
      </p:sp>
      <p:sp>
        <p:nvSpPr>
          <p:cNvPr id="13" name="矩形 65"/>
          <p:cNvSpPr>
            <a:spLocks noChangeArrowheads="1"/>
          </p:cNvSpPr>
          <p:nvPr/>
        </p:nvSpPr>
        <p:spPr bwMode="auto">
          <a:xfrm>
            <a:off x="987425" y="3630613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4" name="矩形 66"/>
          <p:cNvSpPr>
            <a:spLocks noChangeArrowheads="1"/>
          </p:cNvSpPr>
          <p:nvPr/>
        </p:nvSpPr>
        <p:spPr bwMode="auto">
          <a:xfrm>
            <a:off x="1022350" y="3944938"/>
            <a:ext cx="358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添加商品</a:t>
            </a:r>
          </a:p>
        </p:txBody>
      </p:sp>
      <p:sp>
        <p:nvSpPr>
          <p:cNvPr id="15" name="矩形 67"/>
          <p:cNvSpPr>
            <a:spLocks noChangeArrowheads="1"/>
          </p:cNvSpPr>
          <p:nvPr/>
        </p:nvSpPr>
        <p:spPr bwMode="auto">
          <a:xfrm>
            <a:off x="2306638" y="3630613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" name="矩形 68"/>
          <p:cNvSpPr>
            <a:spLocks noChangeArrowheads="1"/>
          </p:cNvSpPr>
          <p:nvPr/>
        </p:nvSpPr>
        <p:spPr bwMode="auto">
          <a:xfrm>
            <a:off x="2324100" y="3957638"/>
            <a:ext cx="358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删除商品</a:t>
            </a:r>
          </a:p>
        </p:txBody>
      </p:sp>
      <p:sp>
        <p:nvSpPr>
          <p:cNvPr id="17" name="矩形 69"/>
          <p:cNvSpPr>
            <a:spLocks noChangeArrowheads="1"/>
          </p:cNvSpPr>
          <p:nvPr/>
        </p:nvSpPr>
        <p:spPr bwMode="auto">
          <a:xfrm>
            <a:off x="1646238" y="3643313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8" name="矩形 70"/>
          <p:cNvSpPr>
            <a:spLocks noChangeArrowheads="1"/>
          </p:cNvSpPr>
          <p:nvPr/>
        </p:nvSpPr>
        <p:spPr bwMode="auto">
          <a:xfrm>
            <a:off x="1681163" y="3957638"/>
            <a:ext cx="358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编辑商品</a:t>
            </a:r>
          </a:p>
        </p:txBody>
      </p:sp>
      <p:sp>
        <p:nvSpPr>
          <p:cNvPr id="19" name="矩形 71"/>
          <p:cNvSpPr>
            <a:spLocks noChangeArrowheads="1"/>
          </p:cNvSpPr>
          <p:nvPr/>
        </p:nvSpPr>
        <p:spPr bwMode="auto">
          <a:xfrm>
            <a:off x="6799263" y="3625850"/>
            <a:ext cx="392112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0" name="矩形 72"/>
          <p:cNvSpPr>
            <a:spLocks noChangeArrowheads="1"/>
          </p:cNvSpPr>
          <p:nvPr/>
        </p:nvSpPr>
        <p:spPr bwMode="auto">
          <a:xfrm>
            <a:off x="6815138" y="3846513"/>
            <a:ext cx="360362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删除订单</a:t>
            </a:r>
          </a:p>
        </p:txBody>
      </p:sp>
      <p:sp>
        <p:nvSpPr>
          <p:cNvPr id="21" name="矩形 73"/>
          <p:cNvSpPr>
            <a:spLocks noChangeArrowheads="1"/>
          </p:cNvSpPr>
          <p:nvPr/>
        </p:nvSpPr>
        <p:spPr bwMode="auto">
          <a:xfrm>
            <a:off x="6194425" y="3621088"/>
            <a:ext cx="392113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2" name="矩形 74"/>
          <p:cNvSpPr>
            <a:spLocks noChangeArrowheads="1"/>
          </p:cNvSpPr>
          <p:nvPr/>
        </p:nvSpPr>
        <p:spPr bwMode="auto">
          <a:xfrm>
            <a:off x="6210300" y="3852863"/>
            <a:ext cx="3603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查询公告</a:t>
            </a:r>
          </a:p>
        </p:txBody>
      </p:sp>
      <p:sp>
        <p:nvSpPr>
          <p:cNvPr id="23" name="矩形 75"/>
          <p:cNvSpPr>
            <a:spLocks noChangeArrowheads="1"/>
          </p:cNvSpPr>
          <p:nvPr/>
        </p:nvSpPr>
        <p:spPr bwMode="auto">
          <a:xfrm>
            <a:off x="4225925" y="3621088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4" name="矩形 76"/>
          <p:cNvSpPr>
            <a:spLocks noChangeArrowheads="1"/>
          </p:cNvSpPr>
          <p:nvPr/>
        </p:nvSpPr>
        <p:spPr bwMode="auto">
          <a:xfrm>
            <a:off x="4260850" y="3916363"/>
            <a:ext cx="358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添加公告</a:t>
            </a:r>
          </a:p>
        </p:txBody>
      </p:sp>
      <p:sp>
        <p:nvSpPr>
          <p:cNvPr id="25" name="矩形 77"/>
          <p:cNvSpPr>
            <a:spLocks noChangeArrowheads="1"/>
          </p:cNvSpPr>
          <p:nvPr/>
        </p:nvSpPr>
        <p:spPr bwMode="auto">
          <a:xfrm>
            <a:off x="5554663" y="3621088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6" name="矩形 78"/>
          <p:cNvSpPr>
            <a:spLocks noChangeArrowheads="1"/>
          </p:cNvSpPr>
          <p:nvPr/>
        </p:nvSpPr>
        <p:spPr bwMode="auto">
          <a:xfrm>
            <a:off x="5572125" y="3881438"/>
            <a:ext cx="358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删除公告</a:t>
            </a:r>
          </a:p>
        </p:txBody>
      </p:sp>
      <p:sp>
        <p:nvSpPr>
          <p:cNvPr id="27" name="矩形 79"/>
          <p:cNvSpPr>
            <a:spLocks noChangeArrowheads="1"/>
          </p:cNvSpPr>
          <p:nvPr/>
        </p:nvSpPr>
        <p:spPr bwMode="auto">
          <a:xfrm>
            <a:off x="4875213" y="3633788"/>
            <a:ext cx="393700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8" name="矩形 80"/>
          <p:cNvSpPr>
            <a:spLocks noChangeArrowheads="1"/>
          </p:cNvSpPr>
          <p:nvPr/>
        </p:nvSpPr>
        <p:spPr bwMode="auto">
          <a:xfrm>
            <a:off x="4910138" y="3900488"/>
            <a:ext cx="358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编辑公告</a:t>
            </a:r>
          </a:p>
        </p:txBody>
      </p: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 flipH="1">
            <a:off x="4716463" y="2400300"/>
            <a:ext cx="0" cy="24288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连接符 29"/>
          <p:cNvCxnSpPr>
            <a:cxnSpLocks noChangeShapeType="1"/>
          </p:cNvCxnSpPr>
          <p:nvPr/>
        </p:nvCxnSpPr>
        <p:spPr bwMode="auto">
          <a:xfrm>
            <a:off x="2427288" y="2636838"/>
            <a:ext cx="45148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/>
          <p:cNvCxnSpPr>
            <a:cxnSpLocks noChangeShapeType="1"/>
          </p:cNvCxnSpPr>
          <p:nvPr/>
        </p:nvCxnSpPr>
        <p:spPr bwMode="auto">
          <a:xfrm>
            <a:off x="2427288" y="2636838"/>
            <a:ext cx="0" cy="2428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箭头连接符 31"/>
          <p:cNvCxnSpPr>
            <a:cxnSpLocks noChangeShapeType="1"/>
          </p:cNvCxnSpPr>
          <p:nvPr/>
        </p:nvCxnSpPr>
        <p:spPr bwMode="auto">
          <a:xfrm>
            <a:off x="6942138" y="2636838"/>
            <a:ext cx="0" cy="2159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>
            <a:off x="1184275" y="3362325"/>
            <a:ext cx="19399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箭头连接符 33"/>
          <p:cNvCxnSpPr>
            <a:cxnSpLocks noChangeShapeType="1"/>
            <a:endCxn id="13" idx="0"/>
          </p:cNvCxnSpPr>
          <p:nvPr/>
        </p:nvCxnSpPr>
        <p:spPr bwMode="auto">
          <a:xfrm>
            <a:off x="1184275" y="3362325"/>
            <a:ext cx="0" cy="2682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箭头连接符 34"/>
          <p:cNvCxnSpPr>
            <a:cxnSpLocks noChangeShapeType="1"/>
            <a:endCxn id="17" idx="0"/>
          </p:cNvCxnSpPr>
          <p:nvPr/>
        </p:nvCxnSpPr>
        <p:spPr bwMode="auto">
          <a:xfrm flipH="1">
            <a:off x="1843088" y="3362325"/>
            <a:ext cx="3175" cy="2809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>
            <a:off x="2490788" y="3203575"/>
            <a:ext cx="0" cy="4206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箭头连接符 36"/>
          <p:cNvCxnSpPr>
            <a:cxnSpLocks noChangeShapeType="1"/>
          </p:cNvCxnSpPr>
          <p:nvPr/>
        </p:nvCxnSpPr>
        <p:spPr bwMode="auto">
          <a:xfrm flipH="1">
            <a:off x="3119438" y="3352800"/>
            <a:ext cx="3175" cy="2809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箭头连接符 37"/>
          <p:cNvCxnSpPr>
            <a:cxnSpLocks noChangeShapeType="1"/>
          </p:cNvCxnSpPr>
          <p:nvPr/>
        </p:nvCxnSpPr>
        <p:spPr bwMode="auto">
          <a:xfrm>
            <a:off x="3757613" y="3194050"/>
            <a:ext cx="0" cy="44926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/>
          <p:cNvCxnSpPr>
            <a:cxnSpLocks noChangeShapeType="1"/>
          </p:cNvCxnSpPr>
          <p:nvPr/>
        </p:nvCxnSpPr>
        <p:spPr bwMode="auto">
          <a:xfrm>
            <a:off x="4441825" y="3352800"/>
            <a:ext cx="1938338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箭头连接符 39"/>
          <p:cNvCxnSpPr>
            <a:cxnSpLocks noChangeShapeType="1"/>
          </p:cNvCxnSpPr>
          <p:nvPr/>
        </p:nvCxnSpPr>
        <p:spPr bwMode="auto">
          <a:xfrm>
            <a:off x="4441825" y="3352800"/>
            <a:ext cx="0" cy="2682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箭头连接符 40"/>
          <p:cNvCxnSpPr>
            <a:cxnSpLocks noChangeShapeType="1"/>
          </p:cNvCxnSpPr>
          <p:nvPr/>
        </p:nvCxnSpPr>
        <p:spPr bwMode="auto">
          <a:xfrm flipH="1">
            <a:off x="5072063" y="3352800"/>
            <a:ext cx="3175" cy="2809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直接箭头连接符 41"/>
          <p:cNvCxnSpPr>
            <a:cxnSpLocks noChangeShapeType="1"/>
          </p:cNvCxnSpPr>
          <p:nvPr/>
        </p:nvCxnSpPr>
        <p:spPr bwMode="auto">
          <a:xfrm>
            <a:off x="5748338" y="3352800"/>
            <a:ext cx="0" cy="26193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箭头连接符 42"/>
          <p:cNvCxnSpPr>
            <a:cxnSpLocks noChangeShapeType="1"/>
          </p:cNvCxnSpPr>
          <p:nvPr/>
        </p:nvCxnSpPr>
        <p:spPr bwMode="auto">
          <a:xfrm flipH="1">
            <a:off x="6376988" y="3333750"/>
            <a:ext cx="3175" cy="2809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箭头连接符 43"/>
          <p:cNvCxnSpPr>
            <a:cxnSpLocks noChangeShapeType="1"/>
          </p:cNvCxnSpPr>
          <p:nvPr/>
        </p:nvCxnSpPr>
        <p:spPr bwMode="auto">
          <a:xfrm flipH="1">
            <a:off x="6994525" y="3352800"/>
            <a:ext cx="1588" cy="2809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矩形 97"/>
          <p:cNvSpPr>
            <a:spLocks noChangeArrowheads="1"/>
          </p:cNvSpPr>
          <p:nvPr/>
        </p:nvSpPr>
        <p:spPr bwMode="auto">
          <a:xfrm>
            <a:off x="3198813" y="2873375"/>
            <a:ext cx="1347787" cy="3238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6" name="矩形 98"/>
          <p:cNvSpPr>
            <a:spLocks noChangeArrowheads="1"/>
          </p:cNvSpPr>
          <p:nvPr/>
        </p:nvSpPr>
        <p:spPr bwMode="auto">
          <a:xfrm>
            <a:off x="3328988" y="2827338"/>
            <a:ext cx="1298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dirty="0" smtClean="0">
                <a:solidFill>
                  <a:srgbClr val="000000"/>
                </a:solidFill>
                <a:latin typeface="+mn-ea"/>
                <a:ea typeface="+mn-ea"/>
              </a:rPr>
              <a:t>销售榜单</a:t>
            </a:r>
          </a:p>
        </p:txBody>
      </p:sp>
      <p:sp>
        <p:nvSpPr>
          <p:cNvPr id="47" name="矩形 99"/>
          <p:cNvSpPr>
            <a:spLocks noChangeArrowheads="1"/>
          </p:cNvSpPr>
          <p:nvPr/>
        </p:nvSpPr>
        <p:spPr bwMode="auto">
          <a:xfrm>
            <a:off x="4727575" y="2879725"/>
            <a:ext cx="1452563" cy="3238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8" name="矩形 100"/>
          <p:cNvSpPr>
            <a:spLocks noChangeArrowheads="1"/>
          </p:cNvSpPr>
          <p:nvPr/>
        </p:nvSpPr>
        <p:spPr bwMode="auto">
          <a:xfrm>
            <a:off x="4857750" y="2862263"/>
            <a:ext cx="1198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公告管理</a:t>
            </a:r>
          </a:p>
        </p:txBody>
      </p:sp>
      <p:cxnSp>
        <p:nvCxnSpPr>
          <p:cNvPr id="49" name="直接箭头连接符 48"/>
          <p:cNvCxnSpPr>
            <a:cxnSpLocks noChangeShapeType="1"/>
          </p:cNvCxnSpPr>
          <p:nvPr/>
        </p:nvCxnSpPr>
        <p:spPr bwMode="auto">
          <a:xfrm>
            <a:off x="3751263" y="2646363"/>
            <a:ext cx="0" cy="2428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箭头连接符 49"/>
          <p:cNvCxnSpPr>
            <a:cxnSpLocks noChangeShapeType="1"/>
          </p:cNvCxnSpPr>
          <p:nvPr/>
        </p:nvCxnSpPr>
        <p:spPr bwMode="auto">
          <a:xfrm>
            <a:off x="5427663" y="2636838"/>
            <a:ext cx="0" cy="2428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>
            <a:off x="5478463" y="3194050"/>
            <a:ext cx="0" cy="15398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矩形 104"/>
          <p:cNvSpPr>
            <a:spLocks noChangeArrowheads="1"/>
          </p:cNvSpPr>
          <p:nvPr/>
        </p:nvSpPr>
        <p:spPr bwMode="auto">
          <a:xfrm>
            <a:off x="7427913" y="3635375"/>
            <a:ext cx="392112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mtClea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3" name="矩形 105"/>
          <p:cNvSpPr>
            <a:spLocks noChangeArrowheads="1"/>
          </p:cNvSpPr>
          <p:nvPr/>
        </p:nvSpPr>
        <p:spPr bwMode="auto">
          <a:xfrm>
            <a:off x="7443788" y="3817938"/>
            <a:ext cx="360362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0000"/>
                </a:solidFill>
                <a:latin typeface="+mn-ea"/>
                <a:ea typeface="+mn-ea"/>
              </a:rPr>
              <a:t>查询订单</a:t>
            </a:r>
          </a:p>
        </p:txBody>
      </p:sp>
      <p:cxnSp>
        <p:nvCxnSpPr>
          <p:cNvPr id="54" name="直接箭头连接符 53"/>
          <p:cNvCxnSpPr>
            <a:cxnSpLocks noChangeShapeType="1"/>
          </p:cNvCxnSpPr>
          <p:nvPr/>
        </p:nvCxnSpPr>
        <p:spPr bwMode="auto">
          <a:xfrm flipH="1">
            <a:off x="7623175" y="3362325"/>
            <a:ext cx="1588" cy="2809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/>
          <p:cNvCxnSpPr>
            <a:cxnSpLocks noChangeShapeType="1"/>
          </p:cNvCxnSpPr>
          <p:nvPr/>
        </p:nvCxnSpPr>
        <p:spPr bwMode="auto">
          <a:xfrm>
            <a:off x="6994525" y="3362325"/>
            <a:ext cx="6286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直接连接符 55"/>
          <p:cNvCxnSpPr>
            <a:cxnSpLocks noChangeShapeType="1"/>
          </p:cNvCxnSpPr>
          <p:nvPr/>
        </p:nvCxnSpPr>
        <p:spPr bwMode="auto">
          <a:xfrm>
            <a:off x="7289800" y="3194050"/>
            <a:ext cx="0" cy="15875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13.1.2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功能结构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148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45" grpId="0" animBg="1"/>
      <p:bldP spid="46" grpId="0"/>
      <p:bldP spid="47" grpId="0" animBg="1"/>
      <p:bldP spid="48" grpId="0"/>
      <p:bldP spid="52" grpId="0" animBg="1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395536" y="1556792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传智书城首页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pic>
        <p:nvPicPr>
          <p:cNvPr id="2050" name="图片 3" descr="C:\Users\白野\Desktop\QQ图片2016013016274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320" y="2348880"/>
            <a:ext cx="5760000" cy="309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2"/>
          <p:cNvSpPr txBox="1">
            <a:spLocks/>
          </p:cNvSpPr>
          <p:nvPr/>
        </p:nvSpPr>
        <p:spPr bwMode="auto">
          <a:xfrm>
            <a:off x="395536" y="1546355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商品详细信息页面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pic>
        <p:nvPicPr>
          <p:cNvPr id="6" name="图片 4" descr="C:\Users\白野\Desktop\QQ图片20160130162909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348880"/>
            <a:ext cx="5760000" cy="2890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/>
          <p:cNvSpPr txBox="1">
            <a:spLocks/>
          </p:cNvSpPr>
          <p:nvPr/>
        </p:nvSpPr>
        <p:spPr bwMode="auto">
          <a:xfrm>
            <a:off x="395536" y="1556792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购物车页面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pic>
        <p:nvPicPr>
          <p:cNvPr id="8" name="图片 5" descr="C:\Users\白野\Desktop\QQ图片20160130163103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20888"/>
            <a:ext cx="5760000" cy="260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95536" y="1556792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订单查询页面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pic>
        <p:nvPicPr>
          <p:cNvPr id="10" name="图片 6" descr="C:\Users\白野\Desktop\QQ图片20160130163207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328" y="2450779"/>
            <a:ext cx="5760000" cy="241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13.1.3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项目预览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44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7" grpId="0"/>
      <p:bldP spid="7" grpId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2924944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068960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13.2    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数据库设计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230152" y="4149080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13.3    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项目环境搭建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1988840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13.1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项目概述</a:t>
            </a: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87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1556792"/>
            <a:ext cx="8137525" cy="1470595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18542" y="1597635"/>
            <a:ext cx="8102600" cy="12137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800" dirty="0" smtClean="0">
                <a:latin typeface="+mn-ea"/>
              </a:rPr>
              <a:t>在</a:t>
            </a:r>
            <a:r>
              <a:rPr lang="zh-CN" altLang="en-US" sz="1800" dirty="0">
                <a:latin typeface="+mn-ea"/>
              </a:rPr>
              <a:t>设计数据库之前，我们需要明确</a:t>
            </a:r>
            <a:r>
              <a:rPr lang="zh-CN" altLang="en-US" sz="1800" dirty="0" smtClean="0">
                <a:latin typeface="+mn-ea"/>
              </a:rPr>
              <a:t>在传智书城</a:t>
            </a:r>
            <a:r>
              <a:rPr lang="zh-CN" altLang="en-US" sz="1800" dirty="0">
                <a:latin typeface="+mn-ea"/>
              </a:rPr>
              <a:t>项目中都有哪些实体对象。根据实体对象间的关系来设计数据库。下面</a:t>
            </a:r>
            <a:r>
              <a:rPr lang="zh-CN" altLang="en-US" sz="1800" dirty="0" smtClean="0">
                <a:latin typeface="+mn-ea"/>
              </a:rPr>
              <a:t>根据传智书城</a:t>
            </a:r>
            <a:r>
              <a:rPr lang="zh-CN" altLang="en-US" sz="1800" dirty="0">
                <a:latin typeface="+mn-ea"/>
              </a:rPr>
              <a:t>项目的需求，为本项目的核心实体对象设计</a:t>
            </a:r>
            <a:r>
              <a:rPr lang="en-US" altLang="zh-CN" sz="1800" dirty="0">
                <a:latin typeface="+mn-ea"/>
              </a:rPr>
              <a:t>E-R</a:t>
            </a:r>
            <a:r>
              <a:rPr lang="zh-CN" altLang="en-US" sz="1800" dirty="0">
                <a:latin typeface="+mn-ea"/>
              </a:rPr>
              <a:t>图，具体如下。</a:t>
            </a:r>
            <a:endParaRPr lang="zh-CN" altLang="zh-CN" sz="1800" dirty="0">
              <a:latin typeface="+mn-ea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86358" y="3140968"/>
            <a:ext cx="4057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）用户实体（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user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）的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E-R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图：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225503"/>
              </p:ext>
            </p:extLst>
          </p:nvPr>
        </p:nvGraphicFramePr>
        <p:xfrm>
          <a:off x="2019647" y="3717032"/>
          <a:ext cx="5000625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" name="Visio" r:id="rId5" imgW="5129190" imgH="2285191" progId="Visio.Drawing.11">
                  <p:embed/>
                </p:oleObj>
              </mc:Choice>
              <mc:Fallback>
                <p:oleObj name="Visio" r:id="rId5" imgW="5129190" imgH="2285191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647" y="3717032"/>
                        <a:ext cx="5000625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03051" y="3140968"/>
            <a:ext cx="4545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）商品实体（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products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）的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E-R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图：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82423"/>
              </p:ext>
            </p:extLst>
          </p:nvPr>
        </p:nvGraphicFramePr>
        <p:xfrm>
          <a:off x="1525166" y="3789040"/>
          <a:ext cx="5999162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" name="Visio" r:id="rId7" imgW="4913190" imgH="1421202" progId="Visio.Drawing.11">
                  <p:embed/>
                </p:oleObj>
              </mc:Choice>
              <mc:Fallback>
                <p:oleObj name="Visio" r:id="rId7" imgW="4913190" imgH="1421202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166" y="3789040"/>
                        <a:ext cx="5999162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11560" y="3140968"/>
            <a:ext cx="4287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）订单实体（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orders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）的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E-R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图：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461491"/>
              </p:ext>
            </p:extLst>
          </p:nvPr>
        </p:nvGraphicFramePr>
        <p:xfrm>
          <a:off x="1907704" y="3789040"/>
          <a:ext cx="5229225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3" name="Visio" r:id="rId9" imgW="4913190" imgH="2249338" progId="Visio.Drawing.11">
                  <p:embed/>
                </p:oleObj>
              </mc:Choice>
              <mc:Fallback>
                <p:oleObj name="Visio" r:id="rId9" imgW="4913190" imgH="2249338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789040"/>
                        <a:ext cx="5229225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587623" y="3140968"/>
            <a:ext cx="4416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）订单项（</a:t>
            </a:r>
            <a:r>
              <a:rPr lang="en-US" altLang="zh-CN" sz="2000" dirty="0" err="1">
                <a:latin typeface="黑体" pitchFamily="49" charset="-122"/>
                <a:ea typeface="黑体" pitchFamily="49" charset="-122"/>
              </a:rPr>
              <a:t>orderitem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）的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E-R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图：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394629"/>
              </p:ext>
            </p:extLst>
          </p:nvPr>
        </p:nvGraphicFramePr>
        <p:xfrm>
          <a:off x="1763688" y="3861048"/>
          <a:ext cx="5457825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4" name="Visio" r:id="rId11" imgW="4445280" imgH="1241125" progId="Visio.Drawing.11">
                  <p:embed/>
                </p:oleObj>
              </mc:Choice>
              <mc:Fallback>
                <p:oleObj name="Visio" r:id="rId11" imgW="4445280" imgH="1241125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861048"/>
                        <a:ext cx="5457825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604639" y="3140968"/>
            <a:ext cx="4543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）公告栏实体（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notice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）的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E-R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图：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483977"/>
              </p:ext>
            </p:extLst>
          </p:nvPr>
        </p:nvGraphicFramePr>
        <p:xfrm>
          <a:off x="1331640" y="3878485"/>
          <a:ext cx="6423025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5" name="Visio" r:id="rId13" imgW="4445280" imgH="1241125" progId="Visio.Drawing.11">
                  <p:embed/>
                </p:oleObj>
              </mc:Choice>
              <mc:Fallback>
                <p:oleObj name="Visio" r:id="rId13" imgW="4445280" imgH="1241125" progId="Visio.Drawing.11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878485"/>
                        <a:ext cx="6423025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13.2.1 E-R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图设计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66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5" grpId="1"/>
      <p:bldP spid="17" grpId="0"/>
      <p:bldP spid="17" grpId="1"/>
      <p:bldP spid="19" grpId="0"/>
      <p:bldP spid="19" grpId="1"/>
      <p:bldP spid="21" grpId="0"/>
      <p:bldP spid="21" grpId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467544" y="1700809"/>
            <a:ext cx="8137525" cy="1080120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518542" y="1741651"/>
            <a:ext cx="8102600" cy="10392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根据设计好的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图来设计数据库和数据表。首先创建一个名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itcaststore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的数据库，并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itcaststore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中创建以下五个表。</a:t>
            </a: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7"/>
          <p:cNvSpPr>
            <a:spLocks noChangeArrowheads="1"/>
          </p:cNvSpPr>
          <p:nvPr/>
        </p:nvSpPr>
        <p:spPr bwMode="auto">
          <a:xfrm>
            <a:off x="790575" y="2916684"/>
            <a:ext cx="71104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(1)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zh-CN" altLang="en-US" dirty="0">
                <a:latin typeface="+mn-ea"/>
              </a:rPr>
              <a:t>表：</a:t>
            </a:r>
            <a:r>
              <a:rPr lang="zh-CN" altLang="zh-CN" dirty="0">
                <a:latin typeface="+mn-ea"/>
              </a:rPr>
              <a:t>该表用于保存网上书城系统前台以及后台用户的信息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031560"/>
              </p:ext>
            </p:extLst>
          </p:nvPr>
        </p:nvGraphicFramePr>
        <p:xfrm>
          <a:off x="379461" y="3372460"/>
          <a:ext cx="8296994" cy="29368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1059"/>
                <a:gridCol w="1304843"/>
                <a:gridCol w="1232352"/>
                <a:gridCol w="1232352"/>
                <a:gridCol w="1159860"/>
                <a:gridCol w="2336528"/>
              </a:tblGrid>
              <a:tr h="41616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字段名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数据类型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是否为空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是否主键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默认值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15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id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INT(11)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系统自动编号、自增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username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smtClean="0">
                          <a:effectLst/>
                        </a:rPr>
                        <a:t>VARCHAR(20)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</a:rPr>
                        <a:t>用户名称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password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VARCHAR(20)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用户密码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3948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gender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VARCHAR(2)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性别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183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email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VARCHAR(50)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邮箱地址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183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telephone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VARCHAR(20)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电话号码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183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introduce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VARCHAR(100)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用户简介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183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activeCode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VARCHAR(50)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注册激活码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430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state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INT(11)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用户状态，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r>
                        <a:rPr lang="zh-CN" sz="1200" kern="100" dirty="0">
                          <a:effectLst/>
                        </a:rPr>
                        <a:t>：激活</a:t>
                      </a:r>
                      <a:r>
                        <a:rPr lang="en-US" sz="1200" kern="100" dirty="0">
                          <a:effectLst/>
                        </a:rPr>
                        <a:t> 0</a:t>
                      </a:r>
                      <a:r>
                        <a:rPr lang="zh-CN" sz="1200" kern="100" dirty="0">
                          <a:effectLst/>
                        </a:rPr>
                        <a:t>：未激活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457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role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VARCHAR(10)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普通用户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用户角色：普通用户、超级用户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183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registTime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TIMESTAMP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 smtClean="0">
                          <a:effectLst/>
                        </a:rPr>
                        <a:t>注册时间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13.2.2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数据表结构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004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45830"/>
              </p:ext>
            </p:extLst>
          </p:nvPr>
        </p:nvGraphicFramePr>
        <p:xfrm>
          <a:off x="379460" y="1993760"/>
          <a:ext cx="8296994" cy="186728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1059"/>
                <a:gridCol w="1304843"/>
                <a:gridCol w="1232352"/>
                <a:gridCol w="1232352"/>
                <a:gridCol w="1159860"/>
                <a:gridCol w="2336528"/>
              </a:tblGrid>
              <a:tr h="38636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字段名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数据类型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是否为空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是否主键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默认值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56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id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</a:rPr>
                        <a:t>VARCHAR(100</a:t>
                      </a:r>
                      <a:r>
                        <a:rPr lang="en-US" sz="1200" kern="100" dirty="0" smtClean="0">
                          <a:effectLst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zh-CN" sz="1200" kern="100" dirty="0" smtClean="0">
                          <a:effectLst/>
                        </a:rPr>
                        <a:t>商品</a:t>
                      </a:r>
                      <a:r>
                        <a:rPr lang="en-US" altLang="zh-CN" sz="1200" kern="100" dirty="0" smtClean="0">
                          <a:effectLst/>
                        </a:rPr>
                        <a:t>ID</a:t>
                      </a:r>
                      <a:endParaRPr lang="zh-CN" altLang="zh-CN" sz="1200" kern="100" dirty="0">
                        <a:effectLst/>
                        <a:latin typeface="Times New Roman"/>
                        <a:ea typeface="+mn-ea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23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name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VARCHAR(</a:t>
                      </a:r>
                      <a:r>
                        <a:rPr lang="en-US" altLang="zh-CN" sz="1200" kern="100" dirty="0" smtClean="0">
                          <a:effectLst/>
                        </a:rPr>
                        <a:t>4</a:t>
                      </a:r>
                      <a:r>
                        <a:rPr lang="en-US" sz="1200" kern="100" dirty="0" smtClean="0">
                          <a:effectLst/>
                        </a:rPr>
                        <a:t>0)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Times New Roman"/>
                          <a:ea typeface="宋体"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</a:rPr>
                        <a:t>商品</a:t>
                      </a:r>
                      <a:r>
                        <a:rPr lang="zh-CN" sz="1200" kern="100" dirty="0" smtClean="0">
                          <a:effectLst/>
                        </a:rPr>
                        <a:t>名称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23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</a:rPr>
                        <a:t>price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</a:rPr>
                        <a:t>DOUBLE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Times New Roman"/>
                          <a:ea typeface="宋体"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+mn-lt"/>
                          <a:ea typeface="+mn-ea"/>
                        </a:rPr>
                        <a:t>商品价格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223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</a:rPr>
                        <a:t>category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VARCHAR(</a:t>
                      </a:r>
                      <a:r>
                        <a:rPr lang="en-US" altLang="zh-CN" sz="1200" kern="100" dirty="0" smtClean="0">
                          <a:effectLst/>
                        </a:rPr>
                        <a:t>40</a:t>
                      </a:r>
                      <a:r>
                        <a:rPr lang="en-US" sz="1200" kern="100" dirty="0" smtClean="0">
                          <a:effectLst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+mn-lt"/>
                          <a:ea typeface="+mn-ea"/>
                        </a:rPr>
                        <a:t>商品分类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7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err="1" smtClean="0">
                          <a:effectLst/>
                        </a:rPr>
                        <a:t>pnum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</a:rPr>
                        <a:t>INT(11)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+mn-lt"/>
                          <a:ea typeface="+mn-ea"/>
                        </a:rPr>
                        <a:t>商品库存量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7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err="1" smtClean="0">
                          <a:effectLst/>
                        </a:rPr>
                        <a:t>imgurl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VARCHAR(100</a:t>
                      </a:r>
                      <a:r>
                        <a:rPr lang="en-US" sz="1200" kern="100" dirty="0">
                          <a:effectLst/>
                        </a:rPr>
                        <a:t>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+mn-lt"/>
                          <a:ea typeface="+mn-ea"/>
                        </a:rPr>
                        <a:t>商品图片地址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27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kern="100" dirty="0" smtClean="0">
                          <a:effectLst/>
                        </a:rPr>
                        <a:t>description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 smtClean="0">
                          <a:effectLst/>
                        </a:rPr>
                        <a:t>VARCHAR(255)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kern="100" dirty="0" smtClean="0">
                          <a:effectLst/>
                          <a:latin typeface="+mn-lt"/>
                          <a:ea typeface="+mn-ea"/>
                        </a:rPr>
                        <a:t>商品描述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78406" marR="78406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755576" y="4005064"/>
            <a:ext cx="7696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latin typeface="+mn-ea"/>
              </a:rPr>
              <a:t>(3) orders</a:t>
            </a:r>
            <a:r>
              <a:rPr lang="zh-CN" altLang="en-US" dirty="0">
                <a:latin typeface="+mn-ea"/>
              </a:rPr>
              <a:t>表：该表用于保存网上书城系统前台以及后台订单的信息。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33204"/>
              </p:ext>
            </p:extLst>
          </p:nvPr>
        </p:nvGraphicFramePr>
        <p:xfrm>
          <a:off x="379462" y="4434140"/>
          <a:ext cx="8296994" cy="194718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68202"/>
                <a:gridCol w="1167700"/>
                <a:gridCol w="1232352"/>
                <a:gridCol w="1232352"/>
                <a:gridCol w="1159860"/>
                <a:gridCol w="2336528"/>
              </a:tblGrid>
              <a:tr h="36288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字段名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数据类型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是否为空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是否主键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默认值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31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 dirty="0">
                          <a:effectLst/>
                        </a:rPr>
                        <a:t>id</a:t>
                      </a:r>
                      <a:endParaRPr lang="zh-CN" sz="1200" b="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VARCHAR(100)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订单</a:t>
                      </a:r>
                      <a:r>
                        <a:rPr lang="en-US" sz="1200" kern="100" dirty="0">
                          <a:effectLst/>
                        </a:rPr>
                        <a:t>ID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882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0" kern="0">
                          <a:effectLst/>
                        </a:rPr>
                        <a:t>money</a:t>
                      </a:r>
                      <a:endParaRPr lang="zh-CN" sz="1200" b="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DOUBLE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订单价格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88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effectLst/>
                        </a:rPr>
                        <a:t>receiverAddress</a:t>
                      </a:r>
                      <a:endParaRPr lang="zh-CN" sz="1200" b="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VARCHAR(255)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收货地址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0882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effectLst/>
                        </a:rPr>
                        <a:t>receiverName</a:t>
                      </a:r>
                      <a:endParaRPr lang="zh-CN" sz="1200" b="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VARCHAR(20)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收货人姓名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effectLst/>
                        </a:rPr>
                        <a:t>receiverPhone</a:t>
                      </a:r>
                      <a:endParaRPr lang="zh-CN" sz="1200" b="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VARCHAR(20)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effectLst/>
                        </a:rPr>
                        <a:t>收货人电话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effectLst/>
                        </a:rPr>
                        <a:t>paystate</a:t>
                      </a:r>
                      <a:endParaRPr lang="zh-CN" sz="1200" b="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INT(11)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订单状态，</a:t>
                      </a:r>
                      <a:r>
                        <a:rPr lang="en-US" sz="1200" kern="100" dirty="0">
                          <a:effectLst/>
                        </a:rPr>
                        <a:t>1</a:t>
                      </a:r>
                      <a:r>
                        <a:rPr lang="zh-CN" sz="1200" kern="100" dirty="0">
                          <a:effectLst/>
                        </a:rPr>
                        <a:t>：已支付</a:t>
                      </a:r>
                      <a:r>
                        <a:rPr lang="en-US" sz="1200" kern="100" dirty="0">
                          <a:effectLst/>
                        </a:rPr>
                        <a:t> 0</a:t>
                      </a:r>
                      <a:r>
                        <a:rPr lang="zh-CN" sz="1200" kern="100" dirty="0">
                          <a:effectLst/>
                        </a:rPr>
                        <a:t>：未支付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>
                          <a:effectLst/>
                        </a:rPr>
                        <a:t>ordertime</a:t>
                      </a:r>
                      <a:endParaRPr lang="zh-CN" sz="1200" b="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TIMESTAMP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订单生成时间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90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0" kern="100" dirty="0" err="1">
                          <a:effectLst/>
                        </a:rPr>
                        <a:t>user_id</a:t>
                      </a:r>
                      <a:endParaRPr lang="zh-CN" sz="1200" b="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INT(11)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用户</a:t>
                      </a:r>
                      <a:r>
                        <a:rPr lang="en-US" sz="1200" kern="100" dirty="0">
                          <a:effectLst/>
                        </a:rPr>
                        <a:t>ID</a:t>
                      </a:r>
                      <a:r>
                        <a:rPr lang="zh-CN" sz="1200" kern="100" dirty="0">
                          <a:effectLst/>
                        </a:rPr>
                        <a:t>，关联</a:t>
                      </a:r>
                      <a:r>
                        <a:rPr lang="en-US" sz="1200" kern="100" dirty="0">
                          <a:effectLst/>
                        </a:rPr>
                        <a:t>user</a:t>
                      </a:r>
                      <a:r>
                        <a:rPr lang="zh-CN" sz="1200" kern="100" dirty="0">
                          <a:effectLst/>
                        </a:rPr>
                        <a:t>表中的主键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647700" y="1548532"/>
            <a:ext cx="7515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dirty="0">
                <a:latin typeface="+mn-ea"/>
              </a:rPr>
              <a:t>(2) products</a:t>
            </a:r>
            <a:r>
              <a:rPr lang="zh-CN" altLang="en-US" dirty="0">
                <a:latin typeface="+mn-ea"/>
              </a:rPr>
              <a:t>表</a:t>
            </a:r>
            <a:r>
              <a:rPr lang="en-US" altLang="zh-CN" dirty="0">
                <a:latin typeface="+mn-ea"/>
              </a:rPr>
              <a:t>:</a:t>
            </a:r>
            <a:r>
              <a:rPr lang="zh-CN" altLang="en-US" dirty="0">
                <a:latin typeface="+mn-ea"/>
              </a:rPr>
              <a:t>该表用于保存网上书城系统前台以及后台商品的信息。</a:t>
            </a: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13.2.2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数据表结构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707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314551"/>
              </p:ext>
            </p:extLst>
          </p:nvPr>
        </p:nvGraphicFramePr>
        <p:xfrm>
          <a:off x="379460" y="2070688"/>
          <a:ext cx="8296995" cy="1435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1059"/>
                <a:gridCol w="1304843"/>
                <a:gridCol w="1232352"/>
                <a:gridCol w="1232352"/>
                <a:gridCol w="1159860"/>
                <a:gridCol w="2336529"/>
              </a:tblGrid>
              <a:tr h="46989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字段名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数据类型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是否为空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是否主键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默认值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01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order_id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VARCHAR(100)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是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订单</a:t>
                      </a:r>
                      <a:r>
                        <a:rPr lang="en-US" sz="1200" kern="100" dirty="0">
                          <a:effectLst/>
                        </a:rPr>
                        <a:t>ID</a:t>
                      </a:r>
                      <a:r>
                        <a:rPr lang="zh-CN" sz="1200" kern="100" dirty="0">
                          <a:effectLst/>
                        </a:rPr>
                        <a:t>，关联</a:t>
                      </a:r>
                      <a:r>
                        <a:rPr lang="en-US" sz="1200" kern="100" dirty="0">
                          <a:effectLst/>
                        </a:rPr>
                        <a:t>orders</a:t>
                      </a:r>
                      <a:r>
                        <a:rPr lang="zh-CN" sz="1200" kern="100" dirty="0">
                          <a:effectLst/>
                        </a:rPr>
                        <a:t>表中的主键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448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product_id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VARCHAR(100)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商品</a:t>
                      </a:r>
                      <a:r>
                        <a:rPr lang="en-US" sz="1200" kern="100" dirty="0">
                          <a:effectLst/>
                        </a:rPr>
                        <a:t>ID</a:t>
                      </a:r>
                      <a:r>
                        <a:rPr lang="zh-CN" sz="1200" kern="100" dirty="0">
                          <a:effectLst/>
                        </a:rPr>
                        <a:t>，关联</a:t>
                      </a:r>
                      <a:r>
                        <a:rPr lang="en-US" sz="1200" kern="100" dirty="0">
                          <a:effectLst/>
                        </a:rPr>
                        <a:t>products</a:t>
                      </a:r>
                      <a:r>
                        <a:rPr lang="zh-CN" sz="1200" kern="100" dirty="0">
                          <a:effectLst/>
                        </a:rPr>
                        <a:t>表中的主键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704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buynum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INT(11)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单个商品的购买数量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3" name="矩形 5"/>
          <p:cNvSpPr>
            <a:spLocks noChangeArrowheads="1"/>
          </p:cNvSpPr>
          <p:nvPr/>
        </p:nvSpPr>
        <p:spPr bwMode="auto">
          <a:xfrm>
            <a:off x="647700" y="1625460"/>
            <a:ext cx="80287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(4) </a:t>
            </a:r>
            <a:r>
              <a:rPr lang="en-US" altLang="zh-CN" dirty="0" err="1">
                <a:latin typeface="+mn-ea"/>
              </a:rPr>
              <a:t>orderitem</a:t>
            </a:r>
            <a:r>
              <a:rPr lang="zh-CN" altLang="en-US" dirty="0">
                <a:latin typeface="+mn-ea"/>
              </a:rPr>
              <a:t>表：该表用于保存网上书城系统前台以及后台订单的条目信息。</a:t>
            </a: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571500" y="3712105"/>
            <a:ext cx="7810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(5) notice</a:t>
            </a:r>
            <a:r>
              <a:rPr lang="zh-CN" altLang="en-US" dirty="0">
                <a:latin typeface="+mn-ea"/>
              </a:rPr>
              <a:t>表：该表用于保存网上书城系统前台以及后台公告栏的信息。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703185"/>
              </p:ext>
            </p:extLst>
          </p:nvPr>
        </p:nvGraphicFramePr>
        <p:xfrm>
          <a:off x="395536" y="4154000"/>
          <a:ext cx="8296995" cy="170564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1059"/>
                <a:gridCol w="1304843"/>
                <a:gridCol w="1232352"/>
                <a:gridCol w="1232352"/>
                <a:gridCol w="1159860"/>
                <a:gridCol w="2336529"/>
              </a:tblGrid>
              <a:tr h="46989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字段名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数据类型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是否为空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是否主键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默认值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01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n_id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INT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系统自动编号、自增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448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title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VARCHAR(10)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否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NULL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公告标题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704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details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VARCHAR(255)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公告内容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704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n_time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VARCHAR(18)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否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NULL</a:t>
                      </a:r>
                      <a:endParaRPr lang="zh-CN" sz="12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公告的创建时间</a:t>
                      </a:r>
                      <a:endParaRPr lang="zh-CN" sz="12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13.2.2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数据表结构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748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4005064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068960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13.2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数据库设计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230152" y="4149080"/>
            <a:ext cx="3791036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13.3    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项目环境搭建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1988840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13.1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项目概述</a:t>
            </a: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87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00013" y="2094806"/>
            <a:ext cx="3276600" cy="3278187"/>
            <a:chOff x="482607" y="2373314"/>
            <a:chExt cx="2502120" cy="2501900"/>
          </a:xfrm>
        </p:grpSpPr>
        <p:sp>
          <p:nvSpPr>
            <p:cNvPr id="4" name="椭圆 3"/>
            <p:cNvSpPr/>
            <p:nvPr/>
          </p:nvSpPr>
          <p:spPr>
            <a:xfrm>
              <a:off x="482607" y="2373314"/>
              <a:ext cx="2502120" cy="2501900"/>
            </a:xfrm>
            <a:prstGeom prst="ellipse">
              <a:avLst/>
            </a:prstGeom>
            <a:solidFill>
              <a:srgbClr val="006BA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椭圆 4"/>
            <p:cNvSpPr/>
            <p:nvPr/>
          </p:nvSpPr>
          <p:spPr bwMode="auto">
            <a:xfrm>
              <a:off x="684269" y="2561364"/>
              <a:ext cx="2101549" cy="210154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innerShdw blurRad="76200" dist="50800" dir="16200000">
                <a:prstClr val="black">
                  <a:alpha val="34000"/>
                </a:prstClr>
              </a:innerShdw>
            </a:effectLst>
            <a:ex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1" name="矩形 11"/>
          <p:cNvSpPr>
            <a:spLocks noChangeArrowheads="1"/>
          </p:cNvSpPr>
          <p:nvPr/>
        </p:nvSpPr>
        <p:spPr bwMode="auto">
          <a:xfrm>
            <a:off x="363538" y="2924944"/>
            <a:ext cx="2752725" cy="1656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环境</a:t>
            </a:r>
            <a:endParaRPr lang="en-US" altLang="zh-CN" sz="36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搭建</a:t>
            </a:r>
            <a:endParaRPr lang="en-US" altLang="zh-CN" sz="3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832225" y="2607398"/>
            <a:ext cx="4851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黑体" pitchFamily="49" charset="-122"/>
                <a:ea typeface="黑体" pitchFamily="49" charset="-122"/>
              </a:rPr>
              <a:t>传智</a:t>
            </a:r>
            <a:r>
              <a:rPr lang="zh-CN" altLang="zh-CN" dirty="0" smtClean="0">
                <a:latin typeface="黑体" pitchFamily="49" charset="-122"/>
                <a:ea typeface="黑体" pitchFamily="49" charset="-122"/>
              </a:rPr>
              <a:t>书城</a:t>
            </a:r>
            <a:r>
              <a:rPr lang="zh-CN" altLang="zh-CN" dirty="0">
                <a:latin typeface="黑体" pitchFamily="49" charset="-122"/>
                <a:ea typeface="黑体" pitchFamily="49" charset="-122"/>
              </a:rPr>
              <a:t>项目使用的数据库是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MySQL5.5</a:t>
            </a:r>
            <a:r>
              <a:rPr lang="zh-CN" altLang="zh-CN" dirty="0">
                <a:latin typeface="黑体" pitchFamily="49" charset="-122"/>
                <a:ea typeface="黑体" pitchFamily="49" charset="-122"/>
              </a:rPr>
              <a:t>版本，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Java</a:t>
            </a:r>
            <a:r>
              <a:rPr lang="zh-CN" altLang="zh-CN" dirty="0">
                <a:latin typeface="黑体" pitchFamily="49" charset="-122"/>
                <a:ea typeface="黑体" pitchFamily="49" charset="-122"/>
              </a:rPr>
              <a:t>开发包为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JDK1.7</a:t>
            </a:r>
            <a:r>
              <a:rPr lang="zh-CN" altLang="zh-CN" dirty="0">
                <a:latin typeface="黑体" pitchFamily="49" charset="-122"/>
                <a:ea typeface="黑体" pitchFamily="49" charset="-122"/>
              </a:rPr>
              <a:t>。</a:t>
            </a:r>
          </a:p>
        </p:txBody>
      </p: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3505981" y="1124744"/>
            <a:ext cx="5372906" cy="646113"/>
            <a:chOff x="785733" y="2510671"/>
            <a:chExt cx="5373846" cy="646161"/>
          </a:xfrm>
          <a:solidFill>
            <a:srgbClr val="70D7FC"/>
          </a:solidFill>
        </p:grpSpPr>
        <p:grpSp>
          <p:nvGrpSpPr>
            <p:cNvPr id="49" name="组合 48"/>
            <p:cNvGrpSpPr>
              <a:grpSpLocks/>
            </p:cNvGrpSpPr>
            <p:nvPr/>
          </p:nvGrpSpPr>
          <p:grpSpPr bwMode="auto">
            <a:xfrm>
              <a:off x="785733" y="2567825"/>
              <a:ext cx="5373846" cy="589007"/>
              <a:chOff x="887334" y="2567825"/>
              <a:chExt cx="5373846" cy="589007"/>
            </a:xfrm>
            <a:grpFill/>
          </p:grpSpPr>
          <p:sp>
            <p:nvSpPr>
              <p:cNvPr id="51" name="矩形 1"/>
              <p:cNvSpPr/>
              <p:nvPr/>
            </p:nvSpPr>
            <p:spPr>
              <a:xfrm>
                <a:off x="887334" y="2740875"/>
                <a:ext cx="5373846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rgbClr val="006B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flipV="1">
                <a:off x="1141354" y="2567825"/>
                <a:ext cx="603295" cy="581069"/>
              </a:xfrm>
              <a:prstGeom prst="triangle">
                <a:avLst/>
              </a:prstGeom>
              <a:solidFill>
                <a:srgbClr val="006BA9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</p:grpSp>
        <p:sp>
          <p:nvSpPr>
            <p:cNvPr id="50" name="TextBox 28"/>
            <p:cNvSpPr txBox="1">
              <a:spLocks noChangeArrowheads="1"/>
            </p:cNvSpPr>
            <p:nvPr/>
          </p:nvSpPr>
          <p:spPr bwMode="auto">
            <a:xfrm>
              <a:off x="1152147" y="251067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1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4211960" y="1345335"/>
            <a:ext cx="4612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新建一个动态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Web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项目，名称</a:t>
            </a:r>
            <a:r>
              <a:rPr lang="zh-CN" altLang="en-US" b="1" dirty="0" smtClean="0">
                <a:latin typeface="黑体" pitchFamily="49" charset="-122"/>
                <a:ea typeface="黑体" pitchFamily="49" charset="-122"/>
              </a:rPr>
              <a:t>为</a:t>
            </a:r>
            <a:r>
              <a:rPr lang="en-US" altLang="zh-CN" b="1" dirty="0" err="1" smtClean="0">
                <a:latin typeface="黑体" pitchFamily="49" charset="-122"/>
                <a:ea typeface="黑体" pitchFamily="49" charset="-122"/>
              </a:rPr>
              <a:t>itcaststore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3505980" y="1855787"/>
            <a:ext cx="5372907" cy="646112"/>
            <a:chOff x="887334" y="3521981"/>
            <a:chExt cx="5373846" cy="646162"/>
          </a:xfrm>
          <a:solidFill>
            <a:srgbClr val="70D7FC"/>
          </a:solidFill>
        </p:grpSpPr>
        <p:sp>
          <p:nvSpPr>
            <p:cNvPr id="55" name="矩形 1"/>
            <p:cNvSpPr/>
            <p:nvPr/>
          </p:nvSpPr>
          <p:spPr>
            <a:xfrm>
              <a:off x="887334" y="3752186"/>
              <a:ext cx="5373846" cy="415957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0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" fmla="*/ 351693 w 6840760"/>
                <a:gd name="connsiteY0" fmla="*/ 0 h 888468"/>
                <a:gd name="connsiteX1" fmla="*/ 6465622 w 6840760"/>
                <a:gd name="connsiteY1" fmla="*/ 35169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351693 w 6840760"/>
                <a:gd name="connsiteY4" fmla="*/ 0 h 88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rgbClr val="006B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6" name="等腰三角形 55"/>
            <p:cNvSpPr/>
            <p:nvPr/>
          </p:nvSpPr>
          <p:spPr>
            <a:xfrm flipV="1">
              <a:off x="1141354" y="3579135"/>
              <a:ext cx="603295" cy="581069"/>
            </a:xfrm>
            <a:prstGeom prst="triangle">
              <a:avLst/>
            </a:prstGeom>
            <a:solidFill>
              <a:srgbClr val="006BA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zh-CN" dirty="0"/>
            </a:p>
          </p:txBody>
        </p:sp>
        <p:sp>
          <p:nvSpPr>
            <p:cNvPr id="57" name="TextBox 25"/>
            <p:cNvSpPr txBox="1">
              <a:spLocks noChangeArrowheads="1"/>
            </p:cNvSpPr>
            <p:nvPr/>
          </p:nvSpPr>
          <p:spPr bwMode="auto">
            <a:xfrm>
              <a:off x="1265037" y="352198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2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58" name="矩形 5"/>
          <p:cNvSpPr>
            <a:spLocks noChangeArrowheads="1"/>
          </p:cNvSpPr>
          <p:nvPr/>
        </p:nvSpPr>
        <p:spPr bwMode="auto">
          <a:xfrm>
            <a:off x="4310063" y="2086698"/>
            <a:ext cx="2741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确定项目运行环境的版本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3654425" y="2591523"/>
            <a:ext cx="5129213" cy="939800"/>
          </a:xfrm>
          <a:prstGeom prst="rect">
            <a:avLst/>
          </a:prstGeom>
          <a:noFill/>
          <a:ln w="28575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3505981" y="2604217"/>
            <a:ext cx="5372906" cy="646113"/>
            <a:chOff x="785733" y="2510671"/>
            <a:chExt cx="5373846" cy="646161"/>
          </a:xfrm>
          <a:solidFill>
            <a:srgbClr val="70D7FC"/>
          </a:solidFill>
        </p:grpSpPr>
        <p:grpSp>
          <p:nvGrpSpPr>
            <p:cNvPr id="61" name="组合 60"/>
            <p:cNvGrpSpPr>
              <a:grpSpLocks/>
            </p:cNvGrpSpPr>
            <p:nvPr/>
          </p:nvGrpSpPr>
          <p:grpSpPr bwMode="auto">
            <a:xfrm>
              <a:off x="785733" y="2567825"/>
              <a:ext cx="5373846" cy="589007"/>
              <a:chOff x="887334" y="2567825"/>
              <a:chExt cx="5373846" cy="589007"/>
            </a:xfrm>
            <a:grpFill/>
          </p:grpSpPr>
          <p:sp>
            <p:nvSpPr>
              <p:cNvPr id="63" name="矩形 1"/>
              <p:cNvSpPr/>
              <p:nvPr/>
            </p:nvSpPr>
            <p:spPr>
              <a:xfrm>
                <a:off x="887334" y="2740875"/>
                <a:ext cx="5373846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rgbClr val="006B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 flipV="1">
                <a:off x="1141354" y="2567825"/>
                <a:ext cx="603295" cy="581069"/>
              </a:xfrm>
              <a:prstGeom prst="triangle">
                <a:avLst/>
              </a:prstGeom>
              <a:solidFill>
                <a:srgbClr val="006BA9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</p:grpSp>
        <p:sp>
          <p:nvSpPr>
            <p:cNvPr id="62" name="TextBox 28"/>
            <p:cNvSpPr txBox="1">
              <a:spLocks noChangeArrowheads="1"/>
            </p:cNvSpPr>
            <p:nvPr/>
          </p:nvSpPr>
          <p:spPr bwMode="auto">
            <a:xfrm>
              <a:off x="1152147" y="251067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3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4152900" y="2834410"/>
            <a:ext cx="45704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将项目所需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jar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包导入到项目的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lib</a:t>
            </a:r>
            <a:r>
              <a:rPr lang="zh-CN" altLang="zh-CN" b="1" dirty="0">
                <a:latin typeface="黑体" pitchFamily="49" charset="-122"/>
                <a:ea typeface="黑体" pitchFamily="49" charset="-122"/>
              </a:rPr>
              <a:t>文件夹下</a:t>
            </a:r>
          </a:p>
        </p:txBody>
      </p:sp>
      <p:grpSp>
        <p:nvGrpSpPr>
          <p:cNvPr id="66" name="组合 65"/>
          <p:cNvGrpSpPr>
            <a:grpSpLocks/>
          </p:cNvGrpSpPr>
          <p:nvPr/>
        </p:nvGrpSpPr>
        <p:grpSpPr bwMode="auto">
          <a:xfrm>
            <a:off x="3473297" y="3330497"/>
            <a:ext cx="5372906" cy="646113"/>
            <a:chOff x="785733" y="2510671"/>
            <a:chExt cx="5373846" cy="646161"/>
          </a:xfrm>
          <a:solidFill>
            <a:srgbClr val="70D7FC"/>
          </a:solidFill>
        </p:grpSpPr>
        <p:grpSp>
          <p:nvGrpSpPr>
            <p:cNvPr id="67" name="组合 66"/>
            <p:cNvGrpSpPr>
              <a:grpSpLocks/>
            </p:cNvGrpSpPr>
            <p:nvPr/>
          </p:nvGrpSpPr>
          <p:grpSpPr bwMode="auto">
            <a:xfrm>
              <a:off x="785733" y="2567825"/>
              <a:ext cx="5373846" cy="589007"/>
              <a:chOff x="887334" y="2567825"/>
              <a:chExt cx="5373846" cy="589007"/>
            </a:xfrm>
            <a:grpFill/>
          </p:grpSpPr>
          <p:sp>
            <p:nvSpPr>
              <p:cNvPr id="69" name="矩形 1"/>
              <p:cNvSpPr/>
              <p:nvPr/>
            </p:nvSpPr>
            <p:spPr>
              <a:xfrm>
                <a:off x="887334" y="2740875"/>
                <a:ext cx="5373846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rgbClr val="006B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0" name="等腰三角形 69"/>
              <p:cNvSpPr/>
              <p:nvPr/>
            </p:nvSpPr>
            <p:spPr>
              <a:xfrm flipV="1">
                <a:off x="1141354" y="2567825"/>
                <a:ext cx="603295" cy="581069"/>
              </a:xfrm>
              <a:prstGeom prst="triangle">
                <a:avLst/>
              </a:prstGeom>
              <a:solidFill>
                <a:srgbClr val="006BA9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</p:grpSp>
        <p:sp>
          <p:nvSpPr>
            <p:cNvPr id="68" name="TextBox 28"/>
            <p:cNvSpPr txBox="1">
              <a:spLocks noChangeArrowheads="1"/>
            </p:cNvSpPr>
            <p:nvPr/>
          </p:nvSpPr>
          <p:spPr bwMode="auto">
            <a:xfrm>
              <a:off x="1152147" y="251067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4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4262438" y="3559898"/>
            <a:ext cx="2405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zh-CN" b="1">
                <a:latin typeface="黑体" pitchFamily="49" charset="-122"/>
                <a:ea typeface="黑体" pitchFamily="49" charset="-122"/>
              </a:rPr>
              <a:t>配置</a:t>
            </a:r>
            <a:r>
              <a:rPr lang="en-US" altLang="zh-CN" b="1">
                <a:latin typeface="黑体" pitchFamily="49" charset="-122"/>
                <a:ea typeface="黑体" pitchFamily="49" charset="-122"/>
              </a:rPr>
              <a:t>c3p0-config.xml</a:t>
            </a:r>
            <a:endParaRPr lang="zh-CN" altLang="zh-CN" b="1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3473297" y="4063922"/>
            <a:ext cx="5372906" cy="646113"/>
            <a:chOff x="785733" y="2510671"/>
            <a:chExt cx="5373846" cy="646161"/>
          </a:xfrm>
          <a:solidFill>
            <a:srgbClr val="70D7FC"/>
          </a:solidFill>
        </p:grpSpPr>
        <p:grpSp>
          <p:nvGrpSpPr>
            <p:cNvPr id="73" name="组合 72"/>
            <p:cNvGrpSpPr>
              <a:grpSpLocks/>
            </p:cNvGrpSpPr>
            <p:nvPr/>
          </p:nvGrpSpPr>
          <p:grpSpPr bwMode="auto">
            <a:xfrm>
              <a:off x="785733" y="2567825"/>
              <a:ext cx="5373846" cy="589007"/>
              <a:chOff x="887334" y="2567825"/>
              <a:chExt cx="5373846" cy="589007"/>
            </a:xfrm>
            <a:grpFill/>
          </p:grpSpPr>
          <p:sp>
            <p:nvSpPr>
              <p:cNvPr id="75" name="矩形 1"/>
              <p:cNvSpPr/>
              <p:nvPr/>
            </p:nvSpPr>
            <p:spPr>
              <a:xfrm>
                <a:off x="887334" y="2740875"/>
                <a:ext cx="5373846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rgbClr val="006B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76" name="等腰三角形 75"/>
              <p:cNvSpPr/>
              <p:nvPr/>
            </p:nvSpPr>
            <p:spPr>
              <a:xfrm flipV="1">
                <a:off x="1141354" y="2567825"/>
                <a:ext cx="603295" cy="581069"/>
              </a:xfrm>
              <a:prstGeom prst="triangle">
                <a:avLst/>
              </a:prstGeom>
              <a:solidFill>
                <a:srgbClr val="006BA9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</p:grpSp>
        <p:sp>
          <p:nvSpPr>
            <p:cNvPr id="74" name="TextBox 28"/>
            <p:cNvSpPr txBox="1">
              <a:spLocks noChangeArrowheads="1"/>
            </p:cNvSpPr>
            <p:nvPr/>
          </p:nvSpPr>
          <p:spPr bwMode="auto">
            <a:xfrm>
              <a:off x="1152147" y="251067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5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4262438" y="4293323"/>
            <a:ext cx="2049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>
                <a:latin typeface="黑体" pitchFamily="49" charset="-122"/>
                <a:ea typeface="黑体" pitchFamily="49" charset="-122"/>
              </a:rPr>
              <a:t>编写</a:t>
            </a:r>
            <a:r>
              <a:rPr lang="en-US" altLang="zh-CN" b="1">
                <a:latin typeface="黑体" pitchFamily="49" charset="-122"/>
                <a:ea typeface="黑体" pitchFamily="49" charset="-122"/>
              </a:rPr>
              <a:t>filter</a:t>
            </a:r>
            <a:r>
              <a:rPr lang="zh-CN" altLang="en-US" b="1">
                <a:latin typeface="黑体" pitchFamily="49" charset="-122"/>
                <a:ea typeface="黑体" pitchFamily="49" charset="-122"/>
              </a:rPr>
              <a:t>过滤器</a:t>
            </a:r>
            <a:endParaRPr lang="zh-CN" altLang="zh-CN" b="1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8" name="组合 77"/>
          <p:cNvGrpSpPr>
            <a:grpSpLocks/>
          </p:cNvGrpSpPr>
          <p:nvPr/>
        </p:nvGrpSpPr>
        <p:grpSpPr bwMode="auto">
          <a:xfrm>
            <a:off x="3467880" y="4796558"/>
            <a:ext cx="5372906" cy="646113"/>
            <a:chOff x="785733" y="2510671"/>
            <a:chExt cx="5373846" cy="646161"/>
          </a:xfrm>
          <a:solidFill>
            <a:srgbClr val="70D7FC"/>
          </a:solidFill>
        </p:grpSpPr>
        <p:grpSp>
          <p:nvGrpSpPr>
            <p:cNvPr id="79" name="组合 78"/>
            <p:cNvGrpSpPr>
              <a:grpSpLocks/>
            </p:cNvGrpSpPr>
            <p:nvPr/>
          </p:nvGrpSpPr>
          <p:grpSpPr bwMode="auto">
            <a:xfrm>
              <a:off x="785733" y="2567825"/>
              <a:ext cx="5373846" cy="589007"/>
              <a:chOff x="887334" y="2567825"/>
              <a:chExt cx="5373846" cy="589007"/>
            </a:xfrm>
            <a:grpFill/>
          </p:grpSpPr>
          <p:sp>
            <p:nvSpPr>
              <p:cNvPr id="81" name="矩形 1"/>
              <p:cNvSpPr/>
              <p:nvPr/>
            </p:nvSpPr>
            <p:spPr>
              <a:xfrm>
                <a:off x="887334" y="2740875"/>
                <a:ext cx="5373846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rgbClr val="006B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82" name="等腰三角形 81"/>
              <p:cNvSpPr/>
              <p:nvPr/>
            </p:nvSpPr>
            <p:spPr>
              <a:xfrm flipV="1">
                <a:off x="1141354" y="2567825"/>
                <a:ext cx="603295" cy="581069"/>
              </a:xfrm>
              <a:prstGeom prst="triangle">
                <a:avLst/>
              </a:prstGeom>
              <a:solidFill>
                <a:srgbClr val="006BA9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</p:grpSp>
        <p:sp>
          <p:nvSpPr>
            <p:cNvPr id="80" name="TextBox 28"/>
            <p:cNvSpPr txBox="1">
              <a:spLocks noChangeArrowheads="1"/>
            </p:cNvSpPr>
            <p:nvPr/>
          </p:nvSpPr>
          <p:spPr bwMode="auto">
            <a:xfrm>
              <a:off x="1152147" y="2510671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2800" b="1" dirty="0" smtClean="0">
                  <a:ea typeface="微软雅黑" pitchFamily="34" charset="-122"/>
                  <a:cs typeface="Arial" pitchFamily="34" charset="0"/>
                </a:rPr>
                <a:t>6</a:t>
              </a:r>
              <a:endParaRPr lang="zh-CN" altLang="en-US" sz="2800" b="1" dirty="0" smtClean="0">
                <a:ea typeface="微软雅黑" pitchFamily="34" charset="-122"/>
                <a:cs typeface="Arial" pitchFamily="34" charset="0"/>
              </a:endParaRPr>
            </a:p>
          </p:txBody>
        </p:sp>
      </p:grpSp>
      <p:sp>
        <p:nvSpPr>
          <p:cNvPr id="83" name="矩形 82"/>
          <p:cNvSpPr>
            <a:spLocks noChangeArrowheads="1"/>
          </p:cNvSpPr>
          <p:nvPr/>
        </p:nvSpPr>
        <p:spPr bwMode="auto">
          <a:xfrm>
            <a:off x="4219575" y="5017223"/>
            <a:ext cx="3101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编写工具类</a:t>
            </a:r>
            <a:r>
              <a:rPr lang="en-US" altLang="zh-CN" b="1" dirty="0" err="1">
                <a:latin typeface="黑体" pitchFamily="49" charset="-122"/>
                <a:ea typeface="黑体" pitchFamily="49" charset="-122"/>
              </a:rPr>
              <a:t>DataSourceUtils</a:t>
            </a:r>
            <a:endParaRPr lang="zh-CN" altLang="en-US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4" name="内容占位符 2"/>
          <p:cNvSpPr txBox="1">
            <a:spLocks/>
          </p:cNvSpPr>
          <p:nvPr/>
        </p:nvSpPr>
        <p:spPr bwMode="auto">
          <a:xfrm>
            <a:off x="1636960" y="5589240"/>
            <a:ext cx="653544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接下来分步骤讲解环境的搭建，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13. 3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项目环境搭建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493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7" grpId="0"/>
      <p:bldP spid="47" grpId="1"/>
      <p:bldP spid="53" grpId="0"/>
      <p:bldP spid="58" grpId="0"/>
      <p:bldP spid="59" grpId="0" animBg="1"/>
      <p:bldP spid="59" grpId="1" animBg="1"/>
      <p:bldP spid="65" grpId="0"/>
      <p:bldP spid="71" grpId="0"/>
      <p:bldP spid="77" grpId="0"/>
      <p:bldP spid="8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1"/>
          <p:cNvSpPr>
            <a:spLocks noChangeArrowheads="1"/>
          </p:cNvSpPr>
          <p:nvPr/>
        </p:nvSpPr>
        <p:spPr bwMode="auto">
          <a:xfrm>
            <a:off x="2555776" y="1268760"/>
            <a:ext cx="5112568" cy="4176464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6B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38438" y="1412776"/>
            <a:ext cx="485789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      </a:t>
            </a:r>
            <a:r>
              <a:rPr lang="zh-CN" altLang="zh-CN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主要针对传智书城项目的前期准备工作进行了讲解，首先介绍了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项目需求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功能结构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，并给出了部分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项目预览页面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，使读者对传智书城项目有个大体的了解，然后讲解书城项目中的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E-R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以及相关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数据表结构的设计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，最后，针对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项目的环境搭建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，进行了详细的</a:t>
            </a:r>
            <a:r>
              <a:rPr lang="zh-CN" altLang="zh-CN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讲解</a:t>
            </a:r>
            <a:r>
              <a:rPr lang="zh-CN" altLang="zh-CN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本章的学习，读者可以了解传智书城项目的需求、功能结构及其数据库和数据表是如何设计的，并可以搭建项目的基础环境。</a:t>
            </a: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15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14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/>
              <a:t>请</a:t>
            </a:r>
            <a:r>
              <a:rPr lang="zh-CN" altLang="zh-CN" sz="2400" dirty="0"/>
              <a:t>描述传智书城项目的开发环境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/>
              <a:t>请</a:t>
            </a:r>
            <a:r>
              <a:rPr lang="zh-CN" altLang="zh-CN" sz="2400" dirty="0"/>
              <a:t>写出传智书城项目搭建所需要导入的</a:t>
            </a:r>
            <a:r>
              <a:rPr lang="en-US" altLang="zh-CN" sz="2400" dirty="0"/>
              <a:t>jar</a:t>
            </a:r>
            <a:r>
              <a:rPr lang="zh-CN" altLang="zh-CN" sz="2400" dirty="0"/>
              <a:t>包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571500" lvl="1" indent="-57150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</a:t>
            </a:r>
            <a:r>
              <a:rPr lang="zh-CN" altLang="en-US" sz="24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作业</a:t>
            </a:r>
            <a:endParaRPr lang="en-US" altLang="zh-CN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 smtClean="0"/>
              <a:t>注册功能的</a:t>
            </a:r>
            <a:r>
              <a:rPr lang="zh-CN" altLang="en-US" sz="2400" smtClean="0"/>
              <a:t>设计思路。</a:t>
            </a: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/>
              <a:t>购物</a:t>
            </a:r>
            <a:r>
              <a:rPr lang="zh-CN" altLang="en-US" sz="2400" dirty="0" smtClean="0"/>
              <a:t>车模块的</a:t>
            </a:r>
            <a:r>
              <a:rPr lang="zh-CN" altLang="en-US" sz="2400" smtClean="0"/>
              <a:t>设计思路。</a:t>
            </a: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28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2702822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1AF067ED-2B43-4EF9-BFD5-861D1FD5B573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13章 传智书城项目设计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f6a605a3748eef85b4ab4426f0429ccfb0b31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13章 传智书城项目设计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需求分析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需求分析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功能结构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功能结构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项目预览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E-R图设计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数据表结构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数据表结构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数据表结构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项目环境搭建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5569</TotalTime>
  <Words>2058</Words>
  <Application>Microsoft Office PowerPoint</Application>
  <PresentationFormat>全屏显示(4:3)</PresentationFormat>
  <Paragraphs>386</Paragraphs>
  <Slides>20</Slides>
  <Notes>20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Office 主题​​</vt:lpstr>
      <vt:lpstr>Visio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 传智书城项目设计</dc:title>
  <dc:creator>admin</dc:creator>
  <cp:lastModifiedBy>石荣新</cp:lastModifiedBy>
  <cp:revision>353</cp:revision>
  <dcterms:created xsi:type="dcterms:W3CDTF">2015-06-29T07:19:00Z</dcterms:created>
  <dcterms:modified xsi:type="dcterms:W3CDTF">2018-01-09T09:40:48Z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
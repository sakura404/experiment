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6"/>
  </p:notesMasterIdLst>
  <p:sldIdLst>
    <p:sldId id="378" r:id="rId2"/>
    <p:sldId id="375" r:id="rId3"/>
    <p:sldId id="376" r:id="rId4"/>
    <p:sldId id="327" r:id="rId5"/>
    <p:sldId id="329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58" r:id="rId16"/>
    <p:sldId id="368" r:id="rId17"/>
    <p:sldId id="369" r:id="rId18"/>
    <p:sldId id="370" r:id="rId19"/>
    <p:sldId id="371" r:id="rId20"/>
    <p:sldId id="372" r:id="rId21"/>
    <p:sldId id="373" r:id="rId22"/>
    <p:sldId id="332" r:id="rId23"/>
    <p:sldId id="374" r:id="rId24"/>
    <p:sldId id="377" r:id="rId25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0C0"/>
    <a:srgbClr val="01598B"/>
    <a:srgbClr val="0066A1"/>
    <a:srgbClr val="009ED6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7" autoAdjust="0"/>
    <p:restoredTop sz="98129" autoAdjust="0"/>
  </p:normalViewPr>
  <p:slideViewPr>
    <p:cSldViewPr>
      <p:cViewPr>
        <p:scale>
          <a:sx n="100" d="100"/>
          <a:sy n="100" d="100"/>
        </p:scale>
        <p:origin x="-194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445EF-F4E5-4C6B-8803-99A1B06A3CF4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8B8B8-81F3-4DE6-8EA0-47E914727F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78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806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22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82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28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54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189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886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2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851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431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86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796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43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0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09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3043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837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928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568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916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127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8B8B8-81F3-4DE6-8EA0-47E914727F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3957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49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80632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46970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14341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4610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710598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21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41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5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364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9563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662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938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9377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1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4541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659" r:id="rId29"/>
    <p:sldLayoutId id="2147483662" r:id="rId30"/>
    <p:sldLayoutId id="2147483674" r:id="rId31"/>
    <p:sldLayoutId id="2147483654" r:id="rId32"/>
    <p:sldLayoutId id="2147483655" r:id="rId33"/>
    <p:sldLayoutId id="2147483656" r:id="rId34"/>
    <p:sldLayoutId id="2147483657" r:id="rId3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Relationship Id="rId6" Type="http://schemas.openxmlformats.org/officeDocument/2006/relationships/image" Target="../media/image20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8</a:t>
            </a:r>
            <a:r>
              <a:rPr lang="zh-CN" altLang="en-US" sz="3200" b="1" dirty="0" smtClean="0"/>
              <a:t>章 </a:t>
            </a:r>
            <a:r>
              <a:rPr lang="en-US" altLang="zh-CN" sz="3200" b="1" dirty="0" smtClean="0"/>
              <a:t>Servlet</a:t>
            </a:r>
            <a:r>
              <a:rPr lang="zh-CN" altLang="en-US" sz="3200" b="1" dirty="0" smtClean="0"/>
              <a:t>高级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430838" y="5517232"/>
            <a:ext cx="34616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Filter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实现用户自动登录</a:t>
            </a: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传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Filter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实现统一全站编码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Filter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映射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Servlet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事件监听器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594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Javabean</a:t>
            </a:r>
            <a:r>
              <a:rPr lang="zh-CN" altLang="en-US" sz="2400">
                <a:solidFill>
                  <a:prstClr val="black"/>
                </a:solidFill>
              </a:rPr>
              <a:t>规范都有哪些</a:t>
            </a:r>
            <a:r>
              <a:rPr lang="en-US" altLang="zh-CN" sz="2400">
                <a:solidFill>
                  <a:prstClr val="black"/>
                </a:solidFill>
              </a:rPr>
              <a:t>?</a:t>
            </a:r>
            <a:r>
              <a:rPr lang="zh-CN" altLang="en-US" sz="2400">
                <a:solidFill>
                  <a:prstClr val="black"/>
                </a:solidFill>
              </a:rPr>
              <a:t>（至少写出</a:t>
            </a:r>
            <a:r>
              <a:rPr lang="en-US" altLang="zh-CN" sz="2400">
                <a:solidFill>
                  <a:prstClr val="black"/>
                </a:solidFill>
              </a:rPr>
              <a:t>2</a:t>
            </a:r>
            <a:r>
              <a:rPr lang="zh-CN" altLang="en-US" sz="2400">
                <a:solidFill>
                  <a:prstClr val="black"/>
                </a:solidFill>
              </a:rPr>
              <a:t>点</a:t>
            </a:r>
            <a:r>
              <a:rPr lang="zh-CN" altLang="en-US" sz="2400" smtClean="0">
                <a:solidFill>
                  <a:prstClr val="black"/>
                </a:solidFill>
              </a:rPr>
              <a:t>）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简述定义</a:t>
            </a:r>
            <a:r>
              <a:rPr lang="en-US" altLang="zh-CN" sz="2400">
                <a:solidFill>
                  <a:prstClr val="black"/>
                </a:solidFill>
              </a:rPr>
              <a:t>EL</a:t>
            </a:r>
            <a:r>
              <a:rPr lang="zh-CN" altLang="en-US" sz="2400">
                <a:solidFill>
                  <a:prstClr val="black"/>
                </a:solidFill>
              </a:rPr>
              <a:t>标识符的</a:t>
            </a:r>
            <a:r>
              <a:rPr lang="zh-CN" altLang="en-US" sz="2400" smtClean="0">
                <a:solidFill>
                  <a:prstClr val="black"/>
                </a:solidFill>
              </a:rPr>
              <a:t>规范。</a:t>
            </a:r>
            <a:endParaRPr lang="en-US" altLang="zh-CN" sz="240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69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/>
              <a:t>什么是</a:t>
            </a:r>
            <a:r>
              <a:rPr lang="en-US" altLang="zh-CN" sz="2400"/>
              <a:t>Filter 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/>
              <a:t>如何监听器对象的生命周期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305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3529" y="2194584"/>
            <a:ext cx="2952327" cy="1139825"/>
            <a:chOff x="5020916" y="4225925"/>
            <a:chExt cx="3651097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020916" y="4289512"/>
              <a:ext cx="2762195" cy="523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r>
                <a:rPr lang="en-US" altLang="zh-CN" b="1" dirty="0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Filter</a:t>
              </a:r>
              <a:endParaRPr lang="en-US" altLang="zh-CN" b="1" dirty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11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531024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2719682">
              <a:off x="4600346" y="2872905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819272" y="4427003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75" y="4706679"/>
            <a:ext cx="4215496" cy="1082410"/>
            <a:chOff x="4241881" y="5106728"/>
            <a:chExt cx="2325661" cy="1075694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703914" y="4644695"/>
              <a:ext cx="1075694" cy="1999759"/>
              <a:chOff x="6453791" y="4116789"/>
              <a:chExt cx="1526764" cy="91599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91" y="4116789"/>
                <a:ext cx="1212473" cy="810510"/>
                <a:chOff x="1625229" y="2303341"/>
                <a:chExt cx="1212595" cy="810196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232572" y="2695997"/>
                  <a:ext cx="785314" cy="1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19087" y="2494799"/>
                  <a:ext cx="24880" cy="1212595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292398" y="4920843"/>
                <a:ext cx="688157" cy="111939"/>
                <a:chOff x="1950262" y="3647353"/>
                <a:chExt cx="690106" cy="1117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204742" y="3392873"/>
                  <a:ext cx="111798" cy="620757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258983" y="3365770"/>
                  <a:ext cx="93355" cy="669415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587380" y="5339762"/>
              <a:ext cx="1980162" cy="496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   八种监听器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796135" y="1628801"/>
            <a:ext cx="3507464" cy="1080116"/>
            <a:chOff x="5941776" y="1653361"/>
            <a:chExt cx="3510626" cy="1080151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941776" y="1653361"/>
              <a:ext cx="3510626" cy="955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使用监听器监听域对象的</a:t>
              </a:r>
              <a:endParaRPr lang="en-US" altLang="zh-CN" b="1" dirty="0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生命周期和属性变更的方法</a:t>
              </a:r>
              <a:endParaRPr lang="en-US" altLang="zh-CN" b="1" dirty="0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90" y="2286831"/>
              <a:ext cx="3039273" cy="446681"/>
              <a:chOff x="980659" y="2862509"/>
              <a:chExt cx="317799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980659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35735" y="3294594"/>
                <a:ext cx="2922919" cy="14807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767739" y="1827378"/>
              <a:ext cx="489391" cy="520715"/>
              <a:chOff x="1383068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383068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91055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2492896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97740" y="262762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8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.1    Filter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过滤器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097740" y="36357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8.2    Listener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监听器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919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701209" y="836712"/>
            <a:ext cx="4950911" cy="3168352"/>
            <a:chOff x="2312388" y="534744"/>
            <a:chExt cx="7170737" cy="4635500"/>
          </a:xfrm>
        </p:grpSpPr>
        <p:pic>
          <p:nvPicPr>
            <p:cNvPr id="4" name="Picture 6" descr="云朵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2388" y="534744"/>
              <a:ext cx="7170737" cy="463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4751815" y="2081897"/>
              <a:ext cx="4043362" cy="585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ea typeface="黑体" pitchFamily="49" charset="-122"/>
                </a:rPr>
                <a:t>什么</a:t>
              </a:r>
              <a:r>
                <a:rPr lang="zh-CN" altLang="en-US" sz="2000" b="1" smtClean="0">
                  <a:solidFill>
                    <a:schemeClr val="bg1"/>
                  </a:solidFill>
                  <a:ea typeface="黑体" pitchFamily="49" charset="-122"/>
                </a:rPr>
                <a:t>是</a:t>
              </a:r>
              <a:r>
                <a:rPr lang="en-US" altLang="zh-CN" sz="2000" b="1" smtClean="0">
                  <a:solidFill>
                    <a:schemeClr val="bg1"/>
                  </a:solidFill>
                  <a:ea typeface="黑体" pitchFamily="49" charset="-122"/>
                </a:rPr>
                <a:t>Filter</a:t>
              </a:r>
              <a:r>
                <a:rPr lang="zh-CN" altLang="en-US" sz="2000" b="1" smtClean="0">
                  <a:solidFill>
                    <a:schemeClr val="bg1"/>
                  </a:solidFill>
                  <a:ea typeface="黑体" pitchFamily="49" charset="-122"/>
                </a:rPr>
                <a:t>？</a:t>
              </a:r>
              <a:endParaRPr lang="zh-CN" altLang="en-US" sz="2000" b="1">
                <a:solidFill>
                  <a:schemeClr val="bg1"/>
                </a:solidFill>
                <a:ea typeface="黑体" pitchFamily="49" charset="-122"/>
              </a:endParaRPr>
            </a:p>
          </p:txBody>
        </p:sp>
      </p:grpSp>
      <p:pic>
        <p:nvPicPr>
          <p:cNvPr id="6" name="Picture 8" descr="问小人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79" y="2276872"/>
            <a:ext cx="2165305" cy="223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62479" y="4869160"/>
            <a:ext cx="8141969" cy="858493"/>
          </a:xfrm>
          <a:prstGeom prst="rect">
            <a:avLst/>
          </a:prstGeom>
          <a:solidFill>
            <a:schemeClr val="bg1"/>
          </a:solidFill>
          <a:ln w="19050">
            <a:solidFill>
              <a:srgbClr val="0066A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被称作过滤器或者拦截器，其基本功能就是对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容器调用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的过程进行拦截，从而在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进行响应处理前后实现一些特殊功能。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FontTx/>
              <a:buNone/>
            </a:pPr>
            <a:endParaRPr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975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3235896"/>
            <a:ext cx="334486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3505771"/>
            <a:ext cx="1190625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5" y="3666109"/>
            <a:ext cx="12192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3666109"/>
            <a:ext cx="1006475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箭头连接符 5"/>
          <p:cNvCxnSpPr>
            <a:cxnSpLocks noChangeShapeType="1"/>
          </p:cNvCxnSpPr>
          <p:nvPr/>
        </p:nvCxnSpPr>
        <p:spPr bwMode="auto">
          <a:xfrm>
            <a:off x="3105150" y="3962971"/>
            <a:ext cx="9810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flipH="1">
            <a:off x="3105150" y="4420171"/>
            <a:ext cx="9810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>
            <a:off x="5257800" y="3962971"/>
            <a:ext cx="431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flipH="1">
            <a:off x="5257800" y="4420171"/>
            <a:ext cx="431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圆角矩形标注 9"/>
          <p:cNvSpPr/>
          <p:nvPr/>
        </p:nvSpPr>
        <p:spPr bwMode="auto">
          <a:xfrm>
            <a:off x="1763688" y="5055319"/>
            <a:ext cx="6181725" cy="1470025"/>
          </a:xfrm>
          <a:prstGeom prst="wedgeRoundRectCallout">
            <a:avLst>
              <a:gd name="adj1" fmla="val -23264"/>
              <a:gd name="adj2" fmla="val -69537"/>
              <a:gd name="adj3" fmla="val 16667"/>
            </a:avLst>
          </a:prstGeom>
          <a:solidFill>
            <a:srgbClr val="01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zh-CN" sz="1400" b="1" dirty="0">
                <a:solidFill>
                  <a:schemeClr val="bg1"/>
                </a:solidFill>
              </a:rPr>
              <a:t>当浏览器访问服务器中的目标资源时，会被</a:t>
            </a:r>
            <a:r>
              <a:rPr lang="en-US" altLang="zh-CN" sz="1400" b="1" dirty="0">
                <a:solidFill>
                  <a:schemeClr val="bg1"/>
                </a:solidFill>
              </a:rPr>
              <a:t>Filter</a:t>
            </a:r>
            <a:r>
              <a:rPr lang="zh-CN" altLang="zh-CN" sz="1400" b="1" dirty="0">
                <a:solidFill>
                  <a:schemeClr val="bg1"/>
                </a:solidFill>
              </a:rPr>
              <a:t>拦截，在</a:t>
            </a:r>
            <a:r>
              <a:rPr lang="en-US" altLang="zh-CN" sz="1400" b="1" dirty="0">
                <a:solidFill>
                  <a:schemeClr val="bg1"/>
                </a:solidFill>
              </a:rPr>
              <a:t>Filter</a:t>
            </a:r>
            <a:r>
              <a:rPr lang="zh-CN" altLang="zh-CN" sz="1400" b="1" dirty="0">
                <a:solidFill>
                  <a:schemeClr val="bg1"/>
                </a:solidFill>
              </a:rPr>
              <a:t>中进行预处理操作，然后再将请求转发给目标资源。当服务器接收到这个请求后会对其进行响应，在服务器处理响应的过程中，也需要先将响应结果发送给拦截器，在拦截器中对响应结果进行处理后，才会发送给客户端。</a:t>
            </a:r>
            <a:endParaRPr lang="zh-CN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84179"/>
            <a:ext cx="1292225" cy="17294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/>
          <p:cNvSpPr txBox="1"/>
          <p:nvPr/>
        </p:nvSpPr>
        <p:spPr>
          <a:xfrm>
            <a:off x="1475656" y="2751063"/>
            <a:ext cx="6552728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altLang="zh-CN" smtClean="0"/>
              <a:t>Filter</a:t>
            </a:r>
            <a:r>
              <a:rPr lang="zh-CN" altLang="en-US" smtClean="0"/>
              <a:t>在</a:t>
            </a:r>
            <a:r>
              <a:rPr lang="en-US" altLang="zh-CN" smtClean="0"/>
              <a:t>Web</a:t>
            </a:r>
            <a:r>
              <a:rPr lang="zh-CN" altLang="en-US" smtClean="0"/>
              <a:t>应用中拦截的过程如下图所示：</a:t>
            </a:r>
            <a:endParaRPr lang="zh-CN" altLang="en-US"/>
          </a:p>
        </p:txBody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1486322" y="1598935"/>
            <a:ext cx="6902102" cy="1002509"/>
          </a:xfrm>
          <a:prstGeom prst="rect">
            <a:avLst/>
          </a:prstGeom>
          <a:solidFill>
            <a:schemeClr val="bg1"/>
          </a:solidFill>
          <a:ln w="19050">
            <a:solidFill>
              <a:srgbClr val="0066A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457200">
              <a:spcBef>
                <a:spcPts val="0"/>
              </a:spcBef>
              <a:buFontTx/>
              <a:buNone/>
            </a:pPr>
            <a:endParaRPr lang="en-US" altLang="zh-CN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75656" y="1656200"/>
            <a:ext cx="6912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被称作过滤器或者拦截器，其基本功能就是对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容器调用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的过程进行拦截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进行响应处理前后实现一些特殊功能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74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455738" y="1831380"/>
            <a:ext cx="6716712" cy="870751"/>
          </a:xfrm>
          <a:prstGeom prst="rect">
            <a:avLst/>
          </a:prstGeom>
          <a:solidFill>
            <a:schemeClr val="bg1"/>
          </a:solidFill>
          <a:ln w="19050">
            <a:solidFill>
              <a:srgbClr val="01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过滤器就是一个实现了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javax.servlet.Filter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接口的类，在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javax.servlet.Filter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接口中定义了三个方法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1674217"/>
            <a:ext cx="9286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/>
          <p:cNvSpPr>
            <a:spLocks noChangeArrowheads="1"/>
          </p:cNvSpPr>
          <p:nvPr/>
        </p:nvSpPr>
        <p:spPr bwMode="grayWhite">
          <a:xfrm>
            <a:off x="1536700" y="2898105"/>
            <a:ext cx="6635750" cy="3051175"/>
          </a:xfrm>
          <a:prstGeom prst="roundRect">
            <a:avLst>
              <a:gd name="adj" fmla="val 9583"/>
            </a:avLst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0">
                <a:srgbClr val="C4D6EB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433638" y="3593430"/>
            <a:ext cx="4038600" cy="228600"/>
            <a:chOff x="1392" y="1536"/>
            <a:chExt cx="2544" cy="144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1536" y="1608"/>
              <a:ext cx="2400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gray">
            <a:xfrm>
              <a:off x="1392" y="15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433638" y="4460205"/>
            <a:ext cx="4038600" cy="228600"/>
            <a:chOff x="1392" y="1848"/>
            <a:chExt cx="2544" cy="144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2400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9"/>
          <p:cNvGrpSpPr>
            <a:grpSpLocks/>
          </p:cNvGrpSpPr>
          <p:nvPr/>
        </p:nvGrpSpPr>
        <p:grpSpPr bwMode="auto">
          <a:xfrm>
            <a:off x="2443163" y="5216624"/>
            <a:ext cx="4038600" cy="228600"/>
            <a:chOff x="1392" y="2775"/>
            <a:chExt cx="2544" cy="144"/>
          </a:xfrm>
        </p:grpSpPr>
        <p:sp>
          <p:nvSpPr>
            <p:cNvPr id="12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2400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865438" y="3336255"/>
            <a:ext cx="2979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init(FilterConfig filterConfig)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855913" y="4004593"/>
            <a:ext cx="48847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doFilter(ServletRequest request,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        ServletResponse response,FilterChain chain)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2925763" y="4931321"/>
            <a:ext cx="1885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destroy()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8.1.1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49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pic>
        <p:nvPicPr>
          <p:cNvPr id="11" name="Picture 31" descr="C:\Users\admin\Desktop\201777-12062Q130241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014" y="1484784"/>
            <a:ext cx="4105178" cy="2743484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28"/>
          <p:cNvSpPr txBox="1">
            <a:spLocks noChangeArrowheads="1"/>
          </p:cNvSpPr>
          <p:nvPr/>
        </p:nvSpPr>
        <p:spPr bwMode="auto">
          <a:xfrm>
            <a:off x="3682502" y="2452657"/>
            <a:ext cx="2295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36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举个例子</a:t>
            </a:r>
          </a:p>
        </p:txBody>
      </p:sp>
      <p:sp>
        <p:nvSpPr>
          <p:cNvPr id="13" name="矩形 29"/>
          <p:cNvSpPr>
            <a:spLocks noChangeArrowheads="1"/>
          </p:cNvSpPr>
          <p:nvPr/>
        </p:nvSpPr>
        <p:spPr bwMode="auto">
          <a:xfrm>
            <a:off x="4247652" y="3207623"/>
            <a:ext cx="1543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BFBFBF"/>
                </a:solidFill>
              </a:rPr>
              <a:t>For example</a:t>
            </a:r>
            <a:endParaRPr lang="zh-CN" altLang="en-US">
              <a:solidFill>
                <a:srgbClr val="BFBFBF"/>
              </a:solidFill>
            </a:endParaRPr>
          </a:p>
        </p:txBody>
      </p:sp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683568" y="5373216"/>
            <a:ext cx="7686675" cy="369332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zh-CN" altLang="en-US" smtClean="0"/>
              <a:t>案例：</a:t>
            </a:r>
            <a:r>
              <a:rPr lang="zh-CN" altLang="en-US" kern="0">
                <a:latin typeface="Times New Roman" panose="02020603050405020304" pitchFamily="18" charset="0"/>
                <a:cs typeface="Times New Roman" panose="02020603050405020304" pitchFamily="18" charset="0"/>
              </a:rPr>
              <a:t>实现第一个</a:t>
            </a:r>
            <a:r>
              <a:rPr lang="en-US" altLang="zh-CN" kern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kern="0">
                <a:latin typeface="Times New Roman" panose="02020603050405020304" pitchFamily="18" charset="0"/>
                <a:cs typeface="Times New Roman" panose="02020603050405020304" pitchFamily="18" charset="0"/>
              </a:rPr>
              <a:t>程序案例代码请参见教材</a:t>
            </a:r>
            <a:r>
              <a:rPr lang="en-US" altLang="zh-CN" kern="0">
                <a:latin typeface="Times New Roman" panose="02020603050405020304" pitchFamily="18" charset="0"/>
                <a:cs typeface="Times New Roman" panose="02020603050405020304" pitchFamily="18" charset="0"/>
              </a:rPr>
              <a:t>8.1.2</a:t>
            </a:r>
            <a:r>
              <a:rPr lang="zh-CN" altLang="en-US" kern="0">
                <a:latin typeface="Times New Roman" panose="02020603050405020304" pitchFamily="18" charset="0"/>
                <a:cs typeface="Times New Roman" panose="02020603050405020304" pitchFamily="18" charset="0"/>
              </a:rPr>
              <a:t>小节案例</a:t>
            </a:r>
            <a:endParaRPr lang="zh-CN" alt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602461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8.1.2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实现第一个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程序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51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10"/>
          <p:cNvSpPr>
            <a:spLocks noChangeArrowheads="1"/>
          </p:cNvSpPr>
          <p:nvPr/>
        </p:nvSpPr>
        <p:spPr bwMode="auto">
          <a:xfrm>
            <a:off x="838200" y="1196752"/>
            <a:ext cx="7686675" cy="455253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拦截的资源需要在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web.xml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文件中进行配置，即</a:t>
            </a:r>
            <a:r>
              <a:rPr lang="en-US" altLang="zh-CN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矩形 61"/>
          <p:cNvSpPr/>
          <p:nvPr/>
        </p:nvSpPr>
        <p:spPr>
          <a:xfrm>
            <a:off x="2751138" y="3192239"/>
            <a:ext cx="796925" cy="1477963"/>
          </a:xfrm>
          <a:custGeom>
            <a:avLst/>
            <a:gdLst>
              <a:gd name="connsiteX0" fmla="*/ 0 w 1368152"/>
              <a:gd name="connsiteY0" fmla="*/ 0 h 2160240"/>
              <a:gd name="connsiteX1" fmla="*/ 1368152 w 1368152"/>
              <a:gd name="connsiteY1" fmla="*/ 0 h 2160240"/>
              <a:gd name="connsiteX2" fmla="*/ 1368152 w 1368152"/>
              <a:gd name="connsiteY2" fmla="*/ 2160240 h 2160240"/>
              <a:gd name="connsiteX3" fmla="*/ 0 w 1368152"/>
              <a:gd name="connsiteY3" fmla="*/ 2160240 h 2160240"/>
              <a:gd name="connsiteX4" fmla="*/ 0 w 1368152"/>
              <a:gd name="connsiteY4" fmla="*/ 0 h 2160240"/>
              <a:gd name="connsiteX0" fmla="*/ 1368152 w 1459592"/>
              <a:gd name="connsiteY0" fmla="*/ 0 h 2160240"/>
              <a:gd name="connsiteX1" fmla="*/ 1368152 w 1459592"/>
              <a:gd name="connsiteY1" fmla="*/ 2160240 h 2160240"/>
              <a:gd name="connsiteX2" fmla="*/ 0 w 1459592"/>
              <a:gd name="connsiteY2" fmla="*/ 2160240 h 2160240"/>
              <a:gd name="connsiteX3" fmla="*/ 0 w 1459592"/>
              <a:gd name="connsiteY3" fmla="*/ 0 h 2160240"/>
              <a:gd name="connsiteX4" fmla="*/ 1459592 w 1459592"/>
              <a:gd name="connsiteY4" fmla="*/ 91440 h 2160240"/>
              <a:gd name="connsiteX0" fmla="*/ 1368152 w 1459592"/>
              <a:gd name="connsiteY0" fmla="*/ 0 h 2160240"/>
              <a:gd name="connsiteX1" fmla="*/ 1368152 w 1459592"/>
              <a:gd name="connsiteY1" fmla="*/ 2160240 h 2160240"/>
              <a:gd name="connsiteX2" fmla="*/ 0 w 1459592"/>
              <a:gd name="connsiteY2" fmla="*/ 2160240 h 2160240"/>
              <a:gd name="connsiteX3" fmla="*/ 0 w 1459592"/>
              <a:gd name="connsiteY3" fmla="*/ 0 h 2160240"/>
              <a:gd name="connsiteX4" fmla="*/ 1459592 w 1459592"/>
              <a:gd name="connsiteY4" fmla="*/ 1129 h 2160240"/>
              <a:gd name="connsiteX0" fmla="*/ 1368152 w 1459592"/>
              <a:gd name="connsiteY0" fmla="*/ 2160240 h 2160240"/>
              <a:gd name="connsiteX1" fmla="*/ 0 w 1459592"/>
              <a:gd name="connsiteY1" fmla="*/ 2160240 h 2160240"/>
              <a:gd name="connsiteX2" fmla="*/ 0 w 1459592"/>
              <a:gd name="connsiteY2" fmla="*/ 0 h 2160240"/>
              <a:gd name="connsiteX3" fmla="*/ 1459592 w 1459592"/>
              <a:gd name="connsiteY3" fmla="*/ 1129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9592" h="2160240">
                <a:moveTo>
                  <a:pt x="1368152" y="2160240"/>
                </a:moveTo>
                <a:lnTo>
                  <a:pt x="0" y="2160240"/>
                </a:lnTo>
                <a:lnTo>
                  <a:pt x="0" y="0"/>
                </a:lnTo>
                <a:lnTo>
                  <a:pt x="1459592" y="1129"/>
                </a:lnTo>
              </a:path>
            </a:pathLst>
          </a:custGeom>
          <a:noFill/>
          <a:ln w="25400" cap="flat" cmpd="sng" algn="ctr">
            <a:solidFill>
              <a:sysClr val="window" lastClr="FFFFFF">
                <a:lumMod val="50000"/>
              </a:sysClr>
            </a:solidFill>
            <a:prstDash val="dashDot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74228" y="2559436"/>
            <a:ext cx="4226164" cy="1198404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79862" y="2658839"/>
            <a:ext cx="3976513" cy="1066800"/>
          </a:xfrm>
          <a:prstGeom prst="rect">
            <a:avLst/>
          </a:prstGeom>
          <a:solidFill>
            <a:srgbClr val="ADDFE9"/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38649" y="2690589"/>
            <a:ext cx="3343275" cy="93503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35313" y="2776314"/>
            <a:ext cx="1171575" cy="831850"/>
          </a:xfrm>
          <a:prstGeom prst="rect">
            <a:avLst/>
          </a:prstGeom>
          <a:gradFill flip="none" rotWithShape="1">
            <a:gsLst>
              <a:gs pos="100000">
                <a:srgbClr val="61C9D1"/>
              </a:gs>
              <a:gs pos="0">
                <a:srgbClr val="85E6EB"/>
              </a:gs>
              <a:gs pos="12000">
                <a:srgbClr val="279BA7"/>
              </a:gs>
            </a:gsLst>
            <a:lin ang="5400000" scaled="1"/>
            <a:tileRect/>
          </a:gra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491038" y="2777902"/>
            <a:ext cx="3290886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使用通配符“*”来实现让</a:t>
            </a:r>
            <a:r>
              <a:rPr lang="zh-CN" altLang="en-US" sz="1600" smtClean="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过滤器拦截</a:t>
            </a:r>
            <a:r>
              <a:rPr lang="zh-CN" altLang="en-US" sz="16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所有的请求访问</a:t>
            </a:r>
            <a:endParaRPr lang="en-US" altLang="zh-CN" sz="1600">
              <a:solidFill>
                <a:srgbClr val="7F7F7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171825" y="2896964"/>
            <a:ext cx="1147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拦截用户所有请求</a:t>
            </a:r>
          </a:p>
        </p:txBody>
      </p:sp>
      <p:sp>
        <p:nvSpPr>
          <p:cNvPr id="11" name="矩形 10"/>
          <p:cNvSpPr/>
          <p:nvPr/>
        </p:nvSpPr>
        <p:spPr>
          <a:xfrm>
            <a:off x="3888708" y="3929855"/>
            <a:ext cx="4211684" cy="1472184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05263" y="4054252"/>
            <a:ext cx="3951112" cy="1266825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38650" y="4108227"/>
            <a:ext cx="3343274" cy="1112837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59125" y="4082827"/>
            <a:ext cx="1173163" cy="831850"/>
          </a:xfrm>
          <a:prstGeom prst="rect">
            <a:avLst/>
          </a:prstGeom>
          <a:gradFill flip="none" rotWithShape="1">
            <a:gsLst>
              <a:gs pos="0">
                <a:srgbClr val="86ABE6"/>
              </a:gs>
              <a:gs pos="93000">
                <a:srgbClr val="86ABE6"/>
              </a:gs>
              <a:gs pos="11000">
                <a:srgbClr val="4F81BD">
                  <a:lumMod val="75000"/>
                </a:srgbClr>
              </a:gs>
            </a:gsLst>
            <a:lin ang="5400000" scaled="1"/>
            <a:tileRect/>
          </a:gra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5400000" algn="t" rotWithShape="0">
              <a:prstClr val="black">
                <a:alpha val="57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197225" y="4205064"/>
            <a:ext cx="1168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拦截不同方式请求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38650" y="4081239"/>
            <a:ext cx="3343274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&lt;filter-mapping&gt;</a:t>
            </a:r>
            <a:r>
              <a:rPr lang="zh-CN" altLang="en-US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元素中有一个特殊的子元素</a:t>
            </a:r>
            <a:r>
              <a:rPr lang="en-US" altLang="zh-CN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&lt;dispatcher&gt;</a:t>
            </a:r>
            <a:r>
              <a:rPr lang="zh-CN" altLang="en-US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，该元素用于指定过滤器所拦截的资源被</a:t>
            </a:r>
            <a:r>
              <a:rPr lang="en-US" altLang="zh-CN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Servlet</a:t>
            </a:r>
            <a:r>
              <a:rPr lang="zh-CN" altLang="en-US" sz="1400">
                <a:solidFill>
                  <a:srgbClr val="7F7F7F"/>
                </a:solidFill>
                <a:latin typeface="黑体" pitchFamily="49" charset="-122"/>
                <a:ea typeface="黑体" pitchFamily="49" charset="-122"/>
              </a:rPr>
              <a:t>容器调用的方式</a:t>
            </a:r>
            <a:endParaRPr lang="en-US" altLang="zh-CN" sz="1400">
              <a:solidFill>
                <a:srgbClr val="7F7F7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787227" y="3641249"/>
            <a:ext cx="20565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Filter</a:t>
            </a:r>
            <a:r>
              <a:rPr lang="zh-CN" altLang="en-US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的映射</a:t>
            </a:r>
            <a:r>
              <a:rPr lang="zh-CN" altLang="en-US" b="1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endParaRPr lang="zh-CN" altLang="en-US" b="1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076056" y="4437112"/>
            <a:ext cx="1060425" cy="233090"/>
          </a:xfrm>
          <a:prstGeom prst="roundRect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云形标注 18"/>
          <p:cNvSpPr/>
          <p:nvPr/>
        </p:nvSpPr>
        <p:spPr>
          <a:xfrm>
            <a:off x="4900414" y="2085132"/>
            <a:ext cx="3920058" cy="2000063"/>
          </a:xfrm>
          <a:prstGeom prst="cloudCallou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394921" y="2435299"/>
            <a:ext cx="3160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&lt;dispatcher&gt;</a:t>
            </a:r>
            <a:r>
              <a:rPr lang="zh-CN" altLang="en-US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元素的值共有四个：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REQUEST</a:t>
            </a:r>
            <a:r>
              <a:rPr lang="zh-CN" altLang="en-US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INCLUDE</a:t>
            </a:r>
            <a:r>
              <a:rPr lang="zh-CN" altLang="en-US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FORWARD</a:t>
            </a:r>
            <a:r>
              <a:rPr lang="zh-CN" altLang="en-US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ERROR</a:t>
            </a:r>
            <a:r>
              <a:rPr lang="zh-CN" altLang="en-US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838200" y="5517232"/>
            <a:ext cx="7686675" cy="369332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mtClean="0"/>
              <a:t>案例：</a:t>
            </a:r>
            <a:r>
              <a:rPr lang="zh-CN" altLang="zh-CN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演示</a:t>
            </a:r>
            <a:r>
              <a:rPr lang="en-US" altLang="zh-C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zh-CN" altLang="zh-C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对转发请求的拦截</a:t>
            </a:r>
            <a:r>
              <a:rPr lang="zh-CN" altLang="zh-CN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效果</a:t>
            </a:r>
            <a:r>
              <a:rPr lang="zh-CN" altLang="en-US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案例请参见教材</a:t>
            </a:r>
            <a:r>
              <a:rPr lang="en-US" altLang="zh-CN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8.1.3</a:t>
            </a:r>
            <a:r>
              <a:rPr lang="zh-CN" altLang="en-US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小节内容</a:t>
            </a:r>
            <a:endParaRPr lang="zh-CN" altLang="zh-CN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8200" y="1772816"/>
            <a:ext cx="3281668" cy="4552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>
                <a:solidFill>
                  <a:srgbClr val="01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solidFill>
                  <a:srgbClr val="01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的映射方式可分为两种</a:t>
            </a:r>
          </a:p>
        </p:txBody>
      </p:sp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602461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8.1.3  Filter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映射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730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/>
      <p:bldP spid="10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98488" y="1268760"/>
            <a:ext cx="8088312" cy="1338828"/>
          </a:xfrm>
          <a:prstGeom prst="rect">
            <a:avLst/>
          </a:prstGeom>
          <a:solidFill>
            <a:schemeClr val="bg1"/>
          </a:solidFill>
          <a:ln w="19050">
            <a:solidFill>
              <a:srgbClr val="0066A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应用程序中可以注册多个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程序，每个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程序都可以针对某一个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进行拦截。如果多个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程序都对同一个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进行拦截，那么这些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就会组成一个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链（也叫过滤器链）。</a:t>
            </a:r>
          </a:p>
        </p:txBody>
      </p:sp>
      <p:pic>
        <p:nvPicPr>
          <p:cNvPr id="4" name="图片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3072160"/>
            <a:ext cx="110490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5" y="2857847"/>
            <a:ext cx="4994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3342035"/>
            <a:ext cx="1209675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313" y="3351560"/>
            <a:ext cx="12350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3342035"/>
            <a:ext cx="8731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>
            <a:off x="2266950" y="3562697"/>
            <a:ext cx="8953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>
            <a:off x="4371975" y="3562697"/>
            <a:ext cx="541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cxnSpLocks noChangeShapeType="1"/>
          </p:cNvCxnSpPr>
          <p:nvPr/>
        </p:nvCxnSpPr>
        <p:spPr bwMode="auto">
          <a:xfrm>
            <a:off x="6148388" y="3562697"/>
            <a:ext cx="5238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 flipH="1">
            <a:off x="6076950" y="4000847"/>
            <a:ext cx="59531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flipH="1">
            <a:off x="4371975" y="4000847"/>
            <a:ext cx="541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>
            <a:cxnSpLocks noChangeShapeType="1"/>
          </p:cNvCxnSpPr>
          <p:nvPr/>
        </p:nvCxnSpPr>
        <p:spPr bwMode="auto">
          <a:xfrm flipH="1">
            <a:off x="2266950" y="4000847"/>
            <a:ext cx="8953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圆角矩形标注 14"/>
          <p:cNvSpPr>
            <a:spLocks noChangeArrowheads="1"/>
          </p:cNvSpPr>
          <p:nvPr/>
        </p:nvSpPr>
        <p:spPr bwMode="auto">
          <a:xfrm>
            <a:off x="2009775" y="4769197"/>
            <a:ext cx="5648325" cy="1231900"/>
          </a:xfrm>
          <a:prstGeom prst="wedgeRoundRectCallout">
            <a:avLst>
              <a:gd name="adj1" fmla="val -23264"/>
              <a:gd name="adj2" fmla="val -69537"/>
              <a:gd name="adj3" fmla="val 16667"/>
            </a:avLst>
          </a:prstGeom>
          <a:solidFill>
            <a:srgbClr val="0170C0"/>
          </a:solidFill>
          <a:ln w="28575" algn="ctr">
            <a:noFill/>
            <a:round/>
            <a:headEnd/>
            <a:tailEnd/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链用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FilterChain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对象来表示，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FilterChain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对象中有一个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doFilter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方法，该方法作用就是让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链上的当前过滤器放行，请求进入下一个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838200" y="5517232"/>
            <a:ext cx="7686675" cy="338554"/>
          </a:xfrm>
          <a:prstGeom prst="rect">
            <a:avLst/>
          </a:prstGeom>
          <a:solidFill>
            <a:srgbClr val="E7F4FF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600" smtClean="0"/>
              <a:t>案例：</a:t>
            </a:r>
            <a:r>
              <a:rPr lang="zh-CN" altLang="zh-CN" sz="1600" smtClean="0"/>
              <a:t>如何</a:t>
            </a:r>
            <a:r>
              <a:rPr lang="zh-CN" altLang="zh-CN" sz="1600"/>
              <a:t>使用</a:t>
            </a:r>
            <a:r>
              <a:rPr lang="en-US" altLang="zh-CN" sz="1600"/>
              <a:t>Filter</a:t>
            </a:r>
            <a:r>
              <a:rPr lang="zh-CN" altLang="zh-CN" sz="1600"/>
              <a:t>链拦截</a:t>
            </a:r>
            <a:r>
              <a:rPr lang="en-US" altLang="zh-CN" sz="1600"/>
              <a:t>MyServlet</a:t>
            </a:r>
            <a:r>
              <a:rPr lang="zh-CN" altLang="zh-CN" sz="1600"/>
              <a:t>的同一个</a:t>
            </a:r>
            <a:r>
              <a:rPr lang="zh-CN" altLang="zh-CN" sz="1600" smtClean="0"/>
              <a:t>请求</a:t>
            </a:r>
            <a:r>
              <a:rPr lang="zh-CN" altLang="en-US" sz="1600" smtClean="0"/>
              <a:t>案例</a:t>
            </a:r>
            <a:r>
              <a:rPr lang="zh-CN" altLang="en-US" sz="160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请参见教材</a:t>
            </a:r>
            <a:r>
              <a:rPr lang="en-US" altLang="zh-CN" sz="160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8.1.4</a:t>
            </a:r>
            <a:r>
              <a:rPr lang="zh-CN" altLang="en-US" sz="160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小节内容</a:t>
            </a:r>
            <a:endParaRPr lang="zh-CN" altLang="zh-CN" sz="16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>
            <a:spLocks noChangeArrowheads="1"/>
          </p:cNvSpPr>
          <p:nvPr/>
        </p:nvSpPr>
        <p:spPr bwMode="auto">
          <a:xfrm>
            <a:off x="1643733" y="389681"/>
            <a:ext cx="602461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8.1.4  Filter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815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5" grpId="1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7"/>
          <p:cNvSpPr>
            <a:spLocks noChangeArrowheads="1"/>
          </p:cNvSpPr>
          <p:nvPr/>
        </p:nvSpPr>
        <p:spPr bwMode="auto">
          <a:xfrm>
            <a:off x="727075" y="1196752"/>
            <a:ext cx="7521575" cy="1153586"/>
          </a:xfrm>
          <a:prstGeom prst="rect">
            <a:avLst/>
          </a:prstGeom>
          <a:solidFill>
            <a:schemeClr val="bg1"/>
          </a:solidFill>
          <a:ln w="19050">
            <a:solidFill>
              <a:srgbClr val="0066A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为了获取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web.xml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文件中的配置信息，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Servlet API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提供了一个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FilterConfig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接口，该接口封装了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web.xml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中的所有注册信息，并且提供了一系列获取这些配置信息的方法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83039"/>
              </p:ext>
            </p:extLst>
          </p:nvPr>
        </p:nvGraphicFramePr>
        <p:xfrm>
          <a:off x="727075" y="2494354"/>
          <a:ext cx="7521575" cy="3538693"/>
        </p:xfrm>
        <a:graphic>
          <a:graphicData uri="http://schemas.openxmlformats.org/drawingml/2006/table">
            <a:tbl>
              <a:tblPr/>
              <a:tblGrid>
                <a:gridCol w="3340869"/>
                <a:gridCol w="4180706"/>
              </a:tblGrid>
              <a:tr h="3687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779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getFilterName ()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getFilterName()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方法用于返回在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web.xml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文件中为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Filter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所设置的名称，也就是返回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&lt;filter-name&gt;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元素的设置值。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495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ServletContext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getServletContext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getServletContext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方法用于返回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FilterConfig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对象中所包装的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ServletContext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对象的引用。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9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getInitParameter(String name)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getInitParameter(String name)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方法用于返回在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web.xml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文件中为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Filter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所设置的某个名称的初始化参数值，如果指定名称的初始化参数不存在，则返回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null</a:t>
                      </a:r>
                      <a:r>
                        <a:rPr lang="zh-CN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79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Enumeration getInitParameterNames()</a:t>
                      </a:r>
                      <a:endParaRPr lang="zh-C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getInitParameterNames()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方法用于返回一个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Enumeration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集合对象，该集合对象中包含在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web.xml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文件中为当前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Filter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设置的所有初始化参数的名称。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02461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8.1.5  Filter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464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223548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20613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964593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lang="en-US" altLang="zh-CN" b="1" kern="0">
                <a:solidFill>
                  <a:sysClr val="window" lastClr="FFFFFF"/>
                </a:solidFill>
                <a:latin typeface="Arial"/>
                <a:ea typeface="宋体"/>
              </a:rPr>
              <a:t>8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-1】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209261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579148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2852936"/>
            <a:ext cx="3671887" cy="1725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User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实现登录页面和首页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创建过滤器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配置映射信息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运行项目，查看结果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71800" y="2470759"/>
            <a:ext cx="2860398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学会</a:t>
            </a:r>
            <a:r>
              <a:rPr lang="zh-CN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Filter</a:t>
            </a:r>
            <a:r>
              <a:rPr lang="zh-CN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实现用户的自动登录功能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8-1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使用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实现用户自动登录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987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  <a:ea typeface="宋体"/>
              </a:rPr>
              <a:t>8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-2】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2852936"/>
            <a:ext cx="3671887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form.jsp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页面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创建过滤器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配置映射信息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启动项目，查看结果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2706510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学会如何使用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Filter</a:t>
            </a:r>
            <a:r>
              <a:rPr lang="zh-CN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统一全站编码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8-2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使用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Filter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实现统一全站编码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640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755576" y="3501008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097740" y="2627620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8.1    Filter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过滤器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1097740" y="3635732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8.2    Listener</a:t>
            </a:r>
            <a:r>
              <a:rPr lang="zh-CN" altLang="en-US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监听器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12810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492896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477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701209" y="836712"/>
            <a:ext cx="4950911" cy="3168352"/>
            <a:chOff x="2312388" y="534744"/>
            <a:chExt cx="7170737" cy="4635500"/>
          </a:xfrm>
        </p:grpSpPr>
        <p:pic>
          <p:nvPicPr>
            <p:cNvPr id="3" name="Picture 6" descr="云朵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2388" y="534744"/>
              <a:ext cx="7170737" cy="463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4268424" y="1904324"/>
              <a:ext cx="4043362" cy="585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宋体" panose="02010600030101010101" pitchFamily="2" charset="-122"/>
                </a:rPr>
                <a:t>什么</a:t>
              </a:r>
              <a:r>
                <a:rPr lang="zh-CN" altLang="en-US" sz="2000" b="1" smtClean="0">
                  <a:solidFill>
                    <a:schemeClr val="bg1"/>
                  </a:solidFill>
                  <a:latin typeface="宋体" panose="02010600030101010101" pitchFamily="2" charset="-122"/>
                </a:rPr>
                <a:t>是事件监听器？</a:t>
              </a:r>
              <a:endParaRPr lang="zh-CN" altLang="en-US" sz="2000" b="1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</p:grpSp>
      <p:pic>
        <p:nvPicPr>
          <p:cNvPr id="5" name="Picture 8" descr="问小人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79" y="2276872"/>
            <a:ext cx="2165305" cy="223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7" name="剪去对角的矩形 6"/>
          <p:cNvSpPr/>
          <p:nvPr/>
        </p:nvSpPr>
        <p:spPr bwMode="auto">
          <a:xfrm>
            <a:off x="5194969" y="1555130"/>
            <a:ext cx="3211513" cy="2547937"/>
          </a:xfrm>
          <a:prstGeom prst="snip2DiagRect">
            <a:avLst/>
          </a:prstGeom>
          <a:blipFill>
            <a:blip r:embed="rId6"/>
            <a:tile tx="0" ty="0" sx="100000" sy="100000" flip="none" algn="tl"/>
          </a:blip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pic>
        <p:nvPicPr>
          <p:cNvPr id="8" name="Picture 18" descr="C:\Users\admin\Desktop\4499633_211213976000_2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641056"/>
            <a:ext cx="1800225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289199" y="5347494"/>
            <a:ext cx="1636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latin typeface="宋体" panose="02010600030101010101" pitchFamily="2" charset="-122"/>
              </a:rPr>
              <a:t>鼠标点击事件</a:t>
            </a:r>
          </a:p>
        </p:txBody>
      </p:sp>
      <p:pic>
        <p:nvPicPr>
          <p:cNvPr id="10" name="Picture 19" descr="C:\Users\admin\Desktop\240449-15031F9532528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127" y="4365104"/>
            <a:ext cx="211455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62426" y="5291361"/>
            <a:ext cx="1638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latin typeface="宋体" panose="02010600030101010101" pitchFamily="2" charset="-122"/>
              </a:rPr>
              <a:t>键盘按下事件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5276726" y="1721023"/>
            <a:ext cx="304800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在程序开发中，经常需要对某些事件进行监听，如监听</a:t>
            </a:r>
            <a:r>
              <a:rPr lang="zh-CN" altLang="en-US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鼠标点击事件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监听键盘按下事件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等，此时就需要使用</a:t>
            </a:r>
            <a:r>
              <a:rPr lang="zh-CN" altLang="en-US" sz="200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事件监听器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事件监听器概述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6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750888" y="1689000"/>
            <a:ext cx="7778750" cy="858377"/>
          </a:xfrm>
          <a:prstGeom prst="rect">
            <a:avLst/>
          </a:prstGeom>
          <a:solidFill>
            <a:schemeClr val="bg1"/>
          </a:solidFill>
          <a:ln w="19050">
            <a:solidFill>
              <a:srgbClr val="01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事件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监听器用于对程序中发生的事件进行监听，在监听的过程</a:t>
            </a: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中会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涉及几个重要组成部分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grayWhite">
          <a:xfrm>
            <a:off x="1322388" y="2970113"/>
            <a:ext cx="6635750" cy="3051175"/>
          </a:xfrm>
          <a:prstGeom prst="roundRect">
            <a:avLst>
              <a:gd name="adj" fmla="val 9583"/>
            </a:avLst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0">
                <a:srgbClr val="C4D6EB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014538" y="3390800"/>
            <a:ext cx="4967287" cy="228600"/>
            <a:chOff x="1392" y="1536"/>
            <a:chExt cx="3129" cy="144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536" y="1608"/>
              <a:ext cx="2985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gray">
            <a:xfrm>
              <a:off x="1392" y="15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2014538" y="4086125"/>
            <a:ext cx="4967287" cy="228600"/>
            <a:chOff x="1392" y="1848"/>
            <a:chExt cx="3129" cy="144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2985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19"/>
          <p:cNvGrpSpPr>
            <a:grpSpLocks/>
          </p:cNvGrpSpPr>
          <p:nvPr/>
        </p:nvGrpSpPr>
        <p:grpSpPr bwMode="auto">
          <a:xfrm>
            <a:off x="2024063" y="4757638"/>
            <a:ext cx="4957762" cy="228600"/>
            <a:chOff x="1392" y="2775"/>
            <a:chExt cx="3123" cy="144"/>
          </a:xfrm>
        </p:grpSpPr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2979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407345" y="3151088"/>
            <a:ext cx="2452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zh-CN" b="1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事件</a:t>
            </a:r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Event</a:t>
            </a:r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408238" y="3830538"/>
            <a:ext cx="882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事件源</a:t>
            </a:r>
            <a:endParaRPr lang="zh-CN" altLang="zh-CN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390775" y="5200550"/>
            <a:ext cx="168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事件处理器</a:t>
            </a:r>
            <a:endParaRPr lang="zh-CN" altLang="en-US" sz="1600">
              <a:solidFill>
                <a:schemeClr val="bg1"/>
              </a:solidFill>
            </a:endParaRPr>
          </a:p>
        </p:txBody>
      </p: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2028825" y="5456138"/>
            <a:ext cx="4953000" cy="228600"/>
            <a:chOff x="1392" y="2775"/>
            <a:chExt cx="3120" cy="144"/>
          </a:xfrm>
        </p:grpSpPr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2976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400300" y="4514750"/>
            <a:ext cx="2747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事件监听器（</a:t>
            </a:r>
            <a:r>
              <a:rPr lang="en-US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Listener</a:t>
            </a:r>
            <a:r>
              <a:rPr lang="zh-CN" altLang="zh-CN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  <a:endParaRPr lang="zh-CN" altLang="zh-CN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0" name="云形标注 19"/>
          <p:cNvSpPr>
            <a:spLocks noChangeArrowheads="1"/>
          </p:cNvSpPr>
          <p:nvPr/>
        </p:nvSpPr>
        <p:spPr bwMode="auto">
          <a:xfrm>
            <a:off x="4232275" y="1900138"/>
            <a:ext cx="3244850" cy="1435100"/>
          </a:xfrm>
          <a:prstGeom prst="cloudCallout">
            <a:avLst>
              <a:gd name="adj1" fmla="val -63972"/>
              <a:gd name="adj2" fmla="val 55852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4491038" y="2138263"/>
            <a:ext cx="27257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latin typeface="黑体" pitchFamily="49" charset="-122"/>
                <a:ea typeface="黑体" pitchFamily="49" charset="-122"/>
              </a:rPr>
              <a:t>用户的一个操作，如点击一个按钮、调用一个方法、创建一个对象等。</a:t>
            </a:r>
          </a:p>
        </p:txBody>
      </p:sp>
      <p:sp>
        <p:nvSpPr>
          <p:cNvPr id="22" name="云形标注 21"/>
          <p:cNvSpPr>
            <a:spLocks noChangeArrowheads="1"/>
          </p:cNvSpPr>
          <p:nvPr/>
        </p:nvSpPr>
        <p:spPr bwMode="auto">
          <a:xfrm>
            <a:off x="3824288" y="3100288"/>
            <a:ext cx="3246437" cy="1100137"/>
          </a:xfrm>
          <a:prstGeom prst="cloudCallout">
            <a:avLst>
              <a:gd name="adj1" fmla="val -64560"/>
              <a:gd name="adj2" fmla="val 40273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1600">
                <a:latin typeface="黑体" pitchFamily="49" charset="-122"/>
                <a:ea typeface="黑体" pitchFamily="49" charset="-122"/>
              </a:rPr>
              <a:t>产生事件的对象。</a:t>
            </a:r>
          </a:p>
        </p:txBody>
      </p:sp>
      <p:sp>
        <p:nvSpPr>
          <p:cNvPr id="23" name="云形标注 22"/>
          <p:cNvSpPr>
            <a:spLocks noChangeArrowheads="1"/>
          </p:cNvSpPr>
          <p:nvPr/>
        </p:nvSpPr>
        <p:spPr bwMode="auto">
          <a:xfrm>
            <a:off x="5126038" y="3630513"/>
            <a:ext cx="2905125" cy="1435100"/>
          </a:xfrm>
          <a:prstGeom prst="cloudCallout">
            <a:avLst>
              <a:gd name="adj1" fmla="val -57088"/>
              <a:gd name="adj2" fmla="val 21338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1600">
                <a:latin typeface="黑体" pitchFamily="49" charset="-122"/>
                <a:ea typeface="黑体" pitchFamily="49" charset="-122"/>
              </a:rPr>
              <a:t>负责监听发生在</a:t>
            </a:r>
          </a:p>
          <a:p>
            <a:pPr eaLnBrk="1" hangingPunct="1"/>
            <a:r>
              <a:rPr lang="zh-CN" altLang="en-US" sz="1600">
                <a:latin typeface="黑体" pitchFamily="49" charset="-122"/>
                <a:ea typeface="黑体" pitchFamily="49" charset="-122"/>
              </a:rPr>
              <a:t>事件源上的事件。</a:t>
            </a:r>
          </a:p>
        </p:txBody>
      </p:sp>
      <p:sp>
        <p:nvSpPr>
          <p:cNvPr id="24" name="云形标注 23"/>
          <p:cNvSpPr>
            <a:spLocks noChangeArrowheads="1"/>
          </p:cNvSpPr>
          <p:nvPr/>
        </p:nvSpPr>
        <p:spPr bwMode="auto">
          <a:xfrm>
            <a:off x="4352925" y="4314725"/>
            <a:ext cx="3244850" cy="1435100"/>
          </a:xfrm>
          <a:prstGeom prst="cloudCallout">
            <a:avLst>
              <a:gd name="adj1" fmla="val -69843"/>
              <a:gd name="adj2" fmla="val 30630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zh-CN" sz="1600">
                <a:latin typeface="黑体" pitchFamily="49" charset="-122"/>
                <a:ea typeface="黑体" pitchFamily="49" charset="-122"/>
              </a:rPr>
              <a:t>监听器的成员方法，当事件发生的时候会触发对应的处理器（成员方法）。</a:t>
            </a:r>
            <a:endParaRPr lang="zh-CN" altLang="en-US" sz="16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事件监听器概述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20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4" grpId="0"/>
      <p:bldP spid="15" grpId="0"/>
      <p:bldP spid="19" grpId="0"/>
      <p:bldP spid="20" grpId="0" animBg="1"/>
      <p:bldP spid="21" grpId="0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030288" y="1844824"/>
            <a:ext cx="694292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20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事件监听器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在进行工作时，可分为几个步骤，具体如下：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114425" y="2711599"/>
            <a:ext cx="2159000" cy="369887"/>
          </a:xfrm>
          <a:prstGeom prst="rect">
            <a:avLst/>
          </a:prstGeom>
          <a:gradFill rotWithShape="0">
            <a:gsLst>
              <a:gs pos="0">
                <a:srgbClr val="00B0F0"/>
              </a:gs>
              <a:gs pos="50000">
                <a:srgbClr val="00B0F0"/>
              </a:gs>
              <a:gs pos="100000">
                <a:srgbClr val="9FD8FF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注册监听器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544888" y="2711599"/>
            <a:ext cx="2159000" cy="369887"/>
          </a:xfrm>
          <a:prstGeom prst="rect">
            <a:avLst/>
          </a:prstGeom>
          <a:gradFill rotWithShape="0">
            <a:gsLst>
              <a:gs pos="0">
                <a:srgbClr val="00B0F0"/>
              </a:gs>
              <a:gs pos="50000">
                <a:srgbClr val="00B0F0"/>
              </a:gs>
              <a:gs pos="100000">
                <a:srgbClr val="9FD8FF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(2)</a:t>
            </a:r>
            <a:r>
              <a:rPr lang="zh-CN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传递事件对象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973763" y="2711599"/>
            <a:ext cx="2159000" cy="369887"/>
          </a:xfrm>
          <a:prstGeom prst="rect">
            <a:avLst/>
          </a:prstGeom>
          <a:gradFill rotWithShape="0">
            <a:gsLst>
              <a:gs pos="0">
                <a:srgbClr val="00B0F0"/>
              </a:gs>
              <a:gs pos="50000">
                <a:srgbClr val="00B0F0"/>
              </a:gs>
              <a:gs pos="100000">
                <a:srgbClr val="9FD8FF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(3)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处理时间源</a:t>
            </a:r>
          </a:p>
        </p:txBody>
      </p:sp>
      <p:sp>
        <p:nvSpPr>
          <p:cNvPr id="6" name="折角形 5"/>
          <p:cNvSpPr/>
          <p:nvPr/>
        </p:nvSpPr>
        <p:spPr>
          <a:xfrm>
            <a:off x="1116013" y="3214836"/>
            <a:ext cx="2159000" cy="2187575"/>
          </a:xfrm>
          <a:prstGeom prst="foldedCorner">
            <a:avLst/>
          </a:prstGeom>
          <a:solidFill>
            <a:srgbClr val="C5E8FF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将监听器绑定到事件源，也就是注册监听器。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折角形 6"/>
          <p:cNvSpPr/>
          <p:nvPr/>
        </p:nvSpPr>
        <p:spPr>
          <a:xfrm>
            <a:off x="3563938" y="3214836"/>
            <a:ext cx="2160587" cy="2187575"/>
          </a:xfrm>
          <a:prstGeom prst="foldedCorner">
            <a:avLst/>
          </a:prstGeom>
          <a:solidFill>
            <a:srgbClr val="D1C7FD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事件发生时会触发监听器的成员方法，即事件处理器，传递事件对象。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6011863" y="3214836"/>
            <a:ext cx="2160587" cy="2254250"/>
          </a:xfrm>
          <a:prstGeom prst="foldedCorner">
            <a:avLst/>
          </a:prstGeom>
          <a:solidFill>
            <a:srgbClr val="CDFFE4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事件处理器通过事件对象获得事件源，并对事件源进行处理。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事件监听器概述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51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90975" y="4676775"/>
            <a:ext cx="4829175" cy="1533525"/>
          </a:xfrm>
          <a:prstGeom prst="rect">
            <a:avLst/>
          </a:prstGeom>
          <a:solidFill>
            <a:srgbClr val="DBBBD3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000500" y="1485900"/>
            <a:ext cx="4829175" cy="1514475"/>
          </a:xfrm>
          <a:prstGeom prst="rect">
            <a:avLst/>
          </a:prstGeom>
          <a:solidFill>
            <a:srgbClr val="EDC6A9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000500" y="3086100"/>
            <a:ext cx="4829175" cy="1428750"/>
          </a:xfrm>
          <a:prstGeom prst="rect">
            <a:avLst/>
          </a:prstGeom>
          <a:solidFill>
            <a:srgbClr val="C6DEB8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4010025" y="1990725"/>
            <a:ext cx="4781550" cy="0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4019550" y="3600450"/>
            <a:ext cx="4772025" cy="0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4019550" y="5314950"/>
            <a:ext cx="4752975" cy="0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019550" y="1566863"/>
            <a:ext cx="46863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</a:rPr>
              <a:t>用于</a:t>
            </a:r>
            <a:r>
              <a:rPr lang="zh-CN" altLang="zh-CN" b="1">
                <a:latin typeface="宋体" panose="02010600030101010101" pitchFamily="2" charset="-122"/>
              </a:rPr>
              <a:t>监听域对象创建和销毁</a:t>
            </a:r>
            <a:r>
              <a:rPr lang="zh-CN" altLang="en-US" b="1">
                <a:latin typeface="宋体" panose="02010600030101010101" pitchFamily="2" charset="-122"/>
              </a:rPr>
              <a:t>的</a:t>
            </a:r>
            <a:r>
              <a:rPr lang="zh-CN" altLang="zh-CN" b="1">
                <a:latin typeface="宋体" panose="02010600030101010101" pitchFamily="2" charset="-122"/>
              </a:rPr>
              <a:t>事件监听器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019550" y="3182938"/>
            <a:ext cx="4819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</a:rPr>
              <a:t>用于</a:t>
            </a:r>
            <a:r>
              <a:rPr lang="zh-CN" altLang="zh-CN" b="1">
                <a:latin typeface="宋体" panose="02010600030101010101" pitchFamily="2" charset="-122"/>
              </a:rPr>
              <a:t>监听域对象属性增加和删除</a:t>
            </a:r>
            <a:r>
              <a:rPr lang="zh-CN" altLang="en-US" b="1">
                <a:latin typeface="宋体" panose="02010600030101010101" pitchFamily="2" charset="-122"/>
              </a:rPr>
              <a:t>的</a:t>
            </a:r>
            <a:r>
              <a:rPr lang="zh-CN" altLang="zh-CN" b="1">
                <a:latin typeface="宋体" panose="02010600030101010101" pitchFamily="2" charset="-122"/>
              </a:rPr>
              <a:t>事件监听器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95738" y="4687888"/>
            <a:ext cx="4905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用于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监听绑定到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HttpSession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域中某个对象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状态的事件监听器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171950" y="2076450"/>
            <a:ext cx="4533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ServletContextListener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HttpSessionListener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ServletRequestListener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zh-CN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133850" y="3629025"/>
            <a:ext cx="4533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ServletContextAttributeListener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HttpSessionAttributeListener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ServletRequestAttributeListener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48138" y="5491163"/>
            <a:ext cx="4533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HttpSessionBindingListener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接口、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HttpSessionActivationListener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右箭头 13"/>
          <p:cNvSpPr/>
          <p:nvPr/>
        </p:nvSpPr>
        <p:spPr bwMode="auto">
          <a:xfrm>
            <a:off x="19050" y="1581150"/>
            <a:ext cx="4314825" cy="4905375"/>
          </a:xfrm>
          <a:prstGeom prst="right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6988" y="2895600"/>
            <a:ext cx="3725862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在开发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应用程序时，也经常会使用事件监听器，这个事件监听器被称为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Servlet</a:t>
            </a:r>
            <a:r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事件监听器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Servlet</a:t>
            </a:r>
            <a:r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事件监听器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一个实现特定接口的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程序，专门用于监听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根据监听事件的不同可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将这些接口</a:t>
            </a:r>
            <a:r>
              <a:rPr lang="zh-CN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分为三类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600" b="1">
              <a:solidFill>
                <a:srgbClr val="009ED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>
            <a:spLocks noChangeArrowheads="1"/>
          </p:cNvSpPr>
          <p:nvPr/>
        </p:nvSpPr>
        <p:spPr bwMode="auto">
          <a:xfrm>
            <a:off x="1643733" y="389681"/>
            <a:ext cx="65286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事件监听器概述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025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4439572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4422159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5180617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  <a:ea typeface="宋体"/>
              </a:rPr>
              <a:t>8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-3】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4425285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795172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2852936"/>
            <a:ext cx="3671887" cy="2003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创建监听器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添加监听器类信息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启动项目，查看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ServletContext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对象创建信息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关闭项目，查看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ServletContext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对象销毁信息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创建测试页面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设置监听超时信息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重启项目，查看结果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2646878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学会如何监听三个域对象的生命周期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8-3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监听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域对象的生命周期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1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lang="en-US" altLang="zh-CN" b="1" kern="0" smtClean="0">
                <a:solidFill>
                  <a:sysClr val="window" lastClr="FFFFFF"/>
                </a:solidFill>
                <a:latin typeface="Arial"/>
                <a:ea typeface="宋体"/>
              </a:rPr>
              <a:t>8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-4】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3125084"/>
            <a:ext cx="3671887" cy="11680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创建测试页面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创建监听器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添加监听信息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启动项目，查看结果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9792" y="2470759"/>
            <a:ext cx="3108543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学会如何使用监听器监听域对象的属性变更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8-4</a:t>
            </a:r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监听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域对象的属性变更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06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768600" y="1556792"/>
            <a:ext cx="5403800" cy="4248472"/>
            <a:chOff x="2488655" y="2668585"/>
            <a:chExt cx="5079460" cy="4508321"/>
          </a:xfrm>
        </p:grpSpPr>
        <p:sp>
          <p:nvSpPr>
            <p:cNvPr id="4" name="圆角矩形 1"/>
            <p:cNvSpPr>
              <a:spLocks noChangeArrowheads="1"/>
            </p:cNvSpPr>
            <p:nvPr/>
          </p:nvSpPr>
          <p:spPr bwMode="auto">
            <a:xfrm>
              <a:off x="2488655" y="2668585"/>
              <a:ext cx="5079460" cy="4508321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rgbClr val="006BA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2627035" y="2745607"/>
              <a:ext cx="4941080" cy="4278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indent="457200">
                <a:lnSpc>
                  <a:spcPct val="20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主要讲解了</a:t>
              </a:r>
              <a:r>
                <a:rPr lang="en-US" altLang="zh-CN" sz="1600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过滤器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1600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Listener</a:t>
              </a:r>
              <a:r>
                <a:rPr lang="zh-CN" altLang="en-US" sz="1600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监听器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的相关知识及其应用，首先依次讲解了什么是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、如何开发一个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程序、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映射、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链和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FilterConfig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接口，然后讲解了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在实际开发中的具体应用。接着讲解了什么是监听器，使读者了解了八种监听器的分类及其作用，最后讲解了监听器在实际开发中的具体应用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457200">
                <a:lnSpc>
                  <a:spcPct val="20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通过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本章的学习，读者能够掌握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Filter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过滤器和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Listener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监听器在开发中的具体应用。</a:t>
              </a:r>
              <a:endParaRPr lang="en-US" altLang="zh-CN" dirty="0">
                <a:latin typeface="+mn-lt"/>
                <a:ea typeface="微软雅黑" pitchFamily="34" charset="-122"/>
              </a:endParaRPr>
            </a:p>
          </p:txBody>
        </p:sp>
      </p:grp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732075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7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简述过滤器的作用。。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Servlet</a:t>
            </a:r>
            <a:r>
              <a:rPr lang="zh-CN" altLang="en-US" sz="2400">
                <a:solidFill>
                  <a:prstClr val="black"/>
                </a:solidFill>
              </a:rPr>
              <a:t>事件监听器的作用。（写出三点</a:t>
            </a:r>
            <a:r>
              <a:rPr lang="zh-CN" altLang="en-US" sz="2400" smtClean="0">
                <a:solidFill>
                  <a:prstClr val="black"/>
                </a:solidFill>
              </a:rPr>
              <a:t>）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marL="571500" lvl="1" indent="-5715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预习作业</a:t>
            </a:r>
            <a:endParaRPr lang="en-US" altLang="zh-CN" sz="2400" b="1" smtClean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 smtClean="0">
                <a:solidFill>
                  <a:prstClr val="black"/>
                </a:solidFill>
              </a:rPr>
              <a:t>JDBC</a:t>
            </a:r>
            <a:r>
              <a:rPr lang="zh-CN" altLang="en-US" sz="2400" smtClean="0">
                <a:solidFill>
                  <a:prstClr val="black"/>
                </a:solidFill>
              </a:rPr>
              <a:t>的概念</a:t>
            </a:r>
            <a:r>
              <a:rPr lang="zh-CN" altLang="en-US" sz="2400">
                <a:solidFill>
                  <a:prstClr val="black"/>
                </a:solidFill>
              </a:rPr>
              <a:t>、</a:t>
            </a:r>
            <a:r>
              <a:rPr lang="zh-CN" altLang="en-US" sz="2400" smtClean="0">
                <a:solidFill>
                  <a:prstClr val="black"/>
                </a:solidFill>
              </a:rPr>
              <a:t>作用以及其常用</a:t>
            </a:r>
            <a:r>
              <a:rPr lang="en-US" altLang="zh-CN" sz="2400" smtClean="0">
                <a:solidFill>
                  <a:prstClr val="black"/>
                </a:solidFill>
              </a:rPr>
              <a:t>API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solidFill>
                  <a:prstClr val="black"/>
                </a:solidFill>
              </a:rPr>
              <a:t>使用</a:t>
            </a:r>
            <a:r>
              <a:rPr lang="en-US" altLang="zh-CN" sz="2400" smtClean="0">
                <a:solidFill>
                  <a:prstClr val="black"/>
                </a:solidFill>
              </a:rPr>
              <a:t>JDBC</a:t>
            </a:r>
            <a:r>
              <a:rPr lang="zh-CN" altLang="en-US" sz="2400" smtClean="0">
                <a:solidFill>
                  <a:prstClr val="black"/>
                </a:solidFill>
              </a:rPr>
              <a:t>连接并操作数据库的步骤。</a:t>
            </a:r>
            <a:endParaRPr lang="zh-CN" altLang="en-US" sz="240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05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926051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9641F09-50CF-45F7-A19A-D4F9E5B265C4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8章 Servlet高级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a21317bb259286097848945aea69417604a89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8章 Servlet高级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Filter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Filter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Filter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实现第一个Filter程序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Filter映射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Filter链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Filter接口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8-1】使用Filter实现用户自动登录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8-2】使用Filter实现统一全站编码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事件监听器概述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事件监听器概述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事件监听器概述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事件监听器概述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8-3】监听域对象的生命周期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8-4】监听域对象的属性变更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2944</TotalTime>
  <Words>2362</Words>
  <Application>Microsoft Office PowerPoint</Application>
  <PresentationFormat>全屏显示(4:3)</PresentationFormat>
  <Paragraphs>194</Paragraphs>
  <Slides>24</Slides>
  <Notes>24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Servlet高级</dc:title>
  <dc:creator>admin</dc:creator>
  <cp:lastModifiedBy>石荣新</cp:lastModifiedBy>
  <cp:revision>254</cp:revision>
  <dcterms:created xsi:type="dcterms:W3CDTF">2015-06-29T07:19:00Z</dcterms:created>
  <dcterms:modified xsi:type="dcterms:W3CDTF">2018-01-09T09:36:50Z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
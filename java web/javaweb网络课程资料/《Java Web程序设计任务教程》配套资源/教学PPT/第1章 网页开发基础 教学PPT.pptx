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13" r:id="rId3"/>
    <p:sldId id="273" r:id="rId5"/>
    <p:sldId id="279" r:id="rId6"/>
    <p:sldId id="278" r:id="rId7"/>
    <p:sldId id="260" r:id="rId8"/>
    <p:sldId id="283" r:id="rId9"/>
    <p:sldId id="262" r:id="rId10"/>
    <p:sldId id="263" r:id="rId11"/>
    <p:sldId id="265" r:id="rId12"/>
    <p:sldId id="264" r:id="rId13"/>
    <p:sldId id="266" r:id="rId14"/>
    <p:sldId id="267" r:id="rId15"/>
    <p:sldId id="268" r:id="rId16"/>
    <p:sldId id="269" r:id="rId17"/>
    <p:sldId id="270" r:id="rId18"/>
    <p:sldId id="271" r:id="rId19"/>
    <p:sldId id="280" r:id="rId20"/>
    <p:sldId id="272" r:id="rId21"/>
    <p:sldId id="284" r:id="rId22"/>
    <p:sldId id="285" r:id="rId23"/>
    <p:sldId id="287" r:id="rId24"/>
    <p:sldId id="291" r:id="rId25"/>
    <p:sldId id="281" r:id="rId26"/>
    <p:sldId id="292" r:id="rId27"/>
    <p:sldId id="293" r:id="rId28"/>
    <p:sldId id="294" r:id="rId29"/>
    <p:sldId id="295" r:id="rId30"/>
    <p:sldId id="296" r:id="rId31"/>
    <p:sldId id="297" r:id="rId32"/>
    <p:sldId id="298" r:id="rId33"/>
    <p:sldId id="299" r:id="rId34"/>
    <p:sldId id="303" r:id="rId35"/>
    <p:sldId id="304" r:id="rId36"/>
    <p:sldId id="305" r:id="rId37"/>
    <p:sldId id="306" r:id="rId38"/>
    <p:sldId id="307" r:id="rId39"/>
    <p:sldId id="282" r:id="rId40"/>
    <p:sldId id="311" r:id="rId41"/>
    <p:sldId id="312" r:id="rId42"/>
    <p:sldId id="308" r:id="rId43"/>
    <p:sldId id="309" r:id="rId44"/>
    <p:sldId id="314" r:id="rId45"/>
  </p:sldIdLst>
  <p:sldSz cx="9144000" cy="6858000" type="screen4x3"/>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ACC6"/>
    <a:srgbClr val="5185BD"/>
    <a:srgbClr val="5767B4"/>
    <a:srgbClr val="685DAB"/>
    <a:srgbClr val="8064A2"/>
    <a:srgbClr val="006BA9"/>
    <a:srgbClr val="E9EDF4"/>
    <a:srgbClr val="0070C0"/>
    <a:srgbClr val="006BC0"/>
    <a:srgbClr val="0011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4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212597628836218"/>
          <c:y val="0.0681385766950071"/>
          <c:w val="0.618611023622047"/>
          <c:h val="0.765926415548686"/>
        </c:manualLayout>
      </c:layout>
      <c:doughnutChart>
        <c:varyColors val="1"/>
        <c:ser>
          <c:idx val="0"/>
          <c:order val="0"/>
          <c:tx>
            <c:strRef>
              <c:f>Sheet1!$B$1</c:f>
              <c:strCache>
                <c:ptCount val="1"/>
                <c:pt idx="0">
                  <c:v>销售额</c:v>
                </c:pt>
              </c:strCache>
            </c:strRef>
          </c:tx>
          <c:explosion val="0"/>
          <c:dPt>
            <c:idx val="0"/>
            <c:bubble3D val="0"/>
          </c:dPt>
          <c:dPt>
            <c:idx val="1"/>
            <c:bubble3D val="0"/>
            <c:spPr>
              <a:solidFill>
                <a:srgbClr val="0070C0"/>
              </a:solidFill>
            </c:spPr>
          </c:dPt>
          <c:dPt>
            <c:idx val="2"/>
            <c:bubble3D val="0"/>
          </c:dPt>
          <c:dLbls>
            <c:delete val="1"/>
          </c:dLbls>
          <c:cat>
            <c:strRef>
              <c:f>Sheet1!$A$2:$A$4</c:f>
              <c:strCache>
                <c:ptCount val="3"/>
                <c:pt idx="0">
                  <c:v>掌握知识</c:v>
                </c:pt>
                <c:pt idx="1">
                  <c:v>理解知识</c:v>
                </c:pt>
                <c:pt idx="2">
                  <c:v>了解知识</c:v>
                </c:pt>
              </c:strCache>
            </c:strRef>
          </c:cat>
          <c:val>
            <c:numRef>
              <c:f>Sheet1!$B$2:$B$4</c:f>
              <c:numCache>
                <c:formatCode>General</c:formatCode>
                <c:ptCount val="3"/>
                <c:pt idx="0">
                  <c:v>3.333333333</c:v>
                </c:pt>
                <c:pt idx="1">
                  <c:v>3.333333333</c:v>
                </c:pt>
                <c:pt idx="2">
                  <c:v>3.333333333</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lang="zh-CN"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92FF5C-638A-4687-8A3D-8CC3DF9ED7E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6C13F1-5023-4096-B215-672D098F1A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6C13F1-5023-4096-B215-672D098F1A6D}"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p:sp>
      <p:sp>
        <p:nvSpPr>
          <p:cNvPr id="7171" name="备注占位符 2"/>
          <p:cNvSpPr>
            <a:spLocks noGrp="1"/>
          </p:cNvSpPr>
          <p:nvPr>
            <p:ph type="body" idx="1"/>
          </p:nvPr>
        </p:nvSpPr>
        <p:spPr>
          <a:noFill/>
        </p:spPr>
        <p:txBody>
          <a:bodyPr/>
          <a:lstStyle/>
          <a:p>
            <a:endParaRPr lang="zh-CN" altLang="en-US" smtClean="0"/>
          </a:p>
        </p:txBody>
      </p:sp>
      <p:sp>
        <p:nvSpPr>
          <p:cNvPr id="71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None/>
            </a:pPr>
            <a:fld id="{A3DF5170-8A0D-43AE-A108-EB1D46CE06DD}"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0" y="-1"/>
            <a:ext cx="9140780" cy="6858001"/>
          </a:xfrm>
          <a:prstGeom prst="rect">
            <a:avLst/>
          </a:prstGeom>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564C423-1280-4737-888E-126E3DA98E05}" type="slidenum">
              <a:rPr lang="zh-CN" altLang="en-US" smtClean="0"/>
            </a:fld>
            <a:endParaRPr lang="zh-CN" altLang="en-US"/>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9"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564C423-1280-4737-888E-126E3DA98E05}" type="slidenum">
              <a:rPr lang="zh-CN" altLang="en-US" smtClean="0"/>
            </a:fld>
            <a:endParaRPr lang="zh-CN" altLang="en-US"/>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11"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564C423-1280-4737-888E-126E3DA98E05}" type="slidenum">
              <a:rPr lang="zh-CN" altLang="en-US" smtClean="0"/>
            </a:fld>
            <a:endParaRPr lang="zh-CN" altLang="en-US"/>
          </a:p>
        </p:txBody>
      </p:sp>
      <p:sp>
        <p:nvSpPr>
          <p:cNvPr id="6"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2" y="0"/>
            <a:ext cx="9146352" cy="6858000"/>
          </a:xfrm>
          <a:prstGeom prst="rect">
            <a:avLst/>
          </a:prstGeom>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4"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1" Type="http://schemas.openxmlformats.org/officeDocument/2006/relationships/theme" Target="../theme/theme1.xml"/><Relationship Id="rId50" Type="http://schemas.openxmlformats.org/officeDocument/2006/relationships/image" Target="../media/image4.jpeg"/><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5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A88397-7984-4816-A3BC-987D45041CB5}"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4C423-1280-4737-888E-126E3DA98E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0.xml"/><Relationship Id="rId3" Type="http://schemas.openxmlformats.org/officeDocument/2006/relationships/tags" Target="../tags/tag4.xml"/><Relationship Id="rId2" Type="http://schemas.openxmlformats.org/officeDocument/2006/relationships/image" Target="../media/image7.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9.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1.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4.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5.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6.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7.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8.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9.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31.xml"/><Relationship Id="rId2" Type="http://schemas.openxmlformats.org/officeDocument/2006/relationships/tags" Target="../tags/tag25.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3.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4.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5.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6.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7.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8.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9.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0.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1.xml"/><Relationship Id="rId1" Type="http://schemas.openxmlformats.org/officeDocument/2006/relationships/tags" Target="../tags/tag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2.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3.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44.xml"/><Relationship Id="rId2" Type="http://schemas.openxmlformats.org/officeDocument/2006/relationships/tags" Target="../tags/tag38.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45.xml"/><Relationship Id="rId2" Type="http://schemas.openxmlformats.org/officeDocument/2006/relationships/tags" Target="../tags/tag39.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46.xml"/><Relationship Id="rId2" Type="http://schemas.openxmlformats.org/officeDocument/2006/relationships/tags" Target="../tags/tag40.xml"/><Relationship Id="rId1"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7.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352281"/>
            <a:ext cx="8136904" cy="2157681"/>
          </a:xfrm>
        </p:spPr>
        <p:txBody>
          <a:bodyPr/>
          <a:lstStyle/>
          <a:p>
            <a:r>
              <a:rPr lang="en-US" altLang="zh-CN" b="1" dirty="0" smtClean="0"/>
              <a:t>Java Web</a:t>
            </a:r>
            <a:r>
              <a:rPr lang="zh-CN" altLang="en-US" b="1" dirty="0" smtClean="0"/>
              <a:t>程序设计</a:t>
            </a:r>
            <a:r>
              <a:rPr lang="zh-CN" altLang="en-US" b="1" dirty="0"/>
              <a:t>任务</a:t>
            </a:r>
            <a:r>
              <a:rPr lang="zh-CN" altLang="en-US" b="1" dirty="0" smtClean="0"/>
              <a:t>教程</a:t>
            </a:r>
            <a:endParaRPr lang="zh-CN" altLang="en-US" b="1" dirty="0"/>
          </a:p>
        </p:txBody>
      </p:sp>
      <p:sp>
        <p:nvSpPr>
          <p:cNvPr id="3" name="副标题 2"/>
          <p:cNvSpPr>
            <a:spLocks noGrp="1"/>
          </p:cNvSpPr>
          <p:nvPr>
            <p:ph type="subTitle" idx="1"/>
          </p:nvPr>
        </p:nvSpPr>
        <p:spPr>
          <a:xfrm>
            <a:off x="1143000" y="3861470"/>
            <a:ext cx="6858000" cy="1655762"/>
          </a:xfrm>
        </p:spPr>
        <p:txBody>
          <a:bodyPr>
            <a:normAutofit/>
          </a:bodyPr>
          <a:lstStyle/>
          <a:p>
            <a:r>
              <a:rPr lang="zh-CN" altLang="en-US" sz="3200" b="1" dirty="0" smtClean="0"/>
              <a:t>第</a:t>
            </a:r>
            <a:r>
              <a:rPr lang="en-US" altLang="zh-CN" sz="3200" b="1" dirty="0" smtClean="0"/>
              <a:t>1</a:t>
            </a:r>
            <a:r>
              <a:rPr lang="zh-CN" altLang="en-US" sz="3200" b="1" dirty="0" smtClean="0"/>
              <a:t>章 网页开发基础</a:t>
            </a:r>
            <a:endParaRPr lang="zh-CN" altLang="en-US" sz="3200" b="1" dirty="0"/>
          </a:p>
        </p:txBody>
      </p:sp>
      <p:sp>
        <p:nvSpPr>
          <p:cNvPr id="4" name="TextBox 13"/>
          <p:cNvSpPr>
            <a:spLocks noChangeArrowheads="1"/>
          </p:cNvSpPr>
          <p:nvPr/>
        </p:nvSpPr>
        <p:spPr bwMode="auto">
          <a:xfrm>
            <a:off x="5430838" y="5517232"/>
            <a:ext cx="346164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CSS</a:t>
            </a:r>
            <a:r>
              <a:rPr lang="zh-CN" altLang="en-US"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选择器和常用属性    </a:t>
            </a:r>
            <a:endPar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传智书城首页和注册页面设计</a:t>
            </a:r>
            <a:endPar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矩形 4"/>
          <p:cNvSpPr/>
          <p:nvPr/>
        </p:nvSpPr>
        <p:spPr>
          <a:xfrm>
            <a:off x="2752725" y="5538788"/>
            <a:ext cx="4572000" cy="923925"/>
          </a:xfrm>
          <a:prstGeom prst="rect">
            <a:avLst/>
          </a:prstGeom>
        </p:spPr>
        <p:txBody>
          <a:bodyPr>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HTML</a:t>
            </a:r>
            <a:r>
              <a:rPr lang="zh-CN" altLang="en-US"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的常用标记  </a:t>
            </a:r>
            <a:endPar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JavaScript</a:t>
            </a:r>
            <a:r>
              <a:rPr lang="zh-CN" altLang="en-US" dirty="0" smtClean="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的使用       </a:t>
            </a:r>
            <a:endPar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648" y="5301208"/>
            <a:ext cx="947906" cy="119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bwMode="auto">
          <a:xfrm flipH="1" flipV="1">
            <a:off x="321560" y="2194586"/>
            <a:ext cx="2810280" cy="1139825"/>
            <a:chOff x="5196584" y="4225925"/>
            <a:chExt cx="3475429" cy="1209015"/>
          </a:xfrm>
        </p:grpSpPr>
        <p:grpSp>
          <p:nvGrpSpPr>
            <p:cNvPr id="3" name="组合 38"/>
            <p:cNvGrpSpPr/>
            <p:nvPr/>
          </p:nvGrpSpPr>
          <p:grpSpPr bwMode="auto">
            <a:xfrm rot="10800000">
              <a:off x="5687902" y="4225925"/>
              <a:ext cx="2669052" cy="686411"/>
              <a:chOff x="934464" y="2318309"/>
              <a:chExt cx="2669329" cy="686148"/>
            </a:xfrm>
          </p:grpSpPr>
          <p:cxnSp>
            <p:nvCxnSpPr>
              <p:cNvPr id="8" name="直接连接符 39"/>
              <p:cNvCxnSpPr>
                <a:cxnSpLocks noChangeShapeType="1"/>
              </p:cNvCxnSpPr>
              <p:nvPr/>
            </p:nvCxnSpPr>
            <p:spPr bwMode="auto">
              <a:xfrm rot="10800000" flipH="1" flipV="1">
                <a:off x="934464" y="2318309"/>
                <a:ext cx="298001" cy="686148"/>
              </a:xfrm>
              <a:prstGeom prst="line">
                <a:avLst/>
              </a:prstGeom>
              <a:noFill/>
              <a:ln w="28575" algn="ctr">
                <a:solidFill>
                  <a:srgbClr val="006BA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0"/>
              <p:cNvCxnSpPr>
                <a:cxnSpLocks noChangeShapeType="1"/>
              </p:cNvCxnSpPr>
              <p:nvPr/>
            </p:nvCxnSpPr>
            <p:spPr bwMode="auto">
              <a:xfrm rot="10800000" flipH="1" flipV="1">
                <a:off x="1222939" y="3004457"/>
                <a:ext cx="2380854" cy="0"/>
              </a:xfrm>
              <a:prstGeom prst="line">
                <a:avLst/>
              </a:prstGeom>
              <a:noFill/>
              <a:ln w="28575" algn="ctr">
                <a:solidFill>
                  <a:srgbClr val="006BA9"/>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41"/>
            <p:cNvGrpSpPr/>
            <p:nvPr/>
          </p:nvGrpSpPr>
          <p:grpSpPr bwMode="auto">
            <a:xfrm flipH="1">
              <a:off x="8082606" y="4880949"/>
              <a:ext cx="589407" cy="553991"/>
              <a:chOff x="1256847" y="3607535"/>
              <a:chExt cx="591076" cy="553298"/>
            </a:xfrm>
          </p:grpSpPr>
          <p:sp>
            <p:nvSpPr>
              <p:cNvPr id="6" name="椭圆 5"/>
              <p:cNvSpPr/>
              <p:nvPr/>
            </p:nvSpPr>
            <p:spPr bwMode="auto">
              <a:xfrm>
                <a:off x="1256847" y="3647898"/>
                <a:ext cx="591076" cy="474256"/>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7" name="TextBox 6"/>
              <p:cNvSpPr txBox="1"/>
              <p:nvPr/>
            </p:nvSpPr>
            <p:spPr>
              <a:xfrm rot="10800000">
                <a:off x="1327723" y="3607535"/>
                <a:ext cx="334694" cy="553298"/>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5" name="矩形 51"/>
            <p:cNvSpPr>
              <a:spLocks noChangeArrowheads="1"/>
            </p:cNvSpPr>
            <p:nvPr/>
          </p:nvSpPr>
          <p:spPr bwMode="auto">
            <a:xfrm rot="10800000">
              <a:off x="5196584" y="4405893"/>
              <a:ext cx="2762196" cy="101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eaLnBrk="1" hangingPunct="1">
                <a:lnSpc>
                  <a:spcPts val="3600"/>
                </a:lnSpc>
              </a:pPr>
              <a:r>
                <a:rPr lang="en-US" altLang="zh-CN"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CSS</a:t>
              </a:r>
              <a:r>
                <a:rPr lang="zh-CN" altLang="en-US"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选择器和常用</a:t>
              </a:r>
              <a:endParaRPr lang="en-US" altLang="zh-CN"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457200" indent="-457200" eaLnBrk="1" hangingPunct="1">
                <a:lnSpc>
                  <a:spcPts val="3600"/>
                </a:lnSpc>
              </a:pPr>
              <a:r>
                <a:rPr lang="zh-CN" altLang="en-US"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属性</a:t>
              </a:r>
              <a:endParaRPr lang="en-US" altLang="zh-CN" b="1" dirty="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grpSp>
      <p:grpSp>
        <p:nvGrpSpPr>
          <p:cNvPr id="10" name="组合 9"/>
          <p:cNvGrpSpPr/>
          <p:nvPr/>
        </p:nvGrpSpPr>
        <p:grpSpPr bwMode="auto">
          <a:xfrm>
            <a:off x="1570070" y="1316729"/>
            <a:ext cx="5245036" cy="4035361"/>
            <a:chOff x="1398367" y="1722062"/>
            <a:chExt cx="5245036" cy="4035172"/>
          </a:xfrm>
        </p:grpSpPr>
        <p:graphicFrame>
          <p:nvGraphicFramePr>
            <p:cNvPr id="36" name="图表 2"/>
            <p:cNvGraphicFramePr/>
            <p:nvPr/>
          </p:nvGraphicFramePr>
          <p:xfrm>
            <a:off x="1398367" y="1722062"/>
            <a:ext cx="5245036" cy="4035172"/>
          </p:xfrm>
          <a:graphic>
            <a:graphicData uri="http://schemas.openxmlformats.org/drawingml/2006/chart">
              <c:chart xmlns:c="http://schemas.openxmlformats.org/drawingml/2006/chart" xmlns:r="http://schemas.openxmlformats.org/officeDocument/2006/relationships" r:id="rId1"/>
            </a:graphicData>
          </a:graphic>
        </p:graphicFrame>
        <p:sp>
          <p:nvSpPr>
            <p:cNvPr id="12" name="TextBox 11"/>
            <p:cNvSpPr txBox="1"/>
            <p:nvPr/>
          </p:nvSpPr>
          <p:spPr bwMode="auto">
            <a:xfrm rot="3586674">
              <a:off x="4661170" y="3033606"/>
              <a:ext cx="1042938" cy="369888"/>
            </a:xfrm>
            <a:prstGeom prst="rect">
              <a:avLst/>
            </a:prstGeom>
            <a:noFill/>
          </p:spPr>
          <p:txBody>
            <a:bodyPr>
              <a:spAutoFit/>
            </a:bodyPr>
            <a:lstStyle/>
            <a:p>
              <a:pPr>
                <a:defRPr/>
              </a:pPr>
              <a:r>
                <a:rPr lang="zh-CN" altLang="en-US" spc="300" dirty="0" smtClean="0">
                  <a:latin typeface="微软雅黑" panose="020B0503020204020204" pitchFamily="34" charset="-122"/>
                  <a:ea typeface="微软雅黑" panose="020B0503020204020204" pitchFamily="34" charset="-122"/>
                </a:rPr>
                <a:t>掌握</a:t>
              </a:r>
              <a:endParaRPr lang="zh-CN" altLang="en-US" spc="300" dirty="0">
                <a:latin typeface="微软雅黑" panose="020B0503020204020204" pitchFamily="34" charset="-122"/>
                <a:ea typeface="微软雅黑" panose="020B0503020204020204" pitchFamily="34" charset="-122"/>
              </a:endParaRPr>
            </a:p>
          </p:txBody>
        </p:sp>
        <p:sp>
          <p:nvSpPr>
            <p:cNvPr id="13" name="TextBox 12"/>
            <p:cNvSpPr txBox="1"/>
            <p:nvPr/>
          </p:nvSpPr>
          <p:spPr bwMode="auto">
            <a:xfrm rot="6997465" flipV="1">
              <a:off x="2748528" y="2675271"/>
              <a:ext cx="1041351" cy="369887"/>
            </a:xfrm>
            <a:prstGeom prst="rect">
              <a:avLst/>
            </a:prstGeom>
            <a:noFill/>
          </p:spPr>
          <p:txBody>
            <a:bodyPr>
              <a:spAutoFit/>
            </a:bodyPr>
            <a:lstStyle/>
            <a:p>
              <a:pPr>
                <a:defRPr/>
              </a:pPr>
              <a:r>
                <a:rPr lang="zh-CN" altLang="en-US" spc="300" dirty="0" smtClean="0">
                  <a:latin typeface="微软雅黑" panose="020B0503020204020204" pitchFamily="34" charset="-122"/>
                  <a:ea typeface="微软雅黑" panose="020B0503020204020204" pitchFamily="34" charset="-122"/>
                </a:rPr>
                <a:t>了解</a:t>
              </a:r>
              <a:endParaRPr lang="zh-CN" altLang="en-US" spc="300" dirty="0">
                <a:latin typeface="微软雅黑" panose="020B0503020204020204" pitchFamily="34" charset="-122"/>
                <a:ea typeface="微软雅黑" panose="020B0503020204020204" pitchFamily="34" charset="-122"/>
              </a:endParaRPr>
            </a:p>
          </p:txBody>
        </p:sp>
        <p:sp>
          <p:nvSpPr>
            <p:cNvPr id="14" name="TextBox 13"/>
            <p:cNvSpPr txBox="1"/>
            <p:nvPr/>
          </p:nvSpPr>
          <p:spPr bwMode="auto">
            <a:xfrm rot="10800000" flipH="1" flipV="1">
              <a:off x="3790945" y="4474016"/>
              <a:ext cx="1041400"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熟悉</a:t>
              </a:r>
              <a:endParaRPr lang="zh-CN" altLang="en-US" spc="300" dirty="0">
                <a:latin typeface="微软雅黑" panose="020B0503020204020204" pitchFamily="34" charset="-122"/>
                <a:ea typeface="微软雅黑" panose="020B0503020204020204" pitchFamily="34" charset="-122"/>
              </a:endParaRPr>
            </a:p>
          </p:txBody>
        </p:sp>
      </p:grpSp>
      <p:grpSp>
        <p:nvGrpSpPr>
          <p:cNvPr id="15" name="组合 2"/>
          <p:cNvGrpSpPr/>
          <p:nvPr/>
        </p:nvGrpSpPr>
        <p:grpSpPr bwMode="auto">
          <a:xfrm>
            <a:off x="3692525" y="2547010"/>
            <a:ext cx="1203325" cy="1201737"/>
            <a:chOff x="3692088" y="2878838"/>
            <a:chExt cx="1203191" cy="1201737"/>
          </a:xfrm>
        </p:grpSpPr>
        <p:sp>
          <p:nvSpPr>
            <p:cNvPr id="16" name="弧形 15"/>
            <p:cNvSpPr/>
            <p:nvPr/>
          </p:nvSpPr>
          <p:spPr bwMode="auto">
            <a:xfrm rot="5400000">
              <a:off x="3692815" y="2878111"/>
              <a:ext cx="1201737" cy="1203191"/>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17" name="弧形 16"/>
            <p:cNvSpPr/>
            <p:nvPr/>
          </p:nvSpPr>
          <p:spPr bwMode="auto">
            <a:xfrm>
              <a:off x="3795265" y="2996313"/>
              <a:ext cx="990490" cy="992187"/>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18" name="弧形 17"/>
            <p:cNvSpPr/>
            <p:nvPr/>
          </p:nvSpPr>
          <p:spPr bwMode="auto">
            <a:xfrm rot="16200000">
              <a:off x="3891251" y="3136849"/>
              <a:ext cx="822325" cy="753978"/>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grpSp>
      <p:grpSp>
        <p:nvGrpSpPr>
          <p:cNvPr id="19" name="组合 18"/>
          <p:cNvGrpSpPr/>
          <p:nvPr/>
        </p:nvGrpSpPr>
        <p:grpSpPr bwMode="auto">
          <a:xfrm>
            <a:off x="4604960" y="4653137"/>
            <a:ext cx="3567439" cy="1123216"/>
            <a:chOff x="4241870" y="5106723"/>
            <a:chExt cx="2348667" cy="942278"/>
          </a:xfrm>
        </p:grpSpPr>
        <p:grpSp>
          <p:nvGrpSpPr>
            <p:cNvPr id="20" name="组合 38"/>
            <p:cNvGrpSpPr/>
            <p:nvPr/>
          </p:nvGrpSpPr>
          <p:grpSpPr bwMode="auto">
            <a:xfrm rot="5400000" flipV="1">
              <a:off x="4838005" y="4510588"/>
              <a:ext cx="942278" cy="2134547"/>
              <a:chOff x="6453786" y="4116787"/>
              <a:chExt cx="1337402" cy="977733"/>
            </a:xfrm>
          </p:grpSpPr>
          <p:grpSp>
            <p:nvGrpSpPr>
              <p:cNvPr id="22" name="组合 38"/>
              <p:cNvGrpSpPr/>
              <p:nvPr/>
            </p:nvGrpSpPr>
            <p:grpSpPr bwMode="auto">
              <a:xfrm rot="10800000">
                <a:off x="6453786" y="4116787"/>
                <a:ext cx="1070796" cy="815236"/>
                <a:chOff x="1766924" y="2298618"/>
                <a:chExt cx="1070903" cy="814920"/>
              </a:xfrm>
            </p:grpSpPr>
            <p:cxnSp>
              <p:nvCxnSpPr>
                <p:cNvPr id="26" name="直接连接符 39"/>
                <p:cNvCxnSpPr>
                  <a:cxnSpLocks noChangeShapeType="1"/>
                </p:cNvCxnSpPr>
                <p:nvPr/>
              </p:nvCxnSpPr>
              <p:spPr bwMode="auto">
                <a:xfrm rot="16200000" flipH="1" flipV="1">
                  <a:off x="1425516" y="2646176"/>
                  <a:ext cx="695116" cy="0"/>
                </a:xfrm>
                <a:prstGeom prst="line">
                  <a:avLst/>
                </a:prstGeom>
                <a:noFill/>
                <a:ln w="28575" algn="ctr">
                  <a:solidFill>
                    <a:srgbClr val="01598B"/>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40"/>
                <p:cNvCxnSpPr>
                  <a:cxnSpLocks noChangeShapeType="1"/>
                </p:cNvCxnSpPr>
                <p:nvPr/>
              </p:nvCxnSpPr>
              <p:spPr bwMode="auto">
                <a:xfrm rot="16200000" flipH="1">
                  <a:off x="2244643" y="2520354"/>
                  <a:ext cx="115465" cy="1070903"/>
                </a:xfrm>
                <a:prstGeom prst="line">
                  <a:avLst/>
                </a:prstGeom>
                <a:noFill/>
                <a:ln w="28575" algn="ctr">
                  <a:solidFill>
                    <a:srgbClr val="01598B"/>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组合 41"/>
              <p:cNvGrpSpPr/>
              <p:nvPr/>
            </p:nvGrpSpPr>
            <p:grpSpPr bwMode="auto">
              <a:xfrm flipH="1">
                <a:off x="7169302" y="4932018"/>
                <a:ext cx="621886" cy="162502"/>
                <a:chOff x="2140164" y="3658530"/>
                <a:chExt cx="623648" cy="162298"/>
              </a:xfrm>
            </p:grpSpPr>
            <p:sp>
              <p:nvSpPr>
                <p:cNvPr id="24" name="椭圆 23"/>
                <p:cNvSpPr/>
                <p:nvPr/>
              </p:nvSpPr>
              <p:spPr bwMode="auto">
                <a:xfrm rot="5400000">
                  <a:off x="2374843" y="3423851"/>
                  <a:ext cx="151397" cy="620755"/>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25" name="TextBox 24"/>
                <p:cNvSpPr txBox="1"/>
                <p:nvPr/>
              </p:nvSpPr>
              <p:spPr>
                <a:xfrm rot="5400000">
                  <a:off x="2381465" y="3438481"/>
                  <a:ext cx="141050" cy="623644"/>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a:solidFill>
                        <a:schemeClr val="bg1"/>
                      </a:solidFill>
                      <a:latin typeface="Times New Roman" panose="02020603050405020304" pitchFamily="18" charset="0"/>
                      <a:cs typeface="Times New Roman" panose="02020603050405020304" pitchFamily="18" charset="0"/>
                    </a:rPr>
                    <a:t>2</a:t>
                  </a:r>
                  <a:endParaRPr lang="zh-CN"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21" name="矩形 4"/>
            <p:cNvSpPr>
              <a:spLocks noChangeArrowheads="1"/>
            </p:cNvSpPr>
            <p:nvPr/>
          </p:nvSpPr>
          <p:spPr bwMode="auto">
            <a:xfrm>
              <a:off x="4610696" y="5305065"/>
              <a:ext cx="1979841" cy="464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en-US" altLang="zh-CN"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HTML</a:t>
              </a:r>
              <a:r>
                <a:rPr lang="zh-CN" altLang="en-US"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的常用标记</a:t>
              </a:r>
              <a:endParaRPr lang="en-US" altLang="zh-CN" b="1" dirty="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grpSp>
      <p:grpSp>
        <p:nvGrpSpPr>
          <p:cNvPr id="28" name="组合 6"/>
          <p:cNvGrpSpPr/>
          <p:nvPr/>
        </p:nvGrpSpPr>
        <p:grpSpPr bwMode="auto">
          <a:xfrm>
            <a:off x="5796136" y="1888941"/>
            <a:ext cx="3322637" cy="1205386"/>
            <a:chOff x="5848054" y="1528089"/>
            <a:chExt cx="3325632" cy="1205423"/>
          </a:xfrm>
        </p:grpSpPr>
        <p:sp>
          <p:nvSpPr>
            <p:cNvPr id="29" name="矩形 5"/>
            <p:cNvSpPr>
              <a:spLocks noChangeArrowheads="1"/>
            </p:cNvSpPr>
            <p:nvPr/>
          </p:nvSpPr>
          <p:spPr bwMode="auto">
            <a:xfrm flipH="1">
              <a:off x="5848054" y="1528089"/>
              <a:ext cx="3325632" cy="101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en-US" altLang="zh-CN" b="1" dirty="0" err="1"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HTML+CSS+JavaScript</a:t>
              </a:r>
              <a:endParaRPr lang="en-US" altLang="zh-CN"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pPr marL="457200" indent="-457200">
                <a:lnSpc>
                  <a:spcPts val="3600"/>
                </a:lnSpc>
              </a:pPr>
              <a:r>
                <a:rPr lang="zh-CN" altLang="en-US"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的开发基础</a:t>
              </a:r>
              <a:endParaRPr lang="zh-CN" altLang="en-US" b="1" dirty="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30" name="组合 16"/>
            <p:cNvGrpSpPr/>
            <p:nvPr/>
          </p:nvGrpSpPr>
          <p:grpSpPr bwMode="auto">
            <a:xfrm flipH="1">
              <a:off x="5947984" y="2286831"/>
              <a:ext cx="2585191" cy="446681"/>
              <a:chOff x="1455470" y="2862509"/>
              <a:chExt cx="2703185" cy="446892"/>
            </a:xfrm>
          </p:grpSpPr>
          <p:cxnSp>
            <p:nvCxnSpPr>
              <p:cNvPr id="34" name="直接连接符 7"/>
              <p:cNvCxnSpPr>
                <a:cxnSpLocks noChangeShapeType="1"/>
              </p:cNvCxnSpPr>
              <p:nvPr/>
            </p:nvCxnSpPr>
            <p:spPr bwMode="auto">
              <a:xfrm>
                <a:off x="1455470" y="2862509"/>
                <a:ext cx="255076" cy="446892"/>
              </a:xfrm>
              <a:prstGeom prst="line">
                <a:avLst/>
              </a:prstGeom>
              <a:noFill/>
              <a:ln w="28575" algn="ctr">
                <a:solidFill>
                  <a:srgbClr val="006BA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10"/>
              <p:cNvCxnSpPr>
                <a:cxnSpLocks noChangeShapeType="1"/>
              </p:cNvCxnSpPr>
              <p:nvPr/>
            </p:nvCxnSpPr>
            <p:spPr bwMode="auto">
              <a:xfrm>
                <a:off x="1714278" y="3309401"/>
                <a:ext cx="2444377" cy="0"/>
              </a:xfrm>
              <a:prstGeom prst="line">
                <a:avLst/>
              </a:prstGeom>
              <a:noFill/>
              <a:ln w="28575" algn="ctr">
                <a:solidFill>
                  <a:srgbClr val="006BA9"/>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组合 15"/>
            <p:cNvGrpSpPr/>
            <p:nvPr/>
          </p:nvGrpSpPr>
          <p:grpSpPr bwMode="auto">
            <a:xfrm flipH="1">
              <a:off x="8313653" y="1827379"/>
              <a:ext cx="489391" cy="520715"/>
              <a:chOff x="1857876" y="4069722"/>
              <a:chExt cx="511727" cy="520961"/>
            </a:xfrm>
          </p:grpSpPr>
          <p:sp>
            <p:nvSpPr>
              <p:cNvPr id="32" name="椭圆 31"/>
              <p:cNvSpPr/>
              <p:nvPr/>
            </p:nvSpPr>
            <p:spPr bwMode="auto">
              <a:xfrm>
                <a:off x="1857876" y="4085605"/>
                <a:ext cx="511727" cy="473312"/>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anose="020B0604020202020204" pitchFamily="34" charset="0"/>
                  <a:buNone/>
                  <a:defRPr/>
                </a:pPr>
                <a:endParaRPr lang="zh-CN" altLang="en-US">
                  <a:ea typeface="宋体" panose="02010600030101010101" pitchFamily="2" charset="-122"/>
                </a:endParaRPr>
              </a:p>
            </p:txBody>
          </p:sp>
          <p:sp>
            <p:nvSpPr>
              <p:cNvPr id="33" name="TextBox 32"/>
              <p:cNvSpPr txBox="1"/>
              <p:nvPr/>
            </p:nvSpPr>
            <p:spPr>
              <a:xfrm>
                <a:off x="1965869" y="4069722"/>
                <a:ext cx="335613" cy="52096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3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学习目标</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228725" y="1840178"/>
            <a:ext cx="4495403"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571625"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1.4</a:t>
            </a:r>
            <a:r>
              <a:rPr lang="en-US" altLang="zh-CN" sz="2400" dirty="0" smtClean="0">
                <a:solidFill>
                  <a:srgbClr val="CD1F06"/>
                </a:solidFill>
                <a:latin typeface="Impact" panose="020B0806030902050204" pitchFamily="34" charset="0"/>
                <a:ea typeface="微软雅黑" panose="020B0503020204020204" pitchFamily="34" charset="-122"/>
              </a:rPr>
              <a:t>    </a:t>
            </a:r>
            <a:r>
              <a:rPr lang="zh-CN" altLang="en-US" sz="2400" dirty="0" smtClean="0">
                <a:solidFill>
                  <a:srgbClr val="7F7F7F"/>
                </a:solidFill>
                <a:latin typeface="Impact" panose="020B0806030902050204" pitchFamily="34" charset="0"/>
                <a:ea typeface="微软雅黑" panose="020B0503020204020204" pitchFamily="34" charset="-122"/>
              </a:rPr>
              <a:t>阶段案例</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5" name="TextBox 10"/>
          <p:cNvSpPr txBox="1"/>
          <p:nvPr/>
        </p:nvSpPr>
        <p:spPr>
          <a:xfrm>
            <a:off x="1571625" y="2723631"/>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1.2</a:t>
            </a:r>
            <a:r>
              <a:rPr lang="en-US" altLang="zh-CN" sz="2400" dirty="0" smtClean="0">
                <a:solidFill>
                  <a:srgbClr val="CD1F06"/>
                </a:solidFill>
                <a:latin typeface="Impact" panose="020B0806030902050204" pitchFamily="34" charset="0"/>
                <a:ea typeface="微软雅黑" panose="020B0503020204020204" pitchFamily="34" charset="-122"/>
              </a:rPr>
              <a:t>    </a:t>
            </a:r>
            <a:r>
              <a:rPr lang="en-US" altLang="zh-CN" sz="2400" dirty="0" smtClean="0">
                <a:solidFill>
                  <a:srgbClr val="7F7F7F"/>
                </a:solidFill>
                <a:latin typeface="Impact" panose="020B0806030902050204" pitchFamily="34" charset="0"/>
                <a:ea typeface="微软雅黑" panose="020B0503020204020204" pitchFamily="34" charset="-122"/>
              </a:rPr>
              <a:t>CSS</a:t>
            </a:r>
            <a:r>
              <a:rPr lang="zh-CN" altLang="en-US" sz="2400" dirty="0" smtClean="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6" name="TextBox 11"/>
          <p:cNvSpPr txBox="1"/>
          <p:nvPr/>
        </p:nvSpPr>
        <p:spPr>
          <a:xfrm>
            <a:off x="1571625" y="3467714"/>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1.3    JavaScript</a:t>
            </a:r>
            <a:r>
              <a:rPr lang="zh-CN" altLang="en-US" sz="2400" dirty="0" smtClean="0">
                <a:solidFill>
                  <a:srgbClr val="7F7F7F"/>
                </a:solidFill>
                <a:latin typeface="Impact" panose="020B0806030902050204" pitchFamily="34" charset="0"/>
                <a:ea typeface="微软雅黑" panose="020B0503020204020204" pitchFamily="34" charset="-122"/>
              </a:rPr>
              <a:t>基础</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anose="020B0503020204020204" pitchFamily="34" charset="-122"/>
                <a:ea typeface="微软雅黑" panose="020B0503020204020204" pitchFamily="34" charset="-122"/>
              </a:rPr>
              <a:t>主讲内容</a:t>
            </a:r>
            <a:endParaRPr lang="en-US" altLang="zh-CN" sz="5400" b="1" dirty="0" smtClean="0">
              <a:solidFill>
                <a:srgbClr val="F2F2E6"/>
              </a:solidFill>
              <a:latin typeface="微软雅黑" panose="020B0503020204020204" pitchFamily="34" charset="-122"/>
              <a:ea typeface="微软雅黑" panose="020B0503020204020204" pitchFamily="34" charset="-122"/>
            </a:endParaRPr>
          </a:p>
          <a:p>
            <a:pPr algn="ctr"/>
            <a:r>
              <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endParaRPr>
          </a:p>
        </p:txBody>
      </p:sp>
      <p:sp>
        <p:nvSpPr>
          <p:cNvPr id="12" name="TextBox 6"/>
          <p:cNvSpPr txBox="1"/>
          <p:nvPr/>
        </p:nvSpPr>
        <p:spPr>
          <a:xfrm>
            <a:off x="1571625" y="1979548"/>
            <a:ext cx="3360415" cy="369332"/>
          </a:xfrm>
          <a:prstGeom prst="rect">
            <a:avLst/>
          </a:prstGeom>
          <a:noFill/>
        </p:spPr>
        <p:txBody>
          <a:bodyPr vert="horz" wrap="square" lIns="0" tIns="0" rIns="0" bIns="0" rtlCol="0" anchor="ctr">
            <a:spAutoFit/>
          </a:bodyPr>
          <a:lstStyle/>
          <a:p>
            <a:pPr algn="l"/>
            <a:r>
              <a:rPr lang="en-US" altLang="zh-CN" sz="2400" dirty="0" smtClean="0">
                <a:solidFill>
                  <a:schemeClr val="bg1"/>
                </a:solidFill>
                <a:latin typeface="Impact" panose="020B0806030902050204" pitchFamily="34" charset="0"/>
                <a:ea typeface="微软雅黑" panose="020B0503020204020204" pitchFamily="34" charset="-122"/>
              </a:rPr>
              <a:t>1.1    HTML</a:t>
            </a:r>
            <a:r>
              <a:rPr lang="zh-CN" altLang="en-US" sz="2400" dirty="0" smtClean="0">
                <a:solidFill>
                  <a:schemeClr val="bg1"/>
                </a:solidFill>
                <a:latin typeface="Impact" panose="020B0806030902050204" pitchFamily="34" charset="0"/>
                <a:ea typeface="微软雅黑" panose="020B0503020204020204" pitchFamily="34" charset="-122"/>
              </a:rPr>
              <a:t>技术</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主讲内容</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3528" y="2699197"/>
            <a:ext cx="4550268" cy="2485016"/>
          </a:xfrm>
          <a:prstGeom prst="ellipse">
            <a:avLst/>
          </a:prstGeom>
          <a:ln>
            <a:noFill/>
          </a:ln>
          <a:effectLst>
            <a:softEdge rad="112500"/>
          </a:effectLst>
        </p:spPr>
      </p:pic>
      <p:grpSp>
        <p:nvGrpSpPr>
          <p:cNvPr id="18" name="组合 17"/>
          <p:cNvGrpSpPr/>
          <p:nvPr/>
        </p:nvGrpSpPr>
        <p:grpSpPr>
          <a:xfrm>
            <a:off x="5110457" y="2420888"/>
            <a:ext cx="4261249" cy="1293772"/>
            <a:chOff x="4834127" y="2999135"/>
            <a:chExt cx="4261249" cy="1499579"/>
          </a:xfrm>
          <a:solidFill>
            <a:srgbClr val="00B0F0"/>
          </a:solidFill>
        </p:grpSpPr>
        <p:sp>
          <p:nvSpPr>
            <p:cNvPr id="19" name="云形标注 18"/>
            <p:cNvSpPr/>
            <p:nvPr/>
          </p:nvSpPr>
          <p:spPr>
            <a:xfrm>
              <a:off x="4834127" y="2999135"/>
              <a:ext cx="3624751" cy="1499579"/>
            </a:xfrm>
            <a:prstGeom prst="cloudCallout">
              <a:avLst>
                <a:gd name="adj1" fmla="val -60309"/>
                <a:gd name="adj2" fmla="val 3599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TextBox 19"/>
            <p:cNvSpPr txBox="1"/>
            <p:nvPr/>
          </p:nvSpPr>
          <p:spPr>
            <a:xfrm>
              <a:off x="5419401" y="3263532"/>
              <a:ext cx="3675975" cy="767950"/>
            </a:xfrm>
            <a:prstGeom prst="rect">
              <a:avLst/>
            </a:prstGeom>
            <a:noFill/>
            <a:ln>
              <a:noFill/>
            </a:ln>
          </p:spPr>
          <p:txBody>
            <a:bodyPr>
              <a:spAutoFit/>
            </a:bodyPr>
            <a:lstStyle/>
            <a:p>
              <a:pPr>
                <a:lnSpc>
                  <a:spcPct val="150000"/>
                </a:lnSpc>
                <a:defRPr/>
              </a:pPr>
              <a:r>
                <a:rPr lang="zh-CN" altLang="en-US" sz="2800" b="1" dirty="0">
                  <a:solidFill>
                    <a:schemeClr val="bg1"/>
                  </a:solidFill>
                  <a:latin typeface="微软雅黑" panose="020B0503020204020204" pitchFamily="34" charset="-122"/>
                  <a:ea typeface="微软雅黑" panose="020B0503020204020204" pitchFamily="34" charset="-122"/>
                </a:rPr>
                <a:t>什么是</a:t>
              </a:r>
              <a:r>
                <a:rPr lang="en-US" altLang="zh-CN" sz="2800" b="1" dirty="0">
                  <a:solidFill>
                    <a:schemeClr val="bg1"/>
                  </a:solidFill>
                  <a:latin typeface="微软雅黑" panose="020B0503020204020204" pitchFamily="34" charset="-122"/>
                  <a:ea typeface="微软雅黑" panose="020B0503020204020204" pitchFamily="34" charset="-122"/>
                </a:rPr>
                <a:t>HTML</a:t>
              </a:r>
              <a:r>
                <a:rPr lang="zh-CN" altLang="en-US" sz="2800" b="1" dirty="0">
                  <a:solidFill>
                    <a:schemeClr val="bg1"/>
                  </a:solidFill>
                  <a:latin typeface="微软雅黑" panose="020B0503020204020204" pitchFamily="34" charset="-122"/>
                  <a:ea typeface="微软雅黑" panose="020B0503020204020204" pitchFamily="34" charset="-122"/>
                </a:rPr>
                <a:t>？</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bwMode="auto">
          <a:xfrm>
            <a:off x="474663" y="2070149"/>
            <a:ext cx="7672387" cy="2670858"/>
            <a:chOff x="484632" y="1063625"/>
            <a:chExt cx="6046343" cy="3432969"/>
          </a:xfrm>
        </p:grpSpPr>
        <p:sp>
          <p:nvSpPr>
            <p:cNvPr id="22" name="单圆角矩形 21"/>
            <p:cNvSpPr/>
            <p:nvPr/>
          </p:nvSpPr>
          <p:spPr bwMode="auto">
            <a:xfrm>
              <a:off x="1142686" y="1192563"/>
              <a:ext cx="5388289" cy="3304031"/>
            </a:xfrm>
            <a:prstGeom prst="round1Rect">
              <a:avLst/>
            </a:prstGeom>
            <a:solidFill>
              <a:schemeClr val="accent1"/>
            </a:solidFill>
            <a:ln w="2857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p>
          </p:txBody>
        </p:sp>
        <p:sp>
          <p:nvSpPr>
            <p:cNvPr id="23" name="矩形 2"/>
            <p:cNvSpPr>
              <a:spLocks noChangeArrowheads="1"/>
            </p:cNvSpPr>
            <p:nvPr/>
          </p:nvSpPr>
          <p:spPr bwMode="auto">
            <a:xfrm>
              <a:off x="566738" y="1438274"/>
              <a:ext cx="5776857" cy="43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2" eaLnBrk="1" hangingPunct="1"/>
              <a:endParaRPr lang="zh-CN" altLang="zh-CN" sz="2400" b="1">
                <a:solidFill>
                  <a:schemeClr val="bg1"/>
                </a:solidFill>
                <a:latin typeface="黑体" panose="02010609060101010101" pitchFamily="49" charset="-122"/>
                <a:ea typeface="黑体" panose="02010609060101010101" pitchFamily="49" charset="-122"/>
              </a:endParaRPr>
            </a:p>
          </p:txBody>
        </p:sp>
        <p:pic>
          <p:nvPicPr>
            <p:cNvPr id="24" name="Picture 17" descr="C:\Users\admin\Desktop\8879-120309193530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32" y="1063625"/>
              <a:ext cx="1169542" cy="1471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 name="矩形 24"/>
          <p:cNvSpPr/>
          <p:nvPr/>
        </p:nvSpPr>
        <p:spPr>
          <a:xfrm>
            <a:off x="1838325" y="2208262"/>
            <a:ext cx="5954713" cy="2532745"/>
          </a:xfrm>
          <a:prstGeom prst="rect">
            <a:avLst/>
          </a:prstGeom>
        </p:spPr>
        <p:txBody>
          <a:bodyPr>
            <a:spAutoFit/>
          </a:bodyPr>
          <a:lstStyle/>
          <a:p>
            <a:pPr>
              <a:lnSpc>
                <a:spcPct val="150000"/>
              </a:lnSpc>
              <a:defRPr/>
            </a:pPr>
            <a:r>
              <a:rPr lang="en-US" altLang="zh-CN" b="1" dirty="0">
                <a:solidFill>
                  <a:schemeClr val="bg1"/>
                </a:solidFill>
                <a:latin typeface="Times New Roman" panose="02020603050405020304" pitchFamily="18" charset="0"/>
                <a:cs typeface="Times New Roman" panose="02020603050405020304" pitchFamily="18" charset="0"/>
              </a:rPr>
              <a:t>HTML</a:t>
            </a:r>
            <a:r>
              <a:rPr lang="zh-CN" altLang="zh-CN" b="1" dirty="0">
                <a:solidFill>
                  <a:schemeClr val="bg1"/>
                </a:solidFill>
                <a:latin typeface="Times New Roman" panose="02020603050405020304" pitchFamily="18" charset="0"/>
                <a:cs typeface="Times New Roman" panose="02020603050405020304" pitchFamily="18" charset="0"/>
              </a:rPr>
              <a:t>是英文</a:t>
            </a:r>
            <a:r>
              <a:rPr lang="en-US" altLang="zh-CN" b="1" dirty="0">
                <a:solidFill>
                  <a:schemeClr val="bg1"/>
                </a:solidFill>
                <a:latin typeface="Times New Roman" panose="02020603050405020304" pitchFamily="18" charset="0"/>
                <a:cs typeface="Times New Roman" panose="02020603050405020304" pitchFamily="18" charset="0"/>
              </a:rPr>
              <a:t>Hyper Text Markup Language</a:t>
            </a:r>
            <a:r>
              <a:rPr lang="zh-CN" altLang="zh-CN" b="1" dirty="0">
                <a:solidFill>
                  <a:schemeClr val="bg1"/>
                </a:solidFill>
                <a:latin typeface="Times New Roman" panose="02020603050405020304" pitchFamily="18" charset="0"/>
                <a:cs typeface="Times New Roman" panose="02020603050405020304" pitchFamily="18" charset="0"/>
              </a:rPr>
              <a:t>的缩写，中文译为“超文本标记语言”，其主要作用是通过</a:t>
            </a:r>
            <a:r>
              <a:rPr lang="en-US" altLang="zh-CN" b="1" dirty="0">
                <a:solidFill>
                  <a:schemeClr val="bg1"/>
                </a:solidFill>
                <a:latin typeface="Times New Roman" panose="02020603050405020304" pitchFamily="18" charset="0"/>
                <a:cs typeface="Times New Roman" panose="02020603050405020304" pitchFamily="18" charset="0"/>
              </a:rPr>
              <a:t>HTML</a:t>
            </a:r>
            <a:r>
              <a:rPr lang="zh-CN" altLang="zh-CN" b="1" dirty="0">
                <a:solidFill>
                  <a:schemeClr val="bg1"/>
                </a:solidFill>
                <a:latin typeface="Times New Roman" panose="02020603050405020304" pitchFamily="18" charset="0"/>
                <a:cs typeface="Times New Roman" panose="02020603050405020304" pitchFamily="18" charset="0"/>
              </a:rPr>
              <a:t>标记对网页中的文本、图片、声音等内容进行描述。</a:t>
            </a:r>
            <a:r>
              <a:rPr lang="en-US" altLang="zh-CN" b="1" dirty="0">
                <a:solidFill>
                  <a:schemeClr val="bg1"/>
                </a:solidFill>
                <a:latin typeface="Times New Roman" panose="02020603050405020304" pitchFamily="18" charset="0"/>
                <a:cs typeface="Times New Roman" panose="02020603050405020304" pitchFamily="18" charset="0"/>
              </a:rPr>
              <a:t>HTML</a:t>
            </a:r>
            <a:r>
              <a:rPr lang="zh-CN" altLang="zh-CN" b="1" dirty="0">
                <a:solidFill>
                  <a:schemeClr val="bg1"/>
                </a:solidFill>
                <a:latin typeface="Times New Roman" panose="02020603050405020304" pitchFamily="18" charset="0"/>
                <a:cs typeface="Times New Roman" panose="02020603050405020304" pitchFamily="18" charset="0"/>
              </a:rPr>
              <a:t>网页就是一个后缀名为“</a:t>
            </a:r>
            <a:r>
              <a:rPr lang="en-US" altLang="zh-CN" b="1" dirty="0">
                <a:solidFill>
                  <a:schemeClr val="bg1"/>
                </a:solidFill>
                <a:latin typeface="Times New Roman" panose="02020603050405020304" pitchFamily="18" charset="0"/>
                <a:cs typeface="Times New Roman" panose="02020603050405020304" pitchFamily="18" charset="0"/>
              </a:rPr>
              <a:t>.html</a:t>
            </a:r>
            <a:r>
              <a:rPr lang="zh-CN" altLang="zh-CN" b="1" dirty="0">
                <a:solidFill>
                  <a:schemeClr val="bg1"/>
                </a:solidFill>
                <a:latin typeface="Times New Roman" panose="02020603050405020304" pitchFamily="18" charset="0"/>
                <a:cs typeface="Times New Roman" panose="02020603050405020304" pitchFamily="18" charset="0"/>
              </a:rPr>
              <a:t>”或“</a:t>
            </a:r>
            <a:r>
              <a:rPr lang="en-US" altLang="zh-CN" b="1" dirty="0">
                <a:solidFill>
                  <a:schemeClr val="bg1"/>
                </a:solidFill>
                <a:latin typeface="Times New Roman" panose="02020603050405020304" pitchFamily="18" charset="0"/>
                <a:cs typeface="Times New Roman" panose="02020603050405020304" pitchFamily="18" charset="0"/>
              </a:rPr>
              <a:t>.</a:t>
            </a:r>
            <a:r>
              <a:rPr lang="en-US" altLang="zh-CN" b="1" dirty="0" err="1">
                <a:solidFill>
                  <a:schemeClr val="bg1"/>
                </a:solidFill>
                <a:latin typeface="Times New Roman" panose="02020603050405020304" pitchFamily="18" charset="0"/>
                <a:cs typeface="Times New Roman" panose="02020603050405020304" pitchFamily="18" charset="0"/>
              </a:rPr>
              <a:t>htm</a:t>
            </a:r>
            <a:r>
              <a:rPr lang="zh-CN" altLang="zh-CN" b="1" dirty="0">
                <a:solidFill>
                  <a:schemeClr val="bg1"/>
                </a:solidFill>
                <a:latin typeface="Times New Roman" panose="02020603050405020304" pitchFamily="18" charset="0"/>
                <a:cs typeface="Times New Roman" panose="02020603050405020304" pitchFamily="18" charset="0"/>
              </a:rPr>
              <a:t>”的文件，它可以用记事本打开，所以简单的</a:t>
            </a:r>
            <a:r>
              <a:rPr lang="en-US" altLang="zh-CN" b="1" dirty="0">
                <a:solidFill>
                  <a:schemeClr val="bg1"/>
                </a:solidFill>
                <a:latin typeface="Times New Roman" panose="02020603050405020304" pitchFamily="18" charset="0"/>
                <a:cs typeface="Times New Roman" panose="02020603050405020304" pitchFamily="18" charset="0"/>
              </a:rPr>
              <a:t>html</a:t>
            </a:r>
            <a:r>
              <a:rPr lang="zh-CN" altLang="zh-CN" b="1" dirty="0">
                <a:solidFill>
                  <a:schemeClr val="bg1"/>
                </a:solidFill>
                <a:latin typeface="Times New Roman" panose="02020603050405020304" pitchFamily="18" charset="0"/>
                <a:cs typeface="Times New Roman" panose="02020603050405020304" pitchFamily="18" charset="0"/>
              </a:rPr>
              <a:t>代码可以在记事本中编写。</a:t>
            </a:r>
            <a:endParaRPr lang="zh-CN" altLang="zh-CN" b="1" dirty="0">
              <a:solidFill>
                <a:schemeClr val="bg1"/>
              </a:solidFill>
              <a:latin typeface="Times New Roman" panose="02020603050405020304" pitchFamily="18" charset="0"/>
              <a:cs typeface="Times New Roman" panose="02020603050405020304" pitchFamily="18" charset="0"/>
            </a:endParaRPr>
          </a:p>
        </p:txBody>
      </p:sp>
      <p:sp>
        <p:nvSpPr>
          <p:cNvPr id="2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1.1.1  HTML</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简介</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par>
                          <p:cTn id="11" fill="hold">
                            <p:stCondLst>
                              <p:cond delay="500"/>
                            </p:stCondLst>
                            <p:childTnLst>
                              <p:par>
                                <p:cTn id="12" presetID="26" presetClass="emph" presetSubtype="0" fill="hold" nodeType="afterEffect">
                                  <p:stCondLst>
                                    <p:cond delay="0"/>
                                  </p:stCondLst>
                                  <p:childTnLst>
                                    <p:animEffect transition="out" filter="fade">
                                      <p:cBhvr>
                                        <p:cTn id="13" dur="500" tmFilter="0, 0; .2, .5; .8, .5; 1, 0"/>
                                        <p:tgtEl>
                                          <p:spTgt spid="18"/>
                                        </p:tgtEl>
                                      </p:cBhvr>
                                    </p:animEffect>
                                    <p:animScale>
                                      <p:cBhvr>
                                        <p:cTn id="14" dur="250" autoRev="1" fill="hold"/>
                                        <p:tgtEl>
                                          <p:spTgt spid="18"/>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8"/>
                                        </p:tgtEl>
                                      </p:cBhvr>
                                    </p:animEffect>
                                    <p:set>
                                      <p:cBhvr>
                                        <p:cTn id="22" dur="1" fill="hold">
                                          <p:stCondLst>
                                            <p:cond delay="499"/>
                                          </p:stCondLst>
                                        </p:cTn>
                                        <p:tgtEl>
                                          <p:spTgt spid="18"/>
                                        </p:tgtEl>
                                        <p:attrNameLst>
                                          <p:attrName>style.visibility</p:attrName>
                                        </p:attrNameLst>
                                      </p:cBhvr>
                                      <p:to>
                                        <p:strVal val="hidden"/>
                                      </p:to>
                                    </p:set>
                                  </p:childTnLst>
                                </p:cTn>
                              </p:par>
                            </p:childTnLst>
                          </p:cTn>
                        </p:par>
                        <p:par>
                          <p:cTn id="23" fill="hold">
                            <p:stCondLst>
                              <p:cond delay="500"/>
                            </p:stCondLst>
                            <p:childTnLst>
                              <p:par>
                                <p:cTn id="24" presetID="26" presetClass="entr" presetSubtype="0"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580">
                                          <p:stCondLst>
                                            <p:cond delay="0"/>
                                          </p:stCondLst>
                                        </p:cTn>
                                        <p:tgtEl>
                                          <p:spTgt spid="21"/>
                                        </p:tgtEl>
                                      </p:cBhvr>
                                    </p:animEffect>
                                    <p:anim calcmode="lin" valueType="num">
                                      <p:cBhvr>
                                        <p:cTn id="27"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32" dur="26">
                                          <p:stCondLst>
                                            <p:cond delay="650"/>
                                          </p:stCondLst>
                                        </p:cTn>
                                        <p:tgtEl>
                                          <p:spTgt spid="21"/>
                                        </p:tgtEl>
                                      </p:cBhvr>
                                      <p:to x="100000" y="60000"/>
                                    </p:animScale>
                                    <p:animScale>
                                      <p:cBhvr>
                                        <p:cTn id="33" dur="166" decel="50000">
                                          <p:stCondLst>
                                            <p:cond delay="676"/>
                                          </p:stCondLst>
                                        </p:cTn>
                                        <p:tgtEl>
                                          <p:spTgt spid="21"/>
                                        </p:tgtEl>
                                      </p:cBhvr>
                                      <p:to x="100000" y="100000"/>
                                    </p:animScale>
                                    <p:animScale>
                                      <p:cBhvr>
                                        <p:cTn id="34" dur="26">
                                          <p:stCondLst>
                                            <p:cond delay="1312"/>
                                          </p:stCondLst>
                                        </p:cTn>
                                        <p:tgtEl>
                                          <p:spTgt spid="21"/>
                                        </p:tgtEl>
                                      </p:cBhvr>
                                      <p:to x="100000" y="80000"/>
                                    </p:animScale>
                                    <p:animScale>
                                      <p:cBhvr>
                                        <p:cTn id="35" dur="166" decel="50000">
                                          <p:stCondLst>
                                            <p:cond delay="1338"/>
                                          </p:stCondLst>
                                        </p:cTn>
                                        <p:tgtEl>
                                          <p:spTgt spid="21"/>
                                        </p:tgtEl>
                                      </p:cBhvr>
                                      <p:to x="100000" y="100000"/>
                                    </p:animScale>
                                    <p:animScale>
                                      <p:cBhvr>
                                        <p:cTn id="36" dur="26">
                                          <p:stCondLst>
                                            <p:cond delay="1642"/>
                                          </p:stCondLst>
                                        </p:cTn>
                                        <p:tgtEl>
                                          <p:spTgt spid="21"/>
                                        </p:tgtEl>
                                      </p:cBhvr>
                                      <p:to x="100000" y="90000"/>
                                    </p:animScale>
                                    <p:animScale>
                                      <p:cBhvr>
                                        <p:cTn id="37" dur="166" decel="50000">
                                          <p:stCondLst>
                                            <p:cond delay="1668"/>
                                          </p:stCondLst>
                                        </p:cTn>
                                        <p:tgtEl>
                                          <p:spTgt spid="21"/>
                                        </p:tgtEl>
                                      </p:cBhvr>
                                      <p:to x="100000" y="100000"/>
                                    </p:animScale>
                                    <p:animScale>
                                      <p:cBhvr>
                                        <p:cTn id="38" dur="26">
                                          <p:stCondLst>
                                            <p:cond delay="1808"/>
                                          </p:stCondLst>
                                        </p:cTn>
                                        <p:tgtEl>
                                          <p:spTgt spid="21"/>
                                        </p:tgtEl>
                                      </p:cBhvr>
                                      <p:to x="100000" y="95000"/>
                                    </p:animScale>
                                    <p:animScale>
                                      <p:cBhvr>
                                        <p:cTn id="39" dur="166" decel="50000">
                                          <p:stCondLst>
                                            <p:cond delay="1834"/>
                                          </p:stCondLst>
                                        </p:cTn>
                                        <p:tgtEl>
                                          <p:spTgt spid="21"/>
                                        </p:tgtEl>
                                      </p:cBhvr>
                                      <p:to x="100000" y="100000"/>
                                    </p:animScale>
                                  </p:childTnLst>
                                </p:cTn>
                              </p:par>
                              <p:par>
                                <p:cTn id="40" presetID="26"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down)">
                                      <p:cBhvr>
                                        <p:cTn id="42" dur="580">
                                          <p:stCondLst>
                                            <p:cond delay="0"/>
                                          </p:stCondLst>
                                        </p:cTn>
                                        <p:tgtEl>
                                          <p:spTgt spid="25"/>
                                        </p:tgtEl>
                                      </p:cBhvr>
                                    </p:animEffect>
                                    <p:anim calcmode="lin" valueType="num">
                                      <p:cBhvr>
                                        <p:cTn id="43"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48" dur="26">
                                          <p:stCondLst>
                                            <p:cond delay="650"/>
                                          </p:stCondLst>
                                        </p:cTn>
                                        <p:tgtEl>
                                          <p:spTgt spid="25"/>
                                        </p:tgtEl>
                                      </p:cBhvr>
                                      <p:to x="100000" y="60000"/>
                                    </p:animScale>
                                    <p:animScale>
                                      <p:cBhvr>
                                        <p:cTn id="49" dur="166" decel="50000">
                                          <p:stCondLst>
                                            <p:cond delay="676"/>
                                          </p:stCondLst>
                                        </p:cTn>
                                        <p:tgtEl>
                                          <p:spTgt spid="25"/>
                                        </p:tgtEl>
                                      </p:cBhvr>
                                      <p:to x="100000" y="100000"/>
                                    </p:animScale>
                                    <p:animScale>
                                      <p:cBhvr>
                                        <p:cTn id="50" dur="26">
                                          <p:stCondLst>
                                            <p:cond delay="1312"/>
                                          </p:stCondLst>
                                        </p:cTn>
                                        <p:tgtEl>
                                          <p:spTgt spid="25"/>
                                        </p:tgtEl>
                                      </p:cBhvr>
                                      <p:to x="100000" y="80000"/>
                                    </p:animScale>
                                    <p:animScale>
                                      <p:cBhvr>
                                        <p:cTn id="51" dur="166" decel="50000">
                                          <p:stCondLst>
                                            <p:cond delay="1338"/>
                                          </p:stCondLst>
                                        </p:cTn>
                                        <p:tgtEl>
                                          <p:spTgt spid="25"/>
                                        </p:tgtEl>
                                      </p:cBhvr>
                                      <p:to x="100000" y="100000"/>
                                    </p:animScale>
                                    <p:animScale>
                                      <p:cBhvr>
                                        <p:cTn id="52" dur="26">
                                          <p:stCondLst>
                                            <p:cond delay="1642"/>
                                          </p:stCondLst>
                                        </p:cTn>
                                        <p:tgtEl>
                                          <p:spTgt spid="25"/>
                                        </p:tgtEl>
                                      </p:cBhvr>
                                      <p:to x="100000" y="90000"/>
                                    </p:animScale>
                                    <p:animScale>
                                      <p:cBhvr>
                                        <p:cTn id="53" dur="166" decel="50000">
                                          <p:stCondLst>
                                            <p:cond delay="1668"/>
                                          </p:stCondLst>
                                        </p:cTn>
                                        <p:tgtEl>
                                          <p:spTgt spid="25"/>
                                        </p:tgtEl>
                                      </p:cBhvr>
                                      <p:to x="100000" y="100000"/>
                                    </p:animScale>
                                    <p:animScale>
                                      <p:cBhvr>
                                        <p:cTn id="54" dur="26">
                                          <p:stCondLst>
                                            <p:cond delay="1808"/>
                                          </p:stCondLst>
                                        </p:cTn>
                                        <p:tgtEl>
                                          <p:spTgt spid="25"/>
                                        </p:tgtEl>
                                      </p:cBhvr>
                                      <p:to x="100000" y="95000"/>
                                    </p:animScale>
                                    <p:animScale>
                                      <p:cBhvr>
                                        <p:cTn id="55" dur="166" decel="50000">
                                          <p:stCondLst>
                                            <p:cond delay="1834"/>
                                          </p:stCondLst>
                                        </p:cTn>
                                        <p:tgtEl>
                                          <p:spTgt spid="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24"/>
          <p:cNvSpPr>
            <a:spLocks noChangeArrowheads="1"/>
          </p:cNvSpPr>
          <p:nvPr/>
        </p:nvSpPr>
        <p:spPr bwMode="auto">
          <a:xfrm>
            <a:off x="542925" y="1699542"/>
            <a:ext cx="8102600" cy="4321746"/>
          </a:xfrm>
          <a:prstGeom prst="rect">
            <a:avLst/>
          </a:prstGeom>
          <a:noFill/>
          <a:ln w="19050" algn="ctr">
            <a:solidFill>
              <a:srgbClr val="006BA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pPr>
            <a:endParaRPr lang="zh-CN" altLang="en-US"/>
          </a:p>
        </p:txBody>
      </p:sp>
      <p:sp>
        <p:nvSpPr>
          <p:cNvPr id="22" name="TextBox 21"/>
          <p:cNvSpPr txBox="1">
            <a:spLocks noChangeArrowheads="1"/>
          </p:cNvSpPr>
          <p:nvPr/>
        </p:nvSpPr>
        <p:spPr bwMode="auto">
          <a:xfrm>
            <a:off x="619125" y="2036092"/>
            <a:ext cx="7937500" cy="3830638"/>
          </a:xfrm>
          <a:prstGeom prst="rect">
            <a:avLst/>
          </a:prstGeom>
          <a:solidFill>
            <a:srgbClr val="E7F4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dirty="0"/>
              <a:t>&lt;!DOCTYPE html PUBLIC "-//W3C//DTD HTML 4.01 Transitional//EN" </a:t>
            </a:r>
            <a:endParaRPr lang="zh-CN" altLang="zh-CN" dirty="0"/>
          </a:p>
          <a:p>
            <a:pPr>
              <a:lnSpc>
                <a:spcPct val="150000"/>
              </a:lnSpc>
            </a:pPr>
            <a:r>
              <a:rPr lang="en-US" altLang="zh-CN" dirty="0"/>
              <a:t>"http://www.w3.org/TR/html4/loose.dtd"&gt;</a:t>
            </a:r>
            <a:endParaRPr lang="zh-CN" altLang="zh-CN" dirty="0"/>
          </a:p>
          <a:p>
            <a:pPr>
              <a:lnSpc>
                <a:spcPct val="150000"/>
              </a:lnSpc>
            </a:pPr>
            <a:r>
              <a:rPr lang="en-US" altLang="zh-CN" dirty="0"/>
              <a:t>&lt;html&gt;</a:t>
            </a:r>
            <a:endParaRPr lang="zh-CN" altLang="zh-CN" dirty="0"/>
          </a:p>
          <a:p>
            <a:pPr lvl="1">
              <a:lnSpc>
                <a:spcPct val="150000"/>
              </a:lnSpc>
            </a:pPr>
            <a:r>
              <a:rPr lang="en-US" altLang="zh-CN" dirty="0"/>
              <a:t>&lt;head&gt;</a:t>
            </a:r>
            <a:endParaRPr lang="zh-CN" altLang="zh-CN" dirty="0"/>
          </a:p>
          <a:p>
            <a:pPr lvl="1">
              <a:lnSpc>
                <a:spcPct val="150000"/>
              </a:lnSpc>
            </a:pPr>
            <a:r>
              <a:rPr lang="en-US" altLang="zh-CN" dirty="0"/>
              <a:t>	&lt;title&gt;Insert title here&lt;/title&gt;</a:t>
            </a:r>
            <a:endParaRPr lang="zh-CN" altLang="zh-CN" dirty="0"/>
          </a:p>
          <a:p>
            <a:pPr lvl="1">
              <a:lnSpc>
                <a:spcPct val="150000"/>
              </a:lnSpc>
            </a:pPr>
            <a:r>
              <a:rPr lang="en-US" altLang="zh-CN" dirty="0"/>
              <a:t>&lt;/head&gt;</a:t>
            </a:r>
            <a:endParaRPr lang="zh-CN" altLang="zh-CN" dirty="0"/>
          </a:p>
          <a:p>
            <a:pPr lvl="1">
              <a:lnSpc>
                <a:spcPct val="150000"/>
              </a:lnSpc>
            </a:pPr>
            <a:r>
              <a:rPr lang="en-US" altLang="zh-CN" dirty="0"/>
              <a:t>&lt;body&gt;</a:t>
            </a:r>
            <a:endParaRPr lang="zh-CN" altLang="zh-CN" dirty="0"/>
          </a:p>
          <a:p>
            <a:pPr lvl="1">
              <a:lnSpc>
                <a:spcPct val="150000"/>
              </a:lnSpc>
            </a:pPr>
            <a:r>
              <a:rPr lang="en-US" altLang="zh-CN" dirty="0"/>
              <a:t>&lt;/body&gt;</a:t>
            </a:r>
            <a:endParaRPr lang="zh-CN" altLang="zh-CN" dirty="0"/>
          </a:p>
          <a:p>
            <a:pPr>
              <a:lnSpc>
                <a:spcPct val="150000"/>
              </a:lnSpc>
            </a:pPr>
            <a:r>
              <a:rPr lang="en-US" altLang="zh-CN" dirty="0"/>
              <a:t>&lt;/html&gt;</a:t>
            </a:r>
            <a:endParaRPr lang="zh-CN" altLang="zh-CN" dirty="0"/>
          </a:p>
        </p:txBody>
      </p:sp>
      <p:sp>
        <p:nvSpPr>
          <p:cNvPr id="23" name="矩形 22"/>
          <p:cNvSpPr>
            <a:spLocks noChangeArrowheads="1"/>
          </p:cNvSpPr>
          <p:nvPr/>
        </p:nvSpPr>
        <p:spPr bwMode="auto">
          <a:xfrm>
            <a:off x="668338" y="2978597"/>
            <a:ext cx="881062" cy="306387"/>
          </a:xfrm>
          <a:prstGeom prst="rect">
            <a:avLst/>
          </a:prstGeom>
          <a:noFill/>
          <a:ln w="19050">
            <a:solidFill>
              <a:srgbClr val="0070C0"/>
            </a:solidFill>
            <a:miter lim="800000"/>
          </a:ln>
        </p:spPr>
        <p:txBody>
          <a:bodyPr anchor="ctr">
            <a:spAutoFit/>
          </a:bodyPr>
          <a:lstStyle/>
          <a:p>
            <a:pPr algn="ctr"/>
            <a:endParaRPr lang="zh-CN" altLang="en-US"/>
          </a:p>
        </p:txBody>
      </p:sp>
      <p:cxnSp>
        <p:nvCxnSpPr>
          <p:cNvPr id="24" name="直接箭头连接符 23"/>
          <p:cNvCxnSpPr>
            <a:cxnSpLocks noChangeShapeType="1"/>
          </p:cNvCxnSpPr>
          <p:nvPr/>
        </p:nvCxnSpPr>
        <p:spPr bwMode="auto">
          <a:xfrm>
            <a:off x="1674813" y="3104480"/>
            <a:ext cx="1428750" cy="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圆角矩形 24"/>
          <p:cNvSpPr/>
          <p:nvPr/>
        </p:nvSpPr>
        <p:spPr>
          <a:xfrm>
            <a:off x="3238500" y="2877467"/>
            <a:ext cx="935038" cy="407988"/>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根标记</a:t>
            </a:r>
            <a:endParaRPr lang="en-US" altLang="zh-CN" b="1" dirty="0">
              <a:solidFill>
                <a:schemeClr val="bg1"/>
              </a:solidFill>
            </a:endParaRPr>
          </a:p>
        </p:txBody>
      </p:sp>
      <p:sp>
        <p:nvSpPr>
          <p:cNvPr id="26" name="矩形 25"/>
          <p:cNvSpPr>
            <a:spLocks noChangeArrowheads="1"/>
          </p:cNvSpPr>
          <p:nvPr/>
        </p:nvSpPr>
        <p:spPr bwMode="auto">
          <a:xfrm>
            <a:off x="1108869" y="3387054"/>
            <a:ext cx="949325" cy="306387"/>
          </a:xfrm>
          <a:prstGeom prst="rect">
            <a:avLst/>
          </a:prstGeom>
          <a:noFill/>
          <a:ln w="19050">
            <a:solidFill>
              <a:srgbClr val="0070C0"/>
            </a:solidFill>
            <a:miter lim="800000"/>
          </a:ln>
        </p:spPr>
        <p:txBody>
          <a:bodyPr anchor="ctr">
            <a:spAutoFit/>
          </a:bodyPr>
          <a:lstStyle/>
          <a:p>
            <a:pPr algn="ctr"/>
            <a:endParaRPr lang="zh-CN" altLang="en-US"/>
          </a:p>
        </p:txBody>
      </p:sp>
      <p:cxnSp>
        <p:nvCxnSpPr>
          <p:cNvPr id="27" name="直接箭头连接符 26"/>
          <p:cNvCxnSpPr>
            <a:cxnSpLocks noChangeShapeType="1"/>
          </p:cNvCxnSpPr>
          <p:nvPr/>
        </p:nvCxnSpPr>
        <p:spPr bwMode="auto">
          <a:xfrm>
            <a:off x="2154238" y="3526755"/>
            <a:ext cx="1428750" cy="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圆角矩形 27"/>
          <p:cNvSpPr/>
          <p:nvPr/>
        </p:nvSpPr>
        <p:spPr>
          <a:xfrm>
            <a:off x="3708400" y="3336255"/>
            <a:ext cx="1200150"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头部标记</a:t>
            </a:r>
            <a:endParaRPr lang="en-US" altLang="zh-CN" b="1" dirty="0">
              <a:solidFill>
                <a:schemeClr val="bg1"/>
              </a:solidFill>
            </a:endParaRPr>
          </a:p>
        </p:txBody>
      </p:sp>
      <p:sp>
        <p:nvSpPr>
          <p:cNvPr id="29" name="矩形 28"/>
          <p:cNvSpPr>
            <a:spLocks noChangeArrowheads="1"/>
          </p:cNvSpPr>
          <p:nvPr/>
        </p:nvSpPr>
        <p:spPr bwMode="auto">
          <a:xfrm>
            <a:off x="1089025" y="4614192"/>
            <a:ext cx="960438" cy="306388"/>
          </a:xfrm>
          <a:prstGeom prst="rect">
            <a:avLst/>
          </a:prstGeom>
          <a:noFill/>
          <a:ln w="19050">
            <a:solidFill>
              <a:srgbClr val="0070C0"/>
            </a:solidFill>
            <a:miter lim="800000"/>
          </a:ln>
        </p:spPr>
        <p:txBody>
          <a:bodyPr anchor="ctr">
            <a:spAutoFit/>
          </a:bodyPr>
          <a:lstStyle/>
          <a:p>
            <a:pPr algn="ctr"/>
            <a:endParaRPr lang="zh-CN" altLang="en-US"/>
          </a:p>
        </p:txBody>
      </p:sp>
      <p:cxnSp>
        <p:nvCxnSpPr>
          <p:cNvPr id="30" name="直接箭头连接符 29"/>
          <p:cNvCxnSpPr>
            <a:cxnSpLocks noChangeShapeType="1"/>
          </p:cNvCxnSpPr>
          <p:nvPr/>
        </p:nvCxnSpPr>
        <p:spPr bwMode="auto">
          <a:xfrm>
            <a:off x="2162175" y="4766592"/>
            <a:ext cx="1428750" cy="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圆角矩形 30"/>
          <p:cNvSpPr/>
          <p:nvPr/>
        </p:nvSpPr>
        <p:spPr>
          <a:xfrm>
            <a:off x="3716338" y="4576092"/>
            <a:ext cx="1200150" cy="407988"/>
          </a:xfrm>
          <a:prstGeom prst="roundRect">
            <a:avLst/>
          </a:prstGeom>
          <a:solidFill>
            <a:srgbClr val="0070C0"/>
          </a:solidFill>
          <a:ln>
            <a:no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主体标记</a:t>
            </a:r>
            <a:endParaRPr lang="en-US" altLang="zh-CN" b="1" dirty="0">
              <a:solidFill>
                <a:schemeClr val="bg1"/>
              </a:solidFill>
            </a:endParaRPr>
          </a:p>
        </p:txBody>
      </p:sp>
      <p:sp>
        <p:nvSpPr>
          <p:cNvPr id="32" name="矩形 31"/>
          <p:cNvSpPr>
            <a:spLocks noChangeArrowheads="1"/>
          </p:cNvSpPr>
          <p:nvPr/>
        </p:nvSpPr>
        <p:spPr bwMode="auto">
          <a:xfrm>
            <a:off x="696913" y="2140867"/>
            <a:ext cx="1382712" cy="306388"/>
          </a:xfrm>
          <a:prstGeom prst="rect">
            <a:avLst/>
          </a:prstGeom>
          <a:noFill/>
          <a:ln w="19050">
            <a:solidFill>
              <a:srgbClr val="0070C0"/>
            </a:solidFill>
            <a:miter lim="800000"/>
          </a:ln>
        </p:spPr>
        <p:txBody>
          <a:bodyPr anchor="ctr">
            <a:spAutoFit/>
          </a:bodyPr>
          <a:lstStyle/>
          <a:p>
            <a:pPr algn="ctr"/>
            <a:endParaRPr lang="zh-CN" altLang="en-US"/>
          </a:p>
        </p:txBody>
      </p:sp>
      <p:cxnSp>
        <p:nvCxnSpPr>
          <p:cNvPr id="33" name="直接箭头连接符 32"/>
          <p:cNvCxnSpPr>
            <a:cxnSpLocks noChangeShapeType="1"/>
          </p:cNvCxnSpPr>
          <p:nvPr/>
        </p:nvCxnSpPr>
        <p:spPr bwMode="auto">
          <a:xfrm flipV="1">
            <a:off x="2182813" y="1821780"/>
            <a:ext cx="1152525" cy="319087"/>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圆角矩形 33"/>
          <p:cNvSpPr/>
          <p:nvPr/>
        </p:nvSpPr>
        <p:spPr>
          <a:xfrm>
            <a:off x="3421063" y="1588417"/>
            <a:ext cx="1660525" cy="407988"/>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文档类型标记</a:t>
            </a:r>
            <a:endParaRPr lang="en-US" altLang="zh-CN" b="1" dirty="0">
              <a:solidFill>
                <a:schemeClr val="bg1"/>
              </a:solidFill>
            </a:endParaRPr>
          </a:p>
        </p:txBody>
      </p:sp>
      <p:sp>
        <p:nvSpPr>
          <p:cNvPr id="35" name="任意多边形 34"/>
          <p:cNvSpPr/>
          <p:nvPr/>
        </p:nvSpPr>
        <p:spPr bwMode="auto">
          <a:xfrm>
            <a:off x="5733653" y="1272505"/>
            <a:ext cx="21986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36" name="矩形 35"/>
          <p:cNvSpPr>
            <a:spLocks noChangeArrowheads="1"/>
          </p:cNvSpPr>
          <p:nvPr/>
        </p:nvSpPr>
        <p:spPr bwMode="auto">
          <a:xfrm>
            <a:off x="5724128" y="1329655"/>
            <a:ext cx="2225675" cy="369887"/>
          </a:xfrm>
          <a:prstGeom prst="rect">
            <a:avLst/>
          </a:prstGeom>
          <a:noFill/>
          <a:ln>
            <a:noFill/>
          </a:ln>
        </p:spPr>
        <p:txBody>
          <a:bodyPr wrap="none">
            <a:spAutoFit/>
          </a:bodyPr>
          <a:lstStyle/>
          <a:p>
            <a:pPr eaLnBrk="1" hangingPunct="1"/>
            <a:r>
              <a:rPr lang="en-US" altLang="zh-CN" dirty="0">
                <a:solidFill>
                  <a:schemeClr val="bg1"/>
                </a:solidFill>
                <a:latin typeface="微软雅黑" panose="020B0503020204020204" pitchFamily="34" charset="-122"/>
                <a:ea typeface="微软雅黑" panose="020B0503020204020204" pitchFamily="34" charset="-122"/>
              </a:rPr>
              <a:t>HTML</a:t>
            </a:r>
            <a:r>
              <a:rPr lang="zh-CN" altLang="en-US" dirty="0">
                <a:solidFill>
                  <a:schemeClr val="bg1"/>
                </a:solidFill>
                <a:latin typeface="微软雅黑" panose="020B0503020204020204" pitchFamily="34" charset="-122"/>
                <a:ea typeface="微软雅黑" panose="020B0503020204020204" pitchFamily="34" charset="-122"/>
              </a:rPr>
              <a:t>文档内部构成</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9"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0"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1.1.1  HTML</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简介</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500"/>
                                        <p:tgtEl>
                                          <p:spTgt spid="3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500"/>
                                        <p:tgtEl>
                                          <p:spTgt spid="32"/>
                                        </p:tgtEl>
                                      </p:cBhvr>
                                    </p:animEffect>
                                  </p:childTnLst>
                                </p:cTn>
                              </p:par>
                              <p:par>
                                <p:cTn id="22" presetID="22" presetClass="entr" presetSubtype="8"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8"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par>
                                <p:cTn id="44" presetID="22" presetClass="entr" presetSubtype="8"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par>
                                <p:cTn id="55" presetID="22" presetClass="entr" presetSubtype="8"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left)">
                                      <p:cBhvr>
                                        <p:cTn id="57" dur="500"/>
                                        <p:tgtEl>
                                          <p:spTgt spid="30"/>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3" grpId="0" animBg="1"/>
      <p:bldP spid="25" grpId="0" animBg="1"/>
      <p:bldP spid="26" grpId="0" animBg="1"/>
      <p:bldP spid="28" grpId="0" animBg="1"/>
      <p:bldP spid="29" grpId="0" animBg="1"/>
      <p:bldP spid="31" grpId="0" animBg="1"/>
      <p:bldP spid="32" grpId="0" animBg="1"/>
      <p:bldP spid="34" grpId="0" animBg="1"/>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bwMode="auto">
          <a:xfrm>
            <a:off x="515938" y="4213821"/>
            <a:ext cx="8137525" cy="140970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矩形 19"/>
          <p:cNvSpPr/>
          <p:nvPr/>
        </p:nvSpPr>
        <p:spPr bwMode="auto">
          <a:xfrm>
            <a:off x="508000" y="2099271"/>
            <a:ext cx="8137525" cy="151130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7" name="矩形 23"/>
          <p:cNvSpPr>
            <a:spLocks noChangeArrowheads="1"/>
          </p:cNvSpPr>
          <p:nvPr/>
        </p:nvSpPr>
        <p:spPr bwMode="auto">
          <a:xfrm>
            <a:off x="508000" y="2129433"/>
            <a:ext cx="813752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mn-ea"/>
              </a:rPr>
              <a:t>单</a:t>
            </a:r>
            <a:r>
              <a:rPr lang="zh-CN" altLang="zh-CN" dirty="0">
                <a:latin typeface="+mn-ea"/>
              </a:rPr>
              <a:t>标记也称空标记，是指用一个标记符号即可完整地描述某个功能的标记。其基本语法格式如下：</a:t>
            </a:r>
            <a:endParaRPr lang="zh-CN" altLang="zh-CN" dirty="0">
              <a:latin typeface="+mn-ea"/>
            </a:endParaRPr>
          </a:p>
        </p:txBody>
      </p:sp>
      <p:sp>
        <p:nvSpPr>
          <p:cNvPr id="38" name="矩形 23"/>
          <p:cNvSpPr>
            <a:spLocks noChangeArrowheads="1"/>
          </p:cNvSpPr>
          <p:nvPr/>
        </p:nvSpPr>
        <p:spPr bwMode="auto">
          <a:xfrm>
            <a:off x="563563" y="4348758"/>
            <a:ext cx="813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Arial" panose="020B0604020202020204" pitchFamily="34" charset="0"/>
              <a:buChar char="–"/>
            </a:pPr>
            <a:r>
              <a:rPr lang="zh-CN" altLang="zh-CN" dirty="0" smtClean="0">
                <a:latin typeface="+mn-ea"/>
              </a:rPr>
              <a:t>双</a:t>
            </a:r>
            <a:r>
              <a:rPr lang="zh-CN" altLang="zh-CN" dirty="0">
                <a:latin typeface="+mn-ea"/>
              </a:rPr>
              <a:t>标记也称体标记，是指由开始和结束两个标记符组成的标记。其基本语法格式如下：</a:t>
            </a:r>
            <a:endParaRPr lang="zh-CN" altLang="zh-CN" dirty="0">
              <a:latin typeface="+mn-ea"/>
            </a:endParaRPr>
          </a:p>
        </p:txBody>
      </p:sp>
      <p:sp>
        <p:nvSpPr>
          <p:cNvPr id="39" name="矩形 16"/>
          <p:cNvSpPr>
            <a:spLocks noChangeArrowheads="1"/>
          </p:cNvSpPr>
          <p:nvPr/>
        </p:nvSpPr>
        <p:spPr bwMode="auto">
          <a:xfrm>
            <a:off x="563563" y="3051771"/>
            <a:ext cx="8042275" cy="38576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marL="742950" lvl="1" indent="-285750"/>
            <a:r>
              <a:rPr lang="en-US" altLang="zh-CN"/>
              <a:t>&lt;</a:t>
            </a:r>
            <a:r>
              <a:rPr lang="zh-CN" altLang="en-US"/>
              <a:t>标记名 </a:t>
            </a:r>
            <a:r>
              <a:rPr lang="en-US" altLang="zh-CN"/>
              <a:t>/&gt;</a:t>
            </a:r>
            <a:endParaRPr lang="zh-CN" altLang="zh-CN"/>
          </a:p>
        </p:txBody>
      </p:sp>
      <p:sp>
        <p:nvSpPr>
          <p:cNvPr id="40" name="矩形 16"/>
          <p:cNvSpPr>
            <a:spLocks noChangeArrowheads="1"/>
          </p:cNvSpPr>
          <p:nvPr/>
        </p:nvSpPr>
        <p:spPr bwMode="auto">
          <a:xfrm>
            <a:off x="563563" y="5077421"/>
            <a:ext cx="8042275" cy="477837"/>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marL="342900" indent="-342900"/>
            <a:r>
              <a:rPr lang="en-US" altLang="zh-CN"/>
              <a:t>&lt;</a:t>
            </a:r>
            <a:r>
              <a:rPr lang="zh-CN" altLang="en-US"/>
              <a:t>标记名</a:t>
            </a:r>
            <a:r>
              <a:rPr lang="en-US" altLang="zh-CN"/>
              <a:t>&gt;</a:t>
            </a:r>
            <a:r>
              <a:rPr lang="zh-CN" altLang="en-US"/>
              <a:t>内容</a:t>
            </a:r>
            <a:r>
              <a:rPr lang="en-US" altLang="zh-CN"/>
              <a:t>&lt;/</a:t>
            </a:r>
            <a:r>
              <a:rPr lang="zh-CN" altLang="en-US"/>
              <a:t>标记名</a:t>
            </a:r>
            <a:r>
              <a:rPr lang="en-US" altLang="zh-CN"/>
              <a:t>&gt;</a:t>
            </a:r>
            <a:endParaRPr lang="en-US" altLang="zh-CN"/>
          </a:p>
          <a:p>
            <a:pPr marL="742950" lvl="1" indent="-285750"/>
            <a:endParaRPr lang="zh-CN" altLang="zh-CN" sz="1400"/>
          </a:p>
        </p:txBody>
      </p:sp>
      <p:sp>
        <p:nvSpPr>
          <p:cNvPr id="45" name="任意多边形 44"/>
          <p:cNvSpPr/>
          <p:nvPr/>
        </p:nvSpPr>
        <p:spPr bwMode="auto">
          <a:xfrm>
            <a:off x="6156176" y="1700808"/>
            <a:ext cx="16224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6" name="矩形 45"/>
          <p:cNvSpPr>
            <a:spLocks noChangeArrowheads="1"/>
          </p:cNvSpPr>
          <p:nvPr/>
        </p:nvSpPr>
        <p:spPr bwMode="auto">
          <a:xfrm>
            <a:off x="6492726" y="1757958"/>
            <a:ext cx="87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单标记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47" name="任意多边形 46"/>
          <p:cNvSpPr/>
          <p:nvPr/>
        </p:nvSpPr>
        <p:spPr bwMode="auto">
          <a:xfrm>
            <a:off x="6156176" y="3818905"/>
            <a:ext cx="1612900"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8" name="矩形 47"/>
          <p:cNvSpPr>
            <a:spLocks noChangeArrowheads="1"/>
          </p:cNvSpPr>
          <p:nvPr/>
        </p:nvSpPr>
        <p:spPr bwMode="auto">
          <a:xfrm>
            <a:off x="6502251" y="3876055"/>
            <a:ext cx="87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双标记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8" name="圆角矩形标注 17"/>
          <p:cNvSpPr>
            <a:spLocks noChangeArrowheads="1"/>
          </p:cNvSpPr>
          <p:nvPr/>
        </p:nvSpPr>
        <p:spPr bwMode="auto">
          <a:xfrm>
            <a:off x="1042988" y="3683224"/>
            <a:ext cx="3168972" cy="648072"/>
          </a:xfrm>
          <a:prstGeom prst="wedgeRoundRectCallout">
            <a:avLst>
              <a:gd name="adj1" fmla="val -28902"/>
              <a:gd name="adj2" fmla="val -77434"/>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b="1" dirty="0">
                <a:solidFill>
                  <a:schemeClr val="bg1"/>
                </a:solidFill>
                <a:latin typeface="+mn-ea"/>
                <a:ea typeface="+mn-ea"/>
              </a:rPr>
              <a:t>注意：标记名与“</a:t>
            </a:r>
            <a:r>
              <a:rPr lang="en-US" altLang="zh-CN" sz="1600" b="1" dirty="0">
                <a:solidFill>
                  <a:schemeClr val="bg1"/>
                </a:solidFill>
                <a:latin typeface="+mn-ea"/>
                <a:ea typeface="+mn-ea"/>
              </a:rPr>
              <a:t>/</a:t>
            </a:r>
            <a:r>
              <a:rPr lang="zh-CN" altLang="en-US" sz="1600" b="1" dirty="0">
                <a:solidFill>
                  <a:schemeClr val="bg1"/>
                </a:solidFill>
                <a:latin typeface="+mn-ea"/>
                <a:ea typeface="+mn-ea"/>
              </a:rPr>
              <a:t>”</a:t>
            </a:r>
            <a:r>
              <a:rPr lang="zh-CN" altLang="en-US" sz="1600" b="1" dirty="0" smtClean="0">
                <a:solidFill>
                  <a:schemeClr val="bg1"/>
                </a:solidFill>
                <a:latin typeface="+mn-ea"/>
                <a:ea typeface="+mn-ea"/>
              </a:rPr>
              <a:t>之间</a:t>
            </a:r>
            <a:r>
              <a:rPr lang="zh-CN" altLang="en-US" sz="1600" b="1" dirty="0" smtClean="0">
                <a:solidFill>
                  <a:schemeClr val="bg1"/>
                </a:solidFill>
                <a:latin typeface="+mn-ea"/>
                <a:ea typeface="+mn-ea"/>
                <a:cs typeface="楷体_GB2312"/>
              </a:rPr>
              <a:t>有</a:t>
            </a:r>
            <a:r>
              <a:rPr lang="zh-CN" altLang="en-US" sz="1600" b="1" dirty="0">
                <a:solidFill>
                  <a:schemeClr val="bg1"/>
                </a:solidFill>
                <a:latin typeface="+mn-ea"/>
                <a:ea typeface="+mn-ea"/>
                <a:cs typeface="楷体_GB2312"/>
              </a:rPr>
              <a:t>一个空格，按照规范</a:t>
            </a:r>
            <a:r>
              <a:rPr lang="zh-CN" altLang="en-US" sz="1600" b="1" dirty="0" smtClean="0">
                <a:solidFill>
                  <a:schemeClr val="bg1"/>
                </a:solidFill>
                <a:latin typeface="+mn-ea"/>
                <a:ea typeface="+mn-ea"/>
                <a:cs typeface="楷体_GB2312"/>
              </a:rPr>
              <a:t>要求建议</a:t>
            </a:r>
            <a:r>
              <a:rPr lang="zh-CN" altLang="en-US" sz="1600" b="1" dirty="0">
                <a:solidFill>
                  <a:schemeClr val="bg1"/>
                </a:solidFill>
                <a:latin typeface="+mn-ea"/>
                <a:ea typeface="+mn-ea"/>
                <a:cs typeface="楷体_GB2312"/>
              </a:rPr>
              <a:t>加上。</a:t>
            </a:r>
            <a:endParaRPr lang="zh-CN" altLang="en-US" sz="1600" b="1" dirty="0">
              <a:solidFill>
                <a:schemeClr val="bg1"/>
              </a:solidFill>
              <a:latin typeface="+mn-ea"/>
              <a:ea typeface="+mn-ea"/>
              <a:cs typeface="楷体_GB2312"/>
            </a:endParaRPr>
          </a:p>
        </p:txBody>
      </p:sp>
      <p:sp>
        <p:nvSpPr>
          <p:cNvPr id="1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1.1.2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单标记和双标记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par>
                                <p:cTn id="8" presetID="22" presetClass="entr" presetSubtype="8"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wipe(left)">
                                      <p:cBhvr>
                                        <p:cTn id="10" dur="500"/>
                                        <p:tgtEl>
                                          <p:spTgt spid="45"/>
                                        </p:tgtEl>
                                      </p:cBhvr>
                                    </p:animEffect>
                                  </p:childTnLst>
                                </p:cTn>
                              </p:par>
                              <p:par>
                                <p:cTn id="11" presetID="22" presetClass="entr" presetSubtype="8"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500"/>
                                        <p:tgtEl>
                                          <p:spTgt spid="2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500"/>
                                        <p:tgtEl>
                                          <p:spTgt spid="3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500"/>
                                        <p:tgtEl>
                                          <p:spTgt spid="39"/>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up)">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up)">
                                      <p:cBhvr>
                                        <p:cTn id="32" dur="500"/>
                                        <p:tgtEl>
                                          <p:spTgt spid="48"/>
                                        </p:tgtEl>
                                      </p:cBhvr>
                                    </p:animEffect>
                                  </p:childTnLst>
                                </p:cTn>
                              </p:par>
                              <p:par>
                                <p:cTn id="33" presetID="22" presetClass="entr" presetSubtype="1"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up)">
                                      <p:cBhvr>
                                        <p:cTn id="35" dur="500"/>
                                        <p:tgtEl>
                                          <p:spTgt spid="47"/>
                                        </p:tgtEl>
                                      </p:cBhvr>
                                    </p:animEffect>
                                  </p:childTnLst>
                                </p:cTn>
                              </p:par>
                              <p:par>
                                <p:cTn id="36" presetID="22" presetClass="entr" presetSubtype="1"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up)">
                                      <p:cBhvr>
                                        <p:cTn id="38" dur="500"/>
                                        <p:tgtEl>
                                          <p:spTgt spid="19"/>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up)">
                                      <p:cBhvr>
                                        <p:cTn id="41" dur="500"/>
                                        <p:tgtEl>
                                          <p:spTgt spid="38"/>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up)">
                                      <p:cBhvr>
                                        <p:cTn id="4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animBg="1"/>
      <p:bldP spid="40" grpId="0" animBg="1"/>
      <p:bldP spid="46" grpId="0"/>
      <p:bldP spid="48" grpId="0"/>
      <p:bldP spid="18" grpId="0" animBg="1"/>
      <p:bldP spid="1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bwMode="auto">
          <a:xfrm>
            <a:off x="508000" y="2271861"/>
            <a:ext cx="8137525" cy="2659063"/>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矩形 15"/>
          <p:cNvSpPr>
            <a:spLocks noChangeArrowheads="1"/>
          </p:cNvSpPr>
          <p:nvPr/>
        </p:nvSpPr>
        <p:spPr bwMode="auto">
          <a:xfrm>
            <a:off x="571500" y="2405211"/>
            <a:ext cx="8040688" cy="85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mn-ea"/>
              </a:rPr>
              <a:t>为了</a:t>
            </a:r>
            <a:r>
              <a:rPr lang="zh-CN" altLang="zh-CN" dirty="0">
                <a:latin typeface="+mn-ea"/>
              </a:rPr>
              <a:t>使网页中的文字有条理地显示出来，</a:t>
            </a:r>
            <a:r>
              <a:rPr lang="en-US" altLang="zh-CN" dirty="0">
                <a:latin typeface="+mn-ea"/>
              </a:rPr>
              <a:t>HTML</a:t>
            </a:r>
            <a:r>
              <a:rPr lang="zh-CN" altLang="zh-CN" dirty="0">
                <a:latin typeface="+mn-ea"/>
              </a:rPr>
              <a:t>提供了段落标记</a:t>
            </a:r>
            <a:r>
              <a:rPr lang="en-US" altLang="zh-CN" dirty="0">
                <a:latin typeface="+mn-ea"/>
              </a:rPr>
              <a:t>&lt;p&gt;&lt;/p&gt;</a:t>
            </a:r>
            <a:r>
              <a:rPr lang="zh-CN" altLang="zh-CN" dirty="0">
                <a:latin typeface="+mn-ea"/>
              </a:rPr>
              <a:t>，如果希望某段文本强制换行显示，就需要使用换行标记</a:t>
            </a:r>
            <a:r>
              <a:rPr lang="en-US" altLang="zh-CN" dirty="0">
                <a:latin typeface="+mn-ea"/>
              </a:rPr>
              <a:t>&lt;</a:t>
            </a:r>
            <a:r>
              <a:rPr lang="en-US" altLang="zh-CN" dirty="0" err="1">
                <a:latin typeface="+mn-ea"/>
              </a:rPr>
              <a:t>br</a:t>
            </a:r>
            <a:r>
              <a:rPr lang="en-US" altLang="zh-CN" dirty="0">
                <a:latin typeface="+mn-ea"/>
              </a:rPr>
              <a:t> /&gt;</a:t>
            </a:r>
            <a:r>
              <a:rPr lang="zh-CN" altLang="zh-CN" dirty="0">
                <a:latin typeface="+mn-ea"/>
              </a:rPr>
              <a:t>。</a:t>
            </a:r>
            <a:endParaRPr lang="zh-CN" altLang="zh-CN" sz="1600" dirty="0">
              <a:latin typeface="+mn-ea"/>
            </a:endParaRPr>
          </a:p>
        </p:txBody>
      </p:sp>
      <p:sp>
        <p:nvSpPr>
          <p:cNvPr id="24" name="矩形 16"/>
          <p:cNvSpPr>
            <a:spLocks noChangeArrowheads="1"/>
          </p:cNvSpPr>
          <p:nvPr/>
        </p:nvSpPr>
        <p:spPr bwMode="auto">
          <a:xfrm>
            <a:off x="563563" y="3400574"/>
            <a:ext cx="8042275" cy="139541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lvl="1">
              <a:lnSpc>
                <a:spcPct val="150000"/>
              </a:lnSpc>
            </a:pPr>
            <a:r>
              <a:rPr lang="en-US" altLang="zh-CN"/>
              <a:t>&lt;body&gt;</a:t>
            </a:r>
            <a:endParaRPr lang="zh-CN" altLang="zh-CN"/>
          </a:p>
          <a:p>
            <a:pPr lvl="1">
              <a:lnSpc>
                <a:spcPct val="150000"/>
              </a:lnSpc>
            </a:pPr>
            <a:r>
              <a:rPr lang="en-US" altLang="zh-CN"/>
              <a:t>   &lt;p&gt;</a:t>
            </a:r>
            <a:r>
              <a:rPr lang="zh-CN" altLang="zh-CN"/>
              <a:t>使用</a:t>
            </a:r>
            <a:r>
              <a:rPr lang="en-US" altLang="zh-CN"/>
              <a:t>HTML</a:t>
            </a:r>
            <a:r>
              <a:rPr lang="zh-CN" altLang="zh-CN"/>
              <a:t>制作网页时通过</a:t>
            </a:r>
            <a:r>
              <a:rPr lang="en-US" altLang="zh-CN"/>
              <a:t>br</a:t>
            </a:r>
            <a:r>
              <a:rPr lang="zh-CN" altLang="zh-CN"/>
              <a:t>标记</a:t>
            </a:r>
            <a:r>
              <a:rPr lang="en-US" altLang="zh-CN"/>
              <a:t>&lt;br /&gt;</a:t>
            </a:r>
            <a:r>
              <a:rPr lang="zh-CN" altLang="zh-CN"/>
              <a:t>可以实现换行效果</a:t>
            </a:r>
            <a:r>
              <a:rPr lang="en-US" altLang="zh-CN"/>
              <a:t>&lt;/p&gt;</a:t>
            </a:r>
            <a:endParaRPr lang="zh-CN" altLang="zh-CN"/>
          </a:p>
          <a:p>
            <a:pPr lvl="1">
              <a:lnSpc>
                <a:spcPct val="150000"/>
              </a:lnSpc>
            </a:pPr>
            <a:r>
              <a:rPr lang="en-US" altLang="zh-CN"/>
              <a:t>&lt;/body&gt;</a:t>
            </a:r>
            <a:endParaRPr lang="zh-CN" altLang="zh-CN"/>
          </a:p>
        </p:txBody>
      </p:sp>
      <p:sp>
        <p:nvSpPr>
          <p:cNvPr id="25" name="任意多边形 24"/>
          <p:cNvSpPr/>
          <p:nvPr/>
        </p:nvSpPr>
        <p:spPr bwMode="auto">
          <a:xfrm>
            <a:off x="4067944" y="1844824"/>
            <a:ext cx="388461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26" name="矩形 25"/>
          <p:cNvSpPr>
            <a:spLocks noChangeArrowheads="1"/>
          </p:cNvSpPr>
          <p:nvPr/>
        </p:nvSpPr>
        <p:spPr bwMode="auto">
          <a:xfrm>
            <a:off x="4337819" y="1901974"/>
            <a:ext cx="3341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段落标记</a:t>
            </a:r>
            <a:r>
              <a:rPr lang="en-US" altLang="zh-CN" dirty="0">
                <a:solidFill>
                  <a:schemeClr val="bg1"/>
                </a:solidFill>
                <a:latin typeface="微软雅黑" panose="020B0503020204020204" pitchFamily="34" charset="-122"/>
                <a:ea typeface="微软雅黑" panose="020B0503020204020204" pitchFamily="34" charset="-122"/>
              </a:rPr>
              <a:t>&lt;p&gt;&lt;/p&gt;</a:t>
            </a:r>
            <a:r>
              <a:rPr lang="zh-CN" altLang="en-US" dirty="0">
                <a:solidFill>
                  <a:schemeClr val="bg1"/>
                </a:solidFill>
                <a:latin typeface="微软雅黑" panose="020B0503020204020204" pitchFamily="34" charset="-122"/>
                <a:ea typeface="微软雅黑" panose="020B0503020204020204" pitchFamily="34" charset="-122"/>
              </a:rPr>
              <a:t>和换行标记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9" name="标题 1"/>
          <p:cNvSpPr>
            <a:spLocks noChangeArrowheads="1"/>
          </p:cNvSpPr>
          <p:nvPr/>
        </p:nvSpPr>
        <p:spPr bwMode="auto">
          <a:xfrm>
            <a:off x="251520" y="791617"/>
            <a:ext cx="567055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eaLnBrk="1" hangingPunct="1">
              <a:buFont typeface="Wingdings" panose="05000000000000000000" pitchFamily="2" charset="2"/>
              <a:buNone/>
            </a:pPr>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8"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1.1.3 </a:t>
            </a:r>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文本</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控制与文本样式标记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0" dur="500"/>
                                        <p:tgtEl>
                                          <p:spTgt spid="2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left)">
                                      <p:cBhvr>
                                        <p:cTn id="13" dur="500"/>
                                        <p:tgtEl>
                                          <p:spTgt spid="24"/>
                                        </p:tgtEl>
                                      </p:cBhvr>
                                    </p:animEffect>
                                  </p:childTnLst>
                                </p:cTn>
                              </p:par>
                              <p:par>
                                <p:cTn id="14" presetID="22" presetClass="entr" presetSubtype="8"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bwMode="auto">
          <a:xfrm>
            <a:off x="508000" y="1911821"/>
            <a:ext cx="8137525" cy="3389387"/>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0" name="矩形 15"/>
          <p:cNvSpPr>
            <a:spLocks noChangeArrowheads="1"/>
          </p:cNvSpPr>
          <p:nvPr/>
        </p:nvSpPr>
        <p:spPr bwMode="auto">
          <a:xfrm>
            <a:off x="571500" y="2057073"/>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中，使用</a:t>
            </a:r>
            <a:r>
              <a:rPr lang="en-US" altLang="zh-CN" dirty="0">
                <a:latin typeface="Times New Roman" panose="02020603050405020304" pitchFamily="18" charset="0"/>
                <a:cs typeface="Times New Roman" panose="02020603050405020304" pitchFamily="18" charset="0"/>
              </a:rPr>
              <a:t>&lt;font&gt;</a:t>
            </a:r>
            <a:r>
              <a:rPr lang="zh-CN" altLang="zh-CN" dirty="0">
                <a:latin typeface="Times New Roman" panose="02020603050405020304" pitchFamily="18" charset="0"/>
                <a:cs typeface="Times New Roman" panose="02020603050405020304" pitchFamily="18" charset="0"/>
              </a:rPr>
              <a:t>标记来控制网页中文本的样式，如字体、字号和颜色。</a:t>
            </a:r>
            <a:endParaRPr lang="zh-CN" altLang="zh-CN" dirty="0">
              <a:latin typeface="Times New Roman" panose="02020603050405020304" pitchFamily="18" charset="0"/>
              <a:cs typeface="Times New Roman" panose="02020603050405020304" pitchFamily="18" charset="0"/>
            </a:endParaRPr>
          </a:p>
        </p:txBody>
      </p:sp>
      <p:sp>
        <p:nvSpPr>
          <p:cNvPr id="11" name="矩形 16"/>
          <p:cNvSpPr>
            <a:spLocks noChangeArrowheads="1"/>
          </p:cNvSpPr>
          <p:nvPr/>
        </p:nvSpPr>
        <p:spPr bwMode="auto">
          <a:xfrm>
            <a:off x="539552" y="2982317"/>
            <a:ext cx="8042275" cy="2174875"/>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&lt;</a:t>
            </a:r>
            <a:r>
              <a:rPr lang="en-US" altLang="zh-CN" dirty="0"/>
              <a:t>body&gt;</a:t>
            </a:r>
            <a:endParaRPr lang="zh-CN" altLang="zh-CN" dirty="0"/>
          </a:p>
          <a:p>
            <a:pPr>
              <a:lnSpc>
                <a:spcPct val="150000"/>
              </a:lnSpc>
            </a:pPr>
            <a:r>
              <a:rPr lang="en-US" altLang="zh-CN" dirty="0" smtClean="0"/>
              <a:t>     </a:t>
            </a:r>
            <a:r>
              <a:rPr lang="zh-CN" altLang="zh-CN" dirty="0" smtClean="0"/>
              <a:t>我</a:t>
            </a:r>
            <a:r>
              <a:rPr lang="zh-CN" altLang="zh-CN" dirty="0"/>
              <a:t>是默认样式的文本</a:t>
            </a:r>
            <a:r>
              <a:rPr lang="en-US" altLang="zh-CN" dirty="0"/>
              <a:t>&lt;</a:t>
            </a:r>
            <a:r>
              <a:rPr lang="en-US" altLang="zh-CN" dirty="0" err="1"/>
              <a:t>br</a:t>
            </a:r>
            <a:r>
              <a:rPr lang="en-US" altLang="zh-CN" dirty="0"/>
              <a:t> /&gt;</a:t>
            </a:r>
            <a:endParaRPr lang="zh-CN" altLang="zh-CN" dirty="0"/>
          </a:p>
          <a:p>
            <a:pPr>
              <a:lnSpc>
                <a:spcPct val="150000"/>
              </a:lnSpc>
            </a:pPr>
            <a:r>
              <a:rPr lang="en-US" altLang="zh-CN" dirty="0" smtClean="0"/>
              <a:t>          &lt;</a:t>
            </a:r>
            <a:r>
              <a:rPr lang="en-US" altLang="zh-CN" dirty="0"/>
              <a:t>font  face="</a:t>
            </a:r>
            <a:r>
              <a:rPr lang="zh-CN" altLang="zh-CN" dirty="0"/>
              <a:t>微软雅黑</a:t>
            </a:r>
            <a:r>
              <a:rPr lang="en-US" altLang="zh-CN" dirty="0"/>
              <a:t>"  size="7"  color="green"&gt;&lt;</a:t>
            </a:r>
            <a:r>
              <a:rPr lang="en-US" altLang="zh-CN" dirty="0" err="1"/>
              <a:t>br</a:t>
            </a:r>
            <a:r>
              <a:rPr lang="en-US" altLang="zh-CN" dirty="0"/>
              <a:t> /&gt;</a:t>
            </a:r>
            <a:endParaRPr lang="zh-CN" altLang="zh-CN" dirty="0"/>
          </a:p>
          <a:p>
            <a:pPr>
              <a:lnSpc>
                <a:spcPct val="150000"/>
              </a:lnSpc>
            </a:pPr>
            <a:r>
              <a:rPr lang="en-US" altLang="zh-CN" dirty="0" smtClean="0"/>
              <a:t>     </a:t>
            </a:r>
            <a:r>
              <a:rPr lang="zh-CN" altLang="zh-CN" dirty="0" smtClean="0"/>
              <a:t>我</a:t>
            </a:r>
            <a:r>
              <a:rPr lang="zh-CN" altLang="zh-CN" dirty="0"/>
              <a:t>是</a:t>
            </a:r>
            <a:r>
              <a:rPr lang="en-US" altLang="zh-CN" dirty="0"/>
              <a:t>7</a:t>
            </a:r>
            <a:r>
              <a:rPr lang="zh-CN" altLang="zh-CN" dirty="0"/>
              <a:t>号绿色文本，我的字体是微软雅黑哦</a:t>
            </a:r>
            <a:r>
              <a:rPr lang="en-US" altLang="zh-CN" dirty="0"/>
              <a:t>&lt;/font&gt;</a:t>
            </a:r>
            <a:endParaRPr lang="zh-CN" altLang="zh-CN" dirty="0"/>
          </a:p>
          <a:p>
            <a:pPr>
              <a:lnSpc>
                <a:spcPct val="150000"/>
              </a:lnSpc>
            </a:pPr>
            <a:r>
              <a:rPr lang="en-US" altLang="zh-CN" dirty="0" smtClean="0"/>
              <a:t>     &lt;/</a:t>
            </a:r>
            <a:r>
              <a:rPr lang="en-US" altLang="zh-CN" dirty="0"/>
              <a:t>body&gt;</a:t>
            </a:r>
            <a:endParaRPr lang="zh-CN" altLang="zh-CN" dirty="0"/>
          </a:p>
        </p:txBody>
      </p:sp>
      <p:sp>
        <p:nvSpPr>
          <p:cNvPr id="12" name="任意多边形 11"/>
          <p:cNvSpPr/>
          <p:nvPr/>
        </p:nvSpPr>
        <p:spPr bwMode="auto">
          <a:xfrm>
            <a:off x="5424190" y="1484784"/>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3" name="矩形 12"/>
          <p:cNvSpPr>
            <a:spLocks noChangeArrowheads="1"/>
          </p:cNvSpPr>
          <p:nvPr/>
        </p:nvSpPr>
        <p:spPr bwMode="auto">
          <a:xfrm>
            <a:off x="5779790" y="1541934"/>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文本样式标记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4" name="矩形 13"/>
          <p:cNvSpPr>
            <a:spLocks noChangeArrowheads="1"/>
          </p:cNvSpPr>
          <p:nvPr/>
        </p:nvSpPr>
        <p:spPr bwMode="auto">
          <a:xfrm>
            <a:off x="1691680" y="3925292"/>
            <a:ext cx="1663129"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5" name="矩形 14"/>
          <p:cNvSpPr>
            <a:spLocks noChangeArrowheads="1"/>
          </p:cNvSpPr>
          <p:nvPr/>
        </p:nvSpPr>
        <p:spPr bwMode="auto">
          <a:xfrm>
            <a:off x="3405597" y="3925292"/>
            <a:ext cx="843384"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6" name="矩形 15"/>
          <p:cNvSpPr>
            <a:spLocks noChangeArrowheads="1"/>
          </p:cNvSpPr>
          <p:nvPr/>
        </p:nvSpPr>
        <p:spPr bwMode="auto">
          <a:xfrm>
            <a:off x="4290914" y="3931642"/>
            <a:ext cx="1368152"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18" name="直接箭头连接符 17"/>
          <p:cNvCxnSpPr>
            <a:cxnSpLocks noChangeShapeType="1"/>
          </p:cNvCxnSpPr>
          <p:nvPr/>
        </p:nvCxnSpPr>
        <p:spPr bwMode="auto">
          <a:xfrm flipV="1">
            <a:off x="2176289" y="3415704"/>
            <a:ext cx="568325" cy="481013"/>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圆角矩形 18"/>
          <p:cNvSpPr/>
          <p:nvPr/>
        </p:nvSpPr>
        <p:spPr>
          <a:xfrm>
            <a:off x="2166764" y="2982317"/>
            <a:ext cx="1660525" cy="407987"/>
          </a:xfrm>
          <a:prstGeom prst="roundRect">
            <a:avLst/>
          </a:prstGeom>
          <a:solidFill>
            <a:srgbClr val="0070C0"/>
          </a:solidFill>
          <a:ln>
            <a:solidFill>
              <a:srgbClr val="006BA9"/>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设置文本字体</a:t>
            </a:r>
            <a:endParaRPr lang="en-US" altLang="zh-CN" b="1" dirty="0">
              <a:solidFill>
                <a:schemeClr val="bg1"/>
              </a:solidFill>
            </a:endParaRPr>
          </a:p>
        </p:txBody>
      </p:sp>
      <p:cxnSp>
        <p:nvCxnSpPr>
          <p:cNvPr id="20" name="直接箭头连接符 19"/>
          <p:cNvCxnSpPr>
            <a:cxnSpLocks noChangeShapeType="1"/>
          </p:cNvCxnSpPr>
          <p:nvPr/>
        </p:nvCxnSpPr>
        <p:spPr bwMode="auto">
          <a:xfrm flipV="1">
            <a:off x="3916189" y="3501429"/>
            <a:ext cx="708025" cy="40640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圆角矩形 26"/>
          <p:cNvSpPr/>
          <p:nvPr/>
        </p:nvSpPr>
        <p:spPr>
          <a:xfrm>
            <a:off x="4506937" y="3050579"/>
            <a:ext cx="1660525" cy="407988"/>
          </a:xfrm>
          <a:prstGeom prst="roundRect">
            <a:avLst/>
          </a:prstGeom>
          <a:solidFill>
            <a:srgbClr val="0070C0"/>
          </a:solidFill>
          <a:ln>
            <a:solidFill>
              <a:srgbClr val="006BA9"/>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设置文本大小</a:t>
            </a:r>
            <a:endParaRPr lang="en-US" altLang="zh-CN" b="1" dirty="0">
              <a:solidFill>
                <a:schemeClr val="bg1"/>
              </a:solidFill>
            </a:endParaRPr>
          </a:p>
        </p:txBody>
      </p:sp>
      <p:cxnSp>
        <p:nvCxnSpPr>
          <p:cNvPr id="28" name="直接箭头连接符 27"/>
          <p:cNvCxnSpPr>
            <a:cxnSpLocks noChangeShapeType="1"/>
          </p:cNvCxnSpPr>
          <p:nvPr/>
        </p:nvCxnSpPr>
        <p:spPr bwMode="auto">
          <a:xfrm>
            <a:off x="4976639" y="4293592"/>
            <a:ext cx="509587" cy="341312"/>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圆角矩形 28"/>
          <p:cNvSpPr/>
          <p:nvPr/>
        </p:nvSpPr>
        <p:spPr>
          <a:xfrm>
            <a:off x="5210001" y="4671417"/>
            <a:ext cx="1660525" cy="407987"/>
          </a:xfrm>
          <a:prstGeom prst="roundRect">
            <a:avLst/>
          </a:prstGeom>
          <a:solidFill>
            <a:srgbClr val="0070C0"/>
          </a:solidFill>
          <a:ln>
            <a:solidFill>
              <a:srgbClr val="006BA9"/>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设置文本颜色</a:t>
            </a:r>
            <a:endParaRPr lang="en-US" altLang="zh-CN" b="1" dirty="0">
              <a:solidFill>
                <a:schemeClr val="bg1"/>
              </a:solidFill>
            </a:endParaRPr>
          </a:p>
        </p:txBody>
      </p:sp>
      <p:sp>
        <p:nvSpPr>
          <p:cNvPr id="21"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1.1.3 </a:t>
            </a:r>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文本</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控制与文本样式标记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down)">
                                      <p:cBhvr>
                                        <p:cTn id="38" dur="500"/>
                                        <p:tgtEl>
                                          <p:spTgt spid="27"/>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down)">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up)">
                                      <p:cBhvr>
                                        <p:cTn id="46" dur="500"/>
                                        <p:tgtEl>
                                          <p:spTgt spid="16"/>
                                        </p:tgtEl>
                                      </p:cBhvr>
                                    </p:animEffect>
                                  </p:childTnLst>
                                </p:cTn>
                              </p:par>
                              <p:par>
                                <p:cTn id="47" presetID="22" presetClass="entr" presetSubtype="1"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up)">
                                      <p:cBhvr>
                                        <p:cTn id="49" dur="500"/>
                                        <p:tgtEl>
                                          <p:spTgt spid="28"/>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up)">
                                      <p:cBhvr>
                                        <p:cTn id="5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p:bldP spid="14" grpId="0" animBg="1"/>
      <p:bldP spid="15" grpId="0" animBg="1"/>
      <p:bldP spid="16" grpId="0" animBg="1"/>
      <p:bldP spid="19" grpId="0" animBg="1"/>
      <p:bldP spid="27"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 name="矩形 19"/>
          <p:cNvSpPr/>
          <p:nvPr/>
        </p:nvSpPr>
        <p:spPr bwMode="auto">
          <a:xfrm>
            <a:off x="508000" y="1988840"/>
            <a:ext cx="8137525" cy="2790825"/>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5" name="矩形 15"/>
          <p:cNvSpPr>
            <a:spLocks noChangeArrowheads="1"/>
          </p:cNvSpPr>
          <p:nvPr/>
        </p:nvSpPr>
        <p:spPr bwMode="auto">
          <a:xfrm>
            <a:off x="571500" y="2080915"/>
            <a:ext cx="80406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要</a:t>
            </a:r>
            <a:r>
              <a:rPr lang="zh-CN" altLang="zh-CN" dirty="0">
                <a:latin typeface="Times New Roman" panose="02020603050405020304" pitchFamily="18" charset="0"/>
                <a:cs typeface="Times New Roman" panose="02020603050405020304" pitchFamily="18" charset="0"/>
              </a:rPr>
              <a:t>想在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网页中显示图像就需要使用图像标记</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/&gt;</a:t>
            </a:r>
            <a:r>
              <a:rPr lang="zh-CN" altLang="zh-CN"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p:txBody>
      </p:sp>
      <p:sp>
        <p:nvSpPr>
          <p:cNvPr id="11" name="矩形 16"/>
          <p:cNvSpPr>
            <a:spLocks noChangeArrowheads="1"/>
          </p:cNvSpPr>
          <p:nvPr/>
        </p:nvSpPr>
        <p:spPr bwMode="auto">
          <a:xfrm>
            <a:off x="563563" y="2829371"/>
            <a:ext cx="8042275" cy="1395413"/>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&lt;</a:t>
            </a:r>
            <a:r>
              <a:rPr lang="en-US" altLang="zh-CN" dirty="0"/>
              <a:t>body&gt;</a:t>
            </a:r>
            <a:endParaRPr lang="zh-CN" altLang="zh-CN" dirty="0"/>
          </a:p>
          <a:p>
            <a:pPr>
              <a:lnSpc>
                <a:spcPct val="150000"/>
              </a:lnSpc>
            </a:pPr>
            <a:r>
              <a:rPr lang="en-US" altLang="zh-CN" dirty="0"/>
              <a:t>   </a:t>
            </a:r>
            <a:r>
              <a:rPr lang="en-US" altLang="zh-CN" dirty="0" smtClean="0"/>
              <a:t>  </a:t>
            </a:r>
            <a:r>
              <a:rPr lang="zh-CN" altLang="zh-CN" dirty="0" smtClean="0"/>
              <a:t>显示</a:t>
            </a:r>
            <a:r>
              <a:rPr lang="zh-CN" altLang="zh-CN" dirty="0"/>
              <a:t>图片：</a:t>
            </a:r>
            <a:r>
              <a:rPr lang="en-US" altLang="zh-CN" dirty="0"/>
              <a:t>&lt;</a:t>
            </a:r>
            <a:r>
              <a:rPr lang="en-US" altLang="zh-CN" dirty="0" err="1"/>
              <a:t>img</a:t>
            </a:r>
            <a:r>
              <a:rPr lang="en-US" altLang="zh-CN" dirty="0"/>
              <a:t>  </a:t>
            </a:r>
            <a:r>
              <a:rPr lang="en-US" altLang="zh-CN" dirty="0" err="1"/>
              <a:t>src</a:t>
            </a:r>
            <a:r>
              <a:rPr lang="en-US" altLang="zh-CN" dirty="0"/>
              <a:t>="106.jpg"  width="102"  height="130"  border="0" /&gt;</a:t>
            </a:r>
            <a:endParaRPr lang="zh-CN" altLang="zh-CN" dirty="0"/>
          </a:p>
          <a:p>
            <a:pPr>
              <a:lnSpc>
                <a:spcPct val="150000"/>
              </a:lnSpc>
            </a:pPr>
            <a:r>
              <a:rPr lang="en-US" altLang="zh-CN" dirty="0" smtClean="0"/>
              <a:t>     &lt;/</a:t>
            </a:r>
            <a:r>
              <a:rPr lang="en-US" altLang="zh-CN" dirty="0"/>
              <a:t>body&gt;</a:t>
            </a:r>
            <a:endParaRPr lang="zh-CN" altLang="zh-CN" dirty="0"/>
          </a:p>
        </p:txBody>
      </p:sp>
      <p:sp>
        <p:nvSpPr>
          <p:cNvPr id="13" name="矩形 12"/>
          <p:cNvSpPr>
            <a:spLocks noChangeArrowheads="1"/>
          </p:cNvSpPr>
          <p:nvPr/>
        </p:nvSpPr>
        <p:spPr bwMode="auto">
          <a:xfrm>
            <a:off x="2555776" y="3373884"/>
            <a:ext cx="1273249"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14" name="直接箭头连接符 13"/>
          <p:cNvCxnSpPr>
            <a:cxnSpLocks noChangeShapeType="1"/>
          </p:cNvCxnSpPr>
          <p:nvPr/>
        </p:nvCxnSpPr>
        <p:spPr bwMode="auto">
          <a:xfrm flipV="1">
            <a:off x="2973958" y="3092896"/>
            <a:ext cx="504825" cy="239713"/>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a:spLocks noChangeArrowheads="1"/>
          </p:cNvSpPr>
          <p:nvPr/>
        </p:nvSpPr>
        <p:spPr bwMode="auto">
          <a:xfrm>
            <a:off x="3923928" y="3365946"/>
            <a:ext cx="1224136"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9" name="矩形 18"/>
          <p:cNvSpPr>
            <a:spLocks noChangeArrowheads="1"/>
          </p:cNvSpPr>
          <p:nvPr/>
        </p:nvSpPr>
        <p:spPr bwMode="auto">
          <a:xfrm>
            <a:off x="5220072" y="3365946"/>
            <a:ext cx="1265436" cy="304800"/>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21" name="矩形 20"/>
          <p:cNvSpPr>
            <a:spLocks noChangeArrowheads="1"/>
          </p:cNvSpPr>
          <p:nvPr/>
        </p:nvSpPr>
        <p:spPr bwMode="auto">
          <a:xfrm>
            <a:off x="6541219" y="3367534"/>
            <a:ext cx="1127125"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22" name="圆角矩形 21"/>
          <p:cNvSpPr/>
          <p:nvPr/>
        </p:nvSpPr>
        <p:spPr>
          <a:xfrm>
            <a:off x="2699792" y="2624584"/>
            <a:ext cx="1660525"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设置图像路径</a:t>
            </a:r>
            <a:endParaRPr lang="en-US" altLang="zh-CN" b="1" dirty="0">
              <a:solidFill>
                <a:schemeClr val="bg1"/>
              </a:solidFill>
            </a:endParaRPr>
          </a:p>
        </p:txBody>
      </p:sp>
      <p:cxnSp>
        <p:nvCxnSpPr>
          <p:cNvPr id="23" name="直接箭头连接符 22"/>
          <p:cNvCxnSpPr>
            <a:cxnSpLocks noChangeShapeType="1"/>
          </p:cNvCxnSpPr>
          <p:nvPr/>
        </p:nvCxnSpPr>
        <p:spPr bwMode="auto">
          <a:xfrm flipV="1">
            <a:off x="5980683" y="3092896"/>
            <a:ext cx="504825" cy="239713"/>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圆角矩形 23"/>
          <p:cNvSpPr/>
          <p:nvPr/>
        </p:nvSpPr>
        <p:spPr>
          <a:xfrm>
            <a:off x="5652120" y="2624584"/>
            <a:ext cx="1660525"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设置图像高度</a:t>
            </a:r>
            <a:endParaRPr lang="en-US" altLang="zh-CN" b="1" dirty="0">
              <a:solidFill>
                <a:schemeClr val="bg1"/>
              </a:solidFill>
            </a:endParaRPr>
          </a:p>
        </p:txBody>
      </p:sp>
      <p:cxnSp>
        <p:nvCxnSpPr>
          <p:cNvPr id="26" name="直接箭头连接符 25"/>
          <p:cNvCxnSpPr>
            <a:cxnSpLocks noChangeShapeType="1"/>
          </p:cNvCxnSpPr>
          <p:nvPr/>
        </p:nvCxnSpPr>
        <p:spPr bwMode="auto">
          <a:xfrm flipH="1">
            <a:off x="4047108" y="3734246"/>
            <a:ext cx="363538" cy="29845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圆角矩形 30"/>
          <p:cNvSpPr/>
          <p:nvPr/>
        </p:nvSpPr>
        <p:spPr>
          <a:xfrm>
            <a:off x="3293046" y="4080321"/>
            <a:ext cx="1662112" cy="409575"/>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设置图像宽度</a:t>
            </a:r>
            <a:endParaRPr lang="en-US" altLang="zh-CN" b="1" dirty="0">
              <a:solidFill>
                <a:schemeClr val="bg1"/>
              </a:solidFill>
            </a:endParaRPr>
          </a:p>
        </p:txBody>
      </p:sp>
      <p:cxnSp>
        <p:nvCxnSpPr>
          <p:cNvPr id="32" name="直接箭头连接符 31"/>
          <p:cNvCxnSpPr>
            <a:cxnSpLocks noChangeShapeType="1"/>
          </p:cNvCxnSpPr>
          <p:nvPr/>
        </p:nvCxnSpPr>
        <p:spPr bwMode="auto">
          <a:xfrm flipH="1">
            <a:off x="6909371" y="3734246"/>
            <a:ext cx="361950" cy="29845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圆角矩形 32"/>
          <p:cNvSpPr/>
          <p:nvPr/>
        </p:nvSpPr>
        <p:spPr>
          <a:xfrm>
            <a:off x="6155308" y="4080321"/>
            <a:ext cx="1660525" cy="409575"/>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设置图像边框</a:t>
            </a:r>
            <a:endParaRPr lang="en-US" altLang="zh-CN" b="1" dirty="0">
              <a:solidFill>
                <a:schemeClr val="bg1"/>
              </a:solidFill>
            </a:endParaRPr>
          </a:p>
        </p:txBody>
      </p:sp>
      <p:sp>
        <p:nvSpPr>
          <p:cNvPr id="27" name="标题 1"/>
          <p:cNvSpPr>
            <a:spLocks noChangeArrowheads="1"/>
          </p:cNvSpPr>
          <p:nvPr/>
        </p:nvSpPr>
        <p:spPr bwMode="auto">
          <a:xfrm>
            <a:off x="251520" y="791617"/>
            <a:ext cx="567055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eaLnBrk="1" hangingPunct="1">
              <a:buFont typeface="Wingdings" panose="05000000000000000000" pitchFamily="2" charset="2"/>
              <a:buNone/>
            </a:pPr>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8"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1.1.4 </a:t>
            </a:r>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图像</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par>
                                <p:cTn id="19" presetID="22" presetClass="entr" presetSubtype="4"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par>
                                <p:cTn id="30" presetID="22" presetClass="entr" presetSubtype="1"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up)">
                                      <p:cBhvr>
                                        <p:cTn id="32" dur="500"/>
                                        <p:tgtEl>
                                          <p:spTgt spid="26"/>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up)">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down)">
                                      <p:cBhvr>
                                        <p:cTn id="40" dur="500"/>
                                        <p:tgtEl>
                                          <p:spTgt spid="2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par>
                                <p:cTn id="52" presetID="22" presetClass="entr" presetSubtype="1"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wipe(up)">
                                      <p:cBhvr>
                                        <p:cTn id="54" dur="500"/>
                                        <p:tgtEl>
                                          <p:spTgt spid="32"/>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up)">
                                      <p:cBhvr>
                                        <p:cTn id="5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1" grpId="0" animBg="1"/>
      <p:bldP spid="13" grpId="0" animBg="1"/>
      <p:bldP spid="18" grpId="0" animBg="1"/>
      <p:bldP spid="19" grpId="0" animBg="1"/>
      <p:bldP spid="21" grpId="0" animBg="1"/>
      <p:bldP spid="22" grpId="0" animBg="1"/>
      <p:bldP spid="24" grpId="0" animBg="1"/>
      <p:bldP spid="31" grpId="0"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bwMode="auto">
          <a:xfrm>
            <a:off x="508000" y="1844824"/>
            <a:ext cx="8137525" cy="358298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矩形 15"/>
          <p:cNvSpPr>
            <a:spLocks noChangeArrowheads="1"/>
          </p:cNvSpPr>
          <p:nvPr/>
        </p:nvSpPr>
        <p:spPr bwMode="auto">
          <a:xfrm>
            <a:off x="571500" y="1978174"/>
            <a:ext cx="8040688"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在</a:t>
            </a:r>
            <a:r>
              <a:rPr lang="zh-CN" altLang="zh-CN" dirty="0">
                <a:latin typeface="Times New Roman" panose="02020603050405020304" pitchFamily="18" charset="0"/>
                <a:cs typeface="Times New Roman" panose="02020603050405020304" pitchFamily="18" charset="0"/>
              </a:rPr>
              <a:t>制作网页时，为了使网页中的数据能够有条理地显示，可以使用表格对网页进行规划。在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网页中创建表格的基本语法格式如下所示：</a:t>
            </a:r>
            <a:endParaRPr lang="zh-CN" altLang="zh-C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zh-CN" altLang="zh-CN" sz="1600" dirty="0">
              <a:latin typeface="黑体" panose="02010609060101010101" pitchFamily="49" charset="-122"/>
              <a:ea typeface="黑体" panose="02010609060101010101" pitchFamily="49" charset="-122"/>
            </a:endParaRPr>
          </a:p>
        </p:txBody>
      </p:sp>
      <p:sp>
        <p:nvSpPr>
          <p:cNvPr id="22" name="矩形 16"/>
          <p:cNvSpPr>
            <a:spLocks noChangeArrowheads="1"/>
          </p:cNvSpPr>
          <p:nvPr/>
        </p:nvSpPr>
        <p:spPr bwMode="auto">
          <a:xfrm>
            <a:off x="563563" y="2971949"/>
            <a:ext cx="8042275" cy="2224088"/>
          </a:xfrm>
          <a:prstGeom prst="rect">
            <a:avLst/>
          </a:prstGeom>
          <a:solidFill>
            <a:srgbClr val="E7F4FF"/>
          </a:solidFill>
          <a:ln w="28575" algn="ctr">
            <a:noFill/>
            <a:round/>
          </a:ln>
        </p:spPr>
        <p:txBody>
          <a:bodyPr/>
          <a:lstStyle/>
          <a:p>
            <a:pPr lvl="1">
              <a:lnSpc>
                <a:spcPct val="150000"/>
              </a:lnSpc>
            </a:pPr>
            <a:r>
              <a:rPr lang="en-US" altLang="zh-CN" dirty="0"/>
              <a:t>&lt;table&gt;</a:t>
            </a:r>
            <a:endParaRPr lang="zh-CN" altLang="zh-CN" dirty="0"/>
          </a:p>
          <a:p>
            <a:pPr lvl="1">
              <a:lnSpc>
                <a:spcPct val="150000"/>
              </a:lnSpc>
            </a:pPr>
            <a:r>
              <a:rPr lang="en-US" altLang="zh-CN" dirty="0"/>
              <a:t>     &lt;</a:t>
            </a:r>
            <a:r>
              <a:rPr lang="en-US" altLang="zh-CN" dirty="0" err="1"/>
              <a:t>tr</a:t>
            </a:r>
            <a:r>
              <a:rPr lang="en-US" altLang="zh-CN" dirty="0"/>
              <a:t>&gt;</a:t>
            </a:r>
            <a:endParaRPr lang="zh-CN" altLang="zh-CN" dirty="0"/>
          </a:p>
          <a:p>
            <a:pPr lvl="1">
              <a:lnSpc>
                <a:spcPct val="150000"/>
              </a:lnSpc>
            </a:pPr>
            <a:r>
              <a:rPr lang="en-US" altLang="zh-CN" dirty="0"/>
              <a:t>          &lt;td&gt;</a:t>
            </a:r>
            <a:r>
              <a:rPr lang="zh-CN" altLang="zh-CN" dirty="0"/>
              <a:t>单元格内的文字</a:t>
            </a:r>
            <a:r>
              <a:rPr lang="en-US" altLang="zh-CN" dirty="0"/>
              <a:t>&lt;/td&gt;</a:t>
            </a:r>
            <a:endParaRPr lang="zh-CN" altLang="zh-CN" dirty="0"/>
          </a:p>
          <a:p>
            <a:pPr lvl="1">
              <a:lnSpc>
                <a:spcPct val="150000"/>
              </a:lnSpc>
            </a:pPr>
            <a:r>
              <a:rPr lang="en-US" altLang="zh-CN" dirty="0"/>
              <a:t>     &lt;/</a:t>
            </a:r>
            <a:r>
              <a:rPr lang="en-US" altLang="zh-CN" dirty="0" err="1"/>
              <a:t>tr</a:t>
            </a:r>
            <a:r>
              <a:rPr lang="en-US" altLang="zh-CN" dirty="0" smtClean="0"/>
              <a:t>&gt;</a:t>
            </a:r>
            <a:endParaRPr lang="en-US" altLang="zh-CN" dirty="0"/>
          </a:p>
          <a:p>
            <a:pPr lvl="1">
              <a:lnSpc>
                <a:spcPct val="150000"/>
              </a:lnSpc>
            </a:pPr>
            <a:r>
              <a:rPr lang="en-US" altLang="zh-CN" dirty="0" smtClean="0"/>
              <a:t>&lt;/</a:t>
            </a:r>
            <a:r>
              <a:rPr lang="en-US" altLang="zh-CN" dirty="0"/>
              <a:t>table&gt;</a:t>
            </a:r>
            <a:endParaRPr lang="zh-CN" altLang="zh-CN" dirty="0"/>
          </a:p>
        </p:txBody>
      </p:sp>
      <p:sp>
        <p:nvSpPr>
          <p:cNvPr id="23" name="矩形 22"/>
          <p:cNvSpPr>
            <a:spLocks noChangeArrowheads="1"/>
          </p:cNvSpPr>
          <p:nvPr/>
        </p:nvSpPr>
        <p:spPr bwMode="auto">
          <a:xfrm>
            <a:off x="1041400" y="3084662"/>
            <a:ext cx="960438"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24" name="圆角矩形 23"/>
          <p:cNvSpPr/>
          <p:nvPr/>
        </p:nvSpPr>
        <p:spPr>
          <a:xfrm>
            <a:off x="3240088" y="3024337"/>
            <a:ext cx="1660525"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定义一个表格</a:t>
            </a:r>
            <a:endParaRPr lang="en-US" altLang="zh-CN" b="1" dirty="0">
              <a:solidFill>
                <a:schemeClr val="bg1"/>
              </a:solidFill>
            </a:endParaRPr>
          </a:p>
        </p:txBody>
      </p:sp>
      <p:sp>
        <p:nvSpPr>
          <p:cNvPr id="25" name="矩形 24"/>
          <p:cNvSpPr>
            <a:spLocks noChangeArrowheads="1"/>
          </p:cNvSpPr>
          <p:nvPr/>
        </p:nvSpPr>
        <p:spPr bwMode="auto">
          <a:xfrm>
            <a:off x="1279525" y="3511699"/>
            <a:ext cx="628179"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26" name="矩形 25"/>
          <p:cNvSpPr>
            <a:spLocks noChangeArrowheads="1"/>
          </p:cNvSpPr>
          <p:nvPr/>
        </p:nvSpPr>
        <p:spPr bwMode="auto">
          <a:xfrm>
            <a:off x="1593614" y="3921274"/>
            <a:ext cx="519200"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30" name="直接箭头连接符 29"/>
          <p:cNvCxnSpPr>
            <a:cxnSpLocks noChangeShapeType="1"/>
          </p:cNvCxnSpPr>
          <p:nvPr/>
        </p:nvCxnSpPr>
        <p:spPr bwMode="auto">
          <a:xfrm>
            <a:off x="2082800" y="3237062"/>
            <a:ext cx="1084263" cy="4762"/>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圆角矩形 30"/>
          <p:cNvSpPr/>
          <p:nvPr/>
        </p:nvSpPr>
        <p:spPr>
          <a:xfrm>
            <a:off x="3203848" y="3475187"/>
            <a:ext cx="1660525"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定义表格的行</a:t>
            </a:r>
            <a:endParaRPr lang="en-US" altLang="zh-CN" b="1" dirty="0">
              <a:solidFill>
                <a:schemeClr val="bg1"/>
              </a:solidFill>
            </a:endParaRPr>
          </a:p>
        </p:txBody>
      </p:sp>
      <p:cxnSp>
        <p:nvCxnSpPr>
          <p:cNvPr id="32" name="直接箭头连接符 31"/>
          <p:cNvCxnSpPr>
            <a:cxnSpLocks noChangeShapeType="1"/>
          </p:cNvCxnSpPr>
          <p:nvPr/>
        </p:nvCxnSpPr>
        <p:spPr bwMode="auto">
          <a:xfrm>
            <a:off x="1978026" y="3672285"/>
            <a:ext cx="1084262" cy="4762"/>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p:cNvCxnSpPr>
            <a:cxnSpLocks noChangeShapeType="1"/>
          </p:cNvCxnSpPr>
          <p:nvPr/>
        </p:nvCxnSpPr>
        <p:spPr bwMode="auto">
          <a:xfrm>
            <a:off x="2120900" y="4286399"/>
            <a:ext cx="857250" cy="287338"/>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圆角矩形 33"/>
          <p:cNvSpPr/>
          <p:nvPr/>
        </p:nvSpPr>
        <p:spPr>
          <a:xfrm>
            <a:off x="3062288" y="4370537"/>
            <a:ext cx="1662112"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定义表格的列</a:t>
            </a:r>
            <a:endParaRPr lang="en-US" altLang="zh-CN" b="1" dirty="0">
              <a:solidFill>
                <a:schemeClr val="bg1"/>
              </a:solidFill>
            </a:endParaRPr>
          </a:p>
        </p:txBody>
      </p:sp>
      <p:sp>
        <p:nvSpPr>
          <p:cNvPr id="16"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5"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1.1.5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表格标记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par>
                                <p:cTn id="19" presetID="22" presetClass="entr" presetSubtype="8"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22" presetClass="entr" presetSubtype="8"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left)">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up)">
                                      <p:cBhvr>
                                        <p:cTn id="40" dur="500"/>
                                        <p:tgtEl>
                                          <p:spTgt spid="26"/>
                                        </p:tgtEl>
                                      </p:cBhvr>
                                    </p:animEffect>
                                  </p:childTnLst>
                                </p:cTn>
                              </p:par>
                              <p:par>
                                <p:cTn id="41" presetID="22" presetClass="entr" presetSubtype="1"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up)">
                                      <p:cBhvr>
                                        <p:cTn id="43" dur="500"/>
                                        <p:tgtEl>
                                          <p:spTgt spid="33"/>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up)">
                                      <p:cBhvr>
                                        <p:cTn id="4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3" grpId="0" animBg="1"/>
      <p:bldP spid="24" grpId="0" animBg="1"/>
      <p:bldP spid="25" grpId="0" animBg="1"/>
      <p:bldP spid="26" grpId="0" animBg="1"/>
      <p:bldP spid="31"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bwMode="auto">
          <a:xfrm>
            <a:off x="508000" y="1509626"/>
            <a:ext cx="8137525" cy="447776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矩形 15"/>
          <p:cNvSpPr>
            <a:spLocks noChangeArrowheads="1"/>
          </p:cNvSpPr>
          <p:nvPr/>
        </p:nvSpPr>
        <p:spPr bwMode="auto">
          <a:xfrm>
            <a:off x="571500" y="1484784"/>
            <a:ext cx="8040688"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mn-ea"/>
              </a:rPr>
              <a:t>表</a:t>
            </a:r>
            <a:r>
              <a:rPr lang="zh-CN" altLang="zh-CN" dirty="0">
                <a:latin typeface="+mn-ea"/>
              </a:rPr>
              <a:t>单就是在网页上用于输入信息的区域，它的主要功能是收集用户信息，并将这些信息传递给后台服务器。表单主要由</a:t>
            </a:r>
            <a:r>
              <a:rPr lang="en-US" altLang="zh-CN" dirty="0">
                <a:latin typeface="+mn-ea"/>
              </a:rPr>
              <a:t>3</a:t>
            </a:r>
            <a:r>
              <a:rPr lang="zh-CN" altLang="zh-CN" dirty="0">
                <a:latin typeface="+mn-ea"/>
              </a:rPr>
              <a:t>部分构成，分别为表单控件、提示信息和表单域，详细介绍如下所示：</a:t>
            </a:r>
            <a:endParaRPr lang="zh-CN" altLang="zh-CN" dirty="0">
              <a:latin typeface="+mn-ea"/>
            </a:endParaRPr>
          </a:p>
          <a:p>
            <a:pPr marL="285750" indent="-285750">
              <a:lnSpc>
                <a:spcPct val="150000"/>
              </a:lnSpc>
              <a:buFont typeface="Wingdings" panose="05000000000000000000" pitchFamily="2" charset="2"/>
              <a:buChar char="Ø"/>
            </a:pPr>
            <a:endParaRPr lang="zh-CN" altLang="zh-CN" sz="1600" dirty="0">
              <a:latin typeface="黑体" panose="02010609060101010101" pitchFamily="49" charset="-122"/>
              <a:ea typeface="黑体" panose="02010609060101010101" pitchFamily="49" charset="-122"/>
            </a:endParaRPr>
          </a:p>
        </p:txBody>
      </p:sp>
      <p:sp>
        <p:nvSpPr>
          <p:cNvPr id="27" name="矩形 75"/>
          <p:cNvSpPr>
            <a:spLocks noChangeArrowheads="1"/>
          </p:cNvSpPr>
          <p:nvPr/>
        </p:nvSpPr>
        <p:spPr bwMode="auto">
          <a:xfrm>
            <a:off x="5224463" y="2709491"/>
            <a:ext cx="2109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a:solidFill>
                  <a:schemeClr val="bg1"/>
                </a:solidFill>
                <a:latin typeface="微软雅黑" panose="020B0503020204020204" pitchFamily="34" charset="-122"/>
                <a:ea typeface="微软雅黑" panose="020B0503020204020204" pitchFamily="34" charset="-122"/>
              </a:rPr>
              <a:t>知识点概述</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 name="任意多边形 27"/>
          <p:cNvSpPr/>
          <p:nvPr/>
        </p:nvSpPr>
        <p:spPr bwMode="auto">
          <a:xfrm>
            <a:off x="1041400" y="2882529"/>
            <a:ext cx="2143125" cy="547687"/>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a:solidFill>
            <a:srgbClr val="8064A2"/>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dirty="0"/>
          </a:p>
        </p:txBody>
      </p:sp>
      <p:sp>
        <p:nvSpPr>
          <p:cNvPr id="29" name="矩形 11"/>
          <p:cNvSpPr>
            <a:spLocks noChangeArrowheads="1"/>
          </p:cNvSpPr>
          <p:nvPr/>
        </p:nvSpPr>
        <p:spPr bwMode="auto">
          <a:xfrm>
            <a:off x="1498600" y="2957141"/>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000" b="1" dirty="0">
                <a:solidFill>
                  <a:schemeClr val="bg1"/>
                </a:solidFill>
                <a:latin typeface="黑体" panose="02010609060101010101" pitchFamily="49" charset="-122"/>
                <a:ea typeface="黑体" panose="02010609060101010101" pitchFamily="49" charset="-122"/>
              </a:rPr>
              <a:t>表单控件</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37" name="任意多边形 36"/>
          <p:cNvSpPr/>
          <p:nvPr/>
        </p:nvSpPr>
        <p:spPr bwMode="auto">
          <a:xfrm>
            <a:off x="1039813" y="4065216"/>
            <a:ext cx="2135187" cy="557213"/>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a:solidFill>
            <a:srgbClr val="5767B4"/>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dirty="0"/>
          </a:p>
        </p:txBody>
      </p:sp>
      <p:sp>
        <p:nvSpPr>
          <p:cNvPr id="38" name="矩形 37"/>
          <p:cNvSpPr>
            <a:spLocks noChangeArrowheads="1"/>
          </p:cNvSpPr>
          <p:nvPr/>
        </p:nvSpPr>
        <p:spPr bwMode="auto">
          <a:xfrm>
            <a:off x="1506538" y="4146179"/>
            <a:ext cx="1217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000" b="1">
                <a:solidFill>
                  <a:schemeClr val="bg1"/>
                </a:solidFill>
                <a:latin typeface="黑体" panose="02010609060101010101" pitchFamily="49" charset="-122"/>
                <a:ea typeface="黑体" panose="02010609060101010101" pitchFamily="49" charset="-122"/>
              </a:rPr>
              <a:t>提示信息</a:t>
            </a:r>
            <a:endParaRPr lang="zh-CN" altLang="en-US" sz="2000" b="1">
              <a:solidFill>
                <a:schemeClr val="bg1"/>
              </a:solidFill>
              <a:latin typeface="黑体" panose="02010609060101010101" pitchFamily="49" charset="-122"/>
              <a:ea typeface="黑体" panose="02010609060101010101" pitchFamily="49" charset="-122"/>
            </a:endParaRPr>
          </a:p>
        </p:txBody>
      </p:sp>
      <p:sp>
        <p:nvSpPr>
          <p:cNvPr id="39" name="任意多边形 38"/>
          <p:cNvSpPr/>
          <p:nvPr/>
        </p:nvSpPr>
        <p:spPr bwMode="auto">
          <a:xfrm>
            <a:off x="1070248" y="5266383"/>
            <a:ext cx="2133600" cy="585788"/>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a:solidFill>
            <a:srgbClr val="4BACC6"/>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dirty="0"/>
          </a:p>
        </p:txBody>
      </p:sp>
      <p:sp>
        <p:nvSpPr>
          <p:cNvPr id="40" name="矩形 11"/>
          <p:cNvSpPr>
            <a:spLocks noChangeArrowheads="1"/>
          </p:cNvSpPr>
          <p:nvPr/>
        </p:nvSpPr>
        <p:spPr bwMode="auto">
          <a:xfrm>
            <a:off x="1668934" y="5348115"/>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000" b="1" dirty="0">
                <a:solidFill>
                  <a:schemeClr val="bg1"/>
                </a:solidFill>
                <a:latin typeface="黑体" panose="02010609060101010101" pitchFamily="49" charset="-122"/>
                <a:ea typeface="黑体" panose="02010609060101010101" pitchFamily="49" charset="-122"/>
              </a:rPr>
              <a:t>表单域</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1" name="左大括号 40"/>
          <p:cNvSpPr/>
          <p:nvPr/>
        </p:nvSpPr>
        <p:spPr bwMode="auto">
          <a:xfrm>
            <a:off x="536575" y="3096841"/>
            <a:ext cx="503238" cy="2590800"/>
          </a:xfrm>
          <a:prstGeom prst="leftBrace">
            <a:avLst>
              <a:gd name="adj1" fmla="val 8342"/>
              <a:gd name="adj2" fmla="val 50000"/>
            </a:avLst>
          </a:prstGeom>
          <a:noFill/>
          <a:ln w="28575" algn="ctr">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pPr>
            <a:endParaRPr lang="zh-CN" altLang="en-US"/>
          </a:p>
        </p:txBody>
      </p:sp>
      <p:sp>
        <p:nvSpPr>
          <p:cNvPr id="42" name="右箭头 41"/>
          <p:cNvSpPr>
            <a:spLocks noChangeArrowheads="1"/>
          </p:cNvSpPr>
          <p:nvPr/>
        </p:nvSpPr>
        <p:spPr bwMode="auto">
          <a:xfrm>
            <a:off x="3298825" y="3092079"/>
            <a:ext cx="552450" cy="157162"/>
          </a:xfrm>
          <a:prstGeom prst="rightArrow">
            <a:avLst>
              <a:gd name="adj1" fmla="val 50000"/>
              <a:gd name="adj2" fmla="val 49749"/>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43" name="右箭头 42"/>
          <p:cNvSpPr>
            <a:spLocks noChangeArrowheads="1"/>
          </p:cNvSpPr>
          <p:nvPr/>
        </p:nvSpPr>
        <p:spPr bwMode="auto">
          <a:xfrm>
            <a:off x="3308350" y="4277941"/>
            <a:ext cx="552450" cy="155575"/>
          </a:xfrm>
          <a:prstGeom prst="rightArrow">
            <a:avLst>
              <a:gd name="adj1" fmla="val 50000"/>
              <a:gd name="adj2" fmla="val 50257"/>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44" name="右箭头 43"/>
          <p:cNvSpPr>
            <a:spLocks noChangeArrowheads="1"/>
          </p:cNvSpPr>
          <p:nvPr/>
        </p:nvSpPr>
        <p:spPr bwMode="auto">
          <a:xfrm>
            <a:off x="3308350" y="5480572"/>
            <a:ext cx="552450" cy="155575"/>
          </a:xfrm>
          <a:prstGeom prst="rightArrow">
            <a:avLst>
              <a:gd name="adj1" fmla="val 50000"/>
              <a:gd name="adj2" fmla="val 50257"/>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45" name="矩形 44"/>
          <p:cNvSpPr/>
          <p:nvPr/>
        </p:nvSpPr>
        <p:spPr>
          <a:xfrm>
            <a:off x="3979863" y="2777754"/>
            <a:ext cx="4511675" cy="865187"/>
          </a:xfrm>
          <a:prstGeom prst="rect">
            <a:avLst/>
          </a:prstGeom>
          <a:solidFill>
            <a:schemeClr val="bg1"/>
          </a:solidFill>
          <a:ln w="19050">
            <a:solidFill>
              <a:schemeClr val="accent4"/>
            </a:solidFill>
            <a:prstDash val="sysDash"/>
          </a:ln>
        </p:spPr>
        <p:txBody>
          <a:bodyPr anchor="ctr"/>
          <a:lstStyle/>
          <a:p>
            <a:pPr algn="ctr">
              <a:defRPr/>
            </a:pPr>
            <a:endParaRPr lang="zh-CN" altLang="en-US" dirty="0">
              <a:latin typeface="Arial" panose="020B0604020202020204" pitchFamily="34" charset="0"/>
            </a:endParaRPr>
          </a:p>
        </p:txBody>
      </p:sp>
      <p:sp>
        <p:nvSpPr>
          <p:cNvPr id="46" name="矩形 45"/>
          <p:cNvSpPr>
            <a:spLocks noChangeArrowheads="1"/>
          </p:cNvSpPr>
          <p:nvPr/>
        </p:nvSpPr>
        <p:spPr bwMode="auto">
          <a:xfrm>
            <a:off x="3979863" y="2787279"/>
            <a:ext cx="4248150" cy="773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mn-ea"/>
              </a:rPr>
              <a:t>    </a:t>
            </a:r>
            <a:r>
              <a:rPr lang="zh-CN" altLang="zh-CN" sz="1600" dirty="0">
                <a:latin typeface="+mn-ea"/>
              </a:rPr>
              <a:t>包含了具体的表单功能项，如单行文本输入框、密码输入框、复选框提交按钮等。</a:t>
            </a:r>
            <a:endParaRPr lang="zh-CN" altLang="zh-CN" sz="1400" dirty="0">
              <a:latin typeface="+mn-ea"/>
            </a:endParaRPr>
          </a:p>
        </p:txBody>
      </p:sp>
      <p:sp>
        <p:nvSpPr>
          <p:cNvPr id="47" name="矩形 46"/>
          <p:cNvSpPr/>
          <p:nvPr/>
        </p:nvSpPr>
        <p:spPr>
          <a:xfrm>
            <a:off x="3979863" y="3748510"/>
            <a:ext cx="4511675" cy="1265237"/>
          </a:xfrm>
          <a:prstGeom prst="rect">
            <a:avLst/>
          </a:prstGeom>
          <a:solidFill>
            <a:schemeClr val="bg1"/>
          </a:solidFill>
          <a:ln w="19050">
            <a:solidFill>
              <a:schemeClr val="accent4"/>
            </a:solidFill>
            <a:prstDash val="sysDash"/>
          </a:ln>
        </p:spPr>
        <p:txBody>
          <a:bodyPr anchor="ctr"/>
          <a:lstStyle/>
          <a:p>
            <a:pPr algn="ctr">
              <a:defRPr/>
            </a:pPr>
            <a:endParaRPr lang="zh-CN" altLang="en-US" dirty="0">
              <a:latin typeface="Arial" panose="020B0604020202020204" pitchFamily="34" charset="0"/>
            </a:endParaRPr>
          </a:p>
        </p:txBody>
      </p:sp>
      <p:sp>
        <p:nvSpPr>
          <p:cNvPr id="48" name="矩形 47"/>
          <p:cNvSpPr>
            <a:spLocks noChangeArrowheads="1"/>
          </p:cNvSpPr>
          <p:nvPr/>
        </p:nvSpPr>
        <p:spPr bwMode="auto">
          <a:xfrm>
            <a:off x="3962400" y="3741589"/>
            <a:ext cx="4413250" cy="11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lvl="1">
              <a:lnSpc>
                <a:spcPct val="150000"/>
              </a:lnSpc>
            </a:pPr>
            <a:r>
              <a:rPr lang="en-US" altLang="zh-CN" sz="1600" dirty="0"/>
              <a:t>       </a:t>
            </a:r>
            <a:r>
              <a:rPr lang="zh-CN" altLang="zh-CN" sz="1600" dirty="0"/>
              <a:t>一个表单中通常还需要包含一些说明性的文字即表单控件前的文字说明，用于提示用户进行填写和操作。</a:t>
            </a:r>
            <a:endParaRPr lang="zh-CN" altLang="zh-CN" sz="1600" dirty="0">
              <a:latin typeface="黑体" panose="02010609060101010101" pitchFamily="49" charset="-122"/>
              <a:ea typeface="黑体" panose="02010609060101010101" pitchFamily="49" charset="-122"/>
            </a:endParaRPr>
          </a:p>
        </p:txBody>
      </p:sp>
      <p:sp>
        <p:nvSpPr>
          <p:cNvPr id="49" name="矩形 48"/>
          <p:cNvSpPr/>
          <p:nvPr/>
        </p:nvSpPr>
        <p:spPr>
          <a:xfrm>
            <a:off x="3971925" y="5118001"/>
            <a:ext cx="4519613" cy="831850"/>
          </a:xfrm>
          <a:prstGeom prst="rect">
            <a:avLst/>
          </a:prstGeom>
          <a:solidFill>
            <a:schemeClr val="bg1"/>
          </a:solidFill>
          <a:ln w="19050">
            <a:solidFill>
              <a:schemeClr val="accent4"/>
            </a:solidFill>
            <a:prstDash val="sysDash"/>
          </a:ln>
        </p:spPr>
        <p:txBody>
          <a:bodyPr anchor="ctr"/>
          <a:lstStyle/>
          <a:p>
            <a:pPr>
              <a:lnSpc>
                <a:spcPct val="150000"/>
              </a:lnSpc>
              <a:defRPr/>
            </a:pPr>
            <a:r>
              <a:rPr lang="en-US" altLang="zh-CN" sz="1600" dirty="0"/>
              <a:t>       </a:t>
            </a:r>
            <a:r>
              <a:rPr lang="zh-CN" altLang="zh-CN" sz="1600" dirty="0"/>
              <a:t>它相当于一个容器，用来容纳所有的表单控件和提示信息。</a:t>
            </a:r>
            <a:endParaRPr lang="zh-CN" altLang="zh-CN" sz="1600" dirty="0">
              <a:latin typeface="黑体" panose="02010609060101010101" pitchFamily="49" charset="-122"/>
              <a:ea typeface="黑体" panose="02010609060101010101" pitchFamily="49" charset="-122"/>
            </a:endParaRPr>
          </a:p>
        </p:txBody>
      </p:sp>
      <p:sp>
        <p:nvSpPr>
          <p:cNvPr id="2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1"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1.1.6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表单标记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10"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wipe(left)">
                                      <p:cBhvr>
                                        <p:cTn id="37" dur="500"/>
                                        <p:tgtEl>
                                          <p:spTgt spid="42"/>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randombar(horizontal)">
                                      <p:cBhvr>
                                        <p:cTn id="40" dur="500"/>
                                        <p:tgtEl>
                                          <p:spTgt spid="45"/>
                                        </p:tgtEl>
                                      </p:cBhvr>
                                    </p:animEffect>
                                  </p:childTnLst>
                                </p:cTn>
                              </p:par>
                            </p:childTnLst>
                          </p:cTn>
                        </p:par>
                        <p:par>
                          <p:cTn id="41" fill="hold">
                            <p:stCondLst>
                              <p:cond delay="500"/>
                            </p:stCondLst>
                            <p:childTnLst>
                              <p:par>
                                <p:cTn id="42" presetID="14" presetClass="entr" presetSubtype="10"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randombar(horizontal)">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left)">
                                      <p:cBhvr>
                                        <p:cTn id="49" dur="500"/>
                                        <p:tgtEl>
                                          <p:spTgt spid="43"/>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randombar(horizontal)">
                                      <p:cBhvr>
                                        <p:cTn id="52" dur="500"/>
                                        <p:tgtEl>
                                          <p:spTgt spid="47"/>
                                        </p:tgtEl>
                                      </p:cBhvr>
                                    </p:animEffect>
                                  </p:childTnLst>
                                </p:cTn>
                              </p:par>
                            </p:childTnLst>
                          </p:cTn>
                        </p:par>
                        <p:par>
                          <p:cTn id="53" fill="hold">
                            <p:stCondLst>
                              <p:cond delay="500"/>
                            </p:stCondLst>
                            <p:childTnLst>
                              <p:par>
                                <p:cTn id="54" presetID="14" presetClass="entr" presetSubtype="10"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randombar(horizontal)">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randombar(horizontal)">
                                      <p:cBhvr>
                                        <p:cTn id="6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P spid="38" grpId="0"/>
      <p:bldP spid="40" grpId="0"/>
      <p:bldP spid="41" grpId="0" animBg="1"/>
      <p:bldP spid="42" grpId="0" animBg="1"/>
      <p:bldP spid="43" grpId="0" animBg="1"/>
      <p:bldP spid="44" grpId="0" animBg="1"/>
      <p:bldP spid="45" grpId="0" animBg="1"/>
      <p:bldP spid="46" grpId="0"/>
      <p:bldP spid="47" grpId="0" animBg="1"/>
      <p:bldP spid="48" grpId="0"/>
      <p:bldP spid="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bwMode="auto">
          <a:xfrm>
            <a:off x="522288" y="1665635"/>
            <a:ext cx="8137525" cy="2408237"/>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矩形 15"/>
          <p:cNvSpPr>
            <a:spLocks noChangeArrowheads="1"/>
          </p:cNvSpPr>
          <p:nvPr/>
        </p:nvSpPr>
        <p:spPr bwMode="auto">
          <a:xfrm>
            <a:off x="571500" y="1798985"/>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中，</a:t>
            </a:r>
            <a:r>
              <a:rPr lang="en-US" altLang="zh-CN" dirty="0">
                <a:latin typeface="Times New Roman" panose="02020603050405020304" pitchFamily="18" charset="0"/>
                <a:cs typeface="Times New Roman" panose="02020603050405020304" pitchFamily="18" charset="0"/>
              </a:rPr>
              <a:t>&lt;form&gt;</a:t>
            </a:r>
            <a:r>
              <a:rPr lang="zh-CN" altLang="zh-CN" dirty="0">
                <a:latin typeface="Times New Roman" panose="02020603050405020304" pitchFamily="18" charset="0"/>
                <a:cs typeface="Times New Roman" panose="02020603050405020304" pitchFamily="18" charset="0"/>
              </a:rPr>
              <a:t>标记用于定义表单域，即创建一个表单，其基本语法如下所示：</a:t>
            </a:r>
            <a:endParaRPr lang="zh-CN" altLang="zh-CN" dirty="0">
              <a:latin typeface="Times New Roman" panose="02020603050405020304" pitchFamily="18" charset="0"/>
              <a:cs typeface="Times New Roman" panose="02020603050405020304" pitchFamily="18" charset="0"/>
            </a:endParaRPr>
          </a:p>
        </p:txBody>
      </p:sp>
      <p:sp>
        <p:nvSpPr>
          <p:cNvPr id="24" name="矩形 16"/>
          <p:cNvSpPr>
            <a:spLocks noChangeArrowheads="1"/>
          </p:cNvSpPr>
          <p:nvPr/>
        </p:nvSpPr>
        <p:spPr bwMode="auto">
          <a:xfrm>
            <a:off x="563563" y="2707035"/>
            <a:ext cx="8042275" cy="1328737"/>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lvl="1">
              <a:lnSpc>
                <a:spcPct val="150000"/>
              </a:lnSpc>
            </a:pPr>
            <a:r>
              <a:rPr lang="en-US" altLang="zh-CN" dirty="0"/>
              <a:t>&lt;form action="</a:t>
            </a:r>
            <a:r>
              <a:rPr lang="en-US" altLang="zh-CN" dirty="0" err="1"/>
              <a:t>url</a:t>
            </a:r>
            <a:r>
              <a:rPr lang="zh-CN" altLang="zh-CN" dirty="0"/>
              <a:t>地址</a:t>
            </a:r>
            <a:r>
              <a:rPr lang="en-US" altLang="zh-CN" dirty="0"/>
              <a:t>"  method="</a:t>
            </a:r>
            <a:r>
              <a:rPr lang="zh-CN" altLang="zh-CN" dirty="0"/>
              <a:t>提交方式</a:t>
            </a:r>
            <a:r>
              <a:rPr lang="en-US" altLang="zh-CN" dirty="0"/>
              <a:t>"  name="</a:t>
            </a:r>
            <a:r>
              <a:rPr lang="zh-CN" altLang="zh-CN" dirty="0"/>
              <a:t>表单名称</a:t>
            </a:r>
            <a:r>
              <a:rPr lang="en-US" altLang="zh-CN" dirty="0"/>
              <a:t>"&gt;</a:t>
            </a:r>
            <a:endParaRPr lang="zh-CN" altLang="zh-CN" dirty="0"/>
          </a:p>
          <a:p>
            <a:pPr lvl="1">
              <a:lnSpc>
                <a:spcPct val="150000"/>
              </a:lnSpc>
            </a:pPr>
            <a:r>
              <a:rPr lang="en-US" altLang="zh-CN" dirty="0"/>
              <a:t>     </a:t>
            </a:r>
            <a:r>
              <a:rPr lang="zh-CN" altLang="zh-CN" dirty="0"/>
              <a:t>各种表单控件</a:t>
            </a:r>
            <a:endParaRPr lang="zh-CN" altLang="zh-CN" dirty="0"/>
          </a:p>
          <a:p>
            <a:pPr lvl="1">
              <a:lnSpc>
                <a:spcPct val="150000"/>
              </a:lnSpc>
            </a:pPr>
            <a:r>
              <a:rPr lang="en-US" altLang="zh-CN" dirty="0"/>
              <a:t>&lt;/form&gt;</a:t>
            </a:r>
            <a:endParaRPr lang="zh-CN" altLang="zh-CN" dirty="0"/>
          </a:p>
        </p:txBody>
      </p:sp>
      <p:sp>
        <p:nvSpPr>
          <p:cNvPr id="25" name="矩形 24"/>
          <p:cNvSpPr>
            <a:spLocks noChangeArrowheads="1"/>
          </p:cNvSpPr>
          <p:nvPr/>
        </p:nvSpPr>
        <p:spPr bwMode="auto">
          <a:xfrm>
            <a:off x="1691681" y="2848322"/>
            <a:ext cx="1656184"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26" name="圆角矩形 25"/>
          <p:cNvSpPr/>
          <p:nvPr/>
        </p:nvSpPr>
        <p:spPr>
          <a:xfrm>
            <a:off x="3059832" y="2256185"/>
            <a:ext cx="2103437"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指定表单提交地址</a:t>
            </a:r>
            <a:endParaRPr lang="en-US" altLang="zh-CN" b="1" dirty="0">
              <a:solidFill>
                <a:schemeClr val="bg1"/>
              </a:solidFill>
            </a:endParaRPr>
          </a:p>
        </p:txBody>
      </p:sp>
      <p:cxnSp>
        <p:nvCxnSpPr>
          <p:cNvPr id="30" name="直接箭头连接符 29"/>
          <p:cNvCxnSpPr>
            <a:cxnSpLocks noChangeShapeType="1"/>
          </p:cNvCxnSpPr>
          <p:nvPr/>
        </p:nvCxnSpPr>
        <p:spPr bwMode="auto">
          <a:xfrm flipV="1">
            <a:off x="2200275" y="2664172"/>
            <a:ext cx="803275" cy="11430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任意多边形 30"/>
          <p:cNvSpPr/>
          <p:nvPr/>
        </p:nvSpPr>
        <p:spPr bwMode="auto">
          <a:xfrm>
            <a:off x="5508104" y="1268760"/>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32" name="矩形 31"/>
          <p:cNvSpPr>
            <a:spLocks noChangeArrowheads="1"/>
          </p:cNvSpPr>
          <p:nvPr/>
        </p:nvSpPr>
        <p:spPr bwMode="auto">
          <a:xfrm>
            <a:off x="5998641" y="132591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创建表单</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33" name="矩形 32"/>
          <p:cNvSpPr>
            <a:spLocks noChangeArrowheads="1"/>
          </p:cNvSpPr>
          <p:nvPr/>
        </p:nvSpPr>
        <p:spPr bwMode="auto">
          <a:xfrm>
            <a:off x="3419873" y="2840385"/>
            <a:ext cx="2016223" cy="306387"/>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34" name="直接箭头连接符 33"/>
          <p:cNvCxnSpPr>
            <a:cxnSpLocks noChangeShapeType="1"/>
          </p:cNvCxnSpPr>
          <p:nvPr/>
        </p:nvCxnSpPr>
        <p:spPr bwMode="auto">
          <a:xfrm>
            <a:off x="4113213" y="3175347"/>
            <a:ext cx="285750" cy="269875"/>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圆角矩形 34"/>
          <p:cNvSpPr/>
          <p:nvPr/>
        </p:nvSpPr>
        <p:spPr>
          <a:xfrm>
            <a:off x="3347864" y="3496022"/>
            <a:ext cx="2127250" cy="409575"/>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anchor="ctr">
            <a:spAutoFit/>
          </a:bodyPr>
          <a:lstStyle/>
          <a:p>
            <a:pPr>
              <a:defRPr/>
            </a:pPr>
            <a:r>
              <a:rPr lang="zh-CN" altLang="en-US" b="1" dirty="0">
                <a:solidFill>
                  <a:schemeClr val="bg1"/>
                </a:solidFill>
              </a:rPr>
              <a:t>表单提交数据方式</a:t>
            </a:r>
            <a:endParaRPr lang="en-US" altLang="zh-CN" b="1" dirty="0">
              <a:solidFill>
                <a:schemeClr val="bg1"/>
              </a:solidFill>
            </a:endParaRPr>
          </a:p>
        </p:txBody>
      </p:sp>
      <p:sp>
        <p:nvSpPr>
          <p:cNvPr id="36" name="圆角矩形标注 35"/>
          <p:cNvSpPr>
            <a:spLocks noChangeArrowheads="1"/>
          </p:cNvSpPr>
          <p:nvPr/>
        </p:nvSpPr>
        <p:spPr bwMode="auto">
          <a:xfrm>
            <a:off x="873125" y="4416326"/>
            <a:ext cx="7150100" cy="1604962"/>
          </a:xfrm>
          <a:prstGeom prst="wedgeRoundRectCallout">
            <a:avLst>
              <a:gd name="adj1" fmla="val -19641"/>
              <a:gd name="adj2" fmla="val -68615"/>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defRPr/>
            </a:pPr>
            <a:r>
              <a:rPr lang="zh-CN" altLang="en-US" sz="1600" b="1" dirty="0" smtClean="0">
                <a:solidFill>
                  <a:schemeClr val="bg1"/>
                </a:solidFill>
                <a:latin typeface="+mn-ea"/>
                <a:ea typeface="+mn-ea"/>
              </a:rPr>
              <a:t>  </a:t>
            </a:r>
            <a:r>
              <a:rPr lang="en-US" altLang="zh-CN" sz="1600" b="1" dirty="0">
                <a:solidFill>
                  <a:schemeClr val="bg1"/>
                </a:solidFill>
                <a:latin typeface="Times New Roman" panose="02020603050405020304" pitchFamily="18" charset="0"/>
                <a:ea typeface="+mn-ea"/>
                <a:cs typeface="Times New Roman" panose="02020603050405020304" pitchFamily="18" charset="0"/>
              </a:rPr>
              <a:t>method</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属性用于设置表单数据的提交方式，其取值为</a:t>
            </a:r>
            <a:r>
              <a:rPr lang="en-US" altLang="zh-CN" sz="1600" b="1" dirty="0">
                <a:solidFill>
                  <a:schemeClr val="bg1"/>
                </a:solidFill>
                <a:latin typeface="Times New Roman" panose="02020603050405020304" pitchFamily="18" charset="0"/>
                <a:ea typeface="+mn-ea"/>
                <a:cs typeface="Times New Roman" panose="02020603050405020304" pitchFamily="18" charset="0"/>
              </a:rPr>
              <a:t>GET</a:t>
            </a:r>
            <a:r>
              <a:rPr lang="zh-CN" altLang="zh-CN" sz="1600" b="1" dirty="0">
                <a:solidFill>
                  <a:schemeClr val="bg1"/>
                </a:solidFill>
                <a:latin typeface="Times New Roman" panose="02020603050405020304" pitchFamily="18" charset="0"/>
                <a:ea typeface="+mn-ea"/>
                <a:cs typeface="Times New Roman" panose="02020603050405020304" pitchFamily="18" charset="0"/>
              </a:rPr>
              <a:t>或</a:t>
            </a:r>
            <a:r>
              <a:rPr lang="en-US" altLang="zh-CN" sz="1600" b="1" dirty="0">
                <a:solidFill>
                  <a:schemeClr val="bg1"/>
                </a:solidFill>
                <a:latin typeface="Times New Roman" panose="02020603050405020304" pitchFamily="18" charset="0"/>
                <a:ea typeface="+mn-ea"/>
                <a:cs typeface="Times New Roman" panose="02020603050405020304" pitchFamily="18" charset="0"/>
              </a:rPr>
              <a:t>POST</a:t>
            </a:r>
            <a:r>
              <a:rPr lang="zh-CN" altLang="zh-CN" sz="1600" b="1" dirty="0">
                <a:solidFill>
                  <a:schemeClr val="bg1"/>
                </a:solidFill>
                <a:latin typeface="Times New Roman" panose="02020603050405020304" pitchFamily="18" charset="0"/>
                <a:ea typeface="+mn-ea"/>
                <a:cs typeface="Times New Roman" panose="02020603050405020304" pitchFamily="18" charset="0"/>
              </a:rPr>
              <a:t>，其中，</a:t>
            </a:r>
            <a:r>
              <a:rPr lang="en-US" altLang="zh-CN" sz="1600" b="1" dirty="0">
                <a:solidFill>
                  <a:schemeClr val="bg1"/>
                </a:solidFill>
                <a:latin typeface="Times New Roman" panose="02020603050405020304" pitchFamily="18" charset="0"/>
                <a:ea typeface="+mn-ea"/>
                <a:cs typeface="Times New Roman" panose="02020603050405020304" pitchFamily="18" charset="0"/>
              </a:rPr>
              <a:t>GET</a:t>
            </a:r>
            <a:r>
              <a:rPr lang="zh-CN" altLang="zh-CN" sz="1600" b="1" dirty="0">
                <a:solidFill>
                  <a:schemeClr val="bg1"/>
                </a:solidFill>
                <a:latin typeface="Times New Roman" panose="02020603050405020304" pitchFamily="18" charset="0"/>
                <a:ea typeface="+mn-ea"/>
                <a:cs typeface="Times New Roman" panose="02020603050405020304" pitchFamily="18" charset="0"/>
              </a:rPr>
              <a:t>为默认值，这种方式提交的数据将显示在浏览器的地址栏中，保密性差且有数据量限制，而使用</a:t>
            </a:r>
            <a:r>
              <a:rPr lang="en-US" altLang="zh-CN" sz="1600" b="1" dirty="0">
                <a:solidFill>
                  <a:schemeClr val="bg1"/>
                </a:solidFill>
                <a:latin typeface="Times New Roman" panose="02020603050405020304" pitchFamily="18" charset="0"/>
                <a:ea typeface="+mn-ea"/>
                <a:cs typeface="Times New Roman" panose="02020603050405020304" pitchFamily="18" charset="0"/>
              </a:rPr>
              <a:t>POST</a:t>
            </a:r>
            <a:r>
              <a:rPr lang="zh-CN" altLang="zh-CN" sz="1600" b="1" dirty="0">
                <a:solidFill>
                  <a:schemeClr val="bg1"/>
                </a:solidFill>
                <a:latin typeface="Times New Roman" panose="02020603050405020304" pitchFamily="18" charset="0"/>
                <a:ea typeface="+mn-ea"/>
                <a:cs typeface="Times New Roman" panose="02020603050405020304" pitchFamily="18" charset="0"/>
              </a:rPr>
              <a:t>提交方式不但保密性好，还可以提交大量的数据，所以开发中通常使用</a:t>
            </a:r>
            <a:r>
              <a:rPr lang="en-US" altLang="zh-CN" sz="1600" b="1" dirty="0">
                <a:solidFill>
                  <a:schemeClr val="bg1"/>
                </a:solidFill>
                <a:latin typeface="Times New Roman" panose="02020603050405020304" pitchFamily="18" charset="0"/>
                <a:ea typeface="+mn-ea"/>
                <a:cs typeface="Times New Roman" panose="02020603050405020304" pitchFamily="18" charset="0"/>
              </a:rPr>
              <a:t>POST</a:t>
            </a:r>
            <a:r>
              <a:rPr lang="zh-CN" altLang="zh-CN" sz="1600" b="1" dirty="0">
                <a:solidFill>
                  <a:schemeClr val="bg1"/>
                </a:solidFill>
                <a:latin typeface="Times New Roman" panose="02020603050405020304" pitchFamily="18" charset="0"/>
                <a:ea typeface="+mn-ea"/>
                <a:cs typeface="Times New Roman" panose="02020603050405020304" pitchFamily="18" charset="0"/>
              </a:rPr>
              <a:t>方式提交表单。</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a:p>
            <a:pPr eaLnBrk="1" hangingPunct="1">
              <a:defRPr/>
            </a:pPr>
            <a:endParaRPr lang="zh-CN" altLang="zh-CN" sz="1600" dirty="0" smtClean="0"/>
          </a:p>
        </p:txBody>
      </p:sp>
      <p:sp>
        <p:nvSpPr>
          <p:cNvPr id="15"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1.1.6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表单标记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wipe(left)">
                                      <p:cBhvr>
                                        <p:cTn id="13" dur="500"/>
                                        <p:tgtEl>
                                          <p:spTgt spid="3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down)">
                                      <p:cBhvr>
                                        <p:cTn id="24" dur="500"/>
                                        <p:tgtEl>
                                          <p:spTgt spid="25"/>
                                        </p:tgtEl>
                                      </p:cBhvr>
                                    </p:animEffect>
                                  </p:childTnLst>
                                </p:cTn>
                              </p:par>
                              <p:par>
                                <p:cTn id="25" presetID="22" presetClass="entr" presetSubtype="4"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down)">
                                      <p:cBhvr>
                                        <p:cTn id="27" dur="500"/>
                                        <p:tgtEl>
                                          <p:spTgt spid="3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down)">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up)">
                                      <p:cBhvr>
                                        <p:cTn id="35" dur="500"/>
                                        <p:tgtEl>
                                          <p:spTgt spid="33"/>
                                        </p:tgtEl>
                                      </p:cBhvr>
                                    </p:animEffect>
                                  </p:childTnLst>
                                </p:cTn>
                              </p:par>
                              <p:par>
                                <p:cTn id="36" presetID="22" presetClass="entr" presetSubtype="1"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wipe(up)">
                                      <p:cBhvr>
                                        <p:cTn id="38" dur="500"/>
                                        <p:tgtEl>
                                          <p:spTgt spid="34"/>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wipe(up)">
                                      <p:cBhvr>
                                        <p:cTn id="41" dur="500"/>
                                        <p:tgtEl>
                                          <p:spTgt spid="3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wipe(up)">
                                      <p:cBhvr>
                                        <p:cTn id="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animBg="1"/>
      <p:bldP spid="26" grpId="0" animBg="1"/>
      <p:bldP spid="32" grpId="0"/>
      <p:bldP spid="33" grpId="0" animBg="1"/>
      <p:bldP spid="35" grpId="0" animBg="1"/>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522288" y="1809651"/>
            <a:ext cx="8137525" cy="182245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矩形 15"/>
          <p:cNvSpPr>
            <a:spLocks noChangeArrowheads="1"/>
          </p:cNvSpPr>
          <p:nvPr/>
        </p:nvSpPr>
        <p:spPr bwMode="auto">
          <a:xfrm>
            <a:off x="571500" y="1943001"/>
            <a:ext cx="8040688" cy="87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浏览</a:t>
            </a:r>
            <a:r>
              <a:rPr lang="zh-CN" altLang="zh-CN" dirty="0">
                <a:latin typeface="Times New Roman" panose="02020603050405020304" pitchFamily="18" charset="0"/>
                <a:cs typeface="Times New Roman" panose="02020603050405020304" pitchFamily="18" charset="0"/>
              </a:rPr>
              <a:t>网页时经常会看到单行文本输入框、单选按钮、复选框、重置按钮等，使用</a:t>
            </a:r>
            <a:r>
              <a:rPr lang="en-US" altLang="zh-CN" dirty="0">
                <a:latin typeface="Times New Roman" panose="02020603050405020304" pitchFamily="18" charset="0"/>
                <a:cs typeface="Times New Roman" panose="02020603050405020304" pitchFamily="18" charset="0"/>
              </a:rPr>
              <a:t>&lt;input /&gt;</a:t>
            </a:r>
            <a:r>
              <a:rPr lang="zh-CN" altLang="zh-CN" dirty="0">
                <a:latin typeface="Times New Roman" panose="02020603050405020304" pitchFamily="18" charset="0"/>
                <a:cs typeface="Times New Roman" panose="02020603050405020304" pitchFamily="18" charset="0"/>
              </a:rPr>
              <a:t>控件可以在表单中定义这些元素，其基本语法格式如下：</a:t>
            </a:r>
            <a:endParaRPr lang="zh-CN" altLang="zh-CN" dirty="0">
              <a:latin typeface="Times New Roman" panose="02020603050405020304" pitchFamily="18" charset="0"/>
              <a:cs typeface="Times New Roman" panose="02020603050405020304" pitchFamily="18" charset="0"/>
            </a:endParaRPr>
          </a:p>
        </p:txBody>
      </p:sp>
      <p:sp>
        <p:nvSpPr>
          <p:cNvPr id="16" name="矩形 16"/>
          <p:cNvSpPr>
            <a:spLocks noChangeArrowheads="1"/>
          </p:cNvSpPr>
          <p:nvPr/>
        </p:nvSpPr>
        <p:spPr bwMode="auto">
          <a:xfrm>
            <a:off x="563563" y="2938364"/>
            <a:ext cx="8042275" cy="40481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a:t>     &lt;input type="</a:t>
            </a:r>
            <a:r>
              <a:rPr lang="zh-CN" altLang="zh-CN"/>
              <a:t>控件类型</a:t>
            </a:r>
            <a:r>
              <a:rPr lang="en-US" altLang="zh-CN"/>
              <a:t>" /&gt;</a:t>
            </a:r>
            <a:endParaRPr lang="zh-CN" altLang="zh-CN"/>
          </a:p>
        </p:txBody>
      </p:sp>
      <p:sp>
        <p:nvSpPr>
          <p:cNvPr id="17" name="任意多边形 16"/>
          <p:cNvSpPr/>
          <p:nvPr/>
        </p:nvSpPr>
        <p:spPr bwMode="auto">
          <a:xfrm>
            <a:off x="5580112" y="1412776"/>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8" name="矩形 17"/>
          <p:cNvSpPr>
            <a:spLocks noChangeArrowheads="1"/>
          </p:cNvSpPr>
          <p:nvPr/>
        </p:nvSpPr>
        <p:spPr bwMode="auto">
          <a:xfrm>
            <a:off x="5762674" y="1469926"/>
            <a:ext cx="203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表单控件</a:t>
            </a:r>
            <a:r>
              <a:rPr lang="en-US" altLang="zh-CN" dirty="0">
                <a:solidFill>
                  <a:schemeClr val="bg1"/>
                </a:solidFill>
                <a:latin typeface="微软雅黑" panose="020B0503020204020204" pitchFamily="34" charset="-122"/>
                <a:ea typeface="微软雅黑" panose="020B0503020204020204" pitchFamily="34" charset="-122"/>
              </a:rPr>
              <a:t>&lt;input&gt;</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9" name="圆角矩形标注 18"/>
          <p:cNvSpPr>
            <a:spLocks noChangeArrowheads="1"/>
          </p:cNvSpPr>
          <p:nvPr/>
        </p:nvSpPr>
        <p:spPr bwMode="auto">
          <a:xfrm>
            <a:off x="873125" y="4013101"/>
            <a:ext cx="7150100" cy="1604963"/>
          </a:xfrm>
          <a:prstGeom prst="wedgeRoundRectCallout">
            <a:avLst>
              <a:gd name="adj1" fmla="val -19641"/>
              <a:gd name="adj2" fmla="val -68615"/>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defRPr/>
            </a:pPr>
            <a:r>
              <a:rPr lang="zh-CN" altLang="en-US" sz="1600" b="1" dirty="0" smtClean="0">
                <a:solidFill>
                  <a:schemeClr val="bg1"/>
                </a:solidFill>
                <a:latin typeface="+mn-ea"/>
                <a:ea typeface="+mn-ea"/>
              </a:rPr>
              <a:t>  </a:t>
            </a:r>
            <a:r>
              <a:rPr lang="en-US" altLang="zh-CN" sz="1600" b="1" dirty="0">
                <a:solidFill>
                  <a:schemeClr val="bg1"/>
                </a:solidFill>
                <a:latin typeface="Times New Roman" panose="02020603050405020304" pitchFamily="18" charset="0"/>
                <a:ea typeface="+mn-ea"/>
                <a:cs typeface="Times New Roman" panose="02020603050405020304" pitchFamily="18" charset="0"/>
              </a:rPr>
              <a:t>type</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属性为其最基本的属性，取值有多种，用来指定不同的控件类型。除</a:t>
            </a:r>
            <a:r>
              <a:rPr lang="en-US" altLang="zh-CN" sz="1600" b="1" dirty="0">
                <a:solidFill>
                  <a:schemeClr val="bg1"/>
                </a:solidFill>
                <a:latin typeface="Times New Roman" panose="02020603050405020304" pitchFamily="18" charset="0"/>
                <a:ea typeface="+mn-ea"/>
                <a:cs typeface="Times New Roman" panose="02020603050405020304" pitchFamily="18" charset="0"/>
              </a:rPr>
              <a:t>type</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属性外，</a:t>
            </a:r>
            <a:r>
              <a:rPr lang="en-US" altLang="zh-CN" sz="1600" b="1" dirty="0">
                <a:solidFill>
                  <a:schemeClr val="bg1"/>
                </a:solidFill>
                <a:latin typeface="Times New Roman" panose="02020603050405020304" pitchFamily="18" charset="0"/>
                <a:ea typeface="+mn-ea"/>
                <a:cs typeface="Times New Roman" panose="02020603050405020304" pitchFamily="18" charset="0"/>
              </a:rPr>
              <a:t>&lt;input /&gt;</a:t>
            </a:r>
            <a:r>
              <a:rPr lang="zh-CN" altLang="zh-CN" sz="1600" b="1" dirty="0">
                <a:solidFill>
                  <a:schemeClr val="bg1"/>
                </a:solidFill>
                <a:latin typeface="Times New Roman" panose="02020603050405020304" pitchFamily="18" charset="0"/>
                <a:ea typeface="+mn-ea"/>
                <a:cs typeface="Times New Roman" panose="02020603050405020304" pitchFamily="18" charset="0"/>
              </a:rPr>
              <a:t>控件还可以定义很多其他属性，其中，比较常用的如</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a:t>
            </a:r>
            <a:r>
              <a:rPr lang="en-US" altLang="zh-CN" sz="1600" b="1" dirty="0">
                <a:solidFill>
                  <a:schemeClr val="bg1"/>
                </a:solidFill>
                <a:latin typeface="Times New Roman" panose="02020603050405020304" pitchFamily="18" charset="0"/>
                <a:ea typeface="+mn-ea"/>
                <a:cs typeface="Times New Roman" panose="02020603050405020304" pitchFamily="18" charset="0"/>
              </a:rPr>
              <a:t>name</a:t>
            </a:r>
            <a:r>
              <a:rPr lang="zh-CN" altLang="zh-CN" sz="1600" b="1" dirty="0">
                <a:solidFill>
                  <a:schemeClr val="bg1"/>
                </a:solidFill>
                <a:latin typeface="Times New Roman" panose="02020603050405020304" pitchFamily="18" charset="0"/>
                <a:ea typeface="+mn-ea"/>
                <a:cs typeface="Times New Roman" panose="02020603050405020304" pitchFamily="18" charset="0"/>
              </a:rPr>
              <a:t>、</a:t>
            </a:r>
            <a:r>
              <a:rPr lang="en-US" altLang="zh-CN" sz="1600" b="1" dirty="0">
                <a:solidFill>
                  <a:schemeClr val="bg1"/>
                </a:solidFill>
                <a:latin typeface="Times New Roman" panose="02020603050405020304" pitchFamily="18" charset="0"/>
                <a:ea typeface="+mn-ea"/>
                <a:cs typeface="Times New Roman" panose="02020603050405020304" pitchFamily="18" charset="0"/>
              </a:rPr>
              <a:t>value</a:t>
            </a:r>
            <a:r>
              <a:rPr lang="zh-CN" altLang="zh-CN" sz="1600" b="1" dirty="0">
                <a:solidFill>
                  <a:schemeClr val="bg1"/>
                </a:solidFill>
                <a:latin typeface="Times New Roman" panose="02020603050405020304" pitchFamily="18" charset="0"/>
                <a:ea typeface="+mn-ea"/>
                <a:cs typeface="Times New Roman" panose="02020603050405020304" pitchFamily="18" charset="0"/>
              </a:rPr>
              <a:t>、</a:t>
            </a:r>
            <a:r>
              <a:rPr lang="en-US" altLang="zh-CN" sz="1600" b="1" dirty="0">
                <a:solidFill>
                  <a:schemeClr val="bg1"/>
                </a:solidFill>
                <a:latin typeface="Times New Roman" panose="02020603050405020304" pitchFamily="18" charset="0"/>
                <a:ea typeface="+mn-ea"/>
                <a:cs typeface="Times New Roman" panose="02020603050405020304" pitchFamily="18" charset="0"/>
              </a:rPr>
              <a:t>size</a:t>
            </a:r>
            <a:r>
              <a:rPr lang="zh-CN" altLang="zh-CN" sz="1600" b="1" dirty="0">
                <a:solidFill>
                  <a:schemeClr val="bg1"/>
                </a:solidFill>
                <a:latin typeface="Times New Roman" panose="02020603050405020304" pitchFamily="18" charset="0"/>
                <a:ea typeface="+mn-ea"/>
                <a:cs typeface="Times New Roman" panose="02020603050405020304" pitchFamily="18" charset="0"/>
              </a:rPr>
              <a:t>，它们分别用来指定</a:t>
            </a:r>
            <a:r>
              <a:rPr lang="en-US" altLang="zh-CN" sz="1600" b="1" dirty="0">
                <a:solidFill>
                  <a:schemeClr val="bg1"/>
                </a:solidFill>
                <a:latin typeface="Times New Roman" panose="02020603050405020304" pitchFamily="18" charset="0"/>
                <a:ea typeface="+mn-ea"/>
                <a:cs typeface="Times New Roman" panose="02020603050405020304" pitchFamily="18" charset="0"/>
              </a:rPr>
              <a:t>input</a:t>
            </a:r>
            <a:r>
              <a:rPr lang="zh-CN" altLang="zh-CN" sz="1600" b="1" dirty="0">
                <a:solidFill>
                  <a:schemeClr val="bg1"/>
                </a:solidFill>
                <a:latin typeface="Times New Roman" panose="02020603050405020304" pitchFamily="18" charset="0"/>
                <a:ea typeface="+mn-ea"/>
                <a:cs typeface="Times New Roman" panose="02020603050405020304" pitchFamily="18" charset="0"/>
              </a:rPr>
              <a:t>控件的</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值、名称、控件中的默认值和控件在页面中的显示宽度。</a:t>
            </a:r>
            <a:endParaRPr lang="zh-CN" altLang="zh-CN" sz="1600" b="1" dirty="0" smtClean="0">
              <a:solidFill>
                <a:schemeClr val="bg1"/>
              </a:solidFill>
              <a:latin typeface="Times New Roman" panose="02020603050405020304" pitchFamily="18" charset="0"/>
              <a:ea typeface="+mn-ea"/>
              <a:cs typeface="Times New Roman" panose="02020603050405020304" pitchFamily="18" charset="0"/>
            </a:endParaRPr>
          </a:p>
        </p:txBody>
      </p:sp>
      <p:sp>
        <p:nvSpPr>
          <p:cNvPr id="9"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1.1.6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表单标记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8" grpId="0"/>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522288" y="1953666"/>
            <a:ext cx="8137525" cy="380940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矩形 15"/>
          <p:cNvSpPr>
            <a:spLocks noChangeArrowheads="1"/>
          </p:cNvSpPr>
          <p:nvPr/>
        </p:nvSpPr>
        <p:spPr bwMode="auto">
          <a:xfrm>
            <a:off x="571500" y="2087017"/>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mn-ea"/>
              </a:rPr>
              <a:t>列表</a:t>
            </a:r>
            <a:r>
              <a:rPr lang="zh-CN" altLang="zh-CN" dirty="0">
                <a:latin typeface="+mn-ea"/>
              </a:rPr>
              <a:t>标记分为有序列表和无序列表</a:t>
            </a:r>
            <a:r>
              <a:rPr lang="zh-CN" altLang="zh-CN" dirty="0" smtClean="0">
                <a:latin typeface="+mn-ea"/>
              </a:rPr>
              <a:t>，</a:t>
            </a:r>
            <a:r>
              <a:rPr lang="zh-CN" altLang="zh-CN" dirty="0">
                <a:latin typeface="+mn-ea"/>
              </a:rPr>
              <a:t>无序列表的各个列表项之间没有顺序级别之分，通常是并列的</a:t>
            </a:r>
            <a:r>
              <a:rPr lang="zh-CN" altLang="zh-CN" dirty="0" smtClean="0">
                <a:latin typeface="+mn-ea"/>
              </a:rPr>
              <a:t>。</a:t>
            </a:r>
            <a:r>
              <a:rPr lang="zh-CN" altLang="zh-CN" dirty="0">
                <a:latin typeface="+mn-ea"/>
              </a:rPr>
              <a:t>定义无序列表的基本语法格式如下所示</a:t>
            </a:r>
            <a:r>
              <a:rPr lang="zh-CN" altLang="zh-CN" dirty="0" smtClean="0">
                <a:latin typeface="+mn-ea"/>
              </a:rPr>
              <a:t>。</a:t>
            </a:r>
            <a:endParaRPr lang="zh-CN" altLang="zh-CN" dirty="0">
              <a:latin typeface="+mn-ea"/>
            </a:endParaRPr>
          </a:p>
        </p:txBody>
      </p:sp>
      <p:sp>
        <p:nvSpPr>
          <p:cNvPr id="16" name="矩形 16"/>
          <p:cNvSpPr>
            <a:spLocks noChangeArrowheads="1"/>
          </p:cNvSpPr>
          <p:nvPr/>
        </p:nvSpPr>
        <p:spPr bwMode="auto">
          <a:xfrm>
            <a:off x="563563" y="3082380"/>
            <a:ext cx="8042275" cy="2650876"/>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lvl="1">
              <a:lnSpc>
                <a:spcPct val="150000"/>
              </a:lnSpc>
            </a:pPr>
            <a:r>
              <a:rPr lang="en-US" altLang="zh-CN" dirty="0" smtClean="0"/>
              <a:t>&lt;</a:t>
            </a:r>
            <a:r>
              <a:rPr lang="en-US" altLang="zh-CN" dirty="0" err="1"/>
              <a:t>ul</a:t>
            </a:r>
            <a:r>
              <a:rPr lang="en-US" altLang="zh-CN" dirty="0" smtClean="0"/>
              <a:t>&gt;</a:t>
            </a:r>
            <a:endParaRPr lang="en-US" altLang="zh-CN" dirty="0"/>
          </a:p>
          <a:p>
            <a:pPr lvl="2">
              <a:lnSpc>
                <a:spcPct val="150000"/>
              </a:lnSpc>
            </a:pPr>
            <a:r>
              <a:rPr lang="en-US" altLang="zh-CN" dirty="0" smtClean="0"/>
              <a:t>&lt;</a:t>
            </a:r>
            <a:r>
              <a:rPr lang="en-US" altLang="zh-CN" dirty="0"/>
              <a:t>li&gt;</a:t>
            </a:r>
            <a:r>
              <a:rPr lang="zh-CN" altLang="zh-CN" dirty="0"/>
              <a:t>列表项</a:t>
            </a:r>
            <a:r>
              <a:rPr lang="en-US" altLang="zh-CN" dirty="0"/>
              <a:t>1&lt;/li&gt;</a:t>
            </a:r>
            <a:endParaRPr lang="zh-CN" altLang="zh-CN" dirty="0"/>
          </a:p>
          <a:p>
            <a:pPr lvl="2">
              <a:lnSpc>
                <a:spcPct val="150000"/>
              </a:lnSpc>
            </a:pPr>
            <a:r>
              <a:rPr lang="en-US" altLang="zh-CN" dirty="0" smtClean="0"/>
              <a:t>&lt;</a:t>
            </a:r>
            <a:r>
              <a:rPr lang="en-US" altLang="zh-CN" dirty="0"/>
              <a:t>li&gt;</a:t>
            </a:r>
            <a:r>
              <a:rPr lang="zh-CN" altLang="zh-CN" dirty="0"/>
              <a:t>列表项</a:t>
            </a:r>
            <a:r>
              <a:rPr lang="en-US" altLang="zh-CN" dirty="0"/>
              <a:t>2&lt;/li&gt;</a:t>
            </a:r>
            <a:endParaRPr lang="zh-CN" altLang="zh-CN" dirty="0"/>
          </a:p>
          <a:p>
            <a:pPr lvl="2">
              <a:lnSpc>
                <a:spcPct val="150000"/>
              </a:lnSpc>
            </a:pPr>
            <a:r>
              <a:rPr lang="en-US" altLang="zh-CN" dirty="0"/>
              <a:t> </a:t>
            </a:r>
            <a:r>
              <a:rPr lang="en-US" altLang="zh-CN" dirty="0" smtClean="0"/>
              <a:t>&lt;</a:t>
            </a:r>
            <a:r>
              <a:rPr lang="en-US" altLang="zh-CN" dirty="0"/>
              <a:t>li&gt;</a:t>
            </a:r>
            <a:r>
              <a:rPr lang="zh-CN" altLang="zh-CN" dirty="0"/>
              <a:t>列表项</a:t>
            </a:r>
            <a:r>
              <a:rPr lang="en-US" altLang="zh-CN" dirty="0"/>
              <a:t>3&lt;/li&gt;</a:t>
            </a:r>
            <a:endParaRPr lang="zh-CN" altLang="zh-CN" dirty="0"/>
          </a:p>
          <a:p>
            <a:pPr lvl="2">
              <a:lnSpc>
                <a:spcPct val="150000"/>
              </a:lnSpc>
            </a:pPr>
            <a:r>
              <a:rPr lang="en-US" altLang="zh-CN" dirty="0"/>
              <a:t> </a:t>
            </a:r>
            <a:r>
              <a:rPr lang="en-US" altLang="zh-CN" dirty="0" smtClean="0"/>
              <a:t> </a:t>
            </a:r>
            <a:r>
              <a:rPr lang="en-US" altLang="zh-CN" dirty="0"/>
              <a:t>...</a:t>
            </a:r>
            <a:endParaRPr lang="zh-CN" altLang="zh-CN" dirty="0"/>
          </a:p>
          <a:p>
            <a:pPr lvl="1">
              <a:lnSpc>
                <a:spcPct val="150000"/>
              </a:lnSpc>
            </a:pPr>
            <a:r>
              <a:rPr lang="en-US" altLang="zh-CN" dirty="0" smtClean="0"/>
              <a:t> </a:t>
            </a:r>
            <a:r>
              <a:rPr lang="en-US" altLang="zh-CN" dirty="0"/>
              <a:t>&lt;/</a:t>
            </a:r>
            <a:r>
              <a:rPr lang="en-US" altLang="zh-CN" dirty="0" err="1"/>
              <a:t>ul</a:t>
            </a:r>
            <a:r>
              <a:rPr lang="en-US" altLang="zh-CN" dirty="0"/>
              <a:t>&gt;</a:t>
            </a:r>
            <a:endParaRPr lang="zh-CN" altLang="zh-CN" dirty="0"/>
          </a:p>
        </p:txBody>
      </p:sp>
      <p:sp>
        <p:nvSpPr>
          <p:cNvPr id="17" name="任意多边形 16"/>
          <p:cNvSpPr/>
          <p:nvPr/>
        </p:nvSpPr>
        <p:spPr bwMode="auto">
          <a:xfrm>
            <a:off x="5436096" y="1556792"/>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8" name="矩形 17"/>
          <p:cNvSpPr>
            <a:spLocks noChangeArrowheads="1"/>
          </p:cNvSpPr>
          <p:nvPr/>
        </p:nvSpPr>
        <p:spPr bwMode="auto">
          <a:xfrm>
            <a:off x="5980464" y="161394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无序列表</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0" name="矩形 9"/>
          <p:cNvSpPr>
            <a:spLocks noChangeArrowheads="1"/>
          </p:cNvSpPr>
          <p:nvPr/>
        </p:nvSpPr>
        <p:spPr bwMode="auto">
          <a:xfrm>
            <a:off x="971600" y="3194620"/>
            <a:ext cx="720080"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1" name="圆角矩形 10"/>
          <p:cNvSpPr/>
          <p:nvPr/>
        </p:nvSpPr>
        <p:spPr>
          <a:xfrm>
            <a:off x="2915817" y="3131940"/>
            <a:ext cx="1627782"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定义无序列表</a:t>
            </a:r>
            <a:endParaRPr lang="en-US" altLang="zh-CN" b="1" dirty="0">
              <a:solidFill>
                <a:schemeClr val="bg1"/>
              </a:solidFill>
            </a:endParaRPr>
          </a:p>
        </p:txBody>
      </p:sp>
      <p:cxnSp>
        <p:nvCxnSpPr>
          <p:cNvPr id="13" name="直接箭头连接符 12"/>
          <p:cNvCxnSpPr>
            <a:cxnSpLocks noChangeShapeType="1"/>
          </p:cNvCxnSpPr>
          <p:nvPr/>
        </p:nvCxnSpPr>
        <p:spPr bwMode="auto">
          <a:xfrm flipV="1">
            <a:off x="1763688" y="3347814"/>
            <a:ext cx="1084263" cy="4416"/>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矩形 19"/>
          <p:cNvSpPr>
            <a:spLocks noChangeArrowheads="1"/>
          </p:cNvSpPr>
          <p:nvPr/>
        </p:nvSpPr>
        <p:spPr bwMode="auto">
          <a:xfrm>
            <a:off x="1521433" y="3609081"/>
            <a:ext cx="648072"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2" name="直接箭头连接符 21"/>
          <p:cNvCxnSpPr>
            <a:cxnSpLocks noChangeShapeType="1"/>
          </p:cNvCxnSpPr>
          <p:nvPr/>
        </p:nvCxnSpPr>
        <p:spPr bwMode="auto">
          <a:xfrm>
            <a:off x="2242245" y="3877468"/>
            <a:ext cx="1008112" cy="258414"/>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圆角矩形 22"/>
          <p:cNvSpPr/>
          <p:nvPr/>
        </p:nvSpPr>
        <p:spPr>
          <a:xfrm>
            <a:off x="3304431" y="3957117"/>
            <a:ext cx="1440160" cy="407987"/>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定义列表项</a:t>
            </a:r>
            <a:endParaRPr lang="en-US" altLang="zh-CN" b="1" dirty="0">
              <a:solidFill>
                <a:schemeClr val="bg1"/>
              </a:solidFill>
            </a:endParaRPr>
          </a:p>
        </p:txBody>
      </p:sp>
      <p:sp>
        <p:nvSpPr>
          <p:cNvPr id="19"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1"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1.1.7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列表标记和超链接标记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2" presetID="22" presetClass="entr" presetSubtype="8"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par>
                                <p:cTn id="33" presetID="22" presetClass="entr" presetSubtype="1"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up)">
                                      <p:cBhvr>
                                        <p:cTn id="3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0" grpId="0" animBg="1"/>
      <p:bldP spid="11" grpId="0" animBg="1"/>
      <p:bldP spid="20"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522288" y="1521618"/>
            <a:ext cx="8137525" cy="385159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矩形 15"/>
          <p:cNvSpPr>
            <a:spLocks noChangeArrowheads="1"/>
          </p:cNvSpPr>
          <p:nvPr/>
        </p:nvSpPr>
        <p:spPr bwMode="auto">
          <a:xfrm>
            <a:off x="571500" y="1654969"/>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mn-ea"/>
              </a:rPr>
              <a:t>一</a:t>
            </a:r>
            <a:r>
              <a:rPr lang="zh-CN" altLang="zh-CN" dirty="0">
                <a:latin typeface="+mn-ea"/>
              </a:rPr>
              <a:t>个网站通常由多个页面构成，进入网站时首先看到的是其首页面，如果想从首页面跳转到子页面，就需要在首页面的相应位置添加超链接。</a:t>
            </a:r>
            <a:endParaRPr lang="zh-CN" altLang="zh-CN" dirty="0">
              <a:latin typeface="+mn-ea"/>
            </a:endParaRPr>
          </a:p>
        </p:txBody>
      </p:sp>
      <p:sp>
        <p:nvSpPr>
          <p:cNvPr id="16" name="矩形 16"/>
          <p:cNvSpPr>
            <a:spLocks noChangeArrowheads="1"/>
          </p:cNvSpPr>
          <p:nvPr/>
        </p:nvSpPr>
        <p:spPr bwMode="auto">
          <a:xfrm>
            <a:off x="563563" y="2650332"/>
            <a:ext cx="8042275" cy="2650876"/>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lvl="1">
              <a:lnSpc>
                <a:spcPct val="150000"/>
              </a:lnSpc>
            </a:pPr>
            <a:r>
              <a:rPr lang="en-US" altLang="zh-CN" dirty="0"/>
              <a:t>&lt;body&gt;</a:t>
            </a:r>
            <a:endParaRPr lang="zh-CN" altLang="zh-CN" dirty="0"/>
          </a:p>
          <a:p>
            <a:pPr lvl="1">
              <a:lnSpc>
                <a:spcPct val="150000"/>
              </a:lnSpc>
            </a:pPr>
            <a:r>
              <a:rPr lang="en-US" altLang="zh-CN" dirty="0"/>
              <a:t> </a:t>
            </a:r>
            <a:r>
              <a:rPr lang="zh-CN" altLang="zh-CN" dirty="0"/>
              <a:t>在新窗口打开：</a:t>
            </a:r>
            <a:endParaRPr lang="zh-CN" altLang="zh-CN" dirty="0"/>
          </a:p>
          <a:p>
            <a:pPr lvl="1">
              <a:lnSpc>
                <a:spcPct val="150000"/>
              </a:lnSpc>
            </a:pPr>
            <a:r>
              <a:rPr lang="en-US" altLang="zh-CN" dirty="0" smtClean="0"/>
              <a:t>  &lt;a </a:t>
            </a:r>
            <a:r>
              <a:rPr lang="en-US" altLang="zh-CN" dirty="0" err="1"/>
              <a:t>href</a:t>
            </a:r>
            <a:r>
              <a:rPr lang="en-US" altLang="zh-CN" dirty="0"/>
              <a:t>="http://www.itcast.cn/" target="_blank"&gt;</a:t>
            </a:r>
            <a:r>
              <a:rPr lang="zh-CN" altLang="zh-CN" dirty="0"/>
              <a:t>传智播客</a:t>
            </a:r>
            <a:r>
              <a:rPr lang="en-US" altLang="zh-CN" dirty="0"/>
              <a:t>&lt;/a&gt;&lt;</a:t>
            </a:r>
            <a:r>
              <a:rPr lang="en-US" altLang="zh-CN" dirty="0" err="1"/>
              <a:t>br</a:t>
            </a:r>
            <a:r>
              <a:rPr lang="en-US" altLang="zh-CN" dirty="0"/>
              <a:t> /&gt;</a:t>
            </a:r>
            <a:endParaRPr lang="zh-CN" altLang="zh-CN" dirty="0"/>
          </a:p>
          <a:p>
            <a:pPr lvl="1">
              <a:lnSpc>
                <a:spcPct val="150000"/>
              </a:lnSpc>
            </a:pPr>
            <a:r>
              <a:rPr lang="en-US" altLang="zh-CN" dirty="0"/>
              <a:t> </a:t>
            </a:r>
            <a:r>
              <a:rPr lang="zh-CN" altLang="zh-CN" dirty="0"/>
              <a:t>在原窗口打开</a:t>
            </a:r>
            <a:r>
              <a:rPr lang="zh-CN" altLang="zh-CN" dirty="0" smtClean="0"/>
              <a:t>：</a:t>
            </a:r>
            <a:endParaRPr lang="zh-CN" altLang="zh-CN" dirty="0" smtClean="0"/>
          </a:p>
          <a:p>
            <a:pPr lvl="1">
              <a:lnSpc>
                <a:spcPct val="150000"/>
              </a:lnSpc>
            </a:pPr>
            <a:r>
              <a:rPr lang="en-US" altLang="zh-CN" dirty="0" smtClean="0"/>
              <a:t>  &lt;a </a:t>
            </a:r>
            <a:r>
              <a:rPr lang="en-US" altLang="zh-CN" dirty="0" err="1" smtClean="0"/>
              <a:t>href</a:t>
            </a:r>
            <a:r>
              <a:rPr lang="en-US" altLang="zh-CN" dirty="0" smtClean="0"/>
              <a:t>="http://www.baidu.com/" target="_self"&gt;</a:t>
            </a:r>
            <a:r>
              <a:rPr lang="zh-CN" altLang="zh-CN" dirty="0" smtClean="0"/>
              <a:t>百度</a:t>
            </a:r>
            <a:r>
              <a:rPr lang="en-US" altLang="zh-CN" dirty="0" smtClean="0"/>
              <a:t>&lt;/a&gt;</a:t>
            </a:r>
            <a:endParaRPr lang="zh-CN" altLang="zh-CN" dirty="0" smtClean="0"/>
          </a:p>
          <a:p>
            <a:pPr lvl="1">
              <a:lnSpc>
                <a:spcPct val="150000"/>
              </a:lnSpc>
            </a:pPr>
            <a:r>
              <a:rPr lang="en-US" altLang="zh-CN" dirty="0" smtClean="0"/>
              <a:t>&lt;/</a:t>
            </a:r>
            <a:r>
              <a:rPr lang="en-US" altLang="zh-CN" dirty="0"/>
              <a:t>body&gt;    </a:t>
            </a:r>
            <a:endParaRPr lang="zh-CN" altLang="zh-CN" dirty="0"/>
          </a:p>
        </p:txBody>
      </p:sp>
      <p:sp>
        <p:nvSpPr>
          <p:cNvPr id="17" name="任意多边形 16"/>
          <p:cNvSpPr/>
          <p:nvPr/>
        </p:nvSpPr>
        <p:spPr bwMode="auto">
          <a:xfrm>
            <a:off x="5436096" y="1268760"/>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8" name="矩形 17"/>
          <p:cNvSpPr>
            <a:spLocks noChangeArrowheads="1"/>
          </p:cNvSpPr>
          <p:nvPr/>
        </p:nvSpPr>
        <p:spPr bwMode="auto">
          <a:xfrm>
            <a:off x="5969476" y="1325910"/>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超</a:t>
            </a:r>
            <a:r>
              <a:rPr lang="zh-CN" altLang="en-US" dirty="0" smtClean="0">
                <a:solidFill>
                  <a:schemeClr val="bg1"/>
                </a:solidFill>
                <a:latin typeface="微软雅黑" panose="020B0503020204020204" pitchFamily="34" charset="-122"/>
                <a:ea typeface="微软雅黑" panose="020B0503020204020204" pitchFamily="34" charset="-122"/>
              </a:rPr>
              <a:t>链接标记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0" name="矩形 19"/>
          <p:cNvSpPr>
            <a:spLocks noChangeArrowheads="1"/>
          </p:cNvSpPr>
          <p:nvPr/>
        </p:nvSpPr>
        <p:spPr bwMode="auto">
          <a:xfrm>
            <a:off x="1475655" y="3626668"/>
            <a:ext cx="504057"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2" name="直接箭头连接符 21"/>
          <p:cNvCxnSpPr>
            <a:cxnSpLocks noChangeShapeType="1"/>
          </p:cNvCxnSpPr>
          <p:nvPr/>
        </p:nvCxnSpPr>
        <p:spPr bwMode="auto">
          <a:xfrm flipV="1">
            <a:off x="1746758" y="3140968"/>
            <a:ext cx="520986" cy="403864"/>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圆角矩形 22"/>
          <p:cNvSpPr/>
          <p:nvPr/>
        </p:nvSpPr>
        <p:spPr>
          <a:xfrm>
            <a:off x="2011071" y="2660337"/>
            <a:ext cx="2747342"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指定链接指向的页面</a:t>
            </a:r>
            <a:r>
              <a:rPr lang="en-US" altLang="zh-CN" b="1" dirty="0" smtClean="0">
                <a:solidFill>
                  <a:schemeClr val="bg1"/>
                </a:solidFill>
              </a:rPr>
              <a:t>URL</a:t>
            </a:r>
            <a:endParaRPr lang="en-US" altLang="zh-CN" b="1" dirty="0">
              <a:solidFill>
                <a:schemeClr val="bg1"/>
              </a:solidFill>
            </a:endParaRPr>
          </a:p>
        </p:txBody>
      </p:sp>
      <p:sp>
        <p:nvSpPr>
          <p:cNvPr id="19" name="矩形 18"/>
          <p:cNvSpPr>
            <a:spLocks noChangeArrowheads="1"/>
          </p:cNvSpPr>
          <p:nvPr/>
        </p:nvSpPr>
        <p:spPr bwMode="auto">
          <a:xfrm>
            <a:off x="4211960" y="3625874"/>
            <a:ext cx="648072"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1" name="直接箭头连接符 20"/>
          <p:cNvCxnSpPr>
            <a:cxnSpLocks noChangeShapeType="1"/>
          </p:cNvCxnSpPr>
          <p:nvPr/>
        </p:nvCxnSpPr>
        <p:spPr bwMode="auto">
          <a:xfrm flipV="1">
            <a:off x="4576688" y="3259577"/>
            <a:ext cx="1363464" cy="303672"/>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圆角矩形 23"/>
          <p:cNvSpPr/>
          <p:nvPr/>
        </p:nvSpPr>
        <p:spPr>
          <a:xfrm>
            <a:off x="4910813" y="2732345"/>
            <a:ext cx="2325483"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指定页面的打开方式</a:t>
            </a:r>
            <a:endParaRPr lang="en-US" altLang="zh-CN" b="1" dirty="0">
              <a:solidFill>
                <a:schemeClr val="bg1"/>
              </a:solidFill>
            </a:endParaRPr>
          </a:p>
        </p:txBody>
      </p:sp>
      <p:sp>
        <p:nvSpPr>
          <p:cNvPr id="25" name="圆角矩形标注 24"/>
          <p:cNvSpPr>
            <a:spLocks noChangeArrowheads="1"/>
          </p:cNvSpPr>
          <p:nvPr/>
        </p:nvSpPr>
        <p:spPr bwMode="auto">
          <a:xfrm>
            <a:off x="1009650" y="5571938"/>
            <a:ext cx="7150100" cy="881398"/>
          </a:xfrm>
          <a:prstGeom prst="wedgeRoundRectCallout">
            <a:avLst>
              <a:gd name="adj1" fmla="val -19641"/>
              <a:gd name="adj2" fmla="val -68615"/>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defRPr/>
            </a:pPr>
            <a:r>
              <a:rPr lang="en-US" altLang="zh-CN" sz="1600" b="1" dirty="0" smtClean="0">
                <a:solidFill>
                  <a:schemeClr val="bg1"/>
                </a:solidFill>
                <a:latin typeface="Times New Roman" panose="02020603050405020304" pitchFamily="18" charset="0"/>
                <a:ea typeface="+mn-ea"/>
                <a:cs typeface="Times New Roman" panose="02020603050405020304" pitchFamily="18" charset="0"/>
              </a:rPr>
              <a:t>target</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属性用于指定页面的打开方式，其取值有</a:t>
            </a:r>
            <a:r>
              <a:rPr lang="en-US" altLang="zh-CN" sz="1600" b="1" dirty="0">
                <a:solidFill>
                  <a:schemeClr val="bg1"/>
                </a:solidFill>
                <a:latin typeface="Times New Roman" panose="02020603050405020304" pitchFamily="18" charset="0"/>
                <a:ea typeface="+mn-ea"/>
                <a:cs typeface="Times New Roman" panose="02020603050405020304" pitchFamily="18" charset="0"/>
              </a:rPr>
              <a:t>_self</a:t>
            </a:r>
            <a:r>
              <a:rPr lang="zh-CN" altLang="zh-CN" sz="1600" b="1" dirty="0">
                <a:solidFill>
                  <a:schemeClr val="bg1"/>
                </a:solidFill>
                <a:latin typeface="Times New Roman" panose="02020603050405020304" pitchFamily="18" charset="0"/>
                <a:ea typeface="+mn-ea"/>
                <a:cs typeface="Times New Roman" panose="02020603050405020304" pitchFamily="18" charset="0"/>
              </a:rPr>
              <a:t>和</a:t>
            </a:r>
            <a:r>
              <a:rPr lang="en-US" altLang="zh-CN" sz="1600" b="1" dirty="0">
                <a:solidFill>
                  <a:schemeClr val="bg1"/>
                </a:solidFill>
                <a:latin typeface="Times New Roman" panose="02020603050405020304" pitchFamily="18" charset="0"/>
                <a:ea typeface="+mn-ea"/>
                <a:cs typeface="Times New Roman" panose="02020603050405020304" pitchFamily="18" charset="0"/>
              </a:rPr>
              <a:t>_blank</a:t>
            </a:r>
            <a:r>
              <a:rPr lang="zh-CN" altLang="zh-CN" sz="1600" b="1" dirty="0">
                <a:solidFill>
                  <a:schemeClr val="bg1"/>
                </a:solidFill>
                <a:latin typeface="Times New Roman" panose="02020603050405020304" pitchFamily="18" charset="0"/>
                <a:ea typeface="+mn-ea"/>
                <a:cs typeface="Times New Roman" panose="02020603050405020304" pitchFamily="18" charset="0"/>
              </a:rPr>
              <a:t>，其中</a:t>
            </a:r>
            <a:r>
              <a:rPr lang="en-US" altLang="zh-CN" sz="1600" b="1" dirty="0">
                <a:solidFill>
                  <a:schemeClr val="bg1"/>
                </a:solidFill>
                <a:latin typeface="Times New Roman" panose="02020603050405020304" pitchFamily="18" charset="0"/>
                <a:ea typeface="+mn-ea"/>
                <a:cs typeface="Times New Roman" panose="02020603050405020304" pitchFamily="18" charset="0"/>
              </a:rPr>
              <a:t>_self</a:t>
            </a:r>
            <a:r>
              <a:rPr lang="zh-CN" altLang="zh-CN" sz="1600" b="1" dirty="0">
                <a:solidFill>
                  <a:schemeClr val="bg1"/>
                </a:solidFill>
                <a:latin typeface="Times New Roman" panose="02020603050405020304" pitchFamily="18" charset="0"/>
                <a:ea typeface="+mn-ea"/>
                <a:cs typeface="Times New Roman" panose="02020603050405020304" pitchFamily="18" charset="0"/>
              </a:rPr>
              <a:t>为默认值，意为在原窗口打开，</a:t>
            </a:r>
            <a:r>
              <a:rPr lang="en-US" altLang="zh-CN" sz="1600" b="1" dirty="0">
                <a:solidFill>
                  <a:schemeClr val="bg1"/>
                </a:solidFill>
                <a:latin typeface="Times New Roman" panose="02020603050405020304" pitchFamily="18" charset="0"/>
                <a:ea typeface="+mn-ea"/>
                <a:cs typeface="Times New Roman" panose="02020603050405020304" pitchFamily="18" charset="0"/>
              </a:rPr>
              <a:t>_blank</a:t>
            </a:r>
            <a:r>
              <a:rPr lang="zh-CN" altLang="zh-CN" sz="1600" b="1" dirty="0">
                <a:solidFill>
                  <a:schemeClr val="bg1"/>
                </a:solidFill>
                <a:latin typeface="Times New Roman" panose="02020603050405020304" pitchFamily="18" charset="0"/>
                <a:ea typeface="+mn-ea"/>
                <a:cs typeface="Times New Roman" panose="02020603050405020304" pitchFamily="18" charset="0"/>
              </a:rPr>
              <a:t>为在新窗口打开。</a:t>
            </a:r>
            <a:endParaRPr lang="zh-CN" altLang="zh-CN" sz="1600" b="1" dirty="0" smtClean="0">
              <a:solidFill>
                <a:schemeClr val="bg1"/>
              </a:solidFill>
              <a:latin typeface="Times New Roman" panose="02020603050405020304" pitchFamily="18" charset="0"/>
              <a:ea typeface="+mn-ea"/>
              <a:cs typeface="Times New Roman" panose="02020603050405020304" pitchFamily="18" charset="0"/>
            </a:endParaRPr>
          </a:p>
        </p:txBody>
      </p:sp>
      <p:sp>
        <p:nvSpPr>
          <p:cNvPr id="27"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6"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1.1.7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列表标记和超链接标记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down)">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par>
                                <p:cTn id="36" presetID="22" presetClass="entr" presetSubtype="4"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down)">
                                      <p:cBhvr>
                                        <p:cTn id="38" dur="500"/>
                                        <p:tgtEl>
                                          <p:spTgt spid="21"/>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down)">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up)">
                                      <p:cBhvr>
                                        <p:cTn id="4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p:bldP spid="20" grpId="0" animBg="1"/>
      <p:bldP spid="23" grpId="0" animBg="1"/>
      <p:bldP spid="19" grpId="0" animBg="1"/>
      <p:bldP spid="24"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522288" y="2025674"/>
            <a:ext cx="8137525" cy="248344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矩形 15"/>
          <p:cNvSpPr>
            <a:spLocks noChangeArrowheads="1"/>
          </p:cNvSpPr>
          <p:nvPr/>
        </p:nvSpPr>
        <p:spPr bwMode="auto">
          <a:xfrm>
            <a:off x="571500" y="2182485"/>
            <a:ext cx="8040688"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smtClean="0">
                <a:latin typeface="Times New Roman" panose="02020603050405020304" pitchFamily="18" charset="0"/>
                <a:cs typeface="Times New Roman" panose="02020603050405020304" pitchFamily="18" charset="0"/>
              </a:rPr>
              <a:t>div</a:t>
            </a:r>
            <a:r>
              <a:rPr lang="zh-CN" altLang="zh-CN" dirty="0">
                <a:latin typeface="Times New Roman" panose="02020603050405020304" pitchFamily="18" charset="0"/>
                <a:cs typeface="Times New Roman" panose="02020603050405020304" pitchFamily="18" charset="0"/>
              </a:rPr>
              <a:t>是英文</a:t>
            </a:r>
            <a:r>
              <a:rPr lang="en-US" altLang="zh-CN" dirty="0" err="1">
                <a:latin typeface="Times New Roman" panose="02020603050405020304" pitchFamily="18" charset="0"/>
                <a:cs typeface="Times New Roman" panose="02020603050405020304" pitchFamily="18" charset="0"/>
              </a:rPr>
              <a:t>DIVision</a:t>
            </a:r>
            <a:r>
              <a:rPr lang="zh-CN" altLang="zh-CN" dirty="0">
                <a:latin typeface="Times New Roman" panose="02020603050405020304" pitchFamily="18" charset="0"/>
                <a:cs typeface="Times New Roman" panose="02020603050405020304" pitchFamily="18" charset="0"/>
              </a:rPr>
              <a:t>的缩写，意为“分割、区域”。</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标记简单而言就是一个区块容器标记，可以将网页分割为独立的、不同的部分，以实现网页的规划和布局。在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页面中，它以</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开头，并以</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结尾，在</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之间可以容纳段落、标题、图像等各种网页元素，也就是说大多数</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标记都可以嵌套在</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标记中，并且</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还可以嵌套多层</a:t>
            </a:r>
            <a:r>
              <a:rPr lang="en-US" altLang="zh-CN" dirty="0">
                <a:latin typeface="Times New Roman" panose="02020603050405020304" pitchFamily="18" charset="0"/>
                <a:cs typeface="Times New Roman" panose="02020603050405020304" pitchFamily="18" charset="0"/>
              </a:rPr>
              <a:t>&lt;div&gt;</a:t>
            </a:r>
            <a:r>
              <a:rPr lang="zh-CN"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6"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1.1.8  &lt;div&gt;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标记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对角圆角矩形 12"/>
          <p:cNvSpPr/>
          <p:nvPr/>
        </p:nvSpPr>
        <p:spPr>
          <a:xfrm>
            <a:off x="1215802" y="2584261"/>
            <a:ext cx="4495403"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571625"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1.4</a:t>
            </a:r>
            <a:r>
              <a:rPr lang="en-US" altLang="zh-CN" sz="2400" dirty="0" smtClean="0">
                <a:solidFill>
                  <a:srgbClr val="CD1F06"/>
                </a:solidFill>
                <a:latin typeface="Impact" panose="020B0806030902050204" pitchFamily="34" charset="0"/>
                <a:ea typeface="微软雅黑" panose="020B0503020204020204" pitchFamily="34" charset="-122"/>
              </a:rPr>
              <a:t>    </a:t>
            </a:r>
            <a:r>
              <a:rPr lang="zh-CN" altLang="en-US" sz="2400" dirty="0" smtClean="0">
                <a:solidFill>
                  <a:srgbClr val="7F7F7F"/>
                </a:solidFill>
                <a:latin typeface="Impact" panose="020B0806030902050204" pitchFamily="34" charset="0"/>
                <a:ea typeface="微软雅黑" panose="020B0503020204020204" pitchFamily="34" charset="-122"/>
              </a:rPr>
              <a:t>阶段案例</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5" name="TextBox 10"/>
          <p:cNvSpPr txBox="1"/>
          <p:nvPr/>
        </p:nvSpPr>
        <p:spPr>
          <a:xfrm>
            <a:off x="1571625" y="2723631"/>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anose="020B0806030902050204" pitchFamily="34" charset="0"/>
                <a:ea typeface="微软雅黑" panose="020B0503020204020204" pitchFamily="34" charset="-122"/>
              </a:rPr>
              <a:t>1.2    CSS</a:t>
            </a:r>
            <a:r>
              <a:rPr lang="zh-CN" altLang="en-US" sz="2400" dirty="0" smtClean="0">
                <a:solidFill>
                  <a:schemeClr val="bg1"/>
                </a:solidFill>
                <a:latin typeface="Impact" panose="020B0806030902050204" pitchFamily="34" charset="0"/>
                <a:ea typeface="微软雅黑" panose="020B0503020204020204" pitchFamily="34" charset="-122"/>
              </a:rPr>
              <a:t>技术</a:t>
            </a:r>
            <a:endParaRPr lang="zh-CN" altLang="en-US" sz="2400" dirty="0">
              <a:solidFill>
                <a:schemeClr val="bg1"/>
              </a:solidFill>
              <a:latin typeface="Impact" panose="020B0806030902050204" pitchFamily="34" charset="0"/>
              <a:ea typeface="微软雅黑" panose="020B0503020204020204" pitchFamily="34" charset="-122"/>
            </a:endParaRPr>
          </a:p>
        </p:txBody>
      </p:sp>
      <p:sp>
        <p:nvSpPr>
          <p:cNvPr id="6" name="TextBox 11"/>
          <p:cNvSpPr txBox="1"/>
          <p:nvPr/>
        </p:nvSpPr>
        <p:spPr>
          <a:xfrm>
            <a:off x="1571625" y="3467714"/>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1.3    JavaScript</a:t>
            </a:r>
            <a:r>
              <a:rPr lang="zh-CN" altLang="en-US" sz="2400" dirty="0" smtClean="0">
                <a:solidFill>
                  <a:srgbClr val="7F7F7F"/>
                </a:solidFill>
                <a:latin typeface="Impact" panose="020B0806030902050204" pitchFamily="34" charset="0"/>
                <a:ea typeface="微软雅黑" panose="020B0503020204020204" pitchFamily="34" charset="-122"/>
              </a:rPr>
              <a:t>基础</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anose="020B0503020204020204" pitchFamily="34" charset="-122"/>
                <a:ea typeface="微软雅黑" panose="020B0503020204020204" pitchFamily="34" charset="-122"/>
              </a:rPr>
              <a:t>主讲内容</a:t>
            </a:r>
            <a:endParaRPr lang="en-US" altLang="zh-CN" sz="5400" b="1" dirty="0" smtClean="0">
              <a:solidFill>
                <a:srgbClr val="F2F2E6"/>
              </a:solidFill>
              <a:latin typeface="微软雅黑" panose="020B0503020204020204" pitchFamily="34" charset="-122"/>
              <a:ea typeface="微软雅黑" panose="020B0503020204020204" pitchFamily="34" charset="-122"/>
            </a:endParaRPr>
          </a:p>
          <a:p>
            <a:pPr algn="ctr"/>
            <a:r>
              <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endParaRPr>
          </a:p>
        </p:txBody>
      </p:sp>
      <p:sp>
        <p:nvSpPr>
          <p:cNvPr id="12" name="TextBox 6"/>
          <p:cNvSpPr txBox="1"/>
          <p:nvPr/>
        </p:nvSpPr>
        <p:spPr>
          <a:xfrm>
            <a:off x="1571625"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anose="020B0806030902050204" pitchFamily="34" charset="0"/>
                <a:ea typeface="微软雅黑" panose="020B0503020204020204" pitchFamily="34" charset="-122"/>
              </a:rPr>
              <a:t>1.1    HTML</a:t>
            </a:r>
            <a:r>
              <a:rPr lang="zh-CN" altLang="en-US" sz="2400" dirty="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1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主讲内容</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545976" y="1717448"/>
            <a:ext cx="8137525" cy="388843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6" name="矩形 15"/>
          <p:cNvSpPr>
            <a:spLocks noChangeArrowheads="1"/>
          </p:cNvSpPr>
          <p:nvPr/>
        </p:nvSpPr>
        <p:spPr bwMode="auto">
          <a:xfrm>
            <a:off x="571500" y="1700808"/>
            <a:ext cx="8040688"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smtClean="0">
                <a:latin typeface="Times New Roman" panose="02020603050405020304" pitchFamily="18" charset="0"/>
                <a:cs typeface="Times New Roman" panose="02020603050405020304" pitchFamily="18" charset="0"/>
              </a:rPr>
              <a:t>CSS </a:t>
            </a:r>
            <a:r>
              <a:rPr lang="zh-CN" altLang="zh-CN"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 Cascading Style Sheet </a:t>
            </a:r>
            <a:r>
              <a:rPr lang="zh-CN" altLang="zh-CN" dirty="0">
                <a:latin typeface="Times New Roman" panose="02020603050405020304" pitchFamily="18" charset="0"/>
                <a:cs typeface="Times New Roman" panose="02020603050405020304" pitchFamily="18" charset="0"/>
              </a:rPr>
              <a:t>的缩写，译作“层叠样式表单”，是用于</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增强</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控制网页样式并允许将样式信息与网页内容分离的一种标记性语言</a:t>
            </a:r>
            <a:r>
              <a:rPr lang="zh-CN" altLang="zh-CN" dirty="0" smtClean="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在实际开发中，主要用于设置</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页面中的文本内容（字体、大小、对齐方式等）、图片的外形（宽高、边框样式、边距等）以及版面的布局等外观显示样式</a:t>
            </a:r>
            <a:r>
              <a:rPr lang="zh-CN"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示例如下：</a:t>
            </a:r>
            <a:endParaRPr lang="zh-CN" altLang="zh-CN" dirty="0">
              <a:latin typeface="Times New Roman" panose="02020603050405020304" pitchFamily="18" charset="0"/>
              <a:cs typeface="Times New Roman" panose="02020603050405020304" pitchFamily="18" charset="0"/>
            </a:endParaRPr>
          </a:p>
        </p:txBody>
      </p:sp>
      <p:sp>
        <p:nvSpPr>
          <p:cNvPr id="37" name="矩形 16"/>
          <p:cNvSpPr>
            <a:spLocks noChangeArrowheads="1"/>
          </p:cNvSpPr>
          <p:nvPr/>
        </p:nvSpPr>
        <p:spPr bwMode="auto">
          <a:xfrm>
            <a:off x="683568" y="3877688"/>
            <a:ext cx="7928620"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div</a:t>
            </a:r>
            <a:r>
              <a:rPr lang="en-US" altLang="zh-CN" dirty="0"/>
              <a:t>{ border: 1px </a:t>
            </a:r>
            <a:r>
              <a:rPr lang="en-US" altLang="zh-CN" dirty="0" smtClean="0"/>
              <a:t>solid </a:t>
            </a:r>
            <a:r>
              <a:rPr lang="en-US" altLang="zh-CN" dirty="0"/>
              <a:t>red; </a:t>
            </a:r>
            <a:r>
              <a:rPr lang="en-US" altLang="zh-CN" dirty="0" smtClean="0"/>
              <a:t> width</a:t>
            </a:r>
            <a:r>
              <a:rPr lang="en-US" altLang="zh-CN" dirty="0"/>
              <a:t>: 600px;  </a:t>
            </a:r>
            <a:r>
              <a:rPr lang="en-US" altLang="zh-CN" dirty="0" smtClean="0"/>
              <a:t> height</a:t>
            </a:r>
            <a:r>
              <a:rPr lang="en-US" altLang="zh-CN" dirty="0"/>
              <a:t>: 400px;}</a:t>
            </a:r>
            <a:endParaRPr lang="zh-CN" altLang="zh-CN" dirty="0"/>
          </a:p>
        </p:txBody>
      </p:sp>
      <p:sp>
        <p:nvSpPr>
          <p:cNvPr id="38" name="矩形 37"/>
          <p:cNvSpPr>
            <a:spLocks noChangeArrowheads="1"/>
          </p:cNvSpPr>
          <p:nvPr/>
        </p:nvSpPr>
        <p:spPr bwMode="auto">
          <a:xfrm>
            <a:off x="1043608" y="3904514"/>
            <a:ext cx="360040"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39" name="直接箭头连接符 38"/>
          <p:cNvCxnSpPr>
            <a:cxnSpLocks noChangeShapeType="1"/>
          </p:cNvCxnSpPr>
          <p:nvPr/>
        </p:nvCxnSpPr>
        <p:spPr bwMode="auto">
          <a:xfrm flipV="1">
            <a:off x="1503195" y="3589656"/>
            <a:ext cx="692541" cy="314858"/>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圆角矩形 39"/>
          <p:cNvSpPr/>
          <p:nvPr/>
        </p:nvSpPr>
        <p:spPr>
          <a:xfrm>
            <a:off x="2267744" y="3385344"/>
            <a:ext cx="2952328"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a:solidFill>
                  <a:schemeClr val="bg1"/>
                </a:solidFill>
              </a:rPr>
              <a:t>表示</a:t>
            </a:r>
            <a:r>
              <a:rPr lang="zh-CN" altLang="en-US" b="1" dirty="0" smtClean="0">
                <a:solidFill>
                  <a:schemeClr val="bg1"/>
                </a:solidFill>
              </a:rPr>
              <a:t>选择器（仅对</a:t>
            </a:r>
            <a:r>
              <a:rPr lang="en-US" altLang="zh-CN" b="1" dirty="0" smtClean="0">
                <a:solidFill>
                  <a:schemeClr val="bg1"/>
                </a:solidFill>
              </a:rPr>
              <a:t>div</a:t>
            </a:r>
            <a:r>
              <a:rPr lang="zh-CN" altLang="en-US" b="1" dirty="0" smtClean="0">
                <a:solidFill>
                  <a:schemeClr val="bg1"/>
                </a:solidFill>
              </a:rPr>
              <a:t>有效）</a:t>
            </a:r>
            <a:endParaRPr lang="en-US" altLang="zh-CN" b="1" dirty="0">
              <a:solidFill>
                <a:schemeClr val="bg1"/>
              </a:solidFill>
            </a:endParaRPr>
          </a:p>
        </p:txBody>
      </p:sp>
      <p:sp>
        <p:nvSpPr>
          <p:cNvPr id="41" name="矩形 40"/>
          <p:cNvSpPr>
            <a:spLocks noChangeArrowheads="1"/>
          </p:cNvSpPr>
          <p:nvPr/>
        </p:nvSpPr>
        <p:spPr bwMode="auto">
          <a:xfrm>
            <a:off x="1453707" y="3918181"/>
            <a:ext cx="2038173"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42" name="直接箭头连接符 41"/>
          <p:cNvCxnSpPr>
            <a:cxnSpLocks noChangeShapeType="1"/>
          </p:cNvCxnSpPr>
          <p:nvPr/>
        </p:nvCxnSpPr>
        <p:spPr bwMode="auto">
          <a:xfrm>
            <a:off x="2339752" y="4254657"/>
            <a:ext cx="0" cy="487127"/>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圆角矩形 43"/>
          <p:cNvSpPr/>
          <p:nvPr/>
        </p:nvSpPr>
        <p:spPr>
          <a:xfrm>
            <a:off x="1215164" y="4778652"/>
            <a:ext cx="2276716" cy="715089"/>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边框为</a:t>
            </a:r>
            <a:r>
              <a:rPr lang="en-US" altLang="zh-CN" b="1" dirty="0" smtClean="0">
                <a:solidFill>
                  <a:schemeClr val="bg1"/>
                </a:solidFill>
              </a:rPr>
              <a:t>1</a:t>
            </a:r>
            <a:r>
              <a:rPr lang="zh-CN" altLang="en-US" b="1" dirty="0" smtClean="0">
                <a:solidFill>
                  <a:schemeClr val="bg1"/>
                </a:solidFill>
              </a:rPr>
              <a:t>像素、实心边框线、红色</a:t>
            </a:r>
            <a:r>
              <a:rPr lang="en-US" altLang="zh-CN" b="1" dirty="0" smtClean="0">
                <a:solidFill>
                  <a:schemeClr val="bg1"/>
                </a:solidFill>
              </a:rPr>
              <a:t>	</a:t>
            </a:r>
            <a:endParaRPr lang="en-US" altLang="zh-CN" b="1" dirty="0">
              <a:solidFill>
                <a:schemeClr val="bg1"/>
              </a:solidFill>
            </a:endParaRPr>
          </a:p>
        </p:txBody>
      </p:sp>
      <p:sp>
        <p:nvSpPr>
          <p:cNvPr id="48" name="矩形 47"/>
          <p:cNvSpPr>
            <a:spLocks noChangeArrowheads="1"/>
          </p:cNvSpPr>
          <p:nvPr/>
        </p:nvSpPr>
        <p:spPr bwMode="auto">
          <a:xfrm>
            <a:off x="3558158" y="3908370"/>
            <a:ext cx="2742034" cy="306388"/>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49" name="圆角矩形 48"/>
          <p:cNvSpPr/>
          <p:nvPr/>
        </p:nvSpPr>
        <p:spPr>
          <a:xfrm>
            <a:off x="3922295" y="4864366"/>
            <a:ext cx="1412620"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宽度和高度</a:t>
            </a:r>
            <a:endParaRPr lang="en-US" altLang="zh-CN" b="1" dirty="0">
              <a:solidFill>
                <a:schemeClr val="bg1"/>
              </a:solidFill>
            </a:endParaRPr>
          </a:p>
        </p:txBody>
      </p:sp>
      <p:cxnSp>
        <p:nvCxnSpPr>
          <p:cNvPr id="50" name="直接箭头连接符 49"/>
          <p:cNvCxnSpPr>
            <a:cxnSpLocks noChangeShapeType="1"/>
          </p:cNvCxnSpPr>
          <p:nvPr/>
        </p:nvCxnSpPr>
        <p:spPr bwMode="auto">
          <a:xfrm>
            <a:off x="3831628" y="4290253"/>
            <a:ext cx="391237" cy="488399"/>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箭头连接符 51"/>
          <p:cNvCxnSpPr>
            <a:cxnSpLocks noChangeShapeType="1"/>
          </p:cNvCxnSpPr>
          <p:nvPr/>
        </p:nvCxnSpPr>
        <p:spPr bwMode="auto">
          <a:xfrm flipH="1">
            <a:off x="4929175" y="4290252"/>
            <a:ext cx="405741" cy="48840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圆角矩形标注 17"/>
          <p:cNvSpPr>
            <a:spLocks noChangeArrowheads="1"/>
          </p:cNvSpPr>
          <p:nvPr/>
        </p:nvSpPr>
        <p:spPr bwMode="auto">
          <a:xfrm>
            <a:off x="1908560" y="4480739"/>
            <a:ext cx="4319624" cy="648072"/>
          </a:xfrm>
          <a:prstGeom prst="wedgeRoundRectCallout">
            <a:avLst>
              <a:gd name="adj1" fmla="val -19641"/>
              <a:gd name="adj2" fmla="val -68615"/>
              <a:gd name="adj3" fmla="val 16667"/>
            </a:avLst>
          </a:prstGeom>
          <a:solidFill>
            <a:srgbClr val="0070C0"/>
          </a:solidFill>
          <a:ln w="19050" algn="ctr">
            <a:solidFill>
              <a:srgbClr val="0070C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rPr>
              <a:t>在</a:t>
            </a:r>
            <a:r>
              <a:rPr lang="en-US" altLang="zh-CN" sz="1600" b="1" dirty="0">
                <a:solidFill>
                  <a:schemeClr val="bg1"/>
                </a:solidFill>
              </a:rPr>
              <a:t>CSS</a:t>
            </a:r>
            <a:r>
              <a:rPr lang="zh-CN" altLang="zh-CN" sz="1600" b="1" dirty="0">
                <a:solidFill>
                  <a:schemeClr val="bg1"/>
                </a:solidFill>
              </a:rPr>
              <a:t>中颜色的取值方式有</a:t>
            </a:r>
            <a:r>
              <a:rPr lang="en-US" altLang="zh-CN" sz="1600" b="1" dirty="0">
                <a:solidFill>
                  <a:schemeClr val="bg1"/>
                </a:solidFill>
              </a:rPr>
              <a:t>3</a:t>
            </a:r>
            <a:r>
              <a:rPr lang="zh-CN" altLang="zh-CN" sz="1600" b="1" dirty="0" smtClean="0">
                <a:solidFill>
                  <a:schemeClr val="bg1"/>
                </a:solidFill>
              </a:rPr>
              <a:t>种</a:t>
            </a:r>
            <a:r>
              <a:rPr lang="zh-CN" altLang="en-US" sz="1600" b="1" dirty="0" smtClean="0">
                <a:solidFill>
                  <a:schemeClr val="bg1"/>
                </a:solidFill>
              </a:rPr>
              <a:t>分别为：</a:t>
            </a:r>
            <a:endParaRPr lang="en-US" altLang="zh-CN" sz="1600" b="1" dirty="0" smtClean="0">
              <a:solidFill>
                <a:schemeClr val="bg1"/>
              </a:solidFill>
            </a:endParaRPr>
          </a:p>
          <a:p>
            <a:r>
              <a:rPr lang="en-US" altLang="zh-CN" sz="1600" b="1" dirty="0" smtClean="0">
                <a:solidFill>
                  <a:schemeClr val="bg1"/>
                </a:solidFill>
                <a:sym typeface="Wingdings" panose="05000000000000000000" pitchFamily="2" charset="2"/>
              </a:rPr>
              <a:t>(1)</a:t>
            </a:r>
            <a:r>
              <a:rPr lang="zh-CN" altLang="zh-CN" sz="1600" b="1" dirty="0" smtClean="0">
                <a:solidFill>
                  <a:schemeClr val="bg1"/>
                </a:solidFill>
              </a:rPr>
              <a:t>预定</a:t>
            </a:r>
            <a:r>
              <a:rPr lang="zh-CN" altLang="zh-CN" sz="1600" b="1" dirty="0">
                <a:solidFill>
                  <a:schemeClr val="bg1"/>
                </a:solidFill>
              </a:rPr>
              <a:t>义的颜色</a:t>
            </a:r>
            <a:r>
              <a:rPr lang="zh-CN" altLang="zh-CN" sz="1600" b="1" dirty="0" smtClean="0">
                <a:solidFill>
                  <a:schemeClr val="bg1"/>
                </a:solidFill>
              </a:rPr>
              <a:t>值</a:t>
            </a:r>
            <a:r>
              <a:rPr lang="en-US" altLang="zh-CN" sz="1600" b="1" dirty="0">
                <a:solidFill>
                  <a:schemeClr val="bg1"/>
                </a:solidFill>
              </a:rPr>
              <a:t> </a:t>
            </a:r>
            <a:r>
              <a:rPr lang="en-US" altLang="zh-CN" sz="1600" b="1" dirty="0" smtClean="0">
                <a:solidFill>
                  <a:schemeClr val="bg1"/>
                </a:solidFill>
              </a:rPr>
              <a:t>(2)</a:t>
            </a:r>
            <a:r>
              <a:rPr lang="zh-CN" altLang="zh-CN" sz="1600" b="1" dirty="0" smtClean="0">
                <a:solidFill>
                  <a:schemeClr val="bg1"/>
                </a:solidFill>
              </a:rPr>
              <a:t>十六进制</a:t>
            </a:r>
            <a:r>
              <a:rPr lang="en-US" altLang="zh-CN" sz="1600" b="1" dirty="0" smtClean="0">
                <a:solidFill>
                  <a:schemeClr val="bg1"/>
                </a:solidFill>
              </a:rPr>
              <a:t> (3)</a:t>
            </a:r>
            <a:r>
              <a:rPr lang="en-US" altLang="zh-CN" sz="1600" b="1" dirty="0">
                <a:solidFill>
                  <a:schemeClr val="bg1"/>
                </a:solidFill>
              </a:rPr>
              <a:t> RGB</a:t>
            </a:r>
            <a:r>
              <a:rPr lang="zh-CN" altLang="zh-CN" sz="1600" b="1" dirty="0">
                <a:solidFill>
                  <a:schemeClr val="bg1"/>
                </a:solidFill>
              </a:rPr>
              <a:t>代码</a:t>
            </a:r>
            <a:endParaRPr lang="zh-CN" altLang="zh-CN" sz="1600" b="1" dirty="0">
              <a:solidFill>
                <a:schemeClr val="bg1"/>
              </a:solidFill>
            </a:endParaRPr>
          </a:p>
        </p:txBody>
      </p:sp>
      <p:sp>
        <p:nvSpPr>
          <p:cNvPr id="19"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7"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1.2.1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简介</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22" presetClass="entr" presetSubtype="8"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left)">
                                      <p:cBhvr>
                                        <p:cTn id="13" dur="500"/>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down)">
                                      <p:cBhvr>
                                        <p:cTn id="18" dur="500"/>
                                        <p:tgtEl>
                                          <p:spTgt spid="38"/>
                                        </p:tgtEl>
                                      </p:cBhvr>
                                    </p:animEffect>
                                  </p:childTnLst>
                                </p:cTn>
                              </p:par>
                              <p:par>
                                <p:cTn id="19" presetID="22" presetClass="entr" presetSubtype="4"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down)">
                                      <p:cBhvr>
                                        <p:cTn id="24" dur="5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up)">
                                      <p:cBhvr>
                                        <p:cTn id="29" dur="500"/>
                                        <p:tgtEl>
                                          <p:spTgt spid="41"/>
                                        </p:tgtEl>
                                      </p:cBhvr>
                                    </p:animEffect>
                                  </p:childTnLst>
                                </p:cTn>
                              </p:par>
                              <p:par>
                                <p:cTn id="30" presetID="22" presetClass="entr" presetSubtype="1"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up)">
                                      <p:cBhvr>
                                        <p:cTn id="32" dur="500"/>
                                        <p:tgtEl>
                                          <p:spTgt spid="42"/>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up)">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up)">
                                      <p:cBhvr>
                                        <p:cTn id="40" dur="500"/>
                                        <p:tgtEl>
                                          <p:spTgt spid="48"/>
                                        </p:tgtEl>
                                      </p:cBhvr>
                                    </p:animEffect>
                                  </p:childTnLst>
                                </p:cTn>
                              </p:par>
                              <p:par>
                                <p:cTn id="41" presetID="22" presetClass="entr" presetSubtype="1"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up)">
                                      <p:cBhvr>
                                        <p:cTn id="43" dur="500"/>
                                        <p:tgtEl>
                                          <p:spTgt spid="52"/>
                                        </p:tgtEl>
                                      </p:cBhvr>
                                    </p:animEffect>
                                  </p:childTnLst>
                                </p:cTn>
                              </p:par>
                              <p:par>
                                <p:cTn id="44" presetID="22" presetClass="entr" presetSubtype="1" fill="hold"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up)">
                                      <p:cBhvr>
                                        <p:cTn id="46" dur="500"/>
                                        <p:tgtEl>
                                          <p:spTgt spid="50"/>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wipe(up)">
                                      <p:cBhvr>
                                        <p:cTn id="49" dur="500"/>
                                        <p:tgtEl>
                                          <p:spTgt spid="4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1" nodeType="clickEffect">
                                  <p:stCondLst>
                                    <p:cond delay="0"/>
                                  </p:stCondLst>
                                  <p:childTnLst>
                                    <p:animEffect transition="out" filter="fade">
                                      <p:cBhvr>
                                        <p:cTn id="53" dur="500"/>
                                        <p:tgtEl>
                                          <p:spTgt spid="38"/>
                                        </p:tgtEl>
                                      </p:cBhvr>
                                    </p:animEffect>
                                    <p:set>
                                      <p:cBhvr>
                                        <p:cTn id="54" dur="1" fill="hold">
                                          <p:stCondLst>
                                            <p:cond delay="499"/>
                                          </p:stCondLst>
                                        </p:cTn>
                                        <p:tgtEl>
                                          <p:spTgt spid="38"/>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39"/>
                                        </p:tgtEl>
                                      </p:cBhvr>
                                    </p:animEffect>
                                    <p:set>
                                      <p:cBhvr>
                                        <p:cTn id="57" dur="1" fill="hold">
                                          <p:stCondLst>
                                            <p:cond delay="499"/>
                                          </p:stCondLst>
                                        </p:cTn>
                                        <p:tgtEl>
                                          <p:spTgt spid="39"/>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40"/>
                                        </p:tgtEl>
                                      </p:cBhvr>
                                    </p:animEffect>
                                    <p:set>
                                      <p:cBhvr>
                                        <p:cTn id="60" dur="1" fill="hold">
                                          <p:stCondLst>
                                            <p:cond delay="499"/>
                                          </p:stCondLst>
                                        </p:cTn>
                                        <p:tgtEl>
                                          <p:spTgt spid="40"/>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41"/>
                                        </p:tgtEl>
                                      </p:cBhvr>
                                    </p:animEffect>
                                    <p:set>
                                      <p:cBhvr>
                                        <p:cTn id="63" dur="1" fill="hold">
                                          <p:stCondLst>
                                            <p:cond delay="499"/>
                                          </p:stCondLst>
                                        </p:cTn>
                                        <p:tgtEl>
                                          <p:spTgt spid="41"/>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42"/>
                                        </p:tgtEl>
                                      </p:cBhvr>
                                    </p:animEffect>
                                    <p:set>
                                      <p:cBhvr>
                                        <p:cTn id="66" dur="1" fill="hold">
                                          <p:stCondLst>
                                            <p:cond delay="499"/>
                                          </p:stCondLst>
                                        </p:cTn>
                                        <p:tgtEl>
                                          <p:spTgt spid="42"/>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44"/>
                                        </p:tgtEl>
                                      </p:cBhvr>
                                    </p:animEffect>
                                    <p:set>
                                      <p:cBhvr>
                                        <p:cTn id="69" dur="1" fill="hold">
                                          <p:stCondLst>
                                            <p:cond delay="499"/>
                                          </p:stCondLst>
                                        </p:cTn>
                                        <p:tgtEl>
                                          <p:spTgt spid="44"/>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48"/>
                                        </p:tgtEl>
                                      </p:cBhvr>
                                    </p:animEffect>
                                    <p:set>
                                      <p:cBhvr>
                                        <p:cTn id="72" dur="1" fill="hold">
                                          <p:stCondLst>
                                            <p:cond delay="499"/>
                                          </p:stCondLst>
                                        </p:cTn>
                                        <p:tgtEl>
                                          <p:spTgt spid="48"/>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500"/>
                                        <p:tgtEl>
                                          <p:spTgt spid="52"/>
                                        </p:tgtEl>
                                      </p:cBhvr>
                                    </p:animEffect>
                                    <p:set>
                                      <p:cBhvr>
                                        <p:cTn id="75" dur="1" fill="hold">
                                          <p:stCondLst>
                                            <p:cond delay="499"/>
                                          </p:stCondLst>
                                        </p:cTn>
                                        <p:tgtEl>
                                          <p:spTgt spid="52"/>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50"/>
                                        </p:tgtEl>
                                      </p:cBhvr>
                                    </p:animEffect>
                                    <p:set>
                                      <p:cBhvr>
                                        <p:cTn id="78" dur="1" fill="hold">
                                          <p:stCondLst>
                                            <p:cond delay="499"/>
                                          </p:stCondLst>
                                        </p:cTn>
                                        <p:tgtEl>
                                          <p:spTgt spid="50"/>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49"/>
                                        </p:tgtEl>
                                      </p:cBhvr>
                                    </p:animEffect>
                                    <p:set>
                                      <p:cBhvr>
                                        <p:cTn id="81" dur="1" fill="hold">
                                          <p:stCondLst>
                                            <p:cond delay="499"/>
                                          </p:stCondLst>
                                        </p:cTn>
                                        <p:tgtEl>
                                          <p:spTgt spid="49"/>
                                        </p:tgtEl>
                                        <p:attrNameLst>
                                          <p:attrName>style.visibility</p:attrName>
                                        </p:attrNameLst>
                                      </p:cBhvr>
                                      <p:to>
                                        <p:strVal val="hidden"/>
                                      </p:to>
                                    </p:set>
                                  </p:childTnLst>
                                </p:cTn>
                              </p:par>
                            </p:childTnLst>
                          </p:cTn>
                        </p:par>
                        <p:par>
                          <p:cTn id="82" fill="hold">
                            <p:stCondLst>
                              <p:cond delay="500"/>
                            </p:stCondLst>
                            <p:childTnLst>
                              <p:par>
                                <p:cTn id="83" presetID="22" presetClass="entr" presetSubtype="1"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wipe(up)">
                                      <p:cBhvr>
                                        <p:cTn id="8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animBg="1"/>
      <p:bldP spid="38" grpId="0" animBg="1"/>
      <p:bldP spid="38" grpId="1" animBg="1"/>
      <p:bldP spid="40" grpId="0" animBg="1"/>
      <p:bldP spid="40" grpId="1" animBg="1"/>
      <p:bldP spid="41" grpId="0" animBg="1"/>
      <p:bldP spid="41" grpId="1" animBg="1"/>
      <p:bldP spid="44" grpId="0" animBg="1"/>
      <p:bldP spid="44" grpId="1" animBg="1"/>
      <p:bldP spid="48" grpId="0" animBg="1"/>
      <p:bldP spid="48" grpId="1" animBg="1"/>
      <p:bldP spid="49" grpId="0" animBg="1"/>
      <p:bldP spid="49" grpId="1"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1844824"/>
            <a:ext cx="8137525" cy="354503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484784"/>
            <a:ext cx="8040688" cy="46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dirty="0" smtClean="0"/>
              <a:t>        </a:t>
            </a:r>
            <a:endParaRPr lang="zh-CN" altLang="zh-CN" dirty="0">
              <a:latin typeface="+mn-ea"/>
            </a:endParaRPr>
          </a:p>
        </p:txBody>
      </p:sp>
      <p:sp>
        <p:nvSpPr>
          <p:cNvPr id="5" name="任意多边形 4"/>
          <p:cNvSpPr/>
          <p:nvPr/>
        </p:nvSpPr>
        <p:spPr bwMode="auto">
          <a:xfrm>
            <a:off x="5580112" y="1590948"/>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084168" y="1628800"/>
            <a:ext cx="1136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1. </a:t>
            </a:r>
            <a:r>
              <a:rPr lang="zh-CN" altLang="en-US" dirty="0" smtClean="0">
                <a:solidFill>
                  <a:schemeClr val="bg1"/>
                </a:solidFill>
                <a:latin typeface="微软雅黑" panose="020B0503020204020204" pitchFamily="34" charset="-122"/>
                <a:ea typeface="微软雅黑" panose="020B0503020204020204" pitchFamily="34" charset="-122"/>
              </a:rPr>
              <a:t>内嵌式</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15"/>
          <p:cNvSpPr>
            <a:spLocks noChangeArrowheads="1"/>
          </p:cNvSpPr>
          <p:nvPr/>
        </p:nvSpPr>
        <p:spPr bwMode="auto">
          <a:xfrm>
            <a:off x="571500" y="2062589"/>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smtClean="0">
                <a:latin typeface="Times New Roman" panose="02020603050405020304" pitchFamily="18" charset="0"/>
                <a:cs typeface="Times New Roman" panose="02020603050405020304" pitchFamily="18" charset="0"/>
              </a:rPr>
              <a:t>内</a:t>
            </a:r>
            <a:r>
              <a:rPr lang="zh-CN" altLang="zh-CN" dirty="0">
                <a:latin typeface="Times New Roman" panose="02020603050405020304" pitchFamily="18" charset="0"/>
                <a:cs typeface="Times New Roman" panose="02020603050405020304" pitchFamily="18" charset="0"/>
              </a:rPr>
              <a:t>嵌式是将</a:t>
            </a:r>
            <a:r>
              <a:rPr lang="en-US" altLang="zh-CN" dirty="0">
                <a:latin typeface="Times New Roman" panose="02020603050405020304" pitchFamily="18" charset="0"/>
                <a:cs typeface="Times New Roman" panose="02020603050405020304" pitchFamily="18" charset="0"/>
              </a:rPr>
              <a:t>CSS</a:t>
            </a:r>
            <a:r>
              <a:rPr lang="zh-CN" altLang="zh-CN" dirty="0">
                <a:latin typeface="Times New Roman" panose="02020603050405020304" pitchFamily="18" charset="0"/>
                <a:cs typeface="Times New Roman" panose="02020603050405020304" pitchFamily="18" charset="0"/>
              </a:rPr>
              <a:t>代码集中写在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文档的</a:t>
            </a:r>
            <a:r>
              <a:rPr lang="en-US" altLang="zh-CN" dirty="0">
                <a:latin typeface="Times New Roman" panose="02020603050405020304" pitchFamily="18" charset="0"/>
                <a:cs typeface="Times New Roman" panose="02020603050405020304" pitchFamily="18" charset="0"/>
              </a:rPr>
              <a:t>&lt;head&gt;</a:t>
            </a:r>
            <a:r>
              <a:rPr lang="zh-CN" altLang="zh-CN" dirty="0">
                <a:latin typeface="Times New Roman" panose="02020603050405020304" pitchFamily="18" charset="0"/>
                <a:cs typeface="Times New Roman" panose="02020603050405020304" pitchFamily="18" charset="0"/>
              </a:rPr>
              <a:t>头部标记中，并用</a:t>
            </a:r>
            <a:r>
              <a:rPr lang="en-US" altLang="zh-CN" dirty="0">
                <a:latin typeface="Times New Roman" panose="02020603050405020304" pitchFamily="18" charset="0"/>
                <a:cs typeface="Times New Roman" panose="02020603050405020304" pitchFamily="18" charset="0"/>
              </a:rPr>
              <a:t>&lt;style&gt;</a:t>
            </a:r>
            <a:r>
              <a:rPr lang="zh-CN" altLang="zh-CN" dirty="0">
                <a:latin typeface="Times New Roman" panose="02020603050405020304" pitchFamily="18" charset="0"/>
                <a:cs typeface="Times New Roman" panose="02020603050405020304" pitchFamily="18" charset="0"/>
              </a:rPr>
              <a:t>标记定义，其基本语法格式如下：</a:t>
            </a:r>
            <a:endParaRPr lang="zh-CN" altLang="zh-CN" dirty="0">
              <a:latin typeface="Times New Roman" panose="02020603050405020304" pitchFamily="18" charset="0"/>
              <a:cs typeface="Times New Roman" panose="02020603050405020304" pitchFamily="18" charset="0"/>
            </a:endParaRPr>
          </a:p>
        </p:txBody>
      </p:sp>
      <p:sp>
        <p:nvSpPr>
          <p:cNvPr id="8" name="矩形 16"/>
          <p:cNvSpPr>
            <a:spLocks noChangeArrowheads="1"/>
          </p:cNvSpPr>
          <p:nvPr/>
        </p:nvSpPr>
        <p:spPr bwMode="auto">
          <a:xfrm>
            <a:off x="611560" y="3007122"/>
            <a:ext cx="8042275" cy="215007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&lt;</a:t>
            </a:r>
            <a:r>
              <a:rPr lang="en-US" altLang="zh-CN" dirty="0"/>
              <a:t>head&gt;</a:t>
            </a:r>
            <a:endParaRPr lang="zh-CN" altLang="zh-CN" dirty="0"/>
          </a:p>
          <a:p>
            <a:pPr>
              <a:lnSpc>
                <a:spcPct val="150000"/>
              </a:lnSpc>
            </a:pPr>
            <a:r>
              <a:rPr lang="en-US" altLang="zh-CN" dirty="0" smtClean="0"/>
              <a:t>          &lt;</a:t>
            </a:r>
            <a:r>
              <a:rPr lang="en-US" altLang="zh-CN" dirty="0"/>
              <a:t>style type="text/</a:t>
            </a:r>
            <a:r>
              <a:rPr lang="en-US" altLang="zh-CN" dirty="0" err="1"/>
              <a:t>css</a:t>
            </a:r>
            <a:r>
              <a:rPr lang="en-US" altLang="zh-CN" dirty="0"/>
              <a:t>"&gt;</a:t>
            </a:r>
            <a:endParaRPr lang="zh-CN" altLang="zh-CN" dirty="0"/>
          </a:p>
          <a:p>
            <a:pPr>
              <a:lnSpc>
                <a:spcPct val="150000"/>
              </a:lnSpc>
            </a:pPr>
            <a:r>
              <a:rPr lang="en-US" altLang="zh-CN" dirty="0"/>
              <a:t>	</a:t>
            </a:r>
            <a:r>
              <a:rPr lang="zh-CN" altLang="zh-CN" dirty="0"/>
              <a:t>选择器</a:t>
            </a:r>
            <a:r>
              <a:rPr lang="en-US" altLang="zh-CN" dirty="0"/>
              <a:t> {</a:t>
            </a:r>
            <a:r>
              <a:rPr lang="zh-CN" altLang="zh-CN" dirty="0"/>
              <a:t>属性</a:t>
            </a:r>
            <a:r>
              <a:rPr lang="en-US" altLang="zh-CN" dirty="0"/>
              <a:t>1:</a:t>
            </a:r>
            <a:r>
              <a:rPr lang="zh-CN" altLang="zh-CN" dirty="0"/>
              <a:t>属性值</a:t>
            </a:r>
            <a:r>
              <a:rPr lang="en-US" altLang="zh-CN" dirty="0"/>
              <a:t>1; </a:t>
            </a:r>
            <a:r>
              <a:rPr lang="zh-CN" altLang="zh-CN" dirty="0"/>
              <a:t>属性</a:t>
            </a:r>
            <a:r>
              <a:rPr lang="en-US" altLang="zh-CN" dirty="0"/>
              <a:t>2:</a:t>
            </a:r>
            <a:r>
              <a:rPr lang="zh-CN" altLang="zh-CN" dirty="0"/>
              <a:t>属性值</a:t>
            </a:r>
            <a:r>
              <a:rPr lang="en-US" altLang="zh-CN" dirty="0"/>
              <a:t>2; </a:t>
            </a:r>
            <a:r>
              <a:rPr lang="zh-CN" altLang="zh-CN" dirty="0"/>
              <a:t>属性</a:t>
            </a:r>
            <a:r>
              <a:rPr lang="en-US" altLang="zh-CN" dirty="0"/>
              <a:t>3:</a:t>
            </a:r>
            <a:r>
              <a:rPr lang="zh-CN" altLang="zh-CN" dirty="0"/>
              <a:t>属性值</a:t>
            </a:r>
            <a:r>
              <a:rPr lang="en-US" altLang="zh-CN" dirty="0"/>
              <a:t>3;}</a:t>
            </a:r>
            <a:endParaRPr lang="zh-CN" altLang="zh-CN" dirty="0"/>
          </a:p>
          <a:p>
            <a:pPr>
              <a:lnSpc>
                <a:spcPct val="150000"/>
              </a:lnSpc>
            </a:pPr>
            <a:r>
              <a:rPr lang="en-US" altLang="zh-CN" dirty="0" smtClean="0"/>
              <a:t>          &lt;/</a:t>
            </a:r>
            <a:r>
              <a:rPr lang="en-US" altLang="zh-CN" dirty="0"/>
              <a:t>style&gt;</a:t>
            </a:r>
            <a:endParaRPr lang="zh-CN" altLang="zh-CN" dirty="0"/>
          </a:p>
          <a:p>
            <a:pPr>
              <a:lnSpc>
                <a:spcPct val="150000"/>
              </a:lnSpc>
            </a:pPr>
            <a:r>
              <a:rPr lang="en-US" altLang="zh-CN" dirty="0" smtClean="0"/>
              <a:t>     &lt;/</a:t>
            </a:r>
            <a:r>
              <a:rPr lang="en-US" altLang="zh-CN" dirty="0"/>
              <a:t>head&gt;</a:t>
            </a:r>
            <a:endParaRPr lang="zh-CN" altLang="zh-CN" dirty="0"/>
          </a:p>
        </p:txBody>
      </p:sp>
      <p:sp>
        <p:nvSpPr>
          <p:cNvPr id="9" name="圆角矩形标注 8"/>
          <p:cNvSpPr>
            <a:spLocks noChangeArrowheads="1"/>
          </p:cNvSpPr>
          <p:nvPr/>
        </p:nvSpPr>
        <p:spPr bwMode="auto">
          <a:xfrm>
            <a:off x="1691680" y="4889342"/>
            <a:ext cx="5976664" cy="915922"/>
          </a:xfrm>
          <a:prstGeom prst="wedgeRoundRectCallout">
            <a:avLst>
              <a:gd name="adj1" fmla="val -19641"/>
              <a:gd name="adj2" fmla="val -68615"/>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dirty="0">
                <a:solidFill>
                  <a:schemeClr val="bg1"/>
                </a:solidFill>
                <a:latin typeface="Times New Roman" panose="02020603050405020304" pitchFamily="18" charset="0"/>
                <a:ea typeface="+mn-ea"/>
                <a:cs typeface="Times New Roman" panose="02020603050405020304" pitchFamily="18" charset="0"/>
              </a:rPr>
              <a:t>&lt;style&gt;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标记一般位于</a:t>
            </a:r>
            <a:r>
              <a:rPr lang="en-US" altLang="zh-CN" sz="1600" b="1" dirty="0">
                <a:solidFill>
                  <a:schemeClr val="bg1"/>
                </a:solidFill>
                <a:latin typeface="Times New Roman" panose="02020603050405020304" pitchFamily="18" charset="0"/>
                <a:ea typeface="+mn-ea"/>
                <a:cs typeface="Times New Roman" panose="02020603050405020304" pitchFamily="18" charset="0"/>
              </a:rPr>
              <a:t>&lt;head&gt;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标记中的</a:t>
            </a:r>
            <a:r>
              <a:rPr lang="en-US" altLang="zh-CN" sz="1600" b="1" dirty="0">
                <a:solidFill>
                  <a:schemeClr val="bg1"/>
                </a:solidFill>
                <a:latin typeface="Times New Roman" panose="02020603050405020304" pitchFamily="18" charset="0"/>
                <a:ea typeface="+mn-ea"/>
                <a:cs typeface="Times New Roman" panose="02020603050405020304" pitchFamily="18" charset="0"/>
              </a:rPr>
              <a:t>&lt;title&gt;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a:t>
            </a:r>
            <a:r>
              <a:rPr lang="zh-CN" altLang="zh-CN" sz="1600" b="1" dirty="0" smtClean="0">
                <a:solidFill>
                  <a:schemeClr val="bg1"/>
                </a:solidFill>
                <a:latin typeface="Times New Roman" panose="02020603050405020304" pitchFamily="18" charset="0"/>
                <a:ea typeface="+mn-ea"/>
                <a:cs typeface="Times New Roman" panose="02020603050405020304" pitchFamily="18" charset="0"/>
              </a:rPr>
              <a:t>之后</a:t>
            </a:r>
            <a:r>
              <a:rPr lang="zh-CN" altLang="zh-CN" sz="1600" b="1" dirty="0">
                <a:solidFill>
                  <a:schemeClr val="bg1"/>
                </a:solidFill>
                <a:latin typeface="Times New Roman" panose="02020603050405020304" pitchFamily="18" charset="0"/>
                <a:ea typeface="+mn-ea"/>
                <a:cs typeface="Times New Roman" panose="02020603050405020304" pitchFamily="18" charset="0"/>
              </a:rPr>
              <a:t>，因为浏览器是从上到下解析代码的，把</a:t>
            </a:r>
            <a:r>
              <a:rPr lang="en-US" altLang="zh-CN" sz="1600" b="1" dirty="0">
                <a:solidFill>
                  <a:schemeClr val="bg1"/>
                </a:solidFill>
                <a:latin typeface="Times New Roman" panose="02020603050405020304" pitchFamily="18" charset="0"/>
                <a:ea typeface="+mn-ea"/>
                <a:cs typeface="Times New Roman" panose="02020603050405020304" pitchFamily="18" charset="0"/>
              </a:rPr>
              <a:t>CSS</a:t>
            </a:r>
            <a:r>
              <a:rPr lang="zh-CN" altLang="zh-CN" sz="1600" b="1" dirty="0">
                <a:solidFill>
                  <a:schemeClr val="bg1"/>
                </a:solidFill>
                <a:latin typeface="Times New Roman" panose="02020603050405020304" pitchFamily="18" charset="0"/>
                <a:ea typeface="+mn-ea"/>
                <a:cs typeface="Times New Roman" panose="02020603050405020304" pitchFamily="18" charset="0"/>
              </a:rPr>
              <a:t>代码放在头部便于提前被加载和解析，以避免网页内容加载后没有样式修饰带来的问题。</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10" name="矩形 9"/>
          <p:cNvSpPr>
            <a:spLocks noChangeArrowheads="1"/>
          </p:cNvSpPr>
          <p:nvPr/>
        </p:nvSpPr>
        <p:spPr bwMode="auto">
          <a:xfrm>
            <a:off x="971600" y="3539152"/>
            <a:ext cx="6192688" cy="1113984"/>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1"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1.2.2  CSS</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样式的引用方式</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1844824"/>
            <a:ext cx="8137525" cy="354503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484784"/>
            <a:ext cx="8040688" cy="46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dirty="0" smtClean="0"/>
              <a:t>        </a:t>
            </a:r>
            <a:endParaRPr lang="zh-CN" altLang="zh-CN" dirty="0">
              <a:latin typeface="+mn-ea"/>
            </a:endParaRPr>
          </a:p>
        </p:txBody>
      </p:sp>
      <p:sp>
        <p:nvSpPr>
          <p:cNvPr id="5" name="任意多边形 4"/>
          <p:cNvSpPr/>
          <p:nvPr/>
        </p:nvSpPr>
        <p:spPr bwMode="auto">
          <a:xfrm>
            <a:off x="5496823" y="1484784"/>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069067" y="1541934"/>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2. </a:t>
            </a:r>
            <a:r>
              <a:rPr lang="zh-CN" altLang="en-US" dirty="0" smtClean="0">
                <a:solidFill>
                  <a:schemeClr val="bg1"/>
                </a:solidFill>
                <a:latin typeface="微软雅黑" panose="020B0503020204020204" pitchFamily="34" charset="-122"/>
                <a:ea typeface="微软雅黑" panose="020B0503020204020204" pitchFamily="34" charset="-122"/>
              </a:rPr>
              <a:t>链入式</a:t>
            </a:r>
            <a:r>
              <a:rPr lang="en-US" altLang="zh-CN" dirty="0" smtClean="0">
                <a:solidFill>
                  <a:schemeClr val="bg1"/>
                </a:solidFill>
                <a:latin typeface="微软雅黑" panose="020B0503020204020204" pitchFamily="34" charset="-122"/>
                <a:ea typeface="微软雅黑" panose="020B0503020204020204" pitchFamily="34" charset="-122"/>
              </a:rPr>
              <a:t>	</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15"/>
          <p:cNvSpPr>
            <a:spLocks noChangeArrowheads="1"/>
          </p:cNvSpPr>
          <p:nvPr/>
        </p:nvSpPr>
        <p:spPr bwMode="auto">
          <a:xfrm>
            <a:off x="571500" y="2062589"/>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Calibri" panose="020F0502020204030204" charset="0"/>
              <a:buChar char="–"/>
            </a:pPr>
            <a:r>
              <a:rPr lang="zh-CN" altLang="zh-CN" dirty="0" smtClean="0">
                <a:latin typeface="Times New Roman" panose="02020603050405020304" pitchFamily="18" charset="0"/>
                <a:cs typeface="Times New Roman" panose="02020603050405020304" pitchFamily="18" charset="0"/>
              </a:rPr>
              <a:t>链</a:t>
            </a:r>
            <a:r>
              <a:rPr lang="zh-CN" altLang="zh-CN" dirty="0">
                <a:latin typeface="Times New Roman" panose="02020603050405020304" pitchFamily="18" charset="0"/>
                <a:cs typeface="Times New Roman" panose="02020603050405020304" pitchFamily="18" charset="0"/>
              </a:rPr>
              <a:t>入式是将所有的样式放在一个或多个以</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css</a:t>
            </a:r>
            <a:r>
              <a:rPr lang="zh-CN" altLang="zh-CN" dirty="0">
                <a:latin typeface="Times New Roman" panose="02020603050405020304" pitchFamily="18" charset="0"/>
                <a:cs typeface="Times New Roman" panose="02020603050405020304" pitchFamily="18" charset="0"/>
              </a:rPr>
              <a:t>为扩展名的外部样式表文件中，通过</a:t>
            </a:r>
            <a:r>
              <a:rPr lang="en-US" altLang="zh-CN" dirty="0">
                <a:latin typeface="Times New Roman" panose="02020603050405020304" pitchFamily="18" charset="0"/>
                <a:cs typeface="Times New Roman" panose="02020603050405020304" pitchFamily="18" charset="0"/>
              </a:rPr>
              <a:t>&lt;link /&gt;</a:t>
            </a:r>
            <a:r>
              <a:rPr lang="zh-CN" altLang="zh-CN" dirty="0">
                <a:latin typeface="Times New Roman" panose="02020603050405020304" pitchFamily="18" charset="0"/>
                <a:cs typeface="Times New Roman" panose="02020603050405020304" pitchFamily="18" charset="0"/>
              </a:rPr>
              <a:t>标记将外部样式表文件链接到</a:t>
            </a:r>
            <a:r>
              <a:rPr lang="en-US" altLang="zh-CN" dirty="0">
                <a:latin typeface="Times New Roman" panose="02020603050405020304" pitchFamily="18" charset="0"/>
                <a:cs typeface="Times New Roman" panose="02020603050405020304" pitchFamily="18" charset="0"/>
              </a:rPr>
              <a:t>HTML</a:t>
            </a:r>
            <a:r>
              <a:rPr lang="zh-CN" altLang="zh-CN" dirty="0" smtClean="0">
                <a:latin typeface="Times New Roman" panose="02020603050405020304" pitchFamily="18" charset="0"/>
                <a:cs typeface="Times New Roman" panose="02020603050405020304" pitchFamily="18" charset="0"/>
              </a:rPr>
              <a:t>文件，基本</a:t>
            </a:r>
            <a:r>
              <a:rPr lang="zh-CN" altLang="zh-CN" dirty="0">
                <a:latin typeface="Times New Roman" panose="02020603050405020304" pitchFamily="18" charset="0"/>
                <a:cs typeface="Times New Roman" panose="02020603050405020304" pitchFamily="18" charset="0"/>
              </a:rPr>
              <a:t>语法格式如下：</a:t>
            </a:r>
            <a:endParaRPr lang="zh-CN" altLang="zh-CN" dirty="0">
              <a:latin typeface="Times New Roman" panose="02020603050405020304" pitchFamily="18" charset="0"/>
              <a:cs typeface="Times New Roman" panose="02020603050405020304" pitchFamily="18" charset="0"/>
            </a:endParaRPr>
          </a:p>
        </p:txBody>
      </p:sp>
      <p:sp>
        <p:nvSpPr>
          <p:cNvPr id="8" name="矩形 16"/>
          <p:cNvSpPr>
            <a:spLocks noChangeArrowheads="1"/>
          </p:cNvSpPr>
          <p:nvPr/>
        </p:nvSpPr>
        <p:spPr bwMode="auto">
          <a:xfrm>
            <a:off x="611560" y="3007122"/>
            <a:ext cx="8042275" cy="215007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a:t>&lt;head&gt;</a:t>
            </a:r>
            <a:endParaRPr lang="zh-CN" altLang="zh-CN" dirty="0"/>
          </a:p>
          <a:p>
            <a:pPr>
              <a:lnSpc>
                <a:spcPct val="150000"/>
              </a:lnSpc>
            </a:pPr>
            <a:r>
              <a:rPr lang="en-US" altLang="zh-CN" dirty="0"/>
              <a:t>	&lt;link </a:t>
            </a:r>
            <a:r>
              <a:rPr lang="en-US" altLang="zh-CN" dirty="0" err="1"/>
              <a:t>href</a:t>
            </a:r>
            <a:r>
              <a:rPr lang="en-US" altLang="zh-CN" dirty="0"/>
              <a:t>="CSS</a:t>
            </a:r>
            <a:r>
              <a:rPr lang="zh-CN" altLang="zh-CN" dirty="0"/>
              <a:t>文件的路径</a:t>
            </a:r>
            <a:r>
              <a:rPr lang="en-US" altLang="zh-CN" dirty="0"/>
              <a:t>" </a:t>
            </a:r>
            <a:r>
              <a:rPr lang="en-US" altLang="zh-CN" dirty="0" smtClean="0"/>
              <a:t> type</a:t>
            </a:r>
            <a:r>
              <a:rPr lang="en-US" altLang="zh-CN" dirty="0"/>
              <a:t>="text/</a:t>
            </a:r>
            <a:r>
              <a:rPr lang="en-US" altLang="zh-CN" dirty="0" err="1"/>
              <a:t>css</a:t>
            </a:r>
            <a:r>
              <a:rPr lang="en-US" altLang="zh-CN" dirty="0"/>
              <a:t>" </a:t>
            </a:r>
            <a:r>
              <a:rPr lang="en-US" altLang="zh-CN" dirty="0" smtClean="0"/>
              <a:t> </a:t>
            </a:r>
            <a:r>
              <a:rPr lang="en-US" altLang="zh-CN" dirty="0" err="1" smtClean="0"/>
              <a:t>rel</a:t>
            </a:r>
            <a:r>
              <a:rPr lang="en-US" altLang="zh-CN" dirty="0"/>
              <a:t>="</a:t>
            </a:r>
            <a:r>
              <a:rPr lang="en-US" altLang="zh-CN" dirty="0" err="1"/>
              <a:t>stylesheet</a:t>
            </a:r>
            <a:r>
              <a:rPr lang="en-US" altLang="zh-CN" dirty="0"/>
              <a:t>" /&gt;</a:t>
            </a:r>
            <a:endParaRPr lang="zh-CN" altLang="zh-CN" dirty="0"/>
          </a:p>
          <a:p>
            <a:pPr>
              <a:lnSpc>
                <a:spcPct val="150000"/>
              </a:lnSpc>
            </a:pPr>
            <a:r>
              <a:rPr lang="en-US" altLang="zh-CN" dirty="0"/>
              <a:t>&lt;/head&gt;</a:t>
            </a:r>
            <a:endParaRPr lang="zh-CN" altLang="zh-CN" dirty="0"/>
          </a:p>
        </p:txBody>
      </p:sp>
      <p:sp>
        <p:nvSpPr>
          <p:cNvPr id="9" name="圆角矩形标注 8"/>
          <p:cNvSpPr>
            <a:spLocks noChangeArrowheads="1"/>
          </p:cNvSpPr>
          <p:nvPr/>
        </p:nvSpPr>
        <p:spPr bwMode="auto">
          <a:xfrm>
            <a:off x="1260029" y="4250371"/>
            <a:ext cx="3528392" cy="627890"/>
          </a:xfrm>
          <a:prstGeom prst="wedgeRoundRectCallout">
            <a:avLst>
              <a:gd name="adj1" fmla="val -18021"/>
              <a:gd name="adj2" fmla="val -82268"/>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sz="1600" b="1" dirty="0">
                <a:solidFill>
                  <a:schemeClr val="bg1"/>
                </a:solidFill>
                <a:latin typeface="Times New Roman" panose="02020603050405020304" pitchFamily="18" charset="0"/>
                <a:cs typeface="Times New Roman" panose="02020603050405020304" pitchFamily="18" charset="0"/>
              </a:rPr>
              <a:t>定义所链接外部样式表文件的地址，可以是相对路径，也可以是绝对路径。</a:t>
            </a:r>
            <a:endParaRPr lang="zh-CN" altLang="zh-CN" sz="1600" b="1"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a:spLocks noChangeArrowheads="1"/>
          </p:cNvSpPr>
          <p:nvPr/>
        </p:nvSpPr>
        <p:spPr bwMode="auto">
          <a:xfrm>
            <a:off x="2123728" y="3504387"/>
            <a:ext cx="2160240" cy="393904"/>
          </a:xfrm>
          <a:prstGeom prst="rect">
            <a:avLst/>
          </a:prstGeom>
          <a:noFill/>
          <a:ln w="19050">
            <a:solidFill>
              <a:schemeClr val="accent1"/>
            </a:solidFill>
            <a:miter lim="800000"/>
          </a:ln>
        </p:spPr>
        <p:txBody>
          <a:bodyPr wrap="square" anchor="ctr">
            <a:spAutoFit/>
          </a:bodyPr>
          <a:lstStyle/>
          <a:p>
            <a:pPr algn="ctr"/>
            <a:endParaRPr lang="zh-CN" altLang="en-US"/>
          </a:p>
        </p:txBody>
      </p:sp>
      <p:sp>
        <p:nvSpPr>
          <p:cNvPr id="11" name="矩形 10"/>
          <p:cNvSpPr>
            <a:spLocks noChangeArrowheads="1"/>
          </p:cNvSpPr>
          <p:nvPr/>
        </p:nvSpPr>
        <p:spPr bwMode="auto">
          <a:xfrm>
            <a:off x="4355976" y="3504387"/>
            <a:ext cx="1440160" cy="393904"/>
          </a:xfrm>
          <a:prstGeom prst="rect">
            <a:avLst/>
          </a:prstGeom>
          <a:noFill/>
          <a:ln w="19050">
            <a:solidFill>
              <a:schemeClr val="accent1"/>
            </a:solidFill>
            <a:miter lim="800000"/>
          </a:ln>
        </p:spPr>
        <p:txBody>
          <a:bodyPr wrap="square" anchor="ctr">
            <a:spAutoFit/>
          </a:bodyPr>
          <a:lstStyle/>
          <a:p>
            <a:pPr algn="ctr"/>
            <a:endParaRPr lang="zh-CN" altLang="en-US"/>
          </a:p>
        </p:txBody>
      </p:sp>
      <p:sp>
        <p:nvSpPr>
          <p:cNvPr id="12" name="圆角矩形标注 11"/>
          <p:cNvSpPr>
            <a:spLocks noChangeArrowheads="1"/>
          </p:cNvSpPr>
          <p:nvPr/>
        </p:nvSpPr>
        <p:spPr bwMode="auto">
          <a:xfrm>
            <a:off x="3290957" y="4161736"/>
            <a:ext cx="3384376" cy="923447"/>
          </a:xfrm>
          <a:prstGeom prst="wedgeRoundRectCallout">
            <a:avLst>
              <a:gd name="adj1" fmla="val -10422"/>
              <a:gd name="adj2" fmla="val -70438"/>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sz="1600" b="1" dirty="0">
                <a:solidFill>
                  <a:schemeClr val="bg1"/>
                </a:solidFill>
                <a:latin typeface="Times New Roman" panose="02020603050405020304" pitchFamily="18" charset="0"/>
                <a:ea typeface="+mn-ea"/>
                <a:cs typeface="Times New Roman" panose="02020603050405020304" pitchFamily="18" charset="0"/>
              </a:rPr>
              <a:t>定义所链接文档的类型，这里需要指定为“</a:t>
            </a:r>
            <a:r>
              <a:rPr lang="en-US" altLang="zh-CN" sz="1600" b="1" dirty="0">
                <a:solidFill>
                  <a:schemeClr val="bg1"/>
                </a:solidFill>
                <a:latin typeface="Times New Roman" panose="02020603050405020304" pitchFamily="18" charset="0"/>
                <a:ea typeface="+mn-ea"/>
                <a:cs typeface="Times New Roman" panose="02020603050405020304" pitchFamily="18" charset="0"/>
              </a:rPr>
              <a:t>text/</a:t>
            </a:r>
            <a:r>
              <a:rPr lang="en-US" altLang="zh-CN" sz="1600" b="1" dirty="0" err="1">
                <a:solidFill>
                  <a:schemeClr val="bg1"/>
                </a:solidFill>
                <a:latin typeface="Times New Roman" panose="02020603050405020304" pitchFamily="18" charset="0"/>
                <a:ea typeface="+mn-ea"/>
                <a:cs typeface="Times New Roman" panose="02020603050405020304" pitchFamily="18" charset="0"/>
              </a:rPr>
              <a:t>css</a:t>
            </a:r>
            <a:r>
              <a:rPr lang="zh-CN" altLang="zh-CN" sz="1600" b="1" dirty="0">
                <a:solidFill>
                  <a:schemeClr val="bg1"/>
                </a:solidFill>
                <a:latin typeface="Times New Roman" panose="02020603050405020304" pitchFamily="18" charset="0"/>
                <a:ea typeface="+mn-ea"/>
                <a:cs typeface="Times New Roman" panose="02020603050405020304" pitchFamily="18" charset="0"/>
              </a:rPr>
              <a:t>”，表示链接的外部文件为</a:t>
            </a:r>
            <a:r>
              <a:rPr lang="en-US" altLang="zh-CN" sz="1600" b="1" dirty="0">
                <a:solidFill>
                  <a:schemeClr val="bg1"/>
                </a:solidFill>
                <a:latin typeface="Times New Roman" panose="02020603050405020304" pitchFamily="18" charset="0"/>
                <a:ea typeface="+mn-ea"/>
                <a:cs typeface="Times New Roman" panose="02020603050405020304" pitchFamily="18" charset="0"/>
              </a:rPr>
              <a:t>CSS</a:t>
            </a:r>
            <a:r>
              <a:rPr lang="zh-CN" altLang="zh-CN" sz="1600" b="1" dirty="0">
                <a:solidFill>
                  <a:schemeClr val="bg1"/>
                </a:solidFill>
                <a:latin typeface="Times New Roman" panose="02020603050405020304" pitchFamily="18" charset="0"/>
                <a:ea typeface="+mn-ea"/>
                <a:cs typeface="Times New Roman" panose="02020603050405020304" pitchFamily="18" charset="0"/>
              </a:rPr>
              <a:t>。</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13" name="矩形 12"/>
          <p:cNvSpPr>
            <a:spLocks noChangeArrowheads="1"/>
          </p:cNvSpPr>
          <p:nvPr/>
        </p:nvSpPr>
        <p:spPr bwMode="auto">
          <a:xfrm>
            <a:off x="5868144" y="3492095"/>
            <a:ext cx="1584176" cy="393904"/>
          </a:xfrm>
          <a:prstGeom prst="rect">
            <a:avLst/>
          </a:prstGeom>
          <a:noFill/>
          <a:ln w="19050">
            <a:solidFill>
              <a:schemeClr val="accent1"/>
            </a:solidFill>
            <a:miter lim="800000"/>
          </a:ln>
        </p:spPr>
        <p:txBody>
          <a:bodyPr wrap="square" anchor="ctr">
            <a:spAutoFit/>
          </a:bodyPr>
          <a:lstStyle/>
          <a:p>
            <a:pPr algn="ctr"/>
            <a:endParaRPr lang="zh-CN" altLang="en-US"/>
          </a:p>
        </p:txBody>
      </p:sp>
      <p:sp>
        <p:nvSpPr>
          <p:cNvPr id="14" name="圆角矩形标注 13"/>
          <p:cNvSpPr>
            <a:spLocks noChangeArrowheads="1"/>
          </p:cNvSpPr>
          <p:nvPr/>
        </p:nvSpPr>
        <p:spPr bwMode="auto">
          <a:xfrm>
            <a:off x="4032138" y="4161736"/>
            <a:ext cx="3672011" cy="923448"/>
          </a:xfrm>
          <a:prstGeom prst="wedgeRoundRectCallout">
            <a:avLst>
              <a:gd name="adj1" fmla="val 9279"/>
              <a:gd name="adj2" fmla="val -70438"/>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sz="1600" b="1" dirty="0">
                <a:solidFill>
                  <a:schemeClr val="bg1"/>
                </a:solidFill>
                <a:latin typeface="Times New Roman" panose="02020603050405020304" pitchFamily="18" charset="0"/>
                <a:ea typeface="+mn-ea"/>
                <a:cs typeface="Times New Roman" panose="02020603050405020304" pitchFamily="18" charset="0"/>
              </a:rPr>
              <a:t>定义当前文档与被链接文档之间的关系，这里需要指定为“</a:t>
            </a:r>
            <a:r>
              <a:rPr lang="en-US" altLang="zh-CN" sz="1600" b="1" dirty="0" err="1">
                <a:solidFill>
                  <a:schemeClr val="bg1"/>
                </a:solidFill>
                <a:latin typeface="Times New Roman" panose="02020603050405020304" pitchFamily="18" charset="0"/>
                <a:ea typeface="+mn-ea"/>
                <a:cs typeface="Times New Roman" panose="02020603050405020304" pitchFamily="18" charset="0"/>
              </a:rPr>
              <a:t>stylesheet</a:t>
            </a:r>
            <a:r>
              <a:rPr lang="zh-CN" altLang="zh-CN" sz="1600" b="1" dirty="0">
                <a:solidFill>
                  <a:schemeClr val="bg1"/>
                </a:solidFill>
                <a:latin typeface="Times New Roman" panose="02020603050405020304" pitchFamily="18" charset="0"/>
                <a:ea typeface="+mn-ea"/>
                <a:cs typeface="Times New Roman" panose="02020603050405020304" pitchFamily="18" charset="0"/>
              </a:rPr>
              <a:t>”，表示被链接的文档是一个样式表文件。</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15"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6"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1.2.2  CSS</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样式的引用方式</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9"/>
                                        </p:tgtEl>
                                        <p:attrNameLst>
                                          <p:attrName>style.visibility</p:attrName>
                                        </p:attrNameLst>
                                      </p:cBhvr>
                                      <p:to>
                                        <p:strVal val="hidden"/>
                                      </p:to>
                                    </p:set>
                                  </p:childTnLst>
                                </p:cTn>
                              </p:par>
                              <p:par>
                                <p:cTn id="34" presetID="22" presetClass="entr" presetSubtype="1"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up)">
                                      <p:cBhvr>
                                        <p:cTn id="36" dur="500"/>
                                        <p:tgtEl>
                                          <p:spTgt spid="11"/>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11"/>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12"/>
                                        </p:tgtEl>
                                        <p:attrNameLst>
                                          <p:attrName>style.visibility</p:attrName>
                                        </p:attrNameLst>
                                      </p:cBhvr>
                                      <p:to>
                                        <p:strVal val="hidden"/>
                                      </p:to>
                                    </p:set>
                                  </p:childTnLst>
                                </p:cTn>
                              </p:par>
                              <p:par>
                                <p:cTn id="46" presetID="22" presetClass="entr" presetSubtype="1"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up)">
                                      <p:cBhvr>
                                        <p:cTn id="48" dur="500"/>
                                        <p:tgtEl>
                                          <p:spTgt spid="13"/>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animBg="1"/>
      <p:bldP spid="9" grpId="1" animBg="1"/>
      <p:bldP spid="10" grpId="0" animBg="1"/>
      <p:bldP spid="10" grpId="1" animBg="1"/>
      <p:bldP spid="11" grpId="0" animBg="1"/>
      <p:bldP spid="11" grpId="1" animBg="1"/>
      <p:bldP spid="12" grpId="0" animBg="1"/>
      <p:bldP spid="12" grpId="1"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2204864"/>
            <a:ext cx="8137525" cy="165618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任意多边形 3"/>
          <p:cNvSpPr/>
          <p:nvPr/>
        </p:nvSpPr>
        <p:spPr bwMode="auto">
          <a:xfrm>
            <a:off x="5580112" y="1844824"/>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5" name="矩形 4"/>
          <p:cNvSpPr>
            <a:spLocks noChangeArrowheads="1"/>
          </p:cNvSpPr>
          <p:nvPr/>
        </p:nvSpPr>
        <p:spPr bwMode="auto">
          <a:xfrm>
            <a:off x="5936332" y="1901974"/>
            <a:ext cx="15985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1. </a:t>
            </a:r>
            <a:r>
              <a:rPr lang="zh-CN" altLang="en-US" dirty="0" smtClean="0">
                <a:solidFill>
                  <a:schemeClr val="bg1"/>
                </a:solidFill>
                <a:latin typeface="微软雅黑" panose="020B0503020204020204" pitchFamily="34" charset="-122"/>
                <a:ea typeface="微软雅黑" panose="020B0503020204020204" pitchFamily="34" charset="-122"/>
              </a:rPr>
              <a:t>标记选择器</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6" name="矩形 15"/>
          <p:cNvSpPr>
            <a:spLocks noChangeArrowheads="1"/>
          </p:cNvSpPr>
          <p:nvPr/>
        </p:nvSpPr>
        <p:spPr bwMode="auto">
          <a:xfrm>
            <a:off x="571500" y="2361654"/>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Calibri" panose="020F0502020204030204" charset="0"/>
              <a:buChar char="–"/>
            </a:pPr>
            <a:r>
              <a:rPr lang="zh-CN" altLang="zh-CN" dirty="0" smtClean="0"/>
              <a:t>标记</a:t>
            </a:r>
            <a:r>
              <a:rPr lang="zh-CN" altLang="zh-CN" dirty="0"/>
              <a:t>选择器是指用</a:t>
            </a:r>
            <a:r>
              <a:rPr lang="en-US" altLang="zh-CN" dirty="0"/>
              <a:t>HTML</a:t>
            </a:r>
            <a:r>
              <a:rPr lang="zh-CN" altLang="zh-CN" dirty="0"/>
              <a:t>标记名称作为选择器，按标记名称分类，为页面中某一类标记指定统一的样式。其基本语法格式如下：</a:t>
            </a:r>
            <a:endParaRPr lang="zh-CN" altLang="zh-CN" dirty="0"/>
          </a:p>
        </p:txBody>
      </p:sp>
      <p:sp>
        <p:nvSpPr>
          <p:cNvPr id="7" name="矩形 16"/>
          <p:cNvSpPr>
            <a:spLocks noChangeArrowheads="1"/>
          </p:cNvSpPr>
          <p:nvPr/>
        </p:nvSpPr>
        <p:spPr bwMode="auto">
          <a:xfrm>
            <a:off x="597099" y="3296663"/>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zh-CN" altLang="zh-CN" dirty="0"/>
              <a:t>属性</a:t>
            </a:r>
            <a:r>
              <a:rPr lang="en-US" altLang="zh-CN" dirty="0"/>
              <a:t>1:</a:t>
            </a:r>
            <a:r>
              <a:rPr lang="zh-CN" altLang="zh-CN" dirty="0"/>
              <a:t>属性值</a:t>
            </a:r>
            <a:r>
              <a:rPr lang="en-US" altLang="zh-CN" dirty="0"/>
              <a:t>1; </a:t>
            </a:r>
            <a:r>
              <a:rPr lang="zh-CN" altLang="zh-CN" dirty="0"/>
              <a:t>属性</a:t>
            </a:r>
            <a:r>
              <a:rPr lang="en-US" altLang="zh-CN" dirty="0"/>
              <a:t>2:</a:t>
            </a:r>
            <a:r>
              <a:rPr lang="zh-CN" altLang="zh-CN" dirty="0"/>
              <a:t>属性值</a:t>
            </a:r>
            <a:r>
              <a:rPr lang="en-US" altLang="zh-CN" dirty="0"/>
              <a:t>2; </a:t>
            </a:r>
            <a:r>
              <a:rPr lang="zh-CN" altLang="zh-CN" dirty="0"/>
              <a:t>属性</a:t>
            </a:r>
            <a:r>
              <a:rPr lang="en-US" altLang="zh-CN" dirty="0"/>
              <a:t>3:</a:t>
            </a:r>
            <a:r>
              <a:rPr lang="zh-CN" altLang="zh-CN" dirty="0"/>
              <a:t>属性值</a:t>
            </a:r>
            <a:r>
              <a:rPr lang="en-US" altLang="zh-CN" dirty="0"/>
              <a:t>3; }</a:t>
            </a:r>
            <a:endParaRPr lang="zh-CN" altLang="zh-CN" dirty="0"/>
          </a:p>
        </p:txBody>
      </p:sp>
      <p:sp>
        <p:nvSpPr>
          <p:cNvPr id="34" name="圆角矩形标注 33"/>
          <p:cNvSpPr>
            <a:spLocks noChangeArrowheads="1"/>
          </p:cNvSpPr>
          <p:nvPr/>
        </p:nvSpPr>
        <p:spPr bwMode="auto">
          <a:xfrm>
            <a:off x="1187624" y="4217243"/>
            <a:ext cx="6120680" cy="1152128"/>
          </a:xfrm>
          <a:prstGeom prst="wedgeRoundRectCallout">
            <a:avLst>
              <a:gd name="adj1" fmla="val -18421"/>
              <a:gd name="adj2" fmla="val -73111"/>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sz="1600" b="1" dirty="0">
                <a:solidFill>
                  <a:schemeClr val="bg1"/>
                </a:solidFill>
                <a:latin typeface="Times New Roman" panose="02020603050405020304" pitchFamily="18" charset="0"/>
                <a:ea typeface="+mn-ea"/>
                <a:cs typeface="Times New Roman" panose="02020603050405020304" pitchFamily="18" charset="0"/>
              </a:rPr>
              <a:t>上述语法中，所有的</a:t>
            </a:r>
            <a:r>
              <a:rPr lang="en-US" altLang="zh-CN" sz="1600" b="1" dirty="0">
                <a:solidFill>
                  <a:schemeClr val="bg1"/>
                </a:solidFill>
                <a:latin typeface="Times New Roman" panose="02020603050405020304" pitchFamily="18" charset="0"/>
                <a:ea typeface="+mn-ea"/>
                <a:cs typeface="Times New Roman" panose="02020603050405020304" pitchFamily="18" charset="0"/>
              </a:rPr>
              <a:t>HTML</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标记都可以作为标记选择器的标记名，例如</a:t>
            </a:r>
            <a:r>
              <a:rPr lang="en-US" altLang="zh-CN" sz="1600" b="1" dirty="0">
                <a:solidFill>
                  <a:schemeClr val="bg1"/>
                </a:solidFill>
                <a:latin typeface="Times New Roman" panose="02020603050405020304" pitchFamily="18" charset="0"/>
                <a:ea typeface="+mn-ea"/>
                <a:cs typeface="Times New Roman" panose="02020603050405020304" pitchFamily="18" charset="0"/>
              </a:rPr>
              <a:t>&lt;body&gt;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a:t>
            </a:r>
            <a:r>
              <a:rPr lang="en-US" altLang="zh-CN" sz="1600" b="1" dirty="0">
                <a:solidFill>
                  <a:schemeClr val="bg1"/>
                </a:solidFill>
                <a:latin typeface="Times New Roman" panose="02020603050405020304" pitchFamily="18" charset="0"/>
                <a:ea typeface="+mn-ea"/>
                <a:cs typeface="Times New Roman" panose="02020603050405020304" pitchFamily="18" charset="0"/>
              </a:rPr>
              <a:t>&lt;h1&gt;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a:t>
            </a:r>
            <a:r>
              <a:rPr lang="en-US" altLang="zh-CN" sz="1600" b="1" dirty="0">
                <a:solidFill>
                  <a:schemeClr val="bg1"/>
                </a:solidFill>
                <a:latin typeface="Times New Roman" panose="02020603050405020304" pitchFamily="18" charset="0"/>
                <a:ea typeface="+mn-ea"/>
                <a:cs typeface="Times New Roman" panose="02020603050405020304" pitchFamily="18" charset="0"/>
              </a:rPr>
              <a:t>&lt;p&gt;</a:t>
            </a:r>
            <a:r>
              <a:rPr lang="zh-CN" altLang="zh-CN" sz="1600" b="1" dirty="0">
                <a:solidFill>
                  <a:schemeClr val="bg1"/>
                </a:solidFill>
                <a:latin typeface="Times New Roman" panose="02020603050405020304" pitchFamily="18" charset="0"/>
                <a:ea typeface="+mn-ea"/>
                <a:cs typeface="Times New Roman" panose="02020603050405020304" pitchFamily="18" charset="0"/>
              </a:rPr>
              <a:t>标记等</a:t>
            </a:r>
            <a:r>
              <a:rPr lang="zh-CN" altLang="zh-CN" sz="1600" b="1" dirty="0" smtClean="0">
                <a:solidFill>
                  <a:schemeClr val="bg1"/>
                </a:solidFill>
                <a:latin typeface="Times New Roman" panose="02020603050405020304" pitchFamily="18" charset="0"/>
                <a:ea typeface="+mn-ea"/>
                <a:cs typeface="Times New Roman" panose="02020603050405020304" pitchFamily="18" charset="0"/>
              </a:rPr>
              <a:t>。</a:t>
            </a:r>
            <a:r>
              <a:rPr lang="zh-CN" altLang="zh-CN" sz="1600" b="1" dirty="0">
                <a:solidFill>
                  <a:schemeClr val="bg1"/>
                </a:solidFill>
                <a:latin typeface="Times New Roman" panose="02020603050405020304" pitchFamily="18" charset="0"/>
                <a:ea typeface="+mn-ea"/>
                <a:cs typeface="Times New Roman" panose="02020603050405020304" pitchFamily="18" charset="0"/>
              </a:rPr>
              <a:t>用标记选择器定义的样式对页面中该类型的所有标记都有效，这是它的优点，但同时这也是其缺点，因为这样不能设计差异化样式。</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58" name="矩形 57"/>
          <p:cNvSpPr/>
          <p:nvPr/>
        </p:nvSpPr>
        <p:spPr bwMode="auto">
          <a:xfrm>
            <a:off x="545976" y="2204864"/>
            <a:ext cx="8137525" cy="165618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9" name="矩形 15"/>
          <p:cNvSpPr>
            <a:spLocks noChangeArrowheads="1"/>
          </p:cNvSpPr>
          <p:nvPr/>
        </p:nvSpPr>
        <p:spPr bwMode="auto">
          <a:xfrm>
            <a:off x="571500" y="2361654"/>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Calibri" panose="020F0502020204030204" charset="0"/>
              <a:buChar char="–"/>
            </a:pPr>
            <a:r>
              <a:rPr lang="zh-CN" altLang="zh-CN" dirty="0" smtClean="0"/>
              <a:t>类</a:t>
            </a:r>
            <a:r>
              <a:rPr lang="zh-CN" altLang="zh-CN" dirty="0"/>
              <a:t>选择器使用“</a:t>
            </a:r>
            <a:r>
              <a:rPr lang="en-US" altLang="zh-CN" dirty="0"/>
              <a:t>.</a:t>
            </a:r>
            <a:r>
              <a:rPr lang="zh-CN" altLang="zh-CN" dirty="0"/>
              <a:t>”（英文点号）进行标识，后面紧跟类名，其基本语法格式如下：</a:t>
            </a:r>
            <a:endParaRPr lang="zh-CN" altLang="zh-CN" dirty="0"/>
          </a:p>
        </p:txBody>
      </p:sp>
      <p:sp>
        <p:nvSpPr>
          <p:cNvPr id="60" name="矩形 16"/>
          <p:cNvSpPr>
            <a:spLocks noChangeArrowheads="1"/>
          </p:cNvSpPr>
          <p:nvPr/>
        </p:nvSpPr>
        <p:spPr bwMode="auto">
          <a:xfrm>
            <a:off x="597099" y="3296663"/>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zh-CN" altLang="zh-CN" dirty="0"/>
              <a:t>类名</a:t>
            </a:r>
            <a:r>
              <a:rPr lang="en-US" altLang="zh-CN" dirty="0"/>
              <a:t>{</a:t>
            </a:r>
            <a:r>
              <a:rPr lang="zh-CN" altLang="zh-CN" dirty="0"/>
              <a:t>属性</a:t>
            </a:r>
            <a:r>
              <a:rPr lang="en-US" altLang="zh-CN" dirty="0"/>
              <a:t>1:</a:t>
            </a:r>
            <a:r>
              <a:rPr lang="zh-CN" altLang="zh-CN" dirty="0"/>
              <a:t>属性值</a:t>
            </a:r>
            <a:r>
              <a:rPr lang="en-US" altLang="zh-CN" dirty="0"/>
              <a:t>1; </a:t>
            </a:r>
            <a:r>
              <a:rPr lang="zh-CN" altLang="zh-CN" dirty="0"/>
              <a:t>属性</a:t>
            </a:r>
            <a:r>
              <a:rPr lang="en-US" altLang="zh-CN" dirty="0"/>
              <a:t>2:</a:t>
            </a:r>
            <a:r>
              <a:rPr lang="zh-CN" altLang="zh-CN" dirty="0"/>
              <a:t>属性值</a:t>
            </a:r>
            <a:r>
              <a:rPr lang="en-US" altLang="zh-CN" dirty="0"/>
              <a:t>2; </a:t>
            </a:r>
            <a:r>
              <a:rPr lang="zh-CN" altLang="zh-CN" dirty="0"/>
              <a:t>属性</a:t>
            </a:r>
            <a:r>
              <a:rPr lang="en-US" altLang="zh-CN" dirty="0"/>
              <a:t>3:</a:t>
            </a:r>
            <a:r>
              <a:rPr lang="zh-CN" altLang="zh-CN" dirty="0"/>
              <a:t>属性值</a:t>
            </a:r>
            <a:r>
              <a:rPr lang="en-US" altLang="zh-CN" dirty="0"/>
              <a:t>3; }</a:t>
            </a:r>
            <a:endParaRPr lang="zh-CN" altLang="zh-CN" dirty="0"/>
          </a:p>
        </p:txBody>
      </p:sp>
      <p:sp>
        <p:nvSpPr>
          <p:cNvPr id="61" name="圆角矩形标注 60"/>
          <p:cNvSpPr>
            <a:spLocks noChangeArrowheads="1"/>
          </p:cNvSpPr>
          <p:nvPr/>
        </p:nvSpPr>
        <p:spPr bwMode="auto">
          <a:xfrm>
            <a:off x="1841648" y="4203154"/>
            <a:ext cx="5250632" cy="954038"/>
          </a:xfrm>
          <a:prstGeom prst="wedgeRoundRectCallout">
            <a:avLst>
              <a:gd name="adj1" fmla="val -18421"/>
              <a:gd name="adj2" fmla="val -73111"/>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Times New Roman" panose="02020603050405020304" pitchFamily="18" charset="0"/>
                <a:ea typeface="+mn-ea"/>
                <a:cs typeface="Times New Roman" panose="02020603050405020304" pitchFamily="18" charset="0"/>
              </a:rPr>
              <a:t>上述语法中，类名即为</a:t>
            </a:r>
            <a:r>
              <a:rPr lang="en-US" altLang="zh-CN" sz="1600" b="1" dirty="0">
                <a:solidFill>
                  <a:schemeClr val="bg1"/>
                </a:solidFill>
                <a:latin typeface="Times New Roman" panose="02020603050405020304" pitchFamily="18" charset="0"/>
                <a:ea typeface="+mn-ea"/>
                <a:cs typeface="Times New Roman" panose="02020603050405020304" pitchFamily="18" charset="0"/>
              </a:rPr>
              <a:t>HTML</a:t>
            </a:r>
            <a:r>
              <a:rPr lang="zh-CN" altLang="zh-CN" sz="1600" b="1" dirty="0">
                <a:solidFill>
                  <a:schemeClr val="bg1"/>
                </a:solidFill>
                <a:latin typeface="Times New Roman" panose="02020603050405020304" pitchFamily="18" charset="0"/>
                <a:ea typeface="+mn-ea"/>
                <a:cs typeface="Times New Roman" panose="02020603050405020304" pitchFamily="18" charset="0"/>
              </a:rPr>
              <a:t>页面中元素的</a:t>
            </a:r>
            <a:r>
              <a:rPr lang="en-US" altLang="zh-CN" sz="1600" b="1" dirty="0">
                <a:solidFill>
                  <a:schemeClr val="bg1"/>
                </a:solidFill>
                <a:latin typeface="Times New Roman" panose="02020603050405020304" pitchFamily="18" charset="0"/>
                <a:ea typeface="+mn-ea"/>
                <a:cs typeface="Times New Roman" panose="02020603050405020304" pitchFamily="18" charset="0"/>
              </a:rPr>
              <a:t>class</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属性值，大多数</a:t>
            </a:r>
            <a:r>
              <a:rPr lang="en-US" altLang="zh-CN" sz="1600" b="1" dirty="0">
                <a:solidFill>
                  <a:schemeClr val="bg1"/>
                </a:solidFill>
                <a:latin typeface="Times New Roman" panose="02020603050405020304" pitchFamily="18" charset="0"/>
                <a:ea typeface="+mn-ea"/>
                <a:cs typeface="Times New Roman" panose="02020603050405020304" pitchFamily="18" charset="0"/>
              </a:rPr>
              <a:t>HTML</a:t>
            </a:r>
            <a:r>
              <a:rPr lang="zh-CN" altLang="zh-CN" sz="1600" b="1" dirty="0">
                <a:solidFill>
                  <a:schemeClr val="bg1"/>
                </a:solidFill>
                <a:latin typeface="Times New Roman" panose="02020603050405020304" pitchFamily="18" charset="0"/>
                <a:ea typeface="+mn-ea"/>
                <a:cs typeface="Times New Roman" panose="02020603050405020304" pitchFamily="18" charset="0"/>
              </a:rPr>
              <a:t>元素都可以定义</a:t>
            </a:r>
            <a:r>
              <a:rPr lang="en-US" altLang="zh-CN" sz="1600" b="1" dirty="0">
                <a:solidFill>
                  <a:schemeClr val="bg1"/>
                </a:solidFill>
                <a:latin typeface="Times New Roman" panose="02020603050405020304" pitchFamily="18" charset="0"/>
                <a:ea typeface="+mn-ea"/>
                <a:cs typeface="Times New Roman" panose="02020603050405020304" pitchFamily="18" charset="0"/>
              </a:rPr>
              <a:t>class</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属性。类选择器最大的优势是可以为元素对象定义单独或相同的样式</a:t>
            </a:r>
            <a:r>
              <a:rPr lang="zh-CN" altLang="zh-CN" sz="1600" b="1" dirty="0">
                <a:solidFill>
                  <a:schemeClr val="bg1"/>
                </a:solidFill>
                <a:latin typeface="+mn-ea"/>
                <a:ea typeface="+mn-ea"/>
              </a:rPr>
              <a:t>。</a:t>
            </a:r>
            <a:endParaRPr lang="zh-CN" altLang="zh-CN" sz="1600" b="1" dirty="0">
              <a:solidFill>
                <a:schemeClr val="bg1"/>
              </a:solidFill>
              <a:latin typeface="+mn-ea"/>
              <a:ea typeface="+mn-ea"/>
            </a:endParaRPr>
          </a:p>
        </p:txBody>
      </p:sp>
      <p:sp>
        <p:nvSpPr>
          <p:cNvPr id="62" name="任意多边形 61"/>
          <p:cNvSpPr/>
          <p:nvPr/>
        </p:nvSpPr>
        <p:spPr bwMode="auto">
          <a:xfrm>
            <a:off x="5580112" y="1844824"/>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3" name="矩形 62"/>
          <p:cNvSpPr>
            <a:spLocks noChangeArrowheads="1"/>
          </p:cNvSpPr>
          <p:nvPr/>
        </p:nvSpPr>
        <p:spPr bwMode="auto">
          <a:xfrm>
            <a:off x="5936332" y="1901974"/>
            <a:ext cx="13676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2. </a:t>
            </a:r>
            <a:r>
              <a:rPr lang="zh-CN" altLang="en-US" dirty="0" smtClean="0">
                <a:solidFill>
                  <a:schemeClr val="bg1"/>
                </a:solidFill>
                <a:latin typeface="微软雅黑" panose="020B0503020204020204" pitchFamily="34" charset="-122"/>
                <a:ea typeface="微软雅黑" panose="020B0503020204020204" pitchFamily="34" charset="-122"/>
              </a:rPr>
              <a:t>类选择器</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64" name="矩形 63"/>
          <p:cNvSpPr/>
          <p:nvPr/>
        </p:nvSpPr>
        <p:spPr bwMode="auto">
          <a:xfrm>
            <a:off x="545976" y="2348880"/>
            <a:ext cx="8137525" cy="122413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5" name="矩形 64"/>
          <p:cNvSpPr>
            <a:spLocks noChangeArrowheads="1"/>
          </p:cNvSpPr>
          <p:nvPr/>
        </p:nvSpPr>
        <p:spPr bwMode="auto">
          <a:xfrm>
            <a:off x="571500" y="2555612"/>
            <a:ext cx="8040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Calibri" panose="020F0502020204030204" charset="0"/>
              <a:buChar char="–"/>
            </a:pPr>
            <a:r>
              <a:rPr lang="en-US" altLang="zh-CN" dirty="0" smtClean="0"/>
              <a:t>id</a:t>
            </a:r>
            <a:r>
              <a:rPr lang="zh-CN" altLang="zh-CN" dirty="0"/>
              <a:t>选择器使用“</a:t>
            </a:r>
            <a:r>
              <a:rPr lang="en-US" altLang="zh-CN" dirty="0"/>
              <a:t>#</a:t>
            </a:r>
            <a:r>
              <a:rPr lang="zh-CN" altLang="zh-CN" dirty="0"/>
              <a:t>”进行标识，后面紧跟</a:t>
            </a:r>
            <a:r>
              <a:rPr lang="en-US" altLang="zh-CN" dirty="0"/>
              <a:t>id</a:t>
            </a:r>
            <a:r>
              <a:rPr lang="zh-CN" altLang="zh-CN" dirty="0"/>
              <a:t>名，其基本语法格式如下：</a:t>
            </a:r>
            <a:endParaRPr lang="zh-CN" altLang="zh-CN" dirty="0"/>
          </a:p>
        </p:txBody>
      </p:sp>
      <p:sp>
        <p:nvSpPr>
          <p:cNvPr id="66" name="矩形 65"/>
          <p:cNvSpPr>
            <a:spLocks noChangeArrowheads="1"/>
          </p:cNvSpPr>
          <p:nvPr/>
        </p:nvSpPr>
        <p:spPr bwMode="auto">
          <a:xfrm>
            <a:off x="597099" y="2996952"/>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en-US" altLang="zh-CN" dirty="0"/>
              <a:t>id</a:t>
            </a:r>
            <a:r>
              <a:rPr lang="zh-CN" altLang="zh-CN" dirty="0"/>
              <a:t>名</a:t>
            </a:r>
            <a:r>
              <a:rPr lang="en-US" altLang="zh-CN" dirty="0"/>
              <a:t>{</a:t>
            </a:r>
            <a:r>
              <a:rPr lang="zh-CN" altLang="zh-CN" dirty="0"/>
              <a:t>属性</a:t>
            </a:r>
            <a:r>
              <a:rPr lang="en-US" altLang="zh-CN" dirty="0"/>
              <a:t>1:</a:t>
            </a:r>
            <a:r>
              <a:rPr lang="zh-CN" altLang="zh-CN" dirty="0"/>
              <a:t>属性值</a:t>
            </a:r>
            <a:r>
              <a:rPr lang="en-US" altLang="zh-CN" dirty="0"/>
              <a:t>1; </a:t>
            </a:r>
            <a:r>
              <a:rPr lang="zh-CN" altLang="zh-CN" dirty="0"/>
              <a:t>属性</a:t>
            </a:r>
            <a:r>
              <a:rPr lang="en-US" altLang="zh-CN" dirty="0"/>
              <a:t>2:</a:t>
            </a:r>
            <a:r>
              <a:rPr lang="zh-CN" altLang="zh-CN" dirty="0"/>
              <a:t>属性值</a:t>
            </a:r>
            <a:r>
              <a:rPr lang="en-US" altLang="zh-CN" dirty="0"/>
              <a:t>2; </a:t>
            </a:r>
            <a:r>
              <a:rPr lang="zh-CN" altLang="zh-CN" dirty="0"/>
              <a:t>属性</a:t>
            </a:r>
            <a:r>
              <a:rPr lang="en-US" altLang="zh-CN" dirty="0"/>
              <a:t>3:</a:t>
            </a:r>
            <a:r>
              <a:rPr lang="zh-CN" altLang="zh-CN" dirty="0"/>
              <a:t>属性值</a:t>
            </a:r>
            <a:r>
              <a:rPr lang="en-US" altLang="zh-CN" dirty="0"/>
              <a:t>3; }</a:t>
            </a:r>
            <a:endParaRPr lang="zh-CN" altLang="zh-CN" dirty="0"/>
          </a:p>
        </p:txBody>
      </p:sp>
      <p:sp>
        <p:nvSpPr>
          <p:cNvPr id="67" name="圆角矩形标注 66"/>
          <p:cNvSpPr>
            <a:spLocks noChangeArrowheads="1"/>
          </p:cNvSpPr>
          <p:nvPr/>
        </p:nvSpPr>
        <p:spPr bwMode="auto">
          <a:xfrm>
            <a:off x="1841648" y="4005064"/>
            <a:ext cx="5250632" cy="954038"/>
          </a:xfrm>
          <a:prstGeom prst="wedgeRoundRectCallout">
            <a:avLst>
              <a:gd name="adj1" fmla="val -18421"/>
              <a:gd name="adj2" fmla="val -73111"/>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Times New Roman" panose="02020603050405020304" pitchFamily="18" charset="0"/>
                <a:ea typeface="+mn-ea"/>
                <a:cs typeface="Times New Roman" panose="02020603050405020304" pitchFamily="18" charset="0"/>
              </a:rPr>
              <a:t>上述语法中，</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名即为</a:t>
            </a:r>
            <a:r>
              <a:rPr lang="en-US" altLang="zh-CN" sz="1600" b="1" dirty="0">
                <a:solidFill>
                  <a:schemeClr val="bg1"/>
                </a:solidFill>
                <a:latin typeface="Times New Roman" panose="02020603050405020304" pitchFamily="18" charset="0"/>
                <a:ea typeface="+mn-ea"/>
                <a:cs typeface="Times New Roman" panose="02020603050405020304" pitchFamily="18" charset="0"/>
              </a:rPr>
              <a:t>HTML</a:t>
            </a:r>
            <a:r>
              <a:rPr lang="zh-CN" altLang="zh-CN" sz="1600" b="1" dirty="0">
                <a:solidFill>
                  <a:schemeClr val="bg1"/>
                </a:solidFill>
                <a:latin typeface="Times New Roman" panose="02020603050405020304" pitchFamily="18" charset="0"/>
                <a:ea typeface="+mn-ea"/>
                <a:cs typeface="Times New Roman" panose="02020603050405020304" pitchFamily="18" charset="0"/>
              </a:rPr>
              <a:t>页面中元素的</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属性值，大多数</a:t>
            </a:r>
            <a:r>
              <a:rPr lang="en-US" altLang="zh-CN" sz="1600" b="1" dirty="0">
                <a:solidFill>
                  <a:schemeClr val="bg1"/>
                </a:solidFill>
                <a:latin typeface="Times New Roman" panose="02020603050405020304" pitchFamily="18" charset="0"/>
                <a:ea typeface="+mn-ea"/>
                <a:cs typeface="Times New Roman" panose="02020603050405020304" pitchFamily="18" charset="0"/>
              </a:rPr>
              <a:t>HTML</a:t>
            </a:r>
            <a:r>
              <a:rPr lang="zh-CN" altLang="zh-CN" sz="1600" b="1" dirty="0">
                <a:solidFill>
                  <a:schemeClr val="bg1"/>
                </a:solidFill>
                <a:latin typeface="Times New Roman" panose="02020603050405020304" pitchFamily="18" charset="0"/>
                <a:ea typeface="+mn-ea"/>
                <a:cs typeface="Times New Roman" panose="02020603050405020304" pitchFamily="18" charset="0"/>
              </a:rPr>
              <a:t>元素都可以定义</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属性，元素的</a:t>
            </a:r>
            <a:r>
              <a:rPr lang="en-US" altLang="zh-CN" sz="1600" b="1" dirty="0">
                <a:solidFill>
                  <a:schemeClr val="bg1"/>
                </a:solidFill>
                <a:latin typeface="Times New Roman" panose="02020603050405020304" pitchFamily="18" charset="0"/>
                <a:ea typeface="+mn-ea"/>
                <a:cs typeface="Times New Roman" panose="02020603050405020304" pitchFamily="18" charset="0"/>
              </a:rPr>
              <a:t>id</a:t>
            </a:r>
            <a:r>
              <a:rPr lang="zh-CN" altLang="zh-CN" sz="1600" b="1" dirty="0">
                <a:solidFill>
                  <a:schemeClr val="bg1"/>
                </a:solidFill>
                <a:latin typeface="Times New Roman" panose="02020603050405020304" pitchFamily="18" charset="0"/>
                <a:ea typeface="+mn-ea"/>
                <a:cs typeface="Times New Roman" panose="02020603050405020304" pitchFamily="18" charset="0"/>
              </a:rPr>
              <a:t>值是唯一的，只能对应于文档中某一个具体的元素。</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68" name="任意多边形 67"/>
          <p:cNvSpPr/>
          <p:nvPr/>
        </p:nvSpPr>
        <p:spPr bwMode="auto">
          <a:xfrm>
            <a:off x="5580112" y="1981622"/>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9" name="矩形 68"/>
          <p:cNvSpPr>
            <a:spLocks noChangeArrowheads="1"/>
          </p:cNvSpPr>
          <p:nvPr/>
        </p:nvSpPr>
        <p:spPr bwMode="auto">
          <a:xfrm>
            <a:off x="5936332" y="2044338"/>
            <a:ext cx="1345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3. id</a:t>
            </a:r>
            <a:r>
              <a:rPr lang="zh-CN" altLang="en-US" dirty="0" smtClean="0">
                <a:solidFill>
                  <a:schemeClr val="bg1"/>
                </a:solidFill>
                <a:latin typeface="微软雅黑" panose="020B0503020204020204" pitchFamily="34" charset="-122"/>
                <a:ea typeface="微软雅黑" panose="020B0503020204020204" pitchFamily="34" charset="-122"/>
              </a:rPr>
              <a:t>选择器</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0" name="矩形 69"/>
          <p:cNvSpPr/>
          <p:nvPr/>
        </p:nvSpPr>
        <p:spPr bwMode="auto">
          <a:xfrm>
            <a:off x="545976" y="2348880"/>
            <a:ext cx="8137525" cy="165618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1" name="矩形 70"/>
          <p:cNvSpPr>
            <a:spLocks noChangeArrowheads="1"/>
          </p:cNvSpPr>
          <p:nvPr/>
        </p:nvSpPr>
        <p:spPr bwMode="auto">
          <a:xfrm>
            <a:off x="571500" y="2492896"/>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Calibri" panose="020F0502020204030204" charset="0"/>
              <a:buChar char="–"/>
            </a:pPr>
            <a:r>
              <a:rPr lang="zh-CN" altLang="zh-CN" dirty="0" smtClean="0"/>
              <a:t>通配符</a:t>
            </a:r>
            <a:r>
              <a:rPr lang="zh-CN" altLang="zh-CN" dirty="0"/>
              <a:t>选择器用“</a:t>
            </a:r>
            <a:r>
              <a:rPr lang="en-US" altLang="zh-CN" dirty="0"/>
              <a:t>*</a:t>
            </a:r>
            <a:r>
              <a:rPr lang="zh-CN" altLang="zh-CN" dirty="0"/>
              <a:t>”号表示，它是所有选择器中作用范围最广的，能匹配页面中所有的元素。其基本语法格式如下：</a:t>
            </a:r>
            <a:endParaRPr lang="zh-CN" altLang="zh-CN" dirty="0"/>
          </a:p>
        </p:txBody>
      </p:sp>
      <p:sp>
        <p:nvSpPr>
          <p:cNvPr id="72" name="矩形 71"/>
          <p:cNvSpPr>
            <a:spLocks noChangeArrowheads="1"/>
          </p:cNvSpPr>
          <p:nvPr/>
        </p:nvSpPr>
        <p:spPr bwMode="auto">
          <a:xfrm>
            <a:off x="597099" y="3429000"/>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zh-CN" altLang="zh-CN" dirty="0"/>
              <a:t>属性</a:t>
            </a:r>
            <a:r>
              <a:rPr lang="en-US" altLang="zh-CN" dirty="0"/>
              <a:t>1:</a:t>
            </a:r>
            <a:r>
              <a:rPr lang="zh-CN" altLang="zh-CN" dirty="0"/>
              <a:t>属性值</a:t>
            </a:r>
            <a:r>
              <a:rPr lang="en-US" altLang="zh-CN" dirty="0"/>
              <a:t>1; </a:t>
            </a:r>
            <a:r>
              <a:rPr lang="zh-CN" altLang="zh-CN" dirty="0"/>
              <a:t>属性</a:t>
            </a:r>
            <a:r>
              <a:rPr lang="en-US" altLang="zh-CN" dirty="0"/>
              <a:t>2:</a:t>
            </a:r>
            <a:r>
              <a:rPr lang="zh-CN" altLang="zh-CN" dirty="0"/>
              <a:t>属性值</a:t>
            </a:r>
            <a:r>
              <a:rPr lang="en-US" altLang="zh-CN" dirty="0"/>
              <a:t>2; </a:t>
            </a:r>
            <a:r>
              <a:rPr lang="zh-CN" altLang="zh-CN" dirty="0"/>
              <a:t>属性</a:t>
            </a:r>
            <a:r>
              <a:rPr lang="en-US" altLang="zh-CN" dirty="0"/>
              <a:t>3:</a:t>
            </a:r>
            <a:r>
              <a:rPr lang="zh-CN" altLang="zh-CN" dirty="0"/>
              <a:t>属性值</a:t>
            </a:r>
            <a:r>
              <a:rPr lang="en-US" altLang="zh-CN" dirty="0"/>
              <a:t>3; }</a:t>
            </a:r>
            <a:endParaRPr lang="zh-CN" altLang="zh-CN" dirty="0"/>
          </a:p>
        </p:txBody>
      </p:sp>
      <p:sp>
        <p:nvSpPr>
          <p:cNvPr id="73" name="任意多边形 72"/>
          <p:cNvSpPr/>
          <p:nvPr/>
        </p:nvSpPr>
        <p:spPr bwMode="auto">
          <a:xfrm>
            <a:off x="5607495" y="2022624"/>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74" name="矩形 73"/>
          <p:cNvSpPr>
            <a:spLocks noChangeArrowheads="1"/>
          </p:cNvSpPr>
          <p:nvPr/>
        </p:nvSpPr>
        <p:spPr bwMode="auto">
          <a:xfrm>
            <a:off x="5823519" y="2079774"/>
            <a:ext cx="18293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4. </a:t>
            </a:r>
            <a:r>
              <a:rPr lang="zh-CN" altLang="en-US" dirty="0" smtClean="0">
                <a:solidFill>
                  <a:schemeClr val="bg1"/>
                </a:solidFill>
                <a:latin typeface="微软雅黑" panose="020B0503020204020204" pitchFamily="34" charset="-122"/>
                <a:ea typeface="微软雅黑" panose="020B0503020204020204" pitchFamily="34" charset="-122"/>
              </a:rPr>
              <a:t>通配符选择器</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6"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1.2.3  CSS</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选择器和常用属性</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up)">
                                      <p:cBhvr>
                                        <p:cTn id="23" dur="500"/>
                                        <p:tgtEl>
                                          <p:spTgt spid="3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5"/>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3"/>
                                        </p:tgtEl>
                                        <p:attrNameLst>
                                          <p:attrName>style.visibility</p:attrName>
                                        </p:attrNameLst>
                                      </p:cBhvr>
                                      <p:to>
                                        <p:strVal val="hidden"/>
                                      </p:to>
                                    </p:set>
                                  </p:childTnLst>
                                </p:cTn>
                              </p:par>
                              <p:par>
                                <p:cTn id="30" presetID="1" presetClass="exit" presetSubtype="0" fill="hold" grpId="1" nodeType="withEffect">
                                  <p:stCondLst>
                                    <p:cond delay="0"/>
                                  </p:stCondLst>
                                  <p:childTnLst>
                                    <p:set>
                                      <p:cBhvr>
                                        <p:cTn id="31" dur="1" fill="hold">
                                          <p:stCondLst>
                                            <p:cond delay="0"/>
                                          </p:stCondLst>
                                        </p:cTn>
                                        <p:tgtEl>
                                          <p:spTgt spid="6"/>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7"/>
                                        </p:tgtEl>
                                        <p:attrNameLst>
                                          <p:attrName>style.visibility</p:attrName>
                                        </p:attrNameLst>
                                      </p:cBhvr>
                                      <p:to>
                                        <p:strVal val="hidden"/>
                                      </p:to>
                                    </p:set>
                                  </p:childTnLst>
                                </p:cTn>
                              </p:par>
                              <p:par>
                                <p:cTn id="34" presetID="1" presetClass="exit" presetSubtype="0" fill="hold" grpId="1" nodeType="withEffect">
                                  <p:stCondLst>
                                    <p:cond delay="0"/>
                                  </p:stCondLst>
                                  <p:childTnLst>
                                    <p:set>
                                      <p:cBhvr>
                                        <p:cTn id="35" dur="1" fill="hold">
                                          <p:stCondLst>
                                            <p:cond delay="0"/>
                                          </p:stCondLst>
                                        </p:cTn>
                                        <p:tgtEl>
                                          <p:spTgt spid="4"/>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34"/>
                                        </p:tgtEl>
                                        <p:attrNameLst>
                                          <p:attrName>style.visibility</p:attrName>
                                        </p:attrNameLst>
                                      </p:cBhvr>
                                      <p:to>
                                        <p:strVal val="hidden"/>
                                      </p:to>
                                    </p:set>
                                  </p:childTnLst>
                                </p:cTn>
                              </p:par>
                            </p:childTnLst>
                          </p:cTn>
                        </p:par>
                        <p:par>
                          <p:cTn id="38" fill="hold">
                            <p:stCondLst>
                              <p:cond delay="0"/>
                            </p:stCondLst>
                            <p:childTnLst>
                              <p:par>
                                <p:cTn id="39" presetID="22" presetClass="entr" presetSubtype="8" fill="hold" grpId="0" nodeType="afterEffect">
                                  <p:stCondLst>
                                    <p:cond delay="0"/>
                                  </p:stCondLst>
                                  <p:childTnLst>
                                    <p:set>
                                      <p:cBhvr>
                                        <p:cTn id="40" dur="1" fill="hold">
                                          <p:stCondLst>
                                            <p:cond delay="0"/>
                                          </p:stCondLst>
                                        </p:cTn>
                                        <p:tgtEl>
                                          <p:spTgt spid="63"/>
                                        </p:tgtEl>
                                        <p:attrNameLst>
                                          <p:attrName>style.visibility</p:attrName>
                                        </p:attrNameLst>
                                      </p:cBhvr>
                                      <p:to>
                                        <p:strVal val="visible"/>
                                      </p:to>
                                    </p:set>
                                    <p:animEffect transition="in" filter="wipe(left)">
                                      <p:cBhvr>
                                        <p:cTn id="41" dur="500"/>
                                        <p:tgtEl>
                                          <p:spTgt spid="63"/>
                                        </p:tgtEl>
                                      </p:cBhvr>
                                    </p:animEffect>
                                  </p:childTnLst>
                                </p:cTn>
                              </p:par>
                              <p:par>
                                <p:cTn id="42" presetID="22" presetClass="entr" presetSubtype="8"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left)">
                                      <p:cBhvr>
                                        <p:cTn id="44" dur="500"/>
                                        <p:tgtEl>
                                          <p:spTgt spid="5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wipe(left)">
                                      <p:cBhvr>
                                        <p:cTn id="47" dur="500"/>
                                        <p:tgtEl>
                                          <p:spTgt spid="59"/>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wipe(left)">
                                      <p:cBhvr>
                                        <p:cTn id="50" dur="500"/>
                                        <p:tgtEl>
                                          <p:spTgt spid="60"/>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wipe(left)">
                                      <p:cBhvr>
                                        <p:cTn id="53" dur="500"/>
                                        <p:tgtEl>
                                          <p:spTgt spid="62"/>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wipe(up)">
                                      <p:cBhvr>
                                        <p:cTn id="57" dur="500"/>
                                        <p:tgtEl>
                                          <p:spTgt spid="61"/>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63"/>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58"/>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59"/>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60"/>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62"/>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61"/>
                                        </p:tgtEl>
                                        <p:attrNameLst>
                                          <p:attrName>style.visibility</p:attrName>
                                        </p:attrNameLst>
                                      </p:cBhvr>
                                      <p:to>
                                        <p:strVal val="hidden"/>
                                      </p:to>
                                    </p:set>
                                  </p:childTnLst>
                                </p:cTn>
                              </p:par>
                            </p:childTnLst>
                          </p:cTn>
                        </p:par>
                        <p:par>
                          <p:cTn id="72" fill="hold">
                            <p:stCondLst>
                              <p:cond delay="0"/>
                            </p:stCondLst>
                            <p:childTnLst>
                              <p:par>
                                <p:cTn id="73" presetID="22" presetClass="entr" presetSubtype="8" fill="hold" nodeType="after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wipe(left)">
                                      <p:cBhvr>
                                        <p:cTn id="75" dur="500"/>
                                        <p:tgtEl>
                                          <p:spTgt spid="64"/>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wipe(left)">
                                      <p:cBhvr>
                                        <p:cTn id="78" dur="500"/>
                                        <p:tgtEl>
                                          <p:spTgt spid="65"/>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66"/>
                                        </p:tgtEl>
                                        <p:attrNameLst>
                                          <p:attrName>style.visibility</p:attrName>
                                        </p:attrNameLst>
                                      </p:cBhvr>
                                      <p:to>
                                        <p:strVal val="visible"/>
                                      </p:to>
                                    </p:set>
                                    <p:animEffect transition="in" filter="wipe(left)">
                                      <p:cBhvr>
                                        <p:cTn id="81" dur="500"/>
                                        <p:tgtEl>
                                          <p:spTgt spid="66"/>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68"/>
                                        </p:tgtEl>
                                        <p:attrNameLst>
                                          <p:attrName>style.visibility</p:attrName>
                                        </p:attrNameLst>
                                      </p:cBhvr>
                                      <p:to>
                                        <p:strVal val="visible"/>
                                      </p:to>
                                    </p:set>
                                    <p:animEffect transition="in" filter="wipe(left)">
                                      <p:cBhvr>
                                        <p:cTn id="84" dur="500"/>
                                        <p:tgtEl>
                                          <p:spTgt spid="68"/>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animEffect transition="in" filter="wipe(left)">
                                      <p:cBhvr>
                                        <p:cTn id="87" dur="500"/>
                                        <p:tgtEl>
                                          <p:spTgt spid="69"/>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67"/>
                                        </p:tgtEl>
                                        <p:attrNameLst>
                                          <p:attrName>style.visibility</p:attrName>
                                        </p:attrNameLst>
                                      </p:cBhvr>
                                      <p:to>
                                        <p:strVal val="visible"/>
                                      </p:to>
                                    </p:set>
                                    <p:animEffect transition="in" filter="wipe(up)">
                                      <p:cBhvr>
                                        <p:cTn id="91" dur="500"/>
                                        <p:tgtEl>
                                          <p:spTgt spid="6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nodeType="clickEffect">
                                  <p:stCondLst>
                                    <p:cond delay="0"/>
                                  </p:stCondLst>
                                  <p:childTnLst>
                                    <p:set>
                                      <p:cBhvr>
                                        <p:cTn id="95" dur="1" fill="hold">
                                          <p:stCondLst>
                                            <p:cond delay="0"/>
                                          </p:stCondLst>
                                        </p:cTn>
                                        <p:tgtEl>
                                          <p:spTgt spid="64"/>
                                        </p:tgtEl>
                                        <p:attrNameLst>
                                          <p:attrName>style.visibility</p:attrName>
                                        </p:attrNameLst>
                                      </p:cBhvr>
                                      <p:to>
                                        <p:strVal val="hidden"/>
                                      </p:to>
                                    </p:set>
                                  </p:childTnLst>
                                </p:cTn>
                              </p:par>
                              <p:par>
                                <p:cTn id="96" presetID="1" presetClass="exit" presetSubtype="0" fill="hold" grpId="1" nodeType="withEffect">
                                  <p:stCondLst>
                                    <p:cond delay="0"/>
                                  </p:stCondLst>
                                  <p:childTnLst>
                                    <p:set>
                                      <p:cBhvr>
                                        <p:cTn id="97" dur="1" fill="hold">
                                          <p:stCondLst>
                                            <p:cond delay="0"/>
                                          </p:stCondLst>
                                        </p:cTn>
                                        <p:tgtEl>
                                          <p:spTgt spid="65"/>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66"/>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68"/>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69"/>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67"/>
                                        </p:tgtEl>
                                        <p:attrNameLst>
                                          <p:attrName>style.visibility</p:attrName>
                                        </p:attrNameLst>
                                      </p:cBhvr>
                                      <p:to>
                                        <p:strVal val="hidden"/>
                                      </p:to>
                                    </p:set>
                                  </p:childTnLst>
                                </p:cTn>
                              </p:par>
                            </p:childTnLst>
                          </p:cTn>
                        </p:par>
                        <p:par>
                          <p:cTn id="106" fill="hold">
                            <p:stCondLst>
                              <p:cond delay="0"/>
                            </p:stCondLst>
                            <p:childTnLst>
                              <p:par>
                                <p:cTn id="107" presetID="22" presetClass="entr" presetSubtype="8" fill="hold" grpId="0" nodeType="afterEffect">
                                  <p:stCondLst>
                                    <p:cond delay="0"/>
                                  </p:stCondLst>
                                  <p:childTnLst>
                                    <p:set>
                                      <p:cBhvr>
                                        <p:cTn id="108" dur="1" fill="hold">
                                          <p:stCondLst>
                                            <p:cond delay="0"/>
                                          </p:stCondLst>
                                        </p:cTn>
                                        <p:tgtEl>
                                          <p:spTgt spid="71"/>
                                        </p:tgtEl>
                                        <p:attrNameLst>
                                          <p:attrName>style.visibility</p:attrName>
                                        </p:attrNameLst>
                                      </p:cBhvr>
                                      <p:to>
                                        <p:strVal val="visible"/>
                                      </p:to>
                                    </p:set>
                                    <p:animEffect transition="in" filter="wipe(left)">
                                      <p:cBhvr>
                                        <p:cTn id="109" dur="500"/>
                                        <p:tgtEl>
                                          <p:spTgt spid="7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wipe(left)">
                                      <p:cBhvr>
                                        <p:cTn id="112" dur="500"/>
                                        <p:tgtEl>
                                          <p:spTgt spid="72"/>
                                        </p:tgtEl>
                                      </p:cBhvr>
                                    </p:animEffect>
                                  </p:childTnLst>
                                </p:cTn>
                              </p:par>
                              <p:par>
                                <p:cTn id="113" presetID="22" presetClass="entr" presetSubtype="8" fill="hold" nodeType="with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wipe(left)">
                                      <p:cBhvr>
                                        <p:cTn id="115" dur="500"/>
                                        <p:tgtEl>
                                          <p:spTgt spid="70"/>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74"/>
                                        </p:tgtEl>
                                        <p:attrNameLst>
                                          <p:attrName>style.visibility</p:attrName>
                                        </p:attrNameLst>
                                      </p:cBhvr>
                                      <p:to>
                                        <p:strVal val="visible"/>
                                      </p:to>
                                    </p:set>
                                    <p:animEffect transition="in" filter="wipe(left)">
                                      <p:cBhvr>
                                        <p:cTn id="118" dur="500"/>
                                        <p:tgtEl>
                                          <p:spTgt spid="74"/>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73"/>
                                        </p:tgtEl>
                                        <p:attrNameLst>
                                          <p:attrName>style.visibility</p:attrName>
                                        </p:attrNameLst>
                                      </p:cBhvr>
                                      <p:to>
                                        <p:strVal val="visible"/>
                                      </p:to>
                                    </p:set>
                                    <p:animEffect transition="in" filter="wipe(left)">
                                      <p:cBhvr>
                                        <p:cTn id="12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p:bldP spid="5" grpId="1"/>
      <p:bldP spid="6" grpId="0"/>
      <p:bldP spid="6" grpId="1"/>
      <p:bldP spid="7" grpId="0" animBg="1"/>
      <p:bldP spid="7" grpId="1" animBg="1"/>
      <p:bldP spid="34" grpId="0" animBg="1"/>
      <p:bldP spid="34" grpId="1" animBg="1"/>
      <p:bldP spid="59" grpId="0"/>
      <p:bldP spid="59" grpId="1"/>
      <p:bldP spid="60" grpId="0" animBg="1"/>
      <p:bldP spid="60" grpId="1" animBg="1"/>
      <p:bldP spid="61" grpId="0" animBg="1"/>
      <p:bldP spid="61" grpId="1" animBg="1"/>
      <p:bldP spid="62" grpId="0" animBg="1"/>
      <p:bldP spid="62" grpId="1" animBg="1"/>
      <p:bldP spid="63" grpId="0"/>
      <p:bldP spid="63" grpId="1"/>
      <p:bldP spid="65" grpId="0"/>
      <p:bldP spid="65" grpId="1"/>
      <p:bldP spid="66" grpId="0" animBg="1"/>
      <p:bldP spid="66" grpId="1" animBg="1"/>
      <p:bldP spid="67" grpId="0" animBg="1"/>
      <p:bldP spid="67" grpId="1" animBg="1"/>
      <p:bldP spid="68" grpId="0" animBg="1"/>
      <p:bldP spid="68" grpId="1" animBg="1"/>
      <p:bldP spid="69" grpId="0"/>
      <p:bldP spid="69" grpId="1"/>
      <p:bldP spid="71" grpId="0"/>
      <p:bldP spid="72" grpId="0" animBg="1"/>
      <p:bldP spid="73" grpId="0" animBg="1"/>
      <p:bldP spid="7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95536" y="1889295"/>
          <a:ext cx="8280920" cy="4024018"/>
        </p:xfrm>
        <a:graphic>
          <a:graphicData uri="http://schemas.openxmlformats.org/drawingml/2006/table">
            <a:tbl>
              <a:tblPr firstRow="1" bandRow="1">
                <a:tableStyleId>{B301B821-A1FF-4177-AEE7-76D212191A09}</a:tableStyleId>
              </a:tblPr>
              <a:tblGrid>
                <a:gridCol w="2070230"/>
                <a:gridCol w="6210690"/>
              </a:tblGrid>
              <a:tr h="34666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dirty="0" smtClean="0"/>
                        <a:t>属性名称</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ctr"/>
                      <a:r>
                        <a:rPr lang="zh-CN" altLang="en-US" sz="2000" smtClean="0"/>
                        <a:t>功能描述</a:t>
                      </a:r>
                      <a:r>
                        <a:rPr lang="en-US" altLang="zh-CN" sz="2000" smtClean="0"/>
                        <a:t> </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55337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margin</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用于指定对象的外边距，也就是对象与对象之间的距离。该属性可指定</a:t>
                      </a:r>
                      <a:r>
                        <a:rPr lang="en-US" altLang="zh-CN" sz="1600" kern="1200" dirty="0" smtClean="0">
                          <a:solidFill>
                            <a:schemeClr val="dk1"/>
                          </a:solidFill>
                          <a:effectLst/>
                          <a:latin typeface="+mn-lt"/>
                          <a:ea typeface="+mn-ea"/>
                          <a:cs typeface="+mn-cs"/>
                        </a:rPr>
                        <a:t>1~4</a:t>
                      </a:r>
                      <a:r>
                        <a:rPr lang="zh-CN" altLang="zh-CN" sz="1600" kern="1200" dirty="0" smtClean="0">
                          <a:solidFill>
                            <a:schemeClr val="dk1"/>
                          </a:solidFill>
                          <a:effectLst/>
                          <a:latin typeface="+mn-lt"/>
                          <a:ea typeface="+mn-ea"/>
                          <a:cs typeface="+mn-cs"/>
                        </a:rPr>
                        <a:t>个属性值，各属性值以空格分隔</a:t>
                      </a:r>
                      <a:endParaRPr lang="zh-CN" altLang="en-US" sz="1800" dirty="0">
                        <a:solidFill>
                          <a:schemeClr val="tx1"/>
                        </a:solidFill>
                      </a:endParaRPr>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55337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padding</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用于指定对象的内边距，也就是对象的内容与对象边框之间的距离。该属性可指定</a:t>
                      </a:r>
                      <a:r>
                        <a:rPr lang="en-US" altLang="zh-CN" sz="1600" kern="1200" dirty="0" smtClean="0">
                          <a:solidFill>
                            <a:schemeClr val="dk1"/>
                          </a:solidFill>
                          <a:effectLst/>
                          <a:latin typeface="+mn-lt"/>
                          <a:ea typeface="+mn-ea"/>
                          <a:cs typeface="+mn-cs"/>
                        </a:rPr>
                        <a:t>1~4</a:t>
                      </a:r>
                      <a:r>
                        <a:rPr lang="zh-CN" altLang="zh-CN" sz="1600" kern="1200" dirty="0" smtClean="0">
                          <a:solidFill>
                            <a:schemeClr val="dk1"/>
                          </a:solidFill>
                          <a:effectLst/>
                          <a:latin typeface="+mn-lt"/>
                          <a:ea typeface="+mn-ea"/>
                          <a:cs typeface="+mn-cs"/>
                        </a:rPr>
                        <a:t>个属性值，各属性值以空格分隔</a:t>
                      </a:r>
                      <a:endParaRPr lang="zh-CN" altLang="en-US"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79049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background</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用于设置背景颜色、背景图片、背景图片的排列方式、是否固定背景图片和背景图片的位置。该属性可指定多个属性值，各属性值以空格分隔，没有先后顺序</a:t>
                      </a:r>
                      <a:endParaRPr lang="zh-CN" altLang="en-US"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31624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font-family</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规定元素的字体系列</a:t>
                      </a:r>
                      <a:endParaRPr lang="zh-CN" altLang="en-US"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55337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border</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用于设置边框的宽度、边框的样式和边框的颜色。该属性可以指定多个属性值，各属性值以空格分隔，没有先后顺序</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56554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kern="1200" dirty="0" smtClean="0">
                          <a:solidFill>
                            <a:schemeClr val="dk1"/>
                          </a:solidFill>
                          <a:effectLst/>
                          <a:latin typeface="+mn-lt"/>
                          <a:ea typeface="+mn-ea"/>
                          <a:cs typeface="+mn-cs"/>
                        </a:rPr>
                        <a:t>font</a:t>
                      </a:r>
                      <a:endParaRPr lang="en-US" altLang="zh-CN" sz="2400" dirty="0" smtClean="0"/>
                    </a:p>
                    <a:p>
                      <a:pPr marL="0" marR="0" indent="0" algn="ctr" defTabSz="914400" rtl="0" eaLnBrk="1" fontAlgn="auto" latinLnBrk="0" hangingPunct="1">
                        <a:lnSpc>
                          <a:spcPct val="100000"/>
                        </a:lnSpc>
                        <a:spcBef>
                          <a:spcPts val="0"/>
                        </a:spcBef>
                        <a:spcAft>
                          <a:spcPts val="0"/>
                        </a:spcAft>
                        <a:buClrTx/>
                        <a:buSzTx/>
                        <a:buFontTx/>
                        <a:buNone/>
                        <a:defRPr/>
                      </a:pP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600" kern="1200" dirty="0" smtClean="0">
                          <a:solidFill>
                            <a:schemeClr val="dk1"/>
                          </a:solidFill>
                          <a:effectLst/>
                          <a:latin typeface="+mn-lt"/>
                          <a:ea typeface="+mn-ea"/>
                          <a:cs typeface="+mn-cs"/>
                        </a:rPr>
                        <a:t>用于设置字体样式、小型的大写字体、字体粗细、文字的大小、行高和文字的字体</a:t>
                      </a:r>
                      <a:endParaRPr lang="zh-CN" altLang="en-US" sz="1600" dirty="0" smtClean="0">
                        <a:solidFill>
                          <a:schemeClr val="tx1"/>
                        </a:solidFill>
                      </a:endParaRPr>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9" name="内容占位符 2"/>
          <p:cNvSpPr txBox="1"/>
          <p:nvPr/>
        </p:nvSpPr>
        <p:spPr bwMode="auto">
          <a:xfrm>
            <a:off x="323528" y="1340768"/>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zh-CN" sz="2000" b="1" kern="0" dirty="0">
                <a:solidFill>
                  <a:srgbClr val="0070C0"/>
                </a:solidFill>
                <a:latin typeface="Arial" panose="020B0604020202020204"/>
                <a:ea typeface="宋体" panose="02010600030101010101" pitchFamily="2" charset="-122"/>
              </a:rPr>
              <a:t>常用的</a:t>
            </a:r>
            <a:r>
              <a:rPr lang="en-US" altLang="zh-CN" sz="2000" b="1" kern="0" dirty="0">
                <a:solidFill>
                  <a:srgbClr val="0070C0"/>
                </a:solidFill>
                <a:latin typeface="Arial" panose="020B0604020202020204"/>
                <a:ea typeface="宋体" panose="02010600030101010101" pitchFamily="2" charset="-122"/>
              </a:rPr>
              <a:t>CSS</a:t>
            </a:r>
            <a:r>
              <a:rPr lang="zh-CN" altLang="zh-CN" sz="2000" b="1" kern="0" dirty="0">
                <a:solidFill>
                  <a:srgbClr val="0070C0"/>
                </a:solidFill>
                <a:latin typeface="Arial" panose="020B0604020202020204"/>
                <a:ea typeface="宋体" panose="02010600030101010101" pitchFamily="2" charset="-122"/>
              </a:rPr>
              <a:t>属性</a:t>
            </a:r>
            <a:endParaRPr lang="en-US" altLang="zh-CN" sz="2000" b="1" kern="0" dirty="0">
              <a:solidFill>
                <a:srgbClr val="0070C0"/>
              </a:solidFill>
              <a:latin typeface="Arial" panose="020B0604020202020204"/>
              <a:ea typeface="宋体" panose="02010600030101010101" pitchFamily="2" charset="-122"/>
            </a:endParaRPr>
          </a:p>
          <a:p>
            <a:pPr lvl="1">
              <a:lnSpc>
                <a:spcPct val="150000"/>
              </a:lnSpc>
              <a:spcBef>
                <a:spcPct val="20000"/>
              </a:spcBef>
              <a:buFontTx/>
              <a:buChar char="–"/>
            </a:pPr>
            <a:endParaRPr lang="en-US" altLang="zh-CN" sz="2400" dirty="0"/>
          </a:p>
        </p:txBody>
      </p:sp>
      <p:graphicFrame>
        <p:nvGraphicFramePr>
          <p:cNvPr id="11" name="表格 10"/>
          <p:cNvGraphicFramePr>
            <a:graphicFrameLocks noGrp="1"/>
          </p:cNvGraphicFramePr>
          <p:nvPr/>
        </p:nvGraphicFramePr>
        <p:xfrm>
          <a:off x="386408" y="1880865"/>
          <a:ext cx="8280920" cy="3862112"/>
        </p:xfrm>
        <a:graphic>
          <a:graphicData uri="http://schemas.openxmlformats.org/drawingml/2006/table">
            <a:tbl>
              <a:tblPr firstRow="1" bandRow="1">
                <a:tableStyleId>{B301B821-A1FF-4177-AEE7-76D212191A09}</a:tableStyleId>
              </a:tblPr>
              <a:tblGrid>
                <a:gridCol w="2070230"/>
                <a:gridCol w="6210690"/>
              </a:tblGrid>
              <a:tr h="35928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dirty="0" smtClean="0"/>
                        <a:t>属性名称</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ctr"/>
                      <a:r>
                        <a:rPr lang="zh-CN" altLang="en-US" sz="2000" dirty="0" smtClean="0"/>
                        <a:t>功能描述</a:t>
                      </a:r>
                      <a:endParaRPr lang="en-US" altLang="zh-CN" sz="20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4250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height</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用于指定对象的高度</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60717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line-height</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用于设置行间距，所谓行间距就是行与行之间的距离，即字符的垂直间距，一般称为行高</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33165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color</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用于指定文本的颜色</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4250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text-align</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用于指定文本的对齐方式</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74612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text-decoration</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用于指定文本的显示样式，其属性值包括</a:t>
                      </a:r>
                      <a:r>
                        <a:rPr lang="en-US" altLang="zh-CN" sz="1600" kern="1200" dirty="0" smtClean="0">
                          <a:solidFill>
                            <a:schemeClr val="dk1"/>
                          </a:solidFill>
                          <a:effectLst/>
                          <a:latin typeface="+mn-lt"/>
                          <a:ea typeface="+mn-ea"/>
                          <a:cs typeface="+mn-cs"/>
                        </a:rPr>
                        <a:t>line-through</a:t>
                      </a:r>
                      <a:r>
                        <a:rPr lang="zh-CN" altLang="zh-CN" sz="1600" kern="1200" dirty="0" smtClean="0">
                          <a:solidFill>
                            <a:schemeClr val="dk1"/>
                          </a:solidFill>
                          <a:effectLst/>
                          <a:latin typeface="+mn-lt"/>
                          <a:ea typeface="+mn-ea"/>
                          <a:cs typeface="+mn-cs"/>
                        </a:rPr>
                        <a:t>（删除线）、</a:t>
                      </a:r>
                      <a:r>
                        <a:rPr lang="en-US" altLang="zh-CN" sz="1600" kern="1200" dirty="0" err="1" smtClean="0">
                          <a:solidFill>
                            <a:schemeClr val="dk1"/>
                          </a:solidFill>
                          <a:effectLst/>
                          <a:latin typeface="+mn-lt"/>
                          <a:ea typeface="+mn-ea"/>
                          <a:cs typeface="+mn-cs"/>
                        </a:rPr>
                        <a:t>overline</a:t>
                      </a:r>
                      <a:r>
                        <a:rPr lang="zh-CN" altLang="zh-CN" sz="1600" kern="1200" dirty="0" smtClean="0">
                          <a:solidFill>
                            <a:schemeClr val="dk1"/>
                          </a:solidFill>
                          <a:effectLst/>
                          <a:latin typeface="+mn-lt"/>
                          <a:ea typeface="+mn-ea"/>
                          <a:cs typeface="+mn-cs"/>
                        </a:rPr>
                        <a:t>（上划线）、</a:t>
                      </a:r>
                      <a:r>
                        <a:rPr lang="en-US" altLang="zh-CN" sz="1600" kern="1200" dirty="0" smtClean="0">
                          <a:solidFill>
                            <a:schemeClr val="dk1"/>
                          </a:solidFill>
                          <a:effectLst/>
                          <a:latin typeface="+mn-lt"/>
                          <a:ea typeface="+mn-ea"/>
                          <a:cs typeface="+mn-cs"/>
                        </a:rPr>
                        <a:t>underline</a:t>
                      </a:r>
                      <a:r>
                        <a:rPr lang="zh-CN" altLang="zh-CN" sz="1600" kern="1200" dirty="0" smtClean="0">
                          <a:solidFill>
                            <a:schemeClr val="dk1"/>
                          </a:solidFill>
                          <a:effectLst/>
                          <a:latin typeface="+mn-lt"/>
                          <a:ea typeface="+mn-ea"/>
                          <a:cs typeface="+mn-cs"/>
                        </a:rPr>
                        <a:t>（下划线）、</a:t>
                      </a:r>
                      <a:r>
                        <a:rPr lang="en-US" altLang="zh-CN" sz="1600" kern="1200" dirty="0" smtClean="0">
                          <a:solidFill>
                            <a:schemeClr val="dk1"/>
                          </a:solidFill>
                          <a:effectLst/>
                          <a:latin typeface="+mn-lt"/>
                          <a:ea typeface="+mn-ea"/>
                          <a:cs typeface="+mn-cs"/>
                        </a:rPr>
                        <a:t>blink</a:t>
                      </a:r>
                      <a:r>
                        <a:rPr lang="zh-CN" altLang="zh-CN" sz="1600" kern="1200" dirty="0" smtClean="0">
                          <a:solidFill>
                            <a:schemeClr val="dk1"/>
                          </a:solidFill>
                          <a:effectLst/>
                          <a:latin typeface="+mn-lt"/>
                          <a:ea typeface="+mn-ea"/>
                          <a:cs typeface="+mn-cs"/>
                        </a:rPr>
                        <a:t>（闪烁效果，</a:t>
                      </a:r>
                      <a:r>
                        <a:rPr lang="en-US" altLang="zh-CN" sz="1600" kern="1200" dirty="0" smtClean="0">
                          <a:solidFill>
                            <a:schemeClr val="dk1"/>
                          </a:solidFill>
                          <a:effectLst/>
                          <a:latin typeface="+mn-lt"/>
                          <a:ea typeface="+mn-ea"/>
                          <a:cs typeface="+mn-cs"/>
                        </a:rPr>
                        <a:t>Firefox</a:t>
                      </a:r>
                      <a:r>
                        <a:rPr lang="zh-CN" altLang="zh-CN" sz="1600" kern="1200" dirty="0" smtClean="0">
                          <a:solidFill>
                            <a:schemeClr val="dk1"/>
                          </a:solidFill>
                          <a:effectLst/>
                          <a:latin typeface="+mn-lt"/>
                          <a:ea typeface="+mn-ea"/>
                          <a:cs typeface="+mn-cs"/>
                        </a:rPr>
                        <a:t>和</a:t>
                      </a:r>
                      <a:r>
                        <a:rPr lang="en-US" altLang="zh-CN" sz="1600" kern="1200" dirty="0" smtClean="0">
                          <a:solidFill>
                            <a:schemeClr val="dk1"/>
                          </a:solidFill>
                          <a:effectLst/>
                          <a:latin typeface="+mn-lt"/>
                          <a:ea typeface="+mn-ea"/>
                          <a:cs typeface="+mn-cs"/>
                        </a:rPr>
                        <a:t>Opera</a:t>
                      </a:r>
                      <a:r>
                        <a:rPr lang="zh-CN" altLang="zh-CN" sz="1600" kern="1200" dirty="0" smtClean="0">
                          <a:solidFill>
                            <a:schemeClr val="dk1"/>
                          </a:solidFill>
                          <a:effectLst/>
                          <a:latin typeface="+mn-lt"/>
                          <a:ea typeface="+mn-ea"/>
                          <a:cs typeface="+mn-cs"/>
                        </a:rPr>
                        <a:t>可以看到效果）和</a:t>
                      </a:r>
                      <a:r>
                        <a:rPr lang="en-US" altLang="zh-CN" sz="1600" kern="1200" dirty="0" smtClean="0">
                          <a:solidFill>
                            <a:schemeClr val="dk1"/>
                          </a:solidFill>
                          <a:effectLst/>
                          <a:latin typeface="+mn-lt"/>
                          <a:ea typeface="+mn-ea"/>
                          <a:cs typeface="+mn-cs"/>
                        </a:rPr>
                        <a:t>none</a:t>
                      </a:r>
                      <a:r>
                        <a:rPr lang="zh-CN" altLang="zh-CN" sz="1600" kern="1200" dirty="0" smtClean="0">
                          <a:solidFill>
                            <a:schemeClr val="dk1"/>
                          </a:solidFill>
                          <a:effectLst/>
                          <a:latin typeface="+mn-lt"/>
                          <a:ea typeface="+mn-ea"/>
                          <a:cs typeface="+mn-cs"/>
                        </a:rPr>
                        <a:t>（无效果）等</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4250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vertical-align</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用于设置元素的垂直对齐方式</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r h="4250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mn-lt"/>
                          <a:ea typeface="+mn-ea"/>
                          <a:cs typeface="+mn-cs"/>
                        </a:rPr>
                        <a:t>display</a:t>
                      </a:r>
                      <a:endParaRPr lang="en-US" altLang="zh-CN" sz="18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r>
                        <a:rPr lang="zh-CN" altLang="zh-CN" sz="1600" kern="1200" dirty="0" smtClean="0">
                          <a:solidFill>
                            <a:schemeClr val="dk1"/>
                          </a:solidFill>
                          <a:effectLst/>
                          <a:latin typeface="+mn-lt"/>
                          <a:ea typeface="+mn-ea"/>
                          <a:cs typeface="+mn-cs"/>
                        </a:rPr>
                        <a:t>用于指定对象的显示形式</a:t>
                      </a:r>
                      <a:endParaRPr lang="zh-CN" altLang="en-US" sz="1600" dirty="0" smtClean="0"/>
                    </a:p>
                  </a:txBody>
                  <a:tcPr marL="91432" marR="91432" marT="45767" marB="45767" anchor="ctr">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7"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1.2.3  CSS</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选择器和常用属性</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1" fill="hold" nodeType="clickEffect">
                                  <p:stCondLst>
                                    <p:cond delay="0"/>
                                  </p:stCondLst>
                                  <p:childTnLst>
                                    <p:animEffect transition="out" filter="wipe(up)">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215802" y="3341456"/>
            <a:ext cx="4495403"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571625"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anose="020B0806030902050204" pitchFamily="34" charset="0"/>
                <a:ea typeface="微软雅黑" panose="020B0503020204020204" pitchFamily="34" charset="-122"/>
              </a:rPr>
              <a:t>1.4</a:t>
            </a:r>
            <a:r>
              <a:rPr lang="en-US" altLang="zh-CN" sz="2400" dirty="0" smtClean="0">
                <a:solidFill>
                  <a:srgbClr val="CD1F06"/>
                </a:solidFill>
                <a:latin typeface="Impact" panose="020B0806030902050204" pitchFamily="34" charset="0"/>
                <a:ea typeface="微软雅黑" panose="020B0503020204020204" pitchFamily="34" charset="-122"/>
              </a:rPr>
              <a:t>    </a:t>
            </a:r>
            <a:r>
              <a:rPr lang="zh-CN" altLang="en-US" sz="2400" dirty="0" smtClean="0">
                <a:solidFill>
                  <a:srgbClr val="7F7F7F"/>
                </a:solidFill>
                <a:latin typeface="Impact" panose="020B0806030902050204" pitchFamily="34" charset="0"/>
                <a:ea typeface="微软雅黑" panose="020B0503020204020204" pitchFamily="34" charset="-122"/>
              </a:rPr>
              <a:t>阶段案例</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5" name="TextBox 10"/>
          <p:cNvSpPr txBox="1"/>
          <p:nvPr/>
        </p:nvSpPr>
        <p:spPr>
          <a:xfrm>
            <a:off x="1571625" y="2723631"/>
            <a:ext cx="3360415"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anose="020B0806030902050204" pitchFamily="34" charset="0"/>
                <a:ea typeface="微软雅黑" panose="020B0503020204020204" pitchFamily="34" charset="-122"/>
              </a:rPr>
              <a:t>1.2    CSS</a:t>
            </a:r>
            <a:r>
              <a:rPr lang="zh-CN" altLang="en-US" sz="2400" dirty="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6" name="TextBox 11"/>
          <p:cNvSpPr txBox="1"/>
          <p:nvPr/>
        </p:nvSpPr>
        <p:spPr>
          <a:xfrm>
            <a:off x="1571625" y="3467714"/>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anose="020B0806030902050204" pitchFamily="34" charset="0"/>
                <a:ea typeface="微软雅黑" panose="020B0503020204020204" pitchFamily="34" charset="-122"/>
              </a:rPr>
              <a:t>1.3    JavaScript</a:t>
            </a:r>
            <a:r>
              <a:rPr lang="zh-CN" altLang="en-US" sz="2400" dirty="0" smtClean="0">
                <a:solidFill>
                  <a:schemeClr val="bg1"/>
                </a:solidFill>
                <a:latin typeface="Impact" panose="020B0806030902050204" pitchFamily="34" charset="0"/>
                <a:ea typeface="微软雅黑" panose="020B0503020204020204" pitchFamily="34" charset="-122"/>
              </a:rPr>
              <a:t>基础</a:t>
            </a:r>
            <a:endParaRPr lang="zh-CN" altLang="en-US" sz="2400" dirty="0">
              <a:solidFill>
                <a:schemeClr val="bg1"/>
              </a:solidFill>
              <a:latin typeface="Impact" panose="020B0806030902050204" pitchFamily="34" charset="0"/>
              <a:ea typeface="微软雅黑" panose="020B0503020204020204"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anose="020B0503020204020204" pitchFamily="34" charset="-122"/>
                <a:ea typeface="微软雅黑" panose="020B0503020204020204" pitchFamily="34" charset="-122"/>
              </a:rPr>
              <a:t>主讲内容</a:t>
            </a:r>
            <a:endParaRPr lang="en-US" altLang="zh-CN" sz="5400" b="1" dirty="0" smtClean="0">
              <a:solidFill>
                <a:srgbClr val="F2F2E6"/>
              </a:solidFill>
              <a:latin typeface="微软雅黑" panose="020B0503020204020204" pitchFamily="34" charset="-122"/>
              <a:ea typeface="微软雅黑" panose="020B0503020204020204" pitchFamily="34" charset="-122"/>
            </a:endParaRPr>
          </a:p>
          <a:p>
            <a:pPr algn="ctr"/>
            <a:r>
              <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endParaRPr>
          </a:p>
        </p:txBody>
      </p:sp>
      <p:sp>
        <p:nvSpPr>
          <p:cNvPr id="12" name="TextBox 6"/>
          <p:cNvSpPr txBox="1"/>
          <p:nvPr/>
        </p:nvSpPr>
        <p:spPr>
          <a:xfrm>
            <a:off x="1571625"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anose="020B0806030902050204" pitchFamily="34" charset="0"/>
                <a:ea typeface="微软雅黑" panose="020B0503020204020204" pitchFamily="34" charset="-122"/>
              </a:rPr>
              <a:t>1.1    HTML</a:t>
            </a:r>
            <a:r>
              <a:rPr lang="zh-CN" altLang="en-US" sz="2400" dirty="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主讲内容</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矩形 2"/>
          <p:cNvSpPr/>
          <p:nvPr/>
        </p:nvSpPr>
        <p:spPr bwMode="auto">
          <a:xfrm>
            <a:off x="545976" y="2149496"/>
            <a:ext cx="8137525" cy="271966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2132856"/>
            <a:ext cx="804068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DOM</a:t>
            </a:r>
            <a:r>
              <a:rPr lang="zh-CN" altLang="zh-CN"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Document Object Model</a:t>
            </a:r>
            <a:r>
              <a:rPr lang="zh-CN" altLang="zh-CN" dirty="0">
                <a:latin typeface="Times New Roman" panose="02020603050405020304" pitchFamily="18" charset="0"/>
                <a:cs typeface="Times New Roman" panose="02020603050405020304" pitchFamily="18" charset="0"/>
              </a:rPr>
              <a:t>（文档对象模型）的简称，是</a:t>
            </a:r>
            <a:r>
              <a:rPr lang="en-US" altLang="zh-CN" dirty="0">
                <a:latin typeface="Times New Roman" panose="02020603050405020304" pitchFamily="18" charset="0"/>
                <a:cs typeface="Times New Roman" panose="02020603050405020304" pitchFamily="18" charset="0"/>
              </a:rPr>
              <a:t>W3C</a:t>
            </a:r>
            <a:r>
              <a:rPr lang="zh-CN" altLang="zh-CN" dirty="0">
                <a:latin typeface="Times New Roman" panose="02020603050405020304" pitchFamily="18" charset="0"/>
                <a:cs typeface="Times New Roman" panose="02020603050405020304" pitchFamily="18" charset="0"/>
              </a:rPr>
              <a:t>组织推荐的处理可扩展标志语言的标准编程接口，它可以以一种独立于平台和语言的方式访问和修改一个文档的内容和结构。</a:t>
            </a:r>
            <a:endParaRPr lang="zh-CN"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W3C</a:t>
            </a:r>
            <a:r>
              <a:rPr lang="zh-CN" altLang="zh-CN" dirty="0">
                <a:latin typeface="Times New Roman" panose="02020603050405020304" pitchFamily="18" charset="0"/>
                <a:cs typeface="Times New Roman" panose="02020603050405020304" pitchFamily="18" charset="0"/>
              </a:rPr>
              <a:t>中将</a:t>
            </a:r>
            <a:r>
              <a:rPr lang="en-US" altLang="zh-CN" dirty="0">
                <a:latin typeface="Times New Roman" panose="02020603050405020304" pitchFamily="18" charset="0"/>
                <a:cs typeface="Times New Roman" panose="02020603050405020304" pitchFamily="18" charset="0"/>
              </a:rPr>
              <a:t>DOM</a:t>
            </a:r>
            <a:r>
              <a:rPr lang="zh-CN" altLang="zh-CN" dirty="0">
                <a:latin typeface="Times New Roman" panose="02020603050405020304" pitchFamily="18" charset="0"/>
                <a:cs typeface="Times New Roman" panose="02020603050405020304" pitchFamily="18" charset="0"/>
              </a:rPr>
              <a:t>标准分为</a:t>
            </a:r>
            <a:r>
              <a:rPr lang="en-US" altLang="zh-CN" dirty="0">
                <a:latin typeface="Times New Roman" panose="02020603050405020304" pitchFamily="18" charset="0"/>
                <a:cs typeface="Times New Roman" panose="02020603050405020304" pitchFamily="18" charset="0"/>
              </a:rPr>
              <a:t>3</a:t>
            </a:r>
            <a:r>
              <a:rPr lang="zh-CN" altLang="zh-CN" dirty="0">
                <a:latin typeface="Times New Roman" panose="02020603050405020304" pitchFamily="18" charset="0"/>
                <a:cs typeface="Times New Roman" panose="02020603050405020304" pitchFamily="18" charset="0"/>
              </a:rPr>
              <a:t>个不同的部分：核心</a:t>
            </a:r>
            <a:r>
              <a:rPr lang="en-US" altLang="zh-CN" dirty="0">
                <a:latin typeface="Times New Roman" panose="02020603050405020304" pitchFamily="18" charset="0"/>
                <a:cs typeface="Times New Roman" panose="02020603050405020304" pitchFamily="18" charset="0"/>
              </a:rPr>
              <a:t>DOM</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XML DOM</a:t>
            </a:r>
            <a:r>
              <a:rPr lang="zh-CN" altLang="zh-CN"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HTML DOM</a:t>
            </a:r>
            <a:r>
              <a:rPr lang="zh-CN" altLang="zh-CN" dirty="0">
                <a:latin typeface="Times New Roman" panose="02020603050405020304" pitchFamily="18" charset="0"/>
                <a:cs typeface="Times New Roman" panose="02020603050405020304" pitchFamily="18" charset="0"/>
              </a:rPr>
              <a:t>，其中核心</a:t>
            </a:r>
            <a:r>
              <a:rPr lang="en-US" altLang="zh-CN" dirty="0">
                <a:latin typeface="Times New Roman" panose="02020603050405020304" pitchFamily="18" charset="0"/>
                <a:cs typeface="Times New Roman" panose="02020603050405020304" pitchFamily="18" charset="0"/>
              </a:rPr>
              <a:t> DOM </a:t>
            </a:r>
            <a:r>
              <a:rPr lang="zh-CN" altLang="zh-CN" dirty="0">
                <a:latin typeface="Times New Roman" panose="02020603050405020304" pitchFamily="18" charset="0"/>
                <a:cs typeface="Times New Roman" panose="02020603050405020304" pitchFamily="18" charset="0"/>
              </a:rPr>
              <a:t>是针对任何结构化文档的标准模型，</a:t>
            </a:r>
            <a:r>
              <a:rPr lang="en-US" altLang="zh-CN" dirty="0">
                <a:latin typeface="Times New Roman" panose="02020603050405020304" pitchFamily="18" charset="0"/>
                <a:cs typeface="Times New Roman" panose="02020603050405020304" pitchFamily="18" charset="0"/>
              </a:rPr>
              <a:t>XML DOM</a:t>
            </a:r>
            <a:r>
              <a:rPr lang="zh-CN" altLang="zh-CN" dirty="0">
                <a:latin typeface="Times New Roman" panose="02020603050405020304" pitchFamily="18" charset="0"/>
                <a:cs typeface="Times New Roman" panose="02020603050405020304" pitchFamily="18" charset="0"/>
              </a:rPr>
              <a:t>是针对</a:t>
            </a:r>
            <a:r>
              <a:rPr lang="en-US" altLang="zh-CN" dirty="0">
                <a:latin typeface="Times New Roman" panose="02020603050405020304" pitchFamily="18" charset="0"/>
                <a:cs typeface="Times New Roman" panose="02020603050405020304" pitchFamily="18" charset="0"/>
              </a:rPr>
              <a:t>XML</a:t>
            </a:r>
            <a:r>
              <a:rPr lang="zh-CN" altLang="zh-CN" dirty="0">
                <a:latin typeface="Times New Roman" panose="02020603050405020304" pitchFamily="18" charset="0"/>
                <a:cs typeface="Times New Roman" panose="02020603050405020304" pitchFamily="18" charset="0"/>
              </a:rPr>
              <a:t>文档的标准模型，而</a:t>
            </a:r>
            <a:r>
              <a:rPr lang="en-US" altLang="zh-CN" dirty="0">
                <a:latin typeface="Times New Roman" panose="02020603050405020304" pitchFamily="18" charset="0"/>
                <a:cs typeface="Times New Roman" panose="02020603050405020304" pitchFamily="18" charset="0"/>
              </a:rPr>
              <a:t>HTML DOM</a:t>
            </a:r>
            <a:r>
              <a:rPr lang="zh-CN" altLang="zh-CN" dirty="0">
                <a:latin typeface="Times New Roman" panose="02020603050405020304" pitchFamily="18" charset="0"/>
                <a:cs typeface="Times New Roman" panose="02020603050405020304" pitchFamily="18" charset="0"/>
              </a:rPr>
              <a:t>是针对</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文档的标准模型。</a:t>
            </a:r>
            <a:endParaRPr lang="zh-CN" altLang="zh-CN" dirty="0">
              <a:latin typeface="Times New Roman" panose="02020603050405020304" pitchFamily="18" charset="0"/>
              <a:cs typeface="Times New Roman" panose="02020603050405020304" pitchFamily="18" charset="0"/>
            </a:endParaRPr>
          </a:p>
        </p:txBody>
      </p:sp>
      <p:sp>
        <p:nvSpPr>
          <p:cNvPr id="5" name="任意多边形 4"/>
          <p:cNvSpPr/>
          <p:nvPr/>
        </p:nvSpPr>
        <p:spPr bwMode="auto">
          <a:xfrm>
            <a:off x="5607495" y="1772816"/>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156176" y="1829966"/>
            <a:ext cx="12362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DOM</a:t>
            </a:r>
            <a:r>
              <a:rPr lang="zh-CN" altLang="en-US" dirty="0" smtClean="0">
                <a:solidFill>
                  <a:schemeClr val="bg1"/>
                </a:solidFill>
                <a:latin typeface="微软雅黑" panose="020B0503020204020204" pitchFamily="34" charset="-122"/>
                <a:ea typeface="微软雅黑" panose="020B0503020204020204" pitchFamily="34" charset="-122"/>
              </a:rPr>
              <a:t>简介</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1.3.1  DOM</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相关知识</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24"/>
          <p:cNvSpPr>
            <a:spLocks noChangeArrowheads="1"/>
          </p:cNvSpPr>
          <p:nvPr/>
        </p:nvSpPr>
        <p:spPr bwMode="auto">
          <a:xfrm>
            <a:off x="542925" y="1593378"/>
            <a:ext cx="8102600" cy="4787950"/>
          </a:xfrm>
          <a:prstGeom prst="rect">
            <a:avLst/>
          </a:prstGeom>
          <a:noFill/>
          <a:ln w="19050" algn="ctr">
            <a:solidFill>
              <a:srgbClr val="006BA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pPr>
            <a:endParaRPr lang="zh-CN" altLang="en-US"/>
          </a:p>
        </p:txBody>
      </p:sp>
      <p:sp>
        <p:nvSpPr>
          <p:cNvPr id="7" name="任意多边形 6"/>
          <p:cNvSpPr/>
          <p:nvPr/>
        </p:nvSpPr>
        <p:spPr bwMode="auto">
          <a:xfrm>
            <a:off x="5436096" y="1196752"/>
            <a:ext cx="2487561"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8" name="矩形 7"/>
          <p:cNvSpPr>
            <a:spLocks noChangeArrowheads="1"/>
          </p:cNvSpPr>
          <p:nvPr/>
        </p:nvSpPr>
        <p:spPr bwMode="auto">
          <a:xfrm>
            <a:off x="5580112" y="1253902"/>
            <a:ext cx="2191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HTML DOM</a:t>
            </a:r>
            <a:r>
              <a:rPr lang="zh-CN" altLang="en-US" dirty="0" smtClean="0">
                <a:solidFill>
                  <a:schemeClr val="bg1"/>
                </a:solidFill>
                <a:latin typeface="微软雅黑" panose="020B0503020204020204" pitchFamily="34" charset="-122"/>
                <a:ea typeface="微软雅黑" panose="020B0503020204020204" pitchFamily="34" charset="-122"/>
              </a:rPr>
              <a:t>结构图</a:t>
            </a:r>
            <a:endParaRPr lang="zh-CN" altLang="zh-CN" dirty="0">
              <a:solidFill>
                <a:schemeClr val="bg1"/>
              </a:solidFill>
              <a:latin typeface="微软雅黑" panose="020B0503020204020204" pitchFamily="34" charset="-122"/>
              <a:ea typeface="微软雅黑" panose="020B0503020204020204" pitchFamily="34" charset="-122"/>
            </a:endParaRPr>
          </a:p>
        </p:txBody>
      </p:sp>
      <p:pic>
        <p:nvPicPr>
          <p:cNvPr id="1026" name="Picture 2" descr="ct_html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736" y="2420888"/>
            <a:ext cx="4642296" cy="253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箭头连接符 9"/>
          <p:cNvCxnSpPr>
            <a:cxnSpLocks noChangeShapeType="1"/>
          </p:cNvCxnSpPr>
          <p:nvPr/>
        </p:nvCxnSpPr>
        <p:spPr bwMode="auto">
          <a:xfrm flipH="1" flipV="1">
            <a:off x="3019719" y="2276872"/>
            <a:ext cx="752676" cy="377603"/>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a:spLocks noChangeArrowheads="1"/>
          </p:cNvSpPr>
          <p:nvPr/>
        </p:nvSpPr>
        <p:spPr bwMode="auto">
          <a:xfrm>
            <a:off x="3875023" y="2471514"/>
            <a:ext cx="1337186" cy="393254"/>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20" name="圆角矩形 19"/>
          <p:cNvSpPr/>
          <p:nvPr/>
        </p:nvSpPr>
        <p:spPr>
          <a:xfrm>
            <a:off x="1475656" y="1772816"/>
            <a:ext cx="2664296"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文档（</a:t>
            </a:r>
            <a:r>
              <a:rPr lang="en-US" altLang="zh-CN" b="1" dirty="0" smtClean="0">
                <a:solidFill>
                  <a:schemeClr val="bg1"/>
                </a:solidFill>
              </a:rPr>
              <a:t>Document</a:t>
            </a:r>
            <a:r>
              <a:rPr lang="zh-CN" altLang="en-US" b="1" dirty="0" smtClean="0">
                <a:solidFill>
                  <a:schemeClr val="bg1"/>
                </a:solidFill>
              </a:rPr>
              <a:t>）对象</a:t>
            </a:r>
            <a:endParaRPr lang="en-US" altLang="zh-CN" b="1" dirty="0">
              <a:solidFill>
                <a:schemeClr val="bg1"/>
              </a:solidFill>
            </a:endParaRPr>
          </a:p>
        </p:txBody>
      </p:sp>
      <p:sp>
        <p:nvSpPr>
          <p:cNvPr id="21" name="矩形 20"/>
          <p:cNvSpPr>
            <a:spLocks noChangeArrowheads="1"/>
          </p:cNvSpPr>
          <p:nvPr/>
        </p:nvSpPr>
        <p:spPr bwMode="auto">
          <a:xfrm>
            <a:off x="3882886" y="2980506"/>
            <a:ext cx="1337186" cy="393254"/>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2" name="直接箭头连接符 21"/>
          <p:cNvCxnSpPr>
            <a:cxnSpLocks noChangeShapeType="1"/>
          </p:cNvCxnSpPr>
          <p:nvPr/>
        </p:nvCxnSpPr>
        <p:spPr bwMode="auto">
          <a:xfrm flipV="1">
            <a:off x="5292080" y="2885945"/>
            <a:ext cx="726754" cy="327031"/>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圆角矩形 25"/>
          <p:cNvSpPr/>
          <p:nvPr/>
        </p:nvSpPr>
        <p:spPr>
          <a:xfrm>
            <a:off x="5371020" y="2372305"/>
            <a:ext cx="3017404"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文档</a:t>
            </a:r>
            <a:r>
              <a:rPr lang="zh-CN" altLang="en-US" b="1" smtClean="0">
                <a:solidFill>
                  <a:schemeClr val="bg1"/>
                </a:solidFill>
              </a:rPr>
              <a:t>根元素的</a:t>
            </a:r>
            <a:r>
              <a:rPr lang="en-US" altLang="zh-CN" b="1" smtClean="0">
                <a:solidFill>
                  <a:schemeClr val="bg1"/>
                </a:solidFill>
              </a:rPr>
              <a:t>Element</a:t>
            </a:r>
            <a:r>
              <a:rPr lang="zh-CN" altLang="en-US" b="1" dirty="0" smtClean="0">
                <a:solidFill>
                  <a:schemeClr val="bg1"/>
                </a:solidFill>
              </a:rPr>
              <a:t>对象</a:t>
            </a:r>
            <a:endParaRPr lang="en-US" altLang="zh-CN" b="1" dirty="0">
              <a:solidFill>
                <a:schemeClr val="bg1"/>
              </a:solidFill>
            </a:endParaRPr>
          </a:p>
        </p:txBody>
      </p:sp>
      <p:sp>
        <p:nvSpPr>
          <p:cNvPr id="27" name="矩形 26"/>
          <p:cNvSpPr>
            <a:spLocks noChangeArrowheads="1"/>
          </p:cNvSpPr>
          <p:nvPr/>
        </p:nvSpPr>
        <p:spPr bwMode="auto">
          <a:xfrm>
            <a:off x="2139210" y="3492133"/>
            <a:ext cx="4160981" cy="393254"/>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8" name="直接箭头连接符 27"/>
          <p:cNvCxnSpPr>
            <a:cxnSpLocks noChangeShapeType="1"/>
          </p:cNvCxnSpPr>
          <p:nvPr/>
        </p:nvCxnSpPr>
        <p:spPr bwMode="auto">
          <a:xfrm flipH="1" flipV="1">
            <a:off x="2388214" y="3177133"/>
            <a:ext cx="752676" cy="203468"/>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圆角矩形 29"/>
          <p:cNvSpPr/>
          <p:nvPr/>
        </p:nvSpPr>
        <p:spPr>
          <a:xfrm>
            <a:off x="1056066" y="2668141"/>
            <a:ext cx="2339991"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en-US" altLang="zh-CN" b="1" dirty="0" smtClean="0">
                <a:solidFill>
                  <a:schemeClr val="bg1"/>
                </a:solidFill>
              </a:rPr>
              <a:t>&lt;html&gt;</a:t>
            </a:r>
            <a:r>
              <a:rPr lang="zh-CN" altLang="en-US" b="1" dirty="0" smtClean="0">
                <a:solidFill>
                  <a:schemeClr val="bg1"/>
                </a:solidFill>
              </a:rPr>
              <a:t>元素的子元素</a:t>
            </a:r>
            <a:endParaRPr lang="en-US" altLang="zh-CN" b="1" dirty="0">
              <a:solidFill>
                <a:schemeClr val="bg1"/>
              </a:solidFill>
            </a:endParaRPr>
          </a:p>
        </p:txBody>
      </p:sp>
      <p:sp>
        <p:nvSpPr>
          <p:cNvPr id="35" name="圆角矩形标注 34"/>
          <p:cNvSpPr>
            <a:spLocks noChangeArrowheads="1"/>
          </p:cNvSpPr>
          <p:nvPr/>
        </p:nvSpPr>
        <p:spPr bwMode="auto">
          <a:xfrm>
            <a:off x="1475656" y="5174686"/>
            <a:ext cx="5962885" cy="1134633"/>
          </a:xfrm>
          <a:prstGeom prst="wedgeRoundRectCallout">
            <a:avLst>
              <a:gd name="adj1" fmla="val -15305"/>
              <a:gd name="adj2" fmla="val -6883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r>
              <a:rPr lang="zh-CN" altLang="zh-CN" sz="1600" b="1" dirty="0">
                <a:solidFill>
                  <a:schemeClr val="bg1"/>
                </a:solidFill>
                <a:latin typeface="+mn-ea"/>
                <a:ea typeface="+mn-ea"/>
              </a:rPr>
              <a:t>每个元素被称为一个节点，直接位于一个节点之下的节点被称为该节点的子节点（</a:t>
            </a:r>
            <a:r>
              <a:rPr lang="en-US" altLang="zh-CN" sz="1600" b="1" dirty="0" err="1">
                <a:solidFill>
                  <a:schemeClr val="bg1"/>
                </a:solidFill>
                <a:latin typeface="+mn-ea"/>
                <a:ea typeface="+mn-ea"/>
              </a:rPr>
              <a:t>childNode</a:t>
            </a:r>
            <a:r>
              <a:rPr lang="zh-CN" altLang="zh-CN" sz="1600" b="1" dirty="0">
                <a:solidFill>
                  <a:schemeClr val="bg1"/>
                </a:solidFill>
                <a:latin typeface="+mn-ea"/>
                <a:ea typeface="+mn-ea"/>
              </a:rPr>
              <a:t>），直接位于一个节点之上的节点被称为该节点的父节点（</a:t>
            </a:r>
            <a:r>
              <a:rPr lang="en-US" altLang="zh-CN" sz="1600" b="1" dirty="0" err="1">
                <a:solidFill>
                  <a:schemeClr val="bg1"/>
                </a:solidFill>
                <a:latin typeface="+mn-ea"/>
                <a:ea typeface="+mn-ea"/>
              </a:rPr>
              <a:t>parentNode</a:t>
            </a:r>
            <a:r>
              <a:rPr lang="zh-CN" altLang="zh-CN" sz="1600" b="1" dirty="0">
                <a:solidFill>
                  <a:schemeClr val="bg1"/>
                </a:solidFill>
                <a:latin typeface="+mn-ea"/>
                <a:ea typeface="+mn-ea"/>
              </a:rPr>
              <a:t>），具有相同父节点的两个节点称为兄弟节点（</a:t>
            </a:r>
            <a:r>
              <a:rPr lang="en-US" altLang="zh-CN" sz="1600" b="1" dirty="0" err="1">
                <a:solidFill>
                  <a:schemeClr val="bg1"/>
                </a:solidFill>
                <a:latin typeface="+mn-ea"/>
                <a:ea typeface="+mn-ea"/>
              </a:rPr>
              <a:t>siblingNode</a:t>
            </a:r>
            <a:r>
              <a:rPr lang="zh-CN" altLang="zh-CN" sz="1600" b="1" dirty="0">
                <a:solidFill>
                  <a:schemeClr val="bg1"/>
                </a:solidFill>
                <a:latin typeface="+mn-ea"/>
                <a:ea typeface="+mn-ea"/>
              </a:rPr>
              <a:t>）。</a:t>
            </a:r>
            <a:endParaRPr lang="zh-CN" altLang="zh-CN" sz="1600" b="1" dirty="0">
              <a:solidFill>
                <a:schemeClr val="bg1"/>
              </a:solidFill>
              <a:latin typeface="+mn-ea"/>
              <a:ea typeface="+mn-ea"/>
            </a:endParaRPr>
          </a:p>
        </p:txBody>
      </p:sp>
      <p:sp>
        <p:nvSpPr>
          <p:cNvPr id="19"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1.3.1  DOM</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相关知识</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wipe(left)">
                                      <p:cBhvr>
                                        <p:cTn id="16" dur="500"/>
                                        <p:tgtEl>
                                          <p:spTgt spid="10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par>
                                <p:cTn id="33" presetID="22" presetClass="entr" presetSubtype="4"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down)">
                                      <p:cBhvr>
                                        <p:cTn id="35" dur="500"/>
                                        <p:tgtEl>
                                          <p:spTgt spid="22"/>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down)">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down)">
                                      <p:cBhvr>
                                        <p:cTn id="43" dur="500"/>
                                        <p:tgtEl>
                                          <p:spTgt spid="27"/>
                                        </p:tgtEl>
                                      </p:cBhvr>
                                    </p:animEffect>
                                  </p:childTnLst>
                                </p:cTn>
                              </p:par>
                              <p:par>
                                <p:cTn id="44" presetID="22" presetClass="entr" presetSubtype="4"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down)">
                                      <p:cBhvr>
                                        <p:cTn id="46" dur="500"/>
                                        <p:tgtEl>
                                          <p:spTgt spid="28"/>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down)">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8"/>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10"/>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20"/>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21"/>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22"/>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27"/>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28"/>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30"/>
                                        </p:tgtEl>
                                        <p:attrNameLst>
                                          <p:attrName>style.visibility</p:attrName>
                                        </p:attrNameLst>
                                      </p:cBhvr>
                                      <p:to>
                                        <p:strVal val="hidden"/>
                                      </p:to>
                                    </p:set>
                                  </p:childTnLst>
                                </p:cTn>
                              </p:par>
                            </p:childTnLst>
                          </p:cTn>
                        </p:par>
                        <p:par>
                          <p:cTn id="70" fill="hold">
                            <p:stCondLst>
                              <p:cond delay="0"/>
                            </p:stCondLst>
                            <p:childTnLst>
                              <p:par>
                                <p:cTn id="71" presetID="22" presetClass="entr" presetSubtype="1" fill="hold" grpId="0" nodeType="after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wipe(up)">
                                      <p:cBhvr>
                                        <p:cTn id="7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18" grpId="0" animBg="1"/>
      <p:bldP spid="18" grpId="1" animBg="1"/>
      <p:bldP spid="20" grpId="0" animBg="1"/>
      <p:bldP spid="20" grpId="1" animBg="1"/>
      <p:bldP spid="21" grpId="0" animBg="1"/>
      <p:bldP spid="21" grpId="1" animBg="1"/>
      <p:bldP spid="26" grpId="0" animBg="1"/>
      <p:bldP spid="26" grpId="1" animBg="1"/>
      <p:bldP spid="27" grpId="0" animBg="1"/>
      <p:bldP spid="27" grpId="1" animBg="1"/>
      <p:bldP spid="30" grpId="0" animBg="1"/>
      <p:bldP spid="30" grpId="1" animBg="1"/>
      <p:bldP spid="3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1710088"/>
            <a:ext cx="8137525" cy="181771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693448"/>
            <a:ext cx="804068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DOM</a:t>
            </a:r>
            <a:r>
              <a:rPr lang="zh-CN" altLang="zh-CN" dirty="0">
                <a:latin typeface="Times New Roman" panose="02020603050405020304" pitchFamily="18" charset="0"/>
                <a:cs typeface="Times New Roman" panose="02020603050405020304" pitchFamily="18" charset="0"/>
              </a:rPr>
              <a:t>中，</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文档的各个节点被视为各种类型的</a:t>
            </a:r>
            <a:r>
              <a:rPr lang="en-US" altLang="zh-CN" dirty="0">
                <a:latin typeface="Times New Roman" panose="02020603050405020304" pitchFamily="18" charset="0"/>
                <a:cs typeface="Times New Roman" panose="02020603050405020304" pitchFamily="18" charset="0"/>
              </a:rPr>
              <a:t>Node</a:t>
            </a:r>
            <a:r>
              <a:rPr lang="zh-CN" altLang="zh-CN" dirty="0">
                <a:latin typeface="Times New Roman" panose="02020603050405020304" pitchFamily="18" charset="0"/>
                <a:cs typeface="Times New Roman" panose="02020603050405020304" pitchFamily="18" charset="0"/>
              </a:rPr>
              <a:t>对象。如果想要通过某个节点的子节点找到该元素，其语法如下所示</a:t>
            </a:r>
            <a:r>
              <a:rPr lang="zh-CN" altLang="zh-CN"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dirty="0" smtClean="0">
                <a:latin typeface="Times New Roman" panose="02020603050405020304" pitchFamily="18" charset="0"/>
                <a:cs typeface="Times New Roman" panose="02020603050405020304" pitchFamily="18" charset="0"/>
              </a:rPr>
              <a:t>Node</a:t>
            </a:r>
            <a:r>
              <a:rPr lang="zh-CN" altLang="zh-CN" dirty="0" smtClean="0">
                <a:latin typeface="Times New Roman" panose="02020603050405020304" pitchFamily="18" charset="0"/>
                <a:cs typeface="Times New Roman" panose="02020603050405020304" pitchFamily="18" charset="0"/>
              </a:rPr>
              <a:t>对象的常用属性</a:t>
            </a:r>
            <a:r>
              <a:rPr lang="zh-CN" altLang="en-US" dirty="0" smtClean="0">
                <a:latin typeface="Times New Roman" panose="02020603050405020304" pitchFamily="18" charset="0"/>
                <a:cs typeface="Times New Roman" panose="02020603050405020304" pitchFamily="18" charset="0"/>
              </a:rPr>
              <a:t>如下：</a:t>
            </a:r>
            <a:endParaRPr lang="en-US" altLang="zh-CN" dirty="0" smtClean="0">
              <a:latin typeface="Times New Roman" panose="02020603050405020304" pitchFamily="18" charset="0"/>
              <a:cs typeface="Times New Roman" panose="02020603050405020304" pitchFamily="18" charset="0"/>
            </a:endParaRPr>
          </a:p>
        </p:txBody>
      </p:sp>
      <p:sp>
        <p:nvSpPr>
          <p:cNvPr id="5" name="任意多边形 4"/>
          <p:cNvSpPr/>
          <p:nvPr/>
        </p:nvSpPr>
        <p:spPr bwMode="auto">
          <a:xfrm>
            <a:off x="5607495" y="1295556"/>
            <a:ext cx="231616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041484" y="1352706"/>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节点的访问</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6"/>
          <p:cNvSpPr>
            <a:spLocks noChangeArrowheads="1"/>
          </p:cNvSpPr>
          <p:nvPr/>
        </p:nvSpPr>
        <p:spPr bwMode="auto">
          <a:xfrm>
            <a:off x="592932" y="2597242"/>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zh-CN" altLang="zh-CN" dirty="0" smtClean="0"/>
              <a:t>父</a:t>
            </a:r>
            <a:r>
              <a:rPr lang="zh-CN" altLang="zh-CN" dirty="0"/>
              <a:t>节点对象</a:t>
            </a:r>
            <a:r>
              <a:rPr lang="en-US" altLang="zh-CN" dirty="0"/>
              <a:t> = </a:t>
            </a:r>
            <a:r>
              <a:rPr lang="zh-CN" altLang="zh-CN" dirty="0"/>
              <a:t>子节点对象</a:t>
            </a:r>
            <a:r>
              <a:rPr lang="en-US" altLang="zh-CN" dirty="0"/>
              <a:t>.</a:t>
            </a:r>
            <a:r>
              <a:rPr lang="en-US" altLang="zh-CN" dirty="0" err="1"/>
              <a:t>parentNode</a:t>
            </a:r>
            <a:r>
              <a:rPr lang="en-US" altLang="zh-CN" dirty="0"/>
              <a:t>;</a:t>
            </a:r>
            <a:endParaRPr lang="zh-CN" altLang="zh-CN" dirty="0"/>
          </a:p>
        </p:txBody>
      </p:sp>
      <p:graphicFrame>
        <p:nvGraphicFramePr>
          <p:cNvPr id="8" name="表格 7"/>
          <p:cNvGraphicFramePr>
            <a:graphicFrameLocks noGrp="1"/>
          </p:cNvGraphicFramePr>
          <p:nvPr/>
        </p:nvGraphicFramePr>
        <p:xfrm>
          <a:off x="971600" y="3764496"/>
          <a:ext cx="7344816" cy="2472816"/>
        </p:xfrm>
        <a:graphic>
          <a:graphicData uri="http://schemas.openxmlformats.org/drawingml/2006/table">
            <a:tbl>
              <a:tblPr firstRow="1" bandRow="1">
                <a:tableStyleId>{69012ECD-51FC-41F1-AA8D-1B2483CD663E}</a:tableStyleId>
              </a:tblPr>
              <a:tblGrid>
                <a:gridCol w="1438431"/>
                <a:gridCol w="1510352"/>
                <a:gridCol w="4396033"/>
              </a:tblGrid>
              <a:tr h="347519">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kern="1200" dirty="0" smtClean="0">
                          <a:solidFill>
                            <a:schemeClr val="lt1"/>
                          </a:solidFill>
                          <a:latin typeface="+mn-lt"/>
                          <a:ea typeface="+mn-ea"/>
                          <a:cs typeface="+mn-cs"/>
                        </a:rPr>
                        <a:t>属性</a:t>
                      </a:r>
                      <a:endParaRPr lang="zh-CN" altLang="en-US" sz="1800" b="1" kern="1200" dirty="0" smtClean="0">
                        <a:solidFill>
                          <a:schemeClr val="lt1"/>
                        </a:solidFill>
                        <a:latin typeface="+mn-lt"/>
                        <a:ea typeface="+mn-ea"/>
                        <a:cs typeface="+mn-cs"/>
                      </a:endParaRPr>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类型</a:t>
                      </a:r>
                      <a:endParaRPr lang="en-US" altLang="zh-CN" sz="18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zh-CN" altLang="en-US" sz="1800" b="1" kern="1200" dirty="0" smtClean="0">
                          <a:solidFill>
                            <a:schemeClr val="lt1"/>
                          </a:solidFill>
                          <a:latin typeface="Arial" panose="020B0604020202020204"/>
                          <a:ea typeface="宋体" panose="02010600030101010101" pitchFamily="2" charset="-122"/>
                        </a:rPr>
                        <a:t>描述</a:t>
                      </a:r>
                      <a:endParaRPr lang="zh-CN" altLang="en-US" sz="1800" b="1" kern="1200" dirty="0">
                        <a:solidFill>
                          <a:schemeClr val="lt1"/>
                        </a:solidFill>
                        <a:latin typeface="Arial" panose="020B0604020202020204"/>
                        <a:ea typeface="宋体" panose="02010600030101010101" pitchFamily="2" charset="-122"/>
                      </a:endParaRPr>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tcPr>
                </a:tc>
              </a:tr>
              <a:tr h="368475">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lnSpc>
                          <a:spcPct val="150000"/>
                        </a:lnSpc>
                      </a:pPr>
                      <a:r>
                        <a:rPr lang="en-US" altLang="zh-CN" sz="1600" kern="1200" dirty="0" err="1" smtClean="0">
                          <a:solidFill>
                            <a:schemeClr val="dk1"/>
                          </a:solidFill>
                          <a:effectLst/>
                          <a:latin typeface="Arial" panose="020B0604020202020204"/>
                          <a:ea typeface="宋体" panose="02010600030101010101" pitchFamily="2" charset="-122"/>
                        </a:rPr>
                        <a:t>parentNode</a:t>
                      </a:r>
                      <a:endParaRPr lang="zh-CN" altLang="en-US" sz="1400" b="0" dirty="0"/>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altLang="zh-CN" sz="1600" kern="1200" dirty="0" smtClean="0">
                          <a:solidFill>
                            <a:schemeClr val="tx1"/>
                          </a:solidFill>
                          <a:effectLst/>
                          <a:latin typeface="+mn-lt"/>
                          <a:ea typeface="+mn-ea"/>
                          <a:cs typeface="+mn-cs"/>
                        </a:rPr>
                        <a:t>Node</a:t>
                      </a:r>
                      <a:endParaRPr lang="zh-CN" sz="1000" kern="100" dirty="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zh-CN" sz="1600" kern="1200" dirty="0" smtClean="0">
                          <a:solidFill>
                            <a:schemeClr val="dk1"/>
                          </a:solidFill>
                          <a:effectLst/>
                          <a:latin typeface="Arial" panose="020B0604020202020204"/>
                          <a:ea typeface="宋体" panose="02010600030101010101" pitchFamily="2" charset="-122"/>
                        </a:rPr>
                        <a:t>返回节点的父节点，没有父节点时为</a:t>
                      </a:r>
                      <a:r>
                        <a:rPr lang="en-US" altLang="zh-CN" sz="1600" kern="1200" dirty="0" smtClean="0">
                          <a:solidFill>
                            <a:schemeClr val="dk1"/>
                          </a:solidFill>
                          <a:effectLst/>
                          <a:latin typeface="Arial" panose="020B0604020202020204"/>
                          <a:ea typeface="宋体" panose="02010600030101010101" pitchFamily="2" charset="-122"/>
                        </a:rPr>
                        <a:t>null</a:t>
                      </a:r>
                      <a:endParaRPr lang="zh-CN" altLang="en-US" sz="1400" dirty="0">
                        <a:solidFill>
                          <a:schemeClr val="tx1"/>
                        </a:solidFill>
                      </a:endParaRPr>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solidFill>
                      <a:srgbClr val="E9EDF4"/>
                    </a:solidFill>
                  </a:tcPr>
                </a:tc>
              </a:tr>
              <a:tr h="685288">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1600" kern="1200" dirty="0" err="1" smtClean="0">
                          <a:solidFill>
                            <a:schemeClr val="dk1"/>
                          </a:solidFill>
                          <a:effectLst/>
                          <a:latin typeface="Arial" panose="020B0604020202020204"/>
                          <a:ea typeface="宋体" panose="02010600030101010101" pitchFamily="2" charset="-122"/>
                        </a:rPr>
                        <a:t>childNodes</a:t>
                      </a:r>
                      <a:endParaRPr lang="zh-CN" altLang="en-US" sz="1400" b="0" dirty="0"/>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err="1" smtClean="0">
                          <a:solidFill>
                            <a:schemeClr val="dk1"/>
                          </a:solidFill>
                          <a:effectLst/>
                          <a:latin typeface="Arial" panose="020B0604020202020204"/>
                          <a:ea typeface="宋体" panose="02010600030101010101" pitchFamily="2" charset="-122"/>
                        </a:rPr>
                        <a:t>NodeList</a:t>
                      </a:r>
                      <a:endParaRPr lang="en-US" altLang="zh-CN" sz="14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zh-CN" sz="1600" kern="1200" dirty="0" smtClean="0">
                          <a:solidFill>
                            <a:schemeClr val="dk1"/>
                          </a:solidFill>
                          <a:effectLst/>
                          <a:latin typeface="Arial" panose="020B0604020202020204"/>
                          <a:ea typeface="宋体" panose="02010600030101010101" pitchFamily="2" charset="-122"/>
                        </a:rPr>
                        <a:t>返回节点到子节点的节点列表</a:t>
                      </a:r>
                      <a:endParaRPr lang="zh-CN" altLang="en-US" sz="1400" dirty="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tcPr>
                </a:tc>
              </a:tr>
              <a:tr h="482248">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1600" kern="1200" dirty="0" err="1" smtClean="0">
                          <a:solidFill>
                            <a:schemeClr val="dk1"/>
                          </a:solidFill>
                          <a:effectLst/>
                          <a:latin typeface="Arial" panose="020B0604020202020204"/>
                          <a:ea typeface="宋体" panose="02010600030101010101" pitchFamily="2" charset="-122"/>
                        </a:rPr>
                        <a:t>firstChild</a:t>
                      </a:r>
                      <a:endParaRPr lang="zh-CN" altLang="en-US" sz="1400" dirty="0"/>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dk1"/>
                          </a:solidFill>
                          <a:effectLst/>
                          <a:latin typeface="Arial" panose="020B0604020202020204"/>
                          <a:ea typeface="宋体" panose="02010600030101010101" pitchFamily="2" charset="-122"/>
                        </a:rPr>
                        <a:t>Node</a:t>
                      </a:r>
                      <a:endParaRPr lang="en-US" altLang="zh-CN" sz="14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zh-CN" sz="1600" kern="1200" dirty="0" smtClean="0">
                          <a:solidFill>
                            <a:schemeClr val="dk1"/>
                          </a:solidFill>
                          <a:effectLst/>
                          <a:latin typeface="Arial" panose="020B0604020202020204"/>
                          <a:ea typeface="宋体" panose="02010600030101010101" pitchFamily="2" charset="-122"/>
                        </a:rPr>
                        <a:t>返回节点的首个子节点，没有则为</a:t>
                      </a:r>
                      <a:r>
                        <a:rPr lang="en-US" altLang="zh-CN" sz="1600" kern="1200" dirty="0" smtClean="0">
                          <a:solidFill>
                            <a:schemeClr val="dk1"/>
                          </a:solidFill>
                          <a:effectLst/>
                          <a:latin typeface="Arial" panose="020B0604020202020204"/>
                          <a:ea typeface="宋体" panose="02010600030101010101" pitchFamily="2" charset="-122"/>
                        </a:rPr>
                        <a:t>null</a:t>
                      </a:r>
                      <a:endParaRPr lang="zh-CN" altLang="en-US" sz="1400" dirty="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solidFill>
                      <a:srgbClr val="E9EDF4"/>
                    </a:solidFill>
                  </a:tcPr>
                </a:tc>
              </a:tr>
              <a:tr h="482248">
                <a:tc>
                  <a:txBody>
                    <a:bodyPr/>
                    <a:lstStyle/>
                    <a:p>
                      <a:pPr algn="ctr"/>
                      <a:r>
                        <a:rPr lang="en-US" altLang="zh-CN" sz="1600" kern="1200" dirty="0" err="1" smtClean="0">
                          <a:solidFill>
                            <a:schemeClr val="tx1"/>
                          </a:solidFill>
                          <a:effectLst/>
                          <a:latin typeface="+mn-lt"/>
                          <a:ea typeface="+mn-ea"/>
                          <a:cs typeface="+mn-cs"/>
                        </a:rPr>
                        <a:t>lastChild</a:t>
                      </a:r>
                      <a:endParaRPr lang="zh-CN" altLang="en-US" sz="1400" dirty="0"/>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smtClean="0">
                          <a:solidFill>
                            <a:schemeClr val="tx1"/>
                          </a:solidFill>
                          <a:effectLst/>
                          <a:latin typeface="+mn-lt"/>
                          <a:ea typeface="+mn-ea"/>
                          <a:cs typeface="+mn-cs"/>
                        </a:rPr>
                        <a:t>Node</a:t>
                      </a:r>
                      <a:endParaRPr lang="en-US" altLang="zh-CN" sz="14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r>
                        <a:rPr lang="zh-CN" altLang="zh-CN" sz="1600" kern="1200" dirty="0" smtClean="0">
                          <a:solidFill>
                            <a:schemeClr val="tx1"/>
                          </a:solidFill>
                          <a:effectLst/>
                          <a:latin typeface="+mn-lt"/>
                          <a:ea typeface="+mn-ea"/>
                          <a:cs typeface="+mn-cs"/>
                        </a:rPr>
                        <a:t>返回节点的最后一个子节点，没有则为</a:t>
                      </a:r>
                      <a:r>
                        <a:rPr lang="en-US" altLang="zh-CN" sz="1600" kern="1200" dirty="0" smtClean="0">
                          <a:solidFill>
                            <a:schemeClr val="tx1"/>
                          </a:solidFill>
                          <a:effectLst/>
                          <a:latin typeface="+mn-lt"/>
                          <a:ea typeface="+mn-ea"/>
                          <a:cs typeface="+mn-cs"/>
                        </a:rPr>
                        <a:t>null</a:t>
                      </a:r>
                      <a:endParaRPr lang="zh-CN" altLang="en-US" sz="1400" dirty="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10"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1.3.1  DOM</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相关知识</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1899316"/>
            <a:ext cx="8137525" cy="138566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882676"/>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Document</a:t>
            </a:r>
            <a:r>
              <a:rPr lang="zh-CN" altLang="zh-CN" dirty="0">
                <a:latin typeface="Times New Roman" panose="02020603050405020304" pitchFamily="18" charset="0"/>
                <a:cs typeface="Times New Roman" panose="02020603050405020304" pitchFamily="18" charset="0"/>
              </a:rPr>
              <a:t>的</a:t>
            </a:r>
            <a:r>
              <a:rPr lang="en-US" altLang="zh-CN" dirty="0" err="1">
                <a:latin typeface="Times New Roman" panose="02020603050405020304" pitchFamily="18" charset="0"/>
                <a:cs typeface="Times New Roman" panose="02020603050405020304" pitchFamily="18" charset="0"/>
              </a:rPr>
              <a:t>getElementById</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方法可以通过元素的</a:t>
            </a:r>
            <a:r>
              <a:rPr lang="en-US" altLang="zh-CN" dirty="0">
                <a:latin typeface="Times New Roman" panose="02020603050405020304" pitchFamily="18" charset="0"/>
                <a:cs typeface="Times New Roman" panose="02020603050405020304" pitchFamily="18" charset="0"/>
              </a:rPr>
              <a:t>id</a:t>
            </a:r>
            <a:r>
              <a:rPr lang="zh-CN" altLang="zh-CN" dirty="0">
                <a:latin typeface="Times New Roman" panose="02020603050405020304" pitchFamily="18" charset="0"/>
                <a:cs typeface="Times New Roman" panose="02020603050405020304" pitchFamily="18" charset="0"/>
              </a:rPr>
              <a:t>属性获取元素。例如，获取</a:t>
            </a:r>
            <a:r>
              <a:rPr lang="en-US" altLang="zh-CN" dirty="0">
                <a:latin typeface="Times New Roman" panose="02020603050405020304" pitchFamily="18" charset="0"/>
                <a:cs typeface="Times New Roman" panose="02020603050405020304" pitchFamily="18" charset="0"/>
              </a:rPr>
              <a:t>id</a:t>
            </a:r>
            <a:r>
              <a:rPr lang="zh-CN" altLang="zh-CN" dirty="0">
                <a:latin typeface="Times New Roman" panose="02020603050405020304" pitchFamily="18" charset="0"/>
                <a:cs typeface="Times New Roman" panose="02020603050405020304" pitchFamily="18" charset="0"/>
              </a:rPr>
              <a:t>属性值为</a:t>
            </a:r>
            <a:r>
              <a:rPr lang="en-US" altLang="zh-CN" dirty="0" err="1">
                <a:latin typeface="Times New Roman" panose="02020603050405020304" pitchFamily="18" charset="0"/>
                <a:cs typeface="Times New Roman" panose="02020603050405020304" pitchFamily="18" charset="0"/>
              </a:rPr>
              <a:t>userId</a:t>
            </a:r>
            <a:r>
              <a:rPr lang="zh-CN" altLang="zh-CN" dirty="0">
                <a:latin typeface="Times New Roman" panose="02020603050405020304" pitchFamily="18" charset="0"/>
                <a:cs typeface="Times New Roman" panose="02020603050405020304" pitchFamily="18" charset="0"/>
              </a:rPr>
              <a:t>节点的代码如下所示：</a:t>
            </a:r>
            <a:endParaRPr lang="zh-CN"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p:txBody>
      </p:sp>
      <p:sp>
        <p:nvSpPr>
          <p:cNvPr id="5" name="任意多边形 4"/>
          <p:cNvSpPr/>
          <p:nvPr/>
        </p:nvSpPr>
        <p:spPr bwMode="auto">
          <a:xfrm>
            <a:off x="5148063" y="1484784"/>
            <a:ext cx="2847601"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5148064" y="1541934"/>
            <a:ext cx="29523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通过元素的</a:t>
            </a:r>
            <a:r>
              <a:rPr lang="en-US" altLang="zh-CN" dirty="0" smtClean="0">
                <a:solidFill>
                  <a:schemeClr val="bg1"/>
                </a:solidFill>
                <a:latin typeface="微软雅黑" panose="020B0503020204020204" pitchFamily="34" charset="-122"/>
                <a:ea typeface="微软雅黑" panose="020B0503020204020204" pitchFamily="34" charset="-122"/>
              </a:rPr>
              <a:t>id</a:t>
            </a:r>
            <a:r>
              <a:rPr lang="zh-CN" altLang="en-US" dirty="0" smtClean="0">
                <a:solidFill>
                  <a:schemeClr val="bg1"/>
                </a:solidFill>
                <a:latin typeface="微软雅黑" panose="020B0503020204020204" pitchFamily="34" charset="-122"/>
                <a:ea typeface="微软雅黑" panose="020B0503020204020204" pitchFamily="34" charset="-122"/>
              </a:rPr>
              <a:t>属性获取元素</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6"/>
          <p:cNvSpPr>
            <a:spLocks noChangeArrowheads="1"/>
          </p:cNvSpPr>
          <p:nvPr/>
        </p:nvSpPr>
        <p:spPr bwMode="auto">
          <a:xfrm>
            <a:off x="592932" y="2786470"/>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en-US" altLang="zh-CN" dirty="0" err="1" smtClean="0"/>
              <a:t>document.getElementById</a:t>
            </a:r>
            <a:r>
              <a:rPr lang="en-US" altLang="zh-CN" dirty="0"/>
              <a:t>("</a:t>
            </a:r>
            <a:r>
              <a:rPr lang="en-US" altLang="zh-CN" dirty="0" err="1"/>
              <a:t>userId</a:t>
            </a:r>
            <a:r>
              <a:rPr lang="en-US" altLang="zh-CN" dirty="0"/>
              <a:t>");</a:t>
            </a:r>
            <a:endParaRPr lang="zh-CN" altLang="zh-CN" dirty="0"/>
          </a:p>
        </p:txBody>
      </p:sp>
      <p:sp>
        <p:nvSpPr>
          <p:cNvPr id="9" name="矩形 8"/>
          <p:cNvSpPr/>
          <p:nvPr/>
        </p:nvSpPr>
        <p:spPr bwMode="auto">
          <a:xfrm>
            <a:off x="538931" y="3789040"/>
            <a:ext cx="8137525" cy="237626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0" name="矩形 15"/>
          <p:cNvSpPr>
            <a:spLocks noChangeArrowheads="1"/>
          </p:cNvSpPr>
          <p:nvPr/>
        </p:nvSpPr>
        <p:spPr bwMode="auto">
          <a:xfrm>
            <a:off x="564455" y="3810354"/>
            <a:ext cx="804068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Document</a:t>
            </a:r>
            <a:r>
              <a:rPr lang="zh-CN" altLang="zh-CN" dirty="0">
                <a:latin typeface="Times New Roman" panose="02020603050405020304" pitchFamily="18" charset="0"/>
                <a:cs typeface="Times New Roman" panose="02020603050405020304" pitchFamily="18" charset="0"/>
              </a:rPr>
              <a:t>的</a:t>
            </a:r>
            <a:r>
              <a:rPr lang="en-US" altLang="zh-CN" dirty="0" err="1">
                <a:latin typeface="Times New Roman" panose="02020603050405020304" pitchFamily="18" charset="0"/>
                <a:cs typeface="Times New Roman" panose="02020603050405020304" pitchFamily="18" charset="0"/>
              </a:rPr>
              <a:t>getElementsByName</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方法可以通过元素的</a:t>
            </a:r>
            <a:r>
              <a:rPr lang="en-US" altLang="zh-CN" dirty="0">
                <a:latin typeface="Times New Roman" panose="02020603050405020304" pitchFamily="18" charset="0"/>
                <a:cs typeface="Times New Roman" panose="02020603050405020304" pitchFamily="18" charset="0"/>
              </a:rPr>
              <a:t>name</a:t>
            </a:r>
            <a:r>
              <a:rPr lang="zh-CN" altLang="zh-CN" dirty="0">
                <a:latin typeface="Times New Roman" panose="02020603050405020304" pitchFamily="18" charset="0"/>
                <a:cs typeface="Times New Roman" panose="02020603050405020304" pitchFamily="18" charset="0"/>
              </a:rPr>
              <a:t>属性获取元素。由于多个元素可能有相同的</a:t>
            </a:r>
            <a:r>
              <a:rPr lang="en-US" altLang="zh-CN" dirty="0">
                <a:latin typeface="Times New Roman" panose="02020603050405020304" pitchFamily="18" charset="0"/>
                <a:cs typeface="Times New Roman" panose="02020603050405020304" pitchFamily="18" charset="0"/>
              </a:rPr>
              <a:t>name</a:t>
            </a:r>
            <a:r>
              <a:rPr lang="zh-CN" altLang="zh-CN" dirty="0">
                <a:latin typeface="Times New Roman" panose="02020603050405020304" pitchFamily="18" charset="0"/>
                <a:cs typeface="Times New Roman" panose="02020603050405020304" pitchFamily="18" charset="0"/>
              </a:rPr>
              <a:t>值，所以该方法返回值为一个数组，而不是一个元素。如果想获得唯一的元素，可以通过获取返回数组中下标值为</a:t>
            </a:r>
            <a:r>
              <a:rPr lang="en-US" altLang="zh-CN" dirty="0">
                <a:latin typeface="Times New Roman" panose="02020603050405020304" pitchFamily="18" charset="0"/>
                <a:cs typeface="Times New Roman" panose="02020603050405020304" pitchFamily="18" charset="0"/>
              </a:rPr>
              <a:t>0</a:t>
            </a:r>
            <a:r>
              <a:rPr lang="zh-CN" altLang="zh-CN" dirty="0">
                <a:latin typeface="Times New Roman" panose="02020603050405020304" pitchFamily="18" charset="0"/>
                <a:cs typeface="Times New Roman" panose="02020603050405020304" pitchFamily="18" charset="0"/>
              </a:rPr>
              <a:t>的元素进行获取。例如，获取</a:t>
            </a:r>
            <a:r>
              <a:rPr lang="en-US" altLang="zh-CN" dirty="0">
                <a:latin typeface="Times New Roman" panose="02020603050405020304" pitchFamily="18" charset="0"/>
                <a:cs typeface="Times New Roman" panose="02020603050405020304" pitchFamily="18" charset="0"/>
              </a:rPr>
              <a:t>name</a:t>
            </a:r>
            <a:r>
              <a:rPr lang="zh-CN" altLang="zh-CN" dirty="0">
                <a:latin typeface="Times New Roman" panose="02020603050405020304" pitchFamily="18" charset="0"/>
                <a:cs typeface="Times New Roman" panose="02020603050405020304" pitchFamily="18" charset="0"/>
              </a:rPr>
              <a:t>值为</a:t>
            </a:r>
            <a:r>
              <a:rPr lang="en-US" altLang="zh-CN" dirty="0" err="1">
                <a:latin typeface="Times New Roman" panose="02020603050405020304" pitchFamily="18" charset="0"/>
                <a:cs typeface="Times New Roman" panose="02020603050405020304" pitchFamily="18" charset="0"/>
              </a:rPr>
              <a:t>userName</a:t>
            </a:r>
            <a:r>
              <a:rPr lang="zh-CN" altLang="zh-CN" dirty="0">
                <a:latin typeface="Times New Roman" panose="02020603050405020304" pitchFamily="18" charset="0"/>
                <a:cs typeface="Times New Roman" panose="02020603050405020304" pitchFamily="18" charset="0"/>
              </a:rPr>
              <a:t>节点的代码如下所示</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11" name="任意多边形 10"/>
          <p:cNvSpPr/>
          <p:nvPr/>
        </p:nvSpPr>
        <p:spPr bwMode="auto">
          <a:xfrm>
            <a:off x="4760145" y="3374508"/>
            <a:ext cx="333250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2" name="矩形 11"/>
          <p:cNvSpPr>
            <a:spLocks noChangeArrowheads="1"/>
          </p:cNvSpPr>
          <p:nvPr/>
        </p:nvSpPr>
        <p:spPr bwMode="auto">
          <a:xfrm>
            <a:off x="4740301" y="3431658"/>
            <a:ext cx="33332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通过元素的</a:t>
            </a:r>
            <a:r>
              <a:rPr lang="en-US" altLang="zh-CN" dirty="0" smtClean="0">
                <a:solidFill>
                  <a:schemeClr val="bg1"/>
                </a:solidFill>
                <a:latin typeface="微软雅黑" panose="020B0503020204020204" pitchFamily="34" charset="-122"/>
                <a:ea typeface="微软雅黑" panose="020B0503020204020204" pitchFamily="34" charset="-122"/>
              </a:rPr>
              <a:t>name</a:t>
            </a:r>
            <a:r>
              <a:rPr lang="zh-CN" altLang="en-US" dirty="0" smtClean="0">
                <a:solidFill>
                  <a:schemeClr val="bg1"/>
                </a:solidFill>
                <a:latin typeface="微软雅黑" panose="020B0503020204020204" pitchFamily="34" charset="-122"/>
                <a:ea typeface="微软雅黑" panose="020B0503020204020204" pitchFamily="34" charset="-122"/>
              </a:rPr>
              <a:t>属性获取元素</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3" name="矩形 12"/>
          <p:cNvSpPr>
            <a:spLocks noChangeArrowheads="1"/>
          </p:cNvSpPr>
          <p:nvPr/>
        </p:nvSpPr>
        <p:spPr bwMode="auto">
          <a:xfrm>
            <a:off x="585887" y="5589240"/>
            <a:ext cx="8042275" cy="36004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en-US" altLang="zh-CN" dirty="0" err="1" smtClean="0"/>
              <a:t>document.getElementsByName</a:t>
            </a:r>
            <a:r>
              <a:rPr lang="en-US" altLang="zh-CN" dirty="0"/>
              <a:t>("</a:t>
            </a:r>
            <a:r>
              <a:rPr lang="en-US" altLang="zh-CN" dirty="0" err="1"/>
              <a:t>userName</a:t>
            </a:r>
            <a:r>
              <a:rPr lang="en-US" altLang="zh-CN" dirty="0"/>
              <a:t>")[0];</a:t>
            </a:r>
            <a:endParaRPr lang="zh-CN" altLang="zh-CN" dirty="0"/>
          </a:p>
        </p:txBody>
      </p:sp>
      <p:sp>
        <p:nvSpPr>
          <p:cNvPr id="14"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1.3.1  DOM</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相关知识</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10" grpId="0"/>
      <p:bldP spid="11" grpId="0" animBg="1"/>
      <p:bldP spid="12" grpId="0"/>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矩形 2"/>
          <p:cNvSpPr/>
          <p:nvPr/>
        </p:nvSpPr>
        <p:spPr bwMode="auto">
          <a:xfrm>
            <a:off x="545976" y="1772816"/>
            <a:ext cx="8137525" cy="318586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789287"/>
            <a:ext cx="8040688" cy="2953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Web</a:t>
            </a:r>
            <a:r>
              <a:rPr lang="zh-CN" altLang="zh-CN" dirty="0">
                <a:latin typeface="Times New Roman" panose="02020603050405020304" pitchFamily="18" charset="0"/>
                <a:cs typeface="Times New Roman" panose="02020603050405020304" pitchFamily="18" charset="0"/>
              </a:rPr>
              <a:t>中一种功能强大的脚本语言，被设计为向</a:t>
            </a:r>
            <a:r>
              <a:rPr lang="en-US" altLang="zh-CN" dirty="0">
                <a:latin typeface="Times New Roman" panose="02020603050405020304" pitchFamily="18" charset="0"/>
                <a:cs typeface="Times New Roman" panose="02020603050405020304" pitchFamily="18" charset="0"/>
              </a:rPr>
              <a:t> HTML </a:t>
            </a:r>
            <a:r>
              <a:rPr lang="zh-CN" altLang="zh-CN" dirty="0">
                <a:latin typeface="Times New Roman" panose="02020603050405020304" pitchFamily="18" charset="0"/>
                <a:cs typeface="Times New Roman" panose="02020603050405020304" pitchFamily="18" charset="0"/>
              </a:rPr>
              <a:t>页面增加交互性，常用来为网页添加各式各样的动态功能，它不需要进行编译，直接嵌入在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页面中，就可以把静态的页面转变成支持用户交互并响应事件的动态页面</a:t>
            </a:r>
            <a:r>
              <a:rPr lang="zh-CN" altLang="zh-CN"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文档中，较为常用的引入</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的方式有两种，一种是在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文档中直接嵌入</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脚本，称为内嵌式；另一种是链接外部</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脚本文件，称为外链式</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5"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45976" y="1827308"/>
            <a:ext cx="8137525" cy="282582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849589"/>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HTML</a:t>
            </a:r>
            <a:r>
              <a:rPr lang="zh-CN" altLang="zh-CN" dirty="0">
                <a:latin typeface="Times New Roman" panose="02020603050405020304" pitchFamily="18" charset="0"/>
                <a:cs typeface="Times New Roman" panose="02020603050405020304" pitchFamily="18" charset="0"/>
              </a:rPr>
              <a:t>文档中，通过</a:t>
            </a:r>
            <a:r>
              <a:rPr lang="en-US" altLang="zh-CN" dirty="0">
                <a:latin typeface="Times New Roman" panose="02020603050405020304" pitchFamily="18" charset="0"/>
                <a:cs typeface="Times New Roman" panose="02020603050405020304" pitchFamily="18" charset="0"/>
              </a:rPr>
              <a:t>&lt;script&gt;&lt;/script&gt;</a:t>
            </a:r>
            <a:r>
              <a:rPr lang="zh-CN" altLang="zh-CN" dirty="0">
                <a:latin typeface="Times New Roman" panose="02020603050405020304" pitchFamily="18" charset="0"/>
                <a:cs typeface="Times New Roman" panose="02020603050405020304" pitchFamily="18" charset="0"/>
              </a:rPr>
              <a:t>标签及其相关属性可以引入</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代码。当浏览器读取到</a:t>
            </a:r>
            <a:r>
              <a:rPr lang="en-US" altLang="zh-CN" dirty="0">
                <a:latin typeface="Times New Roman" panose="02020603050405020304" pitchFamily="18" charset="0"/>
                <a:cs typeface="Times New Roman" panose="02020603050405020304" pitchFamily="18" charset="0"/>
              </a:rPr>
              <a:t>&lt;script&gt;</a:t>
            </a:r>
            <a:r>
              <a:rPr lang="zh-CN" altLang="zh-CN" dirty="0">
                <a:latin typeface="Times New Roman" panose="02020603050405020304" pitchFamily="18" charset="0"/>
                <a:cs typeface="Times New Roman" panose="02020603050405020304" pitchFamily="18" charset="0"/>
              </a:rPr>
              <a:t>标签时，就会解释执行其中的脚本。</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的内嵌式的使用方式如下</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5" name="任意多边形 4"/>
          <p:cNvSpPr/>
          <p:nvPr/>
        </p:nvSpPr>
        <p:spPr bwMode="auto">
          <a:xfrm>
            <a:off x="6012160" y="1412776"/>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516216" y="1469926"/>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a:solidFill>
                  <a:schemeClr val="bg1"/>
                </a:solidFill>
                <a:latin typeface="微软雅黑" panose="020B0503020204020204" pitchFamily="34" charset="-122"/>
                <a:ea typeface="微软雅黑" panose="020B0503020204020204" pitchFamily="34" charset="-122"/>
              </a:rPr>
              <a:t>内</a:t>
            </a:r>
            <a:r>
              <a:rPr lang="zh-CN" altLang="en-US" dirty="0" smtClean="0">
                <a:solidFill>
                  <a:schemeClr val="bg1"/>
                </a:solidFill>
                <a:latin typeface="微软雅黑" panose="020B0503020204020204" pitchFamily="34" charset="-122"/>
                <a:ea typeface="微软雅黑" panose="020B0503020204020204" pitchFamily="34" charset="-122"/>
              </a:rPr>
              <a:t>嵌式</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6"/>
          <p:cNvSpPr>
            <a:spLocks noChangeArrowheads="1"/>
          </p:cNvSpPr>
          <p:nvPr/>
        </p:nvSpPr>
        <p:spPr bwMode="auto">
          <a:xfrm>
            <a:off x="592932" y="3218518"/>
            <a:ext cx="8042275" cy="129060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&lt;</a:t>
            </a:r>
            <a:r>
              <a:rPr lang="en-US" altLang="zh-CN" dirty="0"/>
              <a:t>script type="text/</a:t>
            </a:r>
            <a:r>
              <a:rPr lang="en-US" altLang="zh-CN" dirty="0" err="1"/>
              <a:t>javascript</a:t>
            </a:r>
            <a:r>
              <a:rPr lang="en-US" altLang="zh-CN" dirty="0"/>
              <a:t>"&gt;</a:t>
            </a:r>
            <a:endParaRPr lang="zh-CN" altLang="zh-CN" dirty="0"/>
          </a:p>
          <a:p>
            <a:pPr>
              <a:lnSpc>
                <a:spcPct val="150000"/>
              </a:lnSpc>
            </a:pPr>
            <a:r>
              <a:rPr lang="en-US" altLang="zh-CN" dirty="0"/>
              <a:t>     </a:t>
            </a:r>
            <a:r>
              <a:rPr lang="en-US" altLang="zh-CN" dirty="0" smtClean="0"/>
              <a:t>     // </a:t>
            </a:r>
            <a:r>
              <a:rPr lang="zh-CN" altLang="zh-CN" dirty="0"/>
              <a:t>此处为</a:t>
            </a:r>
            <a:r>
              <a:rPr lang="en-US" altLang="zh-CN" dirty="0"/>
              <a:t>JavaScript</a:t>
            </a:r>
            <a:r>
              <a:rPr lang="zh-CN" altLang="zh-CN" dirty="0"/>
              <a:t>代码</a:t>
            </a:r>
            <a:endParaRPr lang="zh-CN" altLang="zh-CN" dirty="0"/>
          </a:p>
          <a:p>
            <a:pPr>
              <a:lnSpc>
                <a:spcPct val="150000"/>
              </a:lnSpc>
            </a:pPr>
            <a:r>
              <a:rPr lang="en-US" altLang="zh-CN" dirty="0" smtClean="0"/>
              <a:t>     &lt;/</a:t>
            </a:r>
            <a:r>
              <a:rPr lang="en-US" altLang="zh-CN" dirty="0"/>
              <a:t>script&gt;</a:t>
            </a:r>
            <a:endParaRPr lang="zh-CN" altLang="zh-CN" dirty="0"/>
          </a:p>
        </p:txBody>
      </p:sp>
      <p:cxnSp>
        <p:nvCxnSpPr>
          <p:cNvPr id="8" name="直接箭头连接符 7"/>
          <p:cNvCxnSpPr>
            <a:cxnSpLocks noChangeShapeType="1"/>
          </p:cNvCxnSpPr>
          <p:nvPr/>
        </p:nvCxnSpPr>
        <p:spPr bwMode="auto">
          <a:xfrm>
            <a:off x="3779912" y="3573016"/>
            <a:ext cx="762818" cy="158334"/>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8"/>
          <p:cNvSpPr>
            <a:spLocks noChangeArrowheads="1"/>
          </p:cNvSpPr>
          <p:nvPr/>
        </p:nvSpPr>
        <p:spPr bwMode="auto">
          <a:xfrm>
            <a:off x="1619672" y="3312230"/>
            <a:ext cx="2088232" cy="393254"/>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3" name="圆角矩形 12"/>
          <p:cNvSpPr/>
          <p:nvPr/>
        </p:nvSpPr>
        <p:spPr>
          <a:xfrm>
            <a:off x="4572000" y="3524433"/>
            <a:ext cx="2088232"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指定脚本语言类型</a:t>
            </a:r>
            <a:endParaRPr lang="en-US" altLang="zh-CN" b="1" dirty="0">
              <a:solidFill>
                <a:schemeClr val="bg1"/>
              </a:solidFill>
            </a:endParaRPr>
          </a:p>
        </p:txBody>
      </p:sp>
      <p:sp>
        <p:nvSpPr>
          <p:cNvPr id="14" name="圆角矩形标注 13"/>
          <p:cNvSpPr>
            <a:spLocks noChangeArrowheads="1"/>
          </p:cNvSpPr>
          <p:nvPr/>
        </p:nvSpPr>
        <p:spPr bwMode="auto">
          <a:xfrm>
            <a:off x="1381423" y="5013177"/>
            <a:ext cx="5962885" cy="1008112"/>
          </a:xfrm>
          <a:prstGeom prst="wedgeRoundRectCallout">
            <a:avLst>
              <a:gd name="adj1" fmla="val -15305"/>
              <a:gd name="adj2" fmla="val -6883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Times New Roman" panose="02020603050405020304" pitchFamily="18" charset="0"/>
                <a:ea typeface="+mn-ea"/>
                <a:cs typeface="Times New Roman" panose="02020603050405020304" pitchFamily="18" charset="0"/>
              </a:rPr>
              <a:t>在老旧的浏览器中，引入</a:t>
            </a:r>
            <a:r>
              <a:rPr lang="en-US" altLang="zh-CN" sz="1600" b="1" dirty="0" err="1">
                <a:solidFill>
                  <a:schemeClr val="bg1"/>
                </a:solidFill>
                <a:latin typeface="Times New Roman" panose="02020603050405020304" pitchFamily="18" charset="0"/>
                <a:ea typeface="+mn-ea"/>
                <a:cs typeface="Times New Roman" panose="02020603050405020304" pitchFamily="18" charset="0"/>
              </a:rPr>
              <a:t>javascript</a:t>
            </a:r>
            <a:r>
              <a:rPr lang="zh-CN" altLang="zh-CN" sz="1600" b="1" dirty="0">
                <a:solidFill>
                  <a:schemeClr val="bg1"/>
                </a:solidFill>
                <a:latin typeface="Times New Roman" panose="02020603050405020304" pitchFamily="18" charset="0"/>
                <a:ea typeface="+mn-ea"/>
                <a:cs typeface="Times New Roman" panose="02020603050405020304" pitchFamily="18" charset="0"/>
              </a:rPr>
              <a:t>脚本时</a:t>
            </a:r>
            <a:r>
              <a:rPr lang="en-US" altLang="zh-CN" sz="1600" b="1" dirty="0">
                <a:solidFill>
                  <a:schemeClr val="bg1"/>
                </a:solidFill>
                <a:latin typeface="Times New Roman" panose="02020603050405020304" pitchFamily="18" charset="0"/>
                <a:ea typeface="+mn-ea"/>
                <a:cs typeface="Times New Roman" panose="02020603050405020304" pitchFamily="18" charset="0"/>
              </a:rPr>
              <a:t>type=” text/</a:t>
            </a:r>
            <a:r>
              <a:rPr lang="en-US" altLang="zh-CN" sz="1600" b="1" dirty="0" err="1">
                <a:solidFill>
                  <a:schemeClr val="bg1"/>
                </a:solidFill>
                <a:latin typeface="Times New Roman" panose="02020603050405020304" pitchFamily="18" charset="0"/>
                <a:ea typeface="+mn-ea"/>
                <a:cs typeface="Times New Roman" panose="02020603050405020304" pitchFamily="18" charset="0"/>
              </a:rPr>
              <a:t>javascript</a:t>
            </a:r>
            <a:r>
              <a:rPr lang="en-US" altLang="zh-CN" sz="1600" b="1" dirty="0">
                <a:solidFill>
                  <a:schemeClr val="bg1"/>
                </a:solidFill>
                <a:latin typeface="Times New Roman" panose="02020603050405020304" pitchFamily="18" charset="0"/>
                <a:ea typeface="+mn-ea"/>
                <a:cs typeface="Times New Roman" panose="02020603050405020304" pitchFamily="18" charset="0"/>
              </a:rPr>
              <a:t>”</a:t>
            </a:r>
            <a:r>
              <a:rPr lang="zh-CN" altLang="zh-CN" sz="1600" b="1" dirty="0">
                <a:solidFill>
                  <a:schemeClr val="bg1"/>
                </a:solidFill>
                <a:latin typeface="Times New Roman" panose="02020603050405020304" pitchFamily="18" charset="0"/>
                <a:ea typeface="+mn-ea"/>
                <a:cs typeface="Times New Roman" panose="02020603050405020304" pitchFamily="18" charset="0"/>
              </a:rPr>
              <a:t>是必须编写的，但现在已经可以不使用了，因为</a:t>
            </a:r>
            <a:r>
              <a:rPr lang="en-US" altLang="zh-CN" sz="1600" b="1" dirty="0">
                <a:solidFill>
                  <a:schemeClr val="bg1"/>
                </a:solidFill>
                <a:latin typeface="Times New Roman" panose="02020603050405020304" pitchFamily="18" charset="0"/>
                <a:ea typeface="+mn-ea"/>
                <a:cs typeface="Times New Roman" panose="02020603050405020304" pitchFamily="18" charset="0"/>
              </a:rPr>
              <a:t>JavaScript</a:t>
            </a:r>
            <a:r>
              <a:rPr lang="zh-CN" altLang="zh-CN" sz="1600" b="1" dirty="0">
                <a:solidFill>
                  <a:schemeClr val="bg1"/>
                </a:solidFill>
                <a:latin typeface="Times New Roman" panose="02020603050405020304" pitchFamily="18" charset="0"/>
                <a:ea typeface="+mn-ea"/>
                <a:cs typeface="Times New Roman" panose="02020603050405020304" pitchFamily="18" charset="0"/>
              </a:rPr>
              <a:t>是所有现代浏览器以及</a:t>
            </a:r>
            <a:r>
              <a:rPr lang="en-US" altLang="zh-CN" sz="1600" b="1" dirty="0">
                <a:solidFill>
                  <a:schemeClr val="bg1"/>
                </a:solidFill>
                <a:latin typeface="Times New Roman" panose="02020603050405020304" pitchFamily="18" charset="0"/>
                <a:ea typeface="+mn-ea"/>
                <a:cs typeface="Times New Roman" panose="02020603050405020304" pitchFamily="18" charset="0"/>
              </a:rPr>
              <a:t>HTML5</a:t>
            </a:r>
            <a:r>
              <a:rPr lang="zh-CN" altLang="zh-CN" sz="1600" b="1" dirty="0">
                <a:solidFill>
                  <a:schemeClr val="bg1"/>
                </a:solidFill>
                <a:latin typeface="Times New Roman" panose="02020603050405020304" pitchFamily="18" charset="0"/>
                <a:ea typeface="+mn-ea"/>
                <a:cs typeface="Times New Roman" panose="02020603050405020304" pitchFamily="18" charset="0"/>
              </a:rPr>
              <a:t>中的默认脚本语言。</a:t>
            </a:r>
            <a:endParaRPr lang="zh-CN" altLang="zh-CN" sz="1600" b="1" dirty="0">
              <a:solidFill>
                <a:schemeClr val="bg1"/>
              </a:solidFill>
              <a:latin typeface="Times New Roman" panose="02020603050405020304" pitchFamily="18" charset="0"/>
              <a:ea typeface="+mn-ea"/>
              <a:cs typeface="Times New Roman" panose="02020603050405020304" pitchFamily="18" charset="0"/>
            </a:endParaRPr>
          </a:p>
        </p:txBody>
      </p:sp>
      <p:sp>
        <p:nvSpPr>
          <p:cNvPr id="15" name="矩形 14"/>
          <p:cNvSpPr/>
          <p:nvPr/>
        </p:nvSpPr>
        <p:spPr bwMode="auto">
          <a:xfrm>
            <a:off x="545976" y="1971325"/>
            <a:ext cx="8137525" cy="2105749"/>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6" name="矩形 15"/>
          <p:cNvSpPr>
            <a:spLocks noChangeArrowheads="1"/>
          </p:cNvSpPr>
          <p:nvPr/>
        </p:nvSpPr>
        <p:spPr bwMode="auto">
          <a:xfrm>
            <a:off x="571500" y="1993606"/>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当脚本代码比较复杂或者同一段代码需要被多个网页文件使用时，可以将这些脚本代码放置在一个扩展名为</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js</a:t>
            </a:r>
            <a:r>
              <a:rPr lang="zh-CN" altLang="zh-CN" dirty="0">
                <a:latin typeface="Times New Roman" panose="02020603050405020304" pitchFamily="18" charset="0"/>
                <a:cs typeface="Times New Roman" panose="02020603050405020304" pitchFamily="18" charset="0"/>
              </a:rPr>
              <a:t>的文件中，然后通过外链式引入该</a:t>
            </a:r>
            <a:r>
              <a:rPr lang="en-US" altLang="zh-CN" dirty="0" err="1">
                <a:latin typeface="Times New Roman" panose="02020603050405020304" pitchFamily="18" charset="0"/>
                <a:cs typeface="Times New Roman" panose="02020603050405020304" pitchFamily="18" charset="0"/>
              </a:rPr>
              <a:t>js</a:t>
            </a:r>
            <a:r>
              <a:rPr lang="zh-CN" altLang="zh-CN" dirty="0">
                <a:latin typeface="Times New Roman" panose="02020603050405020304" pitchFamily="18" charset="0"/>
                <a:cs typeface="Times New Roman" panose="02020603050405020304" pitchFamily="18" charset="0"/>
              </a:rPr>
              <a:t>文件。在</a:t>
            </a:r>
            <a:r>
              <a:rPr lang="en-US" altLang="zh-CN" dirty="0">
                <a:latin typeface="Times New Roman" panose="02020603050405020304" pitchFamily="18" charset="0"/>
                <a:cs typeface="Times New Roman" panose="02020603050405020304" pitchFamily="18" charset="0"/>
              </a:rPr>
              <a:t>Web</a:t>
            </a:r>
            <a:r>
              <a:rPr lang="zh-CN" altLang="zh-CN" dirty="0">
                <a:latin typeface="Times New Roman" panose="02020603050405020304" pitchFamily="18" charset="0"/>
                <a:cs typeface="Times New Roman" panose="02020603050405020304" pitchFamily="18" charset="0"/>
              </a:rPr>
              <a:t>页面中使用外链式引入</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文件的方式如下</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17" name="任意多边形 16"/>
          <p:cNvSpPr/>
          <p:nvPr/>
        </p:nvSpPr>
        <p:spPr bwMode="auto">
          <a:xfrm>
            <a:off x="6012160" y="1556793"/>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8" name="矩形 17"/>
          <p:cNvSpPr>
            <a:spLocks noChangeArrowheads="1"/>
          </p:cNvSpPr>
          <p:nvPr/>
        </p:nvSpPr>
        <p:spPr bwMode="auto">
          <a:xfrm>
            <a:off x="6516216" y="1613943"/>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外链式</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9" name="矩形 18"/>
          <p:cNvSpPr>
            <a:spLocks noChangeArrowheads="1"/>
          </p:cNvSpPr>
          <p:nvPr/>
        </p:nvSpPr>
        <p:spPr bwMode="auto">
          <a:xfrm>
            <a:off x="592932" y="3362535"/>
            <a:ext cx="8042275" cy="426507"/>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&lt;</a:t>
            </a:r>
            <a:r>
              <a:rPr lang="en-US" altLang="zh-CN" dirty="0"/>
              <a:t>script type="text/</a:t>
            </a:r>
            <a:r>
              <a:rPr lang="en-US" altLang="zh-CN" dirty="0" err="1"/>
              <a:t>javascript</a:t>
            </a:r>
            <a:r>
              <a:rPr lang="en-US" altLang="zh-CN" dirty="0"/>
              <a:t>" </a:t>
            </a:r>
            <a:r>
              <a:rPr lang="en-US" altLang="zh-CN" dirty="0" err="1"/>
              <a:t>src</a:t>
            </a:r>
            <a:r>
              <a:rPr lang="en-US" altLang="zh-CN" dirty="0"/>
              <a:t>="JS</a:t>
            </a:r>
            <a:r>
              <a:rPr lang="zh-CN" altLang="zh-CN" dirty="0"/>
              <a:t>文件的路径</a:t>
            </a:r>
            <a:r>
              <a:rPr lang="en-US" altLang="zh-CN" dirty="0"/>
              <a:t>"&gt;&lt;/script&gt;</a:t>
            </a:r>
            <a:endParaRPr lang="zh-CN" altLang="zh-CN" dirty="0"/>
          </a:p>
        </p:txBody>
      </p:sp>
      <p:sp>
        <p:nvSpPr>
          <p:cNvPr id="21" name="内容占位符 2"/>
          <p:cNvSpPr txBox="1"/>
          <p:nvPr/>
        </p:nvSpPr>
        <p:spPr bwMode="auto">
          <a:xfrm>
            <a:off x="395536" y="908720"/>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endParaRPr lang="en-US" altLang="zh-CN" sz="2000" b="1" kern="0" dirty="0">
              <a:solidFill>
                <a:srgbClr val="0070C0"/>
              </a:solidFill>
              <a:latin typeface="Arial" panose="020B0604020202020204"/>
              <a:ea typeface="宋体" panose="02010600030101010101" pitchFamily="2" charset="-122"/>
            </a:endParaRPr>
          </a:p>
        </p:txBody>
      </p:sp>
      <p:sp>
        <p:nvSpPr>
          <p:cNvPr id="22"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childTnLst>
                          </p:cTn>
                        </p:par>
                        <p:par>
                          <p:cTn id="39" fill="hold">
                            <p:stCondLst>
                              <p:cond delay="0"/>
                            </p:stCondLst>
                            <p:childTnLst>
                              <p:par>
                                <p:cTn id="40" presetID="22" presetClass="entr" presetSubtype="1"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up)">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3"/>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5"/>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6"/>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7"/>
                                        </p:tgtEl>
                                        <p:attrNameLst>
                                          <p:attrName>style.visibility</p:attrName>
                                        </p:attrNameLst>
                                      </p:cBhvr>
                                      <p:to>
                                        <p:strVal val="hidden"/>
                                      </p:to>
                                    </p:set>
                                  </p:childTnLst>
                                </p:cTn>
                              </p:par>
                              <p:par>
                                <p:cTn id="55" presetID="1" presetClass="exit" presetSubtype="0" fill="hold" grpId="2"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8"/>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1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4"/>
                                        </p:tgtEl>
                                        <p:attrNameLst>
                                          <p:attrName>style.visibility</p:attrName>
                                        </p:attrNameLst>
                                      </p:cBhvr>
                                      <p:to>
                                        <p:strVal val="hidden"/>
                                      </p:to>
                                    </p:set>
                                  </p:childTnLst>
                                </p:cTn>
                              </p:par>
                            </p:childTnLst>
                          </p:cTn>
                        </p:par>
                        <p:par>
                          <p:cTn id="63" fill="hold">
                            <p:stCondLst>
                              <p:cond delay="0"/>
                            </p:stCondLst>
                            <p:childTnLst>
                              <p:par>
                                <p:cTn id="64" presetID="22" presetClass="entr" presetSubtype="8" fill="hold" grpId="0" nodeType="after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left)">
                                      <p:cBhvr>
                                        <p:cTn id="66" dur="500"/>
                                        <p:tgtEl>
                                          <p:spTgt spid="16"/>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left)">
                                      <p:cBhvr>
                                        <p:cTn id="69" dur="500"/>
                                        <p:tgtEl>
                                          <p:spTgt spid="17"/>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par>
                                <p:cTn id="73" presetID="22" presetClass="entr" presetSubtype="8" fill="hold"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animBg="1"/>
      <p:bldP spid="5" grpId="1" animBg="1"/>
      <p:bldP spid="6" grpId="0"/>
      <p:bldP spid="6" grpId="1"/>
      <p:bldP spid="7" grpId="0" animBg="1"/>
      <p:bldP spid="7" grpId="1" animBg="1"/>
      <p:bldP spid="9" grpId="0" animBg="1"/>
      <p:bldP spid="9" grpId="1" animBg="1"/>
      <p:bldP spid="9" grpId="2" animBg="1"/>
      <p:bldP spid="13" grpId="0" animBg="1"/>
      <p:bldP spid="13" grpId="1" animBg="1"/>
      <p:bldP spid="13" grpId="2" animBg="1"/>
      <p:bldP spid="14" grpId="0" animBg="1"/>
      <p:bldP spid="14" grpId="1" animBg="1"/>
      <p:bldP spid="16" grpId="0"/>
      <p:bldP spid="17" grpId="0" animBg="1"/>
      <p:bldP spid="18" grpId="0"/>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bwMode="auto">
          <a:xfrm>
            <a:off x="395536" y="1664767"/>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zh-CN" sz="2000" b="1" kern="0" dirty="0">
                <a:solidFill>
                  <a:srgbClr val="0070C0"/>
                </a:solidFill>
                <a:latin typeface="Arial" panose="020B0604020202020204"/>
                <a:ea typeface="宋体" panose="02010600030101010101" pitchFamily="2" charset="-122"/>
              </a:rPr>
              <a:t>常见</a:t>
            </a:r>
            <a:r>
              <a:rPr lang="zh-CN" altLang="en-US" sz="2000" b="1" kern="0" dirty="0">
                <a:solidFill>
                  <a:srgbClr val="0070C0"/>
                </a:solidFill>
                <a:latin typeface="Arial" panose="020B0604020202020204"/>
                <a:ea typeface="宋体" panose="02010600030101010101" pitchFamily="2" charset="-122"/>
              </a:rPr>
              <a:t>的</a:t>
            </a:r>
            <a:r>
              <a:rPr lang="zh-CN" altLang="zh-CN" sz="2000" b="1" kern="0" dirty="0">
                <a:solidFill>
                  <a:srgbClr val="0070C0"/>
                </a:solidFill>
                <a:latin typeface="Arial" panose="020B0604020202020204"/>
                <a:ea typeface="宋体" panose="02010600030101010101" pitchFamily="2" charset="-122"/>
              </a:rPr>
              <a:t>数据类型</a:t>
            </a:r>
            <a:endParaRPr lang="en-US" altLang="zh-CN" sz="2000" b="1" kern="0" dirty="0">
              <a:solidFill>
                <a:srgbClr val="0070C0"/>
              </a:solidFill>
              <a:latin typeface="Arial" panose="020B0604020202020204"/>
              <a:ea typeface="宋体" panose="02010600030101010101" pitchFamily="2" charset="-122"/>
            </a:endParaRPr>
          </a:p>
        </p:txBody>
      </p:sp>
      <p:graphicFrame>
        <p:nvGraphicFramePr>
          <p:cNvPr id="8" name="表格 7"/>
          <p:cNvGraphicFramePr>
            <a:graphicFrameLocks noGrp="1"/>
          </p:cNvGraphicFramePr>
          <p:nvPr/>
        </p:nvGraphicFramePr>
        <p:xfrm>
          <a:off x="971600" y="2276872"/>
          <a:ext cx="7399536" cy="3015376"/>
        </p:xfrm>
        <a:graphic>
          <a:graphicData uri="http://schemas.openxmlformats.org/drawingml/2006/table">
            <a:tbl>
              <a:tblPr firstRow="1" bandRow="1">
                <a:tableStyleId>{69012ECD-51FC-41F1-AA8D-1B2483CD663E}</a:tableStyleId>
              </a:tblPr>
              <a:tblGrid>
                <a:gridCol w="1449148"/>
                <a:gridCol w="1521604"/>
                <a:gridCol w="4428784"/>
              </a:tblGrid>
              <a:tr h="302498">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kern="1200" dirty="0" smtClean="0">
                          <a:solidFill>
                            <a:schemeClr val="lt1"/>
                          </a:solidFill>
                          <a:latin typeface="+mn-lt"/>
                          <a:ea typeface="+mn-ea"/>
                          <a:cs typeface="+mn-cs"/>
                        </a:rPr>
                        <a:t>类型</a:t>
                      </a:r>
                      <a:endParaRPr lang="zh-CN" altLang="en-US" sz="1800" b="1" kern="1200" dirty="0" smtClean="0">
                        <a:solidFill>
                          <a:schemeClr val="lt1"/>
                        </a:solidFill>
                        <a:latin typeface="+mn-lt"/>
                        <a:ea typeface="+mn-ea"/>
                        <a:cs typeface="+mn-cs"/>
                      </a:endParaRPr>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含义</a:t>
                      </a:r>
                      <a:endParaRPr lang="en-US" altLang="zh-CN" sz="18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zh-CN" altLang="en-US" sz="1800" b="1" kern="1200" dirty="0" smtClean="0">
                          <a:solidFill>
                            <a:schemeClr val="lt1"/>
                          </a:solidFill>
                          <a:latin typeface="Arial" panose="020B0604020202020204"/>
                          <a:ea typeface="宋体" panose="02010600030101010101" pitchFamily="2" charset="-122"/>
                        </a:rPr>
                        <a:t>说明</a:t>
                      </a:r>
                      <a:endParaRPr lang="zh-CN" altLang="en-US" sz="1800" b="1" kern="1200" dirty="0">
                        <a:solidFill>
                          <a:schemeClr val="lt1"/>
                        </a:solidFill>
                        <a:latin typeface="Arial" panose="020B0604020202020204"/>
                        <a:ea typeface="宋体" panose="02010600030101010101" pitchFamily="2" charset="-122"/>
                      </a:endParaRPr>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tcPr>
                </a:tc>
              </a:tr>
              <a:tr h="415923">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lnSpc>
                          <a:spcPct val="150000"/>
                        </a:lnSpc>
                      </a:pPr>
                      <a:r>
                        <a:rPr lang="en-US" altLang="zh-CN" sz="1600" kern="1200" dirty="0" smtClean="0">
                          <a:solidFill>
                            <a:schemeClr val="dk1"/>
                          </a:solidFill>
                          <a:effectLst/>
                          <a:latin typeface="Arial" panose="020B0604020202020204"/>
                          <a:ea typeface="宋体" panose="02010600030101010101" pitchFamily="2" charset="-122"/>
                        </a:rPr>
                        <a:t>Number</a:t>
                      </a:r>
                      <a:endParaRPr lang="zh-CN" altLang="en-US" sz="1200" b="0" dirty="0"/>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a:effectLst/>
                          <a:latin typeface="+mn-ea"/>
                          <a:ea typeface="+mn-ea"/>
                        </a:rPr>
                        <a:t>数值型</a:t>
                      </a:r>
                      <a:endParaRPr lang="zh-CN" sz="1600" kern="10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a:effectLst/>
                          <a:latin typeface="+mn-ea"/>
                          <a:ea typeface="+mn-ea"/>
                        </a:rPr>
                        <a:t>数值型数据不区分整型和浮点型，数值型数据不要用引号括起来</a:t>
                      </a:r>
                      <a:endParaRPr lang="zh-CN" sz="1600" kern="10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566704">
                <a:tc>
                  <a:txBody>
                    <a:bodyPr/>
                    <a:lstStyle/>
                    <a:p>
                      <a:pPr algn="ctr">
                        <a:spcAft>
                          <a:spcPts val="0"/>
                        </a:spcAft>
                      </a:pPr>
                      <a:r>
                        <a:rPr lang="en-US" sz="1600" kern="100" dirty="0">
                          <a:effectLst/>
                          <a:latin typeface="Arial" panose="020B0604020202020204" pitchFamily="34" charset="0"/>
                          <a:ea typeface="Arial Unicode MS" panose="020B0604020202020204" charset="-122"/>
                          <a:cs typeface="Arial" panose="020B0604020202020204" pitchFamily="34" charset="0"/>
                        </a:rPr>
                        <a:t>String</a:t>
                      </a:r>
                      <a:endParaRPr lang="zh-CN" sz="1600" kern="100" dirty="0">
                        <a:effectLst/>
                        <a:latin typeface="Arial" panose="020B0604020202020204" pitchFamily="34" charset="0"/>
                        <a:ea typeface="Arial Unicode MS" panose="020B0604020202020204" charset="-122"/>
                        <a:cs typeface="Arial" panose="020B0604020202020204" pitchFamily="34" charset="0"/>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dirty="0">
                          <a:effectLst/>
                          <a:latin typeface="+mn-ea"/>
                          <a:ea typeface="+mn-ea"/>
                        </a:rPr>
                        <a:t>字符串类型</a:t>
                      </a:r>
                      <a:endParaRPr lang="zh-CN" sz="1600" kern="100" dirty="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dirty="0">
                          <a:effectLst/>
                          <a:latin typeface="+mn-ea"/>
                          <a:ea typeface="+mn-ea"/>
                        </a:rPr>
                        <a:t>字符串是用单引号或双引号括起来的一个或多个字符</a:t>
                      </a:r>
                      <a:endParaRPr lang="zh-CN" sz="1600" kern="100" dirty="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398799">
                <a:tc>
                  <a:txBody>
                    <a:bodyPr/>
                    <a:lstStyle/>
                    <a:p>
                      <a:pPr algn="ctr">
                        <a:spcAft>
                          <a:spcPts val="0"/>
                        </a:spcAft>
                      </a:pPr>
                      <a:r>
                        <a:rPr lang="en-US" sz="1600" kern="100" dirty="0">
                          <a:effectLst/>
                          <a:latin typeface="Arial" panose="020B0604020202020204" pitchFamily="34" charset="0"/>
                          <a:ea typeface="Arial Unicode MS" panose="020B0604020202020204" charset="-122"/>
                          <a:cs typeface="Arial" panose="020B0604020202020204" pitchFamily="34" charset="0"/>
                        </a:rPr>
                        <a:t>Boolean</a:t>
                      </a:r>
                      <a:endParaRPr lang="zh-CN" sz="1600" kern="100" dirty="0">
                        <a:effectLst/>
                        <a:latin typeface="Arial" panose="020B0604020202020204" pitchFamily="34" charset="0"/>
                        <a:ea typeface="Arial Unicode MS" panose="020B0604020202020204" charset="-122"/>
                        <a:cs typeface="Arial" panose="020B0604020202020204" pitchFamily="34" charset="0"/>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a:effectLst/>
                          <a:latin typeface="+mn-ea"/>
                          <a:ea typeface="+mn-ea"/>
                        </a:rPr>
                        <a:t>布尔类型</a:t>
                      </a:r>
                      <a:endParaRPr lang="zh-CN" sz="1600" kern="10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dirty="0">
                          <a:effectLst/>
                          <a:latin typeface="+mn-ea"/>
                          <a:ea typeface="+mn-ea"/>
                        </a:rPr>
                        <a:t>只有</a:t>
                      </a:r>
                      <a:r>
                        <a:rPr lang="en-US" sz="1600" kern="100" dirty="0">
                          <a:effectLst/>
                          <a:latin typeface="+mn-ea"/>
                          <a:ea typeface="+mn-ea"/>
                        </a:rPr>
                        <a:t>true</a:t>
                      </a:r>
                      <a:r>
                        <a:rPr lang="zh-CN" sz="1600" kern="100" dirty="0">
                          <a:effectLst/>
                          <a:latin typeface="+mn-ea"/>
                          <a:ea typeface="+mn-ea"/>
                        </a:rPr>
                        <a:t>或</a:t>
                      </a:r>
                      <a:r>
                        <a:rPr lang="en-US" sz="1600" kern="100" dirty="0">
                          <a:effectLst/>
                          <a:latin typeface="+mn-ea"/>
                          <a:ea typeface="+mn-ea"/>
                        </a:rPr>
                        <a:t>false</a:t>
                      </a:r>
                      <a:r>
                        <a:rPr lang="zh-CN" sz="1600" kern="100" dirty="0">
                          <a:effectLst/>
                          <a:latin typeface="+mn-ea"/>
                          <a:ea typeface="+mn-ea"/>
                        </a:rPr>
                        <a:t>两个值</a:t>
                      </a:r>
                      <a:endParaRPr lang="zh-CN" sz="1600" kern="100" dirty="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398799">
                <a:tc>
                  <a:txBody>
                    <a:bodyPr/>
                    <a:lstStyle/>
                    <a:p>
                      <a:pPr algn="ctr">
                        <a:spcAft>
                          <a:spcPts val="0"/>
                        </a:spcAft>
                      </a:pPr>
                      <a:r>
                        <a:rPr lang="en-US" sz="1600" kern="100" dirty="0">
                          <a:effectLst/>
                          <a:latin typeface="Arial" panose="020B0604020202020204" pitchFamily="34" charset="0"/>
                          <a:ea typeface="Arial Unicode MS" panose="020B0604020202020204" charset="-122"/>
                          <a:cs typeface="Arial" panose="020B0604020202020204" pitchFamily="34" charset="0"/>
                        </a:rPr>
                        <a:t>Object</a:t>
                      </a:r>
                      <a:endParaRPr lang="zh-CN" sz="1600" kern="100" dirty="0">
                        <a:effectLst/>
                        <a:latin typeface="Arial" panose="020B0604020202020204" pitchFamily="34" charset="0"/>
                        <a:ea typeface="Arial Unicode MS" panose="020B0604020202020204" charset="-122"/>
                        <a:cs typeface="Arial" panose="020B0604020202020204" pitchFamily="34" charset="0"/>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dirty="0">
                          <a:effectLst/>
                          <a:latin typeface="+mn-ea"/>
                          <a:ea typeface="+mn-ea"/>
                        </a:rPr>
                        <a:t>对象类型</a:t>
                      </a:r>
                      <a:endParaRPr lang="zh-CN" sz="1600" kern="100" dirty="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a:effectLst/>
                          <a:latin typeface="+mn-ea"/>
                          <a:ea typeface="+mn-ea"/>
                        </a:rPr>
                        <a:t>一组数据和功能的键值对集合</a:t>
                      </a:r>
                      <a:endParaRPr lang="zh-CN" sz="1600" kern="10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398799">
                <a:tc>
                  <a:txBody>
                    <a:bodyPr/>
                    <a:lstStyle/>
                    <a:p>
                      <a:pPr algn="ctr">
                        <a:spcAft>
                          <a:spcPts val="0"/>
                        </a:spcAft>
                      </a:pPr>
                      <a:r>
                        <a:rPr lang="en-US" sz="1600" kern="100" dirty="0">
                          <a:effectLst/>
                          <a:latin typeface="Arial" panose="020B0604020202020204" pitchFamily="34" charset="0"/>
                          <a:ea typeface="Arial Unicode MS" panose="020B0604020202020204" charset="-122"/>
                          <a:cs typeface="Arial" panose="020B0604020202020204" pitchFamily="34" charset="0"/>
                        </a:rPr>
                        <a:t>Null</a:t>
                      </a:r>
                      <a:endParaRPr lang="zh-CN" sz="1600" kern="100" dirty="0">
                        <a:effectLst/>
                        <a:latin typeface="Arial" panose="020B0604020202020204" pitchFamily="34" charset="0"/>
                        <a:ea typeface="Arial Unicode MS" panose="020B0604020202020204" charset="-122"/>
                        <a:cs typeface="Arial" panose="020B0604020202020204" pitchFamily="34" charset="0"/>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a:effectLst/>
                          <a:latin typeface="+mn-ea"/>
                          <a:ea typeface="+mn-ea"/>
                        </a:rPr>
                        <a:t>空类型</a:t>
                      </a:r>
                      <a:endParaRPr lang="zh-CN" sz="1600" kern="10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just">
                        <a:spcAft>
                          <a:spcPts val="0"/>
                        </a:spcAft>
                      </a:pPr>
                      <a:r>
                        <a:rPr lang="zh-CN" sz="1600" kern="100">
                          <a:effectLst/>
                          <a:latin typeface="+mn-ea"/>
                          <a:ea typeface="+mn-ea"/>
                        </a:rPr>
                        <a:t>没有任何值</a:t>
                      </a:r>
                      <a:endParaRPr lang="zh-CN" sz="1600" kern="10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398799">
                <a:tc>
                  <a:txBody>
                    <a:bodyPr/>
                    <a:lstStyle/>
                    <a:p>
                      <a:pPr algn="ctr">
                        <a:spcAft>
                          <a:spcPts val="0"/>
                        </a:spcAft>
                      </a:pPr>
                      <a:r>
                        <a:rPr lang="en-US" sz="1600" kern="100" dirty="0">
                          <a:effectLst/>
                          <a:latin typeface="Arial" panose="020B0604020202020204" pitchFamily="34" charset="0"/>
                          <a:ea typeface="Arial Unicode MS" panose="020B0604020202020204" charset="-122"/>
                          <a:cs typeface="Arial" panose="020B0604020202020204" pitchFamily="34" charset="0"/>
                        </a:rPr>
                        <a:t>Undefined</a:t>
                      </a:r>
                      <a:endParaRPr lang="zh-CN" sz="1600" kern="100" dirty="0">
                        <a:effectLst/>
                        <a:latin typeface="Arial" panose="020B0604020202020204" pitchFamily="34" charset="0"/>
                        <a:ea typeface="Arial Unicode MS" panose="020B0604020202020204" charset="-122"/>
                        <a:cs typeface="Arial" panose="020B0604020202020204" pitchFamily="34" charset="0"/>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a:effectLst/>
                          <a:latin typeface="+mn-ea"/>
                          <a:ea typeface="+mn-ea"/>
                        </a:rPr>
                        <a:t>未定义类型</a:t>
                      </a:r>
                      <a:endParaRPr lang="zh-CN" sz="1600" kern="100">
                        <a:effectLst/>
                        <a:latin typeface="+mn-ea"/>
                        <a:ea typeface="+mn-ea"/>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just">
                        <a:spcAft>
                          <a:spcPts val="0"/>
                        </a:spcAft>
                      </a:pPr>
                      <a:r>
                        <a:rPr lang="zh-CN" sz="1600" kern="100" dirty="0">
                          <a:effectLst/>
                          <a:latin typeface="+mn-ea"/>
                          <a:ea typeface="+mn-ea"/>
                        </a:rPr>
                        <a:t>指变量被创建，但未赋值时所具有的值</a:t>
                      </a:r>
                      <a:endParaRPr lang="zh-CN" sz="1600" kern="100" dirty="0">
                        <a:effectLst/>
                        <a:latin typeface="+mn-ea"/>
                        <a:ea typeface="+mn-ea"/>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5"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6041484" y="1181894"/>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节点的访问</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bwMode="auto">
          <a:xfrm>
            <a:off x="545976" y="2079373"/>
            <a:ext cx="8137525" cy="239378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矩形 15"/>
          <p:cNvSpPr>
            <a:spLocks noChangeArrowheads="1"/>
          </p:cNvSpPr>
          <p:nvPr/>
        </p:nvSpPr>
        <p:spPr bwMode="auto">
          <a:xfrm>
            <a:off x="571500" y="2062733"/>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中，使用</a:t>
            </a:r>
            <a:r>
              <a:rPr lang="en-US" altLang="zh-CN" dirty="0" err="1">
                <a:latin typeface="Times New Roman" panose="02020603050405020304" pitchFamily="18" charset="0"/>
                <a:cs typeface="Times New Roman" panose="02020603050405020304" pitchFamily="18" charset="0"/>
              </a:rPr>
              <a:t>var</a:t>
            </a:r>
            <a:r>
              <a:rPr lang="zh-CN" altLang="zh-CN" dirty="0">
                <a:latin typeface="Times New Roman" panose="02020603050405020304" pitchFamily="18" charset="0"/>
                <a:cs typeface="Times New Roman" panose="02020603050405020304" pitchFamily="18" charset="0"/>
              </a:rPr>
              <a:t>命令声明变量，由于</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是一种弱类型语言，所以在声明变量时，不需要指定变量的类型，变量的类型将根据变量的赋值来确定，其语法格式如下所示</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11" name="矩形 10"/>
          <p:cNvSpPr>
            <a:spLocks noChangeArrowheads="1"/>
          </p:cNvSpPr>
          <p:nvPr/>
        </p:nvSpPr>
        <p:spPr bwMode="auto">
          <a:xfrm>
            <a:off x="592932" y="3393033"/>
            <a:ext cx="8042275" cy="100811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a:t>
            </a:r>
            <a:r>
              <a:rPr lang="en-US" altLang="zh-CN" dirty="0" err="1" smtClean="0"/>
              <a:t>var</a:t>
            </a:r>
            <a:r>
              <a:rPr lang="en-US" altLang="zh-CN" dirty="0" smtClean="0"/>
              <a:t> </a:t>
            </a:r>
            <a:r>
              <a:rPr lang="en-US" altLang="zh-CN" dirty="0"/>
              <a:t>number=27;</a:t>
            </a:r>
            <a:endParaRPr lang="zh-CN" altLang="zh-CN" dirty="0"/>
          </a:p>
          <a:p>
            <a:pPr>
              <a:lnSpc>
                <a:spcPct val="150000"/>
              </a:lnSpc>
            </a:pPr>
            <a:r>
              <a:rPr lang="en-US" altLang="zh-CN" dirty="0" smtClean="0"/>
              <a:t>     </a:t>
            </a:r>
            <a:r>
              <a:rPr lang="en-US" altLang="zh-CN" dirty="0" err="1" smtClean="0"/>
              <a:t>var</a:t>
            </a:r>
            <a:r>
              <a:rPr lang="en-US" altLang="zh-CN" dirty="0" smtClean="0"/>
              <a:t>  </a:t>
            </a:r>
            <a:r>
              <a:rPr lang="en-US" altLang="zh-CN" dirty="0" err="1"/>
              <a:t>str</a:t>
            </a:r>
            <a:r>
              <a:rPr lang="en-US" altLang="zh-CN" dirty="0"/>
              <a:t>=”</a:t>
            </a:r>
            <a:r>
              <a:rPr lang="zh-CN" altLang="zh-CN" dirty="0"/>
              <a:t>传智播客</a:t>
            </a:r>
            <a:r>
              <a:rPr lang="en-US" altLang="zh-CN" dirty="0"/>
              <a:t>”;</a:t>
            </a:r>
            <a:endParaRPr lang="zh-CN" altLang="zh-CN" dirty="0"/>
          </a:p>
        </p:txBody>
      </p:sp>
      <p:sp>
        <p:nvSpPr>
          <p:cNvPr id="12" name="圆角矩形标注 11"/>
          <p:cNvSpPr>
            <a:spLocks noChangeArrowheads="1"/>
          </p:cNvSpPr>
          <p:nvPr/>
        </p:nvSpPr>
        <p:spPr bwMode="auto">
          <a:xfrm>
            <a:off x="1381423" y="4833193"/>
            <a:ext cx="5962885" cy="1224136"/>
          </a:xfrm>
          <a:prstGeom prst="wedgeRoundRectCallout">
            <a:avLst>
              <a:gd name="adj1" fmla="val -15305"/>
              <a:gd name="adj2" fmla="val -6883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mn-ea"/>
                <a:ea typeface="+mn-ea"/>
              </a:rPr>
              <a:t>变量的命名必须遵循命名规则，变量名可以由字母、下划线（</a:t>
            </a:r>
            <a:r>
              <a:rPr lang="en-US" altLang="zh-CN" sz="1600" b="1" dirty="0">
                <a:solidFill>
                  <a:schemeClr val="bg1"/>
                </a:solidFill>
                <a:latin typeface="+mn-ea"/>
                <a:ea typeface="+mn-ea"/>
              </a:rPr>
              <a:t>_</a:t>
            </a:r>
            <a:r>
              <a:rPr lang="zh-CN" altLang="zh-CN" sz="1600" b="1" dirty="0">
                <a:solidFill>
                  <a:schemeClr val="bg1"/>
                </a:solidFill>
                <a:latin typeface="+mn-ea"/>
                <a:ea typeface="+mn-ea"/>
              </a:rPr>
              <a:t>）、美元符号（</a:t>
            </a:r>
            <a:r>
              <a:rPr lang="en-US" altLang="zh-CN" sz="1600" b="1" dirty="0">
                <a:solidFill>
                  <a:schemeClr val="bg1"/>
                </a:solidFill>
                <a:latin typeface="+mn-ea"/>
                <a:ea typeface="+mn-ea"/>
              </a:rPr>
              <a:t>$</a:t>
            </a:r>
            <a:r>
              <a:rPr lang="zh-CN" altLang="zh-CN" sz="1600" b="1" dirty="0">
                <a:solidFill>
                  <a:schemeClr val="bg1"/>
                </a:solidFill>
                <a:latin typeface="+mn-ea"/>
                <a:ea typeface="+mn-ea"/>
              </a:rPr>
              <a:t>），甚至中文组成，但中文命名的方式不建议使用，中间可以是数字、字母或下划线，但是不能有空格、加号、减号等符号，不能使用</a:t>
            </a:r>
            <a:r>
              <a:rPr lang="en-US" altLang="zh-CN" sz="1600" b="1" dirty="0">
                <a:solidFill>
                  <a:schemeClr val="bg1"/>
                </a:solidFill>
                <a:latin typeface="+mn-ea"/>
                <a:ea typeface="+mn-ea"/>
              </a:rPr>
              <a:t>JavaScript</a:t>
            </a:r>
            <a:r>
              <a:rPr lang="zh-CN" altLang="zh-CN" sz="1600" b="1" dirty="0">
                <a:solidFill>
                  <a:schemeClr val="bg1"/>
                </a:solidFill>
                <a:latin typeface="+mn-ea"/>
                <a:ea typeface="+mn-ea"/>
              </a:rPr>
              <a:t>的关键字。</a:t>
            </a:r>
            <a:endParaRPr lang="zh-CN" altLang="zh-CN" sz="1600" b="1" dirty="0">
              <a:solidFill>
                <a:schemeClr val="bg1"/>
              </a:solidFill>
              <a:latin typeface="+mn-ea"/>
              <a:ea typeface="+mn-ea"/>
            </a:endParaRPr>
          </a:p>
        </p:txBody>
      </p:sp>
      <p:sp>
        <p:nvSpPr>
          <p:cNvPr id="13" name="内容占位符 2"/>
          <p:cNvSpPr txBox="1"/>
          <p:nvPr/>
        </p:nvSpPr>
        <p:spPr bwMode="auto">
          <a:xfrm>
            <a:off x="395536" y="1484784"/>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en-US" sz="2000" b="1" kern="0" dirty="0" smtClean="0">
                <a:solidFill>
                  <a:srgbClr val="0070C0"/>
                </a:solidFill>
                <a:latin typeface="Arial" panose="020B0604020202020204"/>
                <a:ea typeface="宋体" panose="02010600030101010101" pitchFamily="2" charset="-122"/>
              </a:rPr>
              <a:t>变量</a:t>
            </a:r>
            <a:endParaRPr lang="en-US" altLang="zh-CN" sz="2000" b="1" kern="0" dirty="0">
              <a:solidFill>
                <a:srgbClr val="0070C0"/>
              </a:solidFill>
              <a:latin typeface="Arial" panose="020B0604020202020204"/>
              <a:ea typeface="宋体" panose="02010600030101010101" pitchFamily="2" charset="-122"/>
            </a:endParaRPr>
          </a:p>
        </p:txBody>
      </p:sp>
      <p:sp>
        <p:nvSpPr>
          <p:cNvPr id="10"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animBg="1"/>
      <p:bldP spid="12" grpId="0" animBg="1"/>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2"/>
          <p:cNvSpPr txBox="1"/>
          <p:nvPr/>
        </p:nvSpPr>
        <p:spPr bwMode="auto">
          <a:xfrm>
            <a:off x="395536" y="1448743"/>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en-US" sz="2000" b="1" kern="0" dirty="0" smtClean="0">
                <a:solidFill>
                  <a:srgbClr val="0070C0"/>
                </a:solidFill>
                <a:latin typeface="Arial" panose="020B0604020202020204"/>
                <a:ea typeface="宋体" panose="02010600030101010101" pitchFamily="2" charset="-122"/>
              </a:rPr>
              <a:t>运算符</a:t>
            </a:r>
            <a:endParaRPr lang="en-US" altLang="zh-CN" sz="2000" b="1" kern="0" dirty="0">
              <a:solidFill>
                <a:srgbClr val="0070C0"/>
              </a:solidFill>
              <a:latin typeface="Arial" panose="020B0604020202020204"/>
              <a:ea typeface="宋体" panose="02010600030101010101" pitchFamily="2" charset="-122"/>
            </a:endParaRPr>
          </a:p>
        </p:txBody>
      </p:sp>
      <p:sp>
        <p:nvSpPr>
          <p:cNvPr id="23" name="矩形 22"/>
          <p:cNvSpPr/>
          <p:nvPr/>
        </p:nvSpPr>
        <p:spPr bwMode="auto">
          <a:xfrm>
            <a:off x="545976" y="2043332"/>
            <a:ext cx="8137525" cy="116964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5" name="矩形 24"/>
          <p:cNvSpPr>
            <a:spLocks noChangeArrowheads="1"/>
          </p:cNvSpPr>
          <p:nvPr/>
        </p:nvSpPr>
        <p:spPr bwMode="auto">
          <a:xfrm>
            <a:off x="571500" y="2065612"/>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算术运算符用于连接运算表达式，主要包括加（</a:t>
            </a:r>
            <a:r>
              <a:rPr lang="en-US" altLang="zh-CN" dirty="0"/>
              <a:t>+</a:t>
            </a:r>
            <a:r>
              <a:rPr lang="zh-CN" altLang="zh-CN" dirty="0"/>
              <a:t>）、减（</a:t>
            </a:r>
            <a:r>
              <a:rPr lang="en-US" altLang="zh-CN" dirty="0"/>
              <a:t>-</a:t>
            </a:r>
            <a:r>
              <a:rPr lang="zh-CN" altLang="zh-CN" dirty="0"/>
              <a:t>）、乘（</a:t>
            </a:r>
            <a:r>
              <a:rPr lang="en-US" altLang="zh-CN" dirty="0"/>
              <a:t>*</a:t>
            </a:r>
            <a:r>
              <a:rPr lang="zh-CN" altLang="zh-CN" dirty="0"/>
              <a:t>）、除（</a:t>
            </a:r>
            <a:r>
              <a:rPr lang="en-US" altLang="zh-CN" dirty="0"/>
              <a:t>/</a:t>
            </a:r>
            <a:r>
              <a:rPr lang="zh-CN" altLang="zh-CN" dirty="0"/>
              <a:t>）、取模（</a:t>
            </a:r>
            <a:r>
              <a:rPr lang="en-US" altLang="zh-CN" dirty="0"/>
              <a:t>%</a:t>
            </a:r>
            <a:r>
              <a:rPr lang="zh-CN" altLang="zh-CN" dirty="0"/>
              <a:t>）、自增（</a:t>
            </a:r>
            <a:r>
              <a:rPr lang="en-US" altLang="zh-CN" dirty="0"/>
              <a:t>++</a:t>
            </a:r>
            <a:r>
              <a:rPr lang="zh-CN" altLang="zh-CN" dirty="0"/>
              <a:t>）、自减（</a:t>
            </a:r>
            <a:r>
              <a:rPr lang="en-US" altLang="zh-CN" dirty="0"/>
              <a:t>--</a:t>
            </a:r>
            <a:r>
              <a:rPr lang="zh-CN" altLang="zh-CN" dirty="0"/>
              <a:t>）等</a:t>
            </a:r>
            <a:r>
              <a:rPr lang="zh-CN" altLang="zh-CN" dirty="0" smtClean="0"/>
              <a:t>运算符</a:t>
            </a:r>
            <a:r>
              <a:rPr lang="zh-CN" altLang="en-US" dirty="0"/>
              <a:t>。</a:t>
            </a:r>
            <a:endParaRPr lang="zh-CN" altLang="zh-CN" dirty="0"/>
          </a:p>
        </p:txBody>
      </p:sp>
      <p:sp>
        <p:nvSpPr>
          <p:cNvPr id="29" name="任意多边形 28"/>
          <p:cNvSpPr/>
          <p:nvPr/>
        </p:nvSpPr>
        <p:spPr bwMode="auto">
          <a:xfrm>
            <a:off x="6012160" y="1628799"/>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30" name="矩形 29"/>
          <p:cNvSpPr>
            <a:spLocks noChangeArrowheads="1"/>
          </p:cNvSpPr>
          <p:nvPr/>
        </p:nvSpPr>
        <p:spPr bwMode="auto">
          <a:xfrm>
            <a:off x="6300192" y="1700807"/>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算术运算符</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31" name="矩形 30"/>
          <p:cNvSpPr/>
          <p:nvPr/>
        </p:nvSpPr>
        <p:spPr bwMode="auto">
          <a:xfrm>
            <a:off x="545975" y="4221088"/>
            <a:ext cx="8137525" cy="116964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6" name="矩形 35"/>
          <p:cNvSpPr>
            <a:spLocks noChangeArrowheads="1"/>
          </p:cNvSpPr>
          <p:nvPr/>
        </p:nvSpPr>
        <p:spPr bwMode="auto">
          <a:xfrm>
            <a:off x="571499" y="4243368"/>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比较运算符在逻辑语句中使用，用于判断变量或值是否相等。返回布尔类型值</a:t>
            </a:r>
            <a:r>
              <a:rPr lang="en-US" altLang="zh-CN" dirty="0">
                <a:latin typeface="Times New Roman" panose="02020603050405020304" pitchFamily="18" charset="0"/>
                <a:cs typeface="Times New Roman" panose="02020603050405020304" pitchFamily="18" charset="0"/>
              </a:rPr>
              <a:t>true</a:t>
            </a:r>
            <a:r>
              <a:rPr lang="zh-CN" altLang="zh-CN" dirty="0">
                <a:latin typeface="Times New Roman" panose="02020603050405020304" pitchFamily="18" charset="0"/>
                <a:cs typeface="Times New Roman" panose="02020603050405020304" pitchFamily="18" charset="0"/>
              </a:rPr>
              <a:t>或</a:t>
            </a:r>
            <a:r>
              <a:rPr lang="en-US" altLang="zh-CN" dirty="0" smtClean="0">
                <a:latin typeface="Times New Roman" panose="02020603050405020304" pitchFamily="18" charset="0"/>
                <a:cs typeface="Times New Roman" panose="02020603050405020304" pitchFamily="18" charset="0"/>
              </a:rPr>
              <a:t>false</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38" name="任意多边形 37"/>
          <p:cNvSpPr/>
          <p:nvPr/>
        </p:nvSpPr>
        <p:spPr bwMode="auto">
          <a:xfrm>
            <a:off x="6012159" y="3806555"/>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1" name="矩形 40"/>
          <p:cNvSpPr>
            <a:spLocks noChangeArrowheads="1"/>
          </p:cNvSpPr>
          <p:nvPr/>
        </p:nvSpPr>
        <p:spPr bwMode="auto">
          <a:xfrm>
            <a:off x="6300191" y="3878563"/>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比较运算符</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55" name="矩形 54"/>
          <p:cNvSpPr/>
          <p:nvPr/>
        </p:nvSpPr>
        <p:spPr bwMode="auto">
          <a:xfrm>
            <a:off x="539552" y="2043333"/>
            <a:ext cx="8137525" cy="109763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6" name="矩形 55"/>
          <p:cNvSpPr>
            <a:spLocks noChangeArrowheads="1"/>
          </p:cNvSpPr>
          <p:nvPr/>
        </p:nvSpPr>
        <p:spPr bwMode="auto">
          <a:xfrm>
            <a:off x="565076" y="2065613"/>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逻辑运算符是根据表达式的值来返回真值或假值，常用的逻辑运算</a:t>
            </a:r>
            <a:r>
              <a:rPr lang="zh-CN" altLang="zh-CN" dirty="0" smtClean="0"/>
              <a:t>符</a:t>
            </a:r>
            <a:r>
              <a:rPr lang="zh-CN" altLang="en-US" dirty="0"/>
              <a:t>有</a:t>
            </a:r>
            <a:r>
              <a:rPr lang="en-US" altLang="zh-CN" dirty="0" smtClean="0"/>
              <a:t>&amp;&amp;</a:t>
            </a:r>
            <a:r>
              <a:rPr lang="zh-CN" altLang="en-US" dirty="0" smtClean="0"/>
              <a:t>、</a:t>
            </a:r>
            <a:r>
              <a:rPr lang="en-US" altLang="zh-CN" dirty="0" smtClean="0"/>
              <a:t>||</a:t>
            </a:r>
            <a:r>
              <a:rPr lang="zh-CN" altLang="en-US" dirty="0" smtClean="0"/>
              <a:t>、！</a:t>
            </a:r>
            <a:r>
              <a:rPr lang="zh-CN" altLang="zh-CN" dirty="0" smtClean="0"/>
              <a:t>。</a:t>
            </a:r>
            <a:endParaRPr lang="zh-CN" altLang="zh-CN" dirty="0"/>
          </a:p>
        </p:txBody>
      </p:sp>
      <p:sp>
        <p:nvSpPr>
          <p:cNvPr id="57" name="任意多边形 56"/>
          <p:cNvSpPr/>
          <p:nvPr/>
        </p:nvSpPr>
        <p:spPr bwMode="auto">
          <a:xfrm>
            <a:off x="6005736" y="1628800"/>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58" name="矩形 57"/>
          <p:cNvSpPr>
            <a:spLocks noChangeArrowheads="1"/>
          </p:cNvSpPr>
          <p:nvPr/>
        </p:nvSpPr>
        <p:spPr bwMode="auto">
          <a:xfrm>
            <a:off x="6293768" y="1700808"/>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逻辑运算符</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59" name="矩形 58"/>
          <p:cNvSpPr/>
          <p:nvPr/>
        </p:nvSpPr>
        <p:spPr bwMode="auto">
          <a:xfrm>
            <a:off x="545976" y="4203573"/>
            <a:ext cx="8137525" cy="109763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0" name="矩形 59"/>
          <p:cNvSpPr>
            <a:spLocks noChangeArrowheads="1"/>
          </p:cNvSpPr>
          <p:nvPr/>
        </p:nvSpPr>
        <p:spPr bwMode="auto">
          <a:xfrm>
            <a:off x="571500" y="4225853"/>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最基本的赋值运算符是等于号“</a:t>
            </a:r>
            <a:r>
              <a:rPr lang="en-US" altLang="zh-CN" dirty="0"/>
              <a:t>=</a:t>
            </a:r>
            <a:r>
              <a:rPr lang="zh-CN" altLang="zh-CN" dirty="0"/>
              <a:t>”，用于对变量进行赋值。其他运算符可以和赋值运算符联合使用，构成组合赋值运算符。</a:t>
            </a:r>
            <a:endParaRPr lang="zh-CN" altLang="zh-CN" dirty="0"/>
          </a:p>
        </p:txBody>
      </p:sp>
      <p:sp>
        <p:nvSpPr>
          <p:cNvPr id="61" name="任意多边形 60"/>
          <p:cNvSpPr/>
          <p:nvPr/>
        </p:nvSpPr>
        <p:spPr bwMode="auto">
          <a:xfrm>
            <a:off x="6012160" y="3789040"/>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2" name="矩形 61"/>
          <p:cNvSpPr>
            <a:spLocks noChangeArrowheads="1"/>
          </p:cNvSpPr>
          <p:nvPr/>
        </p:nvSpPr>
        <p:spPr bwMode="auto">
          <a:xfrm>
            <a:off x="6300192" y="3861048"/>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赋值运算符</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63" name="矩形 62"/>
          <p:cNvSpPr/>
          <p:nvPr/>
        </p:nvSpPr>
        <p:spPr bwMode="auto">
          <a:xfrm>
            <a:off x="545976" y="2043333"/>
            <a:ext cx="8137525" cy="1529683"/>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4" name="矩形 63"/>
          <p:cNvSpPr>
            <a:spLocks noChangeArrowheads="1"/>
          </p:cNvSpPr>
          <p:nvPr/>
        </p:nvSpPr>
        <p:spPr bwMode="auto">
          <a:xfrm>
            <a:off x="571500" y="2065613"/>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条件运算符是</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中的一种特殊的三目运算符，它与</a:t>
            </a:r>
            <a:r>
              <a:rPr lang="en-US" altLang="zh-CN" dirty="0">
                <a:latin typeface="Times New Roman" panose="02020603050405020304" pitchFamily="18" charset="0"/>
                <a:cs typeface="Times New Roman" panose="02020603050405020304" pitchFamily="18" charset="0"/>
              </a:rPr>
              <a:t>Java</a:t>
            </a:r>
            <a:r>
              <a:rPr lang="zh-CN" altLang="zh-CN" dirty="0">
                <a:latin typeface="Times New Roman" panose="02020603050405020304" pitchFamily="18" charset="0"/>
                <a:cs typeface="Times New Roman" panose="02020603050405020304" pitchFamily="18" charset="0"/>
              </a:rPr>
              <a:t>中的三目运算符的使用类似，其语法格式如下</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65" name="任意多边形 64"/>
          <p:cNvSpPr/>
          <p:nvPr/>
        </p:nvSpPr>
        <p:spPr bwMode="auto">
          <a:xfrm>
            <a:off x="6012160" y="1628800"/>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6" name="矩形 65"/>
          <p:cNvSpPr>
            <a:spLocks noChangeArrowheads="1"/>
          </p:cNvSpPr>
          <p:nvPr/>
        </p:nvSpPr>
        <p:spPr bwMode="auto">
          <a:xfrm>
            <a:off x="6300192" y="1700808"/>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条件运算符</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67" name="矩形 66"/>
          <p:cNvSpPr>
            <a:spLocks noChangeArrowheads="1"/>
          </p:cNvSpPr>
          <p:nvPr/>
        </p:nvSpPr>
        <p:spPr bwMode="auto">
          <a:xfrm>
            <a:off x="592932" y="3068961"/>
            <a:ext cx="8042275" cy="432048"/>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zh-CN" altLang="zh-CN" dirty="0" smtClean="0"/>
              <a:t>操作数</a:t>
            </a:r>
            <a:r>
              <a:rPr lang="zh-CN" altLang="zh-CN" dirty="0"/>
              <a:t>？结果</a:t>
            </a:r>
            <a:r>
              <a:rPr lang="en-US" altLang="zh-CN" dirty="0"/>
              <a:t>1</a:t>
            </a:r>
            <a:r>
              <a:rPr lang="zh-CN" altLang="zh-CN" dirty="0"/>
              <a:t>：结果</a:t>
            </a:r>
            <a:r>
              <a:rPr lang="en-US" altLang="zh-CN" dirty="0"/>
              <a:t>2</a:t>
            </a:r>
            <a:endParaRPr lang="zh-CN" altLang="zh-CN" dirty="0"/>
          </a:p>
        </p:txBody>
      </p:sp>
      <p:sp>
        <p:nvSpPr>
          <p:cNvPr id="26"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0" dur="500"/>
                                        <p:tgtEl>
                                          <p:spTgt spid="2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500"/>
                                        <p:tgtEl>
                                          <p:spTgt spid="3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left)">
                                      <p:cBhvr>
                                        <p:cTn id="30" dur="500"/>
                                        <p:tgtEl>
                                          <p:spTgt spid="3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wipe(left)">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23"/>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25"/>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29"/>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30"/>
                                        </p:tgtEl>
                                        <p:attrNameLst>
                                          <p:attrName>style.visibility</p:attrName>
                                        </p:attrNameLst>
                                      </p:cBhvr>
                                      <p:to>
                                        <p:strVal val="hidden"/>
                                      </p:to>
                                    </p:set>
                                  </p:childTnLst>
                                </p:cTn>
                              </p:par>
                            </p:childTnLst>
                          </p:cTn>
                        </p:par>
                        <p:par>
                          <p:cTn id="44" fill="hold">
                            <p:stCondLst>
                              <p:cond delay="0"/>
                            </p:stCondLst>
                            <p:childTnLst>
                              <p:par>
                                <p:cTn id="45" presetID="22" presetClass="entr" presetSubtype="8" fill="hold"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left)">
                                      <p:cBhvr>
                                        <p:cTn id="47" dur="500"/>
                                        <p:tgtEl>
                                          <p:spTgt spid="5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wipe(left)">
                                      <p:cBhvr>
                                        <p:cTn id="50" dur="500"/>
                                        <p:tgtEl>
                                          <p:spTgt spid="5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wipe(left)">
                                      <p:cBhvr>
                                        <p:cTn id="53" dur="500"/>
                                        <p:tgtEl>
                                          <p:spTgt spid="57"/>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wipe(left)">
                                      <p:cBhvr>
                                        <p:cTn id="56" dur="500"/>
                                        <p:tgtEl>
                                          <p:spTgt spid="58"/>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31"/>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6"/>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41"/>
                                        </p:tgtEl>
                                        <p:attrNameLst>
                                          <p:attrName>style.visibility</p:attrName>
                                        </p:attrNameLst>
                                      </p:cBhvr>
                                      <p:to>
                                        <p:strVal val="hidden"/>
                                      </p:to>
                                    </p:set>
                                  </p:childTnLst>
                                </p:cTn>
                              </p:par>
                            </p:childTnLst>
                          </p:cTn>
                        </p:par>
                        <p:par>
                          <p:cTn id="67" fill="hold">
                            <p:stCondLst>
                              <p:cond delay="0"/>
                            </p:stCondLst>
                            <p:childTnLst>
                              <p:par>
                                <p:cTn id="68" presetID="22" presetClass="entr" presetSubtype="8" fill="hold" nodeType="afterEffect">
                                  <p:stCondLst>
                                    <p:cond delay="0"/>
                                  </p:stCondLst>
                                  <p:childTnLst>
                                    <p:set>
                                      <p:cBhvr>
                                        <p:cTn id="69" dur="1" fill="hold">
                                          <p:stCondLst>
                                            <p:cond delay="0"/>
                                          </p:stCondLst>
                                        </p:cTn>
                                        <p:tgtEl>
                                          <p:spTgt spid="59"/>
                                        </p:tgtEl>
                                        <p:attrNameLst>
                                          <p:attrName>style.visibility</p:attrName>
                                        </p:attrNameLst>
                                      </p:cBhvr>
                                      <p:to>
                                        <p:strVal val="visible"/>
                                      </p:to>
                                    </p:set>
                                    <p:animEffect transition="in" filter="wipe(left)">
                                      <p:cBhvr>
                                        <p:cTn id="70" dur="500"/>
                                        <p:tgtEl>
                                          <p:spTgt spid="59"/>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wipe(left)">
                                      <p:cBhvr>
                                        <p:cTn id="73" dur="500"/>
                                        <p:tgtEl>
                                          <p:spTgt spid="60"/>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wipe(left)">
                                      <p:cBhvr>
                                        <p:cTn id="76" dur="500"/>
                                        <p:tgtEl>
                                          <p:spTgt spid="61"/>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wipe(left)">
                                      <p:cBhvr>
                                        <p:cTn id="79" dur="500"/>
                                        <p:tgtEl>
                                          <p:spTgt spid="62"/>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nodeType="clickEffect">
                                  <p:stCondLst>
                                    <p:cond delay="0"/>
                                  </p:stCondLst>
                                  <p:childTnLst>
                                    <p:set>
                                      <p:cBhvr>
                                        <p:cTn id="83" dur="1" fill="hold">
                                          <p:stCondLst>
                                            <p:cond delay="0"/>
                                          </p:stCondLst>
                                        </p:cTn>
                                        <p:tgtEl>
                                          <p:spTgt spid="55"/>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56"/>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7"/>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58"/>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59"/>
                                        </p:tgtEl>
                                        <p:attrNameLst>
                                          <p:attrName>style.visibility</p:attrName>
                                        </p:attrNameLst>
                                      </p:cBhvr>
                                      <p:to>
                                        <p:strVal val="hidden"/>
                                      </p:to>
                                    </p:set>
                                  </p:childTnLst>
                                </p:cTn>
                              </p:par>
                              <p:par>
                                <p:cTn id="92" presetID="1" presetClass="exit" presetSubtype="0" fill="hold" grpId="1" nodeType="withEffect">
                                  <p:stCondLst>
                                    <p:cond delay="0"/>
                                  </p:stCondLst>
                                  <p:childTnLst>
                                    <p:set>
                                      <p:cBhvr>
                                        <p:cTn id="93" dur="1" fill="hold">
                                          <p:stCondLst>
                                            <p:cond delay="0"/>
                                          </p:stCondLst>
                                        </p:cTn>
                                        <p:tgtEl>
                                          <p:spTgt spid="60"/>
                                        </p:tgtEl>
                                        <p:attrNameLst>
                                          <p:attrName>style.visibility</p:attrName>
                                        </p:attrNameLst>
                                      </p:cBhvr>
                                      <p:to>
                                        <p:strVal val="hidden"/>
                                      </p:to>
                                    </p:set>
                                  </p:childTnLst>
                                </p:cTn>
                              </p:par>
                              <p:par>
                                <p:cTn id="94" presetID="1" presetClass="exit" presetSubtype="0" fill="hold" grpId="1" nodeType="withEffect">
                                  <p:stCondLst>
                                    <p:cond delay="0"/>
                                  </p:stCondLst>
                                  <p:childTnLst>
                                    <p:set>
                                      <p:cBhvr>
                                        <p:cTn id="95" dur="1" fill="hold">
                                          <p:stCondLst>
                                            <p:cond delay="0"/>
                                          </p:stCondLst>
                                        </p:cTn>
                                        <p:tgtEl>
                                          <p:spTgt spid="61"/>
                                        </p:tgtEl>
                                        <p:attrNameLst>
                                          <p:attrName>style.visibility</p:attrName>
                                        </p:attrNameLst>
                                      </p:cBhvr>
                                      <p:to>
                                        <p:strVal val="hidden"/>
                                      </p:to>
                                    </p:set>
                                  </p:childTnLst>
                                </p:cTn>
                              </p:par>
                              <p:par>
                                <p:cTn id="96" presetID="1" presetClass="exit" presetSubtype="0" fill="hold" grpId="1" nodeType="withEffect">
                                  <p:stCondLst>
                                    <p:cond delay="0"/>
                                  </p:stCondLst>
                                  <p:childTnLst>
                                    <p:set>
                                      <p:cBhvr>
                                        <p:cTn id="97" dur="1" fill="hold">
                                          <p:stCondLst>
                                            <p:cond delay="0"/>
                                          </p:stCondLst>
                                        </p:cTn>
                                        <p:tgtEl>
                                          <p:spTgt spid="62"/>
                                        </p:tgtEl>
                                        <p:attrNameLst>
                                          <p:attrName>style.visibility</p:attrName>
                                        </p:attrNameLst>
                                      </p:cBhvr>
                                      <p:to>
                                        <p:strVal val="hidden"/>
                                      </p:to>
                                    </p:set>
                                  </p:childTnLst>
                                </p:cTn>
                              </p:par>
                            </p:childTnLst>
                          </p:cTn>
                        </p:par>
                        <p:par>
                          <p:cTn id="98" fill="hold">
                            <p:stCondLst>
                              <p:cond delay="0"/>
                            </p:stCondLst>
                            <p:childTnLst>
                              <p:par>
                                <p:cTn id="99" presetID="22" presetClass="entr" presetSubtype="8" fill="hold" grpId="0" nodeType="afterEffect">
                                  <p:stCondLst>
                                    <p:cond delay="0"/>
                                  </p:stCondLst>
                                  <p:childTnLst>
                                    <p:set>
                                      <p:cBhvr>
                                        <p:cTn id="100" dur="1" fill="hold">
                                          <p:stCondLst>
                                            <p:cond delay="0"/>
                                          </p:stCondLst>
                                        </p:cTn>
                                        <p:tgtEl>
                                          <p:spTgt spid="64"/>
                                        </p:tgtEl>
                                        <p:attrNameLst>
                                          <p:attrName>style.visibility</p:attrName>
                                        </p:attrNameLst>
                                      </p:cBhvr>
                                      <p:to>
                                        <p:strVal val="visible"/>
                                      </p:to>
                                    </p:set>
                                    <p:animEffect transition="in" filter="wipe(left)">
                                      <p:cBhvr>
                                        <p:cTn id="101" dur="500"/>
                                        <p:tgtEl>
                                          <p:spTgt spid="64"/>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65"/>
                                        </p:tgtEl>
                                        <p:attrNameLst>
                                          <p:attrName>style.visibility</p:attrName>
                                        </p:attrNameLst>
                                      </p:cBhvr>
                                      <p:to>
                                        <p:strVal val="visible"/>
                                      </p:to>
                                    </p:set>
                                    <p:animEffect transition="in" filter="wipe(left)">
                                      <p:cBhvr>
                                        <p:cTn id="104" dur="500"/>
                                        <p:tgtEl>
                                          <p:spTgt spid="65"/>
                                        </p:tgtEl>
                                      </p:cBhvr>
                                    </p:animEffect>
                                  </p:childTnLst>
                                </p:cTn>
                              </p:par>
                              <p:par>
                                <p:cTn id="105" presetID="22" presetClass="entr" presetSubtype="8" fill="hold" nodeType="withEffect">
                                  <p:stCondLst>
                                    <p:cond delay="0"/>
                                  </p:stCondLst>
                                  <p:childTnLst>
                                    <p:set>
                                      <p:cBhvr>
                                        <p:cTn id="106" dur="1" fill="hold">
                                          <p:stCondLst>
                                            <p:cond delay="0"/>
                                          </p:stCondLst>
                                        </p:cTn>
                                        <p:tgtEl>
                                          <p:spTgt spid="63"/>
                                        </p:tgtEl>
                                        <p:attrNameLst>
                                          <p:attrName>style.visibility</p:attrName>
                                        </p:attrNameLst>
                                      </p:cBhvr>
                                      <p:to>
                                        <p:strVal val="visible"/>
                                      </p:to>
                                    </p:set>
                                    <p:animEffect transition="in" filter="wipe(left)">
                                      <p:cBhvr>
                                        <p:cTn id="107" dur="500"/>
                                        <p:tgtEl>
                                          <p:spTgt spid="63"/>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66"/>
                                        </p:tgtEl>
                                        <p:attrNameLst>
                                          <p:attrName>style.visibility</p:attrName>
                                        </p:attrNameLst>
                                      </p:cBhvr>
                                      <p:to>
                                        <p:strVal val="visible"/>
                                      </p:to>
                                    </p:set>
                                    <p:animEffect transition="in" filter="wipe(left)">
                                      <p:cBhvr>
                                        <p:cTn id="110" dur="500"/>
                                        <p:tgtEl>
                                          <p:spTgt spid="66"/>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67"/>
                                        </p:tgtEl>
                                        <p:attrNameLst>
                                          <p:attrName>style.visibility</p:attrName>
                                        </p:attrNameLst>
                                      </p:cBhvr>
                                      <p:to>
                                        <p:strVal val="visible"/>
                                      </p:to>
                                    </p:set>
                                    <p:animEffect transition="in" filter="wipe(left)">
                                      <p:cBhvr>
                                        <p:cTn id="11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5" grpId="0"/>
      <p:bldP spid="25" grpId="1"/>
      <p:bldP spid="29" grpId="0" animBg="1"/>
      <p:bldP spid="29" grpId="1" animBg="1"/>
      <p:bldP spid="30" grpId="0"/>
      <p:bldP spid="30" grpId="1"/>
      <p:bldP spid="36" grpId="0"/>
      <p:bldP spid="36" grpId="1"/>
      <p:bldP spid="38" grpId="0" animBg="1"/>
      <p:bldP spid="38" grpId="1" animBg="1"/>
      <p:bldP spid="41" grpId="0"/>
      <p:bldP spid="41" grpId="1"/>
      <p:bldP spid="56" grpId="0"/>
      <p:bldP spid="56" grpId="1"/>
      <p:bldP spid="57" grpId="0" animBg="1"/>
      <p:bldP spid="57" grpId="1" animBg="1"/>
      <p:bldP spid="58" grpId="0"/>
      <p:bldP spid="58" grpId="1"/>
      <p:bldP spid="60" grpId="0"/>
      <p:bldP spid="60" grpId="1"/>
      <p:bldP spid="61" grpId="0" animBg="1"/>
      <p:bldP spid="61" grpId="1" animBg="1"/>
      <p:bldP spid="62" grpId="0"/>
      <p:bldP spid="62" grpId="1"/>
      <p:bldP spid="64" grpId="0"/>
      <p:bldP spid="65" grpId="0" animBg="1"/>
      <p:bldP spid="66" grpId="0"/>
      <p:bldP spid="6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395536" y="1268760"/>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en-US" sz="2000" b="1" kern="0" dirty="0" smtClean="0">
                <a:solidFill>
                  <a:srgbClr val="0070C0"/>
                </a:solidFill>
                <a:latin typeface="Arial" panose="020B0604020202020204"/>
                <a:ea typeface="宋体" panose="02010600030101010101" pitchFamily="2" charset="-122"/>
              </a:rPr>
              <a:t>条件语句</a:t>
            </a:r>
            <a:r>
              <a:rPr lang="en-US" altLang="zh-CN" sz="2000" b="1" kern="0" dirty="0" smtClean="0">
                <a:solidFill>
                  <a:srgbClr val="0070C0"/>
                </a:solidFill>
                <a:latin typeface="Arial" panose="020B0604020202020204"/>
                <a:ea typeface="宋体" panose="02010600030101010101" pitchFamily="2" charset="-122"/>
              </a:rPr>
              <a:t>if</a:t>
            </a:r>
            <a:endParaRPr lang="en-US" altLang="zh-CN" sz="2000" b="1" kern="0" dirty="0">
              <a:solidFill>
                <a:srgbClr val="0070C0"/>
              </a:solidFill>
              <a:latin typeface="Arial" panose="020B0604020202020204"/>
              <a:ea typeface="宋体" panose="02010600030101010101" pitchFamily="2" charset="-122"/>
            </a:endParaRPr>
          </a:p>
        </p:txBody>
      </p:sp>
      <p:sp>
        <p:nvSpPr>
          <p:cNvPr id="3" name="矩形 2"/>
          <p:cNvSpPr/>
          <p:nvPr/>
        </p:nvSpPr>
        <p:spPr bwMode="auto">
          <a:xfrm>
            <a:off x="545976" y="1825497"/>
            <a:ext cx="8137525" cy="142352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15"/>
          <p:cNvSpPr>
            <a:spLocks noChangeArrowheads="1"/>
          </p:cNvSpPr>
          <p:nvPr/>
        </p:nvSpPr>
        <p:spPr bwMode="auto">
          <a:xfrm>
            <a:off x="571500" y="1808857"/>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所谓条件语句就是对语句中不同条件的值进行判断，进而根据不同的条件执行不同的语句</a:t>
            </a:r>
            <a:r>
              <a:rPr lang="zh-CN" altLang="zh-CN" dirty="0" smtClean="0">
                <a:latin typeface="Times New Roman" panose="02020603050405020304" pitchFamily="18" charset="0"/>
                <a:cs typeface="Times New Roman" panose="02020603050405020304" pitchFamily="18" charset="0"/>
              </a:rPr>
              <a:t>。通过</a:t>
            </a:r>
            <a:r>
              <a:rPr lang="zh-CN" altLang="zh-CN" dirty="0">
                <a:latin typeface="Times New Roman" panose="02020603050405020304" pitchFamily="18" charset="0"/>
                <a:cs typeface="Times New Roman" panose="02020603050405020304" pitchFamily="18" charset="0"/>
              </a:rPr>
              <a:t>判断条件表达式的值为</a:t>
            </a:r>
            <a:r>
              <a:rPr lang="en-US" altLang="zh-CN" dirty="0">
                <a:latin typeface="Times New Roman" panose="02020603050405020304" pitchFamily="18" charset="0"/>
                <a:cs typeface="Times New Roman" panose="02020603050405020304" pitchFamily="18" charset="0"/>
              </a:rPr>
              <a:t>true</a:t>
            </a:r>
            <a:r>
              <a:rPr lang="zh-CN" altLang="zh-CN" dirty="0">
                <a:latin typeface="Times New Roman" panose="02020603050405020304" pitchFamily="18" charset="0"/>
                <a:cs typeface="Times New Roman" panose="02020603050405020304" pitchFamily="18" charset="0"/>
              </a:rPr>
              <a:t>或者</a:t>
            </a:r>
            <a:r>
              <a:rPr lang="en-US" altLang="zh-CN" dirty="0">
                <a:latin typeface="Times New Roman" panose="02020603050405020304" pitchFamily="18" charset="0"/>
                <a:cs typeface="Times New Roman" panose="02020603050405020304" pitchFamily="18" charset="0"/>
              </a:rPr>
              <a:t>false</a:t>
            </a:r>
            <a:r>
              <a:rPr lang="zh-CN" altLang="zh-CN" dirty="0">
                <a:latin typeface="Times New Roman" panose="02020603050405020304" pitchFamily="18" charset="0"/>
                <a:cs typeface="Times New Roman" panose="02020603050405020304" pitchFamily="18" charset="0"/>
              </a:rPr>
              <a:t>，来确定是否执行某一条语句。可将</a:t>
            </a:r>
            <a:r>
              <a:rPr lang="en-US" altLang="zh-CN" dirty="0">
                <a:latin typeface="Times New Roman" panose="02020603050405020304" pitchFamily="18" charset="0"/>
                <a:cs typeface="Times New Roman" panose="02020603050405020304" pitchFamily="18" charset="0"/>
              </a:rPr>
              <a:t>if</a:t>
            </a:r>
            <a:r>
              <a:rPr lang="zh-CN" altLang="zh-CN" dirty="0">
                <a:latin typeface="Times New Roman" panose="02020603050405020304" pitchFamily="18" charset="0"/>
                <a:cs typeface="Times New Roman" panose="02020603050405020304" pitchFamily="18" charset="0"/>
              </a:rPr>
              <a:t>语句分为单向判断语句、双向判断语句和多向判断</a:t>
            </a:r>
            <a:r>
              <a:rPr lang="zh-CN" altLang="zh-CN" dirty="0" smtClean="0">
                <a:latin typeface="Times New Roman" panose="02020603050405020304" pitchFamily="18" charset="0"/>
                <a:cs typeface="Times New Roman" panose="02020603050405020304" pitchFamily="18" charset="0"/>
              </a:rPr>
              <a:t>语句</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5" name="矩形 4"/>
          <p:cNvSpPr/>
          <p:nvPr/>
        </p:nvSpPr>
        <p:spPr bwMode="auto">
          <a:xfrm>
            <a:off x="545976" y="3879573"/>
            <a:ext cx="8137525" cy="239378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 name="矩形 15"/>
          <p:cNvSpPr>
            <a:spLocks noChangeArrowheads="1"/>
          </p:cNvSpPr>
          <p:nvPr/>
        </p:nvSpPr>
        <p:spPr bwMode="auto">
          <a:xfrm>
            <a:off x="571500" y="3862933"/>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单向判断语句是结构最简单的条件语句，如果程序中存在绝对不执行某些指令的情况，就可以使用单向判断语句，其语法格式如下</a:t>
            </a:r>
            <a:r>
              <a:rPr lang="zh-CN" altLang="zh-CN" dirty="0" smtClean="0"/>
              <a:t>：</a:t>
            </a:r>
            <a:endParaRPr lang="zh-CN" altLang="zh-CN" dirty="0"/>
          </a:p>
        </p:txBody>
      </p:sp>
      <p:sp>
        <p:nvSpPr>
          <p:cNvPr id="7" name="矩形 6"/>
          <p:cNvSpPr>
            <a:spLocks noChangeArrowheads="1"/>
          </p:cNvSpPr>
          <p:nvPr/>
        </p:nvSpPr>
        <p:spPr bwMode="auto">
          <a:xfrm>
            <a:off x="592932" y="4833193"/>
            <a:ext cx="8042275" cy="1368152"/>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if</a:t>
            </a:r>
            <a:r>
              <a:rPr lang="zh-CN" altLang="zh-CN" dirty="0"/>
              <a:t>（执行条件）</a:t>
            </a:r>
            <a:r>
              <a:rPr lang="en-US" altLang="zh-CN" dirty="0"/>
              <a:t>{</a:t>
            </a:r>
            <a:endParaRPr lang="zh-CN" altLang="zh-CN" dirty="0"/>
          </a:p>
          <a:p>
            <a:pPr>
              <a:lnSpc>
                <a:spcPct val="150000"/>
              </a:lnSpc>
            </a:pPr>
            <a:r>
              <a:rPr lang="en-US" altLang="zh-CN" dirty="0"/>
              <a:t>	</a:t>
            </a:r>
            <a:r>
              <a:rPr lang="zh-CN" altLang="zh-CN" dirty="0"/>
              <a:t>执行语句</a:t>
            </a:r>
            <a:r>
              <a:rPr lang="en-US" altLang="zh-CN" dirty="0"/>
              <a:t>   </a:t>
            </a:r>
            <a:endParaRPr lang="zh-CN" altLang="zh-CN" dirty="0"/>
          </a:p>
          <a:p>
            <a:pPr>
              <a:lnSpc>
                <a:spcPct val="150000"/>
              </a:lnSpc>
            </a:pPr>
            <a:r>
              <a:rPr lang="en-US" altLang="zh-CN" dirty="0" smtClean="0"/>
              <a:t>     }</a:t>
            </a:r>
            <a:endParaRPr lang="zh-CN" altLang="zh-CN" dirty="0"/>
          </a:p>
        </p:txBody>
      </p:sp>
      <p:sp>
        <p:nvSpPr>
          <p:cNvPr id="8" name="任意多边形 7"/>
          <p:cNvSpPr/>
          <p:nvPr/>
        </p:nvSpPr>
        <p:spPr bwMode="auto">
          <a:xfrm>
            <a:off x="6012160" y="3465041"/>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9" name="矩形 8"/>
          <p:cNvSpPr>
            <a:spLocks noChangeArrowheads="1"/>
          </p:cNvSpPr>
          <p:nvPr/>
        </p:nvSpPr>
        <p:spPr bwMode="auto">
          <a:xfrm>
            <a:off x="6300192" y="3537049"/>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单向判断语句</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0" name="圆角矩形标注 9"/>
          <p:cNvSpPr>
            <a:spLocks noChangeArrowheads="1"/>
          </p:cNvSpPr>
          <p:nvPr/>
        </p:nvSpPr>
        <p:spPr bwMode="auto">
          <a:xfrm>
            <a:off x="3131840" y="4905201"/>
            <a:ext cx="3708412" cy="1224136"/>
          </a:xfrm>
          <a:prstGeom prst="wedgeRoundRectCallout">
            <a:avLst>
              <a:gd name="adj1" fmla="val -56144"/>
              <a:gd name="adj2" fmla="val -1981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mn-ea"/>
                <a:ea typeface="+mn-ea"/>
              </a:rPr>
              <a:t>小括号“</a:t>
            </a:r>
            <a:r>
              <a:rPr lang="en-US" altLang="zh-CN" sz="1600" b="1" dirty="0">
                <a:solidFill>
                  <a:schemeClr val="bg1"/>
                </a:solidFill>
                <a:latin typeface="+mn-ea"/>
                <a:ea typeface="+mn-ea"/>
              </a:rPr>
              <a:t>()</a:t>
            </a:r>
            <a:r>
              <a:rPr lang="zh-CN" altLang="zh-CN" sz="1600" b="1" dirty="0">
                <a:solidFill>
                  <a:schemeClr val="bg1"/>
                </a:solidFill>
                <a:latin typeface="+mn-ea"/>
                <a:ea typeface="+mn-ea"/>
              </a:rPr>
              <a:t>”内用于指定</a:t>
            </a:r>
            <a:r>
              <a:rPr lang="en-US" altLang="zh-CN" sz="1600" b="1" dirty="0">
                <a:solidFill>
                  <a:schemeClr val="bg1"/>
                </a:solidFill>
                <a:latin typeface="+mn-ea"/>
                <a:ea typeface="+mn-ea"/>
              </a:rPr>
              <a:t>if</a:t>
            </a:r>
            <a:r>
              <a:rPr lang="zh-CN" altLang="zh-CN" sz="1600" b="1" dirty="0">
                <a:solidFill>
                  <a:schemeClr val="bg1"/>
                </a:solidFill>
                <a:latin typeface="+mn-ea"/>
                <a:ea typeface="+mn-ea"/>
              </a:rPr>
              <a:t>语句中的执行条件，大括号“</a:t>
            </a:r>
            <a:r>
              <a:rPr lang="en-US" altLang="zh-CN" sz="1600" b="1" dirty="0">
                <a:solidFill>
                  <a:schemeClr val="bg1"/>
                </a:solidFill>
                <a:latin typeface="+mn-ea"/>
                <a:ea typeface="+mn-ea"/>
              </a:rPr>
              <a:t>{}</a:t>
            </a:r>
            <a:r>
              <a:rPr lang="zh-CN" altLang="zh-CN" sz="1600" b="1" dirty="0">
                <a:solidFill>
                  <a:schemeClr val="bg1"/>
                </a:solidFill>
                <a:latin typeface="+mn-ea"/>
                <a:ea typeface="+mn-ea"/>
              </a:rPr>
              <a:t>”内用于指定满足执行条件后需要执行的语句，当执行语句只有一行时，也可以不写</a:t>
            </a:r>
            <a:r>
              <a:rPr lang="en-US" altLang="zh-CN" sz="1600" b="1" dirty="0">
                <a:solidFill>
                  <a:schemeClr val="bg1"/>
                </a:solidFill>
                <a:latin typeface="+mn-ea"/>
                <a:ea typeface="+mn-ea"/>
              </a:rPr>
              <a:t>{}</a:t>
            </a:r>
            <a:r>
              <a:rPr lang="zh-CN" altLang="zh-CN" sz="1600" b="1" dirty="0">
                <a:solidFill>
                  <a:schemeClr val="bg1"/>
                </a:solidFill>
                <a:latin typeface="+mn-ea"/>
                <a:ea typeface="+mn-ea"/>
              </a:rPr>
              <a:t>。</a:t>
            </a:r>
            <a:endParaRPr lang="zh-CN" altLang="zh-CN" sz="1600" b="1" dirty="0">
              <a:solidFill>
                <a:schemeClr val="bg1"/>
              </a:solidFill>
              <a:latin typeface="+mn-ea"/>
              <a:ea typeface="+mn-ea"/>
            </a:endParaRPr>
          </a:p>
        </p:txBody>
      </p:sp>
      <p:sp>
        <p:nvSpPr>
          <p:cNvPr id="11" name="矩形 10"/>
          <p:cNvSpPr>
            <a:spLocks noChangeArrowheads="1"/>
          </p:cNvSpPr>
          <p:nvPr/>
        </p:nvSpPr>
        <p:spPr bwMode="auto">
          <a:xfrm>
            <a:off x="683568" y="4879835"/>
            <a:ext cx="2016224" cy="1249501"/>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2" name="矩形 11"/>
          <p:cNvSpPr/>
          <p:nvPr/>
        </p:nvSpPr>
        <p:spPr bwMode="auto">
          <a:xfrm>
            <a:off x="545976" y="3879573"/>
            <a:ext cx="8137525" cy="224976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3" name="矩形 15"/>
          <p:cNvSpPr>
            <a:spLocks noChangeArrowheads="1"/>
          </p:cNvSpPr>
          <p:nvPr/>
        </p:nvSpPr>
        <p:spPr bwMode="auto">
          <a:xfrm>
            <a:off x="571500" y="3862933"/>
            <a:ext cx="8040688" cy="46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双向判断语句是</a:t>
            </a:r>
            <a:r>
              <a:rPr lang="en-US" altLang="zh-CN" dirty="0"/>
              <a:t>if</a:t>
            </a:r>
            <a:r>
              <a:rPr lang="zh-CN" altLang="zh-CN" dirty="0"/>
              <a:t>条件语句的基础形式，其基本语法格式如下</a:t>
            </a:r>
            <a:r>
              <a:rPr lang="zh-CN" altLang="zh-CN" dirty="0" smtClean="0"/>
              <a:t>：</a:t>
            </a:r>
            <a:endParaRPr lang="zh-CN" altLang="zh-CN" dirty="0"/>
          </a:p>
        </p:txBody>
      </p:sp>
      <p:sp>
        <p:nvSpPr>
          <p:cNvPr id="14" name="矩形 13"/>
          <p:cNvSpPr>
            <a:spLocks noChangeArrowheads="1"/>
          </p:cNvSpPr>
          <p:nvPr/>
        </p:nvSpPr>
        <p:spPr bwMode="auto">
          <a:xfrm>
            <a:off x="592932" y="4473153"/>
            <a:ext cx="8042275" cy="1512168"/>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if</a:t>
            </a:r>
            <a:r>
              <a:rPr lang="zh-CN" altLang="zh-CN" dirty="0"/>
              <a:t>（执行条件）</a:t>
            </a:r>
            <a:r>
              <a:rPr lang="en-US" altLang="zh-CN" dirty="0"/>
              <a:t>{</a:t>
            </a:r>
            <a:endParaRPr lang="zh-CN" altLang="zh-CN" dirty="0"/>
          </a:p>
          <a:p>
            <a:r>
              <a:rPr lang="en-US" altLang="zh-CN" dirty="0" smtClean="0"/>
              <a:t>     	</a:t>
            </a:r>
            <a:r>
              <a:rPr lang="zh-CN" altLang="zh-CN" dirty="0" smtClean="0"/>
              <a:t>语句</a:t>
            </a:r>
            <a:r>
              <a:rPr lang="en-US" altLang="zh-CN" dirty="0"/>
              <a:t>1   </a:t>
            </a:r>
            <a:endParaRPr lang="zh-CN" altLang="zh-CN" dirty="0"/>
          </a:p>
          <a:p>
            <a:r>
              <a:rPr lang="en-US" altLang="zh-CN" dirty="0" smtClean="0"/>
              <a:t>     }</a:t>
            </a:r>
            <a:r>
              <a:rPr lang="en-US" altLang="zh-CN" dirty="0"/>
              <a:t>else{</a:t>
            </a:r>
            <a:endParaRPr lang="zh-CN" altLang="zh-CN" dirty="0"/>
          </a:p>
          <a:p>
            <a:r>
              <a:rPr lang="en-US" altLang="zh-CN" dirty="0" smtClean="0"/>
              <a:t>     	</a:t>
            </a:r>
            <a:r>
              <a:rPr lang="zh-CN" altLang="zh-CN" dirty="0" smtClean="0"/>
              <a:t>语句</a:t>
            </a:r>
            <a:r>
              <a:rPr lang="en-US" altLang="zh-CN" dirty="0"/>
              <a:t>2</a:t>
            </a:r>
            <a:endParaRPr lang="zh-CN" altLang="zh-CN" dirty="0"/>
          </a:p>
          <a:p>
            <a:r>
              <a:rPr lang="en-US" altLang="zh-CN" dirty="0" smtClean="0"/>
              <a:t>     }</a:t>
            </a:r>
            <a:endParaRPr lang="zh-CN" altLang="zh-CN" dirty="0"/>
          </a:p>
        </p:txBody>
      </p:sp>
      <p:sp>
        <p:nvSpPr>
          <p:cNvPr id="15" name="任意多边形 14"/>
          <p:cNvSpPr/>
          <p:nvPr/>
        </p:nvSpPr>
        <p:spPr bwMode="auto">
          <a:xfrm>
            <a:off x="6012160" y="3465041"/>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6" name="矩形 15"/>
          <p:cNvSpPr>
            <a:spLocks noChangeArrowheads="1"/>
          </p:cNvSpPr>
          <p:nvPr/>
        </p:nvSpPr>
        <p:spPr bwMode="auto">
          <a:xfrm>
            <a:off x="6300192" y="3537049"/>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双向判断语句</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7" name="圆角矩形标注 16"/>
          <p:cNvSpPr>
            <a:spLocks noChangeArrowheads="1"/>
          </p:cNvSpPr>
          <p:nvPr/>
        </p:nvSpPr>
        <p:spPr bwMode="auto">
          <a:xfrm>
            <a:off x="3131840" y="4617169"/>
            <a:ext cx="3996444" cy="1224136"/>
          </a:xfrm>
          <a:prstGeom prst="wedgeRoundRectCallout">
            <a:avLst>
              <a:gd name="adj1" fmla="val -56144"/>
              <a:gd name="adj2" fmla="val -1981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mn-ea"/>
                <a:ea typeface="+mn-ea"/>
              </a:rPr>
              <a:t>双向判断语句的语法格式和单向判断语句类似，只是在其基础上增加了一个</a:t>
            </a:r>
            <a:r>
              <a:rPr lang="en-US" altLang="zh-CN" sz="1600" b="1" dirty="0">
                <a:solidFill>
                  <a:schemeClr val="bg1"/>
                </a:solidFill>
                <a:latin typeface="+mn-ea"/>
                <a:ea typeface="+mn-ea"/>
              </a:rPr>
              <a:t>else</a:t>
            </a:r>
            <a:r>
              <a:rPr lang="zh-CN" altLang="zh-CN" sz="1600" b="1" dirty="0">
                <a:solidFill>
                  <a:schemeClr val="bg1"/>
                </a:solidFill>
                <a:latin typeface="+mn-ea"/>
                <a:ea typeface="+mn-ea"/>
              </a:rPr>
              <a:t>从句。表示如果条件成立则执行“语句</a:t>
            </a:r>
            <a:r>
              <a:rPr lang="en-US" altLang="zh-CN" sz="1600" b="1" dirty="0">
                <a:solidFill>
                  <a:schemeClr val="bg1"/>
                </a:solidFill>
                <a:latin typeface="+mn-ea"/>
                <a:ea typeface="+mn-ea"/>
              </a:rPr>
              <a:t>1</a:t>
            </a:r>
            <a:r>
              <a:rPr lang="zh-CN" altLang="zh-CN" sz="1600" b="1" dirty="0">
                <a:solidFill>
                  <a:schemeClr val="bg1"/>
                </a:solidFill>
                <a:latin typeface="+mn-ea"/>
                <a:ea typeface="+mn-ea"/>
              </a:rPr>
              <a:t>”，否则，则执行“语句</a:t>
            </a:r>
            <a:r>
              <a:rPr lang="en-US" altLang="zh-CN" sz="1600" b="1" dirty="0">
                <a:solidFill>
                  <a:schemeClr val="bg1"/>
                </a:solidFill>
                <a:latin typeface="+mn-ea"/>
                <a:ea typeface="+mn-ea"/>
              </a:rPr>
              <a:t>2</a:t>
            </a:r>
            <a:r>
              <a:rPr lang="zh-CN" altLang="zh-CN" sz="1600" b="1" dirty="0">
                <a:solidFill>
                  <a:schemeClr val="bg1"/>
                </a:solidFill>
                <a:latin typeface="+mn-ea"/>
                <a:ea typeface="+mn-ea"/>
              </a:rPr>
              <a:t>”。</a:t>
            </a:r>
            <a:endParaRPr lang="zh-CN" altLang="zh-CN" sz="1600" b="1" dirty="0">
              <a:solidFill>
                <a:schemeClr val="bg1"/>
              </a:solidFill>
              <a:latin typeface="+mn-ea"/>
              <a:ea typeface="+mn-ea"/>
            </a:endParaRPr>
          </a:p>
        </p:txBody>
      </p:sp>
      <p:sp>
        <p:nvSpPr>
          <p:cNvPr id="18" name="矩形 17"/>
          <p:cNvSpPr>
            <a:spLocks noChangeArrowheads="1"/>
          </p:cNvSpPr>
          <p:nvPr/>
        </p:nvSpPr>
        <p:spPr bwMode="auto">
          <a:xfrm>
            <a:off x="721668" y="4451712"/>
            <a:ext cx="1978124" cy="1533609"/>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9" name="矩形 18"/>
          <p:cNvSpPr/>
          <p:nvPr/>
        </p:nvSpPr>
        <p:spPr bwMode="auto">
          <a:xfrm>
            <a:off x="545976" y="1880865"/>
            <a:ext cx="8137525" cy="3960440"/>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矩形 15"/>
          <p:cNvSpPr>
            <a:spLocks noChangeArrowheads="1"/>
          </p:cNvSpPr>
          <p:nvPr/>
        </p:nvSpPr>
        <p:spPr bwMode="auto">
          <a:xfrm>
            <a:off x="571500" y="1918717"/>
            <a:ext cx="8040688" cy="87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t>多向判断语句是根据表达式的结果判断一个条件，然后根据返回值做进一步的判断，其基本语法格式如下</a:t>
            </a:r>
            <a:r>
              <a:rPr lang="zh-CN" altLang="zh-CN" dirty="0" smtClean="0"/>
              <a:t>：</a:t>
            </a:r>
            <a:endParaRPr lang="zh-CN" altLang="zh-CN" dirty="0"/>
          </a:p>
        </p:txBody>
      </p:sp>
      <p:sp>
        <p:nvSpPr>
          <p:cNvPr id="21" name="矩形 20"/>
          <p:cNvSpPr>
            <a:spLocks noChangeArrowheads="1"/>
          </p:cNvSpPr>
          <p:nvPr/>
        </p:nvSpPr>
        <p:spPr bwMode="auto">
          <a:xfrm>
            <a:off x="592932" y="2888977"/>
            <a:ext cx="8042275" cy="2880320"/>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if</a:t>
            </a:r>
            <a:r>
              <a:rPr lang="zh-CN" altLang="zh-CN" dirty="0"/>
              <a:t>（执行条件</a:t>
            </a:r>
            <a:r>
              <a:rPr lang="en-US" altLang="zh-CN" dirty="0"/>
              <a:t>1</a:t>
            </a:r>
            <a:r>
              <a:rPr lang="zh-CN" altLang="zh-CN" dirty="0"/>
              <a:t>）</a:t>
            </a:r>
            <a:r>
              <a:rPr lang="en-US" altLang="zh-CN" dirty="0"/>
              <a:t>{</a:t>
            </a:r>
            <a:endParaRPr lang="zh-CN" altLang="zh-CN" dirty="0"/>
          </a:p>
          <a:p>
            <a:r>
              <a:rPr lang="en-US" altLang="zh-CN" dirty="0" smtClean="0"/>
              <a:t>	</a:t>
            </a:r>
            <a:r>
              <a:rPr lang="zh-CN" altLang="zh-CN" dirty="0" smtClean="0"/>
              <a:t>执行</a:t>
            </a:r>
            <a:r>
              <a:rPr lang="zh-CN" altLang="zh-CN" dirty="0"/>
              <a:t>语句</a:t>
            </a:r>
            <a:r>
              <a:rPr lang="en-US" altLang="zh-CN" dirty="0"/>
              <a:t>1   </a:t>
            </a:r>
            <a:endParaRPr lang="zh-CN" altLang="zh-CN" dirty="0"/>
          </a:p>
          <a:p>
            <a:r>
              <a:rPr lang="en-US" altLang="zh-CN" dirty="0" smtClean="0"/>
              <a:t>     }</a:t>
            </a:r>
            <a:endParaRPr lang="zh-CN" altLang="zh-CN" dirty="0"/>
          </a:p>
          <a:p>
            <a:r>
              <a:rPr lang="en-US" altLang="zh-CN" dirty="0" smtClean="0"/>
              <a:t>     else </a:t>
            </a:r>
            <a:r>
              <a:rPr lang="en-US" altLang="zh-CN" dirty="0"/>
              <a:t>if</a:t>
            </a:r>
            <a:r>
              <a:rPr lang="zh-CN" altLang="zh-CN" dirty="0"/>
              <a:t>（执行条件</a:t>
            </a:r>
            <a:r>
              <a:rPr lang="en-US" altLang="zh-CN" dirty="0"/>
              <a:t>2</a:t>
            </a:r>
            <a:r>
              <a:rPr lang="zh-CN" altLang="zh-CN" dirty="0"/>
              <a:t>）</a:t>
            </a:r>
            <a:r>
              <a:rPr lang="en-US" altLang="zh-CN" dirty="0"/>
              <a:t>{</a:t>
            </a:r>
            <a:endParaRPr lang="zh-CN" altLang="zh-CN" dirty="0"/>
          </a:p>
          <a:p>
            <a:r>
              <a:rPr lang="en-US" altLang="zh-CN" dirty="0" smtClean="0"/>
              <a:t>	</a:t>
            </a:r>
            <a:r>
              <a:rPr lang="zh-CN" altLang="zh-CN" dirty="0" smtClean="0"/>
              <a:t>执行</a:t>
            </a:r>
            <a:r>
              <a:rPr lang="zh-CN" altLang="zh-CN" dirty="0"/>
              <a:t>语句</a:t>
            </a:r>
            <a:r>
              <a:rPr lang="en-US" altLang="zh-CN" dirty="0"/>
              <a:t>2</a:t>
            </a:r>
            <a:endParaRPr lang="zh-CN" altLang="zh-CN" dirty="0"/>
          </a:p>
          <a:p>
            <a:r>
              <a:rPr lang="en-US" altLang="zh-CN" dirty="0" smtClean="0"/>
              <a:t>     }</a:t>
            </a:r>
            <a:endParaRPr lang="zh-CN" altLang="zh-CN" dirty="0"/>
          </a:p>
          <a:p>
            <a:r>
              <a:rPr lang="en-US" altLang="zh-CN" dirty="0" smtClean="0"/>
              <a:t>     else </a:t>
            </a:r>
            <a:r>
              <a:rPr lang="en-US" altLang="zh-CN" dirty="0"/>
              <a:t>if</a:t>
            </a:r>
            <a:r>
              <a:rPr lang="zh-CN" altLang="zh-CN" dirty="0"/>
              <a:t>（执行条件</a:t>
            </a:r>
            <a:r>
              <a:rPr lang="en-US" altLang="zh-CN" dirty="0"/>
              <a:t>3</a:t>
            </a:r>
            <a:r>
              <a:rPr lang="zh-CN" altLang="zh-CN" dirty="0"/>
              <a:t>）</a:t>
            </a:r>
            <a:r>
              <a:rPr lang="en-US" altLang="zh-CN" dirty="0"/>
              <a:t>{</a:t>
            </a:r>
            <a:endParaRPr lang="zh-CN" altLang="zh-CN" dirty="0"/>
          </a:p>
          <a:p>
            <a:r>
              <a:rPr lang="en-US" altLang="zh-CN" dirty="0" smtClean="0"/>
              <a:t>	</a:t>
            </a:r>
            <a:r>
              <a:rPr lang="zh-CN" altLang="zh-CN" dirty="0" smtClean="0"/>
              <a:t>执行</a:t>
            </a:r>
            <a:r>
              <a:rPr lang="zh-CN" altLang="zh-CN" dirty="0"/>
              <a:t>语句</a:t>
            </a:r>
            <a:r>
              <a:rPr lang="en-US" altLang="zh-CN" dirty="0"/>
              <a:t>3</a:t>
            </a:r>
            <a:endParaRPr lang="zh-CN" altLang="zh-CN" dirty="0"/>
          </a:p>
          <a:p>
            <a:r>
              <a:rPr lang="en-US" altLang="zh-CN" dirty="0" smtClean="0"/>
              <a:t>     }</a:t>
            </a:r>
            <a:endParaRPr lang="zh-CN" altLang="zh-CN" dirty="0"/>
          </a:p>
          <a:p>
            <a:r>
              <a:rPr lang="en-US" altLang="zh-CN" dirty="0"/>
              <a:t> </a:t>
            </a:r>
            <a:r>
              <a:rPr lang="en-US" altLang="zh-CN" dirty="0" smtClean="0"/>
              <a:t>    ......</a:t>
            </a:r>
            <a:endParaRPr lang="zh-CN" altLang="zh-CN" dirty="0"/>
          </a:p>
        </p:txBody>
      </p:sp>
      <p:sp>
        <p:nvSpPr>
          <p:cNvPr id="22" name="任意多边形 21"/>
          <p:cNvSpPr/>
          <p:nvPr/>
        </p:nvSpPr>
        <p:spPr bwMode="auto">
          <a:xfrm>
            <a:off x="6012160" y="1482973"/>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23" name="矩形 22"/>
          <p:cNvSpPr>
            <a:spLocks noChangeArrowheads="1"/>
          </p:cNvSpPr>
          <p:nvPr/>
        </p:nvSpPr>
        <p:spPr bwMode="auto">
          <a:xfrm>
            <a:off x="6300192" y="1554981"/>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多向判断语句</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4" name="圆角矩形标注 23"/>
          <p:cNvSpPr>
            <a:spLocks noChangeArrowheads="1"/>
          </p:cNvSpPr>
          <p:nvPr/>
        </p:nvSpPr>
        <p:spPr bwMode="auto">
          <a:xfrm>
            <a:off x="3671900" y="3537049"/>
            <a:ext cx="3924436" cy="936104"/>
          </a:xfrm>
          <a:prstGeom prst="wedgeRoundRectCallout">
            <a:avLst>
              <a:gd name="adj1" fmla="val -56144"/>
              <a:gd name="adj2" fmla="val -19816"/>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mn-ea"/>
                <a:ea typeface="+mn-ea"/>
              </a:rPr>
              <a:t>在多向判断语句的语法中，通过</a:t>
            </a:r>
            <a:r>
              <a:rPr lang="en-US" altLang="zh-CN" sz="1600" b="1" dirty="0">
                <a:solidFill>
                  <a:schemeClr val="bg1"/>
                </a:solidFill>
                <a:latin typeface="+mn-ea"/>
                <a:ea typeface="+mn-ea"/>
              </a:rPr>
              <a:t>else if</a:t>
            </a:r>
            <a:r>
              <a:rPr lang="zh-CN" altLang="zh-CN" sz="1600" b="1" dirty="0">
                <a:solidFill>
                  <a:schemeClr val="bg1"/>
                </a:solidFill>
                <a:latin typeface="+mn-ea"/>
                <a:ea typeface="+mn-ea"/>
              </a:rPr>
              <a:t>语句可以对多个条件进行判断，并且根据判断的结果执行相关的语句。</a:t>
            </a:r>
            <a:endParaRPr lang="zh-CN" altLang="zh-CN" sz="1600" b="1" dirty="0">
              <a:solidFill>
                <a:schemeClr val="bg1"/>
              </a:solidFill>
              <a:latin typeface="+mn-ea"/>
              <a:ea typeface="+mn-ea"/>
            </a:endParaRPr>
          </a:p>
        </p:txBody>
      </p:sp>
      <p:sp>
        <p:nvSpPr>
          <p:cNvPr id="25" name="矩形 24"/>
          <p:cNvSpPr>
            <a:spLocks noChangeArrowheads="1"/>
          </p:cNvSpPr>
          <p:nvPr/>
        </p:nvSpPr>
        <p:spPr bwMode="auto">
          <a:xfrm>
            <a:off x="592932" y="2888977"/>
            <a:ext cx="2538908" cy="2808312"/>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28"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1.3.2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概述</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22" presetClass="entr" presetSubtype="8"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1" nodeType="clickEffect">
                                  <p:stCondLst>
                                    <p:cond delay="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6"/>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7"/>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8"/>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5"/>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1"/>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10"/>
                                        </p:tgtEl>
                                        <p:attrNameLst>
                                          <p:attrName>style.visibility</p:attrName>
                                        </p:attrNameLst>
                                      </p:cBhvr>
                                      <p:to>
                                        <p:strVal val="hidden"/>
                                      </p:to>
                                    </p:set>
                                  </p:childTnLst>
                                </p:cTn>
                              </p:par>
                            </p:childTnLst>
                          </p:cTn>
                        </p:par>
                        <p:par>
                          <p:cTn id="54" fill="hold">
                            <p:stCondLst>
                              <p:cond delay="0"/>
                            </p:stCondLst>
                            <p:childTnLst>
                              <p:par>
                                <p:cTn id="55" presetID="22" presetClass="entr" presetSubtype="8"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500"/>
                                        <p:tgtEl>
                                          <p:spTgt spid="15"/>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par>
                                <p:cTn id="64" presetID="22" presetClass="entr" presetSubtype="8" fill="hold"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wipe(left)">
                                      <p:cBhvr>
                                        <p:cTn id="69" dur="500"/>
                                        <p:tgtEl>
                                          <p:spTgt spid="14"/>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left)">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16"/>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5"/>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13"/>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2"/>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14"/>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8"/>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7"/>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4"/>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3"/>
                                        </p:tgtEl>
                                        <p:attrNameLst>
                                          <p:attrName>style.visibility</p:attrName>
                                        </p:attrNameLst>
                                      </p:cBhvr>
                                      <p:to>
                                        <p:strVal val="hidden"/>
                                      </p:to>
                                    </p:set>
                                  </p:childTnLst>
                                </p:cTn>
                              </p:par>
                              <p:par>
                                <p:cTn id="97" presetID="22" presetClass="entr" presetSubtype="8"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wipe(left)">
                                      <p:cBhvr>
                                        <p:cTn id="99" dur="500"/>
                                        <p:tgtEl>
                                          <p:spTgt spid="23"/>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wipe(left)">
                                      <p:cBhvr>
                                        <p:cTn id="102" dur="500"/>
                                        <p:tgtEl>
                                          <p:spTgt spid="22"/>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6" presetID="22" presetClass="entr" presetSubtype="8" fill="hold" nodeType="with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wipe(left)">
                                      <p:cBhvr>
                                        <p:cTn id="108" dur="500"/>
                                        <p:tgtEl>
                                          <p:spTgt spid="19"/>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21"/>
                                        </p:tgtEl>
                                        <p:attrNameLst>
                                          <p:attrName>style.visibility</p:attrName>
                                        </p:attrNameLst>
                                      </p:cBhvr>
                                      <p:to>
                                        <p:strVal val="visible"/>
                                      </p:to>
                                    </p:set>
                                    <p:animEffect transition="in" filter="wipe(left)">
                                      <p:cBhvr>
                                        <p:cTn id="111" dur="500"/>
                                        <p:tgtEl>
                                          <p:spTgt spid="21"/>
                                        </p:tgtEl>
                                      </p:cBhvr>
                                    </p:animEffect>
                                  </p:childTnLst>
                                </p:cTn>
                              </p:par>
                            </p:childTnLst>
                          </p:cTn>
                        </p:par>
                        <p:par>
                          <p:cTn id="112" fill="hold">
                            <p:stCondLst>
                              <p:cond delay="0"/>
                            </p:stCondLst>
                            <p:childTnLst>
                              <p:par>
                                <p:cTn id="113" presetID="22" presetClass="entr" presetSubtype="8" fill="hold" grpId="0" nodeType="after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wipe(left)">
                                      <p:cBhvr>
                                        <p:cTn id="115" dur="500"/>
                                        <p:tgtEl>
                                          <p:spTgt spid="25"/>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24"/>
                                        </p:tgtEl>
                                        <p:attrNameLst>
                                          <p:attrName>style.visibility</p:attrName>
                                        </p:attrNameLst>
                                      </p:cBhvr>
                                      <p:to>
                                        <p:strVal val="visible"/>
                                      </p:to>
                                    </p:set>
                                    <p:animEffect transition="in" filter="wipe(left)">
                                      <p:cBhvr>
                                        <p:cTn id="11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4" grpId="1"/>
      <p:bldP spid="6" grpId="0"/>
      <p:bldP spid="6" grpId="1"/>
      <p:bldP spid="7" grpId="0" animBg="1"/>
      <p:bldP spid="7" grpId="1" animBg="1"/>
      <p:bldP spid="8" grpId="0" animBg="1"/>
      <p:bldP spid="8" grpId="1" animBg="1"/>
      <p:bldP spid="9" grpId="0"/>
      <p:bldP spid="9" grpId="1"/>
      <p:bldP spid="10" grpId="0" animBg="1"/>
      <p:bldP spid="10" grpId="1" animBg="1"/>
      <p:bldP spid="11" grpId="0" animBg="1"/>
      <p:bldP spid="11" grpId="1" animBg="1"/>
      <p:bldP spid="13" grpId="0"/>
      <p:bldP spid="13" grpId="1"/>
      <p:bldP spid="14" grpId="0" animBg="1"/>
      <p:bldP spid="14" grpId="1" animBg="1"/>
      <p:bldP spid="15" grpId="0" animBg="1"/>
      <p:bldP spid="15" grpId="1" animBg="1"/>
      <p:bldP spid="16" grpId="0"/>
      <p:bldP spid="16" grpId="1"/>
      <p:bldP spid="17" grpId="0" animBg="1"/>
      <p:bldP spid="17" grpId="1" animBg="1"/>
      <p:bldP spid="18" grpId="0" animBg="1"/>
      <p:bldP spid="18" grpId="1" animBg="1"/>
      <p:bldP spid="20" grpId="0"/>
      <p:bldP spid="21" grpId="0" animBg="1"/>
      <p:bldP spid="22" grpId="0" animBg="1"/>
      <p:bldP spid="23" grpId="0"/>
      <p:bldP spid="24"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545976" y="1594644"/>
            <a:ext cx="8137525" cy="316835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9"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矩形 15"/>
          <p:cNvSpPr>
            <a:spLocks noChangeArrowheads="1"/>
          </p:cNvSpPr>
          <p:nvPr/>
        </p:nvSpPr>
        <p:spPr bwMode="auto">
          <a:xfrm>
            <a:off x="611560" y="1710326"/>
            <a:ext cx="80406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中，定义函数是通过</a:t>
            </a:r>
            <a:r>
              <a:rPr lang="en-US" altLang="zh-CN" dirty="0">
                <a:latin typeface="Times New Roman" panose="02020603050405020304" pitchFamily="18" charset="0"/>
                <a:cs typeface="Times New Roman" panose="02020603050405020304" pitchFamily="18" charset="0"/>
              </a:rPr>
              <a:t>function</a:t>
            </a:r>
            <a:r>
              <a:rPr lang="zh-CN" altLang="zh-CN" dirty="0">
                <a:latin typeface="Times New Roman" panose="02020603050405020304" pitchFamily="18" charset="0"/>
                <a:cs typeface="Times New Roman" panose="02020603050405020304" pitchFamily="18" charset="0"/>
              </a:rPr>
              <a:t>语句实现的。其语法格式如下</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4" name="矩形 3"/>
          <p:cNvSpPr>
            <a:spLocks noChangeArrowheads="1"/>
          </p:cNvSpPr>
          <p:nvPr/>
        </p:nvSpPr>
        <p:spPr bwMode="auto">
          <a:xfrm>
            <a:off x="592932" y="2746772"/>
            <a:ext cx="8042275" cy="1728191"/>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pPr>
              <a:lnSpc>
                <a:spcPct val="150000"/>
              </a:lnSpc>
            </a:pPr>
            <a:r>
              <a:rPr lang="en-US" altLang="zh-CN" dirty="0" smtClean="0"/>
              <a:t>     function </a:t>
            </a:r>
            <a:r>
              <a:rPr lang="en-US" altLang="zh-CN" dirty="0" err="1"/>
              <a:t>functionName</a:t>
            </a:r>
            <a:r>
              <a:rPr lang="en-US" altLang="zh-CN" dirty="0"/>
              <a:t>([parameter1,parameter2,…]){</a:t>
            </a:r>
            <a:endParaRPr lang="zh-CN" altLang="zh-CN" dirty="0"/>
          </a:p>
          <a:p>
            <a:pPr>
              <a:lnSpc>
                <a:spcPct val="150000"/>
              </a:lnSpc>
            </a:pPr>
            <a:r>
              <a:rPr lang="en-US" altLang="zh-CN" dirty="0"/>
              <a:t>     </a:t>
            </a:r>
            <a:r>
              <a:rPr lang="en-US" altLang="zh-CN" dirty="0" smtClean="0"/>
              <a:t>       </a:t>
            </a:r>
            <a:r>
              <a:rPr lang="en-US" altLang="zh-CN" dirty="0"/>
              <a:t>statements;</a:t>
            </a:r>
            <a:endParaRPr lang="zh-CN" altLang="zh-CN" dirty="0"/>
          </a:p>
          <a:p>
            <a:pPr>
              <a:lnSpc>
                <a:spcPct val="150000"/>
              </a:lnSpc>
            </a:pPr>
            <a:r>
              <a:rPr lang="en-US" altLang="zh-CN" dirty="0" smtClean="0"/>
              <a:t>            [</a:t>
            </a:r>
            <a:r>
              <a:rPr lang="en-US" altLang="zh-CN" dirty="0"/>
              <a:t>return expression;]</a:t>
            </a:r>
            <a:endParaRPr lang="zh-CN" altLang="zh-CN" dirty="0"/>
          </a:p>
          <a:p>
            <a:pPr>
              <a:lnSpc>
                <a:spcPct val="150000"/>
              </a:lnSpc>
            </a:pPr>
            <a:r>
              <a:rPr lang="en-US" altLang="zh-CN" dirty="0" smtClean="0"/>
              <a:t>     }</a:t>
            </a:r>
            <a:endParaRPr lang="zh-CN" altLang="zh-CN" dirty="0"/>
          </a:p>
        </p:txBody>
      </p:sp>
      <p:sp>
        <p:nvSpPr>
          <p:cNvPr id="6" name="任意多边形 5"/>
          <p:cNvSpPr/>
          <p:nvPr/>
        </p:nvSpPr>
        <p:spPr bwMode="auto">
          <a:xfrm>
            <a:off x="5724128" y="1196752"/>
            <a:ext cx="2271536"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7" name="矩形 6"/>
          <p:cNvSpPr>
            <a:spLocks noChangeArrowheads="1"/>
          </p:cNvSpPr>
          <p:nvPr/>
        </p:nvSpPr>
        <p:spPr bwMode="auto">
          <a:xfrm>
            <a:off x="5868144" y="1268760"/>
            <a:ext cx="20162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函数的定义及调用</a:t>
            </a:r>
            <a:endParaRPr lang="zh-CN" altLang="zh-CN" dirty="0">
              <a:solidFill>
                <a:schemeClr val="bg1"/>
              </a:solidFill>
              <a:latin typeface="微软雅黑" panose="020B0503020204020204" pitchFamily="34" charset="-122"/>
              <a:ea typeface="微软雅黑" panose="020B0503020204020204" pitchFamily="34" charset="-122"/>
            </a:endParaRPr>
          </a:p>
        </p:txBody>
      </p:sp>
      <p:cxnSp>
        <p:nvCxnSpPr>
          <p:cNvPr id="10" name="直接箭头连接符 9"/>
          <p:cNvCxnSpPr>
            <a:cxnSpLocks noChangeShapeType="1"/>
          </p:cNvCxnSpPr>
          <p:nvPr/>
        </p:nvCxnSpPr>
        <p:spPr bwMode="auto">
          <a:xfrm flipV="1">
            <a:off x="2408218" y="2458740"/>
            <a:ext cx="507598" cy="343704"/>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矩形 10"/>
          <p:cNvSpPr>
            <a:spLocks noChangeArrowheads="1"/>
          </p:cNvSpPr>
          <p:nvPr/>
        </p:nvSpPr>
        <p:spPr bwMode="auto">
          <a:xfrm>
            <a:off x="1752519" y="2854319"/>
            <a:ext cx="1440160" cy="360040"/>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2" name="圆角矩形 11"/>
          <p:cNvSpPr/>
          <p:nvPr/>
        </p:nvSpPr>
        <p:spPr>
          <a:xfrm>
            <a:off x="2987824" y="2225777"/>
            <a:ext cx="1709142"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指定函数名称</a:t>
            </a:r>
            <a:endParaRPr lang="en-US" altLang="zh-CN" b="1" dirty="0">
              <a:solidFill>
                <a:schemeClr val="bg1"/>
              </a:solidFill>
            </a:endParaRPr>
          </a:p>
        </p:txBody>
      </p:sp>
      <p:sp>
        <p:nvSpPr>
          <p:cNvPr id="15" name="矩形 14"/>
          <p:cNvSpPr>
            <a:spLocks noChangeArrowheads="1"/>
          </p:cNvSpPr>
          <p:nvPr/>
        </p:nvSpPr>
        <p:spPr bwMode="auto">
          <a:xfrm>
            <a:off x="3254920" y="2854319"/>
            <a:ext cx="2469207" cy="360040"/>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16" name="直接箭头连接符 15"/>
          <p:cNvCxnSpPr>
            <a:cxnSpLocks noChangeShapeType="1"/>
          </p:cNvCxnSpPr>
          <p:nvPr/>
        </p:nvCxnSpPr>
        <p:spPr bwMode="auto">
          <a:xfrm flipV="1">
            <a:off x="5030996" y="2458740"/>
            <a:ext cx="672133" cy="324961"/>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圆角矩形 16"/>
          <p:cNvSpPr/>
          <p:nvPr/>
        </p:nvSpPr>
        <p:spPr>
          <a:xfrm>
            <a:off x="5796136" y="2254428"/>
            <a:ext cx="1230971"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参数列表</a:t>
            </a:r>
            <a:endParaRPr lang="en-US" altLang="zh-CN" b="1" dirty="0">
              <a:solidFill>
                <a:schemeClr val="bg1"/>
              </a:solidFill>
            </a:endParaRPr>
          </a:p>
        </p:txBody>
      </p:sp>
      <p:sp>
        <p:nvSpPr>
          <p:cNvPr id="24" name="矩形 23"/>
          <p:cNvSpPr>
            <a:spLocks noChangeArrowheads="1"/>
          </p:cNvSpPr>
          <p:nvPr/>
        </p:nvSpPr>
        <p:spPr bwMode="auto">
          <a:xfrm>
            <a:off x="1213126" y="3267316"/>
            <a:ext cx="1342650" cy="360040"/>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25" name="直接箭头连接符 24"/>
          <p:cNvCxnSpPr>
            <a:cxnSpLocks noChangeShapeType="1"/>
          </p:cNvCxnSpPr>
          <p:nvPr/>
        </p:nvCxnSpPr>
        <p:spPr bwMode="auto">
          <a:xfrm>
            <a:off x="2662017" y="3497057"/>
            <a:ext cx="671384" cy="0"/>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圆角矩形 27"/>
          <p:cNvSpPr/>
          <p:nvPr/>
        </p:nvSpPr>
        <p:spPr>
          <a:xfrm>
            <a:off x="3419872" y="3271940"/>
            <a:ext cx="2376264"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实现函数功能的语句</a:t>
            </a:r>
            <a:endParaRPr lang="en-US" altLang="zh-CN" b="1" dirty="0">
              <a:solidFill>
                <a:schemeClr val="bg1"/>
              </a:solidFill>
            </a:endParaRPr>
          </a:p>
        </p:txBody>
      </p:sp>
      <p:sp>
        <p:nvSpPr>
          <p:cNvPr id="29" name="矩形 28"/>
          <p:cNvSpPr>
            <a:spLocks noChangeArrowheads="1"/>
          </p:cNvSpPr>
          <p:nvPr/>
        </p:nvSpPr>
        <p:spPr bwMode="auto">
          <a:xfrm>
            <a:off x="1259252" y="3680563"/>
            <a:ext cx="1995668" cy="360040"/>
          </a:xfrm>
          <a:prstGeom prst="rect">
            <a:avLst/>
          </a:prstGeom>
          <a:noFill/>
          <a:ln w="19050">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30" name="直接箭头连接符 29"/>
          <p:cNvCxnSpPr>
            <a:cxnSpLocks noChangeShapeType="1"/>
          </p:cNvCxnSpPr>
          <p:nvPr/>
        </p:nvCxnSpPr>
        <p:spPr bwMode="auto">
          <a:xfrm>
            <a:off x="2774037" y="4137676"/>
            <a:ext cx="671384" cy="108012"/>
          </a:xfrm>
          <a:prstGeom prst="straightConnector1">
            <a:avLst/>
          </a:prstGeom>
          <a:noFill/>
          <a:ln w="28575" algn="ctr">
            <a:solidFill>
              <a:srgbClr val="0070C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圆角矩形 32"/>
          <p:cNvSpPr/>
          <p:nvPr/>
        </p:nvSpPr>
        <p:spPr>
          <a:xfrm>
            <a:off x="3491880" y="3903891"/>
            <a:ext cx="3572198" cy="715089"/>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en-US" altLang="zh-CN" b="1" dirty="0" smtClean="0">
                <a:solidFill>
                  <a:schemeClr val="bg1"/>
                </a:solidFill>
              </a:rPr>
              <a:t>return</a:t>
            </a:r>
            <a:r>
              <a:rPr lang="zh-CN" altLang="en-US" b="1" dirty="0" smtClean="0">
                <a:solidFill>
                  <a:schemeClr val="bg1"/>
                </a:solidFill>
              </a:rPr>
              <a:t>表示返回值，</a:t>
            </a:r>
            <a:r>
              <a:rPr lang="en-US" altLang="zh-CN" b="1" dirty="0" smtClean="0">
                <a:solidFill>
                  <a:schemeClr val="bg1"/>
                </a:solidFill>
              </a:rPr>
              <a:t>expression</a:t>
            </a:r>
            <a:r>
              <a:rPr lang="zh-CN" altLang="en-US" b="1" dirty="0" smtClean="0">
                <a:solidFill>
                  <a:schemeClr val="bg1"/>
                </a:solidFill>
              </a:rPr>
              <a:t>为任意表达式、变量或常量</a:t>
            </a:r>
            <a:endParaRPr lang="en-US" altLang="zh-CN" b="1" dirty="0">
              <a:solidFill>
                <a:schemeClr val="bg1"/>
              </a:solidFill>
            </a:endParaRPr>
          </a:p>
        </p:txBody>
      </p:sp>
      <p:sp>
        <p:nvSpPr>
          <p:cNvPr id="34" name="圆角矩形标注 33"/>
          <p:cNvSpPr>
            <a:spLocks noChangeArrowheads="1"/>
          </p:cNvSpPr>
          <p:nvPr/>
        </p:nvSpPr>
        <p:spPr bwMode="auto">
          <a:xfrm>
            <a:off x="1488407" y="4979020"/>
            <a:ext cx="6239194" cy="936104"/>
          </a:xfrm>
          <a:prstGeom prst="wedgeRoundRectCallout">
            <a:avLst>
              <a:gd name="adj1" fmla="val -13670"/>
              <a:gd name="adj2" fmla="val -61534"/>
              <a:gd name="adj3" fmla="val 16667"/>
            </a:avLst>
          </a:prstGeom>
          <a:solidFill>
            <a:srgbClr val="0070C0"/>
          </a:solidFill>
          <a:ln w="19050" algn="ctr">
            <a:solidFill>
              <a:schemeClr val="accent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600" b="1" dirty="0">
                <a:solidFill>
                  <a:schemeClr val="bg1"/>
                </a:solidFill>
                <a:latin typeface="+mn-ea"/>
                <a:ea typeface="+mn-ea"/>
              </a:rPr>
              <a:t>在</a:t>
            </a:r>
            <a:r>
              <a:rPr lang="en-US" altLang="zh-CN" sz="1600" b="1" dirty="0">
                <a:solidFill>
                  <a:schemeClr val="bg1"/>
                </a:solidFill>
                <a:latin typeface="+mn-ea"/>
                <a:ea typeface="+mn-ea"/>
              </a:rPr>
              <a:t>JavaScript</a:t>
            </a:r>
            <a:r>
              <a:rPr lang="zh-CN" altLang="zh-CN" sz="1600" b="1" dirty="0">
                <a:solidFill>
                  <a:schemeClr val="bg1"/>
                </a:solidFill>
                <a:latin typeface="+mn-ea"/>
                <a:ea typeface="+mn-ea"/>
              </a:rPr>
              <a:t>中</a:t>
            </a:r>
            <a:r>
              <a:rPr lang="zh-CN" altLang="zh-CN" sz="1600" b="1" dirty="0" smtClean="0">
                <a:solidFill>
                  <a:schemeClr val="bg1"/>
                </a:solidFill>
                <a:latin typeface="+mn-ea"/>
                <a:ea typeface="+mn-ea"/>
              </a:rPr>
              <a:t>，函数</a:t>
            </a:r>
            <a:r>
              <a:rPr lang="zh-CN" altLang="zh-CN" sz="1600" b="1" dirty="0">
                <a:solidFill>
                  <a:schemeClr val="bg1"/>
                </a:solidFill>
                <a:latin typeface="+mn-ea"/>
                <a:ea typeface="+mn-ea"/>
              </a:rPr>
              <a:t>区分大</a:t>
            </a:r>
            <a:r>
              <a:rPr lang="zh-CN" altLang="zh-CN" sz="1600" b="1" dirty="0" smtClean="0">
                <a:solidFill>
                  <a:schemeClr val="bg1"/>
                </a:solidFill>
                <a:latin typeface="+mn-ea"/>
                <a:ea typeface="+mn-ea"/>
              </a:rPr>
              <a:t>小写</a:t>
            </a:r>
            <a:r>
              <a:rPr lang="zh-CN" altLang="en-US" sz="1600" b="1" dirty="0" smtClean="0">
                <a:solidFill>
                  <a:schemeClr val="bg1"/>
                </a:solidFill>
                <a:latin typeface="+mn-ea"/>
                <a:ea typeface="+mn-ea"/>
              </a:rPr>
              <a:t>，调用函数时需注意。调用不同参数的函数时，</a:t>
            </a:r>
            <a:r>
              <a:rPr lang="zh-CN" altLang="zh-CN" sz="1600" b="1" dirty="0" smtClean="0">
                <a:solidFill>
                  <a:schemeClr val="bg1"/>
                </a:solidFill>
                <a:latin typeface="+mn-ea"/>
                <a:ea typeface="+mn-ea"/>
              </a:rPr>
              <a:t>在</a:t>
            </a:r>
            <a:r>
              <a:rPr lang="zh-CN" altLang="zh-CN" sz="1600" b="1" dirty="0">
                <a:solidFill>
                  <a:schemeClr val="bg1"/>
                </a:solidFill>
                <a:latin typeface="+mn-ea"/>
                <a:ea typeface="+mn-ea"/>
              </a:rPr>
              <a:t>括号中传递相应的参数进行</a:t>
            </a:r>
            <a:r>
              <a:rPr lang="zh-CN" altLang="zh-CN" sz="1600" b="1" dirty="0" smtClean="0">
                <a:solidFill>
                  <a:schemeClr val="bg1"/>
                </a:solidFill>
                <a:latin typeface="+mn-ea"/>
                <a:ea typeface="+mn-ea"/>
              </a:rPr>
              <a:t>调用</a:t>
            </a:r>
            <a:r>
              <a:rPr lang="zh-CN" altLang="en-US" sz="1600" b="1" dirty="0" smtClean="0">
                <a:solidFill>
                  <a:schemeClr val="bg1"/>
                </a:solidFill>
                <a:latin typeface="+mn-ea"/>
                <a:ea typeface="+mn-ea"/>
              </a:rPr>
              <a:t>即可。</a:t>
            </a:r>
            <a:r>
              <a:rPr lang="zh-CN" altLang="zh-CN" sz="1600" b="1" dirty="0">
                <a:solidFill>
                  <a:schemeClr val="bg1"/>
                </a:solidFill>
                <a:latin typeface="+mn-ea"/>
                <a:ea typeface="+mn-ea"/>
              </a:rPr>
              <a:t>如果函数有返回值，可以使用赋值语句将函数值赋给一个变量进行返回。</a:t>
            </a:r>
            <a:endParaRPr lang="zh-CN" altLang="zh-CN" sz="1600" b="1" dirty="0">
              <a:solidFill>
                <a:schemeClr val="bg1"/>
              </a:solidFill>
              <a:latin typeface="+mn-ea"/>
              <a:ea typeface="+mn-ea"/>
            </a:endParaRPr>
          </a:p>
          <a:p>
            <a:endParaRPr lang="zh-CN" altLang="zh-CN" sz="1600" b="1" dirty="0">
              <a:solidFill>
                <a:schemeClr val="bg1"/>
              </a:solidFill>
              <a:latin typeface="+mn-ea"/>
              <a:ea typeface="+mn-ea"/>
            </a:endParaRPr>
          </a:p>
        </p:txBody>
      </p:sp>
      <p:sp>
        <p:nvSpPr>
          <p:cNvPr id="21"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1.3.3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的使用</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par>
                                <p:cTn id="25" presetID="2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par>
                                <p:cTn id="36" presetID="22" presetClass="entr" presetSubtype="4"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down)">
                                      <p:cBhvr>
                                        <p:cTn id="38" dur="500"/>
                                        <p:tgtEl>
                                          <p:spTgt spid="16"/>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par>
                                <p:cTn id="47" presetID="22" presetClass="entr" presetSubtype="8"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up)">
                                      <p:cBhvr>
                                        <p:cTn id="57" dur="500"/>
                                        <p:tgtEl>
                                          <p:spTgt spid="29"/>
                                        </p:tgtEl>
                                      </p:cBhvr>
                                    </p:animEffect>
                                  </p:childTnLst>
                                </p:cTn>
                              </p:par>
                              <p:par>
                                <p:cTn id="58" presetID="22" presetClass="entr" presetSubtype="1"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up)">
                                      <p:cBhvr>
                                        <p:cTn id="60" dur="500"/>
                                        <p:tgtEl>
                                          <p:spTgt spid="3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up)">
                                      <p:cBhvr>
                                        <p:cTn id="63" dur="50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11"/>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0"/>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2"/>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15"/>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6"/>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17"/>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24"/>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25"/>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28"/>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29"/>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30"/>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33"/>
                                        </p:tgtEl>
                                        <p:attrNameLst>
                                          <p:attrName>style.visibility</p:attrName>
                                        </p:attrNameLst>
                                      </p:cBhvr>
                                      <p:to>
                                        <p:strVal val="hidden"/>
                                      </p:to>
                                    </p:set>
                                  </p:childTnLst>
                                </p:cTn>
                              </p:par>
                            </p:childTnLst>
                          </p:cTn>
                        </p:par>
                        <p:par>
                          <p:cTn id="90" fill="hold">
                            <p:stCondLst>
                              <p:cond delay="0"/>
                            </p:stCondLst>
                            <p:childTnLst>
                              <p:par>
                                <p:cTn id="91" presetID="22" presetClass="entr" presetSubtype="1" fill="hold" grpId="0" nodeType="after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wipe(up)">
                                      <p:cBhvr>
                                        <p:cTn id="9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P spid="7" grpId="0"/>
      <p:bldP spid="11" grpId="0" animBg="1"/>
      <p:bldP spid="11" grpId="1" animBg="1"/>
      <p:bldP spid="12" grpId="0" animBg="1"/>
      <p:bldP spid="12" grpId="1" animBg="1"/>
      <p:bldP spid="15" grpId="0" animBg="1"/>
      <p:bldP spid="15" grpId="1" animBg="1"/>
      <p:bldP spid="17" grpId="0" animBg="1"/>
      <p:bldP spid="17" grpId="1" animBg="1"/>
      <p:bldP spid="24" grpId="0" animBg="1"/>
      <p:bldP spid="24" grpId="1" animBg="1"/>
      <p:bldP spid="28" grpId="0" animBg="1"/>
      <p:bldP spid="28" grpId="1" animBg="1"/>
      <p:bldP spid="29" grpId="0" animBg="1"/>
      <p:bldP spid="29" grpId="1" animBg="1"/>
      <p:bldP spid="33" grpId="0" animBg="1"/>
      <p:bldP spid="33" grpId="1" animBg="1"/>
      <p:bldP spid="3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nvGraphicFramePr>
        <p:xfrm>
          <a:off x="899902" y="3711144"/>
          <a:ext cx="7416824" cy="2526168"/>
        </p:xfrm>
        <a:graphic>
          <a:graphicData uri="http://schemas.openxmlformats.org/drawingml/2006/table">
            <a:tbl>
              <a:tblPr firstRow="1" bandRow="1">
                <a:tableStyleId>{69012ECD-51FC-41F1-AA8D-1B2483CD663E}</a:tableStyleId>
              </a:tblPr>
              <a:tblGrid>
                <a:gridCol w="1452534"/>
                <a:gridCol w="1525159"/>
                <a:gridCol w="4439131"/>
              </a:tblGrid>
              <a:tr h="304240">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kern="1200" dirty="0" smtClean="0">
                          <a:solidFill>
                            <a:schemeClr val="lt1"/>
                          </a:solidFill>
                          <a:latin typeface="+mn-lt"/>
                          <a:ea typeface="+mn-ea"/>
                          <a:cs typeface="+mn-cs"/>
                        </a:rPr>
                        <a:t>类型</a:t>
                      </a:r>
                      <a:endParaRPr lang="zh-CN" altLang="en-US" sz="1800" b="1" kern="1200" dirty="0" smtClean="0">
                        <a:solidFill>
                          <a:schemeClr val="lt1"/>
                        </a:solidFill>
                        <a:latin typeface="+mn-lt"/>
                        <a:ea typeface="+mn-ea"/>
                        <a:cs typeface="+mn-cs"/>
                      </a:endParaRPr>
                    </a:p>
                  </a:txBody>
                  <a:tcPr marL="91453" marR="91453" marT="45738" marB="45738" anchor="ctr">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含义</a:t>
                      </a:r>
                      <a:endParaRPr lang="en-US" altLang="zh-CN" sz="1800" dirty="0" smtClean="0"/>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zh-CN" altLang="en-US" sz="1800" b="1" kern="1200" dirty="0" smtClean="0">
                          <a:solidFill>
                            <a:schemeClr val="lt1"/>
                          </a:solidFill>
                          <a:latin typeface="Arial" panose="020B0604020202020204"/>
                          <a:ea typeface="宋体" panose="02010600030101010101" pitchFamily="2" charset="-122"/>
                        </a:rPr>
                        <a:t>说明</a:t>
                      </a:r>
                      <a:endParaRPr lang="zh-CN" altLang="en-US" sz="1800" b="1" kern="1200" dirty="0">
                        <a:solidFill>
                          <a:schemeClr val="lt1"/>
                        </a:solidFill>
                        <a:latin typeface="Arial" panose="020B0604020202020204"/>
                        <a:ea typeface="宋体" panose="02010600030101010101" pitchFamily="2" charset="-122"/>
                      </a:endParaRPr>
                    </a:p>
                  </a:txBody>
                  <a:tcPr marL="91453" marR="91453" marT="45738" marB="45738" anchor="ctr">
                    <a:lnL w="12700" cap="flat" cmpd="sng" algn="ctr">
                      <a:solidFill>
                        <a:schemeClr val="accent1">
                          <a:lumMod val="60000"/>
                          <a:lumOff val="40000"/>
                        </a:schemeClr>
                      </a:solidFill>
                      <a:prstDash val="solid"/>
                      <a:round/>
                      <a:headEnd type="none" w="med" len="med"/>
                      <a:tailEnd type="none" w="med" len="med"/>
                    </a:lnL>
                  </a:tcPr>
                </a:tc>
              </a:tr>
              <a:tr h="345932">
                <a:tc rowSpan="5">
                  <a:txBody>
                    <a:bodyPr/>
                    <a:lstStyle/>
                    <a:p>
                      <a:pPr algn="ctr">
                        <a:spcAft>
                          <a:spcPts val="0"/>
                        </a:spcAft>
                      </a:pPr>
                      <a:r>
                        <a:rPr lang="zh-CN" sz="1600" kern="100">
                          <a:effectLst/>
                          <a:latin typeface="Times New Roman" panose="02020603050405020304"/>
                          <a:ea typeface="宋体" panose="02010600030101010101" pitchFamily="2" charset="-122"/>
                        </a:rPr>
                        <a:t>表单事件</a:t>
                      </a:r>
                      <a:endParaRPr lang="zh-CN" sz="1600" kern="100">
                        <a:effectLst/>
                        <a:latin typeface="Times New Roman" panose="02020603050405020304"/>
                        <a:ea typeface="宋体" panose="02010600030101010101" pitchFamily="2" charset="-122"/>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onblur</a:t>
                      </a:r>
                      <a:endParaRPr lang="zh-CN" sz="1600" kern="10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a:t>
                      </a:r>
                      <a:r>
                        <a:rPr lang="zh-CN" sz="1600" kern="100">
                          <a:effectLst/>
                          <a:latin typeface="Times New Roman" panose="02020603050405020304"/>
                          <a:ea typeface="宋体" panose="02010600030101010101" pitchFamily="2" charset="-122"/>
                        </a:rPr>
                        <a:t>当前元素失去焦点时触发此事件</a:t>
                      </a:r>
                      <a:endParaRPr lang="zh-CN" sz="1600" kern="10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471340">
                <a:tc vMerge="1">
                  <a:tcPr>
                    <a:lnR w="12700" cap="flat" cmpd="sng" algn="ctr">
                      <a:solidFill>
                        <a:schemeClr val="accent1">
                          <a:lumMod val="60000"/>
                          <a:lumOff val="40000"/>
                        </a:schemeClr>
                      </a:solidFill>
                      <a:prstDash val="solid"/>
                      <a:round/>
                      <a:headEnd type="none" w="med" len="med"/>
                      <a:tailEnd type="none" w="med" len="med"/>
                    </a:lnR>
                  </a:tcPr>
                </a:tc>
                <a:tc>
                  <a:txBody>
                    <a:bodyPr/>
                    <a:lstStyle/>
                    <a:p>
                      <a:pPr algn="l">
                        <a:spcAft>
                          <a:spcPts val="0"/>
                        </a:spcAft>
                      </a:pPr>
                      <a:r>
                        <a:rPr lang="en-US" sz="1600" kern="100">
                          <a:effectLst/>
                          <a:latin typeface="Times New Roman" panose="02020603050405020304"/>
                          <a:ea typeface="宋体" panose="02010600030101010101" pitchFamily="2" charset="-122"/>
                        </a:rPr>
                        <a:t>  onchange</a:t>
                      </a:r>
                      <a:endParaRPr lang="zh-CN" sz="1600" kern="10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spcAft>
                          <a:spcPts val="0"/>
                        </a:spcAft>
                      </a:pPr>
                      <a:r>
                        <a:rPr lang="en-US" sz="1600" kern="100" dirty="0">
                          <a:effectLst/>
                          <a:latin typeface="Times New Roman" panose="02020603050405020304"/>
                          <a:ea typeface="宋体" panose="02010600030101010101" pitchFamily="2" charset="-122"/>
                        </a:rPr>
                        <a:t>  </a:t>
                      </a:r>
                      <a:r>
                        <a:rPr lang="zh-CN" sz="1600" kern="100" dirty="0">
                          <a:effectLst/>
                          <a:latin typeface="Times New Roman" panose="02020603050405020304"/>
                          <a:ea typeface="宋体" panose="02010600030101010101" pitchFamily="2" charset="-122"/>
                        </a:rPr>
                        <a:t>当前元素失去焦点并且元素内容发生改变时触发此事件</a:t>
                      </a:r>
                      <a:endParaRPr lang="zh-CN" sz="1600" kern="100" dirty="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331690">
                <a:tc vMerge="1">
                  <a:tcP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onfocus</a:t>
                      </a:r>
                      <a:endParaRPr lang="zh-CN" sz="1600" kern="10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a:t>
                      </a:r>
                      <a:r>
                        <a:rPr lang="zh-CN" sz="1600" kern="100">
                          <a:effectLst/>
                          <a:latin typeface="Times New Roman" panose="02020603050405020304"/>
                          <a:ea typeface="宋体" panose="02010600030101010101" pitchFamily="2" charset="-122"/>
                        </a:rPr>
                        <a:t>当某个元素获得焦点时触发此事件</a:t>
                      </a:r>
                      <a:endParaRPr lang="zh-CN" sz="1600" kern="10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331690">
                <a:tc vMerge="1">
                  <a:tcPr>
                    <a:lnR w="12700" cap="flat" cmpd="sng" algn="ctr">
                      <a:solidFill>
                        <a:schemeClr val="accent1">
                          <a:lumMod val="60000"/>
                          <a:lumOff val="40000"/>
                        </a:schemeClr>
                      </a:solidFill>
                      <a:prstDash val="solid"/>
                      <a:round/>
                      <a:headEnd type="none" w="med" len="med"/>
                      <a:tailEnd type="none" w="med" len="med"/>
                    </a:lnR>
                  </a:tcPr>
                </a:tc>
                <a:tc>
                  <a:txBody>
                    <a:bodyPr/>
                    <a:lstStyle/>
                    <a:p>
                      <a:pPr algn="l">
                        <a:spcAft>
                          <a:spcPts val="0"/>
                        </a:spcAft>
                      </a:pPr>
                      <a:r>
                        <a:rPr lang="en-US" sz="1600" kern="100">
                          <a:effectLst/>
                          <a:latin typeface="Times New Roman" panose="02020603050405020304"/>
                          <a:ea typeface="宋体" panose="02010600030101010101" pitchFamily="2" charset="-122"/>
                        </a:rPr>
                        <a:t>  onreset</a:t>
                      </a:r>
                      <a:endParaRPr lang="zh-CN" sz="1600" kern="10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algn="l">
                        <a:spcAft>
                          <a:spcPts val="0"/>
                        </a:spcAft>
                      </a:pPr>
                      <a:r>
                        <a:rPr lang="en-US" sz="1600" kern="100">
                          <a:effectLst/>
                          <a:latin typeface="Times New Roman" panose="02020603050405020304"/>
                          <a:ea typeface="宋体" panose="02010600030101010101" pitchFamily="2" charset="-122"/>
                        </a:rPr>
                        <a:t>  </a:t>
                      </a:r>
                      <a:r>
                        <a:rPr lang="zh-CN" sz="1600" kern="100">
                          <a:effectLst/>
                          <a:latin typeface="Times New Roman" panose="02020603050405020304"/>
                          <a:ea typeface="宋体" panose="02010600030101010101" pitchFamily="2" charset="-122"/>
                        </a:rPr>
                        <a:t>当表单被重置时触发此事件</a:t>
                      </a:r>
                      <a:endParaRPr lang="zh-CN" sz="1600" kern="10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r h="331690">
                <a:tc vMerge="1">
                  <a:tcPr>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onsubmit</a:t>
                      </a:r>
                      <a:endParaRPr lang="zh-CN" sz="1600" kern="10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solidFill>
                      <a:srgbClr val="E9EDF4"/>
                    </a:solidFill>
                  </a:tcPr>
                </a:tc>
                <a:tc>
                  <a:txBody>
                    <a:bodyPr/>
                    <a:lstStyle/>
                    <a:p>
                      <a:pPr algn="l">
                        <a:spcAft>
                          <a:spcPts val="0"/>
                        </a:spcAft>
                      </a:pPr>
                      <a:r>
                        <a:rPr lang="en-US" sz="1600" kern="100">
                          <a:effectLst/>
                          <a:latin typeface="Times New Roman" panose="02020603050405020304"/>
                          <a:ea typeface="宋体" panose="02010600030101010101" pitchFamily="2" charset="-122"/>
                        </a:rPr>
                        <a:t>  </a:t>
                      </a:r>
                      <a:r>
                        <a:rPr lang="zh-CN" sz="1600" kern="100">
                          <a:effectLst/>
                          <a:latin typeface="Times New Roman" panose="02020603050405020304"/>
                          <a:ea typeface="宋体" panose="02010600030101010101" pitchFamily="2" charset="-122"/>
                        </a:rPr>
                        <a:t>当表单被提交时触发此事件</a:t>
                      </a:r>
                      <a:endParaRPr lang="zh-CN" sz="1600" kern="10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solidFill>
                      <a:srgbClr val="E9EDF4"/>
                    </a:solidFill>
                  </a:tcPr>
                </a:tc>
              </a:tr>
              <a:tr h="331690">
                <a:tc>
                  <a:txBody>
                    <a:bodyPr/>
                    <a:lstStyle/>
                    <a:p>
                      <a:pPr algn="ctr">
                        <a:spcAft>
                          <a:spcPts val="0"/>
                        </a:spcAft>
                      </a:pPr>
                      <a:r>
                        <a:rPr lang="zh-CN" sz="1600" kern="100">
                          <a:effectLst/>
                          <a:latin typeface="Times New Roman" panose="02020603050405020304"/>
                          <a:ea typeface="宋体" panose="02010600030101010101" pitchFamily="2" charset="-122"/>
                        </a:rPr>
                        <a:t>页面事件</a:t>
                      </a:r>
                      <a:endParaRPr lang="zh-CN" sz="1600" kern="100">
                        <a:effectLst/>
                        <a:latin typeface="Times New Roman" panose="02020603050405020304"/>
                        <a:ea typeface="宋体" panose="02010600030101010101" pitchFamily="2" charset="-122"/>
                      </a:endParaRPr>
                    </a:p>
                  </a:txBody>
                  <a:tcPr marL="68580" marR="68580" marT="0" marB="0" anchor="ctr">
                    <a:lnR w="12700" cap="flat" cmpd="sng" algn="ctr">
                      <a:solidFill>
                        <a:schemeClr val="accent1">
                          <a:lumMod val="60000"/>
                          <a:lumOff val="40000"/>
                        </a:schemeClr>
                      </a:solidFill>
                      <a:prstDash val="solid"/>
                      <a:round/>
                      <a:headEnd type="none" w="med" len="med"/>
                      <a:tailEnd type="none" w="med" len="med"/>
                    </a:lnR>
                  </a:tcPr>
                </a:tc>
                <a:tc>
                  <a:txBody>
                    <a:bodyPr/>
                    <a:lstStyle/>
                    <a:p>
                      <a:pPr algn="l">
                        <a:spcAft>
                          <a:spcPts val="0"/>
                        </a:spcAft>
                      </a:pPr>
                      <a:r>
                        <a:rPr lang="en-US" sz="1600" kern="100" dirty="0">
                          <a:effectLst/>
                          <a:latin typeface="Times New Roman" panose="02020603050405020304"/>
                          <a:ea typeface="宋体" panose="02010600030101010101" pitchFamily="2" charset="-122"/>
                        </a:rPr>
                        <a:t>  </a:t>
                      </a:r>
                      <a:r>
                        <a:rPr lang="en-US" sz="1600" kern="100" dirty="0" err="1">
                          <a:effectLst/>
                          <a:latin typeface="Times New Roman" panose="02020603050405020304"/>
                          <a:ea typeface="宋体" panose="02010600030101010101" pitchFamily="2" charset="-122"/>
                        </a:rPr>
                        <a:t>onload</a:t>
                      </a:r>
                      <a:endParaRPr lang="zh-CN" sz="1600" kern="100" dirty="0">
                        <a:effectLst/>
                        <a:latin typeface="Times New Roman" panose="02020603050405020304"/>
                        <a:ea typeface="宋体" panose="02010600030101010101" pitchFamily="2" charset="-122"/>
                      </a:endParaRPr>
                    </a:p>
                  </a:txBody>
                  <a:tcPr marL="68580" marR="6858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tcPr>
                </a:tc>
                <a:tc>
                  <a:txBody>
                    <a:bodyPr/>
                    <a:lstStyle/>
                    <a:p>
                      <a:pPr indent="133350" algn="l">
                        <a:spcAft>
                          <a:spcPts val="0"/>
                        </a:spcAft>
                      </a:pPr>
                      <a:r>
                        <a:rPr lang="zh-CN" sz="1600" kern="100" dirty="0">
                          <a:effectLst/>
                          <a:latin typeface="Times New Roman" panose="02020603050405020304"/>
                          <a:ea typeface="宋体" panose="02010600030101010101" pitchFamily="2" charset="-122"/>
                        </a:rPr>
                        <a:t>当页面加载完成时触发此事件</a:t>
                      </a:r>
                      <a:endParaRPr lang="zh-CN" sz="1600" kern="100" dirty="0">
                        <a:effectLst/>
                        <a:latin typeface="Times New Roman" panose="02020603050405020304"/>
                        <a:ea typeface="宋体" panose="02010600030101010101" pitchFamily="2" charset="-122"/>
                      </a:endParaRPr>
                    </a:p>
                  </a:txBody>
                  <a:tcPr marL="68580" marR="68580" marT="0" marB="0">
                    <a:lnL w="12700" cap="flat" cmpd="sng" algn="ctr">
                      <a:solidFill>
                        <a:schemeClr val="accent1">
                          <a:lumMod val="60000"/>
                          <a:lumOff val="40000"/>
                        </a:schemeClr>
                      </a:solidFill>
                      <a:prstDash val="solid"/>
                      <a:round/>
                      <a:headEnd type="none" w="med" len="med"/>
                      <a:tailEnd type="none" w="med" len="med"/>
                    </a:lnL>
                  </a:tcPr>
                </a:tc>
              </a:tr>
            </a:tbl>
          </a:graphicData>
        </a:graphic>
      </p:graphicFrame>
      <p:sp>
        <p:nvSpPr>
          <p:cNvPr id="16" name="矩形 15"/>
          <p:cNvSpPr/>
          <p:nvPr/>
        </p:nvSpPr>
        <p:spPr bwMode="auto">
          <a:xfrm>
            <a:off x="545976" y="1749414"/>
            <a:ext cx="8137525" cy="177660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矩形 16"/>
          <p:cNvSpPr>
            <a:spLocks noChangeArrowheads="1"/>
          </p:cNvSpPr>
          <p:nvPr/>
        </p:nvSpPr>
        <p:spPr bwMode="auto">
          <a:xfrm>
            <a:off x="571500" y="1771694"/>
            <a:ext cx="804068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采用事件驱动是</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语言的一个最基本的特征，所谓的事件是指用户在访问页面时执行的</a:t>
            </a:r>
            <a:r>
              <a:rPr lang="zh-CN" altLang="zh-CN" dirty="0" smtClean="0">
                <a:latin typeface="Times New Roman" panose="02020603050405020304" pitchFamily="18" charset="0"/>
                <a:cs typeface="Times New Roman" panose="02020603050405020304" pitchFamily="18" charset="0"/>
              </a:rPr>
              <a:t>操作。</a:t>
            </a:r>
            <a:r>
              <a:rPr lang="zh-CN" altLang="zh-CN" dirty="0">
                <a:latin typeface="Times New Roman" panose="02020603050405020304" pitchFamily="18" charset="0"/>
                <a:cs typeface="Times New Roman" panose="02020603050405020304" pitchFamily="18" charset="0"/>
              </a:rPr>
              <a:t>事件处理的过程通常分为三步：发生事件、启动事件处理程序和事件处理程序作出反应。</a:t>
            </a:r>
            <a:endParaRPr lang="zh-CN"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常用的事件</a:t>
            </a:r>
            <a:r>
              <a:rPr lang="zh-CN" altLang="zh-CN" dirty="0" smtClean="0">
                <a:latin typeface="Times New Roman" panose="02020603050405020304" pitchFamily="18" charset="0"/>
                <a:cs typeface="Times New Roman" panose="02020603050405020304" pitchFamily="18" charset="0"/>
              </a:rPr>
              <a:t>类型</a:t>
            </a:r>
            <a:r>
              <a:rPr lang="zh-CN" altLang="en-US" dirty="0" smtClean="0">
                <a:latin typeface="Times New Roman" panose="02020603050405020304" pitchFamily="18" charset="0"/>
                <a:cs typeface="Times New Roman" panose="02020603050405020304" pitchFamily="18" charset="0"/>
              </a:rPr>
              <a:t>如下：</a:t>
            </a:r>
            <a:endParaRPr lang="zh-CN" altLang="zh-CN" dirty="0">
              <a:latin typeface="Times New Roman" panose="02020603050405020304" pitchFamily="18" charset="0"/>
              <a:cs typeface="Times New Roman" panose="02020603050405020304" pitchFamily="18" charset="0"/>
            </a:endParaRPr>
          </a:p>
        </p:txBody>
      </p:sp>
      <p:sp>
        <p:nvSpPr>
          <p:cNvPr id="18" name="任意多边形 17"/>
          <p:cNvSpPr/>
          <p:nvPr/>
        </p:nvSpPr>
        <p:spPr bwMode="auto">
          <a:xfrm>
            <a:off x="6012160" y="1334881"/>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9" name="矩形 18"/>
          <p:cNvSpPr>
            <a:spLocks noChangeArrowheads="1"/>
          </p:cNvSpPr>
          <p:nvPr/>
        </p:nvSpPr>
        <p:spPr bwMode="auto">
          <a:xfrm>
            <a:off x="6444208" y="1406889"/>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dirty="0" smtClean="0">
                <a:solidFill>
                  <a:schemeClr val="bg1"/>
                </a:solidFill>
                <a:latin typeface="微软雅黑" panose="020B0503020204020204" pitchFamily="34" charset="-122"/>
                <a:ea typeface="微软雅黑" panose="020B0503020204020204" pitchFamily="34" charset="-122"/>
              </a:rPr>
              <a:t>事件处理</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9"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1.3.3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的使用</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par>
                                <p:cTn id="11" presetID="22" presetClass="entr" presetSubtype="8"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395536" y="1520751"/>
            <a:ext cx="3384376"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50000"/>
              </a:lnSpc>
              <a:spcBef>
                <a:spcPct val="20000"/>
              </a:spcBef>
              <a:buFontTx/>
              <a:buChar char="–"/>
            </a:pPr>
            <a:r>
              <a:rPr lang="zh-CN" altLang="en-US" sz="2000" b="1" kern="0" dirty="0" smtClean="0">
                <a:solidFill>
                  <a:srgbClr val="0070C0"/>
                </a:solidFill>
                <a:latin typeface="Arial" panose="020B0604020202020204"/>
                <a:ea typeface="宋体" panose="02010600030101010101" pitchFamily="2" charset="-122"/>
              </a:rPr>
              <a:t>常用对象</a:t>
            </a:r>
            <a:endParaRPr lang="en-US" altLang="zh-CN" sz="2000" b="1" kern="0" dirty="0">
              <a:solidFill>
                <a:srgbClr val="0070C0"/>
              </a:solidFill>
              <a:latin typeface="Arial" panose="020B0604020202020204"/>
              <a:ea typeface="宋体" panose="02010600030101010101" pitchFamily="2" charset="-122"/>
            </a:endParaRPr>
          </a:p>
        </p:txBody>
      </p:sp>
      <p:sp>
        <p:nvSpPr>
          <p:cNvPr id="3" name="矩形 2"/>
          <p:cNvSpPr/>
          <p:nvPr/>
        </p:nvSpPr>
        <p:spPr bwMode="auto">
          <a:xfrm>
            <a:off x="545976" y="2087840"/>
            <a:ext cx="8137525" cy="148857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3"/>
          <p:cNvSpPr>
            <a:spLocks noChangeArrowheads="1"/>
          </p:cNvSpPr>
          <p:nvPr/>
        </p:nvSpPr>
        <p:spPr bwMode="auto">
          <a:xfrm>
            <a:off x="571500" y="2141019"/>
            <a:ext cx="804068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window</a:t>
            </a:r>
            <a:r>
              <a:rPr lang="zh-CN" altLang="zh-CN" dirty="0">
                <a:latin typeface="Times New Roman" panose="02020603050405020304" pitchFamily="18" charset="0"/>
                <a:cs typeface="Times New Roman" panose="02020603050405020304" pitchFamily="18" charset="0"/>
              </a:rPr>
              <a:t>对象表示整个浏览器窗口，它处于对象层次的顶端，可用于获取浏览器窗口的大小、位置，或设置定时器等。在使用时，</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允许省略</a:t>
            </a:r>
            <a:r>
              <a:rPr lang="en-US" altLang="zh-CN" dirty="0">
                <a:latin typeface="Times New Roman" panose="02020603050405020304" pitchFamily="18" charset="0"/>
                <a:cs typeface="Times New Roman" panose="02020603050405020304" pitchFamily="18" charset="0"/>
              </a:rPr>
              <a:t>window</a:t>
            </a:r>
            <a:r>
              <a:rPr lang="zh-CN" altLang="zh-CN" dirty="0">
                <a:latin typeface="Times New Roman" panose="02020603050405020304" pitchFamily="18" charset="0"/>
                <a:cs typeface="Times New Roman" panose="02020603050405020304" pitchFamily="18" charset="0"/>
              </a:rPr>
              <a:t>对象的名称</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5" name="任意多边形 4"/>
          <p:cNvSpPr/>
          <p:nvPr/>
        </p:nvSpPr>
        <p:spPr bwMode="auto">
          <a:xfrm>
            <a:off x="6012160" y="1673307"/>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6" name="矩形 5"/>
          <p:cNvSpPr>
            <a:spLocks noChangeArrowheads="1"/>
          </p:cNvSpPr>
          <p:nvPr/>
        </p:nvSpPr>
        <p:spPr bwMode="auto">
          <a:xfrm>
            <a:off x="6228184" y="1745315"/>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window</a:t>
            </a:r>
            <a:r>
              <a:rPr lang="zh-CN" altLang="en-US" dirty="0" smtClean="0">
                <a:solidFill>
                  <a:schemeClr val="bg1"/>
                </a:solidFill>
                <a:latin typeface="微软雅黑" panose="020B0503020204020204" pitchFamily="34" charset="-122"/>
                <a:ea typeface="微软雅黑" panose="020B0503020204020204" pitchFamily="34" charset="-122"/>
              </a:rPr>
              <a:t>对象</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bwMode="auto">
          <a:xfrm>
            <a:off x="545976" y="4296494"/>
            <a:ext cx="8137525" cy="165278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矩形 7"/>
          <p:cNvSpPr>
            <a:spLocks noChangeArrowheads="1"/>
          </p:cNvSpPr>
          <p:nvPr/>
        </p:nvSpPr>
        <p:spPr bwMode="auto">
          <a:xfrm>
            <a:off x="571500" y="4349673"/>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Date</a:t>
            </a:r>
            <a:r>
              <a:rPr lang="zh-CN" altLang="zh-CN" dirty="0">
                <a:latin typeface="Times New Roman" panose="02020603050405020304" pitchFamily="18" charset="0"/>
                <a:cs typeface="Times New Roman" panose="02020603050405020304" pitchFamily="18" charset="0"/>
              </a:rPr>
              <a:t>对象是一个有关日期和时间的对象。它具有动态性，必须使用</a:t>
            </a:r>
            <a:r>
              <a:rPr lang="en-US" altLang="zh-CN" dirty="0">
                <a:latin typeface="Times New Roman" panose="02020603050405020304" pitchFamily="18" charset="0"/>
                <a:cs typeface="Times New Roman" panose="02020603050405020304" pitchFamily="18" charset="0"/>
              </a:rPr>
              <a:t>new</a:t>
            </a:r>
            <a:r>
              <a:rPr lang="zh-CN" altLang="zh-CN" dirty="0">
                <a:latin typeface="Times New Roman" panose="02020603050405020304" pitchFamily="18" charset="0"/>
                <a:cs typeface="Times New Roman" panose="02020603050405020304" pitchFamily="18" charset="0"/>
              </a:rPr>
              <a:t>关键字创建一个实例，语法如下所示</a:t>
            </a:r>
            <a:r>
              <a:rPr lang="zh-CN" altLang="zh-CN" dirty="0"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9" name="任意多边形 8"/>
          <p:cNvSpPr/>
          <p:nvPr/>
        </p:nvSpPr>
        <p:spPr bwMode="auto">
          <a:xfrm>
            <a:off x="6012160" y="3881961"/>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0" name="矩形 9"/>
          <p:cNvSpPr>
            <a:spLocks noChangeArrowheads="1"/>
          </p:cNvSpPr>
          <p:nvPr/>
        </p:nvSpPr>
        <p:spPr bwMode="auto">
          <a:xfrm>
            <a:off x="6444208" y="3953969"/>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Data</a:t>
            </a:r>
            <a:r>
              <a:rPr lang="zh-CN" altLang="en-US" dirty="0" smtClean="0">
                <a:solidFill>
                  <a:schemeClr val="bg1"/>
                </a:solidFill>
                <a:latin typeface="微软雅黑" panose="020B0503020204020204" pitchFamily="34" charset="-122"/>
                <a:ea typeface="微软雅黑" panose="020B0503020204020204" pitchFamily="34" charset="-122"/>
              </a:rPr>
              <a:t>对象</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611560" y="5304606"/>
            <a:ext cx="8038058" cy="449563"/>
          </a:xfrm>
          <a:prstGeom prst="rect">
            <a:avLst/>
          </a:prstGeom>
          <a:solidFill>
            <a:srgbClr val="E7F4FF"/>
          </a:solidFill>
          <a:ln>
            <a:noFill/>
          </a:ln>
          <a:extLst>
            <a:ext uri="{91240B29-F687-4F45-9708-019B960494DF}">
              <a14:hiddenLine xmlns:a14="http://schemas.microsoft.com/office/drawing/2010/main" w="28575">
                <a:solidFill>
                  <a:srgbClr val="000000"/>
                </a:solidFill>
                <a:round/>
              </a14:hiddenLine>
            </a:ext>
          </a:extLst>
        </p:spPr>
        <p:txBody>
          <a:bodyPr/>
          <a:lstStyle/>
          <a:p>
            <a:r>
              <a:rPr lang="en-US" altLang="zh-CN" dirty="0" smtClean="0"/>
              <a:t>     </a:t>
            </a:r>
            <a:r>
              <a:rPr lang="en-US" altLang="zh-CN" dirty="0" err="1" smtClean="0"/>
              <a:t>var</a:t>
            </a:r>
            <a:r>
              <a:rPr lang="en-US" altLang="zh-CN" dirty="0" smtClean="0"/>
              <a:t> </a:t>
            </a:r>
            <a:r>
              <a:rPr lang="en-US" altLang="zh-CN" dirty="0" err="1"/>
              <a:t>Mydate</a:t>
            </a:r>
            <a:r>
              <a:rPr lang="en-US" altLang="zh-CN" dirty="0"/>
              <a:t>=new Date();</a:t>
            </a:r>
            <a:endParaRPr lang="zh-CN" altLang="zh-CN" dirty="0"/>
          </a:p>
        </p:txBody>
      </p:sp>
      <p:sp>
        <p:nvSpPr>
          <p:cNvPr id="12" name="矩形 11"/>
          <p:cNvSpPr/>
          <p:nvPr/>
        </p:nvSpPr>
        <p:spPr bwMode="auto">
          <a:xfrm>
            <a:off x="538931" y="2115341"/>
            <a:ext cx="8137525" cy="1125136"/>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3" name="矩形 12"/>
          <p:cNvSpPr>
            <a:spLocks noChangeArrowheads="1"/>
          </p:cNvSpPr>
          <p:nvPr/>
        </p:nvSpPr>
        <p:spPr bwMode="auto">
          <a:xfrm>
            <a:off x="564455" y="2168520"/>
            <a:ext cx="80406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en-US" altLang="zh-CN" dirty="0" smtClean="0">
                <a:latin typeface="Times New Roman" panose="02020603050405020304" pitchFamily="18" charset="0"/>
                <a:cs typeface="Times New Roman" panose="02020603050405020304" pitchFamily="18" charset="0"/>
              </a:rPr>
              <a:t>String</a:t>
            </a:r>
            <a:r>
              <a:rPr lang="zh-CN" altLang="zh-CN" dirty="0">
                <a:latin typeface="Times New Roman" panose="02020603050405020304" pitchFamily="18" charset="0"/>
                <a:cs typeface="Times New Roman" panose="02020603050405020304" pitchFamily="18" charset="0"/>
              </a:rPr>
              <a:t>对象是</a:t>
            </a:r>
            <a:r>
              <a:rPr lang="en-US" altLang="zh-CN" dirty="0">
                <a:latin typeface="Times New Roman" panose="02020603050405020304" pitchFamily="18" charset="0"/>
                <a:cs typeface="Times New Roman" panose="02020603050405020304" pitchFamily="18" charset="0"/>
              </a:rPr>
              <a:t>JavaScript</a:t>
            </a:r>
            <a:r>
              <a:rPr lang="zh-CN" altLang="zh-CN" dirty="0">
                <a:latin typeface="Times New Roman" panose="02020603050405020304" pitchFamily="18" charset="0"/>
                <a:cs typeface="Times New Roman" panose="02020603050405020304" pitchFamily="18" charset="0"/>
              </a:rPr>
              <a:t>提供的字符串处理对象，创建对象实例后才能引用，它提供了对字符串进行处理的属性</a:t>
            </a:r>
            <a:r>
              <a:rPr lang="zh-CN" altLang="zh-CN">
                <a:latin typeface="Times New Roman" panose="02020603050405020304" pitchFamily="18" charset="0"/>
                <a:cs typeface="Times New Roman" panose="02020603050405020304" pitchFamily="18" charset="0"/>
              </a:rPr>
              <a:t>和</a:t>
            </a:r>
            <a:r>
              <a:rPr lang="zh-CN" altLang="zh-CN" smtClean="0">
                <a:latin typeface="Times New Roman" panose="02020603050405020304" pitchFamily="18" charset="0"/>
                <a:cs typeface="Times New Roman" panose="02020603050405020304" pitchFamily="18" charset="0"/>
              </a:rPr>
              <a:t>方法</a:t>
            </a:r>
            <a:r>
              <a:rPr lang="zh-CN" altLang="en-US" smtClean="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14" name="任意多边形 13"/>
          <p:cNvSpPr/>
          <p:nvPr/>
        </p:nvSpPr>
        <p:spPr bwMode="auto">
          <a:xfrm>
            <a:off x="6005115" y="1700808"/>
            <a:ext cx="1983504"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5" name="矩形 14"/>
          <p:cNvSpPr>
            <a:spLocks noChangeArrowheads="1"/>
          </p:cNvSpPr>
          <p:nvPr/>
        </p:nvSpPr>
        <p:spPr bwMode="auto">
          <a:xfrm>
            <a:off x="6221139" y="1772816"/>
            <a:ext cx="1656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zh-CN" dirty="0" smtClean="0">
                <a:solidFill>
                  <a:schemeClr val="bg1"/>
                </a:solidFill>
                <a:latin typeface="微软雅黑" panose="020B0503020204020204" pitchFamily="34" charset="-122"/>
                <a:ea typeface="微软雅黑" panose="020B0503020204020204" pitchFamily="34" charset="-122"/>
              </a:rPr>
              <a:t>String</a:t>
            </a:r>
            <a:r>
              <a:rPr lang="zh-CN" altLang="en-US" dirty="0" smtClean="0">
                <a:solidFill>
                  <a:schemeClr val="bg1"/>
                </a:solidFill>
                <a:latin typeface="微软雅黑" panose="020B0503020204020204" pitchFamily="34" charset="-122"/>
                <a:ea typeface="微软雅黑" panose="020B0503020204020204" pitchFamily="34" charset="-122"/>
              </a:rPr>
              <a:t>对象</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17"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1.3.3  JavaScript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的使用</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6"/>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5"/>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4"/>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0"/>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childTnLst>
                          </p:cTn>
                        </p:par>
                        <p:par>
                          <p:cTn id="57" fill="hold">
                            <p:stCondLst>
                              <p:cond delay="0"/>
                            </p:stCondLst>
                            <p:childTnLst>
                              <p:par>
                                <p:cTn id="58" presetID="22" presetClass="entr" presetSubtype="8"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500"/>
                                        <p:tgtEl>
                                          <p:spTgt spid="15"/>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wipe(left)">
                                      <p:cBhvr>
                                        <p:cTn id="63" dur="500"/>
                                        <p:tgtEl>
                                          <p:spTgt spid="14"/>
                                        </p:tgtEl>
                                      </p:cBhvr>
                                    </p:animEffect>
                                  </p:childTnLst>
                                </p:cTn>
                              </p:par>
                              <p:par>
                                <p:cTn id="64" presetID="22" presetClass="entr" presetSubtype="8" fill="hold"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4" grpId="1"/>
      <p:bldP spid="5" grpId="0" animBg="1"/>
      <p:bldP spid="5" grpId="1" animBg="1"/>
      <p:bldP spid="6" grpId="0"/>
      <p:bldP spid="6" grpId="1"/>
      <p:bldP spid="8" grpId="0"/>
      <p:bldP spid="8" grpId="1"/>
      <p:bldP spid="9" grpId="0" animBg="1"/>
      <p:bldP spid="9" grpId="1" animBg="1"/>
      <p:bldP spid="10" grpId="0"/>
      <p:bldP spid="10" grpId="1"/>
      <p:bldP spid="11" grpId="0" animBg="1"/>
      <p:bldP spid="11" grpId="1" animBg="1"/>
      <p:bldP spid="13" grpId="0"/>
      <p:bldP spid="14" grpId="0" animBg="1"/>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对角圆角矩形 12"/>
          <p:cNvSpPr/>
          <p:nvPr/>
        </p:nvSpPr>
        <p:spPr>
          <a:xfrm>
            <a:off x="1215801" y="4072426"/>
            <a:ext cx="4495403"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571625" y="4211796"/>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anose="020B0806030902050204" pitchFamily="34" charset="0"/>
                <a:ea typeface="微软雅黑" panose="020B0503020204020204" pitchFamily="34" charset="-122"/>
              </a:rPr>
              <a:t>1.4    </a:t>
            </a:r>
            <a:r>
              <a:rPr lang="zh-CN" altLang="en-US" sz="2400" dirty="0" smtClean="0">
                <a:solidFill>
                  <a:schemeClr val="bg1"/>
                </a:solidFill>
                <a:latin typeface="Impact" panose="020B0806030902050204" pitchFamily="34" charset="0"/>
                <a:ea typeface="微软雅黑" panose="020B0503020204020204" pitchFamily="34" charset="-122"/>
              </a:rPr>
              <a:t>阶段案例</a:t>
            </a:r>
            <a:endParaRPr lang="zh-CN" altLang="en-US" sz="2400" dirty="0">
              <a:solidFill>
                <a:schemeClr val="bg1"/>
              </a:solidFill>
              <a:latin typeface="Impact" panose="020B0806030902050204" pitchFamily="34" charset="0"/>
              <a:ea typeface="微软雅黑" panose="020B0503020204020204" pitchFamily="34" charset="-122"/>
            </a:endParaRPr>
          </a:p>
        </p:txBody>
      </p:sp>
      <p:sp>
        <p:nvSpPr>
          <p:cNvPr id="5" name="TextBox 10"/>
          <p:cNvSpPr txBox="1"/>
          <p:nvPr/>
        </p:nvSpPr>
        <p:spPr>
          <a:xfrm>
            <a:off x="1571625" y="2723631"/>
            <a:ext cx="3360415"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anose="020B0806030902050204" pitchFamily="34" charset="0"/>
                <a:ea typeface="微软雅黑" panose="020B0503020204020204" pitchFamily="34" charset="-122"/>
              </a:rPr>
              <a:t>1.2    CSS</a:t>
            </a:r>
            <a:r>
              <a:rPr lang="zh-CN" altLang="en-US" sz="2400" dirty="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6" name="TextBox 11"/>
          <p:cNvSpPr txBox="1"/>
          <p:nvPr/>
        </p:nvSpPr>
        <p:spPr>
          <a:xfrm>
            <a:off x="1571625" y="3467714"/>
            <a:ext cx="3360415"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anose="020B0806030902050204" pitchFamily="34" charset="0"/>
                <a:ea typeface="微软雅黑" panose="020B0503020204020204" pitchFamily="34" charset="-122"/>
              </a:rPr>
              <a:t>1.3    JavaScript</a:t>
            </a:r>
            <a:r>
              <a:rPr lang="zh-CN" altLang="en-US" sz="2400" dirty="0">
                <a:solidFill>
                  <a:srgbClr val="7F7F7F"/>
                </a:solidFill>
                <a:latin typeface="Impact" panose="020B0806030902050204" pitchFamily="34" charset="0"/>
                <a:ea typeface="微软雅黑" panose="020B0503020204020204" pitchFamily="34" charset="-122"/>
              </a:rPr>
              <a:t>基础</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anose="020B0503020204020204" pitchFamily="34" charset="-122"/>
                <a:ea typeface="微软雅黑" panose="020B0503020204020204" pitchFamily="34" charset="-122"/>
              </a:rPr>
              <a:t>主讲内容</a:t>
            </a:r>
            <a:endParaRPr lang="en-US" altLang="zh-CN" sz="5400" b="1" dirty="0" smtClean="0">
              <a:solidFill>
                <a:srgbClr val="F2F2E6"/>
              </a:solidFill>
              <a:latin typeface="微软雅黑" panose="020B0503020204020204" pitchFamily="34" charset="-122"/>
              <a:ea typeface="微软雅黑" panose="020B0503020204020204" pitchFamily="34" charset="-122"/>
            </a:endParaRPr>
          </a:p>
          <a:p>
            <a:pPr algn="ctr"/>
            <a:r>
              <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anose="02020300000000000000" pitchFamily="18" charset="-122"/>
              <a:cs typeface="Times New Roman" panose="02020603050405020304" pitchFamily="18" charset="0"/>
            </a:endParaRPr>
          </a:p>
        </p:txBody>
      </p:sp>
      <p:sp>
        <p:nvSpPr>
          <p:cNvPr id="12" name="TextBox 6"/>
          <p:cNvSpPr txBox="1"/>
          <p:nvPr/>
        </p:nvSpPr>
        <p:spPr>
          <a:xfrm>
            <a:off x="1571625"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anose="020B0806030902050204" pitchFamily="34" charset="0"/>
                <a:ea typeface="微软雅黑" panose="020B0503020204020204" pitchFamily="34" charset="-122"/>
              </a:rPr>
              <a:t>1.1    HTML</a:t>
            </a:r>
            <a:r>
              <a:rPr lang="zh-CN" altLang="en-US" sz="2400" dirty="0">
                <a:solidFill>
                  <a:srgbClr val="7F7F7F"/>
                </a:solidFill>
                <a:latin typeface="Impact" panose="020B0806030902050204" pitchFamily="34" charset="0"/>
                <a:ea typeface="微软雅黑" panose="020B0503020204020204" pitchFamily="34" charset="-122"/>
              </a:rPr>
              <a:t>技术</a:t>
            </a:r>
            <a:endParaRPr lang="zh-CN" altLang="en-US" sz="2400" dirty="0">
              <a:solidFill>
                <a:srgbClr val="7F7F7F"/>
              </a:solidFill>
              <a:latin typeface="Impact" panose="020B0806030902050204" pitchFamily="34" charset="0"/>
              <a:ea typeface="微软雅黑" panose="020B0503020204020204"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主讲内容</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1680" y="1916832"/>
            <a:ext cx="5760000" cy="3857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椭圆 3"/>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5" name="TextBox 4"/>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smtClean="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6" name="矩形 5"/>
          <p:cNvSpPr/>
          <p:nvPr/>
        </p:nvSpPr>
        <p:spPr>
          <a:xfrm>
            <a:off x="1719064" y="2415197"/>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defRPr/>
            </a:pPr>
            <a:r>
              <a:rPr kumimoji="0" lang="zh-CN" altLang="en-US" sz="14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任务目标：</a:t>
            </a:r>
            <a:endParaRPr kumimoji="0" lang="en-US" altLang="zh-CN" sz="12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7" name="圆角矩形 6"/>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lang="zh-CN" altLang="en-US" b="1" kern="0">
                <a:solidFill>
                  <a:sysClr val="window" lastClr="FFFFFF"/>
                </a:solidFill>
                <a:latin typeface="Arial" panose="020B0604020202020204"/>
              </a:rPr>
              <a:t>案例代码（详见教材</a:t>
            </a:r>
            <a:r>
              <a:rPr lang="en-US" altLang="zh-CN" b="1" kern="0">
                <a:solidFill>
                  <a:sysClr val="window" lastClr="FFFFFF"/>
                </a:solidFill>
                <a:latin typeface="Arial" panose="020B0604020202020204"/>
              </a:rPr>
              <a:t>【</a:t>
            </a:r>
            <a:r>
              <a:rPr lang="zh-CN" altLang="en-US" b="1" kern="0">
                <a:solidFill>
                  <a:sysClr val="window" lastClr="FFFFFF"/>
                </a:solidFill>
                <a:latin typeface="Arial" panose="020B0604020202020204"/>
              </a:rPr>
              <a:t>任务</a:t>
            </a:r>
            <a:r>
              <a:rPr lang="en-US" altLang="zh-CN" b="1" kern="0" smtClean="0">
                <a:solidFill>
                  <a:sysClr val="window" lastClr="FFFFFF"/>
                </a:solidFill>
                <a:latin typeface="Arial" panose="020B0604020202020204"/>
              </a:rPr>
              <a:t>1-1】</a:t>
            </a:r>
            <a:r>
              <a:rPr lang="zh-CN" altLang="en-US" b="1" kern="0">
                <a:solidFill>
                  <a:sysClr val="window" lastClr="FFFFFF"/>
                </a:solidFill>
                <a:latin typeface="Arial" panose="020B0604020202020204"/>
              </a:rPr>
              <a:t>中的实现步骤）</a:t>
            </a:r>
            <a:endParaRPr lang="en-US" altLang="zh-CN" b="1" kern="0" dirty="0">
              <a:solidFill>
                <a:sysClr val="window" lastClr="FFFFFF"/>
              </a:solidFill>
              <a:latin typeface="Arial" panose="020B0604020202020204"/>
            </a:endParaRPr>
          </a:p>
        </p:txBody>
      </p:sp>
      <p:sp>
        <p:nvSpPr>
          <p:cNvPr id="8" name="矩形 7"/>
          <p:cNvSpPr/>
          <p:nvPr/>
        </p:nvSpPr>
        <p:spPr>
          <a:xfrm>
            <a:off x="1716758" y="3936182"/>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实现步骤：</a:t>
            </a:r>
            <a:r>
              <a:rPr kumimoji="0" lang="zh-CN" altLang="en-US" sz="18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9" name="直接连接符 8"/>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10" name="直接连接符 9"/>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1" name="椭圆 10"/>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anose="020B0604020202020204" pitchFamily="34" charset="0"/>
              <a:buNone/>
              <a:defRPr/>
            </a:pPr>
            <a:endParaRPr lang="zh-CN" altLang="en-US" dirty="0">
              <a:solidFill>
                <a:schemeClr val="bg1"/>
              </a:solidFill>
              <a:latin typeface="Arial" panose="020B0604020202020204" pitchFamily="34" charset="0"/>
            </a:endParaRPr>
          </a:p>
        </p:txBody>
      </p:sp>
      <p:sp>
        <p:nvSpPr>
          <p:cNvPr id="12" name="TextBox 11"/>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latin typeface="Verdana" panose="020B0604030504040204" pitchFamily="34" charset="0"/>
              </a:rPr>
              <a:t>1</a:t>
            </a:r>
            <a:endParaRPr lang="zh-CN" altLang="en-US" b="1">
              <a:solidFill>
                <a:schemeClr val="bg1"/>
              </a:solidFill>
              <a:latin typeface="Verdana" panose="020B0604030504040204" pitchFamily="34" charset="0"/>
            </a:endParaRPr>
          </a:p>
        </p:txBody>
      </p:sp>
      <p:sp>
        <p:nvSpPr>
          <p:cNvPr id="13" name="矩形 12"/>
          <p:cNvSpPr/>
          <p:nvPr/>
        </p:nvSpPr>
        <p:spPr>
          <a:xfrm>
            <a:off x="2988345" y="3356992"/>
            <a:ext cx="3671887" cy="889474"/>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创建资源文件夹</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创建</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index.html</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首页面</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创建</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CSS</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文件</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2990652" y="2470759"/>
            <a:ext cx="1877437" cy="308995"/>
          </a:xfrm>
          <a:prstGeom prst="rect">
            <a:avLst/>
          </a:prstGeom>
        </p:spPr>
        <p:txBody>
          <a:bodyPr wrap="none">
            <a:spAutoFit/>
          </a:bodyPr>
          <a:lstStyle/>
          <a:p>
            <a:pPr>
              <a:lnSpc>
                <a:spcPct val="130000"/>
              </a:lnSpc>
              <a:spcAft>
                <a:spcPts val="300"/>
              </a:spcAft>
              <a:defRPr/>
            </a:pPr>
            <a:r>
              <a:rPr lang="zh-CN" altLang="zh-CN" sz="1200" dirty="0">
                <a:solidFill>
                  <a:schemeClr val="tx1">
                    <a:lumMod val="65000"/>
                    <a:lumOff val="35000"/>
                  </a:schemeClr>
                </a:solidFill>
                <a:latin typeface="微软雅黑" panose="020B0503020204020204" pitchFamily="34" charset="-122"/>
                <a:ea typeface="微软雅黑" panose="020B0503020204020204" pitchFamily="34" charset="-122"/>
              </a:rPr>
              <a:t>实现传智书城首页的展示</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标题 1"/>
          <p:cNvSpPr>
            <a:spLocks noChangeArrowheads="1"/>
          </p:cNvSpPr>
          <p:nvPr/>
        </p:nvSpPr>
        <p:spPr bwMode="auto">
          <a:xfrm>
            <a:off x="1643733" y="389681"/>
            <a:ext cx="667268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任务</a:t>
            </a:r>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1-1】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传智书城首页设计</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050"/>
                                        </p:tgtEl>
                                      </p:cBhvr>
                                    </p:animEffect>
                                    <p:set>
                                      <p:cBhvr>
                                        <p:cTn id="7" dur="1" fill="hold">
                                          <p:stCondLst>
                                            <p:cond delay="499"/>
                                          </p:stCondLst>
                                        </p:cTn>
                                        <p:tgtEl>
                                          <p:spTgt spid="2050"/>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11" grpId="0" animBg="1"/>
      <p:bldP spid="12" grpId="0"/>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62646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07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2060527"/>
            <a:ext cx="5760000" cy="3024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5" name="TextBox 4"/>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smtClean="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6" name="矩形 5"/>
          <p:cNvSpPr/>
          <p:nvPr/>
        </p:nvSpPr>
        <p:spPr>
          <a:xfrm>
            <a:off x="1719064" y="2415197"/>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defRPr/>
            </a:pPr>
            <a:r>
              <a:rPr kumimoji="0" lang="zh-CN" altLang="en-US" sz="14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任务目标：</a:t>
            </a:r>
            <a:endParaRPr kumimoji="0" lang="en-US" altLang="zh-CN" sz="12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7" name="圆角矩形 6"/>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lang="zh-CN" altLang="en-US" b="1" kern="0" smtClean="0">
                <a:solidFill>
                  <a:sysClr val="window" lastClr="FFFFFF"/>
                </a:solidFill>
                <a:latin typeface="Arial" panose="020B0604020202020204"/>
                <a:ea typeface="宋体" panose="02010600030101010101" pitchFamily="2" charset="-122"/>
              </a:rPr>
              <a:t>案例代码</a:t>
            </a:r>
            <a:r>
              <a:rPr kumimoji="0" lang="zh-CN" altLang="en-US" sz="1800" b="1" i="0" u="none" strike="noStrike" kern="0" cap="none" spc="0" normalizeH="0" baseline="0" noProof="0" smtClean="0">
                <a:ln>
                  <a:noFill/>
                </a:ln>
                <a:solidFill>
                  <a:sysClr val="window" lastClr="FFFFFF"/>
                </a:solidFill>
                <a:effectLst/>
                <a:uLnTx/>
                <a:uFillTx/>
                <a:latin typeface="Arial" panose="020B0604020202020204"/>
                <a:ea typeface="宋体" panose="02010600030101010101" pitchFamily="2" charset="-122"/>
              </a:rPr>
              <a:t>（</a:t>
            </a:r>
            <a:r>
              <a:rPr kumimoji="0" lang="zh-CN" altLang="en-US" sz="1800" b="1" i="0" u="none" strike="noStrike" kern="0" cap="none" spc="0" normalizeH="0" baseline="0" noProof="0" dirty="0">
                <a:ln>
                  <a:noFill/>
                </a:ln>
                <a:solidFill>
                  <a:sysClr val="window" lastClr="FFFFFF"/>
                </a:solidFill>
                <a:effectLst/>
                <a:uLnTx/>
                <a:uFillTx/>
                <a:latin typeface="Arial" panose="020B0604020202020204"/>
                <a:ea typeface="宋体" panose="02010600030101010101" pitchFamily="2" charset="-122"/>
              </a:rPr>
              <a:t>详</a:t>
            </a:r>
            <a:r>
              <a:rPr kumimoji="0" lang="zh-CN" altLang="en-US" sz="1800" b="1" i="0" u="none" strike="noStrike" kern="0" cap="none" spc="0" normalizeH="0" baseline="0" noProof="0">
                <a:ln>
                  <a:noFill/>
                </a:ln>
                <a:solidFill>
                  <a:sysClr val="window" lastClr="FFFFFF"/>
                </a:solidFill>
                <a:effectLst/>
                <a:uLnTx/>
                <a:uFillTx/>
                <a:latin typeface="Arial" panose="020B0604020202020204"/>
                <a:ea typeface="宋体" panose="02010600030101010101" pitchFamily="2" charset="-122"/>
              </a:rPr>
              <a:t>见</a:t>
            </a:r>
            <a:r>
              <a:rPr kumimoji="0" lang="zh-CN" altLang="en-US" sz="1800" b="1" i="0" u="none" strike="noStrike" kern="0" cap="none" spc="0" normalizeH="0" baseline="0" noProof="0" smtClean="0">
                <a:ln>
                  <a:noFill/>
                </a:ln>
                <a:solidFill>
                  <a:sysClr val="window" lastClr="FFFFFF"/>
                </a:solidFill>
                <a:effectLst/>
                <a:uLnTx/>
                <a:uFillTx/>
                <a:latin typeface="Arial" panose="020B0604020202020204"/>
                <a:ea typeface="宋体" panose="02010600030101010101" pitchFamily="2" charset="-122"/>
              </a:rPr>
              <a:t>教材</a:t>
            </a:r>
            <a:r>
              <a:rPr lang="en-US" altLang="zh-CN" b="1" kern="0">
                <a:solidFill>
                  <a:sysClr val="window" lastClr="FFFFFF"/>
                </a:solidFill>
                <a:latin typeface="Arial" panose="020B0604020202020204"/>
              </a:rPr>
              <a:t>【</a:t>
            </a:r>
            <a:r>
              <a:rPr lang="zh-CN" altLang="en-US" b="1" kern="0" smtClean="0">
                <a:solidFill>
                  <a:sysClr val="window" lastClr="FFFFFF"/>
                </a:solidFill>
                <a:latin typeface="Arial" panose="020B0604020202020204"/>
              </a:rPr>
              <a:t>任务</a:t>
            </a:r>
            <a:r>
              <a:rPr lang="en-US" altLang="zh-CN" b="1" kern="0" smtClean="0">
                <a:solidFill>
                  <a:sysClr val="window" lastClr="FFFFFF"/>
                </a:solidFill>
                <a:latin typeface="Arial" panose="020B0604020202020204"/>
              </a:rPr>
              <a:t>1-2】</a:t>
            </a:r>
            <a:r>
              <a:rPr lang="zh-CN" altLang="en-US" b="1" kern="0" smtClean="0">
                <a:solidFill>
                  <a:sysClr val="window" lastClr="FFFFFF"/>
                </a:solidFill>
                <a:latin typeface="Arial" panose="020B0604020202020204"/>
              </a:rPr>
              <a:t>中的实现步骤</a:t>
            </a:r>
            <a:r>
              <a:rPr kumimoji="0" lang="zh-CN" altLang="en-US" sz="1800" b="1" i="0" u="none" strike="noStrike" kern="0" cap="none" spc="0" normalizeH="0" baseline="0" noProof="0" smtClean="0">
                <a:ln>
                  <a:noFill/>
                </a:ln>
                <a:solidFill>
                  <a:sysClr val="window" lastClr="FFFFFF"/>
                </a:solidFill>
                <a:effectLst/>
                <a:uLnTx/>
                <a:uFillTx/>
                <a:latin typeface="Arial" panose="020B0604020202020204"/>
                <a:ea typeface="宋体" panose="02010600030101010101" pitchFamily="2" charset="-122"/>
              </a:rPr>
              <a:t>）</a:t>
            </a:r>
            <a:endParaRPr kumimoji="0" lang="en-US" altLang="zh-CN" sz="1800" b="1" i="0" u="none" strike="noStrike" kern="0" cap="none" spc="0" normalizeH="0" baseline="0" noProof="0" dirty="0">
              <a:ln>
                <a:noFill/>
              </a:ln>
              <a:solidFill>
                <a:sysClr val="window" lastClr="FFFFFF"/>
              </a:solidFill>
              <a:effectLst/>
              <a:uLnTx/>
              <a:uFillTx/>
              <a:latin typeface="Arial" panose="020B0604020202020204"/>
              <a:ea typeface="宋体" panose="02010600030101010101" pitchFamily="2" charset="-122"/>
            </a:endParaRPr>
          </a:p>
        </p:txBody>
      </p:sp>
      <p:sp>
        <p:nvSpPr>
          <p:cNvPr id="8" name="矩形 7"/>
          <p:cNvSpPr/>
          <p:nvPr/>
        </p:nvSpPr>
        <p:spPr>
          <a:xfrm>
            <a:off x="1716758" y="3936182"/>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实现步骤：</a:t>
            </a:r>
            <a:r>
              <a:rPr kumimoji="0" lang="zh-CN" altLang="en-US" sz="1800" b="1" i="0" u="none" strike="noStrike" kern="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9" name="直接连接符 8"/>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10" name="直接连接符 9"/>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1" name="椭圆 10"/>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anose="020B0604020202020204" pitchFamily="34" charset="0"/>
              <a:buNone/>
              <a:defRPr/>
            </a:pPr>
            <a:endParaRPr lang="zh-CN" altLang="en-US" dirty="0">
              <a:solidFill>
                <a:schemeClr val="bg1"/>
              </a:solidFill>
              <a:latin typeface="Arial" panose="020B0604020202020204" pitchFamily="34" charset="0"/>
            </a:endParaRPr>
          </a:p>
        </p:txBody>
      </p:sp>
      <p:sp>
        <p:nvSpPr>
          <p:cNvPr id="12" name="TextBox 11"/>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latin typeface="Verdana" panose="020B0604030504040204" pitchFamily="34" charset="0"/>
              </a:rPr>
              <a:t>1</a:t>
            </a:r>
            <a:endParaRPr lang="zh-CN" altLang="en-US" b="1">
              <a:solidFill>
                <a:schemeClr val="bg1"/>
              </a:solidFill>
              <a:latin typeface="Verdana" panose="020B0604030504040204" pitchFamily="34" charset="0"/>
            </a:endParaRPr>
          </a:p>
        </p:txBody>
      </p:sp>
      <p:sp>
        <p:nvSpPr>
          <p:cNvPr id="13" name="矩形 12"/>
          <p:cNvSpPr/>
          <p:nvPr/>
        </p:nvSpPr>
        <p:spPr>
          <a:xfrm>
            <a:off x="2988345" y="3573016"/>
            <a:ext cx="3671887" cy="610936"/>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创建</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register.html</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注册页面</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创建</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form.html</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文件，实现表单校验功能</a:t>
            </a:r>
            <a:endPar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2990652" y="2470759"/>
            <a:ext cx="1723549" cy="308995"/>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实现传智书城</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注册页面</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标题 1"/>
          <p:cNvSpPr>
            <a:spLocks noChangeArrowheads="1"/>
          </p:cNvSpPr>
          <p:nvPr/>
        </p:nvSpPr>
        <p:spPr bwMode="auto">
          <a:xfrm>
            <a:off x="1643733" y="389681"/>
            <a:ext cx="7176739"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任务</a:t>
            </a:r>
            <a:r>
              <a:rPr lang="en-US" altLang="zh-CN"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1-2】  </a:t>
            </a:r>
            <a:r>
              <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传智书城注册页面设计</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74"/>
                                        </p:tgtEl>
                                      </p:cBhvr>
                                    </p:animEffect>
                                    <p:set>
                                      <p:cBhvr>
                                        <p:cTn id="7" dur="1" fill="hold">
                                          <p:stCondLst>
                                            <p:cond delay="499"/>
                                          </p:stCondLst>
                                        </p:cTn>
                                        <p:tgtEl>
                                          <p:spTgt spid="3074"/>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11" grpId="0" animBg="1"/>
      <p:bldP spid="12" grpId="0"/>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0513" y="2676525"/>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圆角矩形 1"/>
          <p:cNvSpPr>
            <a:spLocks noChangeArrowheads="1"/>
          </p:cNvSpPr>
          <p:nvPr/>
        </p:nvSpPr>
        <p:spPr bwMode="auto">
          <a:xfrm>
            <a:off x="2627784" y="1700808"/>
            <a:ext cx="6336704" cy="4104456"/>
          </a:xfrm>
          <a:prstGeom prst="roundRect">
            <a:avLst>
              <a:gd name="adj" fmla="val 16667"/>
            </a:avLst>
          </a:prstGeom>
          <a:noFill/>
          <a:ln w="31750">
            <a:solidFill>
              <a:srgbClr val="006BA9"/>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1" name="矩形 10"/>
          <p:cNvSpPr/>
          <p:nvPr/>
        </p:nvSpPr>
        <p:spPr>
          <a:xfrm>
            <a:off x="2738438" y="1956896"/>
            <a:ext cx="6154042" cy="3416320"/>
          </a:xfrm>
          <a:prstGeom prst="rect">
            <a:avLst/>
          </a:prstGeom>
        </p:spPr>
        <p:txBody>
          <a:bodyPr wrap="square">
            <a:spAutoFit/>
          </a:bodyPr>
          <a:lstStyle/>
          <a:p>
            <a:pPr>
              <a:lnSpc>
                <a:spcPct val="200000"/>
              </a:lnSpc>
            </a:pPr>
            <a:r>
              <a:rPr lang="en-US" altLang="zh-CN" dirty="0" smtClean="0">
                <a:latin typeface="微软雅黑" panose="020B0503020204020204" pitchFamily="34" charset="-122"/>
                <a:ea typeface="微软雅黑" panose="020B0503020204020204" pitchFamily="34" charset="-122"/>
              </a:rPr>
              <a:t>      </a:t>
            </a:r>
            <a:r>
              <a:rPr lang="zh-CN" altLang="zh-CN" dirty="0" smtClean="0">
                <a:latin typeface="微软雅黑" panose="020B0503020204020204" pitchFamily="34" charset="-122"/>
                <a:ea typeface="微软雅黑" panose="020B0503020204020204" pitchFamily="34" charset="-122"/>
              </a:rPr>
              <a:t>本章</a:t>
            </a:r>
            <a:r>
              <a:rPr lang="zh-CN" altLang="zh-CN" dirty="0">
                <a:latin typeface="微软雅黑" panose="020B0503020204020204" pitchFamily="34" charset="-122"/>
                <a:ea typeface="微软雅黑" panose="020B0503020204020204" pitchFamily="34" charset="-122"/>
              </a:rPr>
              <a:t>主要介绍了</a:t>
            </a:r>
            <a:r>
              <a:rPr lang="en-US" altLang="zh-CN" dirty="0">
                <a:solidFill>
                  <a:srgbClr val="00B0F0"/>
                </a:solidFill>
                <a:latin typeface="微软雅黑" panose="020B0503020204020204" pitchFamily="34" charset="-122"/>
                <a:ea typeface="微软雅黑" panose="020B0503020204020204" pitchFamily="34" charset="-122"/>
              </a:rPr>
              <a:t>HTML</a:t>
            </a:r>
            <a:r>
              <a:rPr lang="zh-CN" altLang="zh-CN" dirty="0">
                <a:solidFill>
                  <a:srgbClr val="00B0F0"/>
                </a:solidFill>
                <a:latin typeface="微软雅黑" panose="020B0503020204020204" pitchFamily="34" charset="-122"/>
                <a:ea typeface="微软雅黑" panose="020B0503020204020204" pitchFamily="34" charset="-122"/>
              </a:rPr>
              <a:t>技术</a:t>
            </a:r>
            <a:r>
              <a:rPr lang="zh-CN" altLang="zh-CN" dirty="0">
                <a:latin typeface="微软雅黑" panose="020B0503020204020204" pitchFamily="34" charset="-122"/>
                <a:ea typeface="微软雅黑" panose="020B0503020204020204" pitchFamily="34" charset="-122"/>
              </a:rPr>
              <a:t>、</a:t>
            </a:r>
            <a:r>
              <a:rPr lang="en-US" altLang="zh-CN" dirty="0">
                <a:solidFill>
                  <a:srgbClr val="00B0F0"/>
                </a:solidFill>
                <a:latin typeface="微软雅黑" panose="020B0503020204020204" pitchFamily="34" charset="-122"/>
                <a:ea typeface="微软雅黑" panose="020B0503020204020204" pitchFamily="34" charset="-122"/>
              </a:rPr>
              <a:t>CSS</a:t>
            </a:r>
            <a:r>
              <a:rPr lang="zh-CN" altLang="zh-CN" dirty="0">
                <a:solidFill>
                  <a:srgbClr val="00B0F0"/>
                </a:solidFill>
                <a:latin typeface="微软雅黑" panose="020B0503020204020204" pitchFamily="34" charset="-122"/>
                <a:ea typeface="微软雅黑" panose="020B0503020204020204" pitchFamily="34" charset="-122"/>
              </a:rPr>
              <a:t>技术</a:t>
            </a:r>
            <a:r>
              <a:rPr lang="zh-CN" altLang="zh-CN" dirty="0">
                <a:latin typeface="微软雅黑" panose="020B0503020204020204" pitchFamily="34" charset="-122"/>
                <a:ea typeface="微软雅黑" panose="020B0503020204020204" pitchFamily="34" charset="-122"/>
              </a:rPr>
              <a:t>和</a:t>
            </a:r>
            <a:r>
              <a:rPr lang="en-US" altLang="zh-CN" dirty="0">
                <a:solidFill>
                  <a:srgbClr val="00B0F0"/>
                </a:solidFill>
                <a:latin typeface="微软雅黑" panose="020B0503020204020204" pitchFamily="34" charset="-122"/>
                <a:ea typeface="微软雅黑" panose="020B0503020204020204" pitchFamily="34" charset="-122"/>
              </a:rPr>
              <a:t>JavaScript</a:t>
            </a:r>
            <a:r>
              <a:rPr lang="zh-CN" altLang="zh-CN" dirty="0">
                <a:solidFill>
                  <a:srgbClr val="00B0F0"/>
                </a:solidFill>
                <a:latin typeface="微软雅黑" panose="020B0503020204020204" pitchFamily="34" charset="-122"/>
                <a:ea typeface="微软雅黑" panose="020B0503020204020204" pitchFamily="34" charset="-122"/>
              </a:rPr>
              <a:t>技术</a:t>
            </a:r>
            <a:r>
              <a:rPr lang="zh-CN" altLang="zh-CN" dirty="0">
                <a:latin typeface="微软雅黑" panose="020B0503020204020204" pitchFamily="34" charset="-122"/>
                <a:ea typeface="微软雅黑" panose="020B0503020204020204" pitchFamily="34" charset="-122"/>
              </a:rPr>
              <a:t>的基础知识，然后使用这些技术完成阶段案例</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传智书城首页和注册页面的</a:t>
            </a:r>
            <a:r>
              <a:rPr lang="zh-CN" altLang="zh-CN">
                <a:latin typeface="微软雅黑" panose="020B0503020204020204" pitchFamily="34" charset="-122"/>
                <a:ea typeface="微软雅黑" panose="020B0503020204020204" pitchFamily="34" charset="-122"/>
              </a:rPr>
              <a:t>实现</a:t>
            </a:r>
            <a:r>
              <a:rPr lang="zh-CN" altLang="zh-CN" smtClean="0">
                <a:latin typeface="微软雅黑" panose="020B0503020204020204" pitchFamily="34" charset="-122"/>
                <a:ea typeface="微软雅黑" panose="020B0503020204020204" pitchFamily="34" charset="-122"/>
              </a:rPr>
              <a:t>。</a:t>
            </a:r>
            <a:endParaRPr lang="en-US" altLang="zh-CN" smtClean="0">
              <a:latin typeface="微软雅黑" panose="020B0503020204020204" pitchFamily="34" charset="-122"/>
              <a:ea typeface="微软雅黑" panose="020B0503020204020204" pitchFamily="34" charset="-122"/>
            </a:endParaRPr>
          </a:p>
          <a:p>
            <a:pPr>
              <a:lnSpc>
                <a:spcPct val="200000"/>
              </a:lnSpc>
            </a:pPr>
            <a:r>
              <a:rPr lang="en-US" altLang="zh-CN">
                <a:latin typeface="微软雅黑" panose="020B0503020204020204" pitchFamily="34" charset="-122"/>
                <a:ea typeface="微软雅黑" panose="020B0503020204020204" pitchFamily="34" charset="-122"/>
              </a:rPr>
              <a:t> </a:t>
            </a:r>
            <a:r>
              <a:rPr lang="en-US" altLang="zh-CN" smtClean="0">
                <a:latin typeface="微软雅黑" panose="020B0503020204020204" pitchFamily="34" charset="-122"/>
                <a:ea typeface="微软雅黑" panose="020B0503020204020204" pitchFamily="34" charset="-122"/>
              </a:rPr>
              <a:t>     </a:t>
            </a:r>
            <a:r>
              <a:rPr lang="zh-CN" altLang="zh-CN" smtClean="0">
                <a:latin typeface="微软雅黑" panose="020B0503020204020204" pitchFamily="34" charset="-122"/>
                <a:ea typeface="微软雅黑" panose="020B0503020204020204" pitchFamily="34" charset="-122"/>
              </a:rPr>
              <a:t>通过</a:t>
            </a:r>
            <a:r>
              <a:rPr lang="zh-CN" altLang="zh-CN" dirty="0">
                <a:latin typeface="微软雅黑" panose="020B0503020204020204" pitchFamily="34" charset="-122"/>
                <a:ea typeface="微软雅黑" panose="020B0503020204020204" pitchFamily="34" charset="-122"/>
              </a:rPr>
              <a:t>本章的学习，</a:t>
            </a:r>
            <a:r>
              <a:rPr lang="zh-CN" altLang="zh-CN">
                <a:latin typeface="微软雅黑" panose="020B0503020204020204" pitchFamily="34" charset="-122"/>
                <a:ea typeface="微软雅黑" panose="020B0503020204020204" pitchFamily="34" charset="-122"/>
              </a:rPr>
              <a:t>读者</a:t>
            </a:r>
            <a:r>
              <a:rPr lang="zh-CN" altLang="zh-CN" smtClean="0">
                <a:latin typeface="微软雅黑" panose="020B0503020204020204" pitchFamily="34" charset="-122"/>
                <a:ea typeface="微软雅黑" panose="020B0503020204020204" pitchFamily="34" charset="-122"/>
              </a:rPr>
              <a:t>可以对</a:t>
            </a:r>
            <a:r>
              <a:rPr lang="en-US" altLang="zh-CN" smtClean="0">
                <a:solidFill>
                  <a:srgbClr val="00B0F0"/>
                </a:solidFill>
                <a:latin typeface="微软雅黑" panose="020B0503020204020204" pitchFamily="34" charset="-122"/>
                <a:ea typeface="微软雅黑" panose="020B0503020204020204" pitchFamily="34" charset="-122"/>
              </a:rPr>
              <a:t>HTML+CSS+JavaScript</a:t>
            </a:r>
            <a:r>
              <a:rPr lang="zh-CN" altLang="zh-CN" dirty="0">
                <a:latin typeface="微软雅黑" panose="020B0503020204020204" pitchFamily="34" charset="-122"/>
                <a:ea typeface="微软雅黑" panose="020B0503020204020204" pitchFamily="34" charset="-122"/>
              </a:rPr>
              <a:t>的基础有个大致的了解，并且能够学会这些技术在开发时如何使用。</a:t>
            </a:r>
            <a:endParaRPr lang="zh-CN" altLang="zh-CN" dirty="0">
              <a:latin typeface="微软雅黑" panose="020B0503020204020204" pitchFamily="34" charset="-122"/>
              <a:ea typeface="微软雅黑" panose="020B0503020204020204" pitchFamily="34" charset="-122"/>
            </a:endParaRPr>
          </a:p>
        </p:txBody>
      </p:sp>
      <p:sp>
        <p:nvSpPr>
          <p:cNvPr id="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本章小</a:t>
            </a:r>
            <a:r>
              <a:rPr lang="zh-CN" altLang="en-US" sz="3200" b="1">
                <a:solidFill>
                  <a:srgbClr val="006BA9"/>
                </a:solidFill>
                <a:latin typeface="微软雅黑" panose="020B0503020204020204" pitchFamily="34" charset="-122"/>
                <a:ea typeface="微软雅黑" panose="020B0503020204020204" pitchFamily="34" charset="-122"/>
                <a:sym typeface="宋体" panose="02010600030101010101" pitchFamily="2" charset="-122"/>
              </a:rPr>
              <a:t>结</a:t>
            </a:r>
            <a:endParaRPr lang="zh-CN" altLang="en-US" sz="32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481013" y="1300163"/>
            <a:ext cx="7975600" cy="41450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571500" indent="-571500" eaLnBrk="1" hangingPunct="1">
              <a:buFont typeface="Wingdings" panose="05000000000000000000" pitchFamily="2" charset="2"/>
              <a:buNone/>
            </a:pPr>
            <a:r>
              <a:rPr lang="zh-CN" altLang="en-US" sz="2400" b="1" dirty="0">
                <a:solidFill>
                  <a:srgbClr val="006BA9"/>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rPr>
              <a:t>本章作业 </a:t>
            </a:r>
            <a:endParaRPr lang="zh-CN" altLang="en-US" sz="2400" b="1" dirty="0" smtClean="0">
              <a:solidFill>
                <a:srgbClr val="006BA9"/>
              </a:solidFill>
              <a:latin typeface="微软雅黑" panose="020B0503020204020204" pitchFamily="34" charset="-122"/>
              <a:ea typeface="微软雅黑" panose="020B0503020204020204" pitchFamily="34" charset="-122"/>
              <a:sym typeface="宋体" panose="02010600030101010101" pitchFamily="2" charset="-122"/>
            </a:endParaRPr>
          </a:p>
          <a:p>
            <a:pPr lvl="1">
              <a:lnSpc>
                <a:spcPct val="150000"/>
              </a:lnSpc>
              <a:defRPr/>
            </a:pPr>
            <a:r>
              <a:rPr lang="zh-CN" altLang="zh-CN" sz="2400" dirty="0">
                <a:latin typeface="Times New Roman" panose="02020603050405020304" pitchFamily="18" charset="0"/>
                <a:cs typeface="Times New Roman" panose="02020603050405020304" pitchFamily="18" charset="0"/>
              </a:rPr>
              <a:t>请描述</a:t>
            </a:r>
            <a:r>
              <a:rPr lang="en-US" altLang="zh-CN" sz="2400" dirty="0">
                <a:latin typeface="Times New Roman" panose="02020603050405020304" pitchFamily="18" charset="0"/>
                <a:cs typeface="Times New Roman" panose="02020603050405020304" pitchFamily="18" charset="0"/>
              </a:rPr>
              <a:t>HTML</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CSS</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DOM</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JavaScript</a:t>
            </a:r>
            <a:r>
              <a:rPr lang="zh-CN" altLang="zh-CN" sz="2400" dirty="0">
                <a:latin typeface="Times New Roman" panose="02020603050405020304" pitchFamily="18" charset="0"/>
                <a:cs typeface="Times New Roman" panose="02020603050405020304" pitchFamily="18" charset="0"/>
              </a:rPr>
              <a:t>分别表示的含义。</a:t>
            </a:r>
            <a:endParaRPr lang="zh-CN" altLang="zh-CN" sz="2400" dirty="0">
              <a:latin typeface="Times New Roman" panose="02020603050405020304" pitchFamily="18" charset="0"/>
              <a:cs typeface="Times New Roman" panose="02020603050405020304" pitchFamily="18" charset="0"/>
            </a:endParaRPr>
          </a:p>
          <a:p>
            <a:pPr lvl="1">
              <a:lnSpc>
                <a:spcPct val="150000"/>
              </a:lnSpc>
              <a:defRPr/>
            </a:pPr>
            <a:r>
              <a:rPr lang="zh-CN" altLang="zh-CN" sz="2400" dirty="0" smtClean="0">
                <a:latin typeface="Times New Roman" panose="02020603050405020304" pitchFamily="18" charset="0"/>
                <a:cs typeface="Times New Roman" panose="02020603050405020304" pitchFamily="18" charset="0"/>
              </a:rPr>
              <a:t>请</a:t>
            </a:r>
            <a:r>
              <a:rPr lang="zh-CN" altLang="zh-CN" sz="2400" dirty="0">
                <a:latin typeface="Times New Roman" panose="02020603050405020304" pitchFamily="18" charset="0"/>
                <a:cs typeface="Times New Roman" panose="02020603050405020304" pitchFamily="18" charset="0"/>
              </a:rPr>
              <a:t>列举出</a:t>
            </a:r>
            <a:r>
              <a:rPr lang="en-US" altLang="zh-CN" sz="2400" dirty="0">
                <a:latin typeface="Times New Roman" panose="02020603050405020304" pitchFamily="18" charset="0"/>
                <a:cs typeface="Times New Roman" panose="02020603050405020304" pitchFamily="18" charset="0"/>
              </a:rPr>
              <a:t>HTML</a:t>
            </a:r>
            <a:r>
              <a:rPr lang="zh-CN" altLang="zh-CN" sz="2400" dirty="0">
                <a:latin typeface="Times New Roman" panose="02020603050405020304" pitchFamily="18" charset="0"/>
                <a:cs typeface="Times New Roman" panose="02020603050405020304" pitchFamily="18" charset="0"/>
              </a:rPr>
              <a:t>常用的标记。（至少</a:t>
            </a:r>
            <a:r>
              <a:rPr lang="en-US" altLang="zh-CN" sz="2400" dirty="0">
                <a:latin typeface="Times New Roman" panose="02020603050405020304" pitchFamily="18" charset="0"/>
                <a:cs typeface="Times New Roman" panose="02020603050405020304" pitchFamily="18" charset="0"/>
              </a:rPr>
              <a:t>10</a:t>
            </a:r>
            <a:r>
              <a:rPr lang="zh-CN" altLang="zh-CN" sz="2400" dirty="0">
                <a:latin typeface="Times New Roman" panose="02020603050405020304" pitchFamily="18" charset="0"/>
                <a:cs typeface="Times New Roman" panose="02020603050405020304" pitchFamily="18" charset="0"/>
              </a:rPr>
              <a:t>个</a:t>
            </a:r>
            <a:r>
              <a:rPr lang="zh-CN"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marL="571500" lvl="1" indent="-571500" eaLnBrk="1" hangingPunct="1">
              <a:lnSpc>
                <a:spcPct val="150000"/>
              </a:lnSpc>
              <a:buNone/>
              <a:defRPr/>
            </a:pPr>
            <a:r>
              <a:rPr lang="zh-CN" altLang="en-US" sz="2400"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400"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rPr>
              <a:t>预习作业</a:t>
            </a:r>
            <a:endParaRPr lang="en-US" altLang="zh-CN" sz="2400" b="1" dirty="0" smtClean="0">
              <a:solidFill>
                <a:srgbClr val="006BA9"/>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defRPr/>
            </a:pPr>
            <a:r>
              <a:rPr lang="en-US" altLang="zh-CN" sz="2400" dirty="0" smtClean="0">
                <a:latin typeface="Times New Roman" panose="02020603050405020304" pitchFamily="18" charset="0"/>
                <a:cs typeface="Times New Roman" panose="02020603050405020304" pitchFamily="18" charset="0"/>
              </a:rPr>
              <a:t>XML</a:t>
            </a:r>
            <a:r>
              <a:rPr lang="zh-CN" altLang="en-US" sz="2400" dirty="0" smtClean="0">
                <a:latin typeface="Times New Roman" panose="02020603050405020304" pitchFamily="18" charset="0"/>
                <a:cs typeface="Times New Roman" panose="02020603050405020304" pitchFamily="18" charset="0"/>
              </a:rPr>
              <a:t>的概念，</a:t>
            </a:r>
            <a:r>
              <a:rPr lang="en-US" altLang="zh-CN" sz="2400" dirty="0" smtClean="0">
                <a:latin typeface="Times New Roman" panose="02020603050405020304" pitchFamily="18" charset="0"/>
                <a:cs typeface="Times New Roman" panose="02020603050405020304" pitchFamily="18" charset="0"/>
              </a:rPr>
              <a:t>XML</a:t>
            </a:r>
            <a:r>
              <a:rPr lang="zh-CN" altLang="en-US" sz="2400" dirty="0" smtClean="0">
                <a:latin typeface="Times New Roman" panose="02020603050405020304" pitchFamily="18" charset="0"/>
                <a:cs typeface="Times New Roman" panose="02020603050405020304" pitchFamily="18" charset="0"/>
              </a:rPr>
              <a:t>与</a:t>
            </a:r>
            <a:r>
              <a:rPr lang="en-US" altLang="zh-CN" sz="2400" dirty="0" smtClean="0">
                <a:latin typeface="Times New Roman" panose="02020603050405020304" pitchFamily="18" charset="0"/>
                <a:cs typeface="Times New Roman" panose="02020603050405020304" pitchFamily="18" charset="0"/>
              </a:rPr>
              <a:t>HTTP</a:t>
            </a:r>
            <a:r>
              <a:rPr lang="zh-CN" altLang="en-US" sz="2400" smtClean="0">
                <a:latin typeface="Times New Roman" panose="02020603050405020304" pitchFamily="18" charset="0"/>
                <a:cs typeface="Times New Roman" panose="02020603050405020304" pitchFamily="18" charset="0"/>
              </a:rPr>
              <a:t>的区别。</a:t>
            </a:r>
            <a:endParaRPr lang="en-US" altLang="zh-CN" sz="2400" dirty="0" smtClean="0">
              <a:latin typeface="Times New Roman" panose="02020603050405020304" pitchFamily="18" charset="0"/>
              <a:cs typeface="Times New Roman" panose="02020603050405020304" pitchFamily="18" charset="0"/>
            </a:endParaRPr>
          </a:p>
          <a:p>
            <a:pPr lvl="1">
              <a:lnSpc>
                <a:spcPct val="150000"/>
              </a:lnSpc>
              <a:defRPr/>
            </a:pPr>
            <a:r>
              <a:rPr lang="zh-CN" altLang="en-US" sz="2400" dirty="0" smtClean="0">
                <a:latin typeface="Times New Roman" panose="02020603050405020304" pitchFamily="18" charset="0"/>
                <a:cs typeface="Times New Roman" panose="02020603050405020304" pitchFamily="18" charset="0"/>
              </a:rPr>
              <a:t>什么是</a:t>
            </a:r>
            <a:r>
              <a:rPr lang="en-US" altLang="zh-CN" sz="2400" dirty="0" smtClean="0">
                <a:latin typeface="Times New Roman" panose="02020603050405020304" pitchFamily="18" charset="0"/>
                <a:cs typeface="Times New Roman" panose="02020603050405020304" pitchFamily="18" charset="0"/>
              </a:rPr>
              <a:t>HTTP</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HTTP1.0</a:t>
            </a:r>
            <a:r>
              <a:rPr lang="zh-CN" altLang="en-US" sz="2400" dirty="0" smtClean="0">
                <a:latin typeface="Times New Roman" panose="02020603050405020304" pitchFamily="18" charset="0"/>
                <a:cs typeface="Times New Roman" panose="02020603050405020304" pitchFamily="18" charset="0"/>
              </a:rPr>
              <a:t>与</a:t>
            </a:r>
            <a:r>
              <a:rPr lang="en-US" altLang="zh-CN" sz="2400" dirty="0" smtClean="0">
                <a:latin typeface="Times New Roman" panose="02020603050405020304" pitchFamily="18" charset="0"/>
                <a:cs typeface="Times New Roman" panose="02020603050405020304" pitchFamily="18" charset="0"/>
              </a:rPr>
              <a:t>HTTP1.1</a:t>
            </a:r>
            <a:r>
              <a:rPr lang="zh-CN" altLang="en-US" sz="2400" smtClean="0">
                <a:latin typeface="Times New Roman" panose="02020603050405020304" pitchFamily="18" charset="0"/>
                <a:cs typeface="Times New Roman" panose="02020603050405020304" pitchFamily="18" charset="0"/>
              </a:rPr>
              <a:t>的区别。</a:t>
            </a:r>
            <a:endParaRPr lang="en-US" altLang="zh-CN" sz="2400" dirty="0" smtClean="0">
              <a:latin typeface="Times New Roman" panose="02020603050405020304" pitchFamily="18" charset="0"/>
              <a:cs typeface="Times New Roman" panose="02020603050405020304" pitchFamily="18" charset="0"/>
            </a:endParaRPr>
          </a:p>
          <a:p>
            <a:pPr lvl="1">
              <a:lnSpc>
                <a:spcPct val="150000"/>
              </a:lnSpc>
              <a:defRPr/>
            </a:pPr>
            <a:endParaRPr lang="en-US" altLang="zh-CN" sz="2400" dirty="0" smtClean="0"/>
          </a:p>
          <a:p>
            <a:pPr lvl="1">
              <a:lnSpc>
                <a:spcPct val="150000"/>
              </a:lnSpc>
              <a:defRPr/>
            </a:pPr>
            <a:endParaRPr lang="en-US" altLang="zh-CN" sz="2400" dirty="0" smtClean="0"/>
          </a:p>
          <a:p>
            <a:pPr lvl="1">
              <a:lnSpc>
                <a:spcPct val="150000"/>
              </a:lnSpc>
              <a:defRPr/>
            </a:pPr>
            <a:endParaRPr lang="en-US" altLang="zh-CN" sz="2400" dirty="0" smtClean="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GENSWF_SLIDE_TITLE" val="第1章 网页开发基础"/>
  <p:tag name="GENSWF_ADVANCE_TIME" val="0.00"/>
  <p:tag name="ISPRING_SLIDE_INDENT_LEVEL" val="0"/>
  <p:tag name="ISPRING_CUSTOM_TIMING_USED" val="0"/>
</p:tagLst>
</file>

<file path=ppt/tags/tag2.xml><?xml version="1.0" encoding="utf-8"?>
<p:tagLst xmlns:p="http://schemas.openxmlformats.org/presentationml/2006/main">
  <p:tag name="GENSWF_SLIDE_TITLE" val="学习目标"/>
  <p:tag name="GENSWF_ADVANCE_TIME" val="0.00"/>
  <p:tag name="ISPRING_SLIDE_INDENT_LEVEL" val="0"/>
  <p:tag name="ISPRING_CUSTOM_TIMING_USED" val="0"/>
</p:tagLst>
</file>

<file path=ppt/tags/tag3.xml><?xml version="1.0" encoding="utf-8"?>
<p:tagLst xmlns:p="http://schemas.openxmlformats.org/presentationml/2006/main">
  <p:tag name="GENSWF_SLIDE_TITLE" val="主讲内容"/>
  <p:tag name="GENSWF_ADVANCE_TIME" val="0.00"/>
  <p:tag name="ISPRING_SLIDE_INDENT_LEVEL" val="0"/>
  <p:tag name="ISPRING_CUSTOM_TIMING_USED" val="0"/>
</p:tagLst>
</file>

<file path=ppt/tags/tag4.xml><?xml version="1.0" encoding="utf-8"?>
<p:tagLst xmlns:p="http://schemas.openxmlformats.org/presentationml/2006/main">
  <p:tag name="GENSWF_SLIDE_TITLE" val="HTML简介"/>
  <p:tag name="GENSWF_ADVANCE_TIME" val="0.00"/>
  <p:tag name="ISPRING_SLIDE_INDENT_LEVEL" val="0"/>
  <p:tag name="ISPRING_CUSTOM_TIMING_USED" val="0"/>
</p:tagLst>
</file>

<file path=ppt/tags/tag5.xml><?xml version="1.0" encoding="utf-8"?>
<p:tagLst xmlns:p="http://schemas.openxmlformats.org/presentationml/2006/main">
  <p:tag name="GENSWF_SLIDE_TITLE" val="HTML简介"/>
  <p:tag name="GENSWF_ADVANCE_TIME" val="0.00"/>
  <p:tag name="ISPRING_SLIDE_INDENT_LEVEL" val="0"/>
  <p:tag name="ISPRING_CUSTOM_TIMING_USED" val="0"/>
</p:tagLst>
</file>

<file path=ppt/tags/tag6.xml><?xml version="1.0" encoding="utf-8"?>
<p:tagLst xmlns:p="http://schemas.openxmlformats.org/presentationml/2006/main">
  <p:tag name="GENSWF_SLIDE_TITLE" val="单标记和双标记"/>
  <p:tag name="GENSWF_ADVANCE_TIME" val="0.00"/>
  <p:tag name="ISPRING_SLIDE_INDENT_LEVEL" val="0"/>
  <p:tag name="ISPRING_CUSTOM_TIMING_USED" val="0"/>
</p:tagLst>
</file>

<file path=ppt/tags/tag7.xml><?xml version="1.0" encoding="utf-8"?>
<p:tagLst xmlns:p="http://schemas.openxmlformats.org/presentationml/2006/main">
  <p:tag name="GENSWF_SLIDE_TITLE" val="文本控制与文本样式标记"/>
  <p:tag name="GENSWF_ADVANCE_TIME" val="0.00"/>
  <p:tag name="ISPRING_SLIDE_INDENT_LEVEL" val="0"/>
  <p:tag name="ISPRING_CUSTOM_TIMING_USED" val="0"/>
</p:tagLst>
</file>

<file path=ppt/tags/tag8.xml><?xml version="1.0" encoding="utf-8"?>
<p:tagLst xmlns:p="http://schemas.openxmlformats.org/presentationml/2006/main">
  <p:tag name="GENSWF_SLIDE_TITLE" val="文本控制与文本样式标记"/>
  <p:tag name="GENSWF_ADVANCE_TIME" val="0.00"/>
  <p:tag name="ISPRING_SLIDE_INDENT_LEVEL" val="0"/>
  <p:tag name="ISPRING_CUSTOM_TIMING_USED" val="0"/>
</p:tagLst>
</file>

<file path=ppt/tags/tag9.xml><?xml version="1.0" encoding="utf-8"?>
<p:tagLst xmlns:p="http://schemas.openxmlformats.org/presentationml/2006/main">
  <p:tag name="GENSWF_SLIDE_TITLE" val="图像标记"/>
  <p:tag name="GENSWF_ADVANCE_TIME" val="0.00"/>
  <p:tag name="ISPRING_SLIDE_INDENT_LEVEL" val="0"/>
  <p:tag name="ISPRING_CUSTOM_TIMING_USED" val="0"/>
</p:tagLst>
</file>

<file path=ppt/tags/tag10.xml><?xml version="1.0" encoding="utf-8"?>
<p:tagLst xmlns:p="http://schemas.openxmlformats.org/presentationml/2006/main">
  <p:tag name="GENSWF_SLIDE_TITLE" val="表格标记"/>
  <p:tag name="GENSWF_ADVANCE_TIME" val="0.00"/>
  <p:tag name="ISPRING_SLIDE_INDENT_LEVEL" val="0"/>
  <p:tag name="ISPRING_CUSTOM_TIMING_USED" val="0"/>
</p:tagLst>
</file>

<file path=ppt/tags/tag11.xml><?xml version="1.0" encoding="utf-8"?>
<p:tagLst xmlns:p="http://schemas.openxmlformats.org/presentationml/2006/main">
  <p:tag name="GENSWF_SLIDE_TITLE" val="表单标记"/>
  <p:tag name="GENSWF_ADVANCE_TIME" val="0.00"/>
  <p:tag name="ISPRING_SLIDE_INDENT_LEVEL" val="0"/>
  <p:tag name="ISPRING_CUSTOM_TIMING_USED" val="0"/>
</p:tagLst>
</file>

<file path=ppt/tags/tag12.xml><?xml version="1.0" encoding="utf-8"?>
<p:tagLst xmlns:p="http://schemas.openxmlformats.org/presentationml/2006/main">
  <p:tag name="GENSWF_SLIDE_TITLE" val="表单标记"/>
  <p:tag name="GENSWF_ADVANCE_TIME" val="0.00"/>
  <p:tag name="ISPRING_SLIDE_INDENT_LEVEL" val="0"/>
  <p:tag name="ISPRING_CUSTOM_TIMING_USED" val="0"/>
</p:tagLst>
</file>

<file path=ppt/tags/tag13.xml><?xml version="1.0" encoding="utf-8"?>
<p:tagLst xmlns:p="http://schemas.openxmlformats.org/presentationml/2006/main">
  <p:tag name="GENSWF_SLIDE_TITLE" val="表单标记"/>
  <p:tag name="GENSWF_ADVANCE_TIME" val="0.00"/>
  <p:tag name="ISPRING_SLIDE_INDENT_LEVEL" val="0"/>
  <p:tag name="ISPRING_CUSTOM_TIMING_USED" val="0"/>
</p:tagLst>
</file>

<file path=ppt/tags/tag14.xml><?xml version="1.0" encoding="utf-8"?>
<p:tagLst xmlns:p="http://schemas.openxmlformats.org/presentationml/2006/main">
  <p:tag name="GENSWF_SLIDE_TITLE" val="列表标记和超链接标记"/>
  <p:tag name="GENSWF_ADVANCE_TIME" val="0.00"/>
  <p:tag name="ISPRING_SLIDE_INDENT_LEVEL" val="0"/>
  <p:tag name="ISPRING_CUSTOM_TIMING_USED" val="0"/>
</p:tagLst>
</file>

<file path=ppt/tags/tag15.xml><?xml version="1.0" encoding="utf-8"?>
<p:tagLst xmlns:p="http://schemas.openxmlformats.org/presentationml/2006/main">
  <p:tag name="GENSWF_SLIDE_TITLE" val="列表标记和超链接标记"/>
  <p:tag name="GENSWF_ADVANCE_TIME" val="0.00"/>
  <p:tag name="ISPRING_SLIDE_INDENT_LEVEL" val="0"/>
  <p:tag name="ISPRING_CUSTOM_TIMING_USED" val="0"/>
</p:tagLst>
</file>

<file path=ppt/tags/tag16.xml><?xml version="1.0" encoding="utf-8"?>
<p:tagLst xmlns:p="http://schemas.openxmlformats.org/presentationml/2006/main">
  <p:tag name="GENSWF_SLIDE_TITLE" val="&lt;div&gt;标记"/>
  <p:tag name="GENSWF_ADVANCE_TIME" val="0.00"/>
  <p:tag name="ISPRING_SLIDE_INDENT_LEVEL" val="0"/>
  <p:tag name="ISPRING_CUSTOM_TIMING_USED" val="0"/>
</p:tagLst>
</file>

<file path=ppt/tags/tag17.xml><?xml version="1.0" encoding="utf-8"?>
<p:tagLst xmlns:p="http://schemas.openxmlformats.org/presentationml/2006/main">
  <p:tag name="GENSWF_SLIDE_TITLE" val="主讲内容"/>
  <p:tag name="GENSWF_ADVANCE_TIME" val="0.00"/>
  <p:tag name="ISPRING_SLIDE_INDENT_LEVEL" val="0"/>
  <p:tag name="ISPRING_CUSTOM_TIMING_USED" val="0"/>
</p:tagLst>
</file>

<file path=ppt/tags/tag18.xml><?xml version="1.0" encoding="utf-8"?>
<p:tagLst xmlns:p="http://schemas.openxmlformats.org/presentationml/2006/main">
  <p:tag name="GENSWF_SLIDE_TITLE" val="简介"/>
  <p:tag name="GENSWF_ADVANCE_TIME" val="0.00"/>
  <p:tag name="ISPRING_SLIDE_INDENT_LEVEL" val="0"/>
  <p:tag name="ISPRING_CUSTOM_TIMING_USED" val="0"/>
</p:tagLst>
</file>

<file path=ppt/tags/tag19.xml><?xml version="1.0" encoding="utf-8"?>
<p:tagLst xmlns:p="http://schemas.openxmlformats.org/presentationml/2006/main">
  <p:tag name="GENSWF_SLIDE_TITLE" val="CSS样式的引用方式"/>
  <p:tag name="GENSWF_ADVANCE_TIME" val="0.00"/>
  <p:tag name="ISPRING_SLIDE_INDENT_LEVEL" val="0"/>
  <p:tag name="ISPRING_CUSTOM_TIMING_USED" val="0"/>
</p:tagLst>
</file>

<file path=ppt/tags/tag20.xml><?xml version="1.0" encoding="utf-8"?>
<p:tagLst xmlns:p="http://schemas.openxmlformats.org/presentationml/2006/main">
  <p:tag name="GENSWF_SLIDE_TITLE" val="CSS样式的引用方式"/>
  <p:tag name="GENSWF_ADVANCE_TIME" val="0.00"/>
  <p:tag name="ISPRING_SLIDE_INDENT_LEVEL" val="0"/>
  <p:tag name="ISPRING_CUSTOM_TIMING_USED" val="0"/>
</p:tagLst>
</file>

<file path=ppt/tags/tag21.xml><?xml version="1.0" encoding="utf-8"?>
<p:tagLst xmlns:p="http://schemas.openxmlformats.org/presentationml/2006/main">
  <p:tag name="GENSWF_SLIDE_TITLE" val="CSS选择器和常用属性"/>
  <p:tag name="GENSWF_ADVANCE_TIME" val="0.00"/>
  <p:tag name="ISPRING_SLIDE_INDENT_LEVEL" val="0"/>
  <p:tag name="ISPRING_CUSTOM_TIMING_USED" val="0"/>
</p:tagLst>
</file>

<file path=ppt/tags/tag22.xml><?xml version="1.0" encoding="utf-8"?>
<p:tagLst xmlns:p="http://schemas.openxmlformats.org/presentationml/2006/main">
  <p:tag name="GENSWF_SLIDE_TITLE" val="CSS选择器和常用属性"/>
  <p:tag name="GENSWF_ADVANCE_TIME" val="0.00"/>
  <p:tag name="ISPRING_SLIDE_INDENT_LEVEL" val="0"/>
  <p:tag name="ISPRING_CUSTOM_TIMING_USED" val="0"/>
</p:tagLst>
</file>

<file path=ppt/tags/tag23.xml><?xml version="1.0" encoding="utf-8"?>
<p:tagLst xmlns:p="http://schemas.openxmlformats.org/presentationml/2006/main">
  <p:tag name="GENSWF_SLIDE_TITLE" val="主讲内容"/>
  <p:tag name="GENSWF_ADVANCE_TIME" val="0.00"/>
  <p:tag name="ISPRING_SLIDE_INDENT_LEVEL" val="0"/>
  <p:tag name="ISPRING_CUSTOM_TIMING_USED" val="0"/>
</p:tagLst>
</file>

<file path=ppt/tags/tag24.xml><?xml version="1.0" encoding="utf-8"?>
<p:tagLst xmlns:p="http://schemas.openxmlformats.org/presentationml/2006/main">
  <p:tag name="GENSWF_SLIDE_TITLE" val="DOM相关知识"/>
  <p:tag name="GENSWF_ADVANCE_TIME" val="0.00"/>
  <p:tag name="ISPRING_SLIDE_INDENT_LEVEL" val="0"/>
  <p:tag name="ISPRING_CUSTOM_TIMING_USED" val="0"/>
</p:tagLst>
</file>

<file path=ppt/tags/tag25.xml><?xml version="1.0" encoding="utf-8"?>
<p:tagLst xmlns:p="http://schemas.openxmlformats.org/presentationml/2006/main">
  <p:tag name="GENSWF_SLIDE_TITLE" val="DOM相关知识"/>
  <p:tag name="GENSWF_ADVANCE_TIME" val="0.00"/>
  <p:tag name="ISPRING_SLIDE_INDENT_LEVEL" val="0"/>
  <p:tag name="ISPRING_CUSTOM_TIMING_USED" val="0"/>
</p:tagLst>
</file>

<file path=ppt/tags/tag26.xml><?xml version="1.0" encoding="utf-8"?>
<p:tagLst xmlns:p="http://schemas.openxmlformats.org/presentationml/2006/main">
  <p:tag name="GENSWF_SLIDE_TITLE" val="DOM相关知识"/>
  <p:tag name="GENSWF_ADVANCE_TIME" val="0.00"/>
  <p:tag name="ISPRING_SLIDE_INDENT_LEVEL" val="0"/>
  <p:tag name="ISPRING_CUSTOM_TIMING_USED" val="0"/>
</p:tagLst>
</file>

<file path=ppt/tags/tag27.xml><?xml version="1.0" encoding="utf-8"?>
<p:tagLst xmlns:p="http://schemas.openxmlformats.org/presentationml/2006/main">
  <p:tag name="GENSWF_SLIDE_TITLE" val="DOM相关知识"/>
  <p:tag name="GENSWF_ADVANCE_TIME" val="0.00"/>
  <p:tag name="ISPRING_SLIDE_INDENT_LEVEL" val="0"/>
  <p:tag name="ISPRING_CUSTOM_TIMING_USED" val="0"/>
</p:tagLst>
</file>

<file path=ppt/tags/tag28.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29.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30.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31.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32.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33.xml><?xml version="1.0" encoding="utf-8"?>
<p:tagLst xmlns:p="http://schemas.openxmlformats.org/presentationml/2006/main">
  <p:tag name="GENSWF_SLIDE_TITLE" val="JavaScript概述"/>
  <p:tag name="GENSWF_ADVANCE_TIME" val="0.00"/>
  <p:tag name="ISPRING_SLIDE_INDENT_LEVEL" val="0"/>
  <p:tag name="ISPRING_CUSTOM_TIMING_USED" val="0"/>
</p:tagLst>
</file>

<file path=ppt/tags/tag34.xml><?xml version="1.0" encoding="utf-8"?>
<p:tagLst xmlns:p="http://schemas.openxmlformats.org/presentationml/2006/main">
  <p:tag name="GENSWF_SLIDE_TITLE" val="JavaScript的使用"/>
  <p:tag name="GENSWF_ADVANCE_TIME" val="0.00"/>
  <p:tag name="ISPRING_SLIDE_INDENT_LEVEL" val="0"/>
  <p:tag name="ISPRING_CUSTOM_TIMING_USED" val="0"/>
</p:tagLst>
</file>

<file path=ppt/tags/tag35.xml><?xml version="1.0" encoding="utf-8"?>
<p:tagLst xmlns:p="http://schemas.openxmlformats.org/presentationml/2006/main">
  <p:tag name="GENSWF_SLIDE_TITLE" val="JavaScript的使用"/>
  <p:tag name="GENSWF_ADVANCE_TIME" val="0.00"/>
  <p:tag name="ISPRING_SLIDE_INDENT_LEVEL" val="0"/>
  <p:tag name="ISPRING_CUSTOM_TIMING_USED" val="0"/>
</p:tagLst>
</file>

<file path=ppt/tags/tag36.xml><?xml version="1.0" encoding="utf-8"?>
<p:tagLst xmlns:p="http://schemas.openxmlformats.org/presentationml/2006/main">
  <p:tag name="GENSWF_SLIDE_TITLE" val="JavaScript的使用"/>
  <p:tag name="GENSWF_ADVANCE_TIME" val="0.00"/>
  <p:tag name="ISPRING_SLIDE_INDENT_LEVEL" val="0"/>
  <p:tag name="ISPRING_CUSTOM_TIMING_USED" val="0"/>
</p:tagLst>
</file>

<file path=ppt/tags/tag37.xml><?xml version="1.0" encoding="utf-8"?>
<p:tagLst xmlns:p="http://schemas.openxmlformats.org/presentationml/2006/main">
  <p:tag name="GENSWF_SLIDE_TITLE" val="主讲内容"/>
  <p:tag name="GENSWF_ADVANCE_TIME" val="0.00"/>
  <p:tag name="ISPRING_SLIDE_INDENT_LEVEL" val="0"/>
  <p:tag name="ISPRING_CUSTOM_TIMING_USED" val="0"/>
</p:tagLst>
</file>

<file path=ppt/tags/tag38.xml><?xml version="1.0" encoding="utf-8"?>
<p:tagLst xmlns:p="http://schemas.openxmlformats.org/presentationml/2006/main">
  <p:tag name="GENSWF_SLIDE_TITLE" val="【任务1-1】传智书城首页设计"/>
  <p:tag name="GENSWF_ADVANCE_TIME" val="0.00"/>
  <p:tag name="ISPRING_SLIDE_INDENT_LEVEL" val="0"/>
  <p:tag name="ISPRING_CUSTOM_TIMING_USED" val="0"/>
</p:tagLst>
</file>

<file path=ppt/tags/tag39.xml><?xml version="1.0" encoding="utf-8"?>
<p:tagLst xmlns:p="http://schemas.openxmlformats.org/presentationml/2006/main">
  <p:tag name="GENSWF_SLIDE_TITLE" val="【任务1-1】传智书城注册页面设计"/>
  <p:tag name="GENSWF_ADVANCE_TIME" val="0.00"/>
  <p:tag name="ISPRING_SLIDE_INDENT_LEVEL" val="0"/>
  <p:tag name="ISPRING_CUSTOM_TIMING_USED" val="0"/>
</p:tagLst>
</file>

<file path=ppt/tags/tag40.xml><?xml version="1.0" encoding="utf-8"?>
<p:tagLst xmlns:p="http://schemas.openxmlformats.org/presentationml/2006/main">
  <p:tag name="GENSWF_SLIDE_TITLE" val="本章小结"/>
  <p:tag name="GENSWF_ADVANCE_TIME" val="0.00"/>
  <p:tag name="ISPRING_SLIDE_INDENT_LEVEL" val="0"/>
  <p:tag name="ISPRING_CUSTOM_TIMING_USED" val="0"/>
</p:tagLst>
</file>

<file path=ppt/tags/tag41.xml><?xml version="1.0" encoding="utf-8"?>
<p:tagLst xmlns:p="http://schemas.openxmlformats.org/presentationml/2006/main">
  <p:tag name="GENSWF_SLIDE_TITLE" val="作业"/>
  <p:tag name="GENSWF_ADVANCE_TIME" val="0.00"/>
  <p:tag name="ISPRING_SLIDE_INDENT_LEVEL" val="0"/>
  <p:tag name="ISPRING_CUSTOM_TIMING_USED" val="0"/>
</p:tagLst>
</file>

<file path=ppt/tags/tag42.xml><?xml version="1.0" encoding="utf-8"?>
<p:tagLst xmlns:p="http://schemas.openxmlformats.org/presentationml/2006/main">
  <p:tag name="GENSWF_ADVANCE_TIME" val="0.00"/>
  <p:tag name="ISPRING_SLIDE_INDENT_LEVEL" val="0"/>
  <p:tag name="ISPRING_CUSTOM_TIMING_USED" val="0"/>
</p:tagLst>
</file>

<file path=ppt/tags/tag43.xml><?xml version="1.0" encoding="utf-8"?>
<p:tagLst xmlns:p="http://schemas.openxmlformats.org/presentationml/2006/main">
  <p:tag name="ISPRING_RESOURCE_PATHS_HASH_PRESENTER" val="9929648c0e420e7fcbfccc3d30c890a567a6d9"/>
  <p:tag name="ISPRING_ULTRA_SCORM_COURSE_ID" val="9591DCF8-EBF9-48CC-8C45-50030BC6580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LAYERS_CUSTOMIZATION" val="UEsDBBQAAgAIAMWLWEkYJkPyLgQAAH8OAAAdAAAAdW5pdmVyc2FsL2NvbW1vbl9tZXNzYWdlcy5sbmetl19v21QUwN8n7TtcWRqCB7INadMk0kw38W1izbEz+6Z/QMi6je8ya45vsZ2w8jQQTBQJbdIGGmNQFZUWiRHQJNBYYZ+mcbonvgLHdrIlGRC73YOlXCvnd/4fn1u8eL3joh73A0d4C9LZwhkJca8lbMdrL0hNuvjmBQkFIfNs5gqPL0iekNDF0skTRZd57S5rc/h98gRCxQ4PAjgGpfj04owce0FqlK2KXm9gbdVS9apulZWqVKqIzjrzNpAq2uL1t85fuH723Pk3iqdHclkwZh2r6jQIJaRzZzKANGroqgU0oloaWaFS6bV2+Pbsk4+jN6mqaEQqDXb2hk8eHe7dHHzzNB+iYZAlMMUF9TPPXE7TMIhGLVNVZGIppqXpNAmYSiiRpVJ075fB7d3h/t5w/+eDx58fPL4RPdwe3v8k+u3W4d5nh/1fB399+fefW/PUyAZeVrSqRXVdNS2iyeM3Umm4fyf6dmt4d3/48G5OjIFNYoCNd3affb1zBFkrKYVUPNq8ET3YzAepKdWaCg+NrXj2072DJ/18gAbRIADz/a4T08RVYpX1FUgQVMrt3Twi+iXQst0f9O/nkVolZpL/eTIaXlKqmCq6FtePQUxqKJWkeFZFF7WYh4TnbiDWaoEcWvd5zxHdAN70HP4Bt1HgOjYP8mkxyeUmlK2C1VTLVdbjKBQJcgREjofCqxy1nR4HE3yb+/N0QBtViByn53JTecdaxIpKZAvyJevLFk3aPVbGfI48ESLmuiJ2APQyu8e8FkdrvMW6AUcb8DfbsZO/rTNwO7bk/a7zIWJhah86NWo5TSYrpwrHM02hKsyPZeZ7MIJzoqYa/mVnO90APA1D3lkP53kxEYnCK7HiuH41sGn+p1NZ8nJMj2b053XHhBInBnz5oOXLjsguQepQH1KJdJjjZpdStEVQ1PB5wL2Q+0jxruTQqekjgCbQURlLEPkpE5YgIznkl0nZVGgcY74WOCGfJ5kkKs33v9dIC9YEl4f8RZ2s8SsC+t/lrAdJhPdOkBZO4QjKchXEeLLGI3ByTo8oGhjUZiGsZAhMcp0O+G9nYDbrZBzBdLxOReIVff//T09qfvTR94OdL1LsPJpJsFGpWRWsVQiU+eDWV9HvWYWgTGNjVGpaKi7H4tGjbfjyRx//GG39EG0+BecGNz8d9P/ICEw3MJksYoCOo5aQCoVCRsasRakhsBh99yAXATownjvkOeldTYQ8eG8ehOLytFxyyCI1Wl7HcnlW2CTxo/BhSnGlVofagJ3D4IHo+q35O8EkoY6NSzABkr1KKtWZfw3GBxXCzUVJ/I5HWJhP+5F2+EnA8aZw7DVVGhaW5eSWA/cb12ldS79eNmLJHIuvOy5cd7LCKjWswYiZ4XHbCXMCk6k+bnfov/Q8rrR4aXtpyD8/BclVsXh64ub4D1BLAwQUAAIACADFi1hJCswVnxYEAAALEAAAJwAAAHVuaXZlcnNhbC9mbGFzaF9wdWJsaXNoaW5nX3NldHRpbmdzLnhtbNVXUW8bRRB+969YHSpv9SVtQtJwdhUltmrhOKE+RCuEovXdxLdkb/e43bPrPhVUKoqEqISQUKiogkrCAwRUCakQ6I9BtZ03/gJzPseJY6ecVQVSWSfrZr/5dmZ29ttb6+otn5MGhIpJkTOms1MGAeFIl4l6znjHLl6cN4jSVLiUSwE5Q0iDXM1nrCCqcaa8KmiNUEWQRqiFQOcMT+tgwTSbzWaWqSCMRyWPNPKrrCN9MwhBgdAQmgGnLfzTrQCUkc9kCLES04p0Iw6EuRiCYHF0lBc5VZ5hJrAadTbroYyEuyS5DElYr+WM1+YX498hJqFaZj6IODmVR2Ns1gvUdVkcD+VVdhuIB6zuYeBzMwZpMld7OePy1KWYBuHmKE2PPEmCxjRLErMRus/vg6Yu1TR5TSbUcEurQ0NicluC+syxcYTEBcgZy/Z6tVxaLqxXVu1Cdf2avVJOYpjAyS7csCdwskt2uTAJPi39tZtrhevlUuWtdXt1tWyX1o68sKJDBbHM4YpZWFkZhQ4MCmZpL/JrgjKO3XaijAo09iunYR1sWWS4ihuUKzDIBwHU344oZ7qFbT2Fbb0JECyqABx9PV62nKHDCIwjuoQQA8O1HPTE7JVBT8zND6VuJrMfpTU2SotqTR0PmwdtvdAs87jpELYhxVBq8TupSe4OEgK/Bm6F+nBsT1Q3mSgictogG7gIHFNdDBnlBmEaU3cGziqqKc10bxcWjyMJcuFuB7JSHSmF49FQDVV8UPW48Z38exWpQb2flCIxnQbtfP1z+8FOd3+3u//T86efPX96p/PjdnfrbufXLw52Pz3Y+6X951d///EoDdVNGRE/UpqgmAQcNBDtAfkwYrdJDTZkCIQDbaDsoJ0pojhzITsRcUCVOiKlOuEgF5JNUKosF25cIFoS6jaocCYkx9UHP9BnwU8xdyFxCs5lE9xjFFgZh0YKSAthLnN7sDRpZv+HxXWoIFLwFqEOqoAiqLUNJiOFlgaDOLFeoCotn0cbENcidu67EiZ6mddxI+FkoQthGrap6UuXZ2bfmJu/spA1/7qzc/GFTn1lXOM0ni2RxqVTpTed1wkB/henF8jwiG9Rhn7cm+7IpOOPlr4EjoqEZcbiNV7LepJ7HqWs8+j7zv1n3f0vO98+TNXyT7Y7D+93Pv6h77h1t33vk/beb2l82493u78/Odi91/7mWRp8r/5pgK9z/ebJJ5VfHbEnnpT7PlW+D3bSwLrbe+29rVTzfvRd+/Hnibqkwb9LQ4HnwSsBreDRVe99VhI8vDjzGW7JV0KbTpOJl5e1/0SaXuozK9G1s5SmbDZ7Zl1w7qX/LMt7niqWvA0uRkM3Icsce+eMR3wmmI91jD9tBhfV/OzMFN6txg5lMsg2fIHPZ/4BUEsDBBQAAgAIAMWLWEkE5wPRtgIAAFMKAAAhAAAAdW5pdmVyc2FsL2ZsYXNoX3NraW5fc2V0dGluZ3MueG1slVZtT9swEP6+X1F13wl7LZNMJSidhMQGGojvTnJNrDp2ZDtl/ffzK7HbpM16Qqrvnsd3vreC5Jaw5YfZDBWccvEMShFWSaMJuhkpr+d5pxRnFwVnCpi6YFw0mM6XH3/aD8os8hyL70BM5WxwAb2bhf1MoXgf3xZGxggFb1rM9g+84hc5LraV4B0rz4ZW71sQlLCtRl7+WKzWow4okepeQZPEtL4yMo3SCpASTEjf10bOsijOgQZPl/YzkdO7Ov36A9qOSKIs7eaTkTFaiytIk3x1Y2Qcz/TtaVUWRk4TFPxVGvrls5FRKMV7EOnld1+NjDJ427X/0yOt4JVJaMo5XcR3DuW41ONnoro0cpZgHmQcna2CT499610E8l/juUdmXAWnTyavBwvBFD2nsFSiA5SFk7PJmr89dkrPByw3mEoNiFU96EkH/YQ7Ga5JdT3uD7wRVkYgr+gRr5x2DaxcvLHT1NATVqtbuyti7LsuilDAziujEHtlj/yt83qEjJQ98pmSEh4Z3R/BDy2OE2p8i301T6dfW4FhfQwJC6dgNZ4ezOTKyLVXBEzDS1hKE84LacCUDWVW50LKjmJCDO9IhRXh7JfB5Xv7GImyA4NvteHGQoooCkP9ZmPUWzqulz2n7eitaT+6X4X+ce48U3qJX8+xUrioG/2rJOczz9NTohMzz4YZZk1qOIh7tuERx/oeIzVYbEG8cE6numFcgZx6PXezNQZHWZQDlA1nGflLhtLPuiYHsdZVIxDaJtU5XE2qmuo/9UrgDcqUMGJ0TFXr6xgm710ZKXwLABZFHXrWHZyl6agiFHZAvTVS2AePvQxJ3aNj7XajHmCj4obzmkkd6RdF3ykxLjUMEF51XMMMZzm/hBXOpX1ZMvdhB/eDn2zlsMtM68XencK3UnKzth+nUCvNP5P/AFBLAwQUAAIACADFi1hJagDFHuoDAAAcDwAAJgAAAHVuaXZlcnNhbC9odG1sX3B1Ymxpc2hpbmdfc2V0dGluZ3MueG1s1Vfvb9tEGP6ev+JkNL7NbveDdsXJVLWpGpGlZTViE0LVxXexj53vjO+cLPs00JgYEmISQkJlYioaLR+goElIg8L+GLQk/ca/wHtxmi5NWxyxH0yRFfn1+z73Ps+9fmy7F69HHDVpopgURWvanrIQFb4kTARF6x1v6fSshZTGgmAuBS1aQlroYqngxmmdMxWuUa0hVSGAEWou1kUr1Dqec5xWq2UzFSfmquSpBnxl+zJy4oQqKjRNnJjjNvzpdkyVVSoUEHKz0CVJUk4RI9CCYKY7zJd1xC0ny6pj/1qQyFSQBcllgpKgXrRem503v/2cDGmRRVQYbqoEQRPWc5gQZtrBfI3doCikLAih75lzFmoxosOidXbqjIGBdGccpg+eccAGZkECGaEH+BHVmGCNs9NsQU2va7UfyEKkLXDEfA+uIMO/aC1662vVymJ5vbbildfWl71L1ayHCYq88hVvgiKv4lXLk+TnhV++ulq+XK3U3lr3VlaqXmX1oAoUHRHEdUYVc0FZmSY+HQrm6jCN6gIzDsN2SEZFNYwrx0lAPbnEYBcbmCtqoQ9iGrydYs50G6Z6Cqb6GqXxvIqpry+bbStaOkmpdQCXAUJjsJfDmTh/YTgTM7Mj1J1s9QNaR3bpYq2xH8LwQKzfmus8HdpPa0gxQs2co7rkZEioASpz4DKfMMwtxDRw84dXtVFALzEO+pvaabsh9Bg5P8SJGtFwqKMZZb/0Xk1qqt7PyGWh41K7X//cubvV293u7f705NFnTx7d7P642du41f31i73tT/d2fun8+dXff9zPA3VVpihKlUbgDjGnmiIdUvRhym6gOm3IhCJOcRN8BOJMIcUZofZEwDFW6gAU6wwDncrGulJbLF85hbREmDSx8CcEh/2kUayfBz4G7kLCEpzLFiVPQYAyPk4VRW1II4z00/LQtF/C5vpYICl4G2Ef7muFwD2bTKYKIk1GDbF+oyovXoib1GhhigeliIk+8wCeFrBYQmiSB21q+szZc+ffmJm9MGc7f93cOn1i0cDrVjk2q2Vmt3CsmearOmSp/1J0grGO1S7JJDKzScYWPfphMTC1cZNwHWMpR7tT30RfjDl173/fvfO4t/tl99t7uYb44Wb33p3uxz8MCjdudW5/0tn5LU9t58F27/eHe9u3O988zpPfVzRP4utcv3n4yFUXQO6hI+ednIvv3a08ab3Nnc7ORq51P/qu8+DzzC/y5L+LEwEO/0qk1uBhFPRf/RA8jjiLGNxkr4TbHHfj/3ejeiFmc/KrUGZFz9RsbNt+bvv68u35mQr2f9IgOxt+YIx8UbjOkd9uBYiPftGWCv8AUEsDBBQAAgAIAMWLWEkP5FkgmQEAAB0GAAAfAAAAdW5pdmVyc2FsL2h0bWxfc2tpbl9zZXR0aW5ncy5qc42UTW/CMAyG7/wKlF0nxD677YYGkyZxmDRu0w5pMaUiTaIkdDDEf18dvprWHcSX5u3T17ErZ9PploslrPvS3fhnv/8I914D1JxZwnWoixY9R51ZkU1hkuUgMgmshhSHT4/y9kRQxkx603j9iba24scUvplxYau4JiwMoVlCKwjth0qyosTfoLR9WbuSKn2Ol84p2UuUdCBdTyqTc8+wqze/qhXWYFWAOYPOeAKBaeRXG3lyfIgwqlyics3leqxS1Yt5skiNWsppW/75WoMp//hiB/Sfo9dRYCcy694d5PXEoyeMdlIbsBb2eR9HGCQseAyi4tv36x80MG4WVKOLzGbuQA9uMKq05ik0uvQ0wAgxWXo1uhlhNDkHK7cj7m4xAkLwNZiG1fAeIwCVXuoLfqA2KsWONNBmz4+oUHyayXSfuo9BcnhYtG3r3qlQf/whC0ZI1UZoToxp3nZzXDD2jhxcW8s6pmZeUKKkREUk1hRYkKdx9WsE919dxp3jyTwvb4fyaizbwM0CzEQpUR7/+9xBi6O4y9XZ/gFQSwMEFAACAAgAxYtYS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MWLWEl0Pke4XQAAAGIAAAAcAAAAdW5pdmVyc2FsL2xvY2FsX3NldHRpbmdzLnhtbBXKOw5AQBAA0N4pJtP7dQpLp9TgABMmIpmdEbvxuT26V7y6vb3AyUfYTB2WWYHAOtuy6epwGru0QgiRdCExZYdqCG2T1GIzycAxfjHALvTwMbL/ELkn/0++MG+SF1BLAwQUAAIACAB2uMN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DFi1hJcYP8DhoIAADbHQAAKQAAAHVuaXZlcnNhbC9za2luX2N1c3RvbWl6YXRpb25fc2V0dGluZ3MueG1srVlbb+PGFX7vrxioSNG+WBfqZkQrgJeRTUSiFJG2d1sUAiWNZcIUqZIjex3oIS3aIBsgSICkRZqmXWyx3S3Q1C0CtEizbX7NWt485S/0DC8WScsyubsiCJhnzvedM2fOnLm44R4bljh3qT013tGpYVsqodSwJm7zBwg1RrZpOz2HuIS6+ZXkwLDG9qlsHdpMBlKX6tZYd8Yia3WbBdTyfqhe4+tSHb7KQrmEamVcwnUk4YoIbductM2J0CaVimIjn6DweR0yIhZdz9rIx1qvA2TLJQ6VrTG53+Ti2tGmeA92HH1sgJ7brJbZswitLqQye1C5WKlV8KLEcxxXRWJFKkqFRa22XeOLCBfKlQK3EOolrsShYqVS3K4uirVShYOv1nYVWMp4u4rKtXK5JC1KuARoxPOCVBIXNW67WOTBGq5vi4tWS6gVCqhYLHJlaVGpci2hgECbAw6eq7MAchIncNUFL/DFOodaYktolRdYwlWxguolXC0UFmVB4AqFVXBXvYuGayVN3Z0wnLcQrh2Cta0st/JrkqsxmjsOKGtkOjN1SpClT8mdnEVOc0FCeskbNod+xKW+EMQM3ARsI+/9FYo9u9HEj8qRMb6TG84pta2tkW1RcGbLsp2pbuaaP/RzI/A8DdI+IU4W3KE+IitzNe+XFhbYgnyFZxNoZE9nunXWtif21lAfHU8ce26NU7l5dDYjjmlYx6Bd2K6JeKMh03CpTMk05h+usyc9bAb1yCXMvSpmTyqkqQ+JGVoseL8MuJXJ2yOSgJ4YrkE9KF9kzyboTJ+Q+ADUefZsxlhgJT5qNfbcDqLkPgV1jk3v0kZ1Uz8jTtyIXw43ouzZfJY1n2aOPWHBjuNuH+grnGlDdbEmzMMCe1KBWAeZwVSjFITN67+UUAw+k7WkMQUrMLjR4hKIPMqeMBC7nR6v3Bu0uzvdgSDv5JqiPysRm5Y/LlXr94uV6k8a+QCXkknt8O12nAt5ZJVCOi5F63fbAyDE7YGC72q55o8m9M3km5mqu6e1ZQXnmhePn15+89WLp+9d/OHbzCy9Pt4Hh0xwIvGmodrr97GiDdS2LOGBrA6UruYFr401LOWay8/+cfHxk8tnTy+f/f351x88//rd5ZePLj//9fJfH714+v6L839e/O+33//3YQpLUp8/kJWdgdbtttUBVqRQkmtePvtk+ceHl58+u/zy0+xMfV7FffD0kyff/f7xy8EHXn74DMsH7y6/eJCZZ1fe2W3DqzFfvvvbZ8+/Oc/M0cMKBCNVDDpYVfkdPBC6d2HIIIM+fpIR1X0LbD06vzj/PCPwHla9vEgBU/h9eYfX5K7CUquPVa0vi15e3bPnaKRbyLbMM6SPRoBDsMCcGPbcBcmJQU7JGLmmMSZuZkMqfnsPklrm276hI/2EIGp7rAEnMixEjwiaGCcEvHDGxElhBqaaiCU2YG/vyT8dtHi5jaUBjKDUPRhoXmFg9nQHtmg2Rbpp2qwbYFofn+jWiKAhGelzl6AzUBsbY09tpkPnmTO/mBvvIJ36LqI3gjmpSPjuG1uv7J2staHSHOiOBUU5O1usLlzv8hT2muA6LPkzeltfIvHYel2OvIbe9XhVvbFracbo1fuVcOElOqVC3uM+rJ1QEwTDzgTCHciYXBNPdcPMBJSVFpjzjsiwwXcQO7dkIlC6AYdio1eg2YexiDmyD2OUjeIAC6qssaiTIduzpgB7o+fnwfrcYScLk8Cx7Sp/huTQhhphEv0ERhbkhusn1NbL2cuaKGElZvUyWtoDIgXcmngXIQgcM40p27yno93r4DCafjmOheT17SY2mfI7sfzlny8ef+gzpyBUMd8Xdwcir4gYJsHFR79b/jsDDjKYudTW1EGbFxjD8qtHsI9Y/uqvy4d/WT74Fnp58d5vLs7/k57T395JuMUDbxhBj2xrays9TdIv3x3Ycv3pi6wkMEtZncJXZD9TbErcn6fg0XghDvU+UgKDjXIIzbhd9hIiiCavaby424GcgU1Mn7j23Bml2mFESTp8/y2oFd6mLdfs6M4x1BrNts2sRF4MWNWjmX142bNDlOOVKziLgCb3BrwkeSctOGOZxujYXwjHSEfBpQoy4ciVgU/c5RUoSQlKMjZodk5vUQhrA0xT/ztMQrYpXLdGXAlWx1c4HttzGjsNW9SxzR67R7h+cQYK7NpjaJImdeawkIRfUQ33yD7tzqlpWKR5qJsuqEVFSdUe+NBj+8eAMi5LavfJqWGNI6qBIKm3b5vzKRH93kTdiDckYaIoePdsUcSV7JrnsLcPmiKur4RJfYXcp9f0I8KkvspWzy4cJq6Bki1RZHj3IehOVJ5m6ECHWDoIwwCHX3Ed5kGb3YG5EZcCQVxzao9J09sEaMaUsOGHHGSyqMP5GzxuWFdLdodhhmdqcHRKNKyyN785fRvUoCa5Obe9fsAMjI6+971uAgQ662aAf1ebDIYvRfRsRu7k4Fihj46m7LY8hwKOOzkWTv/6+ybcLCxnrJpFkJ43m6FTr6Z7JT2TSYtV8mymbH+ubwY18tfi1MhvGqFGQHvzAFrz6ZA4GHLAIGFyxmVR7SNjcmTCS/e9k3kcdkNjFE+PgNqCg0WIiQhiaUV0Z3QUzhX/I9o+nZvUMMkJMQOdiCASms29b7gwNzanNk/b5JBGkzuQZJ4DQaFbZWJUO95wI8w7x6zF+S3ZFh2qD12v92tqVbjyrIrVmrUorNEs2aNe+YJY2q6xBbo3hb+Rjy6yUKKu/QcrKQMo8N34/9v/A1BLAwQUAAIACADFi1hJM91K5mcaAADkRQAAFwAAAHVuaXZlcnNhbC91bml2ZXJzYWwucG5n7XwLVBPXvjc9nlbbqrTH26Ko5LT09OGDV0VUSFLrA6tVqqjIKxERUo0QlZd523KvtlVMrUqwlqS+eIdRkAQSkmhRUIPEB0kIIYkejJEMSYQwiZmQyU2gx6Keb63vrnXv/e5dH6ywZs1k//b+/V97//+Z2fP9V+tip7wR+Iafn9+UL1Yt3+Dn92qmn9+E3Emvea9EMQbmew+v5GyI/dyvtmNWn/fkz4Sla5f6+V1kvTmc9qr3/PXdqxJz/Pymtvj+X2kjVWz381tB/mL50o37cGZt6qHag4nIA9qH2P2ozx4f+fbdPbF1H/1FsODSD8D8HUu/n/95eFLge+fOFP88qXhr5LehlVsqDmz7fuGtlTPjibgLWdumzbV58Pfy2qILaps6ThKUlIgcbJv/VOXNZiCRWFvXgTnZU8A3FUXpFrlaoyR77A0A3dzDlg5n+Pn+pl7or2loUtqFFnOaXe9x6zUJPqn87sM7C1OXoDLxdEhhf/UV36VG6s5DaFSmnma7ZX91BNzo2nlMDEikSx1fjpxbJN3brVRLk7Gb8Cff+W6H4kMq3jF59MvZLfN8x8tHZ2SO9HekPezNkVbbDyT6jvuDP20fgc06mfau9/DXp6YEKcVuqgY4dIdIjz52Tvhq3jTTwtyo3ojJ9b6GhUwnm7mYarsVZW0P/2mIqciqmHlHe+TqSL9hTwEPDERPO/yBWCR8W2teNYqZ8MXqPEFw+MhIkz/4RPGs+Y/nNhZE/2WE4+XPftowDvgfBiisFOgoYH+DChdNhRQJcqQXi0zoOgl31wIDcBLXlB27rcTnltO/dBuZiFENAlKG/dEpko78wzn0JrwGisThwfgx3VGWl55zsyVKkebo9BGPfC3+QGLfgogRSrPUx9M2LykabRu7MKPkxLrgUU5H187IPH/v+gjZ3dtfhAiddCtVH021qwlypN/7yYpDQ53qHDm6wPi3vSOOvj/4VET76igRienSEFgY+LE6mBVzFz6GdR6LDl1MGBFiUd0nLTW5OdWxN5VPkib0B0ifXrMxcVVX+EGRyXIq3FdujYH+PoZcdnZk67oWkNJIH7gWYI1pkI+h98j+tJfFZc4shIIzBIq/Uk/G3gockffIrpthc7U9O3fzPLcTTBGhzw09Gos920Z64NM8XX3JM5qf/PamMdTmYHocBZy7zzUX3WQOgwY2XmLrxIzR0yltRLNSMGcLdi//QBfMKlTYVot7hq4n/aPJ7CXtylVDPTnyUk/za2dgo+FtqoZZnLsvko+BOuNJ/heO7fgl8nftdr7X0i+Qus22B9C1AHyMxxj4Nchl8z3z+mCF4yceUL2CTi2Ek6hDd2JDIzv+IaLpdmz7auEMRfA9Ve8udzP1knBkcrl/vWxy/V0zaQYhNDBj7v+NZf+jztBZDUgodhgE9M6PvqDWSFpBIr1KNPv7keG3hkHKZFIpHUzWL2EumH0h7gXv/J8esBtIzQOtajxiwHPciNWDqEnIIxLHfTfU/ZfdMoVqL32tSpVPLyoX/hFbodLhQXWhP2af/fIEf7/oTfheqAHzx7AllP6Lbd3vTexiPx/M5Evzfjnw/KW8CVMvxI2N5OzmV+w7xuhWURRliGUOxaqbLI5S+qmx0N61lQ8sJxJwaeUc2uAN+8tfh7dbTqXZF6z9Q9Yy4UDZ9EzHrTDqz2Vj5NHui59c78osQa99nsonB9T0T9s5ZZWW/A9G4/3Kxijdv7T0S2Zkxt37Q7dbq2aSfkjL10+uL3+B+7UwEemA+t6CMcoxtZ7aVqKNaunf8fM43XG6/wvpCsDJ9Sy0vavJQk725mUeOCQO6x7SyDUS2uAAi9lMh1eY6PShsyi0x7nCap0j5VzzThZP7ZpUKQIgJoCjwbjLSl6SV3O6pZ+AsZ20YaO8iz5Th2FWV4XnZc1YACypK66iwit2Hk7VyVdYAcZ8thuapwTqg9JVVuuPAirwsprMP6bZuR4nVy5BIIDr2ae+sgf+lB+0EDx6XuqgSgswO0NYK1MP3IKNlCbKySqqHoqAhik4camhT3M6l0wRyykw7J4nry5X2IpZGWT4DE6gswzyVTiG01AfSnvgXT3r6SKQnSwVp79sO413gRtcpTLfX1SpLNye2NpRxagpV/yauLO/Zr0NUuGxTBTEm2QyQpconk3iYZh+PHAZ+0pjay8kWLMFJ6lCge7QCTsri/Fx6PcbdXgxMsgvxjvO4JhkLeSXjAXYgGB9aH2MGFeO4VO4snsmo/bxP1XDEn16PnrRh4rBx3evReRuhtKnlCsiNiovJC57NLhQGF5Q3dppMIcEZ7ubZ2aC6XimVRW4hY2Pm1KmMZ4wcANA+RXYCDoEMWIMp4qRgmO6GEcyXnaTtlmZonK2gRy5XflrUwydvHxnEQ8agvY3NXdspru+pVwyDa7qyviz+YAauncTVt1rQLqEqkQPzc1nl6uwBfOBnC9f9l7RjZb+JDTwmirjl1Sc8f3I68rgbOKvPKblgDowW6U/mO8GE3EfJko7YGPAlPoAN3wk62VmBTklvPBct5x4j3vRQNY8qDtwLzCdzawlEb9KJ7qbkw7Irw3y/lR8sUFStBTdzWfoptTLBKu3BG1KDrYMDoTqy/OdytehPfP0QD4Pl0nenu2mkd0UptZRwmMRnE9NZAVlFqb45SBLJZTwYoFaqfizKacD0O/nUs49HmymuKGniS0ZU86sgfbKvkpq6YO5AdDAPMUkIY0G5av0pHyykwIP1kVeCAnFkwS6tg1RN4sDN4FmxSQRQut8KzkOMAJcHKplkJjEpLUt/KeR2YMbn7fG6Y7T/X9BN7K9Do8dmIa9g0jqSWO/m4iiXZi9ez+9EoDGyNKZzkIrjyy6LOlUwWOEMXmLL3tFYlcTHAiMbb/UBOI9sLoNiwzk334lWzBSL/9XlART+3y/t6gX70h91vb+jzsbqYYTCV2VH3Fpgx3WS0OFfyjk4HafPmv4Y3q44dN7Yhb4TMGzfhqxT7fyGZVFH4zYsYH3zGC7V43Ye2fymGFHFK3g/6G092b4DFKd9Yd2l0X4DLdZM07ofxUhX44UJXXeqpczERuBhUWeNhm5TKQjJ8RyksBZ7Lp9EJNr/8afdr8nmBWz17jYmgrtwRt6t0hp7n13ABGDLmh6fghfzoe4rFhUJpduV9vS7BHLHk7wj9mNyVSCx2HylAZrBrQnJWN5qpRWVKd3dhR0MCVm3288pVxtx/OqEVRPrY9chxl+0lKA9E08/15dUFpyaDy2Npl1JnJvyFmz/WgFRAlAk8gwnKXa0tzcMWg7D7k+8eYhEKM49s+hE/phA7EEJ9UazApZLRYFsujuwagX+Qr16fzXbspiTJeCwpNDE/R3tyYXnYQ+7qEwppwGY++FyKvDGzkOxCH1mPc0MCTedO/R9x9xFjFLA1eCbsU90NxpKzbRO8FOV4XKirEHfgWSZW0bsPjXlAYD2AYbq3DZZCYkKU7jt2ph52C4EpyH6l1b+7zxRB1hyS3pU45qYi/mK0qEk0siNyvB+S2ZRSJw4NLK25ST8EVcOUe6sSVbLA2MVsXhD3RXeXNh/d2I40pZJzg/dcEc1T4hsvBNiCKb3jOlXtuGU7i6JVJIput8QanLDqoztje3f6zZxFrOe6W+9VYgHjQmy94STv4VFJarwBpmShLSpItLTNIh/MA04lepQetFky+DbLyO6VhY7EiIA7gk7dCLvXrzwTlsptgToZAVeE4DBrxHP7UMLH4lt5KBIwEcCcKfFFlWiwoXZTuNlA92TfltjbZCyMOVYTooXG/fmFp4VqdNNd9Kcl3UF7/sBzJpFT6YUHTkkIGsvSw8XCYLjqsO3MTeU+Ca/7ZSnizhfeZurrpYr2uz90GTVBm54q9LvHXK4BII1oYlk4hovlI2X6ozhyUr2oSHr0LEFP8rIOsiRmL+jjrthWCrXdKu7Npy9uHmTS3GQVtW5Drlx4lnMyqv7HVnvVUczucI3O++Hnk8BBAwroJwH2Qvts4VuacrPSktO8RuQxZPr9sgLoXakgB8XDVrB9kJ73FOB9sMWdltusCjApKxTPV8KKcasch5+n9KfJuFLf31cgzVSLD2nykHH70w0uyIdsb9CahGW/0hJiJxiK0d8lyN6Xnpp87IDA1MVcVFtet0L5uBFTN43flYGLMkf8bWUAoFujot7hesmPZ4GWowa2r2vhfmljxU+CkGMmyTcz20GekgV+9BHFxPSlT9C6xx/vW+mUftduiZSO82dKfpkeIF5uklPFLahaBMmW+yshnBFxtowTS7jesZVrf4Y2mIzRStdx5Jsx94UQFL2vM9RwFLX+RVzJPLE4yeO0DgdtAJnt4cBbw0jfGRCTgIvY2Ym8oEug5xcOiBq9OMLbvQ326OEr3UeLOrdnzBGif030xIESZjuHuxSG+pfkffxPGbXuOAccA4YBwwDhgHjAPGAeOAccA4YBwwDhgHjAPGAeOAccA4YBwwDhgHjAP+vwU8tRRIqQTK0XMFCVFnnt1yeaIAGFC/S+9BSl9f+RMCCKfkBT+7sfOtkUO19BdF6Ro/vbbqrtq5tkJzW3tYFvbcDiu/+9dHR/aLzRy51eO3KOI/uEnrn3RR50JcUo9rZNfX/t7w/7wR1Utb+omAON/eJKdb+qdxn15VL/NH59rvF/rrFkF7FG0JKAK9WQtMGNnYdlHXJswyLazCr3H2E7DU82gejo8jkN2WLP1KiNjE1vz9xEE1G0fp609gGBK6/e1lVSwBxmJRjcATBn57M7Sna+Jc3fyGcgVQ74IAhayHz3tSZXLAEdxD1cLBMFdfHFPo9iMJ4UYRXp5Hf/Qpd7EKTQIDmAMBcom9ARCDfUxHAbPAHi21RRuD6EN3CtBcqlFN4NJdOZ7O+DhxLxnUsylNkE1pcuwiN5HoYLJ1n25wSIZIcEOEh9nNrKG9KOf12Fa8MY/n4V4VDWBxBzFzkDLaLN/unHXQfalowHFDcz+eC290Ld5Sze7DFZBMjuFs7BPbzZb+rNTLYK+FgVatn6Dyd9/2L2Wlam0Ci9SDFKB5K7UUStF+QyzjYWwHs0cyy7GSbiH+yJM75e4euRjdoXzaNIw7jvIMoKS7NwKqahSYBxqKjQruocBokCyTqwBNH3K4p8gRLk5xJ4FmFddAQWDIUkx1r3JRNOzFR6IMvT6b51dNfBgz/KTFrH/dUeWKqckD6hMgKjMKdTzPkMZ3/Zp9yKLKqQis2/nXahTxsQmXyVspzl5QHbuqtu0CJZlNpqbg6TpVMAGddKm1C3bmN9e8LWEAJmNkWaiUILsgak5xk7cELU1dZoTv8LDDLdieI6JDh5DDs2CMSXVhmEZpgiNDmRyrIox6OLYb/2j9wDNizOQ6l+g+J497sMGSZ69BJudyDy6bnul/aXiunj17A7ErmUUMGPhO3VupP2a2pk4pgXrzwwBuKCuTN5A7YyXxfgqubB4zaOdQDwZuQMiwWPxYfv209SwDx1x3TzZ/ghneUaAR046bzuhiHRJV9s02r5NfNsfr0y+5qPd1edxDo+PqmAKJvibN/nPx0RqqLgn9/h73d9fWFX0jOxvR5BDqRRkl2iPHIZu5MbGYjZ9Hqqc6F9B8HiK09taFsjES8LEkyPpvFjqQB+SE5lpneuNGU41AULxTUpesNabzqKXiatKO2/SQ2pth1LWyVUo0KSv6ME8xPUEedTMowUF14KbWazWhB9QyUOdIciwJgHxbaMwy/EqHxMu5UbzOgN2t6MOgiFrwl2/lDHu92dg7Z3K96tLh7VrbuxBQjh+KiLypdNj7JYKPHZvp0d9C0yVIUD00ZNC8cxxylKRWs/GSdz5LlHiI6Cxy8qE+avs65spaFybEtdcKhbkmMp9MJOCRQbacw0SchbF3RsS5l1e6nv+7RH0nCZwdHkvBHKH8hpdi+d/X4OENrsVNNY5dJdp8tTE11gE21com10cKQ/TH8qtbJQas8FLX1MyemRC59pu9TnGl/lAGjfegnoHfuQjfasuo4KHYr+S4l0D5ykJC0WlQpT5yltgnv/6e9SySgjOkk4EDaj1i1mOovo11tAbPr9Knh6Rf4xf2jShJM5WuJ2pdr3l9yU7uO88+Mqif23RDKJf52J1BdnVyj1pse2ccUBOrjhJnNIfUuVXXA2SCsK7VJJaoHKOCeH+6GXHV98xWLhmHXp1HhmEs0nCYL5PxmNbitxs4OOy6swS3pCAu9KCERTkl66KeZGUEHgSqXZR5eZdxdEgRje8jGLHWoHDXw2NxHCzAwbj9t3ldTahS21tnkn5hXdPKcJtHbUg3Ub/PZ1qj/6Y1Zng9In5vqTWKWPKqpckCXuycJFqA3tAguXZFGMoYOGTe1y22Nphl7POUU2siO3BGz9tmXZQ3aARr6P53LFaaar3/DyaOpITDLFXxpL1BsKPHklOvFHdULh5y3QrM/IZa66LUxEpDFB93i9v/foafnu1lpQwVVRTHPq7FlsH2Nxwm5iXfNmK1ZPAEcImpj+60IharxL3/V7PNZOXIpJ90o7/eQdFuYLJ50hZlIZcvr77IxwmC9m8kEVzDsscYrNcZvzSptvhfFj7uTcT4a/U37oFKm0mlKeqElkDkpIX7RTykPZfL9S6ajUYh0GZYfyFvd/krl5CzW0ET80vTWwWxfKqeqGGHagpTWFd5jj2l3jARk7y8sllxdFO8We+orULWiRDBCuL0FE4CE+BJ9Uo9thre4y7o7MtbI97lLqX0+TbA6Ri6iOshCpm2WtqbD3xayaI6I1Vtm84OUQIq8MYN7kBl8C6KFp41L0u6aZsbZssTxEUUdXbyoo3uk30Y7LSWebvleXjWGtDz4HGN5+C5bsT/TtKIKfs6L2KGmBdWj5oRLZSCqSuKvgffvoBkixDqI9gqlJ1dxP4mXJxddBTcs9d9/zy8B/1IWXhm5/1UnOMtrZHgNfc5Bg8i4lZ2GVRNMVKGGJLLgHpc9oyv74EhhY7BxTUoMIcfI8WgZIXXqmCnNvBrkVx+NSz6qYDpEtTHBpEfDkcReJzNchA3cZ/AAu6pPJLhGF6Blh7JdDd2ilNGI4KddyJY+7v6LFZKwsXh2fyVV7Knp1Yt9U5p8p9wBTNwxJIeJLWhVVbVenPIYZaZRsyYstndDeZcuERneDXzTZ4L/AJI5p7KaObJ1XYnZC9+UOCu6AEf+9S06+xKFXyLev+biR0Y+A6LQ+9PR1EP+jOfthCwtk+xOUjEa0nXvbY+P/Sd+hqMj33MwQsdYq9rZszzhGrt6y8FoKu8RvetoEH+6KGvXA6xrOpWBRIkmsyUnV3IfpsfNNDE2E50i3NmTPT6k4w38QYkrcOHxoeKDp+EFpqyFJoaI+qMa9i7lB1LMarCxNlNHUb7EpP8S4fz5PTMKBzZcKLet5UIi8ITT0ivf4R13rCxK9k8VZ/u3ScTtKrevR+Ak/Ll+iQEXwtfpDJGlffFbOv5JT2y6clYJZaEl/w+6/X2lXOzPZKCTZFPFV81Dpfyk7BMF9APoN75GSdY2UpxZlyukRIALt6lgPFqfOuNatPvgZFea1KlSO3mQk6xSZUqRaCvf8YViCM7ZbUT+yC91doq2NdVhf3U6x7bSrQVsVcZTwpRtLZJ0WOIps9WnYc8T3JNxKxKhFtjyVg94pBNh6G2pDYpQnaiblkMIscU36o2+H0c7Yw7Wn+6OJaSL08O+lsSU9/PwYqzK1Wix1al7OxyQfCjjDzuKe+a9yF0cR1rAw9vXBG81xcTKUOLa/CePBSadhSuv0vP/ktL/03fo4HI/Df4vcTBeCwUT2DC5UyKPc4zFNcTwRxuY9KQ+XMbt8yutYCGOV5z1w1LKYoVngkb8OmySUlYXC5tzSjXmiX9qVpZ/qg2DQ0q3EzPVIp3Dbnlm6XPIYc7uScsOcemZyaYsKZN+vj86Gbl1iGf1xtNRo3R00oablUD7m6goQUVhY9aObhOq5JtysWzzq/UZ+TyTPj4CuCi18+aKkwgjxp9aHQVfgcKzwJxtaNuhsE7byZ0Sx2lP1lsdV5H/MR5ly3pZOBCetEzM/VvagGCmcC0E+SoOeKgVPDBHc17AIfPOElpHIxDHsZJQEPjbOF7PxWYJLjaMy5KSqf08wsIY3FqpA43BITX5Fmp3vCWdR+5vuaZmH05XFeKq0Aaf4e+TilULX6HiwyVa+Q3MmZkJozkf5Nrz88cvGk3MPrbGDX0xdmS7O8elgoBdrU3k1CZ0jwQc1+NtGHpJg/thNVz17sWWPJCes+s55twklGZcP7Y4d0uhzT+Nh3jG+FVbyjdvqL/bWtaSWp4O6dsTH8vZibgeTZuidoapfkdGdr85HOXs/GNlv7VDt5kE3V19sFmSjecQZtbqOHNfJ9c7rPwEW/uC2G8gZwfj5nqm1+4MO6MVj/BUetK8aWUBfIY25eupsY5Xs9pw9gv2rEIlMCEEkisfd7EyQZ6T6/4M57MTkcJYqOWjxqx05HSJ/nQWiaj4dmnBvf4yo7o2b3WE1FrHeQtII4gtzzSu4CYdp3yYJY3b9yFf/pbQEdshfnJz8NDXj9Uo5AHKP5ZVJTGl3U2E//1YSnjQQDjtJvS9APVDdA6NbWOO17V/d41VSFdrHWX7maZXBX53MIGyklLnqOCYRXJr5yu9Q3iIdyvI9pDPYOhXPrTFlT2xK514l3idQ7+fk+8nmrADbMSxLeqx3Atves4JW7n5M9hvS8J8G/1FiXUmZ4nqYZpjiISrXeYeguBAQ8l+moIxnkjjiP9crQ3X4HTxaVs7dC1qWWWHeVhG1WAFRczHbzZsqspgbVIFDCV/C/JU3iQOxPEP6hFCc72k9xKUqlnrg6KOTtSt/Y1rXV1bUrNi7M1LWr31mWV++C+cjlm8CjrFy3T47Z+FVdtzButxH6c/n8q7ERWqt6Fc00e8/IQkCcY+/IQb3Fr9fDlfx4pHS3Va+2Seg839tZIgx5qw7XNxpZdENZjw5rfHAXRG66EiNHtm32P7sp1vleVnBh9VYmwO4VIdUs7OhDUciYh7YK7DPFd/2LFuuW1n2/99t8BUEsDBBQAAgAIAMWLWEmJd2BCSgAAAGsAAAAbAAAAdW5pdmVyc2FsL3VuaXZlcnNhbC5wbmcueG1ss7GvyM1RKEstKs7Mz7NVMtQzULK34+WyKShKLctMLVeoAIoBBSFASaESyDVCcMszU0oygEIGFgYIwYzUzPSMElslC0OEoD7QTABQSwECAAAUAAIACADFi1hJGCZD8i4EAAB/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R7hdAAAAYgAAABwAAAAAAAAAAQAAAAAAnxIAAHVuaXZlcnNhbC9sb2NhbF9zZXR0aW5ncy54bWxQSwECAAAUAAIACAB2uMNEzoIJN+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
  <p:tag name="ISPRING_PRESENTATION_TITLE" val="第1章 网页开发基础"/>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9853</Words>
  <Application>WPS 演示</Application>
  <PresentationFormat>全屏显示(4:3)</PresentationFormat>
  <Paragraphs>791</Paragraphs>
  <Slides>42</Slides>
  <Notes>42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42</vt:i4>
      </vt:variant>
    </vt:vector>
  </HeadingPairs>
  <TitlesOfParts>
    <vt:vector size="61" baseType="lpstr">
      <vt:lpstr>Arial</vt:lpstr>
      <vt:lpstr>宋体</vt:lpstr>
      <vt:lpstr>Wingdings</vt:lpstr>
      <vt:lpstr>微软雅黑</vt:lpstr>
      <vt:lpstr>Times New Roman</vt:lpstr>
      <vt:lpstr>Impact</vt:lpstr>
      <vt:lpstr>Adobe 宋体 Std L</vt:lpstr>
      <vt:lpstr>黑体</vt:lpstr>
      <vt:lpstr>楷体_GB2312</vt:lpstr>
      <vt:lpstr>新宋体</vt:lpstr>
      <vt:lpstr>Arial Unicode MS</vt:lpstr>
      <vt:lpstr>等线 Light</vt:lpstr>
      <vt:lpstr>Calibri Light</vt:lpstr>
      <vt:lpstr>等线</vt:lpstr>
      <vt:lpstr>Calibri</vt:lpstr>
      <vt:lpstr>Arial</vt:lpstr>
      <vt:lpstr>Times New Roman</vt:lpstr>
      <vt:lpstr>Verdana</vt:lpstr>
      <vt:lpstr>Office 主题​​</vt:lpstr>
      <vt:lpstr>Java Web程序设计任务教程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网页开发基础</dc:title>
  <dc:creator>admin</dc:creator>
  <cp:lastModifiedBy>LXY</cp:lastModifiedBy>
  <cp:revision>186</cp:revision>
  <dcterms:created xsi:type="dcterms:W3CDTF">2015-06-29T07:19:00Z</dcterms:created>
  <dcterms:modified xsi:type="dcterms:W3CDTF">2021-03-01T18:27:28Z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